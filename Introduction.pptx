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0B79A43-8642-4C77-B6E2-9E78FD06B14B}">
  <a:tblStyle styleId="{60B79A43-8642-4C77-B6E2-9E78FD06B14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EFA4F5CF-9822-459D-BC81-E7F3967397B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khalefam@oldwestbury.edu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p15"/>
          <p:cNvPicPr preferRelativeResize="0"/>
          <p:nvPr/>
        </p:nvPicPr>
        <p:blipFill rotWithShape="1">
          <a:blip r:embed="rId3">
            <a:alphaModFix amt="40000"/>
          </a:blip>
          <a:srcRect b="18182" l="0" r="0" t="0"/>
          <a:stretch/>
        </p:blipFill>
        <p:spPr>
          <a:xfrm>
            <a:off x="2" y="10"/>
            <a:ext cx="12191997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5"/>
          <p:cNvSpPr txBox="1"/>
          <p:nvPr>
            <p:ph type="ctrTitle"/>
          </p:nvPr>
        </p:nvSpPr>
        <p:spPr>
          <a:xfrm>
            <a:off x="3545148" y="1655603"/>
            <a:ext cx="7010018" cy="2288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7200"/>
              <a:t>Database Management Systems</a:t>
            </a:r>
            <a:endParaRPr/>
          </a:p>
        </p:txBody>
      </p:sp>
      <p:sp>
        <p:nvSpPr>
          <p:cNvPr id="103" name="Google Shape;103;p15"/>
          <p:cNvSpPr txBox="1"/>
          <p:nvPr>
            <p:ph idx="1" type="subTitle"/>
          </p:nvPr>
        </p:nvSpPr>
        <p:spPr>
          <a:xfrm>
            <a:off x="2590991" y="3968516"/>
            <a:ext cx="7010018" cy="7852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CS 4550</a:t>
            </a: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790870" y="2245586"/>
            <a:ext cx="1262906" cy="1108260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4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 rotWithShape="1">
          <a:blip r:embed="rId3">
            <a:alphaModFix/>
          </a:blip>
          <a:srcRect b="-1" l="5804" r="16386" t="0"/>
          <a:stretch/>
        </p:blipFill>
        <p:spPr>
          <a:xfrm>
            <a:off x="933974" y="911082"/>
            <a:ext cx="2034550" cy="1797684"/>
          </a:xfrm>
          <a:custGeom>
            <a:rect b="b" l="l" r="r" t="t"/>
            <a:pathLst>
              <a:path extrusionOk="0" h="1797684" w="2034550">
                <a:moveTo>
                  <a:pt x="585760" y="0"/>
                </a:moveTo>
                <a:cubicBezTo>
                  <a:pt x="585760" y="0"/>
                  <a:pt x="585760" y="0"/>
                  <a:pt x="1448790" y="0"/>
                </a:cubicBezTo>
                <a:cubicBezTo>
                  <a:pt x="1502846" y="0"/>
                  <a:pt x="1555038" y="29714"/>
                  <a:pt x="1581134" y="77999"/>
                </a:cubicBezTo>
                <a:cubicBezTo>
                  <a:pt x="1581134" y="77999"/>
                  <a:pt x="1581134" y="77999"/>
                  <a:pt x="2013580" y="822701"/>
                </a:cubicBezTo>
                <a:cubicBezTo>
                  <a:pt x="2041540" y="869128"/>
                  <a:pt x="2041540" y="928556"/>
                  <a:pt x="2013580" y="974984"/>
                </a:cubicBezTo>
                <a:cubicBezTo>
                  <a:pt x="2013580" y="974984"/>
                  <a:pt x="2013580" y="974984"/>
                  <a:pt x="1581134" y="1719685"/>
                </a:cubicBezTo>
                <a:cubicBezTo>
                  <a:pt x="1555038" y="1767970"/>
                  <a:pt x="1502846" y="1797684"/>
                  <a:pt x="1448790" y="1797684"/>
                </a:cubicBezTo>
                <a:cubicBezTo>
                  <a:pt x="1448790" y="1797684"/>
                  <a:pt x="1448790" y="1797684"/>
                  <a:pt x="585760" y="1797684"/>
                </a:cubicBezTo>
                <a:cubicBezTo>
                  <a:pt x="529841" y="1797684"/>
                  <a:pt x="479513" y="1767970"/>
                  <a:pt x="451553" y="1719685"/>
                </a:cubicBezTo>
                <a:cubicBezTo>
                  <a:pt x="451553" y="1719685"/>
                  <a:pt x="451553" y="1719685"/>
                  <a:pt x="20970" y="974984"/>
                </a:cubicBezTo>
                <a:cubicBezTo>
                  <a:pt x="-6990" y="928556"/>
                  <a:pt x="-6990" y="869128"/>
                  <a:pt x="20970" y="822701"/>
                </a:cubicBezTo>
                <a:cubicBezTo>
                  <a:pt x="20970" y="822701"/>
                  <a:pt x="20970" y="822701"/>
                  <a:pt x="451553" y="77999"/>
                </a:cubicBezTo>
                <a:cubicBezTo>
                  <a:pt x="479513" y="29714"/>
                  <a:pt x="529841" y="0"/>
                  <a:pt x="585760" y="0"/>
                </a:cubicBezTo>
                <a:close/>
              </a:path>
            </a:pathLst>
          </a:custGeom>
          <a:noFill/>
          <a:ln cap="flat" cmpd="sng" w="63500">
            <a:solidFill>
              <a:schemeClr val="lt1">
                <a:alpha val="80000"/>
              </a:schemeClr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6" name="Google Shape;106;p15"/>
          <p:cNvSpPr/>
          <p:nvPr/>
        </p:nvSpPr>
        <p:spPr>
          <a:xfrm>
            <a:off x="1362936" y="1825453"/>
            <a:ext cx="799094" cy="701243"/>
          </a:xfrm>
          <a:custGeom>
            <a:rect b="b" l="l" r="r" t="t"/>
            <a:pathLst>
              <a:path extrusionOk="0" h="968" w="1099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solidFill>
            <a:schemeClr val="lt1">
              <a:alpha val="600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Lectures</a:t>
            </a:r>
            <a:endParaRPr/>
          </a:p>
        </p:txBody>
      </p:sp>
      <p:sp>
        <p:nvSpPr>
          <p:cNvPr id="112" name="Google Shape;112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NAB 0113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MW 4:30 PM – 6:10 PM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Lectures are in person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Instructor</a:t>
            </a:r>
            <a:endParaRPr/>
          </a:p>
        </p:txBody>
      </p:sp>
      <p:sp>
        <p:nvSpPr>
          <p:cNvPr id="118" name="Google Shape;118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Instructor: Mohamed E Khalefa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NAB 1015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Office hours W 6:10 pm to 7:10 pm or by appointment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khalefam@oldwestbury.edu</a:t>
            </a:r>
            <a:r>
              <a:rPr lang="en-US"/>
              <a:t> (add CS 4550 in the subject line)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Textbook</a:t>
            </a:r>
            <a:endParaRPr/>
          </a:p>
        </p:txBody>
      </p:sp>
      <p:sp>
        <p:nvSpPr>
          <p:cNvPr id="124" name="Google Shape;124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Database Systems: Design, Implementation, and Management, 13 Edition By Coronel &amp; Morris.  ISBN:9781337627900 </a:t>
            </a:r>
            <a:endParaRPr sz="28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Elmasri, Ramez, and Shamkant B. Navathe. </a:t>
            </a:r>
            <a:r>
              <a:rPr i="1" lang="en-US"/>
              <a:t>Fundamentals of Database Systems, 7</a:t>
            </a:r>
            <a:r>
              <a:rPr baseline="30000" i="1" lang="en-US"/>
              <a:t>th</a:t>
            </a:r>
            <a:r>
              <a:rPr i="1" lang="en-US"/>
              <a:t>Edition</a:t>
            </a:r>
            <a:r>
              <a:rPr lang="en-US"/>
              <a:t>. Pearson Education Limited, 2015.  SBN-13: 978-0133970777 </a:t>
            </a:r>
            <a:r>
              <a:rPr b="1" lang="en-US"/>
              <a:t>(Recommended)</a:t>
            </a:r>
            <a:endParaRPr b="1" sz="3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Evaluations</a:t>
            </a:r>
            <a:endParaRPr/>
          </a:p>
        </p:txBody>
      </p:sp>
      <p:sp>
        <p:nvSpPr>
          <p:cNvPr id="130" name="Google Shape;130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Class participation and one-to-one meeting 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Quizzes 	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Hws 	25%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Labs 	20%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 Projects 	25%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Midterm exams 	10%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Final exam 	20%</a:t>
            </a:r>
            <a:endParaRPr/>
          </a:p>
        </p:txBody>
      </p:sp>
      <p:graphicFrame>
        <p:nvGraphicFramePr>
          <p:cNvPr id="131" name="Google Shape;131;p19"/>
          <p:cNvGraphicFramePr/>
          <p:nvPr/>
        </p:nvGraphicFramePr>
        <p:xfrm>
          <a:off x="2422071" y="5519420"/>
          <a:ext cx="3000000" cy="3000000"/>
        </p:xfrm>
        <a:graphic>
          <a:graphicData uri="http://schemas.openxmlformats.org/drawingml/2006/table">
            <a:tbl>
              <a:tblPr bandCol="1" bandRow="1" firstCol="1" lastCol="1">
                <a:noFill/>
                <a:tableStyleId>{60B79A43-8642-4C77-B6E2-9E78FD06B14B}</a:tableStyleId>
              </a:tblPr>
              <a:tblGrid>
                <a:gridCol w="1304400"/>
                <a:gridCol w="1431225"/>
                <a:gridCol w="1431225"/>
                <a:gridCol w="1332475"/>
                <a:gridCol w="1848525"/>
              </a:tblGrid>
              <a:tr h="203200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  = [94,  100]</a:t>
                      </a:r>
                      <a:endParaRPr sz="1800" u="none" cap="none" strike="noStrike"/>
                    </a:p>
                    <a:p>
                      <a:pPr indent="0" lvl="0" marL="0" marR="0" rtl="0" algn="l"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[90, 93]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[87, 89]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[77, 79]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+</a:t>
                      </a:r>
                      <a:r>
                        <a:rPr lang="en-US" sz="1600" u="none" cap="none" strike="noStrike"/>
                        <a:t> =  [67, 69]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  =  [0, 59]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  =  [84, 86]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  =  [74, 76]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  =  [64, 66]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  <a:tr h="27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B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[80, 83]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[70, 73]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 </a:t>
                      </a:r>
                      <a:r>
                        <a:rPr baseline="30000" lang="en-US" sz="1600" u="none" cap="none" strike="noStrike"/>
                        <a:t>−</a:t>
                      </a:r>
                      <a:r>
                        <a:rPr lang="en-US" sz="1600" u="none" cap="none" strike="noStrike"/>
                        <a:t> = [60, 63]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68575" marL="68575" anchor="ctr"/>
                </a:tc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What is expected from you </a:t>
            </a:r>
            <a:endParaRPr/>
          </a:p>
        </p:txBody>
      </p:sp>
      <p:sp>
        <p:nvSpPr>
          <p:cNvPr id="138" name="Google Shape;138;p20"/>
          <p:cNvSpPr txBox="1"/>
          <p:nvPr>
            <p:ph idx="1" type="body"/>
          </p:nvPr>
        </p:nvSpPr>
        <p:spPr>
          <a:xfrm>
            <a:off x="838200" y="1828801"/>
            <a:ext cx="9372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Attend lectures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Be active and think critically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Ask questions, post comments on forums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Do programming and homework projects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Start early and </a:t>
            </a:r>
            <a:r>
              <a:rPr lang="en-US" u="sng"/>
              <a:t>be honest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/>
              <a:t>Study for tests and exams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Do not over think the assignments and programming projects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Ask for help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0" name="Google Shape;140;p20"/>
          <p:cNvGrpSpPr/>
          <p:nvPr/>
        </p:nvGrpSpPr>
        <p:grpSpPr>
          <a:xfrm>
            <a:off x="0" y="-22510"/>
            <a:ext cx="12192000" cy="307777"/>
            <a:chOff x="0" y="-22510"/>
            <a:chExt cx="12192000" cy="307777"/>
          </a:xfrm>
        </p:grpSpPr>
        <p:sp>
          <p:nvSpPr>
            <p:cNvPr id="141" name="Google Shape;141;p20"/>
            <p:cNvSpPr/>
            <p:nvPr/>
          </p:nvSpPr>
          <p:spPr>
            <a:xfrm>
              <a:off x="0" y="0"/>
              <a:ext cx="12192000" cy="262759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1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20"/>
            <p:cNvSpPr txBox="1"/>
            <p:nvPr/>
          </p:nvSpPr>
          <p:spPr>
            <a:xfrm>
              <a:off x="188780" y="-22510"/>
              <a:ext cx="169732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1400">
                  <a:solidFill>
                    <a:srgbClr val="595959"/>
                  </a:solidFill>
                  <a:latin typeface="Calibri"/>
                  <a:ea typeface="Calibri"/>
                  <a:cs typeface="Calibri"/>
                  <a:sym typeface="Calibri"/>
                </a:rPr>
                <a:t>Section 1  &gt;  Logistics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Course Objectives</a:t>
            </a:r>
            <a:endParaRPr/>
          </a:p>
        </p:txBody>
      </p:sp>
      <p:sp>
        <p:nvSpPr>
          <p:cNvPr id="148" name="Google Shape;148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After taking this course, the student should be able to: 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Design a relational database based on the given data requirements</a:t>
            </a:r>
            <a:endParaRPr sz="2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Write SQL queries </a:t>
            </a:r>
            <a:endParaRPr sz="2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Understand the basis of relational databases: relational model, relational algebra, query processing, and query optimization.</a:t>
            </a:r>
            <a:endParaRPr sz="2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Understand the translation from SQL queries to physical query plans</a:t>
            </a:r>
            <a:endParaRPr sz="2800"/>
          </a:p>
          <a:p>
            <a:pPr indent="-4572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/>
              <a:t>Demonstrate the ability to properly document a database system and programming assignments.</a:t>
            </a:r>
            <a:endParaRPr sz="2800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" name="Google Shape;153;p22"/>
          <p:cNvGraphicFramePr/>
          <p:nvPr/>
        </p:nvGraphicFramePr>
        <p:xfrm>
          <a:off x="3120886" y="569595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{EFA4F5CF-9822-459D-BC81-E7F3967397B1}</a:tableStyleId>
              </a:tblPr>
              <a:tblGrid>
                <a:gridCol w="1345000"/>
                <a:gridCol w="50856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week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Topic</a:t>
                      </a:r>
                      <a:endParaRPr b="1" i="0" sz="2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b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Introduction to the course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2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SQL: Introduction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SQL: Advanced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4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Relational Data Model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5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ER Model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6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Relational algebra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7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Database Design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8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Midterm (March/14)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9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Spring Break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10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Transactions: A user's perspective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11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Transactions: logging &amp; locking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12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Under the hood: DB internals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13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Indexing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14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Database Tuning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15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NoSQL Systems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16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Project Discussions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u="none" cap="none" strike="noStrike"/>
                        <a:t>17</a:t>
                      </a:r>
                      <a:endParaRPr b="0" i="0" sz="20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Final Exam (May/16)</a:t>
                      </a:r>
                      <a:endParaRPr b="1" i="0" sz="16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525" marB="0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