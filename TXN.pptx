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y="6858000" cx="12192000"/>
  <p:notesSz cx="6858000" cy="9144000"/>
  <p:embeddedFontLst>
    <p:embeddedFont>
      <p:font typeface="Book Antiqua"/>
      <p:regular r:id="rId112"/>
      <p:bold r:id="rId113"/>
      <p:italic r:id="rId114"/>
      <p:boldItalic r:id="rId1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C1D9A4-430E-470E-86A2-C6D426FD140B}">
  <a:tblStyle styleId="{7CC1D9A4-430E-470E-86A2-C6D426FD140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9972936-3704-4351-929F-B63D9B5B34D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  <a:tblStyle styleId="{EC77BF77-FB9A-4DD0-B397-597096B6D1E7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7E2AC58-C064-4FC4-BA56-96CAA42FEB00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5" Type="http://schemas.openxmlformats.org/officeDocument/2006/relationships/font" Target="fonts/BookAntiqua-boldItalic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BookAntiqua-italic.fntdata"/><Relationship Id="rId18" Type="http://schemas.openxmlformats.org/officeDocument/2006/relationships/slide" Target="slides/slide12.xml"/><Relationship Id="rId113" Type="http://schemas.openxmlformats.org/officeDocument/2006/relationships/font" Target="fonts/BookAntiqua-bold.fntdata"/><Relationship Id="rId112" Type="http://schemas.openxmlformats.org/officeDocument/2006/relationships/font" Target="fonts/BookAntiqua-regular.fntdata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:notes"/>
          <p:cNvSpPr/>
          <p:nvPr/>
        </p:nvSpPr>
        <p:spPr>
          <a:xfrm>
            <a:off x="3886992" y="0"/>
            <a:ext cx="2971009" cy="457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75" lIns="91150" spcFirstLastPara="1" rIns="91150" wrap="square" tIns="45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:notes"/>
          <p:cNvSpPr/>
          <p:nvPr/>
        </p:nvSpPr>
        <p:spPr>
          <a:xfrm>
            <a:off x="3886992" y="8686404"/>
            <a:ext cx="2971009" cy="4575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975" spcFirstLastPara="1" rIns="189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7</a:t>
            </a:r>
            <a:endParaRPr/>
          </a:p>
        </p:txBody>
      </p:sp>
      <p:sp>
        <p:nvSpPr>
          <p:cNvPr id="412" name="Google Shape;412;p33:notes"/>
          <p:cNvSpPr/>
          <p:nvPr/>
        </p:nvSpPr>
        <p:spPr>
          <a:xfrm>
            <a:off x="1" y="8686404"/>
            <a:ext cx="2972591" cy="457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75" lIns="91150" spcFirstLastPara="1" rIns="91150" wrap="square" tIns="45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:notes"/>
          <p:cNvSpPr/>
          <p:nvPr/>
        </p:nvSpPr>
        <p:spPr>
          <a:xfrm>
            <a:off x="1" y="0"/>
            <a:ext cx="2972591" cy="457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75" lIns="91150" spcFirstLastPara="1" rIns="91150" wrap="square" tIns="45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4:notes"/>
          <p:cNvSpPr/>
          <p:nvPr/>
        </p:nvSpPr>
        <p:spPr>
          <a:xfrm>
            <a:off x="3886992" y="0"/>
            <a:ext cx="2971009" cy="457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75" lIns="91150" spcFirstLastPara="1" rIns="91150" wrap="square" tIns="45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:notes"/>
          <p:cNvSpPr/>
          <p:nvPr/>
        </p:nvSpPr>
        <p:spPr>
          <a:xfrm>
            <a:off x="3886992" y="8686404"/>
            <a:ext cx="2971009" cy="4575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975" spcFirstLastPara="1" rIns="189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7</a:t>
            </a:r>
            <a:endParaRPr/>
          </a:p>
        </p:txBody>
      </p:sp>
      <p:sp>
        <p:nvSpPr>
          <p:cNvPr id="425" name="Google Shape;425;p34:notes"/>
          <p:cNvSpPr/>
          <p:nvPr/>
        </p:nvSpPr>
        <p:spPr>
          <a:xfrm>
            <a:off x="1" y="8686404"/>
            <a:ext cx="2972591" cy="457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75" lIns="91150" spcFirstLastPara="1" rIns="91150" wrap="square" tIns="45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:notes"/>
          <p:cNvSpPr/>
          <p:nvPr/>
        </p:nvSpPr>
        <p:spPr>
          <a:xfrm>
            <a:off x="1" y="0"/>
            <a:ext cx="2972591" cy="457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75" lIns="91150" spcFirstLastPara="1" rIns="91150" wrap="square" tIns="45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2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4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6" name="Google Shape;65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5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5" name="Google Shape;66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6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1" name="Google Shape;68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7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7" name="Google Shape;69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8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3" name="Google Shape;713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6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6" name="Google Shape;866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2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5" name="Google Shape;95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3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3" name="Google Shape;973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74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1" name="Google Shape;991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5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2" name="Google Shape;1012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9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0" name="Google Shape;1120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4" name="Google Shape;1174;p82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5" name="Google Shape;1175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350" spcFirstLastPara="1" rIns="9035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94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5" name="Google Shape;1435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3" name="Google Shape;1463;p96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4" name="Google Shape;1464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350" spcFirstLastPara="1" rIns="9035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8" name="Google Shape;1478;p98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9" name="Google Shape;1479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350" spcFirstLastPara="1" rIns="9035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5" name="Google Shape;1495;p99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6" name="Google Shape;1496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350" spcFirstLastPara="1" rIns="9035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4" name="Google Shape;1514;p100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5" name="Google Shape;1515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350" spcFirstLastPara="1" rIns="9035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8" name="Google Shape;1538;p101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9" name="Google Shape;1539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350" spcFirstLastPara="1" rIns="9035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8" name="Google Shape;1568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http://elioxman.blogspot.com/2013/02/postgres-deadlock.html</a:t>
            </a:r>
            <a:endParaRPr/>
          </a:p>
        </p:txBody>
      </p:sp>
      <p:sp>
        <p:nvSpPr>
          <p:cNvPr id="1569" name="Google Shape;1569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4" name="Google Shape;1584;p103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5" name="Google Shape;1585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350" spcFirstLastPara="1" rIns="9035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1" name="Google Shape;1591;p104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2" name="Google Shape;1592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350" spcFirstLastPara="1" rIns="9035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Fall 2024</a:t>
            </a:r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311900"/>
            <a:ext cx="866825" cy="546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5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7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2209800" y="286543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Transactions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Goals for this pair of lectures</a:t>
            </a:r>
            <a:endParaRPr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838200" y="1825624"/>
            <a:ext cx="10515600" cy="4630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Transactions</a:t>
            </a:r>
            <a:r>
              <a:rPr lang="en-US"/>
              <a:t> are a programming abstraction that enables the DBMS to handle </a:t>
            </a:r>
            <a:r>
              <a:rPr i="1" lang="en-US"/>
              <a:t>recovery</a:t>
            </a:r>
            <a:r>
              <a:rPr lang="en-US"/>
              <a:t> and </a:t>
            </a:r>
            <a:r>
              <a:rPr i="1" lang="en-US"/>
              <a:t>concurrency</a:t>
            </a:r>
            <a:r>
              <a:rPr lang="en-US"/>
              <a:t> for users.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Application: </a:t>
            </a:r>
            <a:r>
              <a:rPr lang="en-US"/>
              <a:t>Transactions are critical for users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Even casual users of data processing systems!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Fundamentals: </a:t>
            </a:r>
            <a:r>
              <a:rPr lang="en-US"/>
              <a:t>The basics of </a:t>
            </a:r>
            <a:r>
              <a:rPr b="1" lang="en-US"/>
              <a:t>how</a:t>
            </a:r>
            <a:r>
              <a:rPr lang="en-US"/>
              <a:t> TXNs work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Transaction processing is part of the debate around new data processing systems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Give you enough information to understand how TXNs work, and the main concerns with using them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ctrTitle"/>
          </p:nvPr>
        </p:nvSpPr>
        <p:spPr>
          <a:xfrm>
            <a:off x="2209800" y="286543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Intro to Transactions &amp; Logging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Today’s Lecture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Properties of Transactions: ACID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Logging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Concurrency, scheduling &amp; anomalies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Locking: 2PL, conflict serializability, deadlock detection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Transactions</a:t>
            </a:r>
            <a:endParaRPr/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Our “model” of the DBMS / computer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Transactions basics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Motivation: Recovery &amp; Durability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Motivation: Concurrency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[next lecture]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6" name="Google Shape;126;p1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7" name="Google Shape;127;p1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8"/>
            <p:cNvSpPr txBox="1"/>
            <p:nvPr/>
          </p:nvSpPr>
          <p:spPr>
            <a:xfrm>
              <a:off x="188780" y="-22510"/>
              <a:ext cx="1752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7  &gt;  Section 1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High-level: Disk vs. Main Memory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Disk</a:t>
            </a:r>
            <a:r>
              <a:rPr lang="en-US"/>
              <a:t>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Slow</a:t>
            </a:r>
            <a:endParaRPr u="sng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Sequential access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(although fast sequential reads)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u="sng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Durable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We will assume that once on disk, data is safe!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Cheap</a:t>
            </a:r>
            <a:endParaRPr/>
          </a:p>
        </p:txBody>
      </p:sp>
      <p:sp>
        <p:nvSpPr>
          <p:cNvPr id="136" name="Google Shape;13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7" name="Google Shape;137;p19"/>
          <p:cNvGrpSpPr/>
          <p:nvPr/>
        </p:nvGrpSpPr>
        <p:grpSpPr>
          <a:xfrm>
            <a:off x="7183707" y="1970453"/>
            <a:ext cx="4580346" cy="4206510"/>
            <a:chOff x="5257801" y="1676400"/>
            <a:chExt cx="5417379" cy="4975226"/>
          </a:xfrm>
        </p:grpSpPr>
        <p:grpSp>
          <p:nvGrpSpPr>
            <p:cNvPr id="138" name="Google Shape;138;p19"/>
            <p:cNvGrpSpPr/>
            <p:nvPr/>
          </p:nvGrpSpPr>
          <p:grpSpPr>
            <a:xfrm>
              <a:off x="6732588" y="2787651"/>
              <a:ext cx="3149600" cy="1801813"/>
              <a:chOff x="2998" y="1129"/>
              <a:chExt cx="1984" cy="1135"/>
            </a:xfrm>
          </p:grpSpPr>
          <p:sp>
            <p:nvSpPr>
              <p:cNvPr id="139" name="Google Shape;139;p19"/>
              <p:cNvSpPr/>
              <p:nvPr/>
            </p:nvSpPr>
            <p:spPr>
              <a:xfrm>
                <a:off x="2998" y="1499"/>
                <a:ext cx="1984" cy="765"/>
              </a:xfrm>
              <a:custGeom>
                <a:rect b="b" l="l" r="r" t="t"/>
                <a:pathLst>
                  <a:path extrusionOk="0" h="765" w="1984">
                    <a:moveTo>
                      <a:pt x="0" y="386"/>
                    </a:moveTo>
                    <a:lnTo>
                      <a:pt x="16" y="320"/>
                    </a:lnTo>
                    <a:lnTo>
                      <a:pt x="57" y="255"/>
                    </a:lnTo>
                    <a:lnTo>
                      <a:pt x="131" y="197"/>
                    </a:lnTo>
                    <a:lnTo>
                      <a:pt x="230" y="140"/>
                    </a:lnTo>
                    <a:lnTo>
                      <a:pt x="353" y="90"/>
                    </a:lnTo>
                    <a:lnTo>
                      <a:pt x="493" y="58"/>
                    </a:lnTo>
                    <a:lnTo>
                      <a:pt x="650" y="25"/>
                    </a:lnTo>
                    <a:lnTo>
                      <a:pt x="814" y="8"/>
                    </a:lnTo>
                    <a:lnTo>
                      <a:pt x="987" y="0"/>
                    </a:lnTo>
                    <a:lnTo>
                      <a:pt x="1160" y="8"/>
                    </a:lnTo>
                    <a:lnTo>
                      <a:pt x="1333" y="25"/>
                    </a:lnTo>
                    <a:lnTo>
                      <a:pt x="1489" y="58"/>
                    </a:lnTo>
                    <a:lnTo>
                      <a:pt x="1629" y="90"/>
                    </a:lnTo>
                    <a:lnTo>
                      <a:pt x="1753" y="140"/>
                    </a:lnTo>
                    <a:lnTo>
                      <a:pt x="1852" y="197"/>
                    </a:lnTo>
                    <a:lnTo>
                      <a:pt x="1926" y="255"/>
                    </a:lnTo>
                    <a:lnTo>
                      <a:pt x="1967" y="320"/>
                    </a:lnTo>
                    <a:lnTo>
                      <a:pt x="1983" y="386"/>
                    </a:lnTo>
                    <a:lnTo>
                      <a:pt x="1967" y="452"/>
                    </a:lnTo>
                    <a:lnTo>
                      <a:pt x="1926" y="518"/>
                    </a:lnTo>
                    <a:lnTo>
                      <a:pt x="1852" y="575"/>
                    </a:lnTo>
                    <a:lnTo>
                      <a:pt x="1753" y="633"/>
                    </a:lnTo>
                    <a:lnTo>
                      <a:pt x="1629" y="674"/>
                    </a:lnTo>
                    <a:lnTo>
                      <a:pt x="1489" y="715"/>
                    </a:lnTo>
                    <a:lnTo>
                      <a:pt x="1333" y="740"/>
                    </a:lnTo>
                    <a:lnTo>
                      <a:pt x="1160" y="764"/>
                    </a:lnTo>
                    <a:lnTo>
                      <a:pt x="987" y="764"/>
                    </a:lnTo>
                    <a:lnTo>
                      <a:pt x="814" y="764"/>
                    </a:lnTo>
                    <a:lnTo>
                      <a:pt x="650" y="740"/>
                    </a:lnTo>
                    <a:lnTo>
                      <a:pt x="493" y="715"/>
                    </a:lnTo>
                    <a:lnTo>
                      <a:pt x="353" y="674"/>
                    </a:lnTo>
                    <a:lnTo>
                      <a:pt x="230" y="633"/>
                    </a:lnTo>
                    <a:lnTo>
                      <a:pt x="131" y="575"/>
                    </a:lnTo>
                    <a:lnTo>
                      <a:pt x="57" y="518"/>
                    </a:lnTo>
                    <a:lnTo>
                      <a:pt x="16" y="452"/>
                    </a:lnTo>
                    <a:lnTo>
                      <a:pt x="0" y="386"/>
                    </a:lnTo>
                  </a:path>
                </a:pathLst>
              </a:custGeom>
              <a:solidFill>
                <a:srgbClr val="000000"/>
              </a:solidFill>
              <a:ln cap="rnd" cmpd="sng" w="508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2998" y="1129"/>
                <a:ext cx="1984" cy="765"/>
              </a:xfrm>
              <a:custGeom>
                <a:rect b="b" l="l" r="r" t="t"/>
                <a:pathLst>
                  <a:path extrusionOk="0" h="765" w="1984">
                    <a:moveTo>
                      <a:pt x="0" y="386"/>
                    </a:moveTo>
                    <a:lnTo>
                      <a:pt x="16" y="321"/>
                    </a:lnTo>
                    <a:lnTo>
                      <a:pt x="57" y="255"/>
                    </a:lnTo>
                    <a:lnTo>
                      <a:pt x="131" y="197"/>
                    </a:lnTo>
                    <a:lnTo>
                      <a:pt x="230" y="140"/>
                    </a:lnTo>
                    <a:lnTo>
                      <a:pt x="353" y="91"/>
                    </a:lnTo>
                    <a:lnTo>
                      <a:pt x="493" y="58"/>
                    </a:lnTo>
                    <a:lnTo>
                      <a:pt x="650" y="25"/>
                    </a:lnTo>
                    <a:lnTo>
                      <a:pt x="814" y="8"/>
                    </a:lnTo>
                    <a:lnTo>
                      <a:pt x="987" y="0"/>
                    </a:lnTo>
                    <a:lnTo>
                      <a:pt x="1160" y="8"/>
                    </a:lnTo>
                    <a:lnTo>
                      <a:pt x="1333" y="25"/>
                    </a:lnTo>
                    <a:lnTo>
                      <a:pt x="1489" y="58"/>
                    </a:lnTo>
                    <a:lnTo>
                      <a:pt x="1629" y="91"/>
                    </a:lnTo>
                    <a:lnTo>
                      <a:pt x="1753" y="140"/>
                    </a:lnTo>
                    <a:lnTo>
                      <a:pt x="1852" y="197"/>
                    </a:lnTo>
                    <a:lnTo>
                      <a:pt x="1926" y="255"/>
                    </a:lnTo>
                    <a:lnTo>
                      <a:pt x="1967" y="321"/>
                    </a:lnTo>
                    <a:lnTo>
                      <a:pt x="1983" y="386"/>
                    </a:lnTo>
                    <a:lnTo>
                      <a:pt x="1967" y="452"/>
                    </a:lnTo>
                    <a:lnTo>
                      <a:pt x="1926" y="518"/>
                    </a:lnTo>
                    <a:lnTo>
                      <a:pt x="1852" y="575"/>
                    </a:lnTo>
                    <a:lnTo>
                      <a:pt x="1753" y="633"/>
                    </a:lnTo>
                    <a:lnTo>
                      <a:pt x="1629" y="674"/>
                    </a:lnTo>
                    <a:lnTo>
                      <a:pt x="1489" y="715"/>
                    </a:lnTo>
                    <a:lnTo>
                      <a:pt x="1333" y="740"/>
                    </a:lnTo>
                    <a:lnTo>
                      <a:pt x="1160" y="764"/>
                    </a:lnTo>
                    <a:lnTo>
                      <a:pt x="987" y="764"/>
                    </a:lnTo>
                    <a:lnTo>
                      <a:pt x="814" y="764"/>
                    </a:lnTo>
                    <a:lnTo>
                      <a:pt x="650" y="740"/>
                    </a:lnTo>
                    <a:lnTo>
                      <a:pt x="493" y="715"/>
                    </a:lnTo>
                    <a:lnTo>
                      <a:pt x="353" y="674"/>
                    </a:lnTo>
                    <a:lnTo>
                      <a:pt x="230" y="633"/>
                    </a:lnTo>
                    <a:lnTo>
                      <a:pt x="131" y="575"/>
                    </a:lnTo>
                    <a:lnTo>
                      <a:pt x="57" y="518"/>
                    </a:lnTo>
                    <a:lnTo>
                      <a:pt x="16" y="452"/>
                    </a:lnTo>
                    <a:lnTo>
                      <a:pt x="0" y="386"/>
                    </a:lnTo>
                  </a:path>
                </a:pathLst>
              </a:custGeom>
              <a:solidFill>
                <a:srgbClr val="000000"/>
              </a:solidFill>
              <a:ln cap="rnd" cmpd="sng" w="508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19"/>
            <p:cNvGrpSpPr/>
            <p:nvPr/>
          </p:nvGrpSpPr>
          <p:grpSpPr>
            <a:xfrm>
              <a:off x="6705600" y="2057401"/>
              <a:ext cx="3176588" cy="4594225"/>
              <a:chOff x="2981" y="669"/>
              <a:chExt cx="2001" cy="2894"/>
            </a:xfrm>
          </p:grpSpPr>
          <p:grpSp>
            <p:nvGrpSpPr>
              <p:cNvPr id="142" name="Google Shape;142;p19"/>
              <p:cNvGrpSpPr/>
              <p:nvPr/>
            </p:nvGrpSpPr>
            <p:grpSpPr>
              <a:xfrm>
                <a:off x="2981" y="1096"/>
                <a:ext cx="2001" cy="2467"/>
                <a:chOff x="2981" y="1096"/>
                <a:chExt cx="2001" cy="2467"/>
              </a:xfrm>
            </p:grpSpPr>
            <p:grpSp>
              <p:nvGrpSpPr>
                <p:cNvPr id="143" name="Google Shape;143;p19"/>
                <p:cNvGrpSpPr/>
                <p:nvPr/>
              </p:nvGrpSpPr>
              <p:grpSpPr>
                <a:xfrm>
                  <a:off x="2998" y="1466"/>
                  <a:ext cx="1984" cy="765"/>
                  <a:chOff x="2998" y="1466"/>
                  <a:chExt cx="1984" cy="765"/>
                </a:xfrm>
              </p:grpSpPr>
              <p:sp>
                <p:nvSpPr>
                  <p:cNvPr id="144" name="Google Shape;144;p19"/>
                  <p:cNvSpPr/>
                  <p:nvPr/>
                </p:nvSpPr>
                <p:spPr>
                  <a:xfrm>
                    <a:off x="2998" y="1466"/>
                    <a:ext cx="1984" cy="765"/>
                  </a:xfrm>
                  <a:custGeom>
                    <a:rect b="b" l="l" r="r" t="t"/>
                    <a:pathLst>
                      <a:path extrusionOk="0" h="765" w="1984">
                        <a:moveTo>
                          <a:pt x="0" y="378"/>
                        </a:moveTo>
                        <a:lnTo>
                          <a:pt x="16" y="312"/>
                        </a:lnTo>
                        <a:lnTo>
                          <a:pt x="57" y="247"/>
                        </a:lnTo>
                        <a:lnTo>
                          <a:pt x="131" y="189"/>
                        </a:lnTo>
                        <a:lnTo>
                          <a:pt x="230" y="132"/>
                        </a:lnTo>
                        <a:lnTo>
                          <a:pt x="353" y="91"/>
                        </a:lnTo>
                        <a:lnTo>
                          <a:pt x="493" y="49"/>
                        </a:lnTo>
                        <a:lnTo>
                          <a:pt x="650" y="25"/>
                        </a:lnTo>
                        <a:lnTo>
                          <a:pt x="814" y="0"/>
                        </a:lnTo>
                        <a:lnTo>
                          <a:pt x="987" y="0"/>
                        </a:lnTo>
                        <a:lnTo>
                          <a:pt x="1160" y="0"/>
                        </a:lnTo>
                        <a:lnTo>
                          <a:pt x="1333" y="25"/>
                        </a:lnTo>
                        <a:lnTo>
                          <a:pt x="1489" y="49"/>
                        </a:lnTo>
                        <a:lnTo>
                          <a:pt x="1629" y="91"/>
                        </a:lnTo>
                        <a:lnTo>
                          <a:pt x="1753" y="132"/>
                        </a:lnTo>
                        <a:lnTo>
                          <a:pt x="1852" y="189"/>
                        </a:lnTo>
                        <a:lnTo>
                          <a:pt x="1926" y="247"/>
                        </a:lnTo>
                        <a:lnTo>
                          <a:pt x="1967" y="312"/>
                        </a:lnTo>
                        <a:lnTo>
                          <a:pt x="1983" y="378"/>
                        </a:lnTo>
                        <a:lnTo>
                          <a:pt x="1967" y="444"/>
                        </a:lnTo>
                        <a:lnTo>
                          <a:pt x="1926" y="510"/>
                        </a:lnTo>
                        <a:lnTo>
                          <a:pt x="1852" y="567"/>
                        </a:lnTo>
                        <a:lnTo>
                          <a:pt x="1753" y="625"/>
                        </a:lnTo>
                        <a:lnTo>
                          <a:pt x="1629" y="674"/>
                        </a:lnTo>
                        <a:lnTo>
                          <a:pt x="1489" y="707"/>
                        </a:lnTo>
                        <a:lnTo>
                          <a:pt x="1333" y="740"/>
                        </a:lnTo>
                        <a:lnTo>
                          <a:pt x="1160" y="756"/>
                        </a:lnTo>
                        <a:lnTo>
                          <a:pt x="987" y="764"/>
                        </a:lnTo>
                        <a:lnTo>
                          <a:pt x="814" y="756"/>
                        </a:lnTo>
                        <a:lnTo>
                          <a:pt x="650" y="740"/>
                        </a:lnTo>
                        <a:lnTo>
                          <a:pt x="493" y="707"/>
                        </a:lnTo>
                        <a:lnTo>
                          <a:pt x="353" y="674"/>
                        </a:lnTo>
                        <a:lnTo>
                          <a:pt x="230" y="625"/>
                        </a:lnTo>
                        <a:lnTo>
                          <a:pt x="131" y="567"/>
                        </a:lnTo>
                        <a:lnTo>
                          <a:pt x="57" y="510"/>
                        </a:lnTo>
                        <a:lnTo>
                          <a:pt x="16" y="444"/>
                        </a:lnTo>
                        <a:lnTo>
                          <a:pt x="0" y="378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5" name="Google Shape;145;p19"/>
                  <p:cNvSpPr/>
                  <p:nvPr/>
                </p:nvSpPr>
                <p:spPr>
                  <a:xfrm>
                    <a:off x="3055" y="1524"/>
                    <a:ext cx="1853" cy="650"/>
                  </a:xfrm>
                  <a:custGeom>
                    <a:rect b="b" l="l" r="r" t="t"/>
                    <a:pathLst>
                      <a:path extrusionOk="0" h="650" w="1853">
                        <a:moveTo>
                          <a:pt x="0" y="328"/>
                        </a:moveTo>
                        <a:lnTo>
                          <a:pt x="17" y="263"/>
                        </a:lnTo>
                        <a:lnTo>
                          <a:pt x="66" y="205"/>
                        </a:lnTo>
                        <a:lnTo>
                          <a:pt x="140" y="156"/>
                        </a:lnTo>
                        <a:lnTo>
                          <a:pt x="247" y="106"/>
                        </a:lnTo>
                        <a:lnTo>
                          <a:pt x="371" y="65"/>
                        </a:lnTo>
                        <a:lnTo>
                          <a:pt x="519" y="33"/>
                        </a:lnTo>
                        <a:lnTo>
                          <a:pt x="675" y="16"/>
                        </a:lnTo>
                        <a:lnTo>
                          <a:pt x="840" y="0"/>
                        </a:lnTo>
                        <a:lnTo>
                          <a:pt x="1013" y="0"/>
                        </a:lnTo>
                        <a:lnTo>
                          <a:pt x="1177" y="16"/>
                        </a:lnTo>
                        <a:lnTo>
                          <a:pt x="1342" y="33"/>
                        </a:lnTo>
                        <a:lnTo>
                          <a:pt x="1482" y="65"/>
                        </a:lnTo>
                        <a:lnTo>
                          <a:pt x="1613" y="106"/>
                        </a:lnTo>
                        <a:lnTo>
                          <a:pt x="1712" y="156"/>
                        </a:lnTo>
                        <a:lnTo>
                          <a:pt x="1795" y="205"/>
                        </a:lnTo>
                        <a:lnTo>
                          <a:pt x="1836" y="263"/>
                        </a:lnTo>
                        <a:lnTo>
                          <a:pt x="1852" y="328"/>
                        </a:lnTo>
                        <a:lnTo>
                          <a:pt x="1836" y="386"/>
                        </a:lnTo>
                        <a:lnTo>
                          <a:pt x="1795" y="443"/>
                        </a:lnTo>
                        <a:lnTo>
                          <a:pt x="1712" y="493"/>
                        </a:lnTo>
                        <a:lnTo>
                          <a:pt x="1613" y="542"/>
                        </a:lnTo>
                        <a:lnTo>
                          <a:pt x="1482" y="583"/>
                        </a:lnTo>
                        <a:lnTo>
                          <a:pt x="1342" y="616"/>
                        </a:lnTo>
                        <a:lnTo>
                          <a:pt x="1177" y="641"/>
                        </a:lnTo>
                        <a:lnTo>
                          <a:pt x="1013" y="649"/>
                        </a:lnTo>
                        <a:lnTo>
                          <a:pt x="840" y="649"/>
                        </a:lnTo>
                        <a:lnTo>
                          <a:pt x="675" y="641"/>
                        </a:lnTo>
                        <a:lnTo>
                          <a:pt x="519" y="616"/>
                        </a:lnTo>
                        <a:lnTo>
                          <a:pt x="371" y="583"/>
                        </a:lnTo>
                        <a:lnTo>
                          <a:pt x="247" y="542"/>
                        </a:lnTo>
                        <a:lnTo>
                          <a:pt x="140" y="493"/>
                        </a:lnTo>
                        <a:lnTo>
                          <a:pt x="66" y="443"/>
                        </a:lnTo>
                        <a:lnTo>
                          <a:pt x="17" y="386"/>
                        </a:lnTo>
                        <a:lnTo>
                          <a:pt x="0" y="328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6" name="Google Shape;146;p19"/>
                  <p:cNvSpPr/>
                  <p:nvPr/>
                </p:nvSpPr>
                <p:spPr>
                  <a:xfrm>
                    <a:off x="3146" y="1589"/>
                    <a:ext cx="1672" cy="494"/>
                  </a:xfrm>
                  <a:custGeom>
                    <a:rect b="b" l="l" r="r" t="t"/>
                    <a:pathLst>
                      <a:path extrusionOk="0" h="494" w="1672">
                        <a:moveTo>
                          <a:pt x="0" y="247"/>
                        </a:moveTo>
                        <a:lnTo>
                          <a:pt x="16" y="198"/>
                        </a:lnTo>
                        <a:lnTo>
                          <a:pt x="66" y="148"/>
                        </a:lnTo>
                        <a:lnTo>
                          <a:pt x="148" y="107"/>
                        </a:lnTo>
                        <a:lnTo>
                          <a:pt x="247" y="74"/>
                        </a:lnTo>
                        <a:lnTo>
                          <a:pt x="370" y="41"/>
                        </a:lnTo>
                        <a:lnTo>
                          <a:pt x="518" y="17"/>
                        </a:lnTo>
                        <a:lnTo>
                          <a:pt x="675" y="0"/>
                        </a:lnTo>
                        <a:lnTo>
                          <a:pt x="839" y="0"/>
                        </a:lnTo>
                        <a:lnTo>
                          <a:pt x="996" y="0"/>
                        </a:lnTo>
                        <a:lnTo>
                          <a:pt x="1152" y="17"/>
                        </a:lnTo>
                        <a:lnTo>
                          <a:pt x="1300" y="41"/>
                        </a:lnTo>
                        <a:lnTo>
                          <a:pt x="1424" y="74"/>
                        </a:lnTo>
                        <a:lnTo>
                          <a:pt x="1531" y="107"/>
                        </a:lnTo>
                        <a:lnTo>
                          <a:pt x="1605" y="148"/>
                        </a:lnTo>
                        <a:lnTo>
                          <a:pt x="1654" y="198"/>
                        </a:lnTo>
                        <a:lnTo>
                          <a:pt x="1671" y="247"/>
                        </a:lnTo>
                        <a:lnTo>
                          <a:pt x="1654" y="296"/>
                        </a:lnTo>
                        <a:lnTo>
                          <a:pt x="1605" y="337"/>
                        </a:lnTo>
                        <a:lnTo>
                          <a:pt x="1531" y="378"/>
                        </a:lnTo>
                        <a:lnTo>
                          <a:pt x="1424" y="419"/>
                        </a:lnTo>
                        <a:lnTo>
                          <a:pt x="1300" y="452"/>
                        </a:lnTo>
                        <a:lnTo>
                          <a:pt x="1152" y="477"/>
                        </a:lnTo>
                        <a:lnTo>
                          <a:pt x="996" y="485"/>
                        </a:lnTo>
                        <a:lnTo>
                          <a:pt x="839" y="493"/>
                        </a:lnTo>
                        <a:lnTo>
                          <a:pt x="675" y="485"/>
                        </a:lnTo>
                        <a:lnTo>
                          <a:pt x="518" y="477"/>
                        </a:lnTo>
                        <a:lnTo>
                          <a:pt x="370" y="452"/>
                        </a:lnTo>
                        <a:lnTo>
                          <a:pt x="247" y="419"/>
                        </a:lnTo>
                        <a:lnTo>
                          <a:pt x="148" y="378"/>
                        </a:lnTo>
                        <a:lnTo>
                          <a:pt x="66" y="337"/>
                        </a:lnTo>
                        <a:lnTo>
                          <a:pt x="16" y="296"/>
                        </a:lnTo>
                        <a:lnTo>
                          <a:pt x="0" y="247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" name="Google Shape;147;p19"/>
                <p:cNvGrpSpPr/>
                <p:nvPr/>
              </p:nvGrpSpPr>
              <p:grpSpPr>
                <a:xfrm>
                  <a:off x="2998" y="1096"/>
                  <a:ext cx="1984" cy="766"/>
                  <a:chOff x="2998" y="1096"/>
                  <a:chExt cx="1984" cy="766"/>
                </a:xfrm>
              </p:grpSpPr>
              <p:sp>
                <p:nvSpPr>
                  <p:cNvPr id="148" name="Google Shape;148;p19"/>
                  <p:cNvSpPr/>
                  <p:nvPr/>
                </p:nvSpPr>
                <p:spPr>
                  <a:xfrm>
                    <a:off x="2998" y="1096"/>
                    <a:ext cx="1984" cy="766"/>
                  </a:xfrm>
                  <a:custGeom>
                    <a:rect b="b" l="l" r="r" t="t"/>
                    <a:pathLst>
                      <a:path extrusionOk="0" h="766" w="1984">
                        <a:moveTo>
                          <a:pt x="0" y="378"/>
                        </a:moveTo>
                        <a:lnTo>
                          <a:pt x="16" y="313"/>
                        </a:lnTo>
                        <a:lnTo>
                          <a:pt x="57" y="247"/>
                        </a:lnTo>
                        <a:lnTo>
                          <a:pt x="131" y="189"/>
                        </a:lnTo>
                        <a:lnTo>
                          <a:pt x="230" y="132"/>
                        </a:lnTo>
                        <a:lnTo>
                          <a:pt x="353" y="91"/>
                        </a:lnTo>
                        <a:lnTo>
                          <a:pt x="493" y="50"/>
                        </a:lnTo>
                        <a:lnTo>
                          <a:pt x="650" y="25"/>
                        </a:lnTo>
                        <a:lnTo>
                          <a:pt x="814" y="0"/>
                        </a:lnTo>
                        <a:lnTo>
                          <a:pt x="987" y="0"/>
                        </a:lnTo>
                        <a:lnTo>
                          <a:pt x="1160" y="0"/>
                        </a:lnTo>
                        <a:lnTo>
                          <a:pt x="1333" y="25"/>
                        </a:lnTo>
                        <a:lnTo>
                          <a:pt x="1489" y="50"/>
                        </a:lnTo>
                        <a:lnTo>
                          <a:pt x="1629" y="91"/>
                        </a:lnTo>
                        <a:lnTo>
                          <a:pt x="1753" y="132"/>
                        </a:lnTo>
                        <a:lnTo>
                          <a:pt x="1852" y="189"/>
                        </a:lnTo>
                        <a:lnTo>
                          <a:pt x="1926" y="247"/>
                        </a:lnTo>
                        <a:lnTo>
                          <a:pt x="1967" y="313"/>
                        </a:lnTo>
                        <a:lnTo>
                          <a:pt x="1983" y="378"/>
                        </a:lnTo>
                        <a:lnTo>
                          <a:pt x="1967" y="444"/>
                        </a:lnTo>
                        <a:lnTo>
                          <a:pt x="1926" y="510"/>
                        </a:lnTo>
                        <a:lnTo>
                          <a:pt x="1852" y="567"/>
                        </a:lnTo>
                        <a:lnTo>
                          <a:pt x="1753" y="625"/>
                        </a:lnTo>
                        <a:lnTo>
                          <a:pt x="1629" y="674"/>
                        </a:lnTo>
                        <a:lnTo>
                          <a:pt x="1489" y="707"/>
                        </a:lnTo>
                        <a:lnTo>
                          <a:pt x="1333" y="740"/>
                        </a:lnTo>
                        <a:lnTo>
                          <a:pt x="1160" y="756"/>
                        </a:lnTo>
                        <a:lnTo>
                          <a:pt x="987" y="765"/>
                        </a:lnTo>
                        <a:lnTo>
                          <a:pt x="814" y="756"/>
                        </a:lnTo>
                        <a:lnTo>
                          <a:pt x="650" y="740"/>
                        </a:lnTo>
                        <a:lnTo>
                          <a:pt x="493" y="707"/>
                        </a:lnTo>
                        <a:lnTo>
                          <a:pt x="353" y="674"/>
                        </a:lnTo>
                        <a:lnTo>
                          <a:pt x="230" y="625"/>
                        </a:lnTo>
                        <a:lnTo>
                          <a:pt x="131" y="567"/>
                        </a:lnTo>
                        <a:lnTo>
                          <a:pt x="57" y="510"/>
                        </a:lnTo>
                        <a:lnTo>
                          <a:pt x="16" y="444"/>
                        </a:lnTo>
                        <a:lnTo>
                          <a:pt x="0" y="378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9" name="Google Shape;149;p19"/>
                  <p:cNvSpPr/>
                  <p:nvPr/>
                </p:nvSpPr>
                <p:spPr>
                  <a:xfrm>
                    <a:off x="3055" y="1154"/>
                    <a:ext cx="1853" cy="650"/>
                  </a:xfrm>
                  <a:custGeom>
                    <a:rect b="b" l="l" r="r" t="t"/>
                    <a:pathLst>
                      <a:path extrusionOk="0" h="650" w="1853">
                        <a:moveTo>
                          <a:pt x="0" y="329"/>
                        </a:moveTo>
                        <a:lnTo>
                          <a:pt x="17" y="263"/>
                        </a:lnTo>
                        <a:lnTo>
                          <a:pt x="66" y="205"/>
                        </a:lnTo>
                        <a:lnTo>
                          <a:pt x="140" y="156"/>
                        </a:lnTo>
                        <a:lnTo>
                          <a:pt x="247" y="107"/>
                        </a:lnTo>
                        <a:lnTo>
                          <a:pt x="371" y="66"/>
                        </a:lnTo>
                        <a:lnTo>
                          <a:pt x="519" y="33"/>
                        </a:lnTo>
                        <a:lnTo>
                          <a:pt x="675" y="16"/>
                        </a:lnTo>
                        <a:lnTo>
                          <a:pt x="840" y="0"/>
                        </a:lnTo>
                        <a:lnTo>
                          <a:pt x="1013" y="0"/>
                        </a:lnTo>
                        <a:lnTo>
                          <a:pt x="1177" y="16"/>
                        </a:lnTo>
                        <a:lnTo>
                          <a:pt x="1342" y="33"/>
                        </a:lnTo>
                        <a:lnTo>
                          <a:pt x="1482" y="66"/>
                        </a:lnTo>
                        <a:lnTo>
                          <a:pt x="1613" y="107"/>
                        </a:lnTo>
                        <a:lnTo>
                          <a:pt x="1712" y="156"/>
                        </a:lnTo>
                        <a:lnTo>
                          <a:pt x="1795" y="205"/>
                        </a:lnTo>
                        <a:lnTo>
                          <a:pt x="1836" y="263"/>
                        </a:lnTo>
                        <a:lnTo>
                          <a:pt x="1852" y="329"/>
                        </a:lnTo>
                        <a:lnTo>
                          <a:pt x="1836" y="386"/>
                        </a:lnTo>
                        <a:lnTo>
                          <a:pt x="1795" y="444"/>
                        </a:lnTo>
                        <a:lnTo>
                          <a:pt x="1712" y="493"/>
                        </a:lnTo>
                        <a:lnTo>
                          <a:pt x="1613" y="542"/>
                        </a:lnTo>
                        <a:lnTo>
                          <a:pt x="1482" y="583"/>
                        </a:lnTo>
                        <a:lnTo>
                          <a:pt x="1342" y="616"/>
                        </a:lnTo>
                        <a:lnTo>
                          <a:pt x="1177" y="641"/>
                        </a:lnTo>
                        <a:lnTo>
                          <a:pt x="1013" y="649"/>
                        </a:lnTo>
                        <a:lnTo>
                          <a:pt x="840" y="649"/>
                        </a:lnTo>
                        <a:lnTo>
                          <a:pt x="675" y="641"/>
                        </a:lnTo>
                        <a:lnTo>
                          <a:pt x="519" y="616"/>
                        </a:lnTo>
                        <a:lnTo>
                          <a:pt x="371" y="583"/>
                        </a:lnTo>
                        <a:lnTo>
                          <a:pt x="247" y="542"/>
                        </a:lnTo>
                        <a:lnTo>
                          <a:pt x="140" y="493"/>
                        </a:lnTo>
                        <a:lnTo>
                          <a:pt x="66" y="444"/>
                        </a:lnTo>
                        <a:lnTo>
                          <a:pt x="17" y="386"/>
                        </a:lnTo>
                        <a:lnTo>
                          <a:pt x="0" y="329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0" name="Google Shape;150;p19"/>
                  <p:cNvSpPr/>
                  <p:nvPr/>
                </p:nvSpPr>
                <p:spPr>
                  <a:xfrm>
                    <a:off x="3146" y="1220"/>
                    <a:ext cx="1672" cy="494"/>
                  </a:xfrm>
                  <a:custGeom>
                    <a:rect b="b" l="l" r="r" t="t"/>
                    <a:pathLst>
                      <a:path extrusionOk="0" h="494" w="1672">
                        <a:moveTo>
                          <a:pt x="0" y="246"/>
                        </a:moveTo>
                        <a:lnTo>
                          <a:pt x="16" y="197"/>
                        </a:lnTo>
                        <a:lnTo>
                          <a:pt x="66" y="147"/>
                        </a:lnTo>
                        <a:lnTo>
                          <a:pt x="148" y="106"/>
                        </a:lnTo>
                        <a:lnTo>
                          <a:pt x="247" y="74"/>
                        </a:lnTo>
                        <a:lnTo>
                          <a:pt x="370" y="41"/>
                        </a:lnTo>
                        <a:lnTo>
                          <a:pt x="518" y="16"/>
                        </a:lnTo>
                        <a:lnTo>
                          <a:pt x="675" y="0"/>
                        </a:lnTo>
                        <a:lnTo>
                          <a:pt x="839" y="0"/>
                        </a:lnTo>
                        <a:lnTo>
                          <a:pt x="996" y="0"/>
                        </a:lnTo>
                        <a:lnTo>
                          <a:pt x="1152" y="16"/>
                        </a:lnTo>
                        <a:lnTo>
                          <a:pt x="1300" y="41"/>
                        </a:lnTo>
                        <a:lnTo>
                          <a:pt x="1424" y="74"/>
                        </a:lnTo>
                        <a:lnTo>
                          <a:pt x="1531" y="106"/>
                        </a:lnTo>
                        <a:lnTo>
                          <a:pt x="1605" y="147"/>
                        </a:lnTo>
                        <a:lnTo>
                          <a:pt x="1654" y="197"/>
                        </a:lnTo>
                        <a:lnTo>
                          <a:pt x="1671" y="246"/>
                        </a:lnTo>
                        <a:lnTo>
                          <a:pt x="1654" y="295"/>
                        </a:lnTo>
                        <a:lnTo>
                          <a:pt x="1605" y="337"/>
                        </a:lnTo>
                        <a:lnTo>
                          <a:pt x="1531" y="378"/>
                        </a:lnTo>
                        <a:lnTo>
                          <a:pt x="1424" y="419"/>
                        </a:lnTo>
                        <a:lnTo>
                          <a:pt x="1300" y="452"/>
                        </a:lnTo>
                        <a:lnTo>
                          <a:pt x="1152" y="476"/>
                        </a:lnTo>
                        <a:lnTo>
                          <a:pt x="996" y="484"/>
                        </a:lnTo>
                        <a:lnTo>
                          <a:pt x="839" y="493"/>
                        </a:lnTo>
                        <a:lnTo>
                          <a:pt x="675" y="484"/>
                        </a:lnTo>
                        <a:lnTo>
                          <a:pt x="518" y="476"/>
                        </a:lnTo>
                        <a:lnTo>
                          <a:pt x="370" y="452"/>
                        </a:lnTo>
                        <a:lnTo>
                          <a:pt x="247" y="419"/>
                        </a:lnTo>
                        <a:lnTo>
                          <a:pt x="148" y="378"/>
                        </a:lnTo>
                        <a:lnTo>
                          <a:pt x="66" y="337"/>
                        </a:lnTo>
                        <a:lnTo>
                          <a:pt x="16" y="295"/>
                        </a:lnTo>
                        <a:lnTo>
                          <a:pt x="0" y="246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51" name="Google Shape;151;p19"/>
                <p:cNvSpPr/>
                <p:nvPr/>
              </p:nvSpPr>
              <p:spPr>
                <a:xfrm>
                  <a:off x="2981" y="2797"/>
                  <a:ext cx="1993" cy="766"/>
                </a:xfrm>
                <a:custGeom>
                  <a:rect b="b" l="l" r="r" t="t"/>
                  <a:pathLst>
                    <a:path extrusionOk="0" h="766" w="1993">
                      <a:moveTo>
                        <a:pt x="0" y="378"/>
                      </a:moveTo>
                      <a:lnTo>
                        <a:pt x="17" y="313"/>
                      </a:lnTo>
                      <a:lnTo>
                        <a:pt x="66" y="247"/>
                      </a:lnTo>
                      <a:lnTo>
                        <a:pt x="132" y="189"/>
                      </a:lnTo>
                      <a:lnTo>
                        <a:pt x="239" y="140"/>
                      </a:lnTo>
                      <a:lnTo>
                        <a:pt x="354" y="91"/>
                      </a:lnTo>
                      <a:lnTo>
                        <a:pt x="502" y="50"/>
                      </a:lnTo>
                      <a:lnTo>
                        <a:pt x="659" y="25"/>
                      </a:lnTo>
                      <a:lnTo>
                        <a:pt x="823" y="9"/>
                      </a:lnTo>
                      <a:lnTo>
                        <a:pt x="996" y="0"/>
                      </a:lnTo>
                      <a:lnTo>
                        <a:pt x="1169" y="9"/>
                      </a:lnTo>
                      <a:lnTo>
                        <a:pt x="1334" y="25"/>
                      </a:lnTo>
                      <a:lnTo>
                        <a:pt x="1490" y="50"/>
                      </a:lnTo>
                      <a:lnTo>
                        <a:pt x="1638" y="91"/>
                      </a:lnTo>
                      <a:lnTo>
                        <a:pt x="1753" y="140"/>
                      </a:lnTo>
                      <a:lnTo>
                        <a:pt x="1860" y="189"/>
                      </a:lnTo>
                      <a:lnTo>
                        <a:pt x="1926" y="247"/>
                      </a:lnTo>
                      <a:lnTo>
                        <a:pt x="1976" y="313"/>
                      </a:lnTo>
                      <a:lnTo>
                        <a:pt x="1992" y="378"/>
                      </a:lnTo>
                      <a:lnTo>
                        <a:pt x="1976" y="444"/>
                      </a:lnTo>
                      <a:lnTo>
                        <a:pt x="1926" y="510"/>
                      </a:lnTo>
                      <a:lnTo>
                        <a:pt x="1860" y="576"/>
                      </a:lnTo>
                      <a:lnTo>
                        <a:pt x="1753" y="625"/>
                      </a:lnTo>
                      <a:lnTo>
                        <a:pt x="1638" y="674"/>
                      </a:lnTo>
                      <a:lnTo>
                        <a:pt x="1490" y="715"/>
                      </a:lnTo>
                      <a:lnTo>
                        <a:pt x="1334" y="740"/>
                      </a:lnTo>
                      <a:lnTo>
                        <a:pt x="1169" y="756"/>
                      </a:lnTo>
                      <a:lnTo>
                        <a:pt x="996" y="765"/>
                      </a:lnTo>
                      <a:lnTo>
                        <a:pt x="823" y="756"/>
                      </a:lnTo>
                      <a:lnTo>
                        <a:pt x="659" y="740"/>
                      </a:lnTo>
                      <a:lnTo>
                        <a:pt x="502" y="715"/>
                      </a:lnTo>
                      <a:lnTo>
                        <a:pt x="354" y="674"/>
                      </a:lnTo>
                      <a:lnTo>
                        <a:pt x="239" y="625"/>
                      </a:lnTo>
                      <a:lnTo>
                        <a:pt x="132" y="576"/>
                      </a:lnTo>
                      <a:lnTo>
                        <a:pt x="66" y="510"/>
                      </a:lnTo>
                      <a:lnTo>
                        <a:pt x="17" y="444"/>
                      </a:lnTo>
                      <a:lnTo>
                        <a:pt x="0" y="378"/>
                      </a:lnTo>
                    </a:path>
                  </a:pathLst>
                </a:custGeom>
                <a:solidFill>
                  <a:srgbClr val="000000"/>
                </a:solidFill>
                <a:ln cap="rnd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2" name="Google Shape;152;p19"/>
              <p:cNvGrpSpPr/>
              <p:nvPr/>
            </p:nvGrpSpPr>
            <p:grpSpPr>
              <a:xfrm>
                <a:off x="2981" y="2756"/>
                <a:ext cx="1993" cy="766"/>
                <a:chOff x="2981" y="2756"/>
                <a:chExt cx="1993" cy="766"/>
              </a:xfrm>
            </p:grpSpPr>
            <p:sp>
              <p:nvSpPr>
                <p:cNvPr id="153" name="Google Shape;153;p19"/>
                <p:cNvSpPr/>
                <p:nvPr/>
              </p:nvSpPr>
              <p:spPr>
                <a:xfrm>
                  <a:off x="2981" y="2756"/>
                  <a:ext cx="1993" cy="766"/>
                </a:xfrm>
                <a:custGeom>
                  <a:rect b="b" l="l" r="r" t="t"/>
                  <a:pathLst>
                    <a:path extrusionOk="0" h="766" w="1993">
                      <a:moveTo>
                        <a:pt x="0" y="387"/>
                      </a:moveTo>
                      <a:lnTo>
                        <a:pt x="17" y="321"/>
                      </a:lnTo>
                      <a:lnTo>
                        <a:pt x="66" y="255"/>
                      </a:lnTo>
                      <a:lnTo>
                        <a:pt x="132" y="198"/>
                      </a:lnTo>
                      <a:lnTo>
                        <a:pt x="239" y="140"/>
                      </a:lnTo>
                      <a:lnTo>
                        <a:pt x="354" y="91"/>
                      </a:lnTo>
                      <a:lnTo>
                        <a:pt x="502" y="58"/>
                      </a:lnTo>
                      <a:lnTo>
                        <a:pt x="659" y="25"/>
                      </a:lnTo>
                      <a:lnTo>
                        <a:pt x="823" y="9"/>
                      </a:lnTo>
                      <a:lnTo>
                        <a:pt x="996" y="0"/>
                      </a:lnTo>
                      <a:lnTo>
                        <a:pt x="1169" y="9"/>
                      </a:lnTo>
                      <a:lnTo>
                        <a:pt x="1334" y="25"/>
                      </a:lnTo>
                      <a:lnTo>
                        <a:pt x="1490" y="58"/>
                      </a:lnTo>
                      <a:lnTo>
                        <a:pt x="1638" y="91"/>
                      </a:lnTo>
                      <a:lnTo>
                        <a:pt x="1753" y="140"/>
                      </a:lnTo>
                      <a:lnTo>
                        <a:pt x="1860" y="198"/>
                      </a:lnTo>
                      <a:lnTo>
                        <a:pt x="1926" y="255"/>
                      </a:lnTo>
                      <a:lnTo>
                        <a:pt x="1976" y="321"/>
                      </a:lnTo>
                      <a:lnTo>
                        <a:pt x="1992" y="387"/>
                      </a:lnTo>
                      <a:lnTo>
                        <a:pt x="1976" y="452"/>
                      </a:lnTo>
                      <a:lnTo>
                        <a:pt x="1926" y="518"/>
                      </a:lnTo>
                      <a:lnTo>
                        <a:pt x="1860" y="576"/>
                      </a:lnTo>
                      <a:lnTo>
                        <a:pt x="1753" y="633"/>
                      </a:lnTo>
                      <a:lnTo>
                        <a:pt x="1638" y="674"/>
                      </a:lnTo>
                      <a:lnTo>
                        <a:pt x="1490" y="715"/>
                      </a:lnTo>
                      <a:lnTo>
                        <a:pt x="1334" y="740"/>
                      </a:lnTo>
                      <a:lnTo>
                        <a:pt x="1169" y="756"/>
                      </a:lnTo>
                      <a:lnTo>
                        <a:pt x="996" y="765"/>
                      </a:lnTo>
                      <a:lnTo>
                        <a:pt x="823" y="756"/>
                      </a:lnTo>
                      <a:lnTo>
                        <a:pt x="659" y="740"/>
                      </a:lnTo>
                      <a:lnTo>
                        <a:pt x="502" y="715"/>
                      </a:lnTo>
                      <a:lnTo>
                        <a:pt x="354" y="674"/>
                      </a:lnTo>
                      <a:lnTo>
                        <a:pt x="239" y="633"/>
                      </a:lnTo>
                      <a:lnTo>
                        <a:pt x="132" y="576"/>
                      </a:lnTo>
                      <a:lnTo>
                        <a:pt x="66" y="518"/>
                      </a:lnTo>
                      <a:lnTo>
                        <a:pt x="17" y="452"/>
                      </a:lnTo>
                      <a:lnTo>
                        <a:pt x="0" y="387"/>
                      </a:lnTo>
                    </a:path>
                  </a:pathLst>
                </a:custGeom>
                <a:solidFill>
                  <a:srgbClr val="FFFFFF"/>
                </a:solidFill>
                <a:ln cap="rnd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" name="Google Shape;154;p19"/>
                <p:cNvSpPr/>
                <p:nvPr/>
              </p:nvSpPr>
              <p:spPr>
                <a:xfrm>
                  <a:off x="3047" y="2822"/>
                  <a:ext cx="1853" cy="642"/>
                </a:xfrm>
                <a:custGeom>
                  <a:rect b="b" l="l" r="r" t="t"/>
                  <a:pathLst>
                    <a:path extrusionOk="0" h="642" w="1853">
                      <a:moveTo>
                        <a:pt x="0" y="321"/>
                      </a:moveTo>
                      <a:lnTo>
                        <a:pt x="16" y="263"/>
                      </a:lnTo>
                      <a:lnTo>
                        <a:pt x="58" y="206"/>
                      </a:lnTo>
                      <a:lnTo>
                        <a:pt x="140" y="148"/>
                      </a:lnTo>
                      <a:lnTo>
                        <a:pt x="239" y="107"/>
                      </a:lnTo>
                      <a:lnTo>
                        <a:pt x="362" y="66"/>
                      </a:lnTo>
                      <a:lnTo>
                        <a:pt x="510" y="33"/>
                      </a:lnTo>
                      <a:lnTo>
                        <a:pt x="667" y="8"/>
                      </a:lnTo>
                      <a:lnTo>
                        <a:pt x="840" y="0"/>
                      </a:lnTo>
                      <a:lnTo>
                        <a:pt x="1012" y="0"/>
                      </a:lnTo>
                      <a:lnTo>
                        <a:pt x="1177" y="8"/>
                      </a:lnTo>
                      <a:lnTo>
                        <a:pt x="1333" y="33"/>
                      </a:lnTo>
                      <a:lnTo>
                        <a:pt x="1482" y="66"/>
                      </a:lnTo>
                      <a:lnTo>
                        <a:pt x="1605" y="107"/>
                      </a:lnTo>
                      <a:lnTo>
                        <a:pt x="1712" y="148"/>
                      </a:lnTo>
                      <a:lnTo>
                        <a:pt x="1786" y="206"/>
                      </a:lnTo>
                      <a:lnTo>
                        <a:pt x="1835" y="263"/>
                      </a:lnTo>
                      <a:lnTo>
                        <a:pt x="1852" y="321"/>
                      </a:lnTo>
                      <a:lnTo>
                        <a:pt x="1835" y="378"/>
                      </a:lnTo>
                      <a:lnTo>
                        <a:pt x="1786" y="436"/>
                      </a:lnTo>
                      <a:lnTo>
                        <a:pt x="1712" y="493"/>
                      </a:lnTo>
                      <a:lnTo>
                        <a:pt x="1605" y="542"/>
                      </a:lnTo>
                      <a:lnTo>
                        <a:pt x="1482" y="584"/>
                      </a:lnTo>
                      <a:lnTo>
                        <a:pt x="1333" y="608"/>
                      </a:lnTo>
                      <a:lnTo>
                        <a:pt x="1177" y="633"/>
                      </a:lnTo>
                      <a:lnTo>
                        <a:pt x="1012" y="641"/>
                      </a:lnTo>
                      <a:lnTo>
                        <a:pt x="840" y="641"/>
                      </a:lnTo>
                      <a:lnTo>
                        <a:pt x="667" y="633"/>
                      </a:lnTo>
                      <a:lnTo>
                        <a:pt x="510" y="608"/>
                      </a:lnTo>
                      <a:lnTo>
                        <a:pt x="362" y="584"/>
                      </a:lnTo>
                      <a:lnTo>
                        <a:pt x="239" y="542"/>
                      </a:lnTo>
                      <a:lnTo>
                        <a:pt x="140" y="493"/>
                      </a:lnTo>
                      <a:lnTo>
                        <a:pt x="58" y="436"/>
                      </a:lnTo>
                      <a:lnTo>
                        <a:pt x="16" y="378"/>
                      </a:lnTo>
                      <a:lnTo>
                        <a:pt x="0" y="321"/>
                      </a:lnTo>
                    </a:path>
                  </a:pathLst>
                </a:custGeom>
                <a:solidFill>
                  <a:srgbClr val="FFFFFF"/>
                </a:solidFill>
                <a:ln cap="rnd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" name="Google Shape;155;p19"/>
                <p:cNvSpPr/>
                <p:nvPr/>
              </p:nvSpPr>
              <p:spPr>
                <a:xfrm>
                  <a:off x="3137" y="2880"/>
                  <a:ext cx="1672" cy="494"/>
                </a:xfrm>
                <a:custGeom>
                  <a:rect b="b" l="l" r="r" t="t"/>
                  <a:pathLst>
                    <a:path extrusionOk="0" h="494" w="1672">
                      <a:moveTo>
                        <a:pt x="0" y="246"/>
                      </a:moveTo>
                      <a:lnTo>
                        <a:pt x="17" y="197"/>
                      </a:lnTo>
                      <a:lnTo>
                        <a:pt x="66" y="156"/>
                      </a:lnTo>
                      <a:lnTo>
                        <a:pt x="140" y="115"/>
                      </a:lnTo>
                      <a:lnTo>
                        <a:pt x="247" y="74"/>
                      </a:lnTo>
                      <a:lnTo>
                        <a:pt x="371" y="41"/>
                      </a:lnTo>
                      <a:lnTo>
                        <a:pt x="519" y="24"/>
                      </a:lnTo>
                      <a:lnTo>
                        <a:pt x="675" y="8"/>
                      </a:lnTo>
                      <a:lnTo>
                        <a:pt x="832" y="0"/>
                      </a:lnTo>
                      <a:lnTo>
                        <a:pt x="996" y="8"/>
                      </a:lnTo>
                      <a:lnTo>
                        <a:pt x="1153" y="24"/>
                      </a:lnTo>
                      <a:lnTo>
                        <a:pt x="1301" y="41"/>
                      </a:lnTo>
                      <a:lnTo>
                        <a:pt x="1424" y="74"/>
                      </a:lnTo>
                      <a:lnTo>
                        <a:pt x="1523" y="115"/>
                      </a:lnTo>
                      <a:lnTo>
                        <a:pt x="1606" y="156"/>
                      </a:lnTo>
                      <a:lnTo>
                        <a:pt x="1655" y="197"/>
                      </a:lnTo>
                      <a:lnTo>
                        <a:pt x="1671" y="246"/>
                      </a:lnTo>
                      <a:lnTo>
                        <a:pt x="1655" y="295"/>
                      </a:lnTo>
                      <a:lnTo>
                        <a:pt x="1606" y="345"/>
                      </a:lnTo>
                      <a:lnTo>
                        <a:pt x="1523" y="386"/>
                      </a:lnTo>
                      <a:lnTo>
                        <a:pt x="1424" y="427"/>
                      </a:lnTo>
                      <a:lnTo>
                        <a:pt x="1301" y="452"/>
                      </a:lnTo>
                      <a:lnTo>
                        <a:pt x="1153" y="476"/>
                      </a:lnTo>
                      <a:lnTo>
                        <a:pt x="996" y="493"/>
                      </a:lnTo>
                      <a:lnTo>
                        <a:pt x="832" y="493"/>
                      </a:lnTo>
                      <a:lnTo>
                        <a:pt x="675" y="493"/>
                      </a:lnTo>
                      <a:lnTo>
                        <a:pt x="519" y="476"/>
                      </a:lnTo>
                      <a:lnTo>
                        <a:pt x="371" y="452"/>
                      </a:lnTo>
                      <a:lnTo>
                        <a:pt x="247" y="427"/>
                      </a:lnTo>
                      <a:lnTo>
                        <a:pt x="140" y="386"/>
                      </a:lnTo>
                      <a:lnTo>
                        <a:pt x="66" y="345"/>
                      </a:lnTo>
                      <a:lnTo>
                        <a:pt x="17" y="295"/>
                      </a:lnTo>
                      <a:lnTo>
                        <a:pt x="0" y="246"/>
                      </a:lnTo>
                    </a:path>
                  </a:pathLst>
                </a:custGeom>
                <a:solidFill>
                  <a:srgbClr val="FFFFFF"/>
                </a:solidFill>
                <a:ln cap="rnd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6" name="Google Shape;156;p19"/>
              <p:cNvGrpSpPr/>
              <p:nvPr/>
            </p:nvGrpSpPr>
            <p:grpSpPr>
              <a:xfrm>
                <a:off x="3788" y="669"/>
                <a:ext cx="429" cy="2516"/>
                <a:chOff x="3788" y="669"/>
                <a:chExt cx="429" cy="2516"/>
              </a:xfrm>
            </p:grpSpPr>
            <p:sp>
              <p:nvSpPr>
                <p:cNvPr id="157" name="Google Shape;157;p19"/>
                <p:cNvSpPr/>
                <p:nvPr/>
              </p:nvSpPr>
              <p:spPr>
                <a:xfrm>
                  <a:off x="3845" y="784"/>
                  <a:ext cx="248" cy="741"/>
                </a:xfrm>
                <a:custGeom>
                  <a:rect b="b" l="l" r="r" t="t"/>
                  <a:pathLst>
                    <a:path extrusionOk="0" h="741" w="248">
                      <a:moveTo>
                        <a:pt x="247" y="649"/>
                      </a:moveTo>
                      <a:lnTo>
                        <a:pt x="247" y="0"/>
                      </a:lnTo>
                      <a:lnTo>
                        <a:pt x="0" y="0"/>
                      </a:lnTo>
                      <a:lnTo>
                        <a:pt x="0" y="649"/>
                      </a:lnTo>
                      <a:lnTo>
                        <a:pt x="0" y="657"/>
                      </a:lnTo>
                      <a:lnTo>
                        <a:pt x="17" y="699"/>
                      </a:lnTo>
                      <a:lnTo>
                        <a:pt x="50" y="723"/>
                      </a:lnTo>
                      <a:lnTo>
                        <a:pt x="99" y="740"/>
                      </a:lnTo>
                      <a:lnTo>
                        <a:pt x="157" y="740"/>
                      </a:lnTo>
                      <a:lnTo>
                        <a:pt x="206" y="723"/>
                      </a:lnTo>
                      <a:lnTo>
                        <a:pt x="239" y="699"/>
                      </a:lnTo>
                      <a:lnTo>
                        <a:pt x="247" y="657"/>
                      </a:lnTo>
                      <a:lnTo>
                        <a:pt x="247" y="649"/>
                      </a:lnTo>
                    </a:path>
                  </a:pathLst>
                </a:custGeom>
                <a:solidFill>
                  <a:srgbClr val="FFFFFF"/>
                </a:solidFill>
                <a:ln cap="rnd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19"/>
                <p:cNvSpPr/>
                <p:nvPr/>
              </p:nvSpPr>
              <p:spPr>
                <a:xfrm>
                  <a:off x="3845" y="669"/>
                  <a:ext cx="248" cy="157"/>
                </a:xfrm>
                <a:custGeom>
                  <a:rect b="b" l="l" r="r" t="t"/>
                  <a:pathLst>
                    <a:path extrusionOk="0" h="157" w="248">
                      <a:moveTo>
                        <a:pt x="0" y="74"/>
                      </a:moveTo>
                      <a:lnTo>
                        <a:pt x="17" y="41"/>
                      </a:lnTo>
                      <a:lnTo>
                        <a:pt x="50" y="8"/>
                      </a:lnTo>
                      <a:lnTo>
                        <a:pt x="99" y="0"/>
                      </a:lnTo>
                      <a:lnTo>
                        <a:pt x="157" y="0"/>
                      </a:lnTo>
                      <a:lnTo>
                        <a:pt x="206" y="8"/>
                      </a:lnTo>
                      <a:lnTo>
                        <a:pt x="239" y="41"/>
                      </a:lnTo>
                      <a:lnTo>
                        <a:pt x="247" y="74"/>
                      </a:lnTo>
                      <a:lnTo>
                        <a:pt x="239" y="115"/>
                      </a:lnTo>
                      <a:lnTo>
                        <a:pt x="206" y="140"/>
                      </a:lnTo>
                      <a:lnTo>
                        <a:pt x="157" y="156"/>
                      </a:lnTo>
                      <a:lnTo>
                        <a:pt x="99" y="156"/>
                      </a:lnTo>
                      <a:lnTo>
                        <a:pt x="50" y="140"/>
                      </a:lnTo>
                      <a:lnTo>
                        <a:pt x="17" y="115"/>
                      </a:lnTo>
                      <a:lnTo>
                        <a:pt x="0" y="74"/>
                      </a:lnTo>
                    </a:path>
                  </a:pathLst>
                </a:custGeom>
                <a:solidFill>
                  <a:srgbClr val="FFFFFF"/>
                </a:solidFill>
                <a:ln cap="rnd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" name="Google Shape;159;p19"/>
                <p:cNvSpPr/>
                <p:nvPr/>
              </p:nvSpPr>
              <p:spPr>
                <a:xfrm>
                  <a:off x="3845" y="2263"/>
                  <a:ext cx="248" cy="922"/>
                </a:xfrm>
                <a:custGeom>
                  <a:rect b="b" l="l" r="r" t="t"/>
                  <a:pathLst>
                    <a:path extrusionOk="0" h="922" w="248">
                      <a:moveTo>
                        <a:pt x="247" y="814"/>
                      </a:moveTo>
                      <a:lnTo>
                        <a:pt x="247" y="0"/>
                      </a:lnTo>
                      <a:lnTo>
                        <a:pt x="0" y="0"/>
                      </a:lnTo>
                      <a:lnTo>
                        <a:pt x="0" y="814"/>
                      </a:lnTo>
                      <a:lnTo>
                        <a:pt x="0" y="822"/>
                      </a:lnTo>
                      <a:lnTo>
                        <a:pt x="17" y="871"/>
                      </a:lnTo>
                      <a:lnTo>
                        <a:pt x="50" y="904"/>
                      </a:lnTo>
                      <a:lnTo>
                        <a:pt x="99" y="921"/>
                      </a:lnTo>
                      <a:lnTo>
                        <a:pt x="157" y="921"/>
                      </a:lnTo>
                      <a:lnTo>
                        <a:pt x="206" y="904"/>
                      </a:lnTo>
                      <a:lnTo>
                        <a:pt x="239" y="871"/>
                      </a:lnTo>
                      <a:lnTo>
                        <a:pt x="247" y="822"/>
                      </a:lnTo>
                      <a:lnTo>
                        <a:pt x="247" y="814"/>
                      </a:lnTo>
                    </a:path>
                  </a:pathLst>
                </a:custGeom>
                <a:solidFill>
                  <a:srgbClr val="FFFFFF"/>
                </a:solidFill>
                <a:ln cap="rnd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19"/>
                <p:cNvSpPr/>
                <p:nvPr/>
              </p:nvSpPr>
              <p:spPr>
                <a:xfrm>
                  <a:off x="3788" y="850"/>
                  <a:ext cx="429" cy="247"/>
                </a:xfrm>
                <a:custGeom>
                  <a:rect b="b" l="l" r="r" t="t"/>
                  <a:pathLst>
                    <a:path extrusionOk="0" h="247" w="429">
                      <a:moveTo>
                        <a:pt x="57" y="0"/>
                      </a:moveTo>
                      <a:lnTo>
                        <a:pt x="16" y="49"/>
                      </a:lnTo>
                      <a:lnTo>
                        <a:pt x="0" y="98"/>
                      </a:lnTo>
                      <a:lnTo>
                        <a:pt x="16" y="156"/>
                      </a:lnTo>
                      <a:lnTo>
                        <a:pt x="66" y="205"/>
                      </a:lnTo>
                      <a:lnTo>
                        <a:pt x="131" y="230"/>
                      </a:lnTo>
                      <a:lnTo>
                        <a:pt x="214" y="246"/>
                      </a:lnTo>
                      <a:lnTo>
                        <a:pt x="296" y="230"/>
                      </a:lnTo>
                      <a:lnTo>
                        <a:pt x="362" y="205"/>
                      </a:lnTo>
                      <a:lnTo>
                        <a:pt x="411" y="156"/>
                      </a:lnTo>
                      <a:lnTo>
                        <a:pt x="428" y="98"/>
                      </a:lnTo>
                      <a:lnTo>
                        <a:pt x="411" y="49"/>
                      </a:lnTo>
                    </a:path>
                  </a:pathLst>
                </a:custGeom>
                <a:noFill/>
                <a:ln cap="rnd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61" name="Google Shape;161;p19"/>
            <p:cNvSpPr/>
            <p:nvPr/>
          </p:nvSpPr>
          <p:spPr>
            <a:xfrm>
              <a:off x="8574088" y="2344738"/>
              <a:ext cx="171450" cy="171450"/>
            </a:xfrm>
            <a:custGeom>
              <a:rect b="b" l="l" r="r" t="t"/>
              <a:pathLst>
                <a:path extrusionOk="0" h="108" w="108">
                  <a:moveTo>
                    <a:pt x="25" y="107"/>
                  </a:moveTo>
                  <a:lnTo>
                    <a:pt x="0" y="0"/>
                  </a:lnTo>
                  <a:lnTo>
                    <a:pt x="107" y="41"/>
                  </a:lnTo>
                  <a:lnTo>
                    <a:pt x="25" y="10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2" name="Google Shape;162;p19"/>
            <p:cNvCxnSpPr/>
            <p:nvPr/>
          </p:nvCxnSpPr>
          <p:spPr>
            <a:xfrm>
              <a:off x="6118226" y="3322638"/>
              <a:ext cx="784225" cy="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9"/>
            <p:cNvCxnSpPr/>
            <p:nvPr/>
          </p:nvCxnSpPr>
          <p:spPr>
            <a:xfrm>
              <a:off x="6118226" y="3935413"/>
              <a:ext cx="784225" cy="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9"/>
            <p:cNvCxnSpPr/>
            <p:nvPr/>
          </p:nvCxnSpPr>
          <p:spPr>
            <a:xfrm>
              <a:off x="6118226" y="6022975"/>
              <a:ext cx="784225" cy="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19"/>
            <p:cNvCxnSpPr/>
            <p:nvPr/>
          </p:nvCxnSpPr>
          <p:spPr>
            <a:xfrm>
              <a:off x="6118225" y="4497389"/>
              <a:ext cx="0" cy="1565275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19"/>
            <p:cNvCxnSpPr/>
            <p:nvPr/>
          </p:nvCxnSpPr>
          <p:spPr>
            <a:xfrm rot="10800000">
              <a:off x="6118225" y="3322638"/>
              <a:ext cx="0" cy="117475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descr="Light vertical" id="167" name="Google Shape;167;p19"/>
            <p:cNvSpPr/>
            <p:nvPr/>
          </p:nvSpPr>
          <p:spPr>
            <a:xfrm>
              <a:off x="6902451" y="5984876"/>
              <a:ext cx="157163" cy="79375"/>
            </a:xfrm>
            <a:custGeom>
              <a:rect b="b" l="l" r="r" t="t"/>
              <a:pathLst>
                <a:path extrusionOk="0" h="50" w="99">
                  <a:moveTo>
                    <a:pt x="0" y="49"/>
                  </a:moveTo>
                  <a:lnTo>
                    <a:pt x="98" y="49"/>
                  </a:lnTo>
                  <a:lnTo>
                    <a:pt x="98" y="0"/>
                  </a:lnTo>
                  <a:lnTo>
                    <a:pt x="0" y="0"/>
                  </a:lnTo>
                  <a:lnTo>
                    <a:pt x="0" y="49"/>
                  </a:lnTo>
                </a:path>
              </a:pathLst>
            </a:custGeom>
            <a:solidFill>
              <a:srgbClr val="000000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Light vertical" id="168" name="Google Shape;168;p19"/>
            <p:cNvSpPr/>
            <p:nvPr/>
          </p:nvSpPr>
          <p:spPr>
            <a:xfrm>
              <a:off x="6902451" y="3282951"/>
              <a:ext cx="157163" cy="68263"/>
            </a:xfrm>
            <a:custGeom>
              <a:rect b="b" l="l" r="r" t="t"/>
              <a:pathLst>
                <a:path extrusionOk="0" h="43" w="99">
                  <a:moveTo>
                    <a:pt x="0" y="42"/>
                  </a:moveTo>
                  <a:lnTo>
                    <a:pt x="98" y="42"/>
                  </a:lnTo>
                  <a:lnTo>
                    <a:pt x="98" y="0"/>
                  </a:lnTo>
                  <a:lnTo>
                    <a:pt x="0" y="0"/>
                  </a:lnTo>
                  <a:lnTo>
                    <a:pt x="0" y="42"/>
                  </a:lnTo>
                </a:path>
              </a:pathLst>
            </a:custGeom>
            <a:solidFill>
              <a:srgbClr val="000000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Light vertical" id="169" name="Google Shape;169;p19"/>
            <p:cNvSpPr/>
            <p:nvPr/>
          </p:nvSpPr>
          <p:spPr>
            <a:xfrm>
              <a:off x="6902451" y="3910014"/>
              <a:ext cx="157163" cy="66675"/>
            </a:xfrm>
            <a:custGeom>
              <a:rect b="b" l="l" r="r" t="t"/>
              <a:pathLst>
                <a:path extrusionOk="0" h="42" w="99">
                  <a:moveTo>
                    <a:pt x="0" y="41"/>
                  </a:moveTo>
                  <a:lnTo>
                    <a:pt x="98" y="41"/>
                  </a:lnTo>
                  <a:lnTo>
                    <a:pt x="98" y="0"/>
                  </a:lnTo>
                  <a:lnTo>
                    <a:pt x="0" y="0"/>
                  </a:lnTo>
                  <a:lnTo>
                    <a:pt x="0" y="41"/>
                  </a:lnTo>
                </a:path>
              </a:pathLst>
            </a:custGeom>
            <a:solidFill>
              <a:srgbClr val="000000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9764714" y="4776788"/>
              <a:ext cx="838371" cy="323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Platters</a:t>
              </a:r>
              <a:endParaRPr/>
            </a:p>
          </p:txBody>
        </p:sp>
        <p:cxnSp>
          <p:nvCxnSpPr>
            <p:cNvPr id="171" name="Google Shape;171;p19"/>
            <p:cNvCxnSpPr/>
            <p:nvPr/>
          </p:nvCxnSpPr>
          <p:spPr>
            <a:xfrm>
              <a:off x="9645651" y="4300539"/>
              <a:ext cx="392113" cy="48418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19"/>
            <p:cNvCxnSpPr/>
            <p:nvPr/>
          </p:nvCxnSpPr>
          <p:spPr>
            <a:xfrm flipH="1" rot="10800000">
              <a:off x="9645651" y="5084764"/>
              <a:ext cx="392113" cy="58578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3" name="Google Shape;173;p19"/>
            <p:cNvSpPr/>
            <p:nvPr/>
          </p:nvSpPr>
          <p:spPr>
            <a:xfrm>
              <a:off x="9104313" y="2049463"/>
              <a:ext cx="830356" cy="323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Spindle</a:t>
              </a:r>
              <a:endParaRPr/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8470901" y="2184401"/>
              <a:ext cx="695325" cy="117475"/>
            </a:xfrm>
            <a:custGeom>
              <a:rect b="b" l="l" r="r" t="t"/>
              <a:pathLst>
                <a:path extrusionOk="0" h="74" w="438">
                  <a:moveTo>
                    <a:pt x="437" y="8"/>
                  </a:moveTo>
                  <a:lnTo>
                    <a:pt x="288" y="0"/>
                  </a:lnTo>
                  <a:lnTo>
                    <a:pt x="140" y="24"/>
                  </a:lnTo>
                  <a:lnTo>
                    <a:pt x="0" y="73"/>
                  </a:lnTo>
                </a:path>
              </a:pathLst>
            </a:custGeom>
            <a:noFill/>
            <a:ln cap="rnd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6092826" y="2365375"/>
              <a:ext cx="1043555" cy="323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Disk head</a:t>
              </a:r>
              <a:endParaRPr/>
            </a:p>
          </p:txBody>
        </p:sp>
        <p:grpSp>
          <p:nvGrpSpPr>
            <p:cNvPr id="176" name="Google Shape;176;p19"/>
            <p:cNvGrpSpPr/>
            <p:nvPr/>
          </p:nvGrpSpPr>
          <p:grpSpPr>
            <a:xfrm>
              <a:off x="6415090" y="4708525"/>
              <a:ext cx="1490663" cy="522288"/>
              <a:chOff x="2798" y="2339"/>
              <a:chExt cx="939" cy="329"/>
            </a:xfrm>
          </p:grpSpPr>
          <p:sp>
            <p:nvSpPr>
              <p:cNvPr id="177" name="Google Shape;177;p19"/>
              <p:cNvSpPr/>
              <p:nvPr/>
            </p:nvSpPr>
            <p:spPr>
              <a:xfrm>
                <a:off x="2831" y="2339"/>
                <a:ext cx="865" cy="124"/>
              </a:xfrm>
              <a:custGeom>
                <a:rect b="b" l="l" r="r" t="t"/>
                <a:pathLst>
                  <a:path extrusionOk="0" h="124" w="865">
                    <a:moveTo>
                      <a:pt x="0" y="65"/>
                    </a:moveTo>
                    <a:lnTo>
                      <a:pt x="41" y="0"/>
                    </a:lnTo>
                    <a:lnTo>
                      <a:pt x="41" y="41"/>
                    </a:lnTo>
                    <a:lnTo>
                      <a:pt x="831" y="41"/>
                    </a:lnTo>
                    <a:lnTo>
                      <a:pt x="831" y="0"/>
                    </a:lnTo>
                    <a:lnTo>
                      <a:pt x="864" y="65"/>
                    </a:lnTo>
                    <a:lnTo>
                      <a:pt x="831" y="123"/>
                    </a:lnTo>
                    <a:lnTo>
                      <a:pt x="831" y="82"/>
                    </a:lnTo>
                    <a:lnTo>
                      <a:pt x="41" y="82"/>
                    </a:lnTo>
                    <a:lnTo>
                      <a:pt x="41" y="123"/>
                    </a:lnTo>
                    <a:lnTo>
                      <a:pt x="0" y="65"/>
                    </a:lnTo>
                  </a:path>
                </a:pathLst>
              </a:custGeom>
              <a:solidFill>
                <a:srgbClr val="FF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9"/>
              <p:cNvSpPr/>
              <p:nvPr/>
            </p:nvSpPr>
            <p:spPr>
              <a:xfrm>
                <a:off x="2798" y="2464"/>
                <a:ext cx="939" cy="2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Arm movement</a:t>
                </a:r>
                <a:endParaRPr/>
              </a:p>
            </p:txBody>
          </p:sp>
        </p:grpSp>
        <p:grpSp>
          <p:nvGrpSpPr>
            <p:cNvPr id="179" name="Google Shape;179;p19"/>
            <p:cNvGrpSpPr/>
            <p:nvPr/>
          </p:nvGrpSpPr>
          <p:grpSpPr>
            <a:xfrm>
              <a:off x="5257801" y="5670550"/>
              <a:ext cx="1406525" cy="801688"/>
              <a:chOff x="2069" y="2945"/>
              <a:chExt cx="886" cy="505"/>
            </a:xfrm>
          </p:grpSpPr>
          <p:sp>
            <p:nvSpPr>
              <p:cNvPr id="180" name="Google Shape;180;p19"/>
              <p:cNvSpPr/>
              <p:nvPr/>
            </p:nvSpPr>
            <p:spPr>
              <a:xfrm>
                <a:off x="2069" y="3246"/>
                <a:ext cx="886" cy="2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Arm assembly</a:t>
                </a:r>
                <a:endParaRPr/>
              </a:p>
            </p:txBody>
          </p:sp>
          <p:sp>
            <p:nvSpPr>
              <p:cNvPr id="181" name="Google Shape;181;p19"/>
              <p:cNvSpPr/>
              <p:nvPr/>
            </p:nvSpPr>
            <p:spPr>
              <a:xfrm>
                <a:off x="2357" y="2945"/>
                <a:ext cx="256" cy="305"/>
              </a:xfrm>
              <a:custGeom>
                <a:rect b="b" l="l" r="r" t="t"/>
                <a:pathLst>
                  <a:path extrusionOk="0" h="305" w="256">
                    <a:moveTo>
                      <a:pt x="8" y="304"/>
                    </a:moveTo>
                    <a:lnTo>
                      <a:pt x="0" y="230"/>
                    </a:lnTo>
                    <a:lnTo>
                      <a:pt x="16" y="156"/>
                    </a:lnTo>
                    <a:lnTo>
                      <a:pt x="57" y="91"/>
                    </a:lnTo>
                    <a:lnTo>
                      <a:pt x="115" y="41"/>
                    </a:lnTo>
                    <a:lnTo>
                      <a:pt x="181" y="9"/>
                    </a:lnTo>
                    <a:lnTo>
                      <a:pt x="255" y="0"/>
                    </a:lnTo>
                  </a:path>
                </a:pathLst>
              </a:custGeom>
              <a:noFill/>
              <a:ln cap="rnd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" name="Google Shape;182;p19"/>
            <p:cNvSpPr/>
            <p:nvPr/>
          </p:nvSpPr>
          <p:spPr>
            <a:xfrm>
              <a:off x="6707189" y="2592389"/>
              <a:ext cx="288925" cy="731837"/>
            </a:xfrm>
            <a:custGeom>
              <a:rect b="b" l="l" r="r" t="t"/>
              <a:pathLst>
                <a:path extrusionOk="0" h="461" w="182">
                  <a:moveTo>
                    <a:pt x="0" y="0"/>
                  </a:moveTo>
                  <a:lnTo>
                    <a:pt x="82" y="66"/>
                  </a:lnTo>
                  <a:lnTo>
                    <a:pt x="140" y="156"/>
                  </a:lnTo>
                  <a:lnTo>
                    <a:pt x="173" y="255"/>
                  </a:lnTo>
                  <a:lnTo>
                    <a:pt x="181" y="353"/>
                  </a:lnTo>
                  <a:lnTo>
                    <a:pt x="165" y="460"/>
                  </a:lnTo>
                </a:path>
              </a:pathLst>
            </a:custGeom>
            <a:noFill/>
            <a:ln cap="rnd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3" name="Google Shape;183;p19"/>
            <p:cNvGrpSpPr/>
            <p:nvPr/>
          </p:nvGrpSpPr>
          <p:grpSpPr>
            <a:xfrm>
              <a:off x="9199563" y="2255838"/>
              <a:ext cx="1289050" cy="792162"/>
              <a:chOff x="4552" y="794"/>
              <a:chExt cx="812" cy="499"/>
            </a:xfrm>
          </p:grpSpPr>
          <p:sp>
            <p:nvSpPr>
              <p:cNvPr id="184" name="Google Shape;184;p19"/>
              <p:cNvSpPr/>
              <p:nvPr/>
            </p:nvSpPr>
            <p:spPr>
              <a:xfrm>
                <a:off x="4609" y="988"/>
                <a:ext cx="372" cy="305"/>
              </a:xfrm>
              <a:custGeom>
                <a:rect b="b" l="l" r="r" t="t"/>
                <a:pathLst>
                  <a:path extrusionOk="0" h="305" w="372">
                    <a:moveTo>
                      <a:pt x="371" y="0"/>
                    </a:moveTo>
                    <a:lnTo>
                      <a:pt x="255" y="33"/>
                    </a:lnTo>
                    <a:lnTo>
                      <a:pt x="148" y="107"/>
                    </a:lnTo>
                    <a:lnTo>
                      <a:pt x="58" y="197"/>
                    </a:lnTo>
                    <a:lnTo>
                      <a:pt x="0" y="304"/>
                    </a:lnTo>
                  </a:path>
                </a:pathLst>
              </a:custGeom>
              <a:noFill/>
              <a:ln cap="rnd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5" name="Google Shape;185;p19"/>
              <p:cNvGrpSpPr/>
              <p:nvPr/>
            </p:nvGrpSpPr>
            <p:grpSpPr>
              <a:xfrm>
                <a:off x="4552" y="794"/>
                <a:ext cx="812" cy="442"/>
                <a:chOff x="4552" y="794"/>
                <a:chExt cx="812" cy="442"/>
              </a:xfrm>
            </p:grpSpPr>
            <p:sp>
              <p:nvSpPr>
                <p:cNvPr id="186" name="Google Shape;186;p19"/>
                <p:cNvSpPr/>
                <p:nvPr/>
              </p:nvSpPr>
              <p:spPr>
                <a:xfrm>
                  <a:off x="4888" y="794"/>
                  <a:ext cx="476" cy="2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025" lIns="92075" spcFirstLastPara="1" rIns="92075" wrap="square" tIns="460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5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Tracks</a:t>
                  </a:r>
                  <a:endParaRPr/>
                </a:p>
              </p:txBody>
            </p:sp>
            <p:sp>
              <p:nvSpPr>
                <p:cNvPr id="187" name="Google Shape;187;p19"/>
                <p:cNvSpPr/>
                <p:nvPr/>
              </p:nvSpPr>
              <p:spPr>
                <a:xfrm>
                  <a:off x="4552" y="988"/>
                  <a:ext cx="305" cy="248"/>
                </a:xfrm>
                <a:custGeom>
                  <a:rect b="b" l="l" r="r" t="t"/>
                  <a:pathLst>
                    <a:path extrusionOk="0" h="248" w="305">
                      <a:moveTo>
                        <a:pt x="304" y="0"/>
                      </a:moveTo>
                      <a:lnTo>
                        <a:pt x="222" y="0"/>
                      </a:lnTo>
                      <a:lnTo>
                        <a:pt x="139" y="33"/>
                      </a:lnTo>
                      <a:lnTo>
                        <a:pt x="74" y="90"/>
                      </a:lnTo>
                      <a:lnTo>
                        <a:pt x="24" y="164"/>
                      </a:lnTo>
                      <a:lnTo>
                        <a:pt x="0" y="247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88" name="Google Shape;188;p19"/>
            <p:cNvSpPr/>
            <p:nvPr/>
          </p:nvSpPr>
          <p:spPr>
            <a:xfrm>
              <a:off x="9723439" y="3127375"/>
              <a:ext cx="174625" cy="444500"/>
            </a:xfrm>
            <a:custGeom>
              <a:rect b="b" l="l" r="r" t="t"/>
              <a:pathLst>
                <a:path extrusionOk="0" h="280" w="110">
                  <a:moveTo>
                    <a:pt x="0" y="279"/>
                  </a:moveTo>
                  <a:lnTo>
                    <a:pt x="64" y="238"/>
                  </a:lnTo>
                  <a:lnTo>
                    <a:pt x="100" y="181"/>
                  </a:lnTo>
                  <a:lnTo>
                    <a:pt x="109" y="115"/>
                  </a:lnTo>
                  <a:lnTo>
                    <a:pt x="81" y="49"/>
                  </a:lnTo>
                  <a:lnTo>
                    <a:pt x="28" y="0"/>
                  </a:lnTo>
                  <a:lnTo>
                    <a:pt x="55" y="33"/>
                  </a:lnTo>
                </a:path>
              </a:pathLst>
            </a:custGeom>
            <a:noFill/>
            <a:ln cap="rnd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9932989" y="3200400"/>
              <a:ext cx="742191" cy="323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Sector</a:t>
              </a:r>
              <a:endParaRPr/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9896475" y="3074989"/>
              <a:ext cx="520700" cy="276225"/>
            </a:xfrm>
            <a:custGeom>
              <a:rect b="b" l="l" r="r" t="t"/>
              <a:pathLst>
                <a:path extrusionOk="0" h="174" w="328">
                  <a:moveTo>
                    <a:pt x="327" y="33"/>
                  </a:moveTo>
                  <a:lnTo>
                    <a:pt x="264" y="0"/>
                  </a:lnTo>
                  <a:lnTo>
                    <a:pt x="191" y="0"/>
                  </a:lnTo>
                  <a:lnTo>
                    <a:pt x="118" y="16"/>
                  </a:lnTo>
                  <a:lnTo>
                    <a:pt x="64" y="49"/>
                  </a:lnTo>
                  <a:lnTo>
                    <a:pt x="19" y="107"/>
                  </a:lnTo>
                  <a:lnTo>
                    <a:pt x="0" y="173"/>
                  </a:lnTo>
                </a:path>
              </a:pathLst>
            </a:custGeom>
            <a:noFill/>
            <a:ln cap="rnd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934200" y="1676400"/>
              <a:ext cx="894476" cy="323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Cylinder</a:t>
              </a:r>
              <a:endParaRPr/>
            </a:p>
          </p:txBody>
        </p:sp>
        <p:cxnSp>
          <p:nvCxnSpPr>
            <p:cNvPr id="192" name="Google Shape;192;p19"/>
            <p:cNvCxnSpPr/>
            <p:nvPr/>
          </p:nvCxnSpPr>
          <p:spPr>
            <a:xfrm>
              <a:off x="7467600" y="2057400"/>
              <a:ext cx="76200" cy="3505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Random Access Memory (RAM) or </a:t>
            </a:r>
            <a:r>
              <a:rPr b="1" lang="en-US"/>
              <a:t>Main Memory</a:t>
            </a:r>
            <a:r>
              <a:rPr lang="en-US"/>
              <a:t>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Fast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Random access, byte addressable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~10x faster for </a:t>
            </a:r>
            <a:r>
              <a:rPr lang="en-US" u="sng"/>
              <a:t>sequential access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~100,000x faster for </a:t>
            </a:r>
            <a:r>
              <a:rPr lang="en-US" u="sng"/>
              <a:t>random access!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u="sng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Volatile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Data can be lost if e.g. crash occurs, power goes out, etc!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u="sng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Expensive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For $100, get 16GB of RAM vs. 2TB of disk!</a:t>
            </a:r>
            <a:endParaRPr/>
          </a:p>
        </p:txBody>
      </p:sp>
      <p:sp>
        <p:nvSpPr>
          <p:cNvPr id="198" name="Google Shape;19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3448" y="2426486"/>
            <a:ext cx="3297504" cy="219833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838200" y="3727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High-level: Disk vs. Main Memory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838200" y="5225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Our model: Three Types of Regions of Memory</a:t>
            </a:r>
            <a:endParaRPr/>
          </a:p>
        </p:txBody>
      </p:sp>
      <p:sp>
        <p:nvSpPr>
          <p:cNvPr id="206" name="Google Shape;206;p21"/>
          <p:cNvSpPr txBox="1"/>
          <p:nvPr>
            <p:ph idx="1" type="body"/>
          </p:nvPr>
        </p:nvSpPr>
        <p:spPr>
          <a:xfrm>
            <a:off x="838200" y="1825624"/>
            <a:ext cx="7656443" cy="503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/>
              <a:t>Local: </a:t>
            </a:r>
            <a:r>
              <a:rPr lang="en-US"/>
              <a:t> In our model each process in a DBMS has its own local memory, where it stores values that only it “sees”</a:t>
            </a:r>
            <a:endParaRPr/>
          </a:p>
          <a:p>
            <a:pPr indent="-349885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/>
              <a:t>Global:  </a:t>
            </a:r>
            <a:r>
              <a:rPr lang="en-US"/>
              <a:t>Each process can read from / write to shared data in main memory</a:t>
            </a:r>
            <a:endParaRPr/>
          </a:p>
          <a:p>
            <a:pPr indent="-349885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/>
              <a:t>Disk:  </a:t>
            </a:r>
            <a:r>
              <a:rPr lang="en-US"/>
              <a:t>Global memory can read from / flush to disk</a:t>
            </a:r>
            <a:endParaRPr/>
          </a:p>
          <a:p>
            <a:pPr indent="-349885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1" lang="en-US"/>
              <a:t>Log: </a:t>
            </a:r>
            <a:r>
              <a:rPr i="1" lang="en-US"/>
              <a:t>Assume on stable disk storage- spans both main memory and disk…</a:t>
            </a:r>
            <a:endParaRPr b="1" i="1"/>
          </a:p>
        </p:txBody>
      </p:sp>
      <p:graphicFrame>
        <p:nvGraphicFramePr>
          <p:cNvPr id="207" name="Google Shape;207;p21"/>
          <p:cNvGraphicFramePr/>
          <p:nvPr/>
        </p:nvGraphicFramePr>
        <p:xfrm>
          <a:off x="8587408" y="102790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{7CC1D9A4-430E-470E-86A2-C6D426FD140B}</a:tableStyleId>
              </a:tblPr>
              <a:tblGrid>
                <a:gridCol w="1041225"/>
                <a:gridCol w="832100"/>
                <a:gridCol w="1360200"/>
              </a:tblGrid>
              <a:tr h="62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Local</a:t>
                      </a:r>
                      <a:endParaRPr/>
                    </a:p>
                  </a:txBody>
                  <a:tcPr marT="45725" marB="45725" marR="91450" marL="9145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Global</a:t>
                      </a:r>
                      <a:endParaRPr/>
                    </a:p>
                  </a:txBody>
                  <a:tcPr marT="45725" marB="45725" marR="91450" marL="9145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Main</a:t>
                      </a:r>
                      <a:r>
                        <a:rPr lang="en-US" sz="1800"/>
                        <a:t> Memory (RAM)</a:t>
                      </a:r>
                      <a:endParaRPr sz="1800"/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Disk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21"/>
          <p:cNvSpPr txBox="1"/>
          <p:nvPr/>
        </p:nvSpPr>
        <p:spPr>
          <a:xfrm>
            <a:off x="8726368" y="4982207"/>
            <a:ext cx="3114261" cy="1200329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“Flushing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disk” = writing to disk from main memory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9855053" y="18213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0731493" y="1821376"/>
            <a:ext cx="375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0731493" y="2751234"/>
            <a:ext cx="5156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842987" y="3899646"/>
            <a:ext cx="297795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is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main memory -&gt; disk</a:t>
            </a:r>
            <a:endParaRPr/>
          </a:p>
        </p:txBody>
      </p:sp>
      <p:grpSp>
        <p:nvGrpSpPr>
          <p:cNvPr id="213" name="Google Shape;213;p21"/>
          <p:cNvGrpSpPr/>
          <p:nvPr/>
        </p:nvGrpSpPr>
        <p:grpSpPr>
          <a:xfrm>
            <a:off x="11265127" y="1821376"/>
            <a:ext cx="466875" cy="1342917"/>
            <a:chOff x="11265127" y="1821376"/>
            <a:chExt cx="466875" cy="1342917"/>
          </a:xfrm>
        </p:grpSpPr>
        <p:sp>
          <p:nvSpPr>
            <p:cNvPr id="214" name="Google Shape;214;p21"/>
            <p:cNvSpPr txBox="1"/>
            <p:nvPr/>
          </p:nvSpPr>
          <p:spPr>
            <a:xfrm>
              <a:off x="11265127" y="1821376"/>
              <a:ext cx="46687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11306289" y="2338175"/>
              <a:ext cx="298204" cy="826118"/>
            </a:xfrm>
            <a:prstGeom prst="down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D1D1D1"/>
                </a:gs>
                <a:gs pos="50000">
                  <a:srgbClr val="C7C7C7"/>
                </a:gs>
                <a:gs pos="100000">
                  <a:srgbClr val="C0C0C0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838200" y="1825625"/>
            <a:ext cx="1030833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Keep in mind the tradeoffs here as motivation for the mechanisms we introduce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Main memory: fast but limited capacity, volatile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Vs. Disk: slow but large capacity, durable</a:t>
            </a:r>
            <a:endParaRPr/>
          </a:p>
        </p:txBody>
      </p:sp>
      <p:sp>
        <p:nvSpPr>
          <p:cNvPr id="221" name="Google Shape;22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838200" y="3727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High-level: Disk vs. Main Memory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858636" y="5230368"/>
            <a:ext cx="10474727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effectively utilize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ensuring certain critical guarantees?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Transactions: Basic Definition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838200" y="1710163"/>
            <a:ext cx="7020339" cy="2358254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3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(“TXN”)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sequence of one or more </a:t>
            </a:r>
            <a:r>
              <a:rPr b="1" i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(reads or writes) which reflects </a:t>
            </a:r>
            <a:r>
              <a:rPr b="1" i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single real-world transition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3310622" y="4416642"/>
            <a:ext cx="3986989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START TRANSACTION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= Price – 1.99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&gt; 10.00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8315177" y="1710163"/>
            <a:ext cx="3302597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real world, a TXN either happened completely or not at all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Transactions: Basic Definition</a:t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838199" y="1710163"/>
            <a:ext cx="7086601" cy="138499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(“TXN”)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sequence of one or more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(reads or writes) which reflects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single real-world transition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8315178" y="1710163"/>
            <a:ext cx="3349632" cy="1200328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real world, a TXN either happened completely or not at all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838200" y="3460140"/>
            <a:ext cx="7666892" cy="3243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money between accounts</a:t>
            </a:r>
            <a:endParaRPr/>
          </a:p>
          <a:p>
            <a:pPr indent="-82550" lvl="0" marL="2857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Purchase a group of products</a:t>
            </a:r>
            <a:endParaRPr/>
          </a:p>
          <a:p>
            <a:pPr indent="-82550" lvl="0" marL="2857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for a class (either waitlist or allocated)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Transactions in SQL</a:t>
            </a:r>
            <a:endParaRPr/>
          </a:p>
        </p:txBody>
      </p:sp>
      <p:sp>
        <p:nvSpPr>
          <p:cNvPr id="245" name="Google Shape;24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“ad-hoc” SQL: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Default: each statement = one transaction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a program, multiple statements can be grouped together as a transaction:</a:t>
            </a:r>
            <a:endParaRPr/>
          </a:p>
        </p:txBody>
      </p:sp>
      <p:sp>
        <p:nvSpPr>
          <p:cNvPr id="246" name="Google Shape;24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3404850" y="3790302"/>
            <a:ext cx="817403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START TRANSACTION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Bank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amount = amount – 100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= ‘Bob’</a:t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Bank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amount = amount + 100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= ‘Joe’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 of Transaction </a:t>
            </a:r>
            <a:endParaRPr/>
          </a:p>
        </p:txBody>
      </p:sp>
      <p:sp>
        <p:nvSpPr>
          <p:cNvPr id="253" name="Google Shape;253;p26"/>
          <p:cNvSpPr txBox="1"/>
          <p:nvPr>
            <p:ph idx="1" type="body"/>
          </p:nvPr>
        </p:nvSpPr>
        <p:spPr>
          <a:xfrm>
            <a:off x="838200" y="1913878"/>
            <a:ext cx="8229600" cy="321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Note: </a:t>
            </a:r>
            <a:r>
              <a:rPr lang="en-US"/>
              <a:t>For this course, we assume that the DBMS </a:t>
            </a:r>
            <a:r>
              <a:rPr i="1" lang="en-US"/>
              <a:t>only </a:t>
            </a:r>
            <a:r>
              <a:rPr lang="en-US"/>
              <a:t>sees </a:t>
            </a:r>
            <a:r>
              <a:rPr lang="en-US" u="sng"/>
              <a:t>reads and writes to data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User may do much more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real systems, databases do have more info...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Motivation for Transactions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838200" y="1578429"/>
            <a:ext cx="8432409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Grouping user actions (reads &amp; writes) into </a:t>
            </a:r>
            <a:r>
              <a:rPr i="1" lang="en-US"/>
              <a:t>transactions </a:t>
            </a:r>
            <a:r>
              <a:rPr lang="en-US"/>
              <a:t>helps with two goals: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u="sng"/>
              <a:t>Recovery &amp; Durability</a:t>
            </a:r>
            <a:r>
              <a:rPr lang="en-US"/>
              <a:t>:  Keeping the DBMS data consistent  and durable in the face of crashes, aborts, system shutdowns, etc.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u="sng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u="sng"/>
              <a:t>Concurrency:</a:t>
            </a:r>
            <a:r>
              <a:rPr lang="en-US"/>
              <a:t>  Achieving better performance by parallelizing TXNs </a:t>
            </a:r>
            <a:r>
              <a:rPr i="1" lang="en-US"/>
              <a:t>without</a:t>
            </a:r>
            <a:r>
              <a:rPr lang="en-US"/>
              <a:t> creating anomalies</a:t>
            </a:r>
            <a:endParaRPr b="1" u="sng"/>
          </a:p>
        </p:txBody>
      </p:sp>
      <p:sp>
        <p:nvSpPr>
          <p:cNvPr id="260" name="Google Shape;260;p27"/>
          <p:cNvSpPr txBox="1"/>
          <p:nvPr/>
        </p:nvSpPr>
        <p:spPr>
          <a:xfrm>
            <a:off x="9608235" y="3288128"/>
            <a:ext cx="1970219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lecture!</a:t>
            </a:r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9608235" y="4885568"/>
            <a:ext cx="1948995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lecture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267" name="Google Shape;267;p28"/>
          <p:cNvSpPr txBox="1"/>
          <p:nvPr>
            <p:ph idx="1" type="body"/>
          </p:nvPr>
        </p:nvSpPr>
        <p:spPr>
          <a:xfrm>
            <a:off x="838200" y="1578429"/>
            <a:ext cx="10515600" cy="3204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 u="sng"/>
              <a:t>1. Recovery &amp; Durability</a:t>
            </a:r>
            <a:r>
              <a:rPr lang="en-US" sz="3600"/>
              <a:t> of user data is essential for reliable DBMS usage</a:t>
            </a:r>
            <a:endParaRPr/>
          </a:p>
          <a:p>
            <a:pPr indent="-952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800"/>
              <a:t>The DBMS may experience crashes (e.g. power outages, etc.)</a:t>
            </a:r>
            <a:endParaRPr/>
          </a:p>
          <a:p>
            <a:pPr indent="-952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800"/>
              <a:t>Individual TXNs may be aborted (e.g. by the user)</a:t>
            </a:r>
            <a:endParaRPr/>
          </a:p>
        </p:txBody>
      </p:sp>
      <p:sp>
        <p:nvSpPr>
          <p:cNvPr id="268" name="Google Shape;268;p28"/>
          <p:cNvSpPr/>
          <p:nvPr/>
        </p:nvSpPr>
        <p:spPr>
          <a:xfrm>
            <a:off x="838200" y="5205045"/>
            <a:ext cx="10515600" cy="107721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Make sure that TXNs are either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durably stored in full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at all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keep log to be able to “roll-back” TXNs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Protection against crashes / aborts</a:t>
            </a:r>
            <a:endParaRPr/>
          </a:p>
        </p:txBody>
      </p:sp>
      <p:sp>
        <p:nvSpPr>
          <p:cNvPr id="274" name="Google Shape;27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2101958" y="2223185"/>
            <a:ext cx="7988084" cy="30469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1: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INSERT INTO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SmallProduct(name, price)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price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&lt;= 0.99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&lt;=0.99</a:t>
            </a:r>
            <a:endParaRPr/>
          </a:p>
        </p:txBody>
      </p:sp>
      <p:sp>
        <p:nvSpPr>
          <p:cNvPr id="276" name="Google Shape;276;p29"/>
          <p:cNvSpPr/>
          <p:nvPr/>
        </p:nvSpPr>
        <p:spPr>
          <a:xfrm>
            <a:off x="4271012" y="5790908"/>
            <a:ext cx="3649975" cy="646331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goes wrong?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29"/>
          <p:cNvCxnSpPr/>
          <p:nvPr/>
        </p:nvCxnSpPr>
        <p:spPr>
          <a:xfrm>
            <a:off x="0" y="4276579"/>
            <a:ext cx="12192000" cy="0"/>
          </a:xfrm>
          <a:prstGeom prst="straightConnector1">
            <a:avLst/>
          </a:prstGeom>
          <a:noFill/>
          <a:ln cap="flat" cmpd="sng" w="444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8" name="Google Shape;278;p29"/>
          <p:cNvSpPr/>
          <p:nvPr/>
        </p:nvSpPr>
        <p:spPr>
          <a:xfrm>
            <a:off x="0" y="2592715"/>
            <a:ext cx="12192000" cy="1683864"/>
          </a:xfrm>
          <a:prstGeom prst="rect">
            <a:avLst/>
          </a:prstGeom>
          <a:solidFill>
            <a:srgbClr val="FF00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9459982" y="3601255"/>
            <a:ext cx="2259401" cy="523220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Crash / abort!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Protection against crashes / aborts</a:t>
            </a:r>
            <a:endParaRPr/>
          </a:p>
        </p:txBody>
      </p:sp>
      <p:sp>
        <p:nvSpPr>
          <p:cNvPr id="285" name="Google Shape;28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30"/>
          <p:cNvSpPr/>
          <p:nvPr/>
        </p:nvSpPr>
        <p:spPr>
          <a:xfrm>
            <a:off x="1640292" y="1690688"/>
            <a:ext cx="8911414" cy="378565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1: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START TRANSACTION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INSERT INTO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SmallProduct(name, price)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price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&lt;= 0.99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&lt;=0.99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COMMIT OR ROLLBACK</a:t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1273881" y="5892581"/>
            <a:ext cx="9644243" cy="646331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we’d be fine!  We’ll see how / why this lecture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293" name="Google Shape;293;p31"/>
          <p:cNvSpPr txBox="1"/>
          <p:nvPr>
            <p:ph idx="1" type="body"/>
          </p:nvPr>
        </p:nvSpPr>
        <p:spPr>
          <a:xfrm>
            <a:off x="838200" y="1578429"/>
            <a:ext cx="10515600" cy="3443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 u="sng"/>
              <a:t>2. Concurrent</a:t>
            </a:r>
            <a:r>
              <a:rPr lang="en-US" sz="3600" u="sng"/>
              <a:t> </a:t>
            </a:r>
            <a:r>
              <a:rPr lang="en-US" sz="3600"/>
              <a:t>execution of user programs is essential for good DBMS performance.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800"/>
              <a:t>Disk accesses may be frequent and </a:t>
            </a:r>
            <a:r>
              <a:rPr b="1" lang="en-US" sz="2800"/>
              <a:t>slow</a:t>
            </a:r>
            <a:r>
              <a:rPr lang="en-US" sz="2800"/>
              <a:t>- optimize for throughput (# of TXNs), trade for latency (time for any one TXN)</a:t>
            </a:r>
            <a:endParaRPr b="1" sz="2800"/>
          </a:p>
          <a:p>
            <a:pPr indent="-952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800"/>
              <a:t>Users should still be able to execute TXNs as if in </a:t>
            </a:r>
            <a:r>
              <a:rPr b="1" lang="en-US" sz="2800"/>
              <a:t>isolation</a:t>
            </a:r>
            <a:r>
              <a:rPr lang="en-US" sz="2800"/>
              <a:t> and such that </a:t>
            </a:r>
            <a:r>
              <a:rPr b="1" lang="en-US" sz="2800"/>
              <a:t>consistency </a:t>
            </a:r>
            <a:r>
              <a:rPr lang="en-US" sz="2800"/>
              <a:t>is maintained</a:t>
            </a:r>
            <a:endParaRPr/>
          </a:p>
          <a:p>
            <a:pPr indent="-952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800"/>
          </a:p>
        </p:txBody>
      </p:sp>
      <p:sp>
        <p:nvSpPr>
          <p:cNvPr id="294" name="Google Shape;294;p31"/>
          <p:cNvSpPr txBox="1"/>
          <p:nvPr/>
        </p:nvSpPr>
        <p:spPr>
          <a:xfrm>
            <a:off x="1474763" y="5158252"/>
            <a:ext cx="9242474" cy="107721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Have the DBMS handle running several user TXNs concurrently, in order to keep CPUs humming…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 users: single statements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/>
          <p:nvPr/>
        </p:nvSpPr>
        <p:spPr>
          <a:xfrm>
            <a:off x="2846924" y="2102543"/>
            <a:ext cx="6494085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1: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= Price – 1.99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 = ‘Gizmo’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2: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= Price*0.5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pname=‘Gizmo’</a:t>
            </a:r>
            <a:endParaRPr/>
          </a:p>
        </p:txBody>
      </p:sp>
      <p:sp>
        <p:nvSpPr>
          <p:cNvPr id="302" name="Google Shape;302;p32"/>
          <p:cNvSpPr/>
          <p:nvPr/>
        </p:nvSpPr>
        <p:spPr>
          <a:xfrm>
            <a:off x="1348353" y="5584805"/>
            <a:ext cx="9438462" cy="954107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managers attempt to discount products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concurrently-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could go wrong?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 users: single statements</a:t>
            </a:r>
            <a:endParaRPr/>
          </a:p>
        </p:txBody>
      </p:sp>
      <p:sp>
        <p:nvSpPr>
          <p:cNvPr id="308" name="Google Shape;30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33"/>
          <p:cNvSpPr/>
          <p:nvPr/>
        </p:nvSpPr>
        <p:spPr>
          <a:xfrm>
            <a:off x="2564785" y="1560255"/>
            <a:ext cx="7417415" cy="415498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1: START TRANSACTION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	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= Price – 1.99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 = ‘Gizmo’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COMMIT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2: START TRANSACTION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		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Price = Price*0.5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pname=‘Gizmo’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COMMIT</a:t>
            </a:r>
            <a:endParaRPr/>
          </a:p>
        </p:txBody>
      </p:sp>
      <p:sp>
        <p:nvSpPr>
          <p:cNvPr id="310" name="Google Shape;310;p33"/>
          <p:cNvSpPr/>
          <p:nvPr/>
        </p:nvSpPr>
        <p:spPr>
          <a:xfrm>
            <a:off x="1937180" y="6041580"/>
            <a:ext cx="8672632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works like a charm- we’ll see how / why next lecture…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2. Properties of Transactions</a:t>
            </a:r>
            <a:endParaRPr/>
          </a:p>
        </p:txBody>
      </p:sp>
      <p:sp>
        <p:nvSpPr>
          <p:cNvPr id="316" name="Google Shape;31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323" name="Google Shape;323;p35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1" lang="en-US" u="sng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tomicity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1" lang="en-US" u="sng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onsistency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1" lang="en-US" u="sng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solation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1" lang="en-US" u="sng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urability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Transaction Properties: ACID</a:t>
            </a:r>
            <a:endParaRPr/>
          </a:p>
        </p:txBody>
      </p:sp>
      <p:sp>
        <p:nvSpPr>
          <p:cNvPr id="330" name="Google Shape;330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tomic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State shows either all the effects of txn, or none of them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/>
              <a:t>onsistent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Txn moves from a state where integrity holds, to another where integrity holds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I</a:t>
            </a:r>
            <a:r>
              <a:rPr lang="en-US"/>
              <a:t>solated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Effect of txns is the same as txns running one after another (ie looks like batch mode)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D</a:t>
            </a:r>
            <a:r>
              <a:rPr lang="en-US"/>
              <a:t>urable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Once a txn has committed, its effects remain in the database</a:t>
            </a:r>
            <a:endParaRPr/>
          </a:p>
        </p:txBody>
      </p:sp>
      <p:sp>
        <p:nvSpPr>
          <p:cNvPr id="331" name="Google Shape;33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36"/>
          <p:cNvSpPr txBox="1"/>
          <p:nvPr/>
        </p:nvSpPr>
        <p:spPr>
          <a:xfrm>
            <a:off x="1941182" y="6019512"/>
            <a:ext cx="8447417" cy="58477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ACID continues to be a source of great debate!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u="sng"/>
              <a:t>A</a:t>
            </a:r>
            <a:r>
              <a:rPr lang="en-US"/>
              <a:t>CID: </a:t>
            </a:r>
            <a:r>
              <a:rPr b="1" lang="en-US" u="sng"/>
              <a:t>A</a:t>
            </a:r>
            <a:r>
              <a:rPr lang="en-US"/>
              <a:t>tomicity</a:t>
            </a:r>
            <a:endParaRPr/>
          </a:p>
        </p:txBody>
      </p:sp>
      <p:sp>
        <p:nvSpPr>
          <p:cNvPr id="338" name="Google Shape;338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TXN’s activities are atomic: </a:t>
            </a:r>
            <a:r>
              <a:rPr b="1" lang="en-US" sz="3200"/>
              <a:t>all or nothing</a:t>
            </a:r>
            <a:endParaRPr sz="3200"/>
          </a:p>
          <a:p>
            <a:pPr indent="-406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Intuitively: in the real world, a transaction is something that would either occur </a:t>
            </a:r>
            <a:r>
              <a:rPr i="1" lang="en-US" sz="3200"/>
              <a:t>completely</a:t>
            </a:r>
            <a:r>
              <a:rPr lang="en-US" sz="3200"/>
              <a:t> or </a:t>
            </a:r>
            <a:r>
              <a:rPr i="1" lang="en-US" sz="3200"/>
              <a:t>not at all</a:t>
            </a:r>
            <a:endParaRPr sz="3200"/>
          </a:p>
          <a:p>
            <a:pPr indent="-4063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Two possible outcomes for a TXN</a:t>
            </a:r>
            <a:endParaRPr/>
          </a:p>
          <a:p>
            <a:pPr indent="-406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It </a:t>
            </a:r>
            <a:r>
              <a:rPr i="1" lang="en-US" sz="3200"/>
              <a:t>commits</a:t>
            </a:r>
            <a:r>
              <a:rPr lang="en-US" sz="3200"/>
              <a:t>: all the changes are made</a:t>
            </a:r>
            <a:endParaRPr/>
          </a:p>
          <a:p>
            <a:pPr indent="-406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It </a:t>
            </a:r>
            <a:r>
              <a:rPr i="1" lang="en-US" sz="3200"/>
              <a:t>aborts</a:t>
            </a:r>
            <a:r>
              <a:rPr lang="en-US" sz="3200"/>
              <a:t>: no changes are made</a:t>
            </a:r>
            <a:endParaRPr/>
          </a:p>
        </p:txBody>
      </p:sp>
      <p:sp>
        <p:nvSpPr>
          <p:cNvPr id="339" name="Google Shape;33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</a:t>
            </a:r>
            <a:r>
              <a:rPr b="1" lang="en-US" u="sng"/>
              <a:t>C</a:t>
            </a:r>
            <a:r>
              <a:rPr lang="en-US"/>
              <a:t>ID: </a:t>
            </a:r>
            <a:r>
              <a:rPr b="1" lang="en-US" u="sng"/>
              <a:t>C</a:t>
            </a:r>
            <a:r>
              <a:rPr lang="en-US"/>
              <a:t>onsistency</a:t>
            </a:r>
            <a:endParaRPr/>
          </a:p>
        </p:txBody>
      </p:sp>
      <p:sp>
        <p:nvSpPr>
          <p:cNvPr id="345" name="Google Shape;345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tables must always satisfy user-specified </a:t>
            </a:r>
            <a:r>
              <a:rPr b="1" i="1" lang="en-US"/>
              <a:t>integrity constraints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Examples: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Account number is unique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Stock amount can’t be negative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Sum of </a:t>
            </a:r>
            <a:r>
              <a:rPr i="1" lang="en-US"/>
              <a:t>debits </a:t>
            </a:r>
            <a:r>
              <a:rPr lang="en-US"/>
              <a:t>and of </a:t>
            </a:r>
            <a:r>
              <a:rPr i="1" lang="en-US"/>
              <a:t>credits</a:t>
            </a:r>
            <a:r>
              <a:rPr lang="en-US"/>
              <a:t> is 0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consistency is achieved: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Programmer makes sure a txn takes a consistent state to a consistent state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System</a:t>
            </a:r>
            <a:r>
              <a:rPr lang="en-US"/>
              <a:t> makes sure that the txn is </a:t>
            </a:r>
            <a:r>
              <a:rPr b="1" lang="en-US"/>
              <a:t>atomic</a:t>
            </a:r>
            <a:endParaRPr/>
          </a:p>
        </p:txBody>
      </p:sp>
      <p:sp>
        <p:nvSpPr>
          <p:cNvPr id="346" name="Google Shape;34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</a:t>
            </a:r>
            <a:r>
              <a:rPr b="1" lang="en-US" u="sng"/>
              <a:t>I</a:t>
            </a:r>
            <a:r>
              <a:rPr lang="en-US"/>
              <a:t>D: </a:t>
            </a:r>
            <a:r>
              <a:rPr b="1" lang="en-US" u="sng"/>
              <a:t>I</a:t>
            </a:r>
            <a:r>
              <a:rPr lang="en-US"/>
              <a:t>solation</a:t>
            </a:r>
            <a:endParaRPr/>
          </a:p>
        </p:txBody>
      </p:sp>
      <p:sp>
        <p:nvSpPr>
          <p:cNvPr id="352" name="Google Shape;352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A transaction executes concurrently with other transactions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Isolation</a:t>
            </a:r>
            <a:r>
              <a:rPr lang="en-US" sz="3200"/>
              <a:t>: the effect is as if each transaction executes in </a:t>
            </a:r>
            <a:r>
              <a:rPr i="1" lang="en-US" sz="3200"/>
              <a:t>isolation</a:t>
            </a:r>
            <a:r>
              <a:rPr lang="en-US" sz="3200"/>
              <a:t> of the others.</a:t>
            </a:r>
            <a:endParaRPr/>
          </a:p>
          <a:p>
            <a:pPr indent="-25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E.g. Should not be able to observe changes from other transactions during the run</a:t>
            </a:r>
            <a:endParaRPr/>
          </a:p>
        </p:txBody>
      </p:sp>
      <p:sp>
        <p:nvSpPr>
          <p:cNvPr id="353" name="Google Shape;35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ACI</a:t>
            </a:r>
            <a:r>
              <a:rPr b="1" lang="en-US" u="sng"/>
              <a:t>D</a:t>
            </a:r>
            <a:r>
              <a:rPr lang="en-US"/>
              <a:t>: </a:t>
            </a:r>
            <a:r>
              <a:rPr b="1" lang="en-US" u="sng"/>
              <a:t>D</a:t>
            </a:r>
            <a:r>
              <a:rPr lang="en-US"/>
              <a:t>urability</a:t>
            </a:r>
            <a:endParaRPr/>
          </a:p>
        </p:txBody>
      </p:sp>
      <p:sp>
        <p:nvSpPr>
          <p:cNvPr id="359" name="Google Shape;359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The effect of a TXN must continue to exist (</a:t>
            </a:r>
            <a:r>
              <a:rPr b="1" i="1" lang="en-US" sz="3200"/>
              <a:t>“persist”</a:t>
            </a:r>
            <a:r>
              <a:rPr lang="en-US" sz="3200"/>
              <a:t>) after the TXN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And after the whole program has terminated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And even if there are power failures, crashes, etc.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And etc…</a:t>
            </a:r>
            <a:endParaRPr/>
          </a:p>
          <a:p>
            <a:pPr indent="-25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Means: Write data to </a:t>
            </a:r>
            <a:r>
              <a:rPr b="1" lang="en-US" sz="3200"/>
              <a:t>disk</a:t>
            </a:r>
            <a:endParaRPr/>
          </a:p>
        </p:txBody>
      </p:sp>
      <p:sp>
        <p:nvSpPr>
          <p:cNvPr id="360" name="Google Shape;360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40"/>
          <p:cNvSpPr txBox="1"/>
          <p:nvPr/>
        </p:nvSpPr>
        <p:spPr>
          <a:xfrm>
            <a:off x="6587313" y="3964211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0"/>
          <p:cNvSpPr txBox="1"/>
          <p:nvPr/>
        </p:nvSpPr>
        <p:spPr>
          <a:xfrm>
            <a:off x="7611138" y="4333543"/>
            <a:ext cx="3742662" cy="120032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8E2F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on the horizon? Non-Volatile Ram (NVRam). Byte addressable.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Challenges for ACID properties</a:t>
            </a:r>
            <a:endParaRPr/>
          </a:p>
        </p:txBody>
      </p:sp>
      <p:sp>
        <p:nvSpPr>
          <p:cNvPr id="368" name="Google Shape;368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spite of failures: Power failures, but not media failures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Users may abort the program: need to “rollback the changes”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Need to </a:t>
            </a:r>
            <a:r>
              <a:rPr i="1" lang="en-US"/>
              <a:t>log</a:t>
            </a:r>
            <a:r>
              <a:rPr lang="en-US"/>
              <a:t> what happened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users executing concurrently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be solved via locking (we’ll see this next lecture!)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9" name="Google Shape;369;p41"/>
          <p:cNvSpPr txBox="1"/>
          <p:nvPr/>
        </p:nvSpPr>
        <p:spPr>
          <a:xfrm>
            <a:off x="2208073" y="5823020"/>
            <a:ext cx="7775854" cy="707886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all this with… Performance!!</a:t>
            </a:r>
            <a:endParaRPr/>
          </a:p>
        </p:txBody>
      </p:sp>
      <p:sp>
        <p:nvSpPr>
          <p:cNvPr id="370" name="Google Shape;370;p41"/>
          <p:cNvSpPr txBox="1"/>
          <p:nvPr/>
        </p:nvSpPr>
        <p:spPr>
          <a:xfrm>
            <a:off x="10381957" y="2498012"/>
            <a:ext cx="161505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lecture</a:t>
            </a:r>
            <a:endParaRPr/>
          </a:p>
        </p:txBody>
      </p:sp>
      <p:sp>
        <p:nvSpPr>
          <p:cNvPr id="371" name="Google Shape;371;p41"/>
          <p:cNvSpPr txBox="1"/>
          <p:nvPr/>
        </p:nvSpPr>
        <p:spPr>
          <a:xfrm>
            <a:off x="10301679" y="4465979"/>
            <a:ext cx="1695336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lecture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Note: ACID is contentious!</a:t>
            </a:r>
            <a:endParaRPr/>
          </a:p>
        </p:txBody>
      </p:sp>
      <p:sp>
        <p:nvSpPr>
          <p:cNvPr id="377" name="Google Shape;377;p42"/>
          <p:cNvSpPr txBox="1"/>
          <p:nvPr>
            <p:ph idx="1" type="body"/>
          </p:nvPr>
        </p:nvSpPr>
        <p:spPr>
          <a:xfrm>
            <a:off x="838200" y="1825625"/>
            <a:ext cx="66141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debates over ACID, both </a:t>
            </a:r>
            <a:r>
              <a:rPr b="1" lang="en-US"/>
              <a:t>historically</a:t>
            </a:r>
            <a:r>
              <a:rPr lang="en-US"/>
              <a:t> and</a:t>
            </a:r>
            <a:r>
              <a:rPr b="1" lang="en-US"/>
              <a:t> currently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newer “NoSQL” DBMSs relax ACID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turn, now “NewSQL” reintroduces ACID compliance to NoSQL-style DBMSs…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78" name="Google Shape;3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4438" y="953651"/>
            <a:ext cx="1745778" cy="160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2360" y="2856475"/>
            <a:ext cx="4666841" cy="277596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2"/>
          <p:cNvSpPr txBox="1"/>
          <p:nvPr/>
        </p:nvSpPr>
        <p:spPr>
          <a:xfrm>
            <a:off x="2208073" y="5699909"/>
            <a:ext cx="7775854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ACID is an extremely important &amp; successful paradigm, but still debated!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Goal for this lecture: Ensuring Atomicity &amp; Durability</a:t>
            </a:r>
            <a:endParaRPr/>
          </a:p>
        </p:txBody>
      </p:sp>
      <p:sp>
        <p:nvSpPr>
          <p:cNvPr id="386" name="Google Shape;386;p43"/>
          <p:cNvSpPr txBox="1"/>
          <p:nvPr>
            <p:ph idx="1" type="body"/>
          </p:nvPr>
        </p:nvSpPr>
        <p:spPr>
          <a:xfrm>
            <a:off x="838200" y="1825624"/>
            <a:ext cx="6223782" cy="1845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/>
              <a:t>A</a:t>
            </a:r>
            <a:r>
              <a:rPr lang="en-US"/>
              <a:t>tomicity: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TXNs should either happen completely or not at all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abort / crash during TXN, </a:t>
            </a:r>
            <a:r>
              <a:rPr i="1" lang="en-US"/>
              <a:t>no</a:t>
            </a:r>
            <a:r>
              <a:rPr lang="en-US"/>
              <a:t> effects should be seen</a:t>
            </a:r>
            <a:endParaRPr/>
          </a:p>
        </p:txBody>
      </p:sp>
      <p:sp>
        <p:nvSpPr>
          <p:cNvPr id="387" name="Google Shape;38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43"/>
          <p:cNvSpPr txBox="1"/>
          <p:nvPr/>
        </p:nvSpPr>
        <p:spPr>
          <a:xfrm>
            <a:off x="10614938" y="931727"/>
            <a:ext cx="996107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389" name="Google Shape;389;p43"/>
          <p:cNvGrpSpPr/>
          <p:nvPr/>
        </p:nvGrpSpPr>
        <p:grpSpPr>
          <a:xfrm>
            <a:off x="7737231" y="1772118"/>
            <a:ext cx="3502855" cy="883696"/>
            <a:chOff x="7737231" y="1772118"/>
            <a:chExt cx="3502855" cy="883696"/>
          </a:xfrm>
        </p:grpSpPr>
        <p:sp>
          <p:nvSpPr>
            <p:cNvPr id="390" name="Google Shape;390;p43"/>
            <p:cNvSpPr/>
            <p:nvPr/>
          </p:nvSpPr>
          <p:spPr>
            <a:xfrm>
              <a:off x="7737231" y="2233783"/>
              <a:ext cx="3502855" cy="422031"/>
            </a:xfrm>
            <a:prstGeom prst="rect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43"/>
            <p:cNvSpPr txBox="1"/>
            <p:nvPr/>
          </p:nvSpPr>
          <p:spPr>
            <a:xfrm>
              <a:off x="7737231" y="1772118"/>
              <a:ext cx="91884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TXN 1</a:t>
              </a:r>
              <a:endParaRPr/>
            </a:p>
          </p:txBody>
        </p:sp>
      </p:grpSp>
      <p:grpSp>
        <p:nvGrpSpPr>
          <p:cNvPr id="392" name="Google Shape;392;p43"/>
          <p:cNvGrpSpPr/>
          <p:nvPr/>
        </p:nvGrpSpPr>
        <p:grpSpPr>
          <a:xfrm>
            <a:off x="7723164" y="3890386"/>
            <a:ext cx="2278965" cy="883696"/>
            <a:chOff x="7723164" y="3890386"/>
            <a:chExt cx="2278965" cy="883696"/>
          </a:xfrm>
        </p:grpSpPr>
        <p:sp>
          <p:nvSpPr>
            <p:cNvPr id="393" name="Google Shape;393;p43"/>
            <p:cNvSpPr/>
            <p:nvPr/>
          </p:nvSpPr>
          <p:spPr>
            <a:xfrm>
              <a:off x="7723164" y="4352051"/>
              <a:ext cx="2278965" cy="4220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43"/>
            <p:cNvSpPr txBox="1"/>
            <p:nvPr/>
          </p:nvSpPr>
          <p:spPr>
            <a:xfrm>
              <a:off x="7737231" y="3890386"/>
              <a:ext cx="90922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TXN 2</a:t>
              </a:r>
              <a:endParaRPr/>
            </a:p>
          </p:txBody>
        </p:sp>
      </p:grpSp>
      <p:sp>
        <p:nvSpPr>
          <p:cNvPr id="395" name="Google Shape;395;p43"/>
          <p:cNvSpPr txBox="1"/>
          <p:nvPr/>
        </p:nvSpPr>
        <p:spPr>
          <a:xfrm>
            <a:off x="7723164" y="2711379"/>
            <a:ext cx="19272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changes persisted</a:t>
            </a:r>
            <a:endParaRPr/>
          </a:p>
        </p:txBody>
      </p:sp>
      <p:sp>
        <p:nvSpPr>
          <p:cNvPr id="396" name="Google Shape;396;p43"/>
          <p:cNvSpPr txBox="1"/>
          <p:nvPr/>
        </p:nvSpPr>
        <p:spPr>
          <a:xfrm>
            <a:off x="7737231" y="4854920"/>
            <a:ext cx="19272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changes persisted</a:t>
            </a:r>
            <a:endParaRPr/>
          </a:p>
        </p:txBody>
      </p:sp>
      <p:sp>
        <p:nvSpPr>
          <p:cNvPr id="397" name="Google Shape;397;p43"/>
          <p:cNvSpPr txBox="1"/>
          <p:nvPr/>
        </p:nvSpPr>
        <p:spPr>
          <a:xfrm>
            <a:off x="1924858" y="6094740"/>
            <a:ext cx="8342284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We’ll focus on how to accomplish atomicity (via logging)</a:t>
            </a:r>
            <a:endParaRPr/>
          </a:p>
        </p:txBody>
      </p:sp>
      <p:grpSp>
        <p:nvGrpSpPr>
          <p:cNvPr id="398" name="Google Shape;398;p43"/>
          <p:cNvGrpSpPr/>
          <p:nvPr/>
        </p:nvGrpSpPr>
        <p:grpSpPr>
          <a:xfrm>
            <a:off x="10136944" y="1825625"/>
            <a:ext cx="2031609" cy="3444793"/>
            <a:chOff x="10136944" y="1825625"/>
            <a:chExt cx="2031609" cy="3444793"/>
          </a:xfrm>
        </p:grpSpPr>
        <p:cxnSp>
          <p:nvCxnSpPr>
            <p:cNvPr id="399" name="Google Shape;399;p43"/>
            <p:cNvCxnSpPr/>
            <p:nvPr/>
          </p:nvCxnSpPr>
          <p:spPr>
            <a:xfrm>
              <a:off x="10136944" y="1825625"/>
              <a:ext cx="0" cy="3444793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0" name="Google Shape;400;p43"/>
            <p:cNvSpPr txBox="1"/>
            <p:nvPr/>
          </p:nvSpPr>
          <p:spPr>
            <a:xfrm>
              <a:off x="10136944" y="1842557"/>
              <a:ext cx="203160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Crash / abort</a:t>
              </a:r>
              <a:endParaRPr/>
            </a:p>
          </p:txBody>
        </p:sp>
      </p:grpSp>
      <p:sp>
        <p:nvSpPr>
          <p:cNvPr id="401" name="Google Shape;401;p43"/>
          <p:cNvSpPr txBox="1"/>
          <p:nvPr/>
        </p:nvSpPr>
        <p:spPr>
          <a:xfrm>
            <a:off x="838200" y="4027266"/>
            <a:ext cx="6223782" cy="17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urability: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DBMS stops running, changes due to completed TXNs should all persist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 store on stable disk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Log</a:t>
            </a:r>
            <a:endParaRPr/>
          </a:p>
        </p:txBody>
      </p:sp>
      <p:sp>
        <p:nvSpPr>
          <p:cNvPr id="407" name="Google Shape;407;p44"/>
          <p:cNvSpPr txBox="1"/>
          <p:nvPr>
            <p:ph idx="1" type="body"/>
          </p:nvPr>
        </p:nvSpPr>
        <p:spPr>
          <a:xfrm>
            <a:off x="838200" y="1561514"/>
            <a:ext cx="10515600" cy="4915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Is a list of modifications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Log is </a:t>
            </a:r>
            <a:r>
              <a:rPr i="1" lang="en-US" sz="3200"/>
              <a:t>duplexed </a:t>
            </a:r>
            <a:r>
              <a:rPr lang="en-US" sz="3200"/>
              <a:t>and </a:t>
            </a:r>
            <a:r>
              <a:rPr i="1" lang="en-US" sz="3200"/>
              <a:t>archived</a:t>
            </a:r>
            <a:r>
              <a:rPr lang="en-US" sz="3200"/>
              <a:t> on stable storage.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Can </a:t>
            </a:r>
            <a:r>
              <a:rPr b="1" lang="en-US" sz="3200" u="sng"/>
              <a:t>force write</a:t>
            </a:r>
            <a:r>
              <a:rPr lang="en-US" sz="3200" u="sng"/>
              <a:t> </a:t>
            </a:r>
            <a:r>
              <a:rPr lang="en-US" sz="3200"/>
              <a:t>entries to disk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A page goes to disk.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All log activities </a:t>
            </a:r>
            <a:r>
              <a:rPr b="1" i="1" lang="en-US" sz="3200"/>
              <a:t>handled transparently</a:t>
            </a:r>
            <a:r>
              <a:rPr lang="en-US" sz="3200"/>
              <a:t> the DBMS.</a:t>
            </a:r>
            <a:endParaRPr/>
          </a:p>
        </p:txBody>
      </p:sp>
      <p:sp>
        <p:nvSpPr>
          <p:cNvPr id="408" name="Google Shape;408;p44"/>
          <p:cNvSpPr/>
          <p:nvPr/>
        </p:nvSpPr>
        <p:spPr>
          <a:xfrm>
            <a:off x="9550090" y="2652683"/>
            <a:ext cx="2027621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we don’t lose it!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5"/>
          <p:cNvSpPr/>
          <p:nvPr/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5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Idea: (Physical) Logging</a:t>
            </a:r>
            <a:endParaRPr/>
          </a:p>
        </p:txBody>
      </p:sp>
      <p:sp>
        <p:nvSpPr>
          <p:cNvPr id="420" name="Google Shape;420;p45"/>
          <p:cNvSpPr txBox="1"/>
          <p:nvPr>
            <p:ph idx="1" type="body"/>
          </p:nvPr>
        </p:nvSpPr>
        <p:spPr>
          <a:xfrm>
            <a:off x="838200" y="1690688"/>
            <a:ext cx="10515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Record UNDO information for every update!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Sequential writes to log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Minimal info (diff) written to log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b="1" lang="en-US"/>
              <a:t>log</a:t>
            </a:r>
            <a:r>
              <a:rPr lang="en-US"/>
              <a:t> consists of </a:t>
            </a:r>
            <a:r>
              <a:rPr b="1" lang="en-US"/>
              <a:t>an ordered list of actions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Log record contains: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FF"/>
                </a:solidFill>
              </a:rPr>
              <a:t>&lt;XID, location, old data, new data&gt; </a:t>
            </a:r>
            <a:endParaRPr/>
          </a:p>
        </p:txBody>
      </p:sp>
      <p:sp>
        <p:nvSpPr>
          <p:cNvPr id="421" name="Google Shape;421;p45"/>
          <p:cNvSpPr/>
          <p:nvPr/>
        </p:nvSpPr>
        <p:spPr>
          <a:xfrm>
            <a:off x="2531562" y="5663625"/>
            <a:ext cx="7128876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sufficient to UNDO any transaction!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6"/>
          <p:cNvSpPr/>
          <p:nvPr/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6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do we need logging for atomicity?</a:t>
            </a:r>
            <a:endParaRPr/>
          </a:p>
        </p:txBody>
      </p:sp>
      <p:sp>
        <p:nvSpPr>
          <p:cNvPr id="433" name="Google Shape;433;p46"/>
          <p:cNvSpPr txBox="1"/>
          <p:nvPr>
            <p:ph idx="1" type="body"/>
          </p:nvPr>
        </p:nvSpPr>
        <p:spPr>
          <a:xfrm>
            <a:off x="838200" y="1690688"/>
            <a:ext cx="10515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Couldn’t we just write TXN to disk </a:t>
            </a:r>
            <a:r>
              <a:rPr b="1" lang="en-US"/>
              <a:t>only</a:t>
            </a:r>
            <a:r>
              <a:rPr lang="en-US"/>
              <a:t> once whole TXN complete?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Then, if abort / crash and TXN not complete, it has no effect- atomicity!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With unlimited memory and time, this could work…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However, we </a:t>
            </a:r>
            <a:r>
              <a:rPr b="1" lang="en-US" sz="2800"/>
              <a:t>need to log partial results of TXNs</a:t>
            </a:r>
            <a:r>
              <a:rPr lang="en-US" sz="2800"/>
              <a:t> because of: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Memory constraints (enough space for full TXN??)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Time constraints (what if one TXN takes very long?)</a:t>
            </a:r>
            <a:endParaRPr sz="2400"/>
          </a:p>
        </p:txBody>
      </p:sp>
      <p:sp>
        <p:nvSpPr>
          <p:cNvPr id="434" name="Google Shape;434;p46"/>
          <p:cNvSpPr/>
          <p:nvPr/>
        </p:nvSpPr>
        <p:spPr>
          <a:xfrm>
            <a:off x="1468066" y="5129184"/>
            <a:ext cx="9255868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to write partial results to disk!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…And so we need 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be able to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undo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these partial results!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3. Atomicity &amp; Durability via Logging</a:t>
            </a:r>
            <a:endParaRPr/>
          </a:p>
        </p:txBody>
      </p:sp>
      <p:sp>
        <p:nvSpPr>
          <p:cNvPr id="440" name="Google Shape;44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8"/>
          <p:cNvSpPr txBox="1"/>
          <p:nvPr>
            <p:ph type="title"/>
          </p:nvPr>
        </p:nvSpPr>
        <p:spPr>
          <a:xfrm>
            <a:off x="1981200" y="33493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Logging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logging</a:t>
            </a:r>
            <a:endParaRPr/>
          </a:p>
        </p:txBody>
      </p:sp>
      <p:sp>
        <p:nvSpPr>
          <p:cNvPr id="451" name="Google Shape;451;p49"/>
          <p:cNvSpPr/>
          <p:nvPr/>
        </p:nvSpPr>
        <p:spPr>
          <a:xfrm>
            <a:off x="2165683" y="4920916"/>
            <a:ext cx="3114845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on Disk</a:t>
            </a:r>
            <a:endParaRPr/>
          </a:p>
        </p:txBody>
      </p:sp>
      <p:sp>
        <p:nvSpPr>
          <p:cNvPr id="452" name="Google Shape;452;p49"/>
          <p:cNvSpPr/>
          <p:nvPr/>
        </p:nvSpPr>
        <p:spPr>
          <a:xfrm>
            <a:off x="2058736" y="2354179"/>
            <a:ext cx="6149473" cy="185821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453" name="Google Shape;453;p49"/>
          <p:cNvSpPr/>
          <p:nvPr/>
        </p:nvSpPr>
        <p:spPr>
          <a:xfrm>
            <a:off x="6149472" y="4920916"/>
            <a:ext cx="2058737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 on Disk</a:t>
            </a:r>
            <a:endParaRPr/>
          </a:p>
        </p:txBody>
      </p:sp>
      <p:sp>
        <p:nvSpPr>
          <p:cNvPr id="454" name="Google Shape;454;p49"/>
          <p:cNvSpPr/>
          <p:nvPr/>
        </p:nvSpPr>
        <p:spPr>
          <a:xfrm>
            <a:off x="5502438" y="2354179"/>
            <a:ext cx="2705771" cy="695158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/>
          </a:p>
        </p:txBody>
      </p:sp>
      <p:sp>
        <p:nvSpPr>
          <p:cNvPr id="455" name="Google Shape;455;p49"/>
          <p:cNvSpPr txBox="1"/>
          <p:nvPr/>
        </p:nvSpPr>
        <p:spPr>
          <a:xfrm>
            <a:off x="-7970" y="2353804"/>
            <a:ext cx="13635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endParaRPr/>
          </a:p>
        </p:txBody>
      </p:sp>
      <p:sp>
        <p:nvSpPr>
          <p:cNvPr id="456" name="Google Shape;456;p49"/>
          <p:cNvSpPr/>
          <p:nvPr/>
        </p:nvSpPr>
        <p:spPr>
          <a:xfrm>
            <a:off x="2165682" y="2447758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A=0</a:t>
            </a:r>
            <a:endParaRPr/>
          </a:p>
        </p:txBody>
      </p:sp>
      <p:sp>
        <p:nvSpPr>
          <p:cNvPr id="457" name="Google Shape;457;p49"/>
          <p:cNvSpPr/>
          <p:nvPr/>
        </p:nvSpPr>
        <p:spPr>
          <a:xfrm>
            <a:off x="2165682" y="3175000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B=5</a:t>
            </a:r>
            <a:endParaRPr/>
          </a:p>
        </p:txBody>
      </p:sp>
      <p:sp>
        <p:nvSpPr>
          <p:cNvPr id="458" name="Google Shape;458;p49"/>
          <p:cNvSpPr/>
          <p:nvPr/>
        </p:nvSpPr>
        <p:spPr>
          <a:xfrm>
            <a:off x="2219156" y="5027862"/>
            <a:ext cx="1323475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A=0</a:t>
            </a:r>
            <a:endParaRPr/>
          </a:p>
        </p:txBody>
      </p:sp>
      <p:cxnSp>
        <p:nvCxnSpPr>
          <p:cNvPr id="459" name="Google Shape;459;p49"/>
          <p:cNvCxnSpPr>
            <a:endCxn id="456" idx="2"/>
          </p:cNvCxnSpPr>
          <p:nvPr/>
        </p:nvCxnSpPr>
        <p:spPr>
          <a:xfrm>
            <a:off x="1256682" y="2735179"/>
            <a:ext cx="9090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460" name="Google Shape;460;p49"/>
          <p:cNvSpPr txBox="1"/>
          <p:nvPr/>
        </p:nvSpPr>
        <p:spPr>
          <a:xfrm>
            <a:off x="1524000" y="1290958"/>
            <a:ext cx="36896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T: R(A), W(A)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logging</a:t>
            </a:r>
            <a:endParaRPr/>
          </a:p>
        </p:txBody>
      </p:sp>
      <p:sp>
        <p:nvSpPr>
          <p:cNvPr id="466" name="Google Shape;466;p50"/>
          <p:cNvSpPr/>
          <p:nvPr/>
        </p:nvSpPr>
        <p:spPr>
          <a:xfrm>
            <a:off x="2165683" y="4920748"/>
            <a:ext cx="3114845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on Disk</a:t>
            </a:r>
            <a:endParaRPr/>
          </a:p>
        </p:txBody>
      </p:sp>
      <p:sp>
        <p:nvSpPr>
          <p:cNvPr id="467" name="Google Shape;467;p50"/>
          <p:cNvSpPr/>
          <p:nvPr/>
        </p:nvSpPr>
        <p:spPr>
          <a:xfrm>
            <a:off x="2058736" y="2354011"/>
            <a:ext cx="6149473" cy="185821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468" name="Google Shape;468;p50"/>
          <p:cNvSpPr/>
          <p:nvPr/>
        </p:nvSpPr>
        <p:spPr>
          <a:xfrm>
            <a:off x="6149472" y="4920748"/>
            <a:ext cx="2058737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 on Disk</a:t>
            </a:r>
            <a:endParaRPr/>
          </a:p>
        </p:txBody>
      </p:sp>
      <p:sp>
        <p:nvSpPr>
          <p:cNvPr id="469" name="Google Shape;469;p50"/>
          <p:cNvSpPr/>
          <p:nvPr/>
        </p:nvSpPr>
        <p:spPr>
          <a:xfrm>
            <a:off x="5502438" y="2354011"/>
            <a:ext cx="2705771" cy="695158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/>
          </a:p>
        </p:txBody>
      </p:sp>
      <p:sp>
        <p:nvSpPr>
          <p:cNvPr id="470" name="Google Shape;470;p50"/>
          <p:cNvSpPr txBox="1"/>
          <p:nvPr/>
        </p:nvSpPr>
        <p:spPr>
          <a:xfrm>
            <a:off x="0" y="2354012"/>
            <a:ext cx="13635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endParaRPr/>
          </a:p>
        </p:txBody>
      </p:sp>
      <p:sp>
        <p:nvSpPr>
          <p:cNvPr id="471" name="Google Shape;471;p50"/>
          <p:cNvSpPr/>
          <p:nvPr/>
        </p:nvSpPr>
        <p:spPr>
          <a:xfrm>
            <a:off x="2165682" y="2447590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A=1</a:t>
            </a:r>
            <a:endParaRPr/>
          </a:p>
        </p:txBody>
      </p:sp>
      <p:sp>
        <p:nvSpPr>
          <p:cNvPr id="472" name="Google Shape;472;p50"/>
          <p:cNvSpPr/>
          <p:nvPr/>
        </p:nvSpPr>
        <p:spPr>
          <a:xfrm>
            <a:off x="2165682" y="3174832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B=5</a:t>
            </a:r>
            <a:endParaRPr/>
          </a:p>
        </p:txBody>
      </p:sp>
      <p:sp>
        <p:nvSpPr>
          <p:cNvPr id="473" name="Google Shape;473;p50"/>
          <p:cNvSpPr/>
          <p:nvPr/>
        </p:nvSpPr>
        <p:spPr>
          <a:xfrm>
            <a:off x="2219156" y="5027694"/>
            <a:ext cx="1323475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A=0</a:t>
            </a:r>
            <a:endParaRPr/>
          </a:p>
        </p:txBody>
      </p:sp>
      <p:cxnSp>
        <p:nvCxnSpPr>
          <p:cNvPr id="474" name="Google Shape;474;p50"/>
          <p:cNvCxnSpPr>
            <a:endCxn id="471" idx="2"/>
          </p:cNvCxnSpPr>
          <p:nvPr/>
        </p:nvCxnSpPr>
        <p:spPr>
          <a:xfrm>
            <a:off x="1256682" y="2735011"/>
            <a:ext cx="9090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475" name="Google Shape;475;p50"/>
          <p:cNvSpPr txBox="1"/>
          <p:nvPr/>
        </p:nvSpPr>
        <p:spPr>
          <a:xfrm>
            <a:off x="1524000" y="1290958"/>
            <a:ext cx="36896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T: R(A), W(A) </a:t>
            </a:r>
            <a:endParaRPr/>
          </a:p>
        </p:txBody>
      </p:sp>
      <p:sp>
        <p:nvSpPr>
          <p:cNvPr id="476" name="Google Shape;476;p50"/>
          <p:cNvSpPr txBox="1"/>
          <p:nvPr/>
        </p:nvSpPr>
        <p:spPr>
          <a:xfrm>
            <a:off x="5355389" y="1690688"/>
            <a:ext cx="1711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0🡪1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0"/>
          <p:cNvSpPr/>
          <p:nvPr/>
        </p:nvSpPr>
        <p:spPr>
          <a:xfrm>
            <a:off x="5502437" y="2360699"/>
            <a:ext cx="286088" cy="71494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logging</a:t>
            </a:r>
            <a:endParaRPr/>
          </a:p>
        </p:txBody>
      </p:sp>
      <p:sp>
        <p:nvSpPr>
          <p:cNvPr id="483" name="Google Shape;483;p51"/>
          <p:cNvSpPr/>
          <p:nvPr/>
        </p:nvSpPr>
        <p:spPr>
          <a:xfrm>
            <a:off x="2165683" y="4920748"/>
            <a:ext cx="3114845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on Disk</a:t>
            </a:r>
            <a:endParaRPr/>
          </a:p>
        </p:txBody>
      </p:sp>
      <p:sp>
        <p:nvSpPr>
          <p:cNvPr id="484" name="Google Shape;484;p51"/>
          <p:cNvSpPr/>
          <p:nvPr/>
        </p:nvSpPr>
        <p:spPr>
          <a:xfrm>
            <a:off x="2058736" y="2354011"/>
            <a:ext cx="6149473" cy="185821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485" name="Google Shape;485;p51"/>
          <p:cNvSpPr/>
          <p:nvPr/>
        </p:nvSpPr>
        <p:spPr>
          <a:xfrm>
            <a:off x="6149472" y="4920748"/>
            <a:ext cx="2058737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 on Disk</a:t>
            </a:r>
            <a:endParaRPr/>
          </a:p>
        </p:txBody>
      </p:sp>
      <p:sp>
        <p:nvSpPr>
          <p:cNvPr id="486" name="Google Shape;486;p51"/>
          <p:cNvSpPr/>
          <p:nvPr/>
        </p:nvSpPr>
        <p:spPr>
          <a:xfrm>
            <a:off x="5502438" y="2354011"/>
            <a:ext cx="2705771" cy="695158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/>
          </a:p>
        </p:txBody>
      </p:sp>
      <p:sp>
        <p:nvSpPr>
          <p:cNvPr id="487" name="Google Shape;487;p51"/>
          <p:cNvSpPr txBox="1"/>
          <p:nvPr/>
        </p:nvSpPr>
        <p:spPr>
          <a:xfrm>
            <a:off x="0" y="2354012"/>
            <a:ext cx="13635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endParaRPr/>
          </a:p>
        </p:txBody>
      </p:sp>
      <p:sp>
        <p:nvSpPr>
          <p:cNvPr id="488" name="Google Shape;488;p51"/>
          <p:cNvSpPr/>
          <p:nvPr/>
        </p:nvSpPr>
        <p:spPr>
          <a:xfrm>
            <a:off x="2165682" y="2447590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A=1</a:t>
            </a:r>
            <a:endParaRPr/>
          </a:p>
        </p:txBody>
      </p:sp>
      <p:sp>
        <p:nvSpPr>
          <p:cNvPr id="489" name="Google Shape;489;p51"/>
          <p:cNvSpPr/>
          <p:nvPr/>
        </p:nvSpPr>
        <p:spPr>
          <a:xfrm>
            <a:off x="2165682" y="3174832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B=5</a:t>
            </a:r>
            <a:endParaRPr/>
          </a:p>
        </p:txBody>
      </p:sp>
      <p:sp>
        <p:nvSpPr>
          <p:cNvPr id="490" name="Google Shape;490;p51"/>
          <p:cNvSpPr/>
          <p:nvPr/>
        </p:nvSpPr>
        <p:spPr>
          <a:xfrm>
            <a:off x="2219156" y="5027694"/>
            <a:ext cx="1323475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A=0</a:t>
            </a:r>
            <a:endParaRPr/>
          </a:p>
        </p:txBody>
      </p:sp>
      <p:cxnSp>
        <p:nvCxnSpPr>
          <p:cNvPr id="491" name="Google Shape;491;p51"/>
          <p:cNvCxnSpPr>
            <a:endCxn id="488" idx="2"/>
          </p:cNvCxnSpPr>
          <p:nvPr/>
        </p:nvCxnSpPr>
        <p:spPr>
          <a:xfrm>
            <a:off x="1256682" y="2735011"/>
            <a:ext cx="9090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492" name="Google Shape;492;p51"/>
          <p:cNvSpPr txBox="1"/>
          <p:nvPr/>
        </p:nvSpPr>
        <p:spPr>
          <a:xfrm>
            <a:off x="1524000" y="1290958"/>
            <a:ext cx="36896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T: R(A), W(A) </a:t>
            </a:r>
            <a:endParaRPr/>
          </a:p>
        </p:txBody>
      </p:sp>
      <p:sp>
        <p:nvSpPr>
          <p:cNvPr id="493" name="Google Shape;493;p51"/>
          <p:cNvSpPr txBox="1"/>
          <p:nvPr/>
        </p:nvSpPr>
        <p:spPr>
          <a:xfrm>
            <a:off x="5355389" y="1690688"/>
            <a:ext cx="1711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0🡪1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51"/>
          <p:cNvSpPr/>
          <p:nvPr/>
        </p:nvSpPr>
        <p:spPr>
          <a:xfrm>
            <a:off x="5502437" y="2360699"/>
            <a:ext cx="286088" cy="71494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1"/>
          <p:cNvSpPr txBox="1"/>
          <p:nvPr/>
        </p:nvSpPr>
        <p:spPr>
          <a:xfrm>
            <a:off x="9232225" y="2354011"/>
            <a:ext cx="2508159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 recorded in log in main memory!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the correct way to write this all to disk?</a:t>
            </a:r>
            <a:endParaRPr/>
          </a:p>
        </p:txBody>
      </p:sp>
      <p:sp>
        <p:nvSpPr>
          <p:cNvPr id="501" name="Google Shape;501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We’ll look at the </a:t>
            </a:r>
            <a:r>
              <a:rPr i="1" lang="en-US"/>
              <a:t>Write-Ahead Logging (WAL) </a:t>
            </a:r>
            <a:r>
              <a:rPr lang="en-US"/>
              <a:t>protocol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We’ll see why it works by looking at other protocols which are incorrect!</a:t>
            </a:r>
            <a:endParaRPr/>
          </a:p>
        </p:txBody>
      </p:sp>
      <p:sp>
        <p:nvSpPr>
          <p:cNvPr id="502" name="Google Shape;502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" name="Google Shape;503;p52"/>
          <p:cNvSpPr txBox="1"/>
          <p:nvPr/>
        </p:nvSpPr>
        <p:spPr>
          <a:xfrm>
            <a:off x="2451600" y="4634022"/>
            <a:ext cx="7288799" cy="101566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Remember: Key idea is to ensure durability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maintaining our ability to “undo”!</a:t>
            </a:r>
            <a:endParaRPr i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3"/>
          <p:cNvSpPr txBox="1"/>
          <p:nvPr>
            <p:ph type="title"/>
          </p:nvPr>
        </p:nvSpPr>
        <p:spPr>
          <a:xfrm>
            <a:off x="1981200" y="30953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Write-Ahead Logging (WAL)</a:t>
            </a:r>
            <a:br>
              <a:rPr lang="en-US"/>
            </a:br>
            <a:r>
              <a:rPr lang="en-US"/>
              <a:t>TXN Commit Protocol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4"/>
          <p:cNvSpPr/>
          <p:nvPr/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4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Transaction Commit Process</a:t>
            </a:r>
            <a:endParaRPr/>
          </a:p>
        </p:txBody>
      </p:sp>
      <p:sp>
        <p:nvSpPr>
          <p:cNvPr id="516" name="Google Shape;516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FORCE Write </a:t>
            </a:r>
            <a:r>
              <a:rPr b="1" lang="en-US" sz="3200"/>
              <a:t>commit</a:t>
            </a:r>
            <a:r>
              <a:rPr lang="en-US" sz="3200"/>
              <a:t> record to log</a:t>
            </a:r>
            <a:endParaRPr/>
          </a:p>
          <a:p>
            <a:pPr indent="-3111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All log records up to last update from this TX are FORCED</a:t>
            </a:r>
            <a:endParaRPr/>
          </a:p>
          <a:p>
            <a:pPr indent="-3111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Commit() returns</a:t>
            </a:r>
            <a:endParaRPr/>
          </a:p>
        </p:txBody>
      </p:sp>
      <p:sp>
        <p:nvSpPr>
          <p:cNvPr id="517" name="Google Shape;517;p54"/>
          <p:cNvSpPr txBox="1"/>
          <p:nvPr/>
        </p:nvSpPr>
        <p:spPr>
          <a:xfrm>
            <a:off x="2451600" y="5232737"/>
            <a:ext cx="7288799" cy="101566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is committed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commit log record is on stable storage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Incorrect Commit Protocol #1</a:t>
            </a:r>
            <a:endParaRPr/>
          </a:p>
        </p:txBody>
      </p:sp>
      <p:sp>
        <p:nvSpPr>
          <p:cNvPr id="523" name="Google Shape;523;p55"/>
          <p:cNvSpPr/>
          <p:nvPr/>
        </p:nvSpPr>
        <p:spPr>
          <a:xfrm>
            <a:off x="2165683" y="5110416"/>
            <a:ext cx="3114845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on Disk</a:t>
            </a:r>
            <a:endParaRPr/>
          </a:p>
        </p:txBody>
      </p:sp>
      <p:sp>
        <p:nvSpPr>
          <p:cNvPr id="524" name="Google Shape;524;p55"/>
          <p:cNvSpPr/>
          <p:nvPr/>
        </p:nvSpPr>
        <p:spPr>
          <a:xfrm>
            <a:off x="2058736" y="2543679"/>
            <a:ext cx="6149473" cy="185821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525" name="Google Shape;525;p55"/>
          <p:cNvSpPr/>
          <p:nvPr/>
        </p:nvSpPr>
        <p:spPr>
          <a:xfrm>
            <a:off x="6149472" y="5110416"/>
            <a:ext cx="2058737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 on Disk</a:t>
            </a:r>
            <a:endParaRPr/>
          </a:p>
        </p:txBody>
      </p:sp>
      <p:sp>
        <p:nvSpPr>
          <p:cNvPr id="526" name="Google Shape;526;p55"/>
          <p:cNvSpPr/>
          <p:nvPr/>
        </p:nvSpPr>
        <p:spPr>
          <a:xfrm>
            <a:off x="5502438" y="2543679"/>
            <a:ext cx="2705771" cy="695158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/>
          </a:p>
        </p:txBody>
      </p:sp>
      <p:sp>
        <p:nvSpPr>
          <p:cNvPr id="527" name="Google Shape;527;p55"/>
          <p:cNvSpPr txBox="1"/>
          <p:nvPr/>
        </p:nvSpPr>
        <p:spPr>
          <a:xfrm>
            <a:off x="0" y="2543680"/>
            <a:ext cx="13635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endParaRPr/>
          </a:p>
        </p:txBody>
      </p:sp>
      <p:sp>
        <p:nvSpPr>
          <p:cNvPr id="528" name="Google Shape;528;p55"/>
          <p:cNvSpPr/>
          <p:nvPr/>
        </p:nvSpPr>
        <p:spPr>
          <a:xfrm>
            <a:off x="2165682" y="2637258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A=1</a:t>
            </a:r>
            <a:endParaRPr/>
          </a:p>
        </p:txBody>
      </p:sp>
      <p:sp>
        <p:nvSpPr>
          <p:cNvPr id="529" name="Google Shape;529;p55"/>
          <p:cNvSpPr/>
          <p:nvPr/>
        </p:nvSpPr>
        <p:spPr>
          <a:xfrm>
            <a:off x="2165682" y="3364500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B=5</a:t>
            </a:r>
            <a:endParaRPr/>
          </a:p>
        </p:txBody>
      </p:sp>
      <p:sp>
        <p:nvSpPr>
          <p:cNvPr id="530" name="Google Shape;530;p55"/>
          <p:cNvSpPr/>
          <p:nvPr/>
        </p:nvSpPr>
        <p:spPr>
          <a:xfrm>
            <a:off x="2219156" y="5217362"/>
            <a:ext cx="1323475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A=0</a:t>
            </a:r>
            <a:endParaRPr/>
          </a:p>
        </p:txBody>
      </p:sp>
      <p:cxnSp>
        <p:nvCxnSpPr>
          <p:cNvPr id="531" name="Google Shape;531;p55"/>
          <p:cNvCxnSpPr>
            <a:endCxn id="528" idx="2"/>
          </p:cNvCxnSpPr>
          <p:nvPr/>
        </p:nvCxnSpPr>
        <p:spPr>
          <a:xfrm>
            <a:off x="1256682" y="2924679"/>
            <a:ext cx="9090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532" name="Google Shape;532;p55"/>
          <p:cNvSpPr txBox="1"/>
          <p:nvPr/>
        </p:nvSpPr>
        <p:spPr>
          <a:xfrm>
            <a:off x="0" y="1681264"/>
            <a:ext cx="36896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T: R(A), W(A) </a:t>
            </a:r>
            <a:endParaRPr/>
          </a:p>
        </p:txBody>
      </p:sp>
      <p:sp>
        <p:nvSpPr>
          <p:cNvPr id="533" name="Google Shape;533;p55"/>
          <p:cNvSpPr txBox="1"/>
          <p:nvPr/>
        </p:nvSpPr>
        <p:spPr>
          <a:xfrm>
            <a:off x="5355389" y="1880356"/>
            <a:ext cx="1711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0🡪1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5"/>
          <p:cNvSpPr/>
          <p:nvPr/>
        </p:nvSpPr>
        <p:spPr>
          <a:xfrm>
            <a:off x="5502437" y="2538323"/>
            <a:ext cx="286088" cy="71494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5"/>
          <p:cNvSpPr/>
          <p:nvPr/>
        </p:nvSpPr>
        <p:spPr>
          <a:xfrm>
            <a:off x="5817387" y="2538323"/>
            <a:ext cx="286088" cy="714945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5"/>
          <p:cNvSpPr txBox="1"/>
          <p:nvPr/>
        </p:nvSpPr>
        <p:spPr>
          <a:xfrm>
            <a:off x="8825844" y="1053014"/>
            <a:ext cx="2960772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try committing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we’ve written either data or log to disk…</a:t>
            </a:r>
            <a:endParaRPr/>
          </a:p>
        </p:txBody>
      </p:sp>
      <p:sp>
        <p:nvSpPr>
          <p:cNvPr id="537" name="Google Shape;537;p55"/>
          <p:cNvSpPr txBox="1"/>
          <p:nvPr/>
        </p:nvSpPr>
        <p:spPr>
          <a:xfrm>
            <a:off x="8825844" y="3732909"/>
            <a:ext cx="296077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crash now, is T durable?</a:t>
            </a:r>
            <a:endParaRPr/>
          </a:p>
        </p:txBody>
      </p:sp>
      <p:sp>
        <p:nvSpPr>
          <p:cNvPr id="538" name="Google Shape;538;p55"/>
          <p:cNvSpPr txBox="1"/>
          <p:nvPr/>
        </p:nvSpPr>
        <p:spPr>
          <a:xfrm>
            <a:off x="8825844" y="2924679"/>
            <a:ext cx="2348124" cy="58477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OK, Commit!</a:t>
            </a:r>
            <a:endParaRPr b="1" i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5"/>
          <p:cNvSpPr txBox="1"/>
          <p:nvPr/>
        </p:nvSpPr>
        <p:spPr>
          <a:xfrm>
            <a:off x="8825844" y="5089366"/>
            <a:ext cx="2823612" cy="58477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Lost T’s update!</a:t>
            </a:r>
            <a:endParaRPr b="1" i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Incorrect Commit Protocol #2</a:t>
            </a:r>
            <a:endParaRPr/>
          </a:p>
        </p:txBody>
      </p:sp>
      <p:sp>
        <p:nvSpPr>
          <p:cNvPr id="545" name="Google Shape;545;p56"/>
          <p:cNvSpPr/>
          <p:nvPr/>
        </p:nvSpPr>
        <p:spPr>
          <a:xfrm>
            <a:off x="2165683" y="5110416"/>
            <a:ext cx="3114845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on Disk</a:t>
            </a:r>
            <a:endParaRPr/>
          </a:p>
        </p:txBody>
      </p:sp>
      <p:sp>
        <p:nvSpPr>
          <p:cNvPr id="546" name="Google Shape;546;p56"/>
          <p:cNvSpPr/>
          <p:nvPr/>
        </p:nvSpPr>
        <p:spPr>
          <a:xfrm>
            <a:off x="2058736" y="2543679"/>
            <a:ext cx="6149473" cy="185821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547" name="Google Shape;547;p56"/>
          <p:cNvSpPr/>
          <p:nvPr/>
        </p:nvSpPr>
        <p:spPr>
          <a:xfrm>
            <a:off x="6149472" y="5110416"/>
            <a:ext cx="2058737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 on Disk</a:t>
            </a:r>
            <a:endParaRPr/>
          </a:p>
        </p:txBody>
      </p:sp>
      <p:sp>
        <p:nvSpPr>
          <p:cNvPr id="548" name="Google Shape;548;p56"/>
          <p:cNvSpPr/>
          <p:nvPr/>
        </p:nvSpPr>
        <p:spPr>
          <a:xfrm>
            <a:off x="5502438" y="2543679"/>
            <a:ext cx="2705771" cy="695158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/>
          </a:p>
        </p:txBody>
      </p:sp>
      <p:sp>
        <p:nvSpPr>
          <p:cNvPr id="549" name="Google Shape;549;p56"/>
          <p:cNvSpPr txBox="1"/>
          <p:nvPr/>
        </p:nvSpPr>
        <p:spPr>
          <a:xfrm>
            <a:off x="0" y="2543680"/>
            <a:ext cx="13635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endParaRPr/>
          </a:p>
        </p:txBody>
      </p:sp>
      <p:sp>
        <p:nvSpPr>
          <p:cNvPr id="550" name="Google Shape;550;p56"/>
          <p:cNvSpPr/>
          <p:nvPr/>
        </p:nvSpPr>
        <p:spPr>
          <a:xfrm>
            <a:off x="2165682" y="2637258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A=1</a:t>
            </a:r>
            <a:endParaRPr/>
          </a:p>
        </p:txBody>
      </p:sp>
      <p:sp>
        <p:nvSpPr>
          <p:cNvPr id="551" name="Google Shape;551;p56"/>
          <p:cNvSpPr/>
          <p:nvPr/>
        </p:nvSpPr>
        <p:spPr>
          <a:xfrm>
            <a:off x="2165682" y="3364500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B=5</a:t>
            </a:r>
            <a:endParaRPr/>
          </a:p>
        </p:txBody>
      </p:sp>
      <p:sp>
        <p:nvSpPr>
          <p:cNvPr id="552" name="Google Shape;552;p56"/>
          <p:cNvSpPr/>
          <p:nvPr/>
        </p:nvSpPr>
        <p:spPr>
          <a:xfrm>
            <a:off x="2219156" y="5217362"/>
            <a:ext cx="1323475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A=0</a:t>
            </a:r>
            <a:endParaRPr/>
          </a:p>
        </p:txBody>
      </p:sp>
      <p:cxnSp>
        <p:nvCxnSpPr>
          <p:cNvPr id="553" name="Google Shape;553;p56"/>
          <p:cNvCxnSpPr>
            <a:endCxn id="550" idx="2"/>
          </p:cNvCxnSpPr>
          <p:nvPr/>
        </p:nvCxnSpPr>
        <p:spPr>
          <a:xfrm>
            <a:off x="1256682" y="2924679"/>
            <a:ext cx="9090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554" name="Google Shape;554;p56"/>
          <p:cNvSpPr txBox="1"/>
          <p:nvPr/>
        </p:nvSpPr>
        <p:spPr>
          <a:xfrm>
            <a:off x="0" y="1681264"/>
            <a:ext cx="36896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T: R(A), W(A) </a:t>
            </a:r>
            <a:endParaRPr/>
          </a:p>
        </p:txBody>
      </p:sp>
      <p:sp>
        <p:nvSpPr>
          <p:cNvPr id="555" name="Google Shape;555;p56"/>
          <p:cNvSpPr txBox="1"/>
          <p:nvPr/>
        </p:nvSpPr>
        <p:spPr>
          <a:xfrm>
            <a:off x="5355389" y="1880356"/>
            <a:ext cx="1711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0🡪1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6"/>
          <p:cNvSpPr/>
          <p:nvPr/>
        </p:nvSpPr>
        <p:spPr>
          <a:xfrm>
            <a:off x="5502437" y="2538323"/>
            <a:ext cx="286088" cy="71494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6"/>
          <p:cNvSpPr/>
          <p:nvPr/>
        </p:nvSpPr>
        <p:spPr>
          <a:xfrm>
            <a:off x="5817387" y="2538323"/>
            <a:ext cx="286088" cy="714945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6"/>
          <p:cNvSpPr txBox="1"/>
          <p:nvPr/>
        </p:nvSpPr>
        <p:spPr>
          <a:xfrm>
            <a:off x="8825844" y="1053014"/>
            <a:ext cx="2960772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try committing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we’ve written data but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we’ve written log to disk…</a:t>
            </a:r>
            <a:endParaRPr/>
          </a:p>
        </p:txBody>
      </p:sp>
      <p:sp>
        <p:nvSpPr>
          <p:cNvPr id="559" name="Google Shape;559;p56"/>
          <p:cNvSpPr txBox="1"/>
          <p:nvPr/>
        </p:nvSpPr>
        <p:spPr>
          <a:xfrm>
            <a:off x="8604504" y="3939342"/>
            <a:ext cx="318211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crash now, is T durable?  Yes!  Except…</a:t>
            </a:r>
            <a:endParaRPr/>
          </a:p>
        </p:txBody>
      </p:sp>
      <p:sp>
        <p:nvSpPr>
          <p:cNvPr id="560" name="Google Shape;560;p56"/>
          <p:cNvSpPr txBox="1"/>
          <p:nvPr/>
        </p:nvSpPr>
        <p:spPr>
          <a:xfrm>
            <a:off x="8825844" y="2924679"/>
            <a:ext cx="2348124" cy="58477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OK, Commit!</a:t>
            </a:r>
            <a:endParaRPr b="1" i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6"/>
          <p:cNvSpPr txBox="1"/>
          <p:nvPr/>
        </p:nvSpPr>
        <p:spPr>
          <a:xfrm>
            <a:off x="8734404" y="5156693"/>
            <a:ext cx="3052212" cy="1569660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do we know whether T was committed??</a:t>
            </a:r>
            <a:endParaRPr b="1" i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7"/>
          <p:cNvSpPr txBox="1"/>
          <p:nvPr>
            <p:ph type="title"/>
          </p:nvPr>
        </p:nvSpPr>
        <p:spPr>
          <a:xfrm>
            <a:off x="1981200" y="342629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Improved Commit Protocol (WAL)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Write-ahead Logging (WAL) Commit Protocol</a:t>
            </a:r>
            <a:endParaRPr/>
          </a:p>
        </p:txBody>
      </p:sp>
      <p:sp>
        <p:nvSpPr>
          <p:cNvPr id="572" name="Google Shape;572;p58"/>
          <p:cNvSpPr/>
          <p:nvPr/>
        </p:nvSpPr>
        <p:spPr>
          <a:xfrm>
            <a:off x="2165683" y="5110416"/>
            <a:ext cx="3114845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on Disk</a:t>
            </a:r>
            <a:endParaRPr/>
          </a:p>
        </p:txBody>
      </p:sp>
      <p:sp>
        <p:nvSpPr>
          <p:cNvPr id="573" name="Google Shape;573;p58"/>
          <p:cNvSpPr/>
          <p:nvPr/>
        </p:nvSpPr>
        <p:spPr>
          <a:xfrm>
            <a:off x="2058736" y="2543679"/>
            <a:ext cx="6149473" cy="185821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574" name="Google Shape;574;p58"/>
          <p:cNvSpPr/>
          <p:nvPr/>
        </p:nvSpPr>
        <p:spPr>
          <a:xfrm>
            <a:off x="6149472" y="5110416"/>
            <a:ext cx="2058737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 on Disk</a:t>
            </a:r>
            <a:endParaRPr/>
          </a:p>
        </p:txBody>
      </p:sp>
      <p:sp>
        <p:nvSpPr>
          <p:cNvPr id="575" name="Google Shape;575;p58"/>
          <p:cNvSpPr/>
          <p:nvPr/>
        </p:nvSpPr>
        <p:spPr>
          <a:xfrm>
            <a:off x="5502438" y="2543679"/>
            <a:ext cx="2705771" cy="695158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/>
          </a:p>
        </p:txBody>
      </p:sp>
      <p:sp>
        <p:nvSpPr>
          <p:cNvPr id="576" name="Google Shape;576;p58"/>
          <p:cNvSpPr txBox="1"/>
          <p:nvPr/>
        </p:nvSpPr>
        <p:spPr>
          <a:xfrm>
            <a:off x="0" y="2543680"/>
            <a:ext cx="13635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endParaRPr/>
          </a:p>
        </p:txBody>
      </p:sp>
      <p:sp>
        <p:nvSpPr>
          <p:cNvPr id="577" name="Google Shape;577;p58"/>
          <p:cNvSpPr/>
          <p:nvPr/>
        </p:nvSpPr>
        <p:spPr>
          <a:xfrm>
            <a:off x="2165682" y="2637258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A=1</a:t>
            </a:r>
            <a:endParaRPr/>
          </a:p>
        </p:txBody>
      </p:sp>
      <p:sp>
        <p:nvSpPr>
          <p:cNvPr id="578" name="Google Shape;578;p58"/>
          <p:cNvSpPr/>
          <p:nvPr/>
        </p:nvSpPr>
        <p:spPr>
          <a:xfrm>
            <a:off x="2165682" y="3364500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B=5</a:t>
            </a:r>
            <a:endParaRPr/>
          </a:p>
        </p:txBody>
      </p:sp>
      <p:sp>
        <p:nvSpPr>
          <p:cNvPr id="579" name="Google Shape;579;p58"/>
          <p:cNvSpPr/>
          <p:nvPr/>
        </p:nvSpPr>
        <p:spPr>
          <a:xfrm>
            <a:off x="2219156" y="5217362"/>
            <a:ext cx="1323475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A=0</a:t>
            </a:r>
            <a:endParaRPr/>
          </a:p>
        </p:txBody>
      </p:sp>
      <p:cxnSp>
        <p:nvCxnSpPr>
          <p:cNvPr id="580" name="Google Shape;580;p58"/>
          <p:cNvCxnSpPr>
            <a:endCxn id="577" idx="2"/>
          </p:cNvCxnSpPr>
          <p:nvPr/>
        </p:nvCxnSpPr>
        <p:spPr>
          <a:xfrm>
            <a:off x="1256682" y="2924679"/>
            <a:ext cx="9090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581" name="Google Shape;581;p58"/>
          <p:cNvSpPr txBox="1"/>
          <p:nvPr/>
        </p:nvSpPr>
        <p:spPr>
          <a:xfrm>
            <a:off x="0" y="1681264"/>
            <a:ext cx="36896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T: R(A), W(A) </a:t>
            </a:r>
            <a:endParaRPr/>
          </a:p>
        </p:txBody>
      </p:sp>
      <p:grpSp>
        <p:nvGrpSpPr>
          <p:cNvPr id="582" name="Google Shape;582;p58"/>
          <p:cNvGrpSpPr/>
          <p:nvPr/>
        </p:nvGrpSpPr>
        <p:grpSpPr>
          <a:xfrm>
            <a:off x="5355389" y="1880356"/>
            <a:ext cx="1711158" cy="1372912"/>
            <a:chOff x="5355389" y="1880356"/>
            <a:chExt cx="1711158" cy="1372912"/>
          </a:xfrm>
        </p:grpSpPr>
        <p:sp>
          <p:nvSpPr>
            <p:cNvPr id="583" name="Google Shape;583;p58"/>
            <p:cNvSpPr txBox="1"/>
            <p:nvPr/>
          </p:nvSpPr>
          <p:spPr>
            <a:xfrm>
              <a:off x="5355389" y="1880356"/>
              <a:ext cx="171115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A: 0🡪1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58"/>
            <p:cNvSpPr/>
            <p:nvPr/>
          </p:nvSpPr>
          <p:spPr>
            <a:xfrm>
              <a:off x="5502437" y="2538323"/>
              <a:ext cx="286088" cy="71494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58"/>
            <p:cNvSpPr/>
            <p:nvPr/>
          </p:nvSpPr>
          <p:spPr>
            <a:xfrm>
              <a:off x="5817387" y="2538323"/>
              <a:ext cx="286088" cy="714945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" name="Google Shape;586;p58"/>
          <p:cNvSpPr txBox="1"/>
          <p:nvPr/>
        </p:nvSpPr>
        <p:spPr>
          <a:xfrm>
            <a:off x="8507712" y="1461560"/>
            <a:ext cx="3291840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time, let’s try committing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we’ve written log to disk but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we’ve written data to disk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this is WAL!</a:t>
            </a:r>
            <a:endParaRPr/>
          </a:p>
        </p:txBody>
      </p:sp>
      <p:sp>
        <p:nvSpPr>
          <p:cNvPr id="587" name="Google Shape;587;p58"/>
          <p:cNvSpPr txBox="1"/>
          <p:nvPr/>
        </p:nvSpPr>
        <p:spPr>
          <a:xfrm>
            <a:off x="8507712" y="4325696"/>
            <a:ext cx="318211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crash now, is T durable?</a:t>
            </a:r>
            <a:endParaRPr/>
          </a:p>
        </p:txBody>
      </p:sp>
      <p:sp>
        <p:nvSpPr>
          <p:cNvPr id="588" name="Google Shape;588;p58"/>
          <p:cNvSpPr txBox="1"/>
          <p:nvPr/>
        </p:nvSpPr>
        <p:spPr>
          <a:xfrm>
            <a:off x="8507712" y="3552988"/>
            <a:ext cx="2348124" cy="58477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OK, Commit!</a:t>
            </a:r>
            <a:endParaRPr b="1" i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Write-ahead Logging (WAL) Commit Protocol</a:t>
            </a:r>
            <a:endParaRPr/>
          </a:p>
        </p:txBody>
      </p:sp>
      <p:sp>
        <p:nvSpPr>
          <p:cNvPr id="594" name="Google Shape;594;p59"/>
          <p:cNvSpPr/>
          <p:nvPr/>
        </p:nvSpPr>
        <p:spPr>
          <a:xfrm>
            <a:off x="2165683" y="5110416"/>
            <a:ext cx="3114845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on Disk</a:t>
            </a:r>
            <a:endParaRPr/>
          </a:p>
        </p:txBody>
      </p:sp>
      <p:sp>
        <p:nvSpPr>
          <p:cNvPr id="595" name="Google Shape;595;p59"/>
          <p:cNvSpPr/>
          <p:nvPr/>
        </p:nvSpPr>
        <p:spPr>
          <a:xfrm>
            <a:off x="2058736" y="2543679"/>
            <a:ext cx="6149473" cy="185821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596" name="Google Shape;596;p59"/>
          <p:cNvSpPr/>
          <p:nvPr/>
        </p:nvSpPr>
        <p:spPr>
          <a:xfrm>
            <a:off x="6149472" y="5110416"/>
            <a:ext cx="2058737" cy="1470526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 on Disk</a:t>
            </a:r>
            <a:endParaRPr/>
          </a:p>
        </p:txBody>
      </p:sp>
      <p:sp>
        <p:nvSpPr>
          <p:cNvPr id="597" name="Google Shape;597;p59"/>
          <p:cNvSpPr txBox="1"/>
          <p:nvPr/>
        </p:nvSpPr>
        <p:spPr>
          <a:xfrm>
            <a:off x="0" y="2543680"/>
            <a:ext cx="136357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endParaRPr/>
          </a:p>
        </p:txBody>
      </p:sp>
      <p:sp>
        <p:nvSpPr>
          <p:cNvPr id="598" name="Google Shape;598;p59"/>
          <p:cNvSpPr/>
          <p:nvPr/>
        </p:nvSpPr>
        <p:spPr>
          <a:xfrm>
            <a:off x="2219156" y="5217362"/>
            <a:ext cx="1323475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A=0</a:t>
            </a:r>
            <a:endParaRPr/>
          </a:p>
        </p:txBody>
      </p:sp>
      <p:cxnSp>
        <p:nvCxnSpPr>
          <p:cNvPr id="599" name="Google Shape;599;p59"/>
          <p:cNvCxnSpPr/>
          <p:nvPr/>
        </p:nvCxnSpPr>
        <p:spPr>
          <a:xfrm>
            <a:off x="1256630" y="2924679"/>
            <a:ext cx="90905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00" name="Google Shape;600;p59"/>
          <p:cNvSpPr txBox="1"/>
          <p:nvPr/>
        </p:nvSpPr>
        <p:spPr>
          <a:xfrm>
            <a:off x="0" y="1681264"/>
            <a:ext cx="36896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T: R(A), W(A) </a:t>
            </a:r>
            <a:endParaRPr/>
          </a:p>
        </p:txBody>
      </p:sp>
      <p:grpSp>
        <p:nvGrpSpPr>
          <p:cNvPr id="601" name="Google Shape;601;p59"/>
          <p:cNvGrpSpPr/>
          <p:nvPr/>
        </p:nvGrpSpPr>
        <p:grpSpPr>
          <a:xfrm>
            <a:off x="6290960" y="4419292"/>
            <a:ext cx="1711158" cy="1372912"/>
            <a:chOff x="5355389" y="1880356"/>
            <a:chExt cx="1711158" cy="1372912"/>
          </a:xfrm>
        </p:grpSpPr>
        <p:sp>
          <p:nvSpPr>
            <p:cNvPr id="602" name="Google Shape;602;p59"/>
            <p:cNvSpPr txBox="1"/>
            <p:nvPr/>
          </p:nvSpPr>
          <p:spPr>
            <a:xfrm>
              <a:off x="5355389" y="1880356"/>
              <a:ext cx="171115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A: 0🡪1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59"/>
            <p:cNvSpPr/>
            <p:nvPr/>
          </p:nvSpPr>
          <p:spPr>
            <a:xfrm>
              <a:off x="5502437" y="2538323"/>
              <a:ext cx="286088" cy="71494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59"/>
            <p:cNvSpPr/>
            <p:nvPr/>
          </p:nvSpPr>
          <p:spPr>
            <a:xfrm>
              <a:off x="5817387" y="2538323"/>
              <a:ext cx="286088" cy="714945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" name="Google Shape;605;p59"/>
          <p:cNvSpPr txBox="1"/>
          <p:nvPr/>
        </p:nvSpPr>
        <p:spPr>
          <a:xfrm>
            <a:off x="8507712" y="1461560"/>
            <a:ext cx="3291840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time, let’s try committing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we’ve written log to disk but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we’ve written data to disk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this is WAL!</a:t>
            </a:r>
            <a:endParaRPr/>
          </a:p>
        </p:txBody>
      </p:sp>
      <p:sp>
        <p:nvSpPr>
          <p:cNvPr id="606" name="Google Shape;606;p59"/>
          <p:cNvSpPr txBox="1"/>
          <p:nvPr/>
        </p:nvSpPr>
        <p:spPr>
          <a:xfrm>
            <a:off x="8507712" y="4325696"/>
            <a:ext cx="318211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crash now, is T durable?</a:t>
            </a:r>
            <a:endParaRPr/>
          </a:p>
        </p:txBody>
      </p:sp>
      <p:sp>
        <p:nvSpPr>
          <p:cNvPr id="607" name="Google Shape;607;p59"/>
          <p:cNvSpPr txBox="1"/>
          <p:nvPr/>
        </p:nvSpPr>
        <p:spPr>
          <a:xfrm>
            <a:off x="8507712" y="3552988"/>
            <a:ext cx="2348124" cy="58477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OK, Commit!</a:t>
            </a:r>
            <a:endParaRPr b="1" i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9"/>
          <p:cNvSpPr txBox="1"/>
          <p:nvPr/>
        </p:nvSpPr>
        <p:spPr>
          <a:xfrm>
            <a:off x="8507712" y="5504783"/>
            <a:ext cx="2619396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USE THE LOG!</a:t>
            </a:r>
            <a:endParaRPr b="1" i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9"/>
          <p:cNvSpPr/>
          <p:nvPr/>
        </p:nvSpPr>
        <p:spPr>
          <a:xfrm>
            <a:off x="2283164" y="5217362"/>
            <a:ext cx="1243264" cy="574842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0"/>
          <p:cNvSpPr/>
          <p:nvPr/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60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Write-Ahead Logging (WAL)</a:t>
            </a:r>
            <a:endParaRPr/>
          </a:p>
        </p:txBody>
      </p:sp>
      <p:sp>
        <p:nvSpPr>
          <p:cNvPr id="617" name="Google Shape;617;p60"/>
          <p:cNvSpPr txBox="1"/>
          <p:nvPr>
            <p:ph idx="1" type="body"/>
          </p:nvPr>
        </p:nvSpPr>
        <p:spPr>
          <a:xfrm>
            <a:off x="838200" y="1690688"/>
            <a:ext cx="8484046" cy="501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DB uses </a:t>
            </a:r>
            <a:r>
              <a:rPr b="1" lang="en-US" sz="3200"/>
              <a:t>Write-Ahead Logging (WAL)</a:t>
            </a:r>
            <a:r>
              <a:rPr lang="en-US" sz="3200"/>
              <a:t> Protocol: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</a:t>
            </a:r>
            <a:endParaRPr/>
          </a:p>
          <a:p>
            <a:pPr indent="-3365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/>
              <a:t>Must </a:t>
            </a:r>
            <a:r>
              <a:rPr i="1" lang="en-US" sz="2800"/>
              <a:t>force log record</a:t>
            </a:r>
            <a:r>
              <a:rPr lang="en-US" sz="2800"/>
              <a:t> for an update </a:t>
            </a:r>
            <a:r>
              <a:rPr i="1" lang="en-US" sz="2800"/>
              <a:t>before</a:t>
            </a:r>
            <a:r>
              <a:rPr lang="en-US" sz="2800"/>
              <a:t> the corresponding data page goes to storage</a:t>
            </a:r>
            <a:endParaRPr/>
          </a:p>
          <a:p>
            <a:pPr indent="-3365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/>
              <a:t>Must </a:t>
            </a:r>
            <a:r>
              <a:rPr i="1" lang="en-US" sz="2800"/>
              <a:t>write all log records </a:t>
            </a:r>
            <a:r>
              <a:rPr lang="en-US" sz="2800"/>
              <a:t>for a TX </a:t>
            </a:r>
            <a:r>
              <a:rPr i="1" lang="en-US" sz="2800"/>
              <a:t>before</a:t>
            </a:r>
            <a:r>
              <a:rPr lang="en-US" sz="2800"/>
              <a:t> </a:t>
            </a:r>
            <a:r>
              <a:rPr i="1" lang="en-US" sz="2800"/>
              <a:t>commit</a:t>
            </a:r>
            <a:endParaRPr sz="2800"/>
          </a:p>
        </p:txBody>
      </p:sp>
      <p:sp>
        <p:nvSpPr>
          <p:cNvPr id="618" name="Google Shape;618;p60"/>
          <p:cNvSpPr/>
          <p:nvPr/>
        </p:nvSpPr>
        <p:spPr>
          <a:xfrm>
            <a:off x="9322246" y="1690688"/>
            <a:ext cx="2255466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update is logged! Why not reads?</a:t>
            </a:r>
            <a:endParaRPr/>
          </a:p>
        </p:txBody>
      </p:sp>
      <p:sp>
        <p:nvSpPr>
          <p:cNvPr id="619" name="Google Shape;619;p60"/>
          <p:cNvSpPr/>
          <p:nvPr/>
        </p:nvSpPr>
        <p:spPr>
          <a:xfrm>
            <a:off x="9253638" y="3613368"/>
            <a:ext cx="2693385" cy="58477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Atomicity</a:t>
            </a:r>
            <a:endParaRPr/>
          </a:p>
        </p:txBody>
      </p:sp>
      <p:sp>
        <p:nvSpPr>
          <p:cNvPr id="620" name="Google Shape;620;p60"/>
          <p:cNvSpPr/>
          <p:nvPr/>
        </p:nvSpPr>
        <p:spPr>
          <a:xfrm>
            <a:off x="9253638" y="4920494"/>
            <a:ext cx="2693385" cy="58477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Durability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Logging Summary</a:t>
            </a:r>
            <a:endParaRPr/>
          </a:p>
        </p:txBody>
      </p:sp>
      <p:sp>
        <p:nvSpPr>
          <p:cNvPr id="626" name="Google Shape;626;p61"/>
          <p:cNvSpPr txBox="1"/>
          <p:nvPr>
            <p:ph idx="1" type="body"/>
          </p:nvPr>
        </p:nvSpPr>
        <p:spPr>
          <a:xfrm>
            <a:off x="838200" y="217731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If DB says TX </a:t>
            </a:r>
            <a:r>
              <a:rPr b="1" lang="en-US" sz="3200"/>
              <a:t>commits</a:t>
            </a:r>
            <a:r>
              <a:rPr lang="en-US" sz="3200"/>
              <a:t>, TX effect </a:t>
            </a:r>
            <a:r>
              <a:rPr b="1" lang="en-US" sz="3200"/>
              <a:t>remains</a:t>
            </a:r>
            <a:r>
              <a:rPr lang="en-US" sz="3200"/>
              <a:t> after database crash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DB can </a:t>
            </a:r>
            <a:r>
              <a:rPr b="1" lang="en-US" sz="3200"/>
              <a:t>undo actions </a:t>
            </a:r>
            <a:r>
              <a:rPr lang="en-US" sz="3200"/>
              <a:t>and help us with </a:t>
            </a:r>
            <a:r>
              <a:rPr b="1" lang="en-US" sz="3200"/>
              <a:t>atomicity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This is only half the story…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2"/>
          <p:cNvSpPr txBox="1"/>
          <p:nvPr>
            <p:ph type="ctrTitle"/>
          </p:nvPr>
        </p:nvSpPr>
        <p:spPr>
          <a:xfrm>
            <a:off x="2209800" y="286543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Concurrency &amp; Locking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4. Concurrency, Scheduling &amp; Anomalies</a:t>
            </a:r>
            <a:endParaRPr/>
          </a:p>
        </p:txBody>
      </p:sp>
      <p:sp>
        <p:nvSpPr>
          <p:cNvPr id="638" name="Google Shape;638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Concurrency: Isolation &amp; Consistency</a:t>
            </a:r>
            <a:endParaRPr/>
          </a:p>
        </p:txBody>
      </p:sp>
      <p:sp>
        <p:nvSpPr>
          <p:cNvPr id="644" name="Google Shape;644;p64"/>
          <p:cNvSpPr txBox="1"/>
          <p:nvPr>
            <p:ph idx="1" type="body"/>
          </p:nvPr>
        </p:nvSpPr>
        <p:spPr>
          <a:xfrm>
            <a:off x="838200" y="1825625"/>
            <a:ext cx="899948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DBMS must handle concurrency such that…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 u="sng"/>
              <a:t>I</a:t>
            </a:r>
            <a:r>
              <a:rPr b="1" lang="en-US" sz="2800"/>
              <a:t>solation</a:t>
            </a:r>
            <a:r>
              <a:rPr lang="en-US" sz="2800"/>
              <a:t> is maintained: Users must be able to execute each TXN </a:t>
            </a:r>
            <a:r>
              <a:rPr b="1" lang="en-US" sz="2800"/>
              <a:t>as if they were the only user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DBMS handles the details of </a:t>
            </a:r>
            <a:r>
              <a:rPr i="1" lang="en-US" sz="2400"/>
              <a:t>interleaving</a:t>
            </a:r>
            <a:r>
              <a:rPr lang="en-US" sz="2400"/>
              <a:t> various TXNs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794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 u="sng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 u="sng"/>
              <a:t>C</a:t>
            </a:r>
            <a:r>
              <a:rPr b="1" lang="en-US" sz="2800"/>
              <a:t>onsistency</a:t>
            </a:r>
            <a:r>
              <a:rPr lang="en-US" sz="2800"/>
              <a:t> is maintained: TXNs must leave the DB in a </a:t>
            </a:r>
            <a:r>
              <a:rPr b="1" lang="en-US" sz="2800"/>
              <a:t>consistent state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DBMS handles the details of enforcing integrity constraints</a:t>
            </a:r>
            <a:endParaRPr/>
          </a:p>
        </p:txBody>
      </p:sp>
      <p:sp>
        <p:nvSpPr>
          <p:cNvPr id="645" name="Google Shape;645;p64"/>
          <p:cNvSpPr txBox="1"/>
          <p:nvPr/>
        </p:nvSpPr>
        <p:spPr>
          <a:xfrm>
            <a:off x="10357693" y="2617076"/>
            <a:ext cx="996107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646" name="Google Shape;646;p64"/>
          <p:cNvSpPr txBox="1"/>
          <p:nvPr/>
        </p:nvSpPr>
        <p:spPr>
          <a:xfrm>
            <a:off x="10357693" y="4593020"/>
            <a:ext cx="996107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Note the hard part…</a:t>
            </a:r>
            <a:endParaRPr/>
          </a:p>
        </p:txBody>
      </p:sp>
      <p:sp>
        <p:nvSpPr>
          <p:cNvPr id="652" name="Google Shape;652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65"/>
          <p:cNvSpPr/>
          <p:nvPr/>
        </p:nvSpPr>
        <p:spPr>
          <a:xfrm>
            <a:off x="3472069" y="2085417"/>
            <a:ext cx="5247861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…is the effect of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transactions and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crashes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245 for the gory details!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Example- consider two TXNs:</a:t>
            </a:r>
            <a:endParaRPr/>
          </a:p>
        </p:txBody>
      </p:sp>
      <p:sp>
        <p:nvSpPr>
          <p:cNvPr id="659" name="Google Shape;659;p66"/>
          <p:cNvSpPr/>
          <p:nvPr/>
        </p:nvSpPr>
        <p:spPr>
          <a:xfrm>
            <a:off x="543325" y="1690688"/>
            <a:ext cx="4641014" cy="34163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T1: START TRANSACTION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Accounts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Amt = Amt + 100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= ‘A’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Accounts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Amt = Amt - 100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= ‘B’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660" name="Google Shape;660;p66"/>
          <p:cNvSpPr/>
          <p:nvPr/>
        </p:nvSpPr>
        <p:spPr>
          <a:xfrm>
            <a:off x="6785269" y="2614018"/>
            <a:ext cx="4826962" cy="15696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T2: START TRANSACTION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UPDATE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Accounts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Amt = Amt * 1.06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</p:txBody>
      </p:sp>
      <p:sp>
        <p:nvSpPr>
          <p:cNvPr id="661" name="Google Shape;661;p66"/>
          <p:cNvSpPr/>
          <p:nvPr/>
        </p:nvSpPr>
        <p:spPr>
          <a:xfrm>
            <a:off x="543325" y="5304155"/>
            <a:ext cx="4641014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 transfers $100 from B’s account to A’s account</a:t>
            </a:r>
            <a:endParaRPr/>
          </a:p>
        </p:txBody>
      </p:sp>
      <p:sp>
        <p:nvSpPr>
          <p:cNvPr id="662" name="Google Shape;662;p66"/>
          <p:cNvSpPr/>
          <p:nvPr/>
        </p:nvSpPr>
        <p:spPr>
          <a:xfrm>
            <a:off x="6785269" y="5303550"/>
            <a:ext cx="482696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 credits both accounts with a 6% interest payment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Example- consider two TXNs:</a:t>
            </a:r>
            <a:endParaRPr/>
          </a:p>
        </p:txBody>
      </p:sp>
      <p:sp>
        <p:nvSpPr>
          <p:cNvPr id="668" name="Google Shape;668;p67"/>
          <p:cNvSpPr/>
          <p:nvPr/>
        </p:nvSpPr>
        <p:spPr>
          <a:xfrm>
            <a:off x="1755755" y="4933719"/>
            <a:ext cx="4033337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 transfers $100 from B’s account to A’s account</a:t>
            </a:r>
            <a:endParaRPr/>
          </a:p>
        </p:txBody>
      </p:sp>
      <p:sp>
        <p:nvSpPr>
          <p:cNvPr id="669" name="Google Shape;669;p67"/>
          <p:cNvSpPr/>
          <p:nvPr/>
        </p:nvSpPr>
        <p:spPr>
          <a:xfrm>
            <a:off x="6639828" y="4933719"/>
            <a:ext cx="4315465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 credits both accounts with a 6% interest payment</a:t>
            </a:r>
            <a:endParaRPr/>
          </a:p>
        </p:txBody>
      </p:sp>
      <p:cxnSp>
        <p:nvCxnSpPr>
          <p:cNvPr id="670" name="Google Shape;670;p67"/>
          <p:cNvCxnSpPr/>
          <p:nvPr/>
        </p:nvCxnSpPr>
        <p:spPr>
          <a:xfrm>
            <a:off x="1192696" y="4399722"/>
            <a:ext cx="10419535" cy="13252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1" name="Google Shape;671;p67"/>
          <p:cNvSpPr txBox="1"/>
          <p:nvPr/>
        </p:nvSpPr>
        <p:spPr>
          <a:xfrm>
            <a:off x="543325" y="2697456"/>
            <a:ext cx="4812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72" name="Google Shape;672;p67"/>
          <p:cNvSpPr txBox="1"/>
          <p:nvPr/>
        </p:nvSpPr>
        <p:spPr>
          <a:xfrm>
            <a:off x="543325" y="3585352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73" name="Google Shape;673;p67"/>
          <p:cNvSpPr txBox="1"/>
          <p:nvPr/>
        </p:nvSpPr>
        <p:spPr>
          <a:xfrm>
            <a:off x="1755755" y="2666678"/>
            <a:ext cx="1636987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+= 100</a:t>
            </a:r>
            <a:endParaRPr/>
          </a:p>
        </p:txBody>
      </p:sp>
      <p:sp>
        <p:nvSpPr>
          <p:cNvPr id="674" name="Google Shape;674;p67"/>
          <p:cNvSpPr txBox="1"/>
          <p:nvPr/>
        </p:nvSpPr>
        <p:spPr>
          <a:xfrm>
            <a:off x="4243477" y="2666677"/>
            <a:ext cx="1545616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-= 100</a:t>
            </a:r>
            <a:endParaRPr/>
          </a:p>
        </p:txBody>
      </p:sp>
      <p:sp>
        <p:nvSpPr>
          <p:cNvPr id="675" name="Google Shape;675;p67"/>
          <p:cNvSpPr txBox="1"/>
          <p:nvPr/>
        </p:nvSpPr>
        <p:spPr>
          <a:xfrm>
            <a:off x="6639828" y="3500631"/>
            <a:ext cx="1737976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*= 1.06</a:t>
            </a:r>
            <a:endParaRPr/>
          </a:p>
        </p:txBody>
      </p:sp>
      <p:sp>
        <p:nvSpPr>
          <p:cNvPr id="676" name="Google Shape;676;p67"/>
          <p:cNvSpPr txBox="1"/>
          <p:nvPr/>
        </p:nvSpPr>
        <p:spPr>
          <a:xfrm>
            <a:off x="9228538" y="3504506"/>
            <a:ext cx="1726755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*= 1.06</a:t>
            </a:r>
            <a:endParaRPr/>
          </a:p>
        </p:txBody>
      </p:sp>
      <p:sp>
        <p:nvSpPr>
          <p:cNvPr id="677" name="Google Shape;677;p67"/>
          <p:cNvSpPr txBox="1"/>
          <p:nvPr/>
        </p:nvSpPr>
        <p:spPr>
          <a:xfrm>
            <a:off x="10955293" y="4442514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678" name="Google Shape;678;p67"/>
          <p:cNvSpPr txBox="1"/>
          <p:nvPr/>
        </p:nvSpPr>
        <p:spPr>
          <a:xfrm>
            <a:off x="838200" y="1680047"/>
            <a:ext cx="100603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look at the TXNs in a timeline view- serial execution: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Example- consider two TXNs:</a:t>
            </a:r>
            <a:endParaRPr/>
          </a:p>
        </p:txBody>
      </p:sp>
      <p:sp>
        <p:nvSpPr>
          <p:cNvPr id="684" name="Google Shape;684;p68"/>
          <p:cNvSpPr/>
          <p:nvPr/>
        </p:nvSpPr>
        <p:spPr>
          <a:xfrm>
            <a:off x="6893675" y="4935336"/>
            <a:ext cx="4061618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 transfers $100 from B’s account to A’s account</a:t>
            </a:r>
            <a:endParaRPr/>
          </a:p>
        </p:txBody>
      </p:sp>
      <p:sp>
        <p:nvSpPr>
          <p:cNvPr id="685" name="Google Shape;685;p68"/>
          <p:cNvSpPr/>
          <p:nvPr/>
        </p:nvSpPr>
        <p:spPr>
          <a:xfrm>
            <a:off x="1670916" y="4935336"/>
            <a:ext cx="434874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 credits both accounts with a 6% interest payment</a:t>
            </a:r>
            <a:endParaRPr/>
          </a:p>
        </p:txBody>
      </p:sp>
      <p:cxnSp>
        <p:nvCxnSpPr>
          <p:cNvPr id="686" name="Google Shape;686;p68"/>
          <p:cNvCxnSpPr/>
          <p:nvPr/>
        </p:nvCxnSpPr>
        <p:spPr>
          <a:xfrm>
            <a:off x="1192696" y="4399722"/>
            <a:ext cx="10419535" cy="13252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7" name="Google Shape;687;p68"/>
          <p:cNvSpPr txBox="1"/>
          <p:nvPr/>
        </p:nvSpPr>
        <p:spPr>
          <a:xfrm>
            <a:off x="543325" y="2697456"/>
            <a:ext cx="4812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88" name="Google Shape;688;p68"/>
          <p:cNvSpPr txBox="1"/>
          <p:nvPr/>
        </p:nvSpPr>
        <p:spPr>
          <a:xfrm>
            <a:off x="543325" y="3585352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89" name="Google Shape;689;p68"/>
          <p:cNvSpPr txBox="1"/>
          <p:nvPr/>
        </p:nvSpPr>
        <p:spPr>
          <a:xfrm>
            <a:off x="6893675" y="2697457"/>
            <a:ext cx="1636987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+= 100</a:t>
            </a:r>
            <a:endParaRPr/>
          </a:p>
        </p:txBody>
      </p:sp>
      <p:sp>
        <p:nvSpPr>
          <p:cNvPr id="690" name="Google Shape;690;p68"/>
          <p:cNvSpPr txBox="1"/>
          <p:nvPr/>
        </p:nvSpPr>
        <p:spPr>
          <a:xfrm>
            <a:off x="9409677" y="2666678"/>
            <a:ext cx="1545616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-= 100</a:t>
            </a:r>
            <a:endParaRPr/>
          </a:p>
        </p:txBody>
      </p:sp>
      <p:sp>
        <p:nvSpPr>
          <p:cNvPr id="691" name="Google Shape;691;p68"/>
          <p:cNvSpPr txBox="1"/>
          <p:nvPr/>
        </p:nvSpPr>
        <p:spPr>
          <a:xfrm>
            <a:off x="1670916" y="3550699"/>
            <a:ext cx="1737976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*= 1.06</a:t>
            </a:r>
            <a:endParaRPr/>
          </a:p>
        </p:txBody>
      </p:sp>
      <p:sp>
        <p:nvSpPr>
          <p:cNvPr id="692" name="Google Shape;692;p68"/>
          <p:cNvSpPr txBox="1"/>
          <p:nvPr/>
        </p:nvSpPr>
        <p:spPr>
          <a:xfrm>
            <a:off x="4287906" y="3554574"/>
            <a:ext cx="1726755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*= 1.06</a:t>
            </a:r>
            <a:endParaRPr/>
          </a:p>
        </p:txBody>
      </p:sp>
      <p:sp>
        <p:nvSpPr>
          <p:cNvPr id="693" name="Google Shape;693;p68"/>
          <p:cNvSpPr txBox="1"/>
          <p:nvPr/>
        </p:nvSpPr>
        <p:spPr>
          <a:xfrm>
            <a:off x="10955293" y="4442514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694" name="Google Shape;694;p68"/>
          <p:cNvSpPr txBox="1"/>
          <p:nvPr/>
        </p:nvSpPr>
        <p:spPr>
          <a:xfrm>
            <a:off x="838200" y="1680047"/>
            <a:ext cx="88340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TXNs could occur in either order… DBMS allows!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Example- consider two TXNs:</a:t>
            </a:r>
            <a:endParaRPr/>
          </a:p>
        </p:txBody>
      </p:sp>
      <p:cxnSp>
        <p:nvCxnSpPr>
          <p:cNvPr id="700" name="Google Shape;700;p69"/>
          <p:cNvCxnSpPr/>
          <p:nvPr/>
        </p:nvCxnSpPr>
        <p:spPr>
          <a:xfrm>
            <a:off x="1192696" y="4399722"/>
            <a:ext cx="10419535" cy="13252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1" name="Google Shape;701;p69"/>
          <p:cNvSpPr txBox="1"/>
          <p:nvPr/>
        </p:nvSpPr>
        <p:spPr>
          <a:xfrm>
            <a:off x="543325" y="2697456"/>
            <a:ext cx="4812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02" name="Google Shape;702;p69"/>
          <p:cNvSpPr txBox="1"/>
          <p:nvPr/>
        </p:nvSpPr>
        <p:spPr>
          <a:xfrm>
            <a:off x="543325" y="3585352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03" name="Google Shape;703;p69"/>
          <p:cNvSpPr txBox="1"/>
          <p:nvPr/>
        </p:nvSpPr>
        <p:spPr>
          <a:xfrm>
            <a:off x="4287906" y="2666677"/>
            <a:ext cx="1636987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+= 100</a:t>
            </a:r>
            <a:endParaRPr/>
          </a:p>
        </p:txBody>
      </p:sp>
      <p:sp>
        <p:nvSpPr>
          <p:cNvPr id="704" name="Google Shape;704;p69"/>
          <p:cNvSpPr txBox="1"/>
          <p:nvPr/>
        </p:nvSpPr>
        <p:spPr>
          <a:xfrm>
            <a:off x="9409677" y="2666677"/>
            <a:ext cx="1545616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-= 100</a:t>
            </a:r>
            <a:endParaRPr/>
          </a:p>
        </p:txBody>
      </p:sp>
      <p:sp>
        <p:nvSpPr>
          <p:cNvPr id="705" name="Google Shape;705;p69"/>
          <p:cNvSpPr txBox="1"/>
          <p:nvPr/>
        </p:nvSpPr>
        <p:spPr>
          <a:xfrm>
            <a:off x="1670916" y="3550699"/>
            <a:ext cx="1737976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*= 1.06</a:t>
            </a:r>
            <a:endParaRPr/>
          </a:p>
        </p:txBody>
      </p:sp>
      <p:sp>
        <p:nvSpPr>
          <p:cNvPr id="706" name="Google Shape;706;p69"/>
          <p:cNvSpPr txBox="1"/>
          <p:nvPr/>
        </p:nvSpPr>
        <p:spPr>
          <a:xfrm>
            <a:off x="6803907" y="3557652"/>
            <a:ext cx="1726755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*= 1.06</a:t>
            </a:r>
            <a:endParaRPr/>
          </a:p>
        </p:txBody>
      </p:sp>
      <p:sp>
        <p:nvSpPr>
          <p:cNvPr id="707" name="Google Shape;707;p69"/>
          <p:cNvSpPr txBox="1"/>
          <p:nvPr/>
        </p:nvSpPr>
        <p:spPr>
          <a:xfrm>
            <a:off x="10955293" y="4442514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708" name="Google Shape;708;p69"/>
          <p:cNvSpPr txBox="1"/>
          <p:nvPr/>
        </p:nvSpPr>
        <p:spPr>
          <a:xfrm>
            <a:off x="838200" y="1680047"/>
            <a:ext cx="67351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DBMS can also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TXNs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69"/>
          <p:cNvSpPr/>
          <p:nvPr/>
        </p:nvSpPr>
        <p:spPr>
          <a:xfrm>
            <a:off x="1670915" y="4978214"/>
            <a:ext cx="4253977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 credits A’s account with 6% interest payment, then T1 transfers $100 to A’s account…</a:t>
            </a:r>
            <a:endParaRPr/>
          </a:p>
        </p:txBody>
      </p:sp>
      <p:sp>
        <p:nvSpPr>
          <p:cNvPr id="710" name="Google Shape;710;p69"/>
          <p:cNvSpPr/>
          <p:nvPr/>
        </p:nvSpPr>
        <p:spPr>
          <a:xfrm>
            <a:off x="6803907" y="4978214"/>
            <a:ext cx="4151386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 credits B’s account with a 6% interest payment, then T1 transfers $100 from B’s account…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Example- consider two TXNs:</a:t>
            </a:r>
            <a:endParaRPr/>
          </a:p>
        </p:txBody>
      </p:sp>
      <p:sp>
        <p:nvSpPr>
          <p:cNvPr id="716" name="Google Shape;716;p70"/>
          <p:cNvSpPr/>
          <p:nvPr/>
        </p:nvSpPr>
        <p:spPr>
          <a:xfrm>
            <a:off x="2934564" y="5386352"/>
            <a:ext cx="6322872" cy="58477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goes wrong here??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7" name="Google Shape;717;p70"/>
          <p:cNvCxnSpPr/>
          <p:nvPr/>
        </p:nvCxnSpPr>
        <p:spPr>
          <a:xfrm>
            <a:off x="1192696" y="4399722"/>
            <a:ext cx="10419535" cy="13252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8" name="Google Shape;718;p70"/>
          <p:cNvSpPr txBox="1"/>
          <p:nvPr/>
        </p:nvSpPr>
        <p:spPr>
          <a:xfrm>
            <a:off x="543325" y="2697456"/>
            <a:ext cx="4812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19" name="Google Shape;719;p70"/>
          <p:cNvSpPr txBox="1"/>
          <p:nvPr/>
        </p:nvSpPr>
        <p:spPr>
          <a:xfrm>
            <a:off x="543325" y="3585352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20" name="Google Shape;720;p70"/>
          <p:cNvSpPr txBox="1"/>
          <p:nvPr/>
        </p:nvSpPr>
        <p:spPr>
          <a:xfrm>
            <a:off x="4287906" y="2666677"/>
            <a:ext cx="1636987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+= 100</a:t>
            </a:r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9409677" y="2666677"/>
            <a:ext cx="1545616" cy="58477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-= 100</a:t>
            </a:r>
            <a:endParaRPr/>
          </a:p>
        </p:txBody>
      </p:sp>
      <p:sp>
        <p:nvSpPr>
          <p:cNvPr id="722" name="Google Shape;722;p70"/>
          <p:cNvSpPr txBox="1"/>
          <p:nvPr/>
        </p:nvSpPr>
        <p:spPr>
          <a:xfrm>
            <a:off x="1670916" y="3550699"/>
            <a:ext cx="1737976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*= 1.06</a:t>
            </a:r>
            <a:endParaRPr/>
          </a:p>
        </p:txBody>
      </p:sp>
      <p:sp>
        <p:nvSpPr>
          <p:cNvPr id="723" name="Google Shape;723;p70"/>
          <p:cNvSpPr txBox="1"/>
          <p:nvPr/>
        </p:nvSpPr>
        <p:spPr>
          <a:xfrm>
            <a:off x="6803907" y="3557652"/>
            <a:ext cx="1726755" cy="58477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*= 1.06</a:t>
            </a:r>
            <a:endParaRPr/>
          </a:p>
        </p:txBody>
      </p:sp>
      <p:sp>
        <p:nvSpPr>
          <p:cNvPr id="724" name="Google Shape;724;p70"/>
          <p:cNvSpPr txBox="1"/>
          <p:nvPr/>
        </p:nvSpPr>
        <p:spPr>
          <a:xfrm>
            <a:off x="10955293" y="4442514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725" name="Google Shape;725;p70"/>
          <p:cNvSpPr txBox="1"/>
          <p:nvPr/>
        </p:nvSpPr>
        <p:spPr>
          <a:xfrm>
            <a:off x="838200" y="1680047"/>
            <a:ext cx="67351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DBMS can also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TXNs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1"/>
          <p:cNvSpPr txBox="1"/>
          <p:nvPr>
            <p:ph type="title"/>
          </p:nvPr>
        </p:nvSpPr>
        <p:spPr>
          <a:xfrm>
            <a:off x="838200" y="5225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Recall: Three Types of Regions of Memory</a:t>
            </a:r>
            <a:endParaRPr/>
          </a:p>
        </p:txBody>
      </p:sp>
      <p:sp>
        <p:nvSpPr>
          <p:cNvPr id="731" name="Google Shape;731;p71"/>
          <p:cNvSpPr txBox="1"/>
          <p:nvPr>
            <p:ph idx="1" type="body"/>
          </p:nvPr>
        </p:nvSpPr>
        <p:spPr>
          <a:xfrm>
            <a:off x="838200" y="1825624"/>
            <a:ext cx="7656443" cy="503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/>
              <a:t>Local: </a:t>
            </a:r>
            <a:r>
              <a:rPr lang="en-US"/>
              <a:t> In our model each process in a DBMS has its own local memory, where it stores values that only it “sees”</a:t>
            </a:r>
            <a:endParaRPr/>
          </a:p>
          <a:p>
            <a:pPr indent="-349885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/>
              <a:t>Global:  </a:t>
            </a:r>
            <a:r>
              <a:rPr lang="en-US"/>
              <a:t>Each process can read from / write to shared data in main memory</a:t>
            </a:r>
            <a:endParaRPr/>
          </a:p>
          <a:p>
            <a:pPr indent="-349885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/>
              <a:t>Disk:  </a:t>
            </a:r>
            <a:r>
              <a:rPr lang="en-US"/>
              <a:t>Global memory can read from / flush to disk</a:t>
            </a:r>
            <a:endParaRPr/>
          </a:p>
          <a:p>
            <a:pPr indent="-349885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1" lang="en-US"/>
              <a:t>Log: </a:t>
            </a:r>
            <a:r>
              <a:rPr i="1" lang="en-US"/>
              <a:t>Assume on stable disk storage- spans both main memory and disk…</a:t>
            </a:r>
            <a:endParaRPr b="1" i="1"/>
          </a:p>
        </p:txBody>
      </p:sp>
      <p:graphicFrame>
        <p:nvGraphicFramePr>
          <p:cNvPr id="732" name="Google Shape;732;p71"/>
          <p:cNvGraphicFramePr/>
          <p:nvPr/>
        </p:nvGraphicFramePr>
        <p:xfrm>
          <a:off x="8587408" y="102790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{7CC1D9A4-430E-470E-86A2-C6D426FD140B}</a:tableStyleId>
              </a:tblPr>
              <a:tblGrid>
                <a:gridCol w="1041225"/>
                <a:gridCol w="832100"/>
                <a:gridCol w="1360200"/>
              </a:tblGrid>
              <a:tr h="62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Local</a:t>
                      </a:r>
                      <a:endParaRPr/>
                    </a:p>
                  </a:txBody>
                  <a:tcPr marT="45725" marB="45725" marR="91450" marL="9145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Global</a:t>
                      </a:r>
                      <a:endParaRPr/>
                    </a:p>
                  </a:txBody>
                  <a:tcPr marT="45725" marB="45725" marR="91450" marL="9145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52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Main</a:t>
                      </a:r>
                      <a:r>
                        <a:rPr lang="en-US" sz="1800"/>
                        <a:t> Memory (RAM)</a:t>
                      </a:r>
                      <a:endParaRPr sz="1800"/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Disk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3" name="Google Shape;733;p71"/>
          <p:cNvSpPr txBox="1"/>
          <p:nvPr/>
        </p:nvSpPr>
        <p:spPr>
          <a:xfrm>
            <a:off x="8726368" y="4982207"/>
            <a:ext cx="3114261" cy="830997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“Flushing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disk” = writing to disk.</a:t>
            </a:r>
            <a:endParaRPr/>
          </a:p>
        </p:txBody>
      </p:sp>
      <p:sp>
        <p:nvSpPr>
          <p:cNvPr id="734" name="Google Shape;734;p71"/>
          <p:cNvSpPr txBox="1"/>
          <p:nvPr/>
        </p:nvSpPr>
        <p:spPr>
          <a:xfrm>
            <a:off x="9855053" y="1821376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35" name="Google Shape;735;p71"/>
          <p:cNvSpPr txBox="1"/>
          <p:nvPr/>
        </p:nvSpPr>
        <p:spPr>
          <a:xfrm>
            <a:off x="10731493" y="1821376"/>
            <a:ext cx="375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36" name="Google Shape;736;p71"/>
          <p:cNvSpPr txBox="1"/>
          <p:nvPr/>
        </p:nvSpPr>
        <p:spPr>
          <a:xfrm>
            <a:off x="10731493" y="2751234"/>
            <a:ext cx="5156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71"/>
          <p:cNvSpPr txBox="1"/>
          <p:nvPr/>
        </p:nvSpPr>
        <p:spPr>
          <a:xfrm>
            <a:off x="8842987" y="3899646"/>
            <a:ext cx="297795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is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main memory -&gt; disk</a:t>
            </a:r>
            <a:endParaRPr/>
          </a:p>
        </p:txBody>
      </p:sp>
      <p:grpSp>
        <p:nvGrpSpPr>
          <p:cNvPr id="738" name="Google Shape;738;p71"/>
          <p:cNvGrpSpPr/>
          <p:nvPr/>
        </p:nvGrpSpPr>
        <p:grpSpPr>
          <a:xfrm>
            <a:off x="11265127" y="1821376"/>
            <a:ext cx="466875" cy="1342917"/>
            <a:chOff x="11265127" y="1821376"/>
            <a:chExt cx="466875" cy="1342917"/>
          </a:xfrm>
        </p:grpSpPr>
        <p:sp>
          <p:nvSpPr>
            <p:cNvPr id="739" name="Google Shape;739;p71"/>
            <p:cNvSpPr txBox="1"/>
            <p:nvPr/>
          </p:nvSpPr>
          <p:spPr>
            <a:xfrm>
              <a:off x="11265127" y="1821376"/>
              <a:ext cx="46687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740" name="Google Shape;740;p71"/>
            <p:cNvSpPr/>
            <p:nvPr/>
          </p:nvSpPr>
          <p:spPr>
            <a:xfrm>
              <a:off x="11306289" y="2338175"/>
              <a:ext cx="298204" cy="826118"/>
            </a:xfrm>
            <a:prstGeom prst="down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D1D1D1"/>
                </a:gs>
                <a:gs pos="50000">
                  <a:srgbClr val="C7C7C7"/>
                </a:gs>
                <a:gs pos="100000">
                  <a:srgbClr val="C0C0C0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Interleave TXNs?</a:t>
            </a:r>
            <a:endParaRPr/>
          </a:p>
        </p:txBody>
      </p:sp>
      <p:sp>
        <p:nvSpPr>
          <p:cNvPr id="746" name="Google Shape;746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Interleaving TXNs might lead to anomalous outcomes… why do it?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Several important reasons:</a:t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Individual TXNs might be </a:t>
            </a:r>
            <a:r>
              <a:rPr i="1" lang="en-US" sz="2800"/>
              <a:t>slow</a:t>
            </a:r>
            <a:r>
              <a:rPr lang="en-US" sz="2800"/>
              <a:t>- don’t want to block other users during!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Disk access may be </a:t>
            </a:r>
            <a:r>
              <a:rPr i="1" lang="en-US" sz="2800"/>
              <a:t>slow-</a:t>
            </a:r>
            <a:r>
              <a:rPr lang="en-US" sz="2800"/>
              <a:t> let some TXNs use CPUs while others accessing disk!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747" name="Google Shape;747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8" name="Google Shape;748;p72"/>
          <p:cNvSpPr txBox="1"/>
          <p:nvPr/>
        </p:nvSpPr>
        <p:spPr>
          <a:xfrm>
            <a:off x="2308584" y="5884575"/>
            <a:ext cx="7574831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concern large differences in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Interleaving &amp; Isolation</a:t>
            </a:r>
            <a:endParaRPr/>
          </a:p>
        </p:txBody>
      </p:sp>
      <p:sp>
        <p:nvSpPr>
          <p:cNvPr id="754" name="Google Shape;754;p73"/>
          <p:cNvSpPr txBox="1"/>
          <p:nvPr>
            <p:ph idx="1" type="body"/>
          </p:nvPr>
        </p:nvSpPr>
        <p:spPr>
          <a:xfrm>
            <a:off x="838199" y="1825624"/>
            <a:ext cx="81732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DBMS has freedom to interleave TXNs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However, it must pick an interleaving or </a:t>
            </a:r>
            <a:r>
              <a:rPr b="1" lang="en-US"/>
              <a:t>schedule</a:t>
            </a:r>
            <a:r>
              <a:rPr lang="en-US"/>
              <a:t> such that isolation and consistency are maintained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Must be </a:t>
            </a:r>
            <a:r>
              <a:rPr i="1" lang="en-US"/>
              <a:t>as if</a:t>
            </a:r>
            <a:r>
              <a:rPr lang="en-US"/>
              <a:t> the TXNs had executed serially!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755" name="Google Shape;755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6" name="Google Shape;756;p73"/>
          <p:cNvSpPr txBox="1"/>
          <p:nvPr/>
        </p:nvSpPr>
        <p:spPr>
          <a:xfrm>
            <a:off x="2128327" y="5547223"/>
            <a:ext cx="7935346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 must pick a schedule which maintains isolation &amp; consistency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73"/>
          <p:cNvSpPr txBox="1"/>
          <p:nvPr/>
        </p:nvSpPr>
        <p:spPr>
          <a:xfrm>
            <a:off x="9206935" y="2223025"/>
            <a:ext cx="2583303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“With great power comes great responsibility”</a:t>
            </a:r>
            <a:endParaRPr/>
          </a:p>
        </p:txBody>
      </p:sp>
      <p:sp>
        <p:nvSpPr>
          <p:cNvPr id="758" name="Google Shape;758;p73"/>
          <p:cNvSpPr txBox="1"/>
          <p:nvPr/>
        </p:nvSpPr>
        <p:spPr>
          <a:xfrm>
            <a:off x="9982200" y="4069189"/>
            <a:ext cx="996107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4"/>
          <p:cNvSpPr txBox="1"/>
          <p:nvPr>
            <p:ph type="title"/>
          </p:nvPr>
        </p:nvSpPr>
        <p:spPr>
          <a:xfrm>
            <a:off x="838200" y="1017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Scheduling examples</a:t>
            </a:r>
            <a:endParaRPr/>
          </a:p>
        </p:txBody>
      </p:sp>
      <p:sp>
        <p:nvSpPr>
          <p:cNvPr id="764" name="Google Shape;764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65" name="Google Shape;765;p74"/>
          <p:cNvGrpSpPr/>
          <p:nvPr/>
        </p:nvGrpSpPr>
        <p:grpSpPr>
          <a:xfrm>
            <a:off x="838200" y="1983086"/>
            <a:ext cx="6410739" cy="1413919"/>
            <a:chOff x="543325" y="2666677"/>
            <a:chExt cx="10367750" cy="1745405"/>
          </a:xfrm>
        </p:grpSpPr>
        <p:cxnSp>
          <p:nvCxnSpPr>
            <p:cNvPr id="766" name="Google Shape;766;p74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67" name="Google Shape;767;p74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768" name="Google Shape;768;p74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769" name="Google Shape;769;p74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770" name="Google Shape;770;p74"/>
            <p:cNvSpPr txBox="1"/>
            <p:nvPr/>
          </p:nvSpPr>
          <p:spPr>
            <a:xfrm>
              <a:off x="4010082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771" name="Google Shape;771;p74"/>
            <p:cNvSpPr txBox="1"/>
            <p:nvPr/>
          </p:nvSpPr>
          <p:spPr>
            <a:xfrm>
              <a:off x="6201858" y="3550698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772" name="Google Shape;772;p74"/>
            <p:cNvSpPr txBox="1"/>
            <p:nvPr/>
          </p:nvSpPr>
          <p:spPr>
            <a:xfrm>
              <a:off x="8522448" y="3554575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grpSp>
        <p:nvGrpSpPr>
          <p:cNvPr id="773" name="Google Shape;773;p74"/>
          <p:cNvGrpSpPr/>
          <p:nvPr/>
        </p:nvGrpSpPr>
        <p:grpSpPr>
          <a:xfrm>
            <a:off x="838200" y="4441766"/>
            <a:ext cx="6410739" cy="1426800"/>
            <a:chOff x="543325" y="2650776"/>
            <a:chExt cx="10367750" cy="1761306"/>
          </a:xfrm>
        </p:grpSpPr>
        <p:cxnSp>
          <p:nvCxnSpPr>
            <p:cNvPr id="774" name="Google Shape;774;p74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75" name="Google Shape;775;p74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776" name="Google Shape;776;p74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777" name="Google Shape;777;p74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778" name="Google Shape;778;p74"/>
            <p:cNvSpPr txBox="1"/>
            <p:nvPr/>
          </p:nvSpPr>
          <p:spPr>
            <a:xfrm>
              <a:off x="6201858" y="2650776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779" name="Google Shape;779;p74"/>
            <p:cNvSpPr txBox="1"/>
            <p:nvPr/>
          </p:nvSpPr>
          <p:spPr>
            <a:xfrm>
              <a:off x="3894717" y="3533200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780" name="Google Shape;780;p74"/>
            <p:cNvSpPr txBox="1"/>
            <p:nvPr/>
          </p:nvSpPr>
          <p:spPr>
            <a:xfrm>
              <a:off x="8377444" y="3562011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graphicFrame>
        <p:nvGraphicFramePr>
          <p:cNvPr id="781" name="Google Shape;781;p74"/>
          <p:cNvGraphicFramePr/>
          <p:nvPr/>
        </p:nvGraphicFramePr>
        <p:xfrm>
          <a:off x="8079147" y="644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{B9972936-3704-4351-929F-B63D9B5B34DD}</a:tableStyleId>
              </a:tblPr>
              <a:tblGrid>
                <a:gridCol w="926700"/>
                <a:gridCol w="926700"/>
              </a:tblGrid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i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i="1" sz="1800"/>
                    </a:p>
                  </a:txBody>
                  <a:tcPr marT="45725" marB="45725" marR="91450" marL="91450"/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$50</a:t>
                      </a:r>
                      <a:endParaRPr i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$200</a:t>
                      </a:r>
                      <a:endParaRPr i="1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2" name="Google Shape;782;p74"/>
          <p:cNvGraphicFramePr/>
          <p:nvPr/>
        </p:nvGraphicFramePr>
        <p:xfrm>
          <a:off x="8079147" y="2651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{EC77BF77-FB9A-4DD0-B397-597096B6D1E7}</a:tableStyleId>
              </a:tblPr>
              <a:tblGrid>
                <a:gridCol w="926700"/>
                <a:gridCol w="926700"/>
              </a:tblGrid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$159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$106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3" name="Google Shape;783;p74"/>
          <p:cNvGraphicFramePr/>
          <p:nvPr/>
        </p:nvGraphicFramePr>
        <p:xfrm>
          <a:off x="8061966" y="5128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{EC77BF77-FB9A-4DD0-B397-597096B6D1E7}</a:tableStyleId>
              </a:tblPr>
              <a:tblGrid>
                <a:gridCol w="926700"/>
                <a:gridCol w="926700"/>
              </a:tblGrid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$159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$106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84" name="Google Shape;784;p74"/>
          <p:cNvSpPr txBox="1"/>
          <p:nvPr/>
        </p:nvSpPr>
        <p:spPr>
          <a:xfrm>
            <a:off x="6836849" y="607513"/>
            <a:ext cx="11661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Balance</a:t>
            </a:r>
            <a:endParaRPr/>
          </a:p>
        </p:txBody>
      </p:sp>
      <p:sp>
        <p:nvSpPr>
          <p:cNvPr id="785" name="Google Shape;785;p74"/>
          <p:cNvSpPr txBox="1"/>
          <p:nvPr/>
        </p:nvSpPr>
        <p:spPr>
          <a:xfrm>
            <a:off x="10512312" y="3854483"/>
            <a:ext cx="1011306" cy="83099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result!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74"/>
          <p:cNvSpPr txBox="1"/>
          <p:nvPr/>
        </p:nvSpPr>
        <p:spPr>
          <a:xfrm>
            <a:off x="838200" y="1316653"/>
            <a:ext cx="2741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 T</a:t>
            </a:r>
            <a:r>
              <a:rPr baseline="-2500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787" name="Google Shape;787;p74"/>
          <p:cNvSpPr txBox="1"/>
          <p:nvPr/>
        </p:nvSpPr>
        <p:spPr>
          <a:xfrm>
            <a:off x="838200" y="3764487"/>
            <a:ext cx="30523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 A: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5"/>
          <p:cNvSpPr txBox="1"/>
          <p:nvPr>
            <p:ph type="title"/>
          </p:nvPr>
        </p:nvSpPr>
        <p:spPr>
          <a:xfrm>
            <a:off x="838200" y="1017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Scheduling examples</a:t>
            </a:r>
            <a:endParaRPr/>
          </a:p>
        </p:txBody>
      </p:sp>
      <p:sp>
        <p:nvSpPr>
          <p:cNvPr id="793" name="Google Shape;793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94" name="Google Shape;794;p75"/>
          <p:cNvGrpSpPr/>
          <p:nvPr/>
        </p:nvGrpSpPr>
        <p:grpSpPr>
          <a:xfrm>
            <a:off x="838200" y="1983086"/>
            <a:ext cx="6410739" cy="1413919"/>
            <a:chOff x="543325" y="2666677"/>
            <a:chExt cx="10367750" cy="1745405"/>
          </a:xfrm>
        </p:grpSpPr>
        <p:cxnSp>
          <p:nvCxnSpPr>
            <p:cNvPr id="795" name="Google Shape;795;p75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96" name="Google Shape;796;p75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797" name="Google Shape;797;p75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798" name="Google Shape;798;p75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799" name="Google Shape;799;p75"/>
            <p:cNvSpPr txBox="1"/>
            <p:nvPr/>
          </p:nvSpPr>
          <p:spPr>
            <a:xfrm>
              <a:off x="4010082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800" name="Google Shape;800;p75"/>
            <p:cNvSpPr txBox="1"/>
            <p:nvPr/>
          </p:nvSpPr>
          <p:spPr>
            <a:xfrm>
              <a:off x="6201858" y="3550698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801" name="Google Shape;801;p75"/>
            <p:cNvSpPr txBox="1"/>
            <p:nvPr/>
          </p:nvSpPr>
          <p:spPr>
            <a:xfrm>
              <a:off x="8522448" y="3554575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grpSp>
        <p:nvGrpSpPr>
          <p:cNvPr id="802" name="Google Shape;802;p75"/>
          <p:cNvGrpSpPr/>
          <p:nvPr/>
        </p:nvGrpSpPr>
        <p:grpSpPr>
          <a:xfrm>
            <a:off x="838200" y="4448206"/>
            <a:ext cx="6410739" cy="1413919"/>
            <a:chOff x="543325" y="2666677"/>
            <a:chExt cx="10367750" cy="1745405"/>
          </a:xfrm>
        </p:grpSpPr>
        <p:cxnSp>
          <p:nvCxnSpPr>
            <p:cNvPr id="803" name="Google Shape;803;p75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04" name="Google Shape;804;p75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805" name="Google Shape;805;p75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806" name="Google Shape;806;p75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807" name="Google Shape;807;p75"/>
            <p:cNvSpPr txBox="1"/>
            <p:nvPr/>
          </p:nvSpPr>
          <p:spPr>
            <a:xfrm>
              <a:off x="8631331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808" name="Google Shape;808;p75"/>
            <p:cNvSpPr txBox="1"/>
            <p:nvPr/>
          </p:nvSpPr>
          <p:spPr>
            <a:xfrm>
              <a:off x="4010082" y="3585352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809" name="Google Shape;809;p75"/>
            <p:cNvSpPr txBox="1"/>
            <p:nvPr/>
          </p:nvSpPr>
          <p:spPr>
            <a:xfrm>
              <a:off x="6330672" y="3589229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graphicFrame>
        <p:nvGraphicFramePr>
          <p:cNvPr id="810" name="Google Shape;810;p75"/>
          <p:cNvGraphicFramePr/>
          <p:nvPr/>
        </p:nvGraphicFramePr>
        <p:xfrm>
          <a:off x="8079147" y="644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{B9972936-3704-4351-929F-B63D9B5B34DD}</a:tableStyleId>
              </a:tblPr>
              <a:tblGrid>
                <a:gridCol w="926700"/>
                <a:gridCol w="926700"/>
              </a:tblGrid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i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i="1" sz="1800"/>
                    </a:p>
                  </a:txBody>
                  <a:tcPr marT="45725" marB="45725" marR="91450" marL="91450"/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$50</a:t>
                      </a:r>
                      <a:endParaRPr i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$200</a:t>
                      </a:r>
                      <a:endParaRPr i="1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11" name="Google Shape;811;p75"/>
          <p:cNvGraphicFramePr/>
          <p:nvPr/>
        </p:nvGraphicFramePr>
        <p:xfrm>
          <a:off x="8079147" y="2651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{EC77BF77-FB9A-4DD0-B397-597096B6D1E7}</a:tableStyleId>
              </a:tblPr>
              <a:tblGrid>
                <a:gridCol w="926700"/>
                <a:gridCol w="926700"/>
              </a:tblGrid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$159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$106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12" name="Google Shape;812;p75"/>
          <p:cNvGraphicFramePr/>
          <p:nvPr/>
        </p:nvGraphicFramePr>
        <p:xfrm>
          <a:off x="8061966" y="5122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{EC77BF77-FB9A-4DD0-B397-597096B6D1E7}</a:tableStyleId>
              </a:tblPr>
              <a:tblGrid>
                <a:gridCol w="926700"/>
                <a:gridCol w="926700"/>
              </a:tblGrid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$159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$112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13" name="Google Shape;813;p75"/>
          <p:cNvSpPr txBox="1"/>
          <p:nvPr/>
        </p:nvSpPr>
        <p:spPr>
          <a:xfrm>
            <a:off x="6836849" y="607513"/>
            <a:ext cx="11661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Balance</a:t>
            </a:r>
            <a:endParaRPr/>
          </a:p>
        </p:txBody>
      </p:sp>
      <p:sp>
        <p:nvSpPr>
          <p:cNvPr id="814" name="Google Shape;814;p75"/>
          <p:cNvSpPr txBox="1"/>
          <p:nvPr/>
        </p:nvSpPr>
        <p:spPr>
          <a:xfrm>
            <a:off x="10366007" y="3521701"/>
            <a:ext cx="1519013" cy="1569660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result than serial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815" name="Google Shape;815;p75"/>
          <p:cNvSpPr/>
          <p:nvPr/>
        </p:nvSpPr>
        <p:spPr>
          <a:xfrm>
            <a:off x="8922044" y="5414534"/>
            <a:ext cx="766777" cy="597702"/>
          </a:xfrm>
          <a:prstGeom prst="ellipse">
            <a:avLst/>
          </a:prstGeom>
          <a:solidFill>
            <a:srgbClr val="FF0000">
              <a:alpha val="14901"/>
            </a:srgbClr>
          </a:solidFill>
          <a:ln cap="flat" cmpd="sng" w="444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75"/>
          <p:cNvSpPr txBox="1"/>
          <p:nvPr/>
        </p:nvSpPr>
        <p:spPr>
          <a:xfrm>
            <a:off x="838200" y="1316653"/>
            <a:ext cx="2741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 T</a:t>
            </a:r>
            <a:r>
              <a:rPr baseline="-2500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817" name="Google Shape;817;p75"/>
          <p:cNvSpPr txBox="1"/>
          <p:nvPr/>
        </p:nvSpPr>
        <p:spPr>
          <a:xfrm>
            <a:off x="838200" y="3764487"/>
            <a:ext cx="30523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 B: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6"/>
          <p:cNvSpPr txBox="1"/>
          <p:nvPr>
            <p:ph type="title"/>
          </p:nvPr>
        </p:nvSpPr>
        <p:spPr>
          <a:xfrm>
            <a:off x="838200" y="1017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Scheduling examples</a:t>
            </a:r>
            <a:endParaRPr/>
          </a:p>
        </p:txBody>
      </p:sp>
      <p:sp>
        <p:nvSpPr>
          <p:cNvPr id="823" name="Google Shape;823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24" name="Google Shape;824;p76"/>
          <p:cNvGrpSpPr/>
          <p:nvPr/>
        </p:nvGrpSpPr>
        <p:grpSpPr>
          <a:xfrm>
            <a:off x="838200" y="1983086"/>
            <a:ext cx="6410739" cy="1413919"/>
            <a:chOff x="543325" y="2666677"/>
            <a:chExt cx="10367750" cy="1745405"/>
          </a:xfrm>
        </p:grpSpPr>
        <p:cxnSp>
          <p:nvCxnSpPr>
            <p:cNvPr id="825" name="Google Shape;825;p76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26" name="Google Shape;826;p76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827" name="Google Shape;827;p76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828" name="Google Shape;828;p76"/>
            <p:cNvSpPr txBox="1"/>
            <p:nvPr/>
          </p:nvSpPr>
          <p:spPr>
            <a:xfrm>
              <a:off x="6330672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829" name="Google Shape;829;p76"/>
            <p:cNvSpPr txBox="1"/>
            <p:nvPr/>
          </p:nvSpPr>
          <p:spPr>
            <a:xfrm>
              <a:off x="8585000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830" name="Google Shape;830;p76"/>
            <p:cNvSpPr txBox="1"/>
            <p:nvPr/>
          </p:nvSpPr>
          <p:spPr>
            <a:xfrm>
              <a:off x="1633909" y="3555519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831" name="Google Shape;831;p76"/>
            <p:cNvSpPr txBox="1"/>
            <p:nvPr/>
          </p:nvSpPr>
          <p:spPr>
            <a:xfrm>
              <a:off x="3954499" y="3559397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grpSp>
        <p:nvGrpSpPr>
          <p:cNvPr id="832" name="Google Shape;832;p76"/>
          <p:cNvGrpSpPr/>
          <p:nvPr/>
        </p:nvGrpSpPr>
        <p:grpSpPr>
          <a:xfrm>
            <a:off x="838200" y="4448206"/>
            <a:ext cx="6410739" cy="1413919"/>
            <a:chOff x="543325" y="2666677"/>
            <a:chExt cx="10367750" cy="1745405"/>
          </a:xfrm>
        </p:grpSpPr>
        <p:cxnSp>
          <p:nvCxnSpPr>
            <p:cNvPr id="833" name="Google Shape;833;p76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34" name="Google Shape;834;p76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835" name="Google Shape;835;p76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836" name="Google Shape;836;p76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837" name="Google Shape;837;p76"/>
            <p:cNvSpPr txBox="1"/>
            <p:nvPr/>
          </p:nvSpPr>
          <p:spPr>
            <a:xfrm>
              <a:off x="8631331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838" name="Google Shape;838;p76"/>
            <p:cNvSpPr txBox="1"/>
            <p:nvPr/>
          </p:nvSpPr>
          <p:spPr>
            <a:xfrm>
              <a:off x="4010082" y="3585352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839" name="Google Shape;839;p76"/>
            <p:cNvSpPr txBox="1"/>
            <p:nvPr/>
          </p:nvSpPr>
          <p:spPr>
            <a:xfrm>
              <a:off x="6330672" y="3589229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graphicFrame>
        <p:nvGraphicFramePr>
          <p:cNvPr id="840" name="Google Shape;840;p76"/>
          <p:cNvGraphicFramePr/>
          <p:nvPr/>
        </p:nvGraphicFramePr>
        <p:xfrm>
          <a:off x="8079147" y="644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{B9972936-3704-4351-929F-B63D9B5B34DD}</a:tableStyleId>
              </a:tblPr>
              <a:tblGrid>
                <a:gridCol w="926700"/>
                <a:gridCol w="926700"/>
              </a:tblGrid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i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i="1" sz="1800"/>
                    </a:p>
                  </a:txBody>
                  <a:tcPr marT="45725" marB="45725" marR="91450" marL="91450"/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$50</a:t>
                      </a:r>
                      <a:endParaRPr i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$200</a:t>
                      </a:r>
                      <a:endParaRPr i="1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41" name="Google Shape;841;p76"/>
          <p:cNvGraphicFramePr/>
          <p:nvPr/>
        </p:nvGraphicFramePr>
        <p:xfrm>
          <a:off x="8079147" y="2651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{EC77BF77-FB9A-4DD0-B397-597096B6D1E7}</a:tableStyleId>
              </a:tblPr>
              <a:tblGrid>
                <a:gridCol w="926700"/>
                <a:gridCol w="926700"/>
              </a:tblGrid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$153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$112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42" name="Google Shape;842;p76"/>
          <p:cNvGraphicFramePr/>
          <p:nvPr/>
        </p:nvGraphicFramePr>
        <p:xfrm>
          <a:off x="8061966" y="5122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{EC77BF77-FB9A-4DD0-B397-597096B6D1E7}</a:tableStyleId>
              </a:tblPr>
              <a:tblGrid>
                <a:gridCol w="926700"/>
                <a:gridCol w="926700"/>
              </a:tblGrid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$159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$112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43" name="Google Shape;843;p76"/>
          <p:cNvSpPr txBox="1"/>
          <p:nvPr/>
        </p:nvSpPr>
        <p:spPr>
          <a:xfrm>
            <a:off x="6836849" y="607513"/>
            <a:ext cx="11661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Balance</a:t>
            </a:r>
            <a:endParaRPr/>
          </a:p>
        </p:txBody>
      </p:sp>
      <p:sp>
        <p:nvSpPr>
          <p:cNvPr id="844" name="Google Shape;844;p76"/>
          <p:cNvSpPr txBox="1"/>
          <p:nvPr/>
        </p:nvSpPr>
        <p:spPr>
          <a:xfrm>
            <a:off x="10379070" y="3275805"/>
            <a:ext cx="1519013" cy="1569660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result than serial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ALSO!</a:t>
            </a:r>
            <a:endParaRPr/>
          </a:p>
        </p:txBody>
      </p:sp>
      <p:sp>
        <p:nvSpPr>
          <p:cNvPr id="845" name="Google Shape;845;p76"/>
          <p:cNvSpPr/>
          <p:nvPr/>
        </p:nvSpPr>
        <p:spPr>
          <a:xfrm>
            <a:off x="8019562" y="5404332"/>
            <a:ext cx="766777" cy="597702"/>
          </a:xfrm>
          <a:prstGeom prst="ellipse">
            <a:avLst/>
          </a:prstGeom>
          <a:solidFill>
            <a:srgbClr val="FF0000">
              <a:alpha val="14901"/>
            </a:srgbClr>
          </a:solidFill>
          <a:ln cap="flat" cmpd="sng" w="444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76"/>
          <p:cNvSpPr txBox="1"/>
          <p:nvPr/>
        </p:nvSpPr>
        <p:spPr>
          <a:xfrm>
            <a:off x="838200" y="1316653"/>
            <a:ext cx="2741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="1" baseline="-25000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847" name="Google Shape;847;p76"/>
          <p:cNvSpPr txBox="1"/>
          <p:nvPr/>
        </p:nvSpPr>
        <p:spPr>
          <a:xfrm>
            <a:off x="838200" y="3764487"/>
            <a:ext cx="30523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 B: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7"/>
          <p:cNvSpPr txBox="1"/>
          <p:nvPr>
            <p:ph type="title"/>
          </p:nvPr>
        </p:nvSpPr>
        <p:spPr>
          <a:xfrm>
            <a:off x="838200" y="1017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Scheduling examples</a:t>
            </a:r>
            <a:endParaRPr/>
          </a:p>
        </p:txBody>
      </p:sp>
      <p:sp>
        <p:nvSpPr>
          <p:cNvPr id="853" name="Google Shape;853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4" name="Google Shape;854;p77"/>
          <p:cNvGrpSpPr/>
          <p:nvPr/>
        </p:nvGrpSpPr>
        <p:grpSpPr>
          <a:xfrm>
            <a:off x="2536371" y="2492355"/>
            <a:ext cx="6410739" cy="1413919"/>
            <a:chOff x="543325" y="2666677"/>
            <a:chExt cx="10367750" cy="1745405"/>
          </a:xfrm>
        </p:grpSpPr>
        <p:cxnSp>
          <p:nvCxnSpPr>
            <p:cNvPr id="855" name="Google Shape;855;p77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56" name="Google Shape;856;p77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857" name="Google Shape;857;p77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858" name="Google Shape;858;p77"/>
            <p:cNvSpPr txBox="1"/>
            <p:nvPr/>
          </p:nvSpPr>
          <p:spPr>
            <a:xfrm>
              <a:off x="1755754" y="2666678"/>
              <a:ext cx="2053741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859" name="Google Shape;859;p77"/>
            <p:cNvSpPr txBox="1"/>
            <p:nvPr/>
          </p:nvSpPr>
          <p:spPr>
            <a:xfrm>
              <a:off x="8631331" y="2666677"/>
              <a:ext cx="1944858" cy="56990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860" name="Google Shape;860;p77"/>
            <p:cNvSpPr txBox="1"/>
            <p:nvPr/>
          </p:nvSpPr>
          <p:spPr>
            <a:xfrm>
              <a:off x="4010082" y="3585352"/>
              <a:ext cx="2175586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861" name="Google Shape;861;p77"/>
            <p:cNvSpPr txBox="1"/>
            <p:nvPr/>
          </p:nvSpPr>
          <p:spPr>
            <a:xfrm>
              <a:off x="6330672" y="3589229"/>
              <a:ext cx="2162625" cy="56990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sp>
        <p:nvSpPr>
          <p:cNvPr id="862" name="Google Shape;862;p77"/>
          <p:cNvSpPr txBox="1"/>
          <p:nvPr/>
        </p:nvSpPr>
        <p:spPr>
          <a:xfrm>
            <a:off x="2771976" y="4626661"/>
            <a:ext cx="6648047" cy="156966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schedule is different than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serial order!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We say that it is 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serializable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77"/>
          <p:cNvSpPr txBox="1"/>
          <p:nvPr/>
        </p:nvSpPr>
        <p:spPr>
          <a:xfrm>
            <a:off x="2536371" y="1808636"/>
            <a:ext cx="30523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 B: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Scheduling Definitions</a:t>
            </a:r>
            <a:endParaRPr/>
          </a:p>
        </p:txBody>
      </p:sp>
      <p:sp>
        <p:nvSpPr>
          <p:cNvPr id="869" name="Google Shape;869;p78"/>
          <p:cNvSpPr txBox="1"/>
          <p:nvPr>
            <p:ph idx="1" type="body"/>
          </p:nvPr>
        </p:nvSpPr>
        <p:spPr>
          <a:xfrm>
            <a:off x="838200" y="1676400"/>
            <a:ext cx="10515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b="1" lang="en-US" u="sng"/>
              <a:t>serial schedule</a:t>
            </a:r>
            <a:r>
              <a:rPr lang="en-US"/>
              <a:t> is one that does not interleave the actions of different transactions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 u="sng">
              <a:solidFill>
                <a:schemeClr val="accent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and B are </a:t>
            </a:r>
            <a:r>
              <a:rPr b="1" lang="en-US" u="sng"/>
              <a:t>equivalent schedules</a:t>
            </a:r>
            <a:r>
              <a:rPr lang="en-US"/>
              <a:t> if,</a:t>
            </a:r>
            <a:r>
              <a:rPr i="1" lang="en-US"/>
              <a:t> </a:t>
            </a:r>
            <a:r>
              <a:rPr b="1" i="1" lang="en-US"/>
              <a:t>for any database state</a:t>
            </a:r>
            <a:r>
              <a:rPr lang="en-US"/>
              <a:t>, the effect on DB of executing A </a:t>
            </a:r>
            <a:r>
              <a:rPr b="1" lang="en-US"/>
              <a:t>is identical to </a:t>
            </a:r>
            <a:r>
              <a:rPr lang="en-US"/>
              <a:t>the effect of executing B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 u="sng">
              <a:solidFill>
                <a:schemeClr val="accent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A </a:t>
            </a:r>
            <a:r>
              <a:rPr b="1" lang="en-US" u="sng"/>
              <a:t>serializable schedule</a:t>
            </a:r>
            <a:r>
              <a:rPr lang="en-US"/>
              <a:t> is a schedule that is equivalent to </a:t>
            </a:r>
            <a:r>
              <a:rPr b="1" i="1" lang="en-US"/>
              <a:t>some</a:t>
            </a:r>
            <a:r>
              <a:rPr lang="en-US"/>
              <a:t> serial execution of the transactions.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70" name="Google Shape;870;p78"/>
          <p:cNvSpPr txBox="1"/>
          <p:nvPr/>
        </p:nvSpPr>
        <p:spPr>
          <a:xfrm>
            <a:off x="7073349" y="5204479"/>
            <a:ext cx="4280451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word “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some”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makes this definition powerful &amp; tricky!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9"/>
          <p:cNvSpPr txBox="1"/>
          <p:nvPr>
            <p:ph type="title"/>
          </p:nvPr>
        </p:nvSpPr>
        <p:spPr>
          <a:xfrm>
            <a:off x="838200" y="1017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Serializable?</a:t>
            </a:r>
            <a:endParaRPr/>
          </a:p>
        </p:txBody>
      </p:sp>
      <p:sp>
        <p:nvSpPr>
          <p:cNvPr id="876" name="Google Shape;876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77" name="Google Shape;877;p79"/>
          <p:cNvGrpSpPr/>
          <p:nvPr/>
        </p:nvGrpSpPr>
        <p:grpSpPr>
          <a:xfrm>
            <a:off x="301131" y="2988132"/>
            <a:ext cx="7159843" cy="1707737"/>
            <a:chOff x="543325" y="2639978"/>
            <a:chExt cx="10367750" cy="1772104"/>
          </a:xfrm>
        </p:grpSpPr>
        <p:cxnSp>
          <p:nvCxnSpPr>
            <p:cNvPr id="878" name="Google Shape;878;p79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79" name="Google Shape;879;p79"/>
            <p:cNvSpPr txBox="1"/>
            <p:nvPr/>
          </p:nvSpPr>
          <p:spPr>
            <a:xfrm>
              <a:off x="543325" y="2697456"/>
              <a:ext cx="694507" cy="5429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880" name="Google Shape;880;p79"/>
            <p:cNvSpPr txBox="1"/>
            <p:nvPr/>
          </p:nvSpPr>
          <p:spPr>
            <a:xfrm>
              <a:off x="543325" y="3585352"/>
              <a:ext cx="694507" cy="5429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881" name="Google Shape;881;p79"/>
            <p:cNvSpPr txBox="1"/>
            <p:nvPr/>
          </p:nvSpPr>
          <p:spPr>
            <a:xfrm>
              <a:off x="1755754" y="2639978"/>
              <a:ext cx="2110448" cy="54294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882" name="Google Shape;882;p79"/>
            <p:cNvSpPr txBox="1"/>
            <p:nvPr/>
          </p:nvSpPr>
          <p:spPr>
            <a:xfrm>
              <a:off x="6286442" y="2650774"/>
              <a:ext cx="1996710" cy="54294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883" name="Google Shape;883;p79"/>
            <p:cNvSpPr txBox="1"/>
            <p:nvPr/>
          </p:nvSpPr>
          <p:spPr>
            <a:xfrm>
              <a:off x="4001974" y="3550697"/>
              <a:ext cx="2238116" cy="542941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884" name="Google Shape;884;p79"/>
            <p:cNvSpPr txBox="1"/>
            <p:nvPr/>
          </p:nvSpPr>
          <p:spPr>
            <a:xfrm>
              <a:off x="8481159" y="3557633"/>
              <a:ext cx="2224189" cy="542941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sp>
        <p:nvSpPr>
          <p:cNvPr id="885" name="Google Shape;885;p79"/>
          <p:cNvSpPr txBox="1"/>
          <p:nvPr/>
        </p:nvSpPr>
        <p:spPr>
          <a:xfrm>
            <a:off x="8404227" y="4906677"/>
            <a:ext cx="3368673" cy="1200329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as a serial schedule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 possible values of A, B =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serializable</a:t>
            </a:r>
            <a:endParaRPr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79"/>
          <p:cNvSpPr txBox="1"/>
          <p:nvPr/>
        </p:nvSpPr>
        <p:spPr>
          <a:xfrm>
            <a:off x="7809586" y="1196509"/>
            <a:ext cx="22605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schedules:</a:t>
            </a:r>
            <a:endParaRPr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87" name="Google Shape;887;p79"/>
          <p:cNvGraphicFramePr/>
          <p:nvPr/>
        </p:nvGraphicFramePr>
        <p:xfrm>
          <a:off x="7809586" y="17644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{87E2AC58-C064-4FC4-BA56-96CAA42FEB00}</a:tableStyleId>
              </a:tblPr>
              <a:tblGrid>
                <a:gridCol w="872575"/>
                <a:gridCol w="1499925"/>
                <a:gridCol w="1590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r>
                        <a:rPr baseline="-25000" lang="en-US" sz="1800"/>
                        <a:t>1</a:t>
                      </a:r>
                      <a:r>
                        <a:rPr lang="en-US" sz="1800"/>
                        <a:t>,</a:t>
                      </a:r>
                      <a:r>
                        <a:rPr lang="en-US" sz="1800"/>
                        <a:t>T</a:t>
                      </a:r>
                      <a:r>
                        <a:rPr baseline="-25000" lang="en-US" sz="1800"/>
                        <a:t>2</a:t>
                      </a:r>
                      <a:endParaRPr baseline="-2500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1.06*(A+100)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1.06*(B-100)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r>
                        <a:rPr baseline="-25000" lang="en-US" sz="1800"/>
                        <a:t>2</a:t>
                      </a:r>
                      <a:r>
                        <a:rPr lang="en-US" sz="1800"/>
                        <a:t>,</a:t>
                      </a:r>
                      <a:r>
                        <a:rPr lang="en-US" sz="1800"/>
                        <a:t>T</a:t>
                      </a:r>
                      <a:r>
                        <a:rPr baseline="-25000" lang="en-US" sz="1800"/>
                        <a:t>1</a:t>
                      </a:r>
                      <a:endParaRPr baseline="-2500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1.06*A + 100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1.06*B - 100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88" name="Google Shape;888;p79"/>
          <p:cNvGraphicFramePr/>
          <p:nvPr/>
        </p:nvGraphicFramePr>
        <p:xfrm>
          <a:off x="8682167" y="35667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{87E2AC58-C064-4FC4-BA56-96CAA42FEB00}</a:tableStyleId>
              </a:tblPr>
              <a:tblGrid>
                <a:gridCol w="1499925"/>
                <a:gridCol w="1590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1.06*(A+100)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1.06*(B-100)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9" name="Google Shape;889;p79"/>
          <p:cNvSpPr/>
          <p:nvPr/>
        </p:nvSpPr>
        <p:spPr>
          <a:xfrm>
            <a:off x="7700729" y="2108711"/>
            <a:ext cx="4174435" cy="424070"/>
          </a:xfrm>
          <a:prstGeom prst="roundRect">
            <a:avLst>
              <a:gd fmla="val 16667" name="adj"/>
            </a:avLst>
          </a:prstGeom>
          <a:solidFill>
            <a:srgbClr val="E1EFD8">
              <a:alpha val="55686"/>
            </a:srgbClr>
          </a:solidFill>
          <a:ln cap="flat" cmpd="sng" w="254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79"/>
          <p:cNvSpPr/>
          <p:nvPr/>
        </p:nvSpPr>
        <p:spPr>
          <a:xfrm>
            <a:off x="8584096" y="3899168"/>
            <a:ext cx="3267860" cy="424070"/>
          </a:xfrm>
          <a:prstGeom prst="roundRect">
            <a:avLst>
              <a:gd fmla="val 16667" name="adj"/>
            </a:avLst>
          </a:prstGeom>
          <a:solidFill>
            <a:srgbClr val="E1EFD8">
              <a:alpha val="55686"/>
            </a:srgbClr>
          </a:solidFill>
          <a:ln cap="flat" cmpd="sng" w="254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0"/>
          <p:cNvSpPr txBox="1"/>
          <p:nvPr>
            <p:ph type="title"/>
          </p:nvPr>
        </p:nvSpPr>
        <p:spPr>
          <a:xfrm>
            <a:off x="838200" y="1017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Serializable?</a:t>
            </a:r>
            <a:endParaRPr/>
          </a:p>
        </p:txBody>
      </p:sp>
      <p:sp>
        <p:nvSpPr>
          <p:cNvPr id="896" name="Google Shape;896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97" name="Google Shape;897;p80"/>
          <p:cNvGrpSpPr/>
          <p:nvPr/>
        </p:nvGrpSpPr>
        <p:grpSpPr>
          <a:xfrm>
            <a:off x="301131" y="2988132"/>
            <a:ext cx="7159843" cy="1707737"/>
            <a:chOff x="543325" y="2639978"/>
            <a:chExt cx="10367750" cy="1772104"/>
          </a:xfrm>
        </p:grpSpPr>
        <p:cxnSp>
          <p:nvCxnSpPr>
            <p:cNvPr id="898" name="Google Shape;898;p80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99" name="Google Shape;899;p80"/>
            <p:cNvSpPr txBox="1"/>
            <p:nvPr/>
          </p:nvSpPr>
          <p:spPr>
            <a:xfrm>
              <a:off x="543325" y="2697456"/>
              <a:ext cx="694507" cy="5429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900" name="Google Shape;900;p80"/>
            <p:cNvSpPr txBox="1"/>
            <p:nvPr/>
          </p:nvSpPr>
          <p:spPr>
            <a:xfrm>
              <a:off x="543325" y="3585352"/>
              <a:ext cx="694507" cy="5429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901" name="Google Shape;901;p80"/>
            <p:cNvSpPr txBox="1"/>
            <p:nvPr/>
          </p:nvSpPr>
          <p:spPr>
            <a:xfrm>
              <a:off x="1755754" y="2639978"/>
              <a:ext cx="2110448" cy="54294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902" name="Google Shape;902;p80"/>
            <p:cNvSpPr txBox="1"/>
            <p:nvPr/>
          </p:nvSpPr>
          <p:spPr>
            <a:xfrm>
              <a:off x="8704809" y="2639978"/>
              <a:ext cx="1996710" cy="54294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903" name="Google Shape;903;p80"/>
            <p:cNvSpPr txBox="1"/>
            <p:nvPr/>
          </p:nvSpPr>
          <p:spPr>
            <a:xfrm>
              <a:off x="4001974" y="3550697"/>
              <a:ext cx="2238116" cy="542941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904" name="Google Shape;904;p80"/>
            <p:cNvSpPr txBox="1"/>
            <p:nvPr/>
          </p:nvSpPr>
          <p:spPr>
            <a:xfrm>
              <a:off x="6423050" y="3550697"/>
              <a:ext cx="2224189" cy="542941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sp>
        <p:nvSpPr>
          <p:cNvPr id="905" name="Google Shape;905;p80"/>
          <p:cNvSpPr txBox="1"/>
          <p:nvPr/>
        </p:nvSpPr>
        <p:spPr>
          <a:xfrm>
            <a:off x="8404227" y="4906677"/>
            <a:ext cx="3368673" cy="1200329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any serializable schedule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not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serializable</a:t>
            </a:r>
            <a:endParaRPr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80"/>
          <p:cNvSpPr txBox="1"/>
          <p:nvPr/>
        </p:nvSpPr>
        <p:spPr>
          <a:xfrm>
            <a:off x="7809586" y="1196509"/>
            <a:ext cx="22605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schedules:</a:t>
            </a:r>
            <a:endParaRPr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7" name="Google Shape;907;p80"/>
          <p:cNvGraphicFramePr/>
          <p:nvPr/>
        </p:nvGraphicFramePr>
        <p:xfrm>
          <a:off x="7809586" y="17644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{87E2AC58-C064-4FC4-BA56-96CAA42FEB00}</a:tableStyleId>
              </a:tblPr>
              <a:tblGrid>
                <a:gridCol w="872575"/>
                <a:gridCol w="1499925"/>
                <a:gridCol w="1590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r>
                        <a:rPr baseline="-25000" lang="en-US" sz="1800"/>
                        <a:t>1</a:t>
                      </a:r>
                      <a:r>
                        <a:rPr lang="en-US" sz="1800"/>
                        <a:t>,</a:t>
                      </a:r>
                      <a:r>
                        <a:rPr lang="en-US" sz="1800"/>
                        <a:t>T</a:t>
                      </a:r>
                      <a:r>
                        <a:rPr baseline="-25000" lang="en-US" sz="1800"/>
                        <a:t>2</a:t>
                      </a:r>
                      <a:endParaRPr baseline="-2500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1.06*(A+100)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1.06*(B-100)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r>
                        <a:rPr baseline="-25000" lang="en-US" sz="1800"/>
                        <a:t>2</a:t>
                      </a:r>
                      <a:r>
                        <a:rPr lang="en-US" sz="1800"/>
                        <a:t>,</a:t>
                      </a:r>
                      <a:r>
                        <a:rPr lang="en-US" sz="1800"/>
                        <a:t>T</a:t>
                      </a:r>
                      <a:r>
                        <a:rPr baseline="-25000" lang="en-US" sz="1800"/>
                        <a:t>1</a:t>
                      </a:r>
                      <a:endParaRPr baseline="-2500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1.06*A + 100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1.06*B - 100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08" name="Google Shape;908;p80"/>
          <p:cNvGraphicFramePr/>
          <p:nvPr/>
        </p:nvGraphicFramePr>
        <p:xfrm>
          <a:off x="8682167" y="35667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{87E2AC58-C064-4FC4-BA56-96CAA42FEB00}</a:tableStyleId>
              </a:tblPr>
              <a:tblGrid>
                <a:gridCol w="1499925"/>
                <a:gridCol w="1590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1.06*(A+100)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1.06*B - 100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else can go wrong with interleaving?</a:t>
            </a:r>
            <a:endParaRPr/>
          </a:p>
        </p:txBody>
      </p:sp>
      <p:sp>
        <p:nvSpPr>
          <p:cNvPr id="914" name="Google Shape;914;p8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Various anomalies which break isolation / serializability</a:t>
            </a:r>
            <a:endParaRPr sz="3200"/>
          </a:p>
          <a:p>
            <a:pPr indent="-25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Often referred to by name…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Occur because of / with certain “conflicts” between interleaved TXNs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</p:txBody>
      </p:sp>
      <p:sp>
        <p:nvSpPr>
          <p:cNvPr id="915" name="Google Shape;915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82"/>
          <p:cNvSpPr txBox="1"/>
          <p:nvPr>
            <p:ph type="title"/>
          </p:nvPr>
        </p:nvSpPr>
        <p:spPr>
          <a:xfrm>
            <a:off x="838200" y="1017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DBMS’s view of the schedule</a:t>
            </a:r>
            <a:endParaRPr/>
          </a:p>
        </p:txBody>
      </p:sp>
      <p:sp>
        <p:nvSpPr>
          <p:cNvPr id="921" name="Google Shape;921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22" name="Google Shape;922;p82"/>
          <p:cNvGrpSpPr/>
          <p:nvPr/>
        </p:nvGrpSpPr>
        <p:grpSpPr>
          <a:xfrm>
            <a:off x="838200" y="1529121"/>
            <a:ext cx="4727713" cy="1379065"/>
            <a:chOff x="543325" y="2666677"/>
            <a:chExt cx="10367750" cy="1745405"/>
          </a:xfrm>
        </p:grpSpPr>
        <p:cxnSp>
          <p:nvCxnSpPr>
            <p:cNvPr id="923" name="Google Shape;923;p82"/>
            <p:cNvCxnSpPr/>
            <p:nvPr/>
          </p:nvCxnSpPr>
          <p:spPr>
            <a:xfrm>
              <a:off x="1192697" y="4399722"/>
              <a:ext cx="9718378" cy="1236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24" name="Google Shape;924;p82"/>
            <p:cNvSpPr txBox="1"/>
            <p:nvPr/>
          </p:nvSpPr>
          <p:spPr>
            <a:xfrm>
              <a:off x="543325" y="2697456"/>
              <a:ext cx="48122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925" name="Google Shape;925;p82"/>
            <p:cNvSpPr txBox="1"/>
            <p:nvPr/>
          </p:nvSpPr>
          <p:spPr>
            <a:xfrm>
              <a:off x="543325" y="3585352"/>
              <a:ext cx="4796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926" name="Google Shape;926;p82"/>
            <p:cNvSpPr txBox="1"/>
            <p:nvPr/>
          </p:nvSpPr>
          <p:spPr>
            <a:xfrm>
              <a:off x="1755754" y="2666678"/>
              <a:ext cx="2197792" cy="467443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+= 100</a:t>
              </a:r>
              <a:endParaRPr/>
            </a:p>
          </p:txBody>
        </p:sp>
        <p:sp>
          <p:nvSpPr>
            <p:cNvPr id="927" name="Google Shape;927;p82"/>
            <p:cNvSpPr txBox="1"/>
            <p:nvPr/>
          </p:nvSpPr>
          <p:spPr>
            <a:xfrm>
              <a:off x="8631332" y="2666677"/>
              <a:ext cx="2085301" cy="467443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-= 100</a:t>
              </a:r>
              <a:endParaRPr/>
            </a:p>
          </p:txBody>
        </p:sp>
        <p:sp>
          <p:nvSpPr>
            <p:cNvPr id="928" name="Google Shape;928;p82"/>
            <p:cNvSpPr txBox="1"/>
            <p:nvPr/>
          </p:nvSpPr>
          <p:spPr>
            <a:xfrm>
              <a:off x="4010083" y="3585352"/>
              <a:ext cx="2320831" cy="467443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*= 1.06</a:t>
              </a:r>
              <a:endParaRPr/>
            </a:p>
          </p:txBody>
        </p:sp>
        <p:sp>
          <p:nvSpPr>
            <p:cNvPr id="929" name="Google Shape;929;p82"/>
            <p:cNvSpPr txBox="1"/>
            <p:nvPr/>
          </p:nvSpPr>
          <p:spPr>
            <a:xfrm>
              <a:off x="6330672" y="3589229"/>
              <a:ext cx="2306769" cy="467443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*= 1.06</a:t>
              </a:r>
              <a:endParaRPr/>
            </a:p>
          </p:txBody>
        </p:sp>
      </p:grpSp>
      <p:cxnSp>
        <p:nvCxnSpPr>
          <p:cNvPr id="930" name="Google Shape;930;p82"/>
          <p:cNvCxnSpPr/>
          <p:nvPr/>
        </p:nvCxnSpPr>
        <p:spPr>
          <a:xfrm>
            <a:off x="1467074" y="5793391"/>
            <a:ext cx="8133396" cy="14681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1" name="Google Shape;931;p82"/>
          <p:cNvSpPr txBox="1"/>
          <p:nvPr/>
        </p:nvSpPr>
        <p:spPr>
          <a:xfrm>
            <a:off x="874643" y="4202857"/>
            <a:ext cx="402739" cy="621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32" name="Google Shape;932;p82"/>
          <p:cNvSpPr txBox="1"/>
          <p:nvPr/>
        </p:nvSpPr>
        <p:spPr>
          <a:xfrm>
            <a:off x="874643" y="5016222"/>
            <a:ext cx="401397" cy="621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33" name="Google Shape;933;p82"/>
          <p:cNvSpPr txBox="1"/>
          <p:nvPr/>
        </p:nvSpPr>
        <p:spPr>
          <a:xfrm>
            <a:off x="1467074" y="4251972"/>
            <a:ext cx="792205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82"/>
          <p:cNvSpPr txBox="1"/>
          <p:nvPr/>
        </p:nvSpPr>
        <p:spPr>
          <a:xfrm>
            <a:off x="3366210" y="5020827"/>
            <a:ext cx="792205" cy="52322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82"/>
          <p:cNvSpPr txBox="1"/>
          <p:nvPr/>
        </p:nvSpPr>
        <p:spPr>
          <a:xfrm>
            <a:off x="2448971" y="4253623"/>
            <a:ext cx="917239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936" name="Google Shape;936;p82"/>
          <p:cNvSpPr txBox="1"/>
          <p:nvPr/>
        </p:nvSpPr>
        <p:spPr>
          <a:xfrm>
            <a:off x="4287570" y="5020827"/>
            <a:ext cx="917239" cy="52322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937" name="Google Shape;937;p82"/>
          <p:cNvSpPr txBox="1"/>
          <p:nvPr/>
        </p:nvSpPr>
        <p:spPr>
          <a:xfrm>
            <a:off x="5333964" y="5016222"/>
            <a:ext cx="782587" cy="52322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R(B)</a:t>
            </a:r>
            <a:endParaRPr/>
          </a:p>
        </p:txBody>
      </p:sp>
      <p:sp>
        <p:nvSpPr>
          <p:cNvPr id="938" name="Google Shape;938;p82"/>
          <p:cNvSpPr txBox="1"/>
          <p:nvPr/>
        </p:nvSpPr>
        <p:spPr>
          <a:xfrm>
            <a:off x="6255324" y="5016222"/>
            <a:ext cx="917239" cy="52322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W(B)</a:t>
            </a:r>
            <a:endParaRPr/>
          </a:p>
        </p:txBody>
      </p:sp>
      <p:sp>
        <p:nvSpPr>
          <p:cNvPr id="939" name="Google Shape;939;p82"/>
          <p:cNvSpPr txBox="1"/>
          <p:nvPr/>
        </p:nvSpPr>
        <p:spPr>
          <a:xfrm>
            <a:off x="7285382" y="4250321"/>
            <a:ext cx="782587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R(B)</a:t>
            </a:r>
            <a:endParaRPr/>
          </a:p>
        </p:txBody>
      </p:sp>
      <p:sp>
        <p:nvSpPr>
          <p:cNvPr id="940" name="Google Shape;940;p82"/>
          <p:cNvSpPr txBox="1"/>
          <p:nvPr/>
        </p:nvSpPr>
        <p:spPr>
          <a:xfrm>
            <a:off x="8267279" y="4251972"/>
            <a:ext cx="907621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W(B)</a:t>
            </a:r>
            <a:endParaRPr/>
          </a:p>
        </p:txBody>
      </p:sp>
      <p:sp>
        <p:nvSpPr>
          <p:cNvPr id="941" name="Google Shape;941;p82"/>
          <p:cNvSpPr/>
          <p:nvPr/>
        </p:nvSpPr>
        <p:spPr>
          <a:xfrm>
            <a:off x="339231" y="956642"/>
            <a:ext cx="5916094" cy="2226365"/>
          </a:xfrm>
          <a:prstGeom prst="rect">
            <a:avLst/>
          </a:pr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82"/>
          <p:cNvSpPr txBox="1"/>
          <p:nvPr/>
        </p:nvSpPr>
        <p:spPr>
          <a:xfrm>
            <a:off x="8043498" y="1432072"/>
            <a:ext cx="3419060" cy="2308324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action in the TXNs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 a value from global memory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 one back to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Scheduling order matters!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Conflict Types</a:t>
            </a:r>
            <a:endParaRPr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838200" y="2743199"/>
            <a:ext cx="7105183" cy="2464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Thus, there are three types of conflicts: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Read-Write conflicts (RW)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Write-Read conflicts (WR)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Write-Write conflicts (WW)</a:t>
            </a:r>
            <a:endParaRPr/>
          </a:p>
        </p:txBody>
      </p:sp>
      <p:sp>
        <p:nvSpPr>
          <p:cNvPr id="949" name="Google Shape;949;p83"/>
          <p:cNvSpPr txBox="1"/>
          <p:nvPr/>
        </p:nvSpPr>
        <p:spPr>
          <a:xfrm>
            <a:off x="8434668" y="3282834"/>
            <a:ext cx="2919132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no “RR Conflict”?</a:t>
            </a:r>
            <a:endParaRPr/>
          </a:p>
        </p:txBody>
      </p:sp>
      <p:sp>
        <p:nvSpPr>
          <p:cNvPr id="950" name="Google Shape;950;p83"/>
          <p:cNvSpPr/>
          <p:nvPr/>
        </p:nvSpPr>
        <p:spPr>
          <a:xfrm>
            <a:off x="962083" y="1686034"/>
            <a:ext cx="10391717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actions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they are part of different TXNs, involve the same variable, and at least one of them is a write</a:t>
            </a:r>
            <a:endParaRPr/>
          </a:p>
        </p:txBody>
      </p:sp>
      <p:sp>
        <p:nvSpPr>
          <p:cNvPr id="951" name="Google Shape;951;p83"/>
          <p:cNvSpPr txBox="1"/>
          <p:nvPr/>
        </p:nvSpPr>
        <p:spPr>
          <a:xfrm>
            <a:off x="962083" y="5011521"/>
            <a:ext cx="10391717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Interleaving anomalies occur with / because of these conflicts between TXNs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(but these conflicts can occur without causing anomalies!)</a:t>
            </a:r>
            <a:endParaRPr/>
          </a:p>
        </p:txBody>
      </p:sp>
      <p:sp>
        <p:nvSpPr>
          <p:cNvPr id="952" name="Google Shape;952;p83"/>
          <p:cNvSpPr txBox="1"/>
          <p:nvPr/>
        </p:nvSpPr>
        <p:spPr>
          <a:xfrm>
            <a:off x="7978452" y="6202964"/>
            <a:ext cx="3375348" cy="46166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next section for more!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4"/>
          <p:cNvSpPr txBox="1"/>
          <p:nvPr/>
        </p:nvSpPr>
        <p:spPr>
          <a:xfrm>
            <a:off x="3034655" y="5933614"/>
            <a:ext cx="6122702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Occurring with / because of a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 conflict</a:t>
            </a:r>
            <a:endParaRPr/>
          </a:p>
        </p:txBody>
      </p:sp>
      <p:sp>
        <p:nvSpPr>
          <p:cNvPr id="958" name="Google Shape;958;p84"/>
          <p:cNvSpPr txBox="1"/>
          <p:nvPr/>
        </p:nvSpPr>
        <p:spPr>
          <a:xfrm>
            <a:off x="838200" y="361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Anomalies with Interleaved Execution</a:t>
            </a:r>
            <a:endParaRPr/>
          </a:p>
        </p:txBody>
      </p:sp>
      <p:sp>
        <p:nvSpPr>
          <p:cNvPr id="959" name="Google Shape;959;p84"/>
          <p:cNvSpPr/>
          <p:nvPr/>
        </p:nvSpPr>
        <p:spPr>
          <a:xfrm>
            <a:off x="838200" y="1785738"/>
            <a:ext cx="37062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“Unrepeatable read”:</a:t>
            </a:r>
            <a:endParaRPr/>
          </a:p>
        </p:txBody>
      </p:sp>
      <p:cxnSp>
        <p:nvCxnSpPr>
          <p:cNvPr id="960" name="Google Shape;960;p84"/>
          <p:cNvCxnSpPr/>
          <p:nvPr/>
        </p:nvCxnSpPr>
        <p:spPr>
          <a:xfrm>
            <a:off x="1286648" y="5222672"/>
            <a:ext cx="5201449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1" name="Google Shape;961;p84"/>
          <p:cNvSpPr txBox="1"/>
          <p:nvPr/>
        </p:nvSpPr>
        <p:spPr>
          <a:xfrm>
            <a:off x="838200" y="3582236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62" name="Google Shape;962;p84"/>
          <p:cNvSpPr txBox="1"/>
          <p:nvPr/>
        </p:nvSpPr>
        <p:spPr>
          <a:xfrm>
            <a:off x="838200" y="4437882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63" name="Google Shape;963;p84"/>
          <p:cNvSpPr txBox="1"/>
          <p:nvPr/>
        </p:nvSpPr>
        <p:spPr>
          <a:xfrm>
            <a:off x="1668787" y="3582236"/>
            <a:ext cx="792205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/>
          </a:p>
        </p:txBody>
      </p:sp>
      <p:sp>
        <p:nvSpPr>
          <p:cNvPr id="964" name="Google Shape;964;p84"/>
          <p:cNvSpPr txBox="1"/>
          <p:nvPr/>
        </p:nvSpPr>
        <p:spPr>
          <a:xfrm>
            <a:off x="5473390" y="3582236"/>
            <a:ext cx="792205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/>
          </a:p>
        </p:txBody>
      </p:sp>
      <p:sp>
        <p:nvSpPr>
          <p:cNvPr id="965" name="Google Shape;965;p84"/>
          <p:cNvSpPr/>
          <p:nvPr/>
        </p:nvSpPr>
        <p:spPr>
          <a:xfrm>
            <a:off x="7321526" y="2672946"/>
            <a:ext cx="403227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data from A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Then,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reads from A again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now gets a different / inconsistent value</a:t>
            </a:r>
            <a:endParaRPr/>
          </a:p>
        </p:txBody>
      </p:sp>
      <p:grpSp>
        <p:nvGrpSpPr>
          <p:cNvPr id="966" name="Google Shape;966;p84"/>
          <p:cNvGrpSpPr/>
          <p:nvPr/>
        </p:nvGrpSpPr>
        <p:grpSpPr>
          <a:xfrm>
            <a:off x="2692474" y="4437882"/>
            <a:ext cx="2549434" cy="528557"/>
            <a:chOff x="2692474" y="4437882"/>
            <a:chExt cx="2549434" cy="528557"/>
          </a:xfrm>
        </p:grpSpPr>
        <p:sp>
          <p:nvSpPr>
            <p:cNvPr id="967" name="Google Shape;967;p84"/>
            <p:cNvSpPr txBox="1"/>
            <p:nvPr/>
          </p:nvSpPr>
          <p:spPr>
            <a:xfrm>
              <a:off x="2692474" y="4443219"/>
              <a:ext cx="792205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84"/>
            <p:cNvSpPr txBox="1"/>
            <p:nvPr/>
          </p:nvSpPr>
          <p:spPr>
            <a:xfrm>
              <a:off x="3716161" y="4442140"/>
              <a:ext cx="917239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969" name="Google Shape;969;p84"/>
            <p:cNvSpPr txBox="1"/>
            <p:nvPr/>
          </p:nvSpPr>
          <p:spPr>
            <a:xfrm>
              <a:off x="4864882" y="4437882"/>
              <a:ext cx="377026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</p:grpSp>
      <p:sp>
        <p:nvSpPr>
          <p:cNvPr id="970" name="Google Shape;970;p84"/>
          <p:cNvSpPr txBox="1"/>
          <p:nvPr/>
        </p:nvSpPr>
        <p:spPr>
          <a:xfrm>
            <a:off x="838200" y="2672946"/>
            <a:ext cx="13236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5"/>
          <p:cNvSpPr txBox="1"/>
          <p:nvPr/>
        </p:nvSpPr>
        <p:spPr>
          <a:xfrm>
            <a:off x="3032153" y="5933614"/>
            <a:ext cx="6127704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Occurring with / because of a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 conflict</a:t>
            </a:r>
            <a:endParaRPr/>
          </a:p>
        </p:txBody>
      </p:sp>
      <p:sp>
        <p:nvSpPr>
          <p:cNvPr id="976" name="Google Shape;976;p85"/>
          <p:cNvSpPr txBox="1"/>
          <p:nvPr/>
        </p:nvSpPr>
        <p:spPr>
          <a:xfrm>
            <a:off x="838200" y="361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Anomalies with Interleaved Execution</a:t>
            </a:r>
            <a:endParaRPr/>
          </a:p>
        </p:txBody>
      </p:sp>
      <p:sp>
        <p:nvSpPr>
          <p:cNvPr id="977" name="Google Shape;977;p85"/>
          <p:cNvSpPr/>
          <p:nvPr/>
        </p:nvSpPr>
        <p:spPr>
          <a:xfrm>
            <a:off x="838200" y="1785738"/>
            <a:ext cx="706052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“Dirty read” / Reading uncommitted data:</a:t>
            </a:r>
            <a:endParaRPr/>
          </a:p>
        </p:txBody>
      </p:sp>
      <p:cxnSp>
        <p:nvCxnSpPr>
          <p:cNvPr id="978" name="Google Shape;978;p85"/>
          <p:cNvCxnSpPr/>
          <p:nvPr/>
        </p:nvCxnSpPr>
        <p:spPr>
          <a:xfrm>
            <a:off x="1286648" y="5222672"/>
            <a:ext cx="5201449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9" name="Google Shape;979;p85"/>
          <p:cNvSpPr txBox="1"/>
          <p:nvPr/>
        </p:nvSpPr>
        <p:spPr>
          <a:xfrm>
            <a:off x="838200" y="3582236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80" name="Google Shape;980;p85"/>
          <p:cNvSpPr txBox="1"/>
          <p:nvPr/>
        </p:nvSpPr>
        <p:spPr>
          <a:xfrm>
            <a:off x="838200" y="4437882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81" name="Google Shape;981;p85"/>
          <p:cNvSpPr txBox="1"/>
          <p:nvPr/>
        </p:nvSpPr>
        <p:spPr>
          <a:xfrm>
            <a:off x="1640811" y="3582236"/>
            <a:ext cx="917239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982" name="Google Shape;982;p85"/>
          <p:cNvSpPr txBox="1"/>
          <p:nvPr/>
        </p:nvSpPr>
        <p:spPr>
          <a:xfrm>
            <a:off x="5465645" y="3588095"/>
            <a:ext cx="386644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83" name="Google Shape;983;p85"/>
          <p:cNvSpPr/>
          <p:nvPr/>
        </p:nvSpPr>
        <p:spPr>
          <a:xfrm>
            <a:off x="7321526" y="2672946"/>
            <a:ext cx="403227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some data to A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A, then writes back to A &amp; commits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aborts-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result is based on an obsolete / inconsistent value</a:t>
            </a:r>
            <a:endParaRPr/>
          </a:p>
        </p:txBody>
      </p:sp>
      <p:grpSp>
        <p:nvGrpSpPr>
          <p:cNvPr id="984" name="Google Shape;984;p85"/>
          <p:cNvGrpSpPr/>
          <p:nvPr/>
        </p:nvGrpSpPr>
        <p:grpSpPr>
          <a:xfrm>
            <a:off x="2763331" y="4437882"/>
            <a:ext cx="2497032" cy="523220"/>
            <a:chOff x="2763331" y="4437882"/>
            <a:chExt cx="2497032" cy="523220"/>
          </a:xfrm>
        </p:grpSpPr>
        <p:sp>
          <p:nvSpPr>
            <p:cNvPr id="985" name="Google Shape;985;p85"/>
            <p:cNvSpPr txBox="1"/>
            <p:nvPr/>
          </p:nvSpPr>
          <p:spPr>
            <a:xfrm>
              <a:off x="2763331" y="4437882"/>
              <a:ext cx="792205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85"/>
            <p:cNvSpPr txBox="1"/>
            <p:nvPr/>
          </p:nvSpPr>
          <p:spPr>
            <a:xfrm>
              <a:off x="3760817" y="4437882"/>
              <a:ext cx="917239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987" name="Google Shape;987;p85"/>
            <p:cNvSpPr txBox="1"/>
            <p:nvPr/>
          </p:nvSpPr>
          <p:spPr>
            <a:xfrm>
              <a:off x="4883337" y="4437882"/>
              <a:ext cx="377026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</p:grpSp>
      <p:sp>
        <p:nvSpPr>
          <p:cNvPr id="988" name="Google Shape;988;p85"/>
          <p:cNvSpPr txBox="1"/>
          <p:nvPr/>
        </p:nvSpPr>
        <p:spPr>
          <a:xfrm>
            <a:off x="838200" y="2672946"/>
            <a:ext cx="13236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86"/>
          <p:cNvSpPr txBox="1"/>
          <p:nvPr/>
        </p:nvSpPr>
        <p:spPr>
          <a:xfrm>
            <a:off x="838200" y="361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Anomalies with Interleaved Execution</a:t>
            </a:r>
            <a:endParaRPr/>
          </a:p>
        </p:txBody>
      </p:sp>
      <p:sp>
        <p:nvSpPr>
          <p:cNvPr id="994" name="Google Shape;994;p86"/>
          <p:cNvSpPr/>
          <p:nvPr/>
        </p:nvSpPr>
        <p:spPr>
          <a:xfrm>
            <a:off x="838200" y="1785738"/>
            <a:ext cx="77831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“Inconsistent read” / Reading partial commits:</a:t>
            </a:r>
            <a:endParaRPr/>
          </a:p>
        </p:txBody>
      </p:sp>
      <p:cxnSp>
        <p:nvCxnSpPr>
          <p:cNvPr id="995" name="Google Shape;995;p86"/>
          <p:cNvCxnSpPr/>
          <p:nvPr/>
        </p:nvCxnSpPr>
        <p:spPr>
          <a:xfrm>
            <a:off x="1397833" y="5211506"/>
            <a:ext cx="6538003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96" name="Google Shape;996;p86"/>
          <p:cNvSpPr txBox="1"/>
          <p:nvPr/>
        </p:nvSpPr>
        <p:spPr>
          <a:xfrm>
            <a:off x="838200" y="3582236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7" name="Google Shape;997;p86"/>
          <p:cNvSpPr txBox="1"/>
          <p:nvPr/>
        </p:nvSpPr>
        <p:spPr>
          <a:xfrm>
            <a:off x="838200" y="4437882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98" name="Google Shape;998;p86"/>
          <p:cNvSpPr txBox="1"/>
          <p:nvPr/>
        </p:nvSpPr>
        <p:spPr>
          <a:xfrm>
            <a:off x="1675489" y="3526846"/>
            <a:ext cx="811441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999" name="Google Shape;999;p86"/>
          <p:cNvSpPr/>
          <p:nvPr/>
        </p:nvSpPr>
        <p:spPr>
          <a:xfrm>
            <a:off x="8223778" y="2469221"/>
            <a:ext cx="380416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some data to A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B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then writes some value which depends on A &amp; B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writes to B-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result is based on an incomplete commit</a:t>
            </a:r>
            <a:endParaRPr/>
          </a:p>
        </p:txBody>
      </p:sp>
      <p:sp>
        <p:nvSpPr>
          <p:cNvPr id="1000" name="Google Shape;1000;p86"/>
          <p:cNvSpPr txBox="1"/>
          <p:nvPr/>
        </p:nvSpPr>
        <p:spPr>
          <a:xfrm>
            <a:off x="838200" y="2672946"/>
            <a:ext cx="13236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pSp>
        <p:nvGrpSpPr>
          <p:cNvPr id="1001" name="Google Shape;1001;p86"/>
          <p:cNvGrpSpPr/>
          <p:nvPr/>
        </p:nvGrpSpPr>
        <p:grpSpPr>
          <a:xfrm>
            <a:off x="6304264" y="3526846"/>
            <a:ext cx="1293015" cy="461666"/>
            <a:chOff x="5181455" y="3526845"/>
            <a:chExt cx="1293015" cy="461666"/>
          </a:xfrm>
        </p:grpSpPr>
        <p:sp>
          <p:nvSpPr>
            <p:cNvPr id="1002" name="Google Shape;1002;p86"/>
            <p:cNvSpPr txBox="1"/>
            <p:nvPr/>
          </p:nvSpPr>
          <p:spPr>
            <a:xfrm>
              <a:off x="5181455" y="3526846"/>
              <a:ext cx="803425" cy="461665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003" name="Google Shape;1003;p86"/>
            <p:cNvSpPr txBox="1"/>
            <p:nvPr/>
          </p:nvSpPr>
          <p:spPr>
            <a:xfrm>
              <a:off x="6124694" y="3526845"/>
              <a:ext cx="349776" cy="461665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</p:grpSp>
      <p:grpSp>
        <p:nvGrpSpPr>
          <p:cNvPr id="1004" name="Google Shape;1004;p86"/>
          <p:cNvGrpSpPr/>
          <p:nvPr/>
        </p:nvGrpSpPr>
        <p:grpSpPr>
          <a:xfrm>
            <a:off x="2598115" y="4393320"/>
            <a:ext cx="3526579" cy="461665"/>
            <a:chOff x="2486930" y="4404486"/>
            <a:chExt cx="3526579" cy="461665"/>
          </a:xfrm>
        </p:grpSpPr>
        <p:sp>
          <p:nvSpPr>
            <p:cNvPr id="1005" name="Google Shape;1005;p86"/>
            <p:cNvSpPr txBox="1"/>
            <p:nvPr/>
          </p:nvSpPr>
          <p:spPr>
            <a:xfrm>
              <a:off x="2486930" y="4404486"/>
              <a:ext cx="704039" cy="46166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86"/>
            <p:cNvSpPr txBox="1"/>
            <p:nvPr/>
          </p:nvSpPr>
          <p:spPr>
            <a:xfrm>
              <a:off x="5663733" y="4404486"/>
              <a:ext cx="349776" cy="46166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007" name="Google Shape;1007;p86"/>
            <p:cNvSpPr txBox="1"/>
            <p:nvPr/>
          </p:nvSpPr>
          <p:spPr>
            <a:xfrm>
              <a:off x="3306044" y="4404486"/>
              <a:ext cx="696024" cy="46166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/>
            </a:p>
          </p:txBody>
        </p:sp>
        <p:sp>
          <p:nvSpPr>
            <p:cNvPr id="1008" name="Google Shape;1008;p86"/>
            <p:cNvSpPr txBox="1"/>
            <p:nvPr/>
          </p:nvSpPr>
          <p:spPr>
            <a:xfrm>
              <a:off x="4117143" y="4404486"/>
              <a:ext cx="1449436" cy="461665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W(C=A*B)</a:t>
              </a:r>
              <a:endParaRPr/>
            </a:p>
          </p:txBody>
        </p:sp>
      </p:grpSp>
      <p:sp>
        <p:nvSpPr>
          <p:cNvPr id="1009" name="Google Shape;1009;p86"/>
          <p:cNvSpPr txBox="1"/>
          <p:nvPr/>
        </p:nvSpPr>
        <p:spPr>
          <a:xfrm>
            <a:off x="3026089" y="6065406"/>
            <a:ext cx="6139822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Again, occurring because of a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 conflict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7"/>
          <p:cNvSpPr txBox="1"/>
          <p:nvPr/>
        </p:nvSpPr>
        <p:spPr>
          <a:xfrm>
            <a:off x="838200" y="3614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Anomalies with Interleaved Execution</a:t>
            </a:r>
            <a:endParaRPr/>
          </a:p>
        </p:txBody>
      </p:sp>
      <p:sp>
        <p:nvSpPr>
          <p:cNvPr id="1015" name="Google Shape;1015;p87"/>
          <p:cNvSpPr/>
          <p:nvPr/>
        </p:nvSpPr>
        <p:spPr>
          <a:xfrm>
            <a:off x="838200" y="1785738"/>
            <a:ext cx="35778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Partially-lost update:</a:t>
            </a:r>
            <a:endParaRPr/>
          </a:p>
        </p:txBody>
      </p:sp>
      <p:cxnSp>
        <p:nvCxnSpPr>
          <p:cNvPr id="1016" name="Google Shape;1016;p87"/>
          <p:cNvCxnSpPr/>
          <p:nvPr/>
        </p:nvCxnSpPr>
        <p:spPr>
          <a:xfrm>
            <a:off x="1286648" y="5222672"/>
            <a:ext cx="5201449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7" name="Google Shape;1017;p87"/>
          <p:cNvSpPr txBox="1"/>
          <p:nvPr/>
        </p:nvSpPr>
        <p:spPr>
          <a:xfrm>
            <a:off x="838200" y="3582236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8" name="Google Shape;1018;p87"/>
          <p:cNvSpPr txBox="1"/>
          <p:nvPr/>
        </p:nvSpPr>
        <p:spPr>
          <a:xfrm>
            <a:off x="838200" y="4437882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19" name="Google Shape;1019;p87"/>
          <p:cNvSpPr txBox="1"/>
          <p:nvPr/>
        </p:nvSpPr>
        <p:spPr>
          <a:xfrm>
            <a:off x="1658663" y="3582236"/>
            <a:ext cx="917239" cy="52322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1020" name="Google Shape;1020;p87"/>
          <p:cNvSpPr/>
          <p:nvPr/>
        </p:nvSpPr>
        <p:spPr>
          <a:xfrm>
            <a:off x="7321526" y="2672946"/>
            <a:ext cx="44199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blind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some data to A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blind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B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</a:t>
            </a:r>
            <a:r>
              <a:rPr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blind 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B; now we have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value for B and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value for A-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equivalent to any serial schedule!</a:t>
            </a:r>
            <a:endParaRPr/>
          </a:p>
        </p:txBody>
      </p:sp>
      <p:sp>
        <p:nvSpPr>
          <p:cNvPr id="1021" name="Google Shape;1021;p87"/>
          <p:cNvSpPr txBox="1"/>
          <p:nvPr/>
        </p:nvSpPr>
        <p:spPr>
          <a:xfrm>
            <a:off x="838200" y="2672946"/>
            <a:ext cx="13236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pSp>
        <p:nvGrpSpPr>
          <p:cNvPr id="1022" name="Google Shape;1022;p87"/>
          <p:cNvGrpSpPr/>
          <p:nvPr/>
        </p:nvGrpSpPr>
        <p:grpSpPr>
          <a:xfrm>
            <a:off x="5260608" y="3582236"/>
            <a:ext cx="1405353" cy="523220"/>
            <a:chOff x="5260608" y="3582236"/>
            <a:chExt cx="1405353" cy="523220"/>
          </a:xfrm>
        </p:grpSpPr>
        <p:sp>
          <p:nvSpPr>
            <p:cNvPr id="1023" name="Google Shape;1023;p87"/>
            <p:cNvSpPr txBox="1"/>
            <p:nvPr/>
          </p:nvSpPr>
          <p:spPr>
            <a:xfrm>
              <a:off x="5260608" y="3582236"/>
              <a:ext cx="907621" cy="52322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024" name="Google Shape;1024;p87"/>
            <p:cNvSpPr txBox="1"/>
            <p:nvPr/>
          </p:nvSpPr>
          <p:spPr>
            <a:xfrm>
              <a:off x="6288935" y="3582236"/>
              <a:ext cx="377026" cy="523220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5" name="Google Shape;1025;p87"/>
          <p:cNvGrpSpPr/>
          <p:nvPr/>
        </p:nvGrpSpPr>
        <p:grpSpPr>
          <a:xfrm>
            <a:off x="2696607" y="4437882"/>
            <a:ext cx="2443296" cy="528009"/>
            <a:chOff x="2696607" y="4437882"/>
            <a:chExt cx="2443296" cy="528009"/>
          </a:xfrm>
        </p:grpSpPr>
        <p:sp>
          <p:nvSpPr>
            <p:cNvPr id="1026" name="Google Shape;1026;p87"/>
            <p:cNvSpPr txBox="1"/>
            <p:nvPr/>
          </p:nvSpPr>
          <p:spPr>
            <a:xfrm>
              <a:off x="2696607" y="4437882"/>
              <a:ext cx="917239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027" name="Google Shape;1027;p87"/>
            <p:cNvSpPr txBox="1"/>
            <p:nvPr/>
          </p:nvSpPr>
          <p:spPr>
            <a:xfrm>
              <a:off x="4762877" y="4437882"/>
              <a:ext cx="377026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028" name="Google Shape;1028;p87"/>
            <p:cNvSpPr txBox="1"/>
            <p:nvPr/>
          </p:nvSpPr>
          <p:spPr>
            <a:xfrm>
              <a:off x="3734551" y="4442671"/>
              <a:ext cx="907621" cy="523220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sp>
        <p:nvSpPr>
          <p:cNvPr id="1029" name="Google Shape;1029;p87"/>
          <p:cNvSpPr txBox="1"/>
          <p:nvPr/>
        </p:nvSpPr>
        <p:spPr>
          <a:xfrm>
            <a:off x="3437259" y="6016932"/>
            <a:ext cx="5317481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Occurring because of a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 conflict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5. Conflict Serializability, Locking &amp; Deadlock</a:t>
            </a:r>
            <a:endParaRPr/>
          </a:p>
        </p:txBody>
      </p:sp>
      <p:sp>
        <p:nvSpPr>
          <p:cNvPr id="1035" name="Google Shape;1035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Recall: Concurrency as Interleaving TXNs</a:t>
            </a:r>
            <a:endParaRPr/>
          </a:p>
        </p:txBody>
      </p:sp>
      <p:sp>
        <p:nvSpPr>
          <p:cNvPr id="1041" name="Google Shape;1041;p89"/>
          <p:cNvSpPr txBox="1"/>
          <p:nvPr>
            <p:ph idx="1" type="body"/>
          </p:nvPr>
        </p:nvSpPr>
        <p:spPr>
          <a:xfrm>
            <a:off x="7524426" y="1825624"/>
            <a:ext cx="4381435" cy="380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our purposes, having TXNs occur concurrently means </a:t>
            </a:r>
            <a:r>
              <a:rPr b="1" lang="en-US"/>
              <a:t>interleaving their component actions (R/W)</a:t>
            </a:r>
            <a:endParaRPr/>
          </a:p>
        </p:txBody>
      </p:sp>
      <p:sp>
        <p:nvSpPr>
          <p:cNvPr id="1042" name="Google Shape;1042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3" name="Google Shape;1043;p89"/>
          <p:cNvSpPr txBox="1"/>
          <p:nvPr/>
        </p:nvSpPr>
        <p:spPr>
          <a:xfrm>
            <a:off x="7826076" y="4239066"/>
            <a:ext cx="3527724" cy="138499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call the particular order of interleaving a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4" name="Google Shape;1044;p89"/>
          <p:cNvCxnSpPr/>
          <p:nvPr/>
        </p:nvCxnSpPr>
        <p:spPr>
          <a:xfrm>
            <a:off x="1095464" y="3454313"/>
            <a:ext cx="6009210" cy="10013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5" name="Google Shape;1045;p89"/>
          <p:cNvSpPr txBox="1"/>
          <p:nvPr/>
        </p:nvSpPr>
        <p:spPr>
          <a:xfrm>
            <a:off x="605725" y="2286922"/>
            <a:ext cx="297556" cy="4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46" name="Google Shape;1046;p89"/>
          <p:cNvSpPr txBox="1"/>
          <p:nvPr/>
        </p:nvSpPr>
        <p:spPr>
          <a:xfrm>
            <a:off x="605725" y="2837070"/>
            <a:ext cx="296564" cy="4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47" name="Google Shape;1047;p89"/>
          <p:cNvSpPr txBox="1"/>
          <p:nvPr/>
        </p:nvSpPr>
        <p:spPr>
          <a:xfrm>
            <a:off x="1095464" y="2375357"/>
            <a:ext cx="620622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89"/>
          <p:cNvSpPr txBox="1"/>
          <p:nvPr/>
        </p:nvSpPr>
        <p:spPr>
          <a:xfrm>
            <a:off x="2604289" y="2375357"/>
            <a:ext cx="614194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R(B)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89"/>
          <p:cNvSpPr txBox="1"/>
          <p:nvPr/>
        </p:nvSpPr>
        <p:spPr>
          <a:xfrm>
            <a:off x="1804881" y="2375357"/>
            <a:ext cx="710613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1050" name="Google Shape;1050;p89"/>
          <p:cNvSpPr txBox="1"/>
          <p:nvPr/>
        </p:nvSpPr>
        <p:spPr>
          <a:xfrm>
            <a:off x="3307278" y="2375357"/>
            <a:ext cx="710613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W(B)</a:t>
            </a:r>
            <a:endParaRPr/>
          </a:p>
        </p:txBody>
      </p:sp>
      <p:sp>
        <p:nvSpPr>
          <p:cNvPr id="1051" name="Google Shape;1051;p89"/>
          <p:cNvSpPr txBox="1"/>
          <p:nvPr/>
        </p:nvSpPr>
        <p:spPr>
          <a:xfrm>
            <a:off x="605725" y="1690688"/>
            <a:ext cx="20986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052" name="Google Shape;1052;p89"/>
          <p:cNvSpPr txBox="1"/>
          <p:nvPr/>
        </p:nvSpPr>
        <p:spPr>
          <a:xfrm>
            <a:off x="4109081" y="2860811"/>
            <a:ext cx="620622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89"/>
          <p:cNvSpPr txBox="1"/>
          <p:nvPr/>
        </p:nvSpPr>
        <p:spPr>
          <a:xfrm>
            <a:off x="5617906" y="2860811"/>
            <a:ext cx="614194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R(B)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89"/>
          <p:cNvSpPr txBox="1"/>
          <p:nvPr/>
        </p:nvSpPr>
        <p:spPr>
          <a:xfrm>
            <a:off x="4818498" y="2860811"/>
            <a:ext cx="710613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1055" name="Google Shape;1055;p89"/>
          <p:cNvSpPr txBox="1"/>
          <p:nvPr/>
        </p:nvSpPr>
        <p:spPr>
          <a:xfrm>
            <a:off x="6320895" y="2860811"/>
            <a:ext cx="710613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W(B)</a:t>
            </a:r>
            <a:endParaRPr/>
          </a:p>
        </p:txBody>
      </p:sp>
      <p:cxnSp>
        <p:nvCxnSpPr>
          <p:cNvPr id="1056" name="Google Shape;1056;p89"/>
          <p:cNvCxnSpPr/>
          <p:nvPr/>
        </p:nvCxnSpPr>
        <p:spPr>
          <a:xfrm>
            <a:off x="1095464" y="6098955"/>
            <a:ext cx="6009210" cy="10013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7" name="Google Shape;1057;p89"/>
          <p:cNvSpPr txBox="1"/>
          <p:nvPr/>
        </p:nvSpPr>
        <p:spPr>
          <a:xfrm>
            <a:off x="605725" y="4931564"/>
            <a:ext cx="297556" cy="4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58" name="Google Shape;1058;p89"/>
          <p:cNvSpPr txBox="1"/>
          <p:nvPr/>
        </p:nvSpPr>
        <p:spPr>
          <a:xfrm>
            <a:off x="605725" y="5481712"/>
            <a:ext cx="296564" cy="4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59" name="Google Shape;1059;p89"/>
          <p:cNvSpPr txBox="1"/>
          <p:nvPr/>
        </p:nvSpPr>
        <p:spPr>
          <a:xfrm>
            <a:off x="1095464" y="5019999"/>
            <a:ext cx="620622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89"/>
          <p:cNvSpPr txBox="1"/>
          <p:nvPr/>
        </p:nvSpPr>
        <p:spPr>
          <a:xfrm>
            <a:off x="4109081" y="5019999"/>
            <a:ext cx="614194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R(B)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89"/>
          <p:cNvSpPr txBox="1"/>
          <p:nvPr/>
        </p:nvSpPr>
        <p:spPr>
          <a:xfrm>
            <a:off x="1804881" y="5019999"/>
            <a:ext cx="710613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1062" name="Google Shape;1062;p89"/>
          <p:cNvSpPr txBox="1"/>
          <p:nvPr/>
        </p:nvSpPr>
        <p:spPr>
          <a:xfrm>
            <a:off x="4812070" y="5019999"/>
            <a:ext cx="710613" cy="400110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W(B)</a:t>
            </a:r>
            <a:endParaRPr/>
          </a:p>
        </p:txBody>
      </p:sp>
      <p:sp>
        <p:nvSpPr>
          <p:cNvPr id="1063" name="Google Shape;1063;p89"/>
          <p:cNvSpPr txBox="1"/>
          <p:nvPr/>
        </p:nvSpPr>
        <p:spPr>
          <a:xfrm>
            <a:off x="605725" y="4335330"/>
            <a:ext cx="27958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 Schedule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064" name="Google Shape;1064;p89"/>
          <p:cNvSpPr txBox="1"/>
          <p:nvPr/>
        </p:nvSpPr>
        <p:spPr>
          <a:xfrm>
            <a:off x="2604289" y="5505453"/>
            <a:ext cx="620622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89"/>
          <p:cNvSpPr txBox="1"/>
          <p:nvPr/>
        </p:nvSpPr>
        <p:spPr>
          <a:xfrm>
            <a:off x="5617906" y="5505453"/>
            <a:ext cx="614194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R(B)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89"/>
          <p:cNvSpPr txBox="1"/>
          <p:nvPr/>
        </p:nvSpPr>
        <p:spPr>
          <a:xfrm>
            <a:off x="3313706" y="5505453"/>
            <a:ext cx="710613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1067" name="Google Shape;1067;p89"/>
          <p:cNvSpPr txBox="1"/>
          <p:nvPr/>
        </p:nvSpPr>
        <p:spPr>
          <a:xfrm>
            <a:off x="6320895" y="5505453"/>
            <a:ext cx="710613" cy="400110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W(B)</a:t>
            </a:r>
            <a:endParaRPr/>
          </a:p>
        </p:txBody>
      </p:sp>
      <p:sp>
        <p:nvSpPr>
          <p:cNvPr id="1068" name="Google Shape;1068;p89"/>
          <p:cNvSpPr/>
          <p:nvPr/>
        </p:nvSpPr>
        <p:spPr>
          <a:xfrm>
            <a:off x="3825551" y="3657718"/>
            <a:ext cx="597159" cy="699678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Recall: “Good” vs. “bad” schedules</a:t>
            </a:r>
            <a:endParaRPr/>
          </a:p>
        </p:txBody>
      </p:sp>
      <p:sp>
        <p:nvSpPr>
          <p:cNvPr id="1074" name="Google Shape;1074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5" name="Google Shape;1075;p90"/>
          <p:cNvSpPr txBox="1"/>
          <p:nvPr/>
        </p:nvSpPr>
        <p:spPr>
          <a:xfrm>
            <a:off x="522517" y="5742027"/>
            <a:ext cx="11146962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want to develop ways of discerning “good” vs. “bad” schedules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90"/>
          <p:cNvSpPr txBox="1"/>
          <p:nvPr/>
        </p:nvSpPr>
        <p:spPr>
          <a:xfrm>
            <a:off x="605725" y="1690688"/>
            <a:ext cx="20986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1077" name="Google Shape;1077;p90"/>
          <p:cNvGrpSpPr/>
          <p:nvPr/>
        </p:nvGrpSpPr>
        <p:grpSpPr>
          <a:xfrm>
            <a:off x="512690" y="2299162"/>
            <a:ext cx="4861978" cy="976527"/>
            <a:chOff x="542809" y="2322356"/>
            <a:chExt cx="6561865" cy="965384"/>
          </a:xfrm>
        </p:grpSpPr>
        <p:cxnSp>
          <p:nvCxnSpPr>
            <p:cNvPr id="1078" name="Google Shape;1078;p90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79" name="Google Shape;1079;p90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080" name="Google Shape;1080;p90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081" name="Google Shape;1081;p90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90"/>
            <p:cNvSpPr txBox="1"/>
            <p:nvPr/>
          </p:nvSpPr>
          <p:spPr>
            <a:xfrm>
              <a:off x="260428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90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084" name="Google Shape;1084;p90"/>
            <p:cNvSpPr txBox="1"/>
            <p:nvPr/>
          </p:nvSpPr>
          <p:spPr>
            <a:xfrm>
              <a:off x="335532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085" name="Google Shape;1085;p90"/>
            <p:cNvSpPr txBox="1"/>
            <p:nvPr/>
          </p:nvSpPr>
          <p:spPr>
            <a:xfrm>
              <a:off x="4109083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90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90"/>
            <p:cNvSpPr txBox="1"/>
            <p:nvPr/>
          </p:nvSpPr>
          <p:spPr>
            <a:xfrm>
              <a:off x="4818498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088" name="Google Shape;1088;p90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grpSp>
        <p:nvGrpSpPr>
          <p:cNvPr id="1089" name="Google Shape;1089;p90"/>
          <p:cNvGrpSpPr/>
          <p:nvPr/>
        </p:nvGrpSpPr>
        <p:grpSpPr>
          <a:xfrm>
            <a:off x="6736209" y="2299162"/>
            <a:ext cx="4861978" cy="976527"/>
            <a:chOff x="542809" y="2322356"/>
            <a:chExt cx="6561865" cy="965384"/>
          </a:xfrm>
        </p:grpSpPr>
        <p:cxnSp>
          <p:nvCxnSpPr>
            <p:cNvPr id="1090" name="Google Shape;1090;p90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91" name="Google Shape;1091;p90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092" name="Google Shape;1092;p90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093" name="Google Shape;1093;p90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90"/>
            <p:cNvSpPr txBox="1"/>
            <p:nvPr/>
          </p:nvSpPr>
          <p:spPr>
            <a:xfrm>
              <a:off x="406745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90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096" name="Google Shape;1096;p90"/>
            <p:cNvSpPr txBox="1"/>
            <p:nvPr/>
          </p:nvSpPr>
          <p:spPr>
            <a:xfrm>
              <a:off x="481849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097" name="Google Shape;1097;p90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90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90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100" name="Google Shape;1100;p90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grpSp>
        <p:nvGrpSpPr>
          <p:cNvPr id="1101" name="Google Shape;1101;p90"/>
          <p:cNvGrpSpPr/>
          <p:nvPr/>
        </p:nvGrpSpPr>
        <p:grpSpPr>
          <a:xfrm>
            <a:off x="6736209" y="4091868"/>
            <a:ext cx="4861978" cy="976527"/>
            <a:chOff x="542809" y="2322356"/>
            <a:chExt cx="6561865" cy="965384"/>
          </a:xfrm>
        </p:grpSpPr>
        <p:cxnSp>
          <p:nvCxnSpPr>
            <p:cNvPr id="1102" name="Google Shape;1102;p90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03" name="Google Shape;1103;p90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104" name="Google Shape;1104;p90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105" name="Google Shape;1105;p90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90"/>
            <p:cNvSpPr txBox="1"/>
            <p:nvPr/>
          </p:nvSpPr>
          <p:spPr>
            <a:xfrm>
              <a:off x="5617905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90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108" name="Google Shape;1108;p90"/>
            <p:cNvSpPr txBox="1"/>
            <p:nvPr/>
          </p:nvSpPr>
          <p:spPr>
            <a:xfrm>
              <a:off x="6368946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109" name="Google Shape;1109;p90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90"/>
            <p:cNvSpPr txBox="1"/>
            <p:nvPr/>
          </p:nvSpPr>
          <p:spPr>
            <a:xfrm>
              <a:off x="4154735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90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112" name="Google Shape;1112;p90"/>
            <p:cNvSpPr txBox="1"/>
            <p:nvPr/>
          </p:nvSpPr>
          <p:spPr>
            <a:xfrm>
              <a:off x="4857724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sp>
        <p:nvSpPr>
          <p:cNvPr id="1113" name="Google Shape;1113;p90"/>
          <p:cNvSpPr/>
          <p:nvPr/>
        </p:nvSpPr>
        <p:spPr>
          <a:xfrm>
            <a:off x="5812971" y="2629774"/>
            <a:ext cx="718458" cy="21405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90"/>
          <p:cNvSpPr/>
          <p:nvPr/>
        </p:nvSpPr>
        <p:spPr>
          <a:xfrm rot="2307267">
            <a:off x="5736769" y="3535713"/>
            <a:ext cx="718458" cy="21405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90"/>
          <p:cNvSpPr txBox="1"/>
          <p:nvPr/>
        </p:nvSpPr>
        <p:spPr>
          <a:xfrm>
            <a:off x="5748124" y="366452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116" name="Google Shape;1116;p90"/>
          <p:cNvSpPr txBox="1"/>
          <p:nvPr/>
        </p:nvSpPr>
        <p:spPr>
          <a:xfrm>
            <a:off x="6885270" y="1690688"/>
            <a:ext cx="29145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 Schedules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117" name="Google Shape;1117;p90"/>
          <p:cNvSpPr txBox="1"/>
          <p:nvPr/>
        </p:nvSpPr>
        <p:spPr>
          <a:xfrm>
            <a:off x="3762678" y="3956907"/>
            <a:ext cx="1124219" cy="58477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Ways of Defining “Good” vs. “Bad” Schedules</a:t>
            </a:r>
            <a:endParaRPr/>
          </a:p>
        </p:txBody>
      </p:sp>
      <p:sp>
        <p:nvSpPr>
          <p:cNvPr id="1123" name="Google Shape;1123;p91"/>
          <p:cNvSpPr txBox="1"/>
          <p:nvPr>
            <p:ph idx="1" type="body"/>
          </p:nvPr>
        </p:nvSpPr>
        <p:spPr>
          <a:xfrm>
            <a:off x="838200" y="1690688"/>
            <a:ext cx="10515600" cy="4786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Recall from last time: we call a schedule </a:t>
            </a:r>
            <a:r>
              <a:rPr b="1" i="1" lang="en-US"/>
              <a:t>serializable</a:t>
            </a:r>
            <a:r>
              <a:rPr lang="en-US"/>
              <a:t> if it is equivalent to </a:t>
            </a:r>
            <a:r>
              <a:rPr i="1" lang="en-US"/>
              <a:t>some</a:t>
            </a:r>
            <a:r>
              <a:rPr lang="en-US"/>
              <a:t> serial schedule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We used this as a notion of a “good” interleaved schedule, since </a:t>
            </a:r>
            <a:r>
              <a:rPr b="1" lang="en-US" sz="2800"/>
              <a:t>a serializable schedule will maintain isolation &amp; consistency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Now, we’ll define a stricter, but very useful variant: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1" lang="en-US" sz="2800" u="sng"/>
              <a:t>Conflict serializability</a:t>
            </a:r>
            <a:endParaRPr b="1" i="1" sz="2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24" name="Google Shape;1124;p91"/>
          <p:cNvSpPr txBox="1"/>
          <p:nvPr/>
        </p:nvSpPr>
        <p:spPr>
          <a:xfrm>
            <a:off x="5754610" y="5218150"/>
            <a:ext cx="2782901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We’ll need to define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first..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Conflicts</a:t>
            </a:r>
            <a:endParaRPr/>
          </a:p>
        </p:txBody>
      </p:sp>
      <p:sp>
        <p:nvSpPr>
          <p:cNvPr id="1130" name="Google Shape;1130;p92"/>
          <p:cNvSpPr/>
          <p:nvPr/>
        </p:nvSpPr>
        <p:spPr>
          <a:xfrm>
            <a:off x="962083" y="1686034"/>
            <a:ext cx="10391717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actions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they are part of different TXNs, involve the same variable, and at least one of them is a write</a:t>
            </a:r>
            <a:endParaRPr/>
          </a:p>
        </p:txBody>
      </p:sp>
      <p:grpSp>
        <p:nvGrpSpPr>
          <p:cNvPr id="1131" name="Google Shape;1131;p92"/>
          <p:cNvGrpSpPr/>
          <p:nvPr/>
        </p:nvGrpSpPr>
        <p:grpSpPr>
          <a:xfrm>
            <a:off x="1594770" y="3606618"/>
            <a:ext cx="7989502" cy="1646518"/>
            <a:chOff x="2201260" y="3886535"/>
            <a:chExt cx="6507961" cy="1026204"/>
          </a:xfrm>
        </p:grpSpPr>
        <p:cxnSp>
          <p:nvCxnSpPr>
            <p:cNvPr id="1132" name="Google Shape;1132;p92"/>
            <p:cNvCxnSpPr/>
            <p:nvPr/>
          </p:nvCxnSpPr>
          <p:spPr>
            <a:xfrm>
              <a:off x="2700011" y="4902726"/>
              <a:ext cx="6009210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33" name="Google Shape;1133;p92"/>
            <p:cNvSpPr txBox="1"/>
            <p:nvPr/>
          </p:nvSpPr>
          <p:spPr>
            <a:xfrm>
              <a:off x="2201260" y="3886535"/>
              <a:ext cx="356730" cy="28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134" name="Google Shape;1134;p92"/>
            <p:cNvSpPr txBox="1"/>
            <p:nvPr/>
          </p:nvSpPr>
          <p:spPr>
            <a:xfrm>
              <a:off x="2201260" y="4436683"/>
              <a:ext cx="356730" cy="28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135" name="Google Shape;1135;p92"/>
            <p:cNvSpPr txBox="1"/>
            <p:nvPr/>
          </p:nvSpPr>
          <p:spPr>
            <a:xfrm>
              <a:off x="2690999" y="3974970"/>
              <a:ext cx="620622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92"/>
            <p:cNvSpPr txBox="1"/>
            <p:nvPr/>
          </p:nvSpPr>
          <p:spPr>
            <a:xfrm>
              <a:off x="5704616" y="3974970"/>
              <a:ext cx="614194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92"/>
            <p:cNvSpPr txBox="1"/>
            <p:nvPr/>
          </p:nvSpPr>
          <p:spPr>
            <a:xfrm>
              <a:off x="3400416" y="3974970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138" name="Google Shape;1138;p92"/>
            <p:cNvSpPr txBox="1"/>
            <p:nvPr/>
          </p:nvSpPr>
          <p:spPr>
            <a:xfrm>
              <a:off x="6407605" y="3974970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139" name="Google Shape;1139;p92"/>
            <p:cNvSpPr txBox="1"/>
            <p:nvPr/>
          </p:nvSpPr>
          <p:spPr>
            <a:xfrm>
              <a:off x="4199824" y="4460424"/>
              <a:ext cx="620622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92"/>
            <p:cNvSpPr txBox="1"/>
            <p:nvPr/>
          </p:nvSpPr>
          <p:spPr>
            <a:xfrm>
              <a:off x="7213441" y="4460424"/>
              <a:ext cx="614194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92"/>
            <p:cNvSpPr txBox="1"/>
            <p:nvPr/>
          </p:nvSpPr>
          <p:spPr>
            <a:xfrm>
              <a:off x="4909241" y="4460424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142" name="Google Shape;1142;p92"/>
            <p:cNvSpPr txBox="1"/>
            <p:nvPr/>
          </p:nvSpPr>
          <p:spPr>
            <a:xfrm>
              <a:off x="7916430" y="4460424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sp>
        <p:nvSpPr>
          <p:cNvPr id="1143" name="Google Shape;1143;p92"/>
          <p:cNvSpPr txBox="1"/>
          <p:nvPr/>
        </p:nvSpPr>
        <p:spPr>
          <a:xfrm>
            <a:off x="2076494" y="4484208"/>
            <a:ext cx="17107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W-R Conflict</a:t>
            </a:r>
            <a:endParaRPr/>
          </a:p>
        </p:txBody>
      </p:sp>
      <p:sp>
        <p:nvSpPr>
          <p:cNvPr id="1144" name="Google Shape;1144;p92"/>
          <p:cNvSpPr txBox="1"/>
          <p:nvPr/>
        </p:nvSpPr>
        <p:spPr>
          <a:xfrm>
            <a:off x="7881136" y="3855344"/>
            <a:ext cx="1818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W-W Conflict</a:t>
            </a:r>
            <a:endParaRPr/>
          </a:p>
        </p:txBody>
      </p:sp>
      <p:cxnSp>
        <p:nvCxnSpPr>
          <p:cNvPr id="1145" name="Google Shape;1145;p92"/>
          <p:cNvCxnSpPr>
            <a:stCxn id="1137" idx="2"/>
            <a:endCxn id="1139" idx="1"/>
          </p:cNvCxnSpPr>
          <p:nvPr/>
        </p:nvCxnSpPr>
        <p:spPr>
          <a:xfrm>
            <a:off x="3503107" y="4210175"/>
            <a:ext cx="545100" cy="5481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6" name="Google Shape;1146;p92"/>
          <p:cNvCxnSpPr>
            <a:stCxn id="1138" idx="2"/>
            <a:endCxn id="1142" idx="1"/>
          </p:cNvCxnSpPr>
          <p:nvPr/>
        </p:nvCxnSpPr>
        <p:spPr>
          <a:xfrm>
            <a:off x="7194884" y="4210175"/>
            <a:ext cx="1416000" cy="5481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Conflicts</a:t>
            </a:r>
            <a:endParaRPr/>
          </a:p>
        </p:txBody>
      </p:sp>
      <p:sp>
        <p:nvSpPr>
          <p:cNvPr id="1152" name="Google Shape;1152;p93"/>
          <p:cNvSpPr/>
          <p:nvPr/>
        </p:nvSpPr>
        <p:spPr>
          <a:xfrm>
            <a:off x="962083" y="1686034"/>
            <a:ext cx="10391717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actions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they are part of different TXNs, involve the same variable, and at least one of them is a write</a:t>
            </a:r>
            <a:endParaRPr/>
          </a:p>
        </p:txBody>
      </p:sp>
      <p:grpSp>
        <p:nvGrpSpPr>
          <p:cNvPr id="1153" name="Google Shape;1153;p93"/>
          <p:cNvGrpSpPr/>
          <p:nvPr/>
        </p:nvGrpSpPr>
        <p:grpSpPr>
          <a:xfrm>
            <a:off x="1594770" y="3606618"/>
            <a:ext cx="7989502" cy="1646518"/>
            <a:chOff x="2201260" y="3886535"/>
            <a:chExt cx="6507961" cy="1026204"/>
          </a:xfrm>
        </p:grpSpPr>
        <p:cxnSp>
          <p:nvCxnSpPr>
            <p:cNvPr id="1154" name="Google Shape;1154;p93"/>
            <p:cNvCxnSpPr/>
            <p:nvPr/>
          </p:nvCxnSpPr>
          <p:spPr>
            <a:xfrm>
              <a:off x="2700011" y="4902726"/>
              <a:ext cx="6009210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55" name="Google Shape;1155;p93"/>
            <p:cNvSpPr txBox="1"/>
            <p:nvPr/>
          </p:nvSpPr>
          <p:spPr>
            <a:xfrm>
              <a:off x="2201260" y="3886535"/>
              <a:ext cx="356730" cy="28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156" name="Google Shape;1156;p93"/>
            <p:cNvSpPr txBox="1"/>
            <p:nvPr/>
          </p:nvSpPr>
          <p:spPr>
            <a:xfrm>
              <a:off x="2201260" y="4436683"/>
              <a:ext cx="356730" cy="28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157" name="Google Shape;1157;p93"/>
            <p:cNvSpPr txBox="1"/>
            <p:nvPr/>
          </p:nvSpPr>
          <p:spPr>
            <a:xfrm>
              <a:off x="2690999" y="3974970"/>
              <a:ext cx="620622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93"/>
            <p:cNvSpPr txBox="1"/>
            <p:nvPr/>
          </p:nvSpPr>
          <p:spPr>
            <a:xfrm>
              <a:off x="5704616" y="3974970"/>
              <a:ext cx="614194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93"/>
            <p:cNvSpPr txBox="1"/>
            <p:nvPr/>
          </p:nvSpPr>
          <p:spPr>
            <a:xfrm>
              <a:off x="3400416" y="3974970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160" name="Google Shape;1160;p93"/>
            <p:cNvSpPr txBox="1"/>
            <p:nvPr/>
          </p:nvSpPr>
          <p:spPr>
            <a:xfrm>
              <a:off x="6407605" y="3974970"/>
              <a:ext cx="710613" cy="287736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161" name="Google Shape;1161;p93"/>
            <p:cNvSpPr txBox="1"/>
            <p:nvPr/>
          </p:nvSpPr>
          <p:spPr>
            <a:xfrm>
              <a:off x="4199824" y="4460424"/>
              <a:ext cx="620622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93"/>
            <p:cNvSpPr txBox="1"/>
            <p:nvPr/>
          </p:nvSpPr>
          <p:spPr>
            <a:xfrm>
              <a:off x="7213441" y="4460424"/>
              <a:ext cx="614194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93"/>
            <p:cNvSpPr txBox="1"/>
            <p:nvPr/>
          </p:nvSpPr>
          <p:spPr>
            <a:xfrm>
              <a:off x="4909241" y="4460424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164" name="Google Shape;1164;p93"/>
            <p:cNvSpPr txBox="1"/>
            <p:nvPr/>
          </p:nvSpPr>
          <p:spPr>
            <a:xfrm>
              <a:off x="7916430" y="4460424"/>
              <a:ext cx="710613" cy="287736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sp>
        <p:nvSpPr>
          <p:cNvPr id="1165" name="Google Shape;1165;p93"/>
          <p:cNvSpPr txBox="1"/>
          <p:nvPr/>
        </p:nvSpPr>
        <p:spPr>
          <a:xfrm>
            <a:off x="1813740" y="5638317"/>
            <a:ext cx="19311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 “conflicts”!</a:t>
            </a:r>
            <a:endParaRPr/>
          </a:p>
        </p:txBody>
      </p:sp>
      <p:cxnSp>
        <p:nvCxnSpPr>
          <p:cNvPr id="1166" name="Google Shape;1166;p93"/>
          <p:cNvCxnSpPr>
            <a:stCxn id="1159" idx="2"/>
            <a:endCxn id="1161" idx="1"/>
          </p:cNvCxnSpPr>
          <p:nvPr/>
        </p:nvCxnSpPr>
        <p:spPr>
          <a:xfrm>
            <a:off x="3503107" y="4210175"/>
            <a:ext cx="545100" cy="548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7" name="Google Shape;1167;p93"/>
          <p:cNvCxnSpPr>
            <a:stCxn id="1157" idx="2"/>
            <a:endCxn id="1163" idx="1"/>
          </p:cNvCxnSpPr>
          <p:nvPr/>
        </p:nvCxnSpPr>
        <p:spPr>
          <a:xfrm>
            <a:off x="2576952" y="4210175"/>
            <a:ext cx="2342400" cy="548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8" name="Google Shape;1168;p93"/>
          <p:cNvCxnSpPr>
            <a:stCxn id="1159" idx="2"/>
            <a:endCxn id="1163" idx="1"/>
          </p:cNvCxnSpPr>
          <p:nvPr/>
        </p:nvCxnSpPr>
        <p:spPr>
          <a:xfrm>
            <a:off x="3503107" y="4210175"/>
            <a:ext cx="1416000" cy="548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9" name="Google Shape;1169;p93"/>
          <p:cNvCxnSpPr>
            <a:stCxn id="1158" idx="2"/>
            <a:endCxn id="1164" idx="1"/>
          </p:cNvCxnSpPr>
          <p:nvPr/>
        </p:nvCxnSpPr>
        <p:spPr>
          <a:xfrm>
            <a:off x="6272675" y="4210175"/>
            <a:ext cx="2338200" cy="548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0" name="Google Shape;1170;p93"/>
          <p:cNvCxnSpPr>
            <a:stCxn id="1160" idx="2"/>
            <a:endCxn id="1162" idx="1"/>
          </p:cNvCxnSpPr>
          <p:nvPr/>
        </p:nvCxnSpPr>
        <p:spPr>
          <a:xfrm>
            <a:off x="7194884" y="4210175"/>
            <a:ext cx="553200" cy="548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1" name="Google Shape;1171;p93"/>
          <p:cNvCxnSpPr>
            <a:stCxn id="1160" idx="2"/>
            <a:endCxn id="1164" idx="1"/>
          </p:cNvCxnSpPr>
          <p:nvPr/>
        </p:nvCxnSpPr>
        <p:spPr>
          <a:xfrm>
            <a:off x="7194884" y="4210175"/>
            <a:ext cx="1416000" cy="548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Conflict Serializability</a:t>
            </a:r>
            <a:endParaRPr/>
          </a:p>
        </p:txBody>
      </p:sp>
      <p:sp>
        <p:nvSpPr>
          <p:cNvPr id="1178" name="Google Shape;1178;p94"/>
          <p:cNvSpPr txBox="1"/>
          <p:nvPr>
            <p:ph idx="1" type="body"/>
          </p:nvPr>
        </p:nvSpPr>
        <p:spPr>
          <a:xfrm>
            <a:off x="838200" y="1690688"/>
            <a:ext cx="1062912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Two schedules are </a:t>
            </a:r>
            <a:r>
              <a:rPr b="1" lang="en-US"/>
              <a:t>conflict equivalent </a:t>
            </a:r>
            <a:r>
              <a:rPr lang="en-US"/>
              <a:t>if: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They involve </a:t>
            </a:r>
            <a:r>
              <a:rPr i="1" lang="en-US"/>
              <a:t>the same actions of the same TXNs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Every </a:t>
            </a:r>
            <a:r>
              <a:rPr i="1" lang="en-US"/>
              <a:t>pair of conflicting actions</a:t>
            </a:r>
            <a:r>
              <a:rPr lang="en-US"/>
              <a:t> of two TXNs are </a:t>
            </a:r>
            <a:r>
              <a:rPr i="1" lang="en-US"/>
              <a:t>ordered in the same way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Schedule S is </a:t>
            </a:r>
            <a:r>
              <a:rPr b="1" lang="en-US"/>
              <a:t>conflict serializable </a:t>
            </a:r>
            <a:r>
              <a:rPr lang="en-US"/>
              <a:t>if S is </a:t>
            </a:r>
            <a:r>
              <a:rPr i="1" lang="en-US"/>
              <a:t>conflict equivalent</a:t>
            </a:r>
            <a:r>
              <a:rPr lang="en-US"/>
              <a:t> to some serial schedule</a:t>
            </a:r>
            <a:endParaRPr/>
          </a:p>
        </p:txBody>
      </p:sp>
      <p:sp>
        <p:nvSpPr>
          <p:cNvPr id="1179" name="Google Shape;1179;p94"/>
          <p:cNvSpPr txBox="1"/>
          <p:nvPr/>
        </p:nvSpPr>
        <p:spPr>
          <a:xfrm>
            <a:off x="1246129" y="5584860"/>
            <a:ext cx="9813264" cy="9541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Recall: “Good” vs. “bad” schedules</a:t>
            </a:r>
            <a:endParaRPr/>
          </a:p>
        </p:txBody>
      </p:sp>
      <p:sp>
        <p:nvSpPr>
          <p:cNvPr id="1185" name="Google Shape;1185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6" name="Google Shape;1186;p95"/>
          <p:cNvSpPr txBox="1"/>
          <p:nvPr/>
        </p:nvSpPr>
        <p:spPr>
          <a:xfrm>
            <a:off x="2042725" y="5671295"/>
            <a:ext cx="8485508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 serializability also provides us with an operative notion of “good” vs. “bad” schedules!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95"/>
          <p:cNvSpPr txBox="1"/>
          <p:nvPr/>
        </p:nvSpPr>
        <p:spPr>
          <a:xfrm>
            <a:off x="605725" y="1690688"/>
            <a:ext cx="20986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1188" name="Google Shape;1188;p95"/>
          <p:cNvGrpSpPr/>
          <p:nvPr/>
        </p:nvGrpSpPr>
        <p:grpSpPr>
          <a:xfrm>
            <a:off x="512690" y="2299162"/>
            <a:ext cx="4861978" cy="976527"/>
            <a:chOff x="542809" y="2322356"/>
            <a:chExt cx="6561865" cy="965384"/>
          </a:xfrm>
        </p:grpSpPr>
        <p:cxnSp>
          <p:nvCxnSpPr>
            <p:cNvPr id="1189" name="Google Shape;1189;p95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90" name="Google Shape;1190;p95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191" name="Google Shape;1191;p95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192" name="Google Shape;1192;p95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95"/>
            <p:cNvSpPr txBox="1"/>
            <p:nvPr/>
          </p:nvSpPr>
          <p:spPr>
            <a:xfrm>
              <a:off x="260428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95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195" name="Google Shape;1195;p95"/>
            <p:cNvSpPr txBox="1"/>
            <p:nvPr/>
          </p:nvSpPr>
          <p:spPr>
            <a:xfrm>
              <a:off x="335532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196" name="Google Shape;1196;p95"/>
            <p:cNvSpPr txBox="1"/>
            <p:nvPr/>
          </p:nvSpPr>
          <p:spPr>
            <a:xfrm>
              <a:off x="4109083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95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95"/>
            <p:cNvSpPr txBox="1"/>
            <p:nvPr/>
          </p:nvSpPr>
          <p:spPr>
            <a:xfrm>
              <a:off x="4818498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199" name="Google Shape;1199;p95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grpSp>
        <p:nvGrpSpPr>
          <p:cNvPr id="1200" name="Google Shape;1200;p95"/>
          <p:cNvGrpSpPr/>
          <p:nvPr/>
        </p:nvGrpSpPr>
        <p:grpSpPr>
          <a:xfrm>
            <a:off x="6736209" y="2299162"/>
            <a:ext cx="4861978" cy="976527"/>
            <a:chOff x="542809" y="2322356"/>
            <a:chExt cx="6561865" cy="965384"/>
          </a:xfrm>
        </p:grpSpPr>
        <p:cxnSp>
          <p:nvCxnSpPr>
            <p:cNvPr id="1201" name="Google Shape;1201;p95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02" name="Google Shape;1202;p95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03" name="Google Shape;1203;p95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04" name="Google Shape;1204;p95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95"/>
            <p:cNvSpPr txBox="1"/>
            <p:nvPr/>
          </p:nvSpPr>
          <p:spPr>
            <a:xfrm>
              <a:off x="406745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95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207" name="Google Shape;1207;p95"/>
            <p:cNvSpPr txBox="1"/>
            <p:nvPr/>
          </p:nvSpPr>
          <p:spPr>
            <a:xfrm>
              <a:off x="481849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208" name="Google Shape;1208;p95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95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95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211" name="Google Shape;1211;p95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grpSp>
        <p:nvGrpSpPr>
          <p:cNvPr id="1212" name="Google Shape;1212;p95"/>
          <p:cNvGrpSpPr/>
          <p:nvPr/>
        </p:nvGrpSpPr>
        <p:grpSpPr>
          <a:xfrm>
            <a:off x="6736209" y="4091868"/>
            <a:ext cx="4861978" cy="976527"/>
            <a:chOff x="542809" y="2322356"/>
            <a:chExt cx="6561865" cy="965384"/>
          </a:xfrm>
        </p:grpSpPr>
        <p:cxnSp>
          <p:nvCxnSpPr>
            <p:cNvPr id="1213" name="Google Shape;1213;p95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14" name="Google Shape;1214;p95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15" name="Google Shape;1215;p95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16" name="Google Shape;1216;p95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95"/>
            <p:cNvSpPr txBox="1"/>
            <p:nvPr/>
          </p:nvSpPr>
          <p:spPr>
            <a:xfrm>
              <a:off x="5617905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95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219" name="Google Shape;1219;p95"/>
            <p:cNvSpPr txBox="1"/>
            <p:nvPr/>
          </p:nvSpPr>
          <p:spPr>
            <a:xfrm>
              <a:off x="6368946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220" name="Google Shape;1220;p95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95"/>
            <p:cNvSpPr txBox="1"/>
            <p:nvPr/>
          </p:nvSpPr>
          <p:spPr>
            <a:xfrm>
              <a:off x="4154735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95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223" name="Google Shape;1223;p95"/>
            <p:cNvSpPr txBox="1"/>
            <p:nvPr/>
          </p:nvSpPr>
          <p:spPr>
            <a:xfrm>
              <a:off x="4857724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sp>
        <p:nvSpPr>
          <p:cNvPr id="1224" name="Google Shape;1224;p95"/>
          <p:cNvSpPr/>
          <p:nvPr/>
        </p:nvSpPr>
        <p:spPr>
          <a:xfrm>
            <a:off x="5812971" y="2629774"/>
            <a:ext cx="718458" cy="21405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95"/>
          <p:cNvSpPr/>
          <p:nvPr/>
        </p:nvSpPr>
        <p:spPr>
          <a:xfrm rot="2307267">
            <a:off x="5736769" y="3535713"/>
            <a:ext cx="718458" cy="21405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95"/>
          <p:cNvSpPr txBox="1"/>
          <p:nvPr/>
        </p:nvSpPr>
        <p:spPr>
          <a:xfrm>
            <a:off x="5748124" y="366452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227" name="Google Shape;1227;p95"/>
          <p:cNvSpPr txBox="1"/>
          <p:nvPr/>
        </p:nvSpPr>
        <p:spPr>
          <a:xfrm>
            <a:off x="6885270" y="1690688"/>
            <a:ext cx="29145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 Schedules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228" name="Google Shape;1228;p95"/>
          <p:cNvSpPr txBox="1"/>
          <p:nvPr/>
        </p:nvSpPr>
        <p:spPr>
          <a:xfrm>
            <a:off x="551422" y="3863574"/>
            <a:ext cx="4933440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in the “bad” schedule, the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of conflicting actions is different than the above (or any) serial schedule!</a:t>
            </a:r>
            <a:endParaRPr/>
          </a:p>
        </p:txBody>
      </p:sp>
      <p:cxnSp>
        <p:nvCxnSpPr>
          <p:cNvPr id="1229" name="Google Shape;1229;p95"/>
          <p:cNvCxnSpPr>
            <a:stCxn id="1221" idx="0"/>
            <a:endCxn id="1219" idx="2"/>
          </p:cNvCxnSpPr>
          <p:nvPr/>
        </p:nvCxnSpPr>
        <p:spPr>
          <a:xfrm flipH="1" rot="10800000">
            <a:off x="9637556" y="4422338"/>
            <a:ext cx="1678800" cy="2142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0" name="Google Shape;1230;p95"/>
          <p:cNvCxnSpPr>
            <a:stCxn id="1207" idx="2"/>
            <a:endCxn id="1209" idx="0"/>
          </p:cNvCxnSpPr>
          <p:nvPr/>
        </p:nvCxnSpPr>
        <p:spPr>
          <a:xfrm>
            <a:off x="10167519" y="2629774"/>
            <a:ext cx="554100" cy="2142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1" name="Google Shape;1231;p95"/>
          <p:cNvCxnSpPr>
            <a:stCxn id="1195" idx="2"/>
            <a:endCxn id="1197" idx="0"/>
          </p:cNvCxnSpPr>
          <p:nvPr/>
        </p:nvCxnSpPr>
        <p:spPr>
          <a:xfrm>
            <a:off x="2859872" y="2629774"/>
            <a:ext cx="1638300" cy="2142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32" name="Google Shape;1232;p95"/>
          <p:cNvSpPr/>
          <p:nvPr/>
        </p:nvSpPr>
        <p:spPr>
          <a:xfrm>
            <a:off x="2523223" y="2187018"/>
            <a:ext cx="669104" cy="584450"/>
          </a:xfrm>
          <a:prstGeom prst="ellipse">
            <a:avLst/>
          </a:prstGeom>
          <a:solidFill>
            <a:srgbClr val="FF0000">
              <a:alpha val="2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95"/>
          <p:cNvSpPr/>
          <p:nvPr/>
        </p:nvSpPr>
        <p:spPr>
          <a:xfrm>
            <a:off x="9823141" y="2187018"/>
            <a:ext cx="669104" cy="584450"/>
          </a:xfrm>
          <a:prstGeom prst="ellipse">
            <a:avLst/>
          </a:prstGeom>
          <a:solidFill>
            <a:srgbClr val="FF0000">
              <a:alpha val="2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95"/>
          <p:cNvSpPr/>
          <p:nvPr/>
        </p:nvSpPr>
        <p:spPr>
          <a:xfrm>
            <a:off x="10971937" y="3991755"/>
            <a:ext cx="669104" cy="584450"/>
          </a:xfrm>
          <a:prstGeom prst="ellipse">
            <a:avLst/>
          </a:prstGeom>
          <a:solidFill>
            <a:srgbClr val="FF0000">
              <a:alpha val="2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95"/>
          <p:cNvSpPr/>
          <p:nvPr/>
        </p:nvSpPr>
        <p:spPr>
          <a:xfrm>
            <a:off x="4148505" y="2687553"/>
            <a:ext cx="669104" cy="584450"/>
          </a:xfrm>
          <a:prstGeom prst="ellipse">
            <a:avLst/>
          </a:prstGeom>
          <a:solidFill>
            <a:srgbClr val="0070C0">
              <a:alpha val="2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95"/>
          <p:cNvSpPr/>
          <p:nvPr/>
        </p:nvSpPr>
        <p:spPr>
          <a:xfrm>
            <a:off x="10381259" y="2686418"/>
            <a:ext cx="669104" cy="584450"/>
          </a:xfrm>
          <a:prstGeom prst="ellipse">
            <a:avLst/>
          </a:prstGeom>
          <a:solidFill>
            <a:srgbClr val="0070C0">
              <a:alpha val="2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95"/>
          <p:cNvSpPr/>
          <p:nvPr/>
        </p:nvSpPr>
        <p:spPr>
          <a:xfrm>
            <a:off x="9300812" y="4450275"/>
            <a:ext cx="669104" cy="584450"/>
          </a:xfrm>
          <a:prstGeom prst="ellipse">
            <a:avLst/>
          </a:prstGeom>
          <a:solidFill>
            <a:srgbClr val="0070C0">
              <a:alpha val="2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9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Note: Conflicts vs. Anomalies</a:t>
            </a:r>
            <a:endParaRPr/>
          </a:p>
        </p:txBody>
      </p:sp>
      <p:sp>
        <p:nvSpPr>
          <p:cNvPr id="1243" name="Google Shape;1243;p9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/>
              <a:t>Conflicts</a:t>
            </a:r>
            <a:r>
              <a:rPr lang="en-US"/>
              <a:t> are things we talk about to help us characterize different schedules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Present in both “good” and “bad” schedules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Anomalies</a:t>
            </a:r>
            <a:r>
              <a:rPr lang="en-US"/>
              <a:t> are instances where isolation and/or consistency is broken because of a “bad” schedule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often characterize different anomaly types by what types of conflicts predicated them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Conflict Graph</a:t>
            </a:r>
            <a:endParaRPr/>
          </a:p>
        </p:txBody>
      </p:sp>
      <p:sp>
        <p:nvSpPr>
          <p:cNvPr id="1249" name="Google Shape;1249;p97"/>
          <p:cNvSpPr txBox="1"/>
          <p:nvPr>
            <p:ph idx="1" type="body"/>
          </p:nvPr>
        </p:nvSpPr>
        <p:spPr>
          <a:xfrm>
            <a:off x="838200" y="1825625"/>
            <a:ext cx="10515600" cy="2687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Let’s now consider looking at conflicts </a:t>
            </a:r>
            <a:r>
              <a:rPr b="1" lang="en-US"/>
              <a:t>at the TXN level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a graph where the </a:t>
            </a:r>
            <a:r>
              <a:rPr b="1" lang="en-US"/>
              <a:t>nodes are TXNs</a:t>
            </a:r>
            <a:r>
              <a:rPr lang="en-US"/>
              <a:t>, and there is an edge from T</a:t>
            </a:r>
            <a:r>
              <a:rPr baseline="-25000" lang="en-US"/>
              <a:t>i</a:t>
            </a:r>
            <a:r>
              <a:rPr lang="en-US"/>
              <a:t> 🡪T</a:t>
            </a:r>
            <a:r>
              <a:rPr baseline="-25000" lang="en-US"/>
              <a:t>j</a:t>
            </a:r>
            <a:r>
              <a:rPr lang="en-US"/>
              <a:t> </a:t>
            </a:r>
            <a:r>
              <a:rPr b="1" lang="en-US"/>
              <a:t>if any actions in T</a:t>
            </a:r>
            <a:r>
              <a:rPr b="1" baseline="-25000" lang="en-US"/>
              <a:t>i</a:t>
            </a:r>
            <a:r>
              <a:rPr b="1" lang="en-US"/>
              <a:t> </a:t>
            </a:r>
            <a:r>
              <a:rPr b="1" lang="en-US" u="sng"/>
              <a:t>precede and conflict with</a:t>
            </a:r>
            <a:r>
              <a:rPr b="1" lang="en-US"/>
              <a:t> any actions in T</a:t>
            </a:r>
            <a:r>
              <a:rPr b="1" baseline="-25000" lang="en-US"/>
              <a:t>j</a:t>
            </a:r>
            <a:endParaRPr baseline="-25000"/>
          </a:p>
        </p:txBody>
      </p:sp>
      <p:grpSp>
        <p:nvGrpSpPr>
          <p:cNvPr id="1250" name="Google Shape;1250;p97"/>
          <p:cNvGrpSpPr/>
          <p:nvPr/>
        </p:nvGrpSpPr>
        <p:grpSpPr>
          <a:xfrm>
            <a:off x="7742944" y="5183156"/>
            <a:ext cx="632697" cy="632697"/>
            <a:chOff x="7435034" y="4492691"/>
            <a:chExt cx="632697" cy="632697"/>
          </a:xfrm>
        </p:grpSpPr>
        <p:sp>
          <p:nvSpPr>
            <p:cNvPr id="1251" name="Google Shape;1251;p97"/>
            <p:cNvSpPr/>
            <p:nvPr/>
          </p:nvSpPr>
          <p:spPr>
            <a:xfrm>
              <a:off x="7435034" y="4492691"/>
              <a:ext cx="632697" cy="632697"/>
            </a:xfrm>
            <a:prstGeom prst="ellipse">
              <a:avLst/>
            </a:prstGeom>
            <a:gradFill>
              <a:gsLst>
                <a:gs pos="0">
                  <a:srgbClr val="D1D1D1"/>
                </a:gs>
                <a:gs pos="50000">
                  <a:srgbClr val="C7C7C7"/>
                </a:gs>
                <a:gs pos="100000">
                  <a:srgbClr val="C0C0C0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97"/>
            <p:cNvSpPr txBox="1"/>
            <p:nvPr/>
          </p:nvSpPr>
          <p:spPr>
            <a:xfrm>
              <a:off x="7582333" y="4615043"/>
              <a:ext cx="3754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253" name="Google Shape;1253;p97"/>
          <p:cNvGrpSpPr/>
          <p:nvPr/>
        </p:nvGrpSpPr>
        <p:grpSpPr>
          <a:xfrm>
            <a:off x="9270791" y="5193886"/>
            <a:ext cx="632697" cy="632697"/>
            <a:chOff x="8962881" y="4512752"/>
            <a:chExt cx="632697" cy="632697"/>
          </a:xfrm>
        </p:grpSpPr>
        <p:sp>
          <p:nvSpPr>
            <p:cNvPr id="1254" name="Google Shape;1254;p97"/>
            <p:cNvSpPr/>
            <p:nvPr/>
          </p:nvSpPr>
          <p:spPr>
            <a:xfrm>
              <a:off x="8962881" y="4512752"/>
              <a:ext cx="632697" cy="632697"/>
            </a:xfrm>
            <a:prstGeom prst="ellipse">
              <a:avLst/>
            </a:prstGeom>
            <a:gradFill>
              <a:gsLst>
                <a:gs pos="0">
                  <a:srgbClr val="D1D1D1"/>
                </a:gs>
                <a:gs pos="50000">
                  <a:srgbClr val="C7C7C7"/>
                </a:gs>
                <a:gs pos="100000">
                  <a:srgbClr val="C0C0C0"/>
                </a:gs>
              </a:gsLst>
              <a:lin ang="5400000" scaled="0"/>
            </a:gradFill>
            <a:ln cap="flat" cmpd="sng" w="9525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97"/>
            <p:cNvSpPr txBox="1"/>
            <p:nvPr/>
          </p:nvSpPr>
          <p:spPr>
            <a:xfrm>
              <a:off x="9105830" y="4624373"/>
              <a:ext cx="3754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256" name="Google Shape;1256;p97"/>
          <p:cNvGrpSpPr/>
          <p:nvPr/>
        </p:nvGrpSpPr>
        <p:grpSpPr>
          <a:xfrm>
            <a:off x="1296462" y="4974896"/>
            <a:ext cx="4861978" cy="976527"/>
            <a:chOff x="988552" y="4284431"/>
            <a:chExt cx="4861978" cy="976527"/>
          </a:xfrm>
        </p:grpSpPr>
        <p:cxnSp>
          <p:nvCxnSpPr>
            <p:cNvPr id="1257" name="Google Shape;1257;p97"/>
            <p:cNvCxnSpPr>
              <a:stCxn id="1258" idx="2"/>
              <a:endCxn id="1259" idx="1"/>
            </p:cNvCxnSpPr>
            <p:nvPr/>
          </p:nvCxnSpPr>
          <p:spPr>
            <a:xfrm>
              <a:off x="2186940" y="4615043"/>
              <a:ext cx="360000" cy="3525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60" name="Google Shape;1260;p97"/>
            <p:cNvCxnSpPr>
              <a:stCxn id="1261" idx="2"/>
              <a:endCxn id="1262" idx="1"/>
            </p:cNvCxnSpPr>
            <p:nvPr/>
          </p:nvCxnSpPr>
          <p:spPr>
            <a:xfrm>
              <a:off x="1626796" y="4615043"/>
              <a:ext cx="1445700" cy="3525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63" name="Google Shape;1263;p97"/>
            <p:cNvCxnSpPr>
              <a:stCxn id="1258" idx="2"/>
              <a:endCxn id="1262" idx="1"/>
            </p:cNvCxnSpPr>
            <p:nvPr/>
          </p:nvCxnSpPr>
          <p:spPr>
            <a:xfrm>
              <a:off x="2186940" y="4615043"/>
              <a:ext cx="885600" cy="3525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64" name="Google Shape;1264;p97"/>
            <p:cNvCxnSpPr/>
            <p:nvPr/>
          </p:nvCxnSpPr>
          <p:spPr>
            <a:xfrm>
              <a:off x="1398038" y="5250829"/>
              <a:ext cx="4452492" cy="10129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65" name="Google Shape;1265;p97"/>
            <p:cNvSpPr txBox="1"/>
            <p:nvPr/>
          </p:nvSpPr>
          <p:spPr>
            <a:xfrm>
              <a:off x="988552" y="4284431"/>
              <a:ext cx="3754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66" name="Google Shape;1266;p97"/>
            <p:cNvSpPr txBox="1"/>
            <p:nvPr/>
          </p:nvSpPr>
          <p:spPr>
            <a:xfrm>
              <a:off x="988552" y="4736768"/>
              <a:ext cx="3754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61" name="Google Shape;1261;p97"/>
            <p:cNvSpPr txBox="1"/>
            <p:nvPr/>
          </p:nvSpPr>
          <p:spPr>
            <a:xfrm>
              <a:off x="1398038" y="4338044"/>
              <a:ext cx="457515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97"/>
            <p:cNvSpPr txBox="1"/>
            <p:nvPr/>
          </p:nvSpPr>
          <p:spPr>
            <a:xfrm>
              <a:off x="3600121" y="4338044"/>
              <a:ext cx="475363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97"/>
            <p:cNvSpPr txBox="1"/>
            <p:nvPr/>
          </p:nvSpPr>
          <p:spPr>
            <a:xfrm>
              <a:off x="1923677" y="4338044"/>
              <a:ext cx="526525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268" name="Google Shape;1268;p97"/>
            <p:cNvSpPr txBox="1"/>
            <p:nvPr/>
          </p:nvSpPr>
          <p:spPr>
            <a:xfrm>
              <a:off x="4156600" y="4338044"/>
              <a:ext cx="526525" cy="276999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259" name="Google Shape;1259;p97"/>
            <p:cNvSpPr txBox="1"/>
            <p:nvPr/>
          </p:nvSpPr>
          <p:spPr>
            <a:xfrm>
              <a:off x="2546835" y="4829101"/>
              <a:ext cx="459846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97"/>
            <p:cNvSpPr txBox="1"/>
            <p:nvPr/>
          </p:nvSpPr>
          <p:spPr>
            <a:xfrm>
              <a:off x="4748917" y="4829101"/>
              <a:ext cx="450220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97"/>
            <p:cNvSpPr txBox="1"/>
            <p:nvPr/>
          </p:nvSpPr>
          <p:spPr>
            <a:xfrm>
              <a:off x="3072472" y="4829101"/>
              <a:ext cx="526525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270" name="Google Shape;1270;p97"/>
            <p:cNvSpPr txBox="1"/>
            <p:nvPr/>
          </p:nvSpPr>
          <p:spPr>
            <a:xfrm>
              <a:off x="5269793" y="4829101"/>
              <a:ext cx="526525" cy="276999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cxnSp>
          <p:nvCxnSpPr>
            <p:cNvPr id="1271" name="Google Shape;1271;p97"/>
            <p:cNvCxnSpPr>
              <a:stCxn id="1267" idx="2"/>
              <a:endCxn id="1270" idx="1"/>
            </p:cNvCxnSpPr>
            <p:nvPr/>
          </p:nvCxnSpPr>
          <p:spPr>
            <a:xfrm>
              <a:off x="3837803" y="4615043"/>
              <a:ext cx="1431900" cy="3525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72" name="Google Shape;1272;p97"/>
            <p:cNvCxnSpPr>
              <a:stCxn id="1268" idx="2"/>
              <a:endCxn id="1269" idx="1"/>
            </p:cNvCxnSpPr>
            <p:nvPr/>
          </p:nvCxnSpPr>
          <p:spPr>
            <a:xfrm>
              <a:off x="4419863" y="4615043"/>
              <a:ext cx="329100" cy="3525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73" name="Google Shape;1273;p97"/>
            <p:cNvCxnSpPr>
              <a:stCxn id="1268" idx="2"/>
              <a:endCxn id="1270" idx="1"/>
            </p:cNvCxnSpPr>
            <p:nvPr/>
          </p:nvCxnSpPr>
          <p:spPr>
            <a:xfrm>
              <a:off x="4419863" y="4615043"/>
              <a:ext cx="849900" cy="3525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274" name="Google Shape;1274;p97"/>
          <p:cNvSpPr/>
          <p:nvPr/>
        </p:nvSpPr>
        <p:spPr>
          <a:xfrm>
            <a:off x="6488817" y="5236258"/>
            <a:ext cx="678024" cy="49105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5" name="Google Shape;1275;p97"/>
          <p:cNvCxnSpPr>
            <a:stCxn id="1251" idx="6"/>
            <a:endCxn id="1254" idx="2"/>
          </p:cNvCxnSpPr>
          <p:nvPr/>
        </p:nvCxnSpPr>
        <p:spPr>
          <a:xfrm>
            <a:off x="8375641" y="5499505"/>
            <a:ext cx="895200" cy="10800"/>
          </a:xfrm>
          <a:prstGeom prst="straightConnector1">
            <a:avLst/>
          </a:prstGeom>
          <a:noFill/>
          <a:ln cap="flat" cmpd="sng" w="349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1" name="Google Shape;1281;p98"/>
          <p:cNvSpPr txBox="1"/>
          <p:nvPr/>
        </p:nvSpPr>
        <p:spPr>
          <a:xfrm>
            <a:off x="605725" y="2097854"/>
            <a:ext cx="20986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1282" name="Google Shape;1282;p98"/>
          <p:cNvGrpSpPr/>
          <p:nvPr/>
        </p:nvGrpSpPr>
        <p:grpSpPr>
          <a:xfrm>
            <a:off x="512690" y="2706328"/>
            <a:ext cx="4861978" cy="976527"/>
            <a:chOff x="542809" y="2322356"/>
            <a:chExt cx="6561865" cy="965384"/>
          </a:xfrm>
        </p:grpSpPr>
        <p:cxnSp>
          <p:nvCxnSpPr>
            <p:cNvPr id="1283" name="Google Shape;1283;p98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84" name="Google Shape;1284;p98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85" name="Google Shape;1285;p98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86" name="Google Shape;1286;p98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98"/>
            <p:cNvSpPr txBox="1"/>
            <p:nvPr/>
          </p:nvSpPr>
          <p:spPr>
            <a:xfrm>
              <a:off x="260428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98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289" name="Google Shape;1289;p98"/>
            <p:cNvSpPr txBox="1"/>
            <p:nvPr/>
          </p:nvSpPr>
          <p:spPr>
            <a:xfrm>
              <a:off x="335532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290" name="Google Shape;1290;p98"/>
            <p:cNvSpPr txBox="1"/>
            <p:nvPr/>
          </p:nvSpPr>
          <p:spPr>
            <a:xfrm>
              <a:off x="4109083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98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98"/>
            <p:cNvSpPr txBox="1"/>
            <p:nvPr/>
          </p:nvSpPr>
          <p:spPr>
            <a:xfrm>
              <a:off x="4818498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293" name="Google Shape;1293;p98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grpSp>
        <p:nvGrpSpPr>
          <p:cNvPr id="1294" name="Google Shape;1294;p98"/>
          <p:cNvGrpSpPr/>
          <p:nvPr/>
        </p:nvGrpSpPr>
        <p:grpSpPr>
          <a:xfrm>
            <a:off x="6736209" y="2706328"/>
            <a:ext cx="4861978" cy="976527"/>
            <a:chOff x="542809" y="2322356"/>
            <a:chExt cx="6561865" cy="965384"/>
          </a:xfrm>
        </p:grpSpPr>
        <p:cxnSp>
          <p:nvCxnSpPr>
            <p:cNvPr id="1295" name="Google Shape;1295;p98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96" name="Google Shape;1296;p98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97" name="Google Shape;1297;p98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98" name="Google Shape;1298;p98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98"/>
            <p:cNvSpPr txBox="1"/>
            <p:nvPr/>
          </p:nvSpPr>
          <p:spPr>
            <a:xfrm>
              <a:off x="4067457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98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301" name="Google Shape;1301;p98"/>
            <p:cNvSpPr txBox="1"/>
            <p:nvPr/>
          </p:nvSpPr>
          <p:spPr>
            <a:xfrm>
              <a:off x="4818497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302" name="Google Shape;1302;p98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98"/>
            <p:cNvSpPr txBox="1"/>
            <p:nvPr/>
          </p:nvSpPr>
          <p:spPr>
            <a:xfrm>
              <a:off x="5617906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98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305" name="Google Shape;1305;p98"/>
            <p:cNvSpPr txBox="1"/>
            <p:nvPr/>
          </p:nvSpPr>
          <p:spPr>
            <a:xfrm>
              <a:off x="6320895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grpSp>
        <p:nvGrpSpPr>
          <p:cNvPr id="1306" name="Google Shape;1306;p98"/>
          <p:cNvGrpSpPr/>
          <p:nvPr/>
        </p:nvGrpSpPr>
        <p:grpSpPr>
          <a:xfrm>
            <a:off x="6736209" y="4499034"/>
            <a:ext cx="4861978" cy="976527"/>
            <a:chOff x="542809" y="2322356"/>
            <a:chExt cx="6561865" cy="965384"/>
          </a:xfrm>
        </p:grpSpPr>
        <p:cxnSp>
          <p:nvCxnSpPr>
            <p:cNvPr id="1307" name="Google Shape;1307;p98"/>
            <p:cNvCxnSpPr/>
            <p:nvPr/>
          </p:nvCxnSpPr>
          <p:spPr>
            <a:xfrm>
              <a:off x="1095463" y="3277727"/>
              <a:ext cx="6009211" cy="10013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08" name="Google Shape;1308;p98"/>
            <p:cNvSpPr txBox="1"/>
            <p:nvPr/>
          </p:nvSpPr>
          <p:spPr>
            <a:xfrm>
              <a:off x="542809" y="2322356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309" name="Google Shape;1309;p98"/>
            <p:cNvSpPr txBox="1"/>
            <p:nvPr/>
          </p:nvSpPr>
          <p:spPr>
            <a:xfrm>
              <a:off x="542809" y="2769531"/>
              <a:ext cx="506683" cy="36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310" name="Google Shape;1310;p98"/>
            <p:cNvSpPr txBox="1"/>
            <p:nvPr/>
          </p:nvSpPr>
          <p:spPr>
            <a:xfrm>
              <a:off x="1095463" y="2375357"/>
              <a:ext cx="617475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98"/>
            <p:cNvSpPr txBox="1"/>
            <p:nvPr/>
          </p:nvSpPr>
          <p:spPr>
            <a:xfrm>
              <a:off x="5617905" y="2375357"/>
              <a:ext cx="641564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98"/>
            <p:cNvSpPr txBox="1"/>
            <p:nvPr/>
          </p:nvSpPr>
          <p:spPr>
            <a:xfrm>
              <a:off x="1804881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313" name="Google Shape;1313;p98"/>
            <p:cNvSpPr txBox="1"/>
            <p:nvPr/>
          </p:nvSpPr>
          <p:spPr>
            <a:xfrm>
              <a:off x="6368946" y="2375357"/>
              <a:ext cx="710613" cy="273838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  <p:sp>
          <p:nvSpPr>
            <p:cNvPr id="1314" name="Google Shape;1314;p98"/>
            <p:cNvSpPr txBox="1"/>
            <p:nvPr/>
          </p:nvSpPr>
          <p:spPr>
            <a:xfrm>
              <a:off x="2645912" y="2860811"/>
              <a:ext cx="620621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98"/>
            <p:cNvSpPr txBox="1"/>
            <p:nvPr/>
          </p:nvSpPr>
          <p:spPr>
            <a:xfrm>
              <a:off x="4154735" y="2860811"/>
              <a:ext cx="607630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R(B)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98"/>
            <p:cNvSpPr txBox="1"/>
            <p:nvPr/>
          </p:nvSpPr>
          <p:spPr>
            <a:xfrm>
              <a:off x="3355327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W(A)</a:t>
              </a:r>
              <a:endParaRPr/>
            </a:p>
          </p:txBody>
        </p:sp>
        <p:sp>
          <p:nvSpPr>
            <p:cNvPr id="1317" name="Google Shape;1317;p98"/>
            <p:cNvSpPr txBox="1"/>
            <p:nvPr/>
          </p:nvSpPr>
          <p:spPr>
            <a:xfrm>
              <a:off x="4857724" y="2860811"/>
              <a:ext cx="710613" cy="273838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cap="flat" cmpd="sng" w="95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W(B)</a:t>
              </a:r>
              <a:endParaRPr/>
            </a:p>
          </p:txBody>
        </p:sp>
      </p:grpSp>
      <p:sp>
        <p:nvSpPr>
          <p:cNvPr id="1318" name="Google Shape;1318;p98"/>
          <p:cNvSpPr/>
          <p:nvPr/>
        </p:nvSpPr>
        <p:spPr>
          <a:xfrm>
            <a:off x="5812971" y="3036940"/>
            <a:ext cx="718458" cy="21405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98"/>
          <p:cNvSpPr/>
          <p:nvPr/>
        </p:nvSpPr>
        <p:spPr>
          <a:xfrm rot="2307267">
            <a:off x="5736769" y="3942879"/>
            <a:ext cx="718458" cy="21405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98"/>
          <p:cNvSpPr txBox="1"/>
          <p:nvPr/>
        </p:nvSpPr>
        <p:spPr>
          <a:xfrm>
            <a:off x="5748124" y="4071686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21" name="Google Shape;1321;p98"/>
          <p:cNvSpPr txBox="1"/>
          <p:nvPr/>
        </p:nvSpPr>
        <p:spPr>
          <a:xfrm>
            <a:off x="6885270" y="2097854"/>
            <a:ext cx="29145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 Schedules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cxnSp>
        <p:nvCxnSpPr>
          <p:cNvPr id="1322" name="Google Shape;1322;p98"/>
          <p:cNvCxnSpPr>
            <a:stCxn id="1286" idx="2"/>
            <a:endCxn id="1292" idx="1"/>
          </p:cNvCxnSpPr>
          <p:nvPr/>
        </p:nvCxnSpPr>
        <p:spPr>
          <a:xfrm>
            <a:off x="1150933" y="3036940"/>
            <a:ext cx="25299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23" name="Google Shape;1323;p98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we say about “good” vs. “bad” conflict graphs?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4" name="Google Shape;1324;p98"/>
          <p:cNvCxnSpPr>
            <a:stCxn id="1288" idx="2"/>
            <a:endCxn id="1290" idx="1"/>
          </p:cNvCxnSpPr>
          <p:nvPr/>
        </p:nvCxnSpPr>
        <p:spPr>
          <a:xfrm>
            <a:off x="1711078" y="3036940"/>
            <a:ext cx="14439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5" name="Google Shape;1325;p98"/>
          <p:cNvCxnSpPr>
            <a:stCxn id="1288" idx="2"/>
            <a:endCxn id="1292" idx="1"/>
          </p:cNvCxnSpPr>
          <p:nvPr/>
        </p:nvCxnSpPr>
        <p:spPr>
          <a:xfrm>
            <a:off x="1711078" y="3036940"/>
            <a:ext cx="19698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6" name="Google Shape;1326;p98"/>
          <p:cNvCxnSpPr>
            <a:stCxn id="1287" idx="2"/>
            <a:endCxn id="1293" idx="1"/>
          </p:cNvCxnSpPr>
          <p:nvPr/>
        </p:nvCxnSpPr>
        <p:spPr>
          <a:xfrm>
            <a:off x="2277813" y="3036940"/>
            <a:ext cx="25161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7" name="Google Shape;1327;p98"/>
          <p:cNvCxnSpPr>
            <a:stCxn id="1289" idx="2"/>
            <a:endCxn id="1291" idx="1"/>
          </p:cNvCxnSpPr>
          <p:nvPr/>
        </p:nvCxnSpPr>
        <p:spPr>
          <a:xfrm>
            <a:off x="2859872" y="3036940"/>
            <a:ext cx="14133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8" name="Google Shape;1328;p98"/>
          <p:cNvCxnSpPr>
            <a:stCxn id="1289" idx="2"/>
            <a:endCxn id="1293" idx="1"/>
          </p:cNvCxnSpPr>
          <p:nvPr/>
        </p:nvCxnSpPr>
        <p:spPr>
          <a:xfrm>
            <a:off x="2859872" y="3036940"/>
            <a:ext cx="19341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9" name="Google Shape;1329;p98"/>
          <p:cNvCxnSpPr>
            <a:stCxn id="1298" idx="2"/>
            <a:endCxn id="1304" idx="1"/>
          </p:cNvCxnSpPr>
          <p:nvPr/>
        </p:nvCxnSpPr>
        <p:spPr>
          <a:xfrm>
            <a:off x="7374452" y="3036940"/>
            <a:ext cx="14457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0" name="Google Shape;1330;p98"/>
          <p:cNvCxnSpPr>
            <a:stCxn id="1300" idx="2"/>
            <a:endCxn id="1302" idx="1"/>
          </p:cNvCxnSpPr>
          <p:nvPr/>
        </p:nvCxnSpPr>
        <p:spPr>
          <a:xfrm>
            <a:off x="7934597" y="3036940"/>
            <a:ext cx="3600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1" name="Google Shape;1331;p98"/>
          <p:cNvCxnSpPr>
            <a:stCxn id="1300" idx="2"/>
            <a:endCxn id="1304" idx="1"/>
          </p:cNvCxnSpPr>
          <p:nvPr/>
        </p:nvCxnSpPr>
        <p:spPr>
          <a:xfrm>
            <a:off x="7934597" y="3036940"/>
            <a:ext cx="8856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2" name="Google Shape;1332;p98"/>
          <p:cNvCxnSpPr>
            <a:stCxn id="1299" idx="2"/>
            <a:endCxn id="1305" idx="1"/>
          </p:cNvCxnSpPr>
          <p:nvPr/>
        </p:nvCxnSpPr>
        <p:spPr>
          <a:xfrm>
            <a:off x="9585459" y="3036940"/>
            <a:ext cx="14319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3" name="Google Shape;1333;p98"/>
          <p:cNvCxnSpPr>
            <a:stCxn id="1301" idx="2"/>
            <a:endCxn id="1303" idx="1"/>
          </p:cNvCxnSpPr>
          <p:nvPr/>
        </p:nvCxnSpPr>
        <p:spPr>
          <a:xfrm>
            <a:off x="10167519" y="3036940"/>
            <a:ext cx="3291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4" name="Google Shape;1334;p98"/>
          <p:cNvCxnSpPr>
            <a:stCxn id="1301" idx="2"/>
            <a:endCxn id="1305" idx="1"/>
          </p:cNvCxnSpPr>
          <p:nvPr/>
        </p:nvCxnSpPr>
        <p:spPr>
          <a:xfrm>
            <a:off x="10167519" y="3036940"/>
            <a:ext cx="8499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5" name="Google Shape;1335;p98"/>
          <p:cNvCxnSpPr>
            <a:stCxn id="1310" idx="2"/>
            <a:endCxn id="1316" idx="1"/>
          </p:cNvCxnSpPr>
          <p:nvPr/>
        </p:nvCxnSpPr>
        <p:spPr>
          <a:xfrm>
            <a:off x="7374452" y="4829646"/>
            <a:ext cx="14457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6" name="Google Shape;1336;p98"/>
          <p:cNvCxnSpPr>
            <a:stCxn id="1312" idx="2"/>
            <a:endCxn id="1314" idx="1"/>
          </p:cNvCxnSpPr>
          <p:nvPr/>
        </p:nvCxnSpPr>
        <p:spPr>
          <a:xfrm>
            <a:off x="7934597" y="4829646"/>
            <a:ext cx="3600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7" name="Google Shape;1337;p98"/>
          <p:cNvCxnSpPr>
            <a:stCxn id="1312" idx="2"/>
            <a:endCxn id="1316" idx="1"/>
          </p:cNvCxnSpPr>
          <p:nvPr/>
        </p:nvCxnSpPr>
        <p:spPr>
          <a:xfrm>
            <a:off x="7934597" y="4829646"/>
            <a:ext cx="8856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8" name="Google Shape;1338;p98"/>
          <p:cNvCxnSpPr>
            <a:stCxn id="1315" idx="3"/>
            <a:endCxn id="1313" idx="2"/>
          </p:cNvCxnSpPr>
          <p:nvPr/>
        </p:nvCxnSpPr>
        <p:spPr>
          <a:xfrm flipH="1" rot="10800000">
            <a:off x="9862666" y="4829704"/>
            <a:ext cx="14535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9" name="Google Shape;1339;p98"/>
          <p:cNvCxnSpPr>
            <a:stCxn id="1317" idx="3"/>
            <a:endCxn id="1311" idx="2"/>
          </p:cNvCxnSpPr>
          <p:nvPr/>
        </p:nvCxnSpPr>
        <p:spPr>
          <a:xfrm flipH="1" rot="10800000">
            <a:off x="10459846" y="4829704"/>
            <a:ext cx="2745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0" name="Google Shape;1340;p98"/>
          <p:cNvCxnSpPr>
            <a:stCxn id="1317" idx="3"/>
            <a:endCxn id="1313" idx="2"/>
          </p:cNvCxnSpPr>
          <p:nvPr/>
        </p:nvCxnSpPr>
        <p:spPr>
          <a:xfrm flipH="1" rot="10800000">
            <a:off x="10459846" y="4829704"/>
            <a:ext cx="856500" cy="352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1" name="Google Shape;1341;p98"/>
          <p:cNvSpPr/>
          <p:nvPr/>
        </p:nvSpPr>
        <p:spPr>
          <a:xfrm>
            <a:off x="2196055" y="4513538"/>
            <a:ext cx="3026406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bit complicated…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7" name="Google Shape;1347;p99"/>
          <p:cNvSpPr txBox="1"/>
          <p:nvPr/>
        </p:nvSpPr>
        <p:spPr>
          <a:xfrm>
            <a:off x="605725" y="2097854"/>
            <a:ext cx="20986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 Schedule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348" name="Google Shape;1348;p99"/>
          <p:cNvSpPr/>
          <p:nvPr/>
        </p:nvSpPr>
        <p:spPr>
          <a:xfrm>
            <a:off x="5812971" y="3036940"/>
            <a:ext cx="718458" cy="21405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99"/>
          <p:cNvSpPr/>
          <p:nvPr/>
        </p:nvSpPr>
        <p:spPr>
          <a:xfrm rot="2307267">
            <a:off x="5736769" y="3942879"/>
            <a:ext cx="718458" cy="21405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99"/>
          <p:cNvSpPr txBox="1"/>
          <p:nvPr/>
        </p:nvSpPr>
        <p:spPr>
          <a:xfrm>
            <a:off x="5748124" y="4071686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51" name="Google Shape;1351;p99"/>
          <p:cNvSpPr txBox="1"/>
          <p:nvPr/>
        </p:nvSpPr>
        <p:spPr>
          <a:xfrm>
            <a:off x="6885270" y="2097854"/>
            <a:ext cx="29145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 Schedules</a:t>
            </a: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352" name="Google Shape;1352;p99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we say about “good” vs. “bad” conflict graphs?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3" name="Google Shape;1353;p99"/>
          <p:cNvGrpSpPr/>
          <p:nvPr/>
        </p:nvGrpSpPr>
        <p:grpSpPr>
          <a:xfrm>
            <a:off x="662764" y="2833780"/>
            <a:ext cx="3869962" cy="1152505"/>
            <a:chOff x="1566079" y="3036940"/>
            <a:chExt cx="2160544" cy="643427"/>
          </a:xfrm>
        </p:grpSpPr>
        <p:grpSp>
          <p:nvGrpSpPr>
            <p:cNvPr id="1354" name="Google Shape;1354;p99"/>
            <p:cNvGrpSpPr/>
            <p:nvPr/>
          </p:nvGrpSpPr>
          <p:grpSpPr>
            <a:xfrm>
              <a:off x="1566079" y="3036940"/>
              <a:ext cx="632697" cy="632697"/>
              <a:chOff x="7435034" y="4492691"/>
              <a:chExt cx="632697" cy="632697"/>
            </a:xfrm>
          </p:grpSpPr>
          <p:sp>
            <p:nvSpPr>
              <p:cNvPr id="1355" name="Google Shape;1355;p99"/>
              <p:cNvSpPr/>
              <p:nvPr/>
            </p:nvSpPr>
            <p:spPr>
              <a:xfrm>
                <a:off x="7435034" y="4492691"/>
                <a:ext cx="632697" cy="632697"/>
              </a:xfrm>
              <a:prstGeom prst="ellipse">
                <a:avLst/>
              </a:prstGeom>
              <a:gradFill>
                <a:gsLst>
                  <a:gs pos="0">
                    <a:srgbClr val="D1D1D1"/>
                  </a:gs>
                  <a:gs pos="50000">
                    <a:srgbClr val="C7C7C7"/>
                  </a:gs>
                  <a:gs pos="100000">
                    <a:srgbClr val="C0C0C0"/>
                  </a:gs>
                </a:gsLst>
                <a:lin ang="5400000" scaled="0"/>
              </a:gra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99"/>
              <p:cNvSpPr txBox="1"/>
              <p:nvPr/>
            </p:nvSpPr>
            <p:spPr>
              <a:xfrm>
                <a:off x="7582333" y="4615043"/>
                <a:ext cx="314301" cy="360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6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r>
                  <a:rPr b="1" baseline="-25000" lang="en-US" sz="36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  <p:grpSp>
          <p:nvGrpSpPr>
            <p:cNvPr id="1357" name="Google Shape;1357;p99"/>
            <p:cNvGrpSpPr/>
            <p:nvPr/>
          </p:nvGrpSpPr>
          <p:grpSpPr>
            <a:xfrm>
              <a:off x="3093926" y="3047670"/>
              <a:ext cx="632697" cy="632697"/>
              <a:chOff x="8962881" y="4512752"/>
              <a:chExt cx="632697" cy="632697"/>
            </a:xfrm>
          </p:grpSpPr>
          <p:sp>
            <p:nvSpPr>
              <p:cNvPr id="1358" name="Google Shape;1358;p99"/>
              <p:cNvSpPr/>
              <p:nvPr/>
            </p:nvSpPr>
            <p:spPr>
              <a:xfrm>
                <a:off x="8962881" y="4512752"/>
                <a:ext cx="632697" cy="632697"/>
              </a:xfrm>
              <a:prstGeom prst="ellipse">
                <a:avLst/>
              </a:prstGeom>
              <a:gradFill>
                <a:gsLst>
                  <a:gs pos="0">
                    <a:srgbClr val="D1D1D1"/>
                  </a:gs>
                  <a:gs pos="50000">
                    <a:srgbClr val="C7C7C7"/>
                  </a:gs>
                  <a:gs pos="100000">
                    <a:srgbClr val="C0C0C0"/>
                  </a:gs>
                </a:gsLst>
                <a:lin ang="5400000" scaled="0"/>
              </a:gra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99"/>
              <p:cNvSpPr txBox="1"/>
              <p:nvPr/>
            </p:nvSpPr>
            <p:spPr>
              <a:xfrm>
                <a:off x="9105830" y="4624373"/>
                <a:ext cx="314301" cy="360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6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r>
                  <a:rPr b="1" baseline="-25000" lang="en-US" sz="36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  <p:cxnSp>
          <p:nvCxnSpPr>
            <p:cNvPr id="1360" name="Google Shape;1360;p99"/>
            <p:cNvCxnSpPr/>
            <p:nvPr/>
          </p:nvCxnSpPr>
          <p:spPr>
            <a:xfrm>
              <a:off x="2198776" y="3353289"/>
              <a:ext cx="895150" cy="10730"/>
            </a:xfrm>
            <a:prstGeom prst="straightConnector1">
              <a:avLst/>
            </a:prstGeom>
            <a:noFill/>
            <a:ln cap="flat" cmpd="sng" w="349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61" name="Google Shape;1361;p99"/>
          <p:cNvGrpSpPr/>
          <p:nvPr/>
        </p:nvGrpSpPr>
        <p:grpSpPr>
          <a:xfrm>
            <a:off x="7141189" y="2678631"/>
            <a:ext cx="3869962" cy="1152505"/>
            <a:chOff x="1566079" y="3036940"/>
            <a:chExt cx="2160544" cy="643427"/>
          </a:xfrm>
        </p:grpSpPr>
        <p:grpSp>
          <p:nvGrpSpPr>
            <p:cNvPr id="1362" name="Google Shape;1362;p99"/>
            <p:cNvGrpSpPr/>
            <p:nvPr/>
          </p:nvGrpSpPr>
          <p:grpSpPr>
            <a:xfrm>
              <a:off x="1566079" y="3036940"/>
              <a:ext cx="632697" cy="632697"/>
              <a:chOff x="7435034" y="4492691"/>
              <a:chExt cx="632697" cy="632697"/>
            </a:xfrm>
          </p:grpSpPr>
          <p:sp>
            <p:nvSpPr>
              <p:cNvPr id="1363" name="Google Shape;1363;p99"/>
              <p:cNvSpPr/>
              <p:nvPr/>
            </p:nvSpPr>
            <p:spPr>
              <a:xfrm>
                <a:off x="7435034" y="4492691"/>
                <a:ext cx="632697" cy="632697"/>
              </a:xfrm>
              <a:prstGeom prst="ellipse">
                <a:avLst/>
              </a:prstGeom>
              <a:gradFill>
                <a:gsLst>
                  <a:gs pos="0">
                    <a:srgbClr val="D1D1D1"/>
                  </a:gs>
                  <a:gs pos="50000">
                    <a:srgbClr val="C7C7C7"/>
                  </a:gs>
                  <a:gs pos="100000">
                    <a:srgbClr val="C0C0C0"/>
                  </a:gs>
                </a:gsLst>
                <a:lin ang="5400000" scaled="0"/>
              </a:gra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99"/>
              <p:cNvSpPr txBox="1"/>
              <p:nvPr/>
            </p:nvSpPr>
            <p:spPr>
              <a:xfrm>
                <a:off x="7582333" y="4615043"/>
                <a:ext cx="314301" cy="360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6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r>
                  <a:rPr b="1" baseline="-25000" lang="en-US" sz="36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  <p:grpSp>
          <p:nvGrpSpPr>
            <p:cNvPr id="1365" name="Google Shape;1365;p99"/>
            <p:cNvGrpSpPr/>
            <p:nvPr/>
          </p:nvGrpSpPr>
          <p:grpSpPr>
            <a:xfrm>
              <a:off x="3093926" y="3047670"/>
              <a:ext cx="632697" cy="632697"/>
              <a:chOff x="8962881" y="4512752"/>
              <a:chExt cx="632697" cy="632697"/>
            </a:xfrm>
          </p:grpSpPr>
          <p:sp>
            <p:nvSpPr>
              <p:cNvPr id="1366" name="Google Shape;1366;p99"/>
              <p:cNvSpPr/>
              <p:nvPr/>
            </p:nvSpPr>
            <p:spPr>
              <a:xfrm>
                <a:off x="8962881" y="4512752"/>
                <a:ext cx="632697" cy="632697"/>
              </a:xfrm>
              <a:prstGeom prst="ellipse">
                <a:avLst/>
              </a:prstGeom>
              <a:gradFill>
                <a:gsLst>
                  <a:gs pos="0">
                    <a:srgbClr val="D1D1D1"/>
                  </a:gs>
                  <a:gs pos="50000">
                    <a:srgbClr val="C7C7C7"/>
                  </a:gs>
                  <a:gs pos="100000">
                    <a:srgbClr val="C0C0C0"/>
                  </a:gs>
                </a:gsLst>
                <a:lin ang="5400000" scaled="0"/>
              </a:gra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99"/>
              <p:cNvSpPr txBox="1"/>
              <p:nvPr/>
            </p:nvSpPr>
            <p:spPr>
              <a:xfrm>
                <a:off x="9105830" y="4624373"/>
                <a:ext cx="314301" cy="360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6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r>
                  <a:rPr b="1" baseline="-25000" lang="en-US" sz="36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  <p:cxnSp>
          <p:nvCxnSpPr>
            <p:cNvPr id="1368" name="Google Shape;1368;p99"/>
            <p:cNvCxnSpPr/>
            <p:nvPr/>
          </p:nvCxnSpPr>
          <p:spPr>
            <a:xfrm>
              <a:off x="2198776" y="3353289"/>
              <a:ext cx="895150" cy="10730"/>
            </a:xfrm>
            <a:prstGeom prst="straightConnector1">
              <a:avLst/>
            </a:prstGeom>
            <a:noFill/>
            <a:ln cap="flat" cmpd="sng" w="349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69" name="Google Shape;1369;p99"/>
          <p:cNvGrpSpPr/>
          <p:nvPr/>
        </p:nvGrpSpPr>
        <p:grpSpPr>
          <a:xfrm>
            <a:off x="7141190" y="4178064"/>
            <a:ext cx="3869962" cy="1152505"/>
            <a:chOff x="1566079" y="3036940"/>
            <a:chExt cx="2160544" cy="643427"/>
          </a:xfrm>
        </p:grpSpPr>
        <p:grpSp>
          <p:nvGrpSpPr>
            <p:cNvPr id="1370" name="Google Shape;1370;p99"/>
            <p:cNvGrpSpPr/>
            <p:nvPr/>
          </p:nvGrpSpPr>
          <p:grpSpPr>
            <a:xfrm>
              <a:off x="1566079" y="3036940"/>
              <a:ext cx="632697" cy="632697"/>
              <a:chOff x="7435034" y="4492691"/>
              <a:chExt cx="632697" cy="632697"/>
            </a:xfrm>
          </p:grpSpPr>
          <p:sp>
            <p:nvSpPr>
              <p:cNvPr id="1371" name="Google Shape;1371;p99"/>
              <p:cNvSpPr/>
              <p:nvPr/>
            </p:nvSpPr>
            <p:spPr>
              <a:xfrm>
                <a:off x="7435034" y="4492691"/>
                <a:ext cx="632697" cy="632697"/>
              </a:xfrm>
              <a:prstGeom prst="ellipse">
                <a:avLst/>
              </a:prstGeom>
              <a:gradFill>
                <a:gsLst>
                  <a:gs pos="0">
                    <a:srgbClr val="D1D1D1"/>
                  </a:gs>
                  <a:gs pos="50000">
                    <a:srgbClr val="C7C7C7"/>
                  </a:gs>
                  <a:gs pos="100000">
                    <a:srgbClr val="C0C0C0"/>
                  </a:gs>
                </a:gsLst>
                <a:lin ang="5400000" scaled="0"/>
              </a:gra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99"/>
              <p:cNvSpPr txBox="1"/>
              <p:nvPr/>
            </p:nvSpPr>
            <p:spPr>
              <a:xfrm>
                <a:off x="7582333" y="4615043"/>
                <a:ext cx="314301" cy="360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6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r>
                  <a:rPr b="1" baseline="-25000" lang="en-US" sz="36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  <p:grpSp>
          <p:nvGrpSpPr>
            <p:cNvPr id="1373" name="Google Shape;1373;p99"/>
            <p:cNvGrpSpPr/>
            <p:nvPr/>
          </p:nvGrpSpPr>
          <p:grpSpPr>
            <a:xfrm>
              <a:off x="3093926" y="3047670"/>
              <a:ext cx="632697" cy="632697"/>
              <a:chOff x="8962881" y="4512752"/>
              <a:chExt cx="632697" cy="632697"/>
            </a:xfrm>
          </p:grpSpPr>
          <p:sp>
            <p:nvSpPr>
              <p:cNvPr id="1374" name="Google Shape;1374;p99"/>
              <p:cNvSpPr/>
              <p:nvPr/>
            </p:nvSpPr>
            <p:spPr>
              <a:xfrm>
                <a:off x="8962881" y="4512752"/>
                <a:ext cx="632697" cy="632697"/>
              </a:xfrm>
              <a:prstGeom prst="ellipse">
                <a:avLst/>
              </a:prstGeom>
              <a:gradFill>
                <a:gsLst>
                  <a:gs pos="0">
                    <a:srgbClr val="D1D1D1"/>
                  </a:gs>
                  <a:gs pos="50000">
                    <a:srgbClr val="C7C7C7"/>
                  </a:gs>
                  <a:gs pos="100000">
                    <a:srgbClr val="C0C0C0"/>
                  </a:gs>
                </a:gsLst>
                <a:lin ang="5400000" scaled="0"/>
              </a:gra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99"/>
              <p:cNvSpPr txBox="1"/>
              <p:nvPr/>
            </p:nvSpPr>
            <p:spPr>
              <a:xfrm>
                <a:off x="9105830" y="4624373"/>
                <a:ext cx="314301" cy="360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6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r>
                  <a:rPr b="1" baseline="-25000" lang="en-US" sz="36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  <p:cxnSp>
          <p:nvCxnSpPr>
            <p:cNvPr id="1376" name="Google Shape;1376;p99"/>
            <p:cNvCxnSpPr>
              <a:stCxn id="1371" idx="7"/>
              <a:endCxn id="1374" idx="1"/>
            </p:cNvCxnSpPr>
            <p:nvPr/>
          </p:nvCxnSpPr>
          <p:spPr>
            <a:xfrm>
              <a:off x="2106120" y="3129596"/>
              <a:ext cx="1080600" cy="10800"/>
            </a:xfrm>
            <a:prstGeom prst="straightConnector1">
              <a:avLst/>
            </a:prstGeom>
            <a:noFill/>
            <a:ln cap="flat" cmpd="sng" w="349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377" name="Google Shape;1377;p99"/>
            <p:cNvCxnSpPr>
              <a:stCxn id="1374" idx="3"/>
              <a:endCxn id="1371" idx="5"/>
            </p:cNvCxnSpPr>
            <p:nvPr/>
          </p:nvCxnSpPr>
          <p:spPr>
            <a:xfrm rot="10800000">
              <a:off x="2105982" y="3576911"/>
              <a:ext cx="1080600" cy="10800"/>
            </a:xfrm>
            <a:prstGeom prst="straightConnector1">
              <a:avLst/>
            </a:prstGeom>
            <a:noFill/>
            <a:ln cap="flat" cmpd="sng" w="349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378" name="Google Shape;1378;p99"/>
          <p:cNvSpPr/>
          <p:nvPr/>
        </p:nvSpPr>
        <p:spPr>
          <a:xfrm>
            <a:off x="2431394" y="5677497"/>
            <a:ext cx="7329208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Schedule is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 serializable</a:t>
            </a:r>
            <a:r>
              <a:rPr b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and only if its conflict graph is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acyclic</a:t>
            </a:r>
            <a:endParaRPr/>
          </a:p>
        </p:txBody>
      </p:sp>
      <p:sp>
        <p:nvSpPr>
          <p:cNvPr id="1379" name="Google Shape;1379;p99"/>
          <p:cNvSpPr/>
          <p:nvPr/>
        </p:nvSpPr>
        <p:spPr>
          <a:xfrm>
            <a:off x="3793532" y="4525347"/>
            <a:ext cx="1320674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Simple!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00"/>
          <p:cNvSpPr txBox="1"/>
          <p:nvPr>
            <p:ph type="title"/>
          </p:nvPr>
        </p:nvSpPr>
        <p:spPr>
          <a:xfrm>
            <a:off x="1981200" y="301427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Let’s unpack this notion of acyclic conflict graphs…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0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DAGs &amp; Topological Orderings</a:t>
            </a:r>
            <a:endParaRPr/>
          </a:p>
        </p:txBody>
      </p:sp>
      <p:sp>
        <p:nvSpPr>
          <p:cNvPr id="1390" name="Google Shape;1390;p10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b="1" lang="en-US"/>
              <a:t>topological ordering </a:t>
            </a:r>
            <a:r>
              <a:rPr lang="en-US"/>
              <a:t>of a directed graph is a linear ordering of its vertices that respects all the directed edges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directed </a:t>
            </a:r>
            <a:r>
              <a:rPr b="1" lang="en-US" u="sng"/>
              <a:t>acyclic</a:t>
            </a:r>
            <a:r>
              <a:rPr lang="en-US"/>
              <a:t> graph (DAG) always has one or more </a:t>
            </a:r>
            <a:r>
              <a:rPr b="1" lang="en-US"/>
              <a:t>topological orderings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(And there exists a topological ordering </a:t>
            </a:r>
            <a:r>
              <a:rPr i="1" lang="en-US"/>
              <a:t>if and only if </a:t>
            </a:r>
            <a:r>
              <a:rPr lang="en-US"/>
              <a:t>there are no directed cycles)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DAGs &amp; Topological Orderings</a:t>
            </a:r>
            <a:endParaRPr/>
          </a:p>
        </p:txBody>
      </p:sp>
      <p:sp>
        <p:nvSpPr>
          <p:cNvPr id="1396" name="Google Shape;1396;p10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Ex: What is one possible topological ordering here?</a:t>
            </a:r>
            <a:endParaRPr/>
          </a:p>
        </p:txBody>
      </p:sp>
      <p:sp>
        <p:nvSpPr>
          <p:cNvPr id="1397" name="Google Shape;1397;p102"/>
          <p:cNvSpPr/>
          <p:nvPr/>
        </p:nvSpPr>
        <p:spPr>
          <a:xfrm>
            <a:off x="1520933" y="3508310"/>
            <a:ext cx="578498" cy="5784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98" name="Google Shape;1398;p102"/>
          <p:cNvSpPr/>
          <p:nvPr/>
        </p:nvSpPr>
        <p:spPr>
          <a:xfrm>
            <a:off x="2332697" y="5038531"/>
            <a:ext cx="578498" cy="5784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99" name="Google Shape;1399;p102"/>
          <p:cNvSpPr/>
          <p:nvPr/>
        </p:nvSpPr>
        <p:spPr>
          <a:xfrm>
            <a:off x="942435" y="5029200"/>
            <a:ext cx="578498" cy="5784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0" name="Google Shape;1400;p102"/>
          <p:cNvSpPr/>
          <p:nvPr/>
        </p:nvSpPr>
        <p:spPr>
          <a:xfrm>
            <a:off x="4010083" y="2929812"/>
            <a:ext cx="578498" cy="5784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401" name="Google Shape;1401;p102"/>
          <p:cNvCxnSpPr>
            <a:stCxn id="1400" idx="2"/>
            <a:endCxn id="1397" idx="6"/>
          </p:cNvCxnSpPr>
          <p:nvPr/>
        </p:nvCxnSpPr>
        <p:spPr>
          <a:xfrm flipH="1">
            <a:off x="2099383" y="3219061"/>
            <a:ext cx="1910700" cy="5784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02" name="Google Shape;1402;p102"/>
          <p:cNvCxnSpPr>
            <a:stCxn id="1397" idx="4"/>
            <a:endCxn id="1399" idx="7"/>
          </p:cNvCxnSpPr>
          <p:nvPr/>
        </p:nvCxnSpPr>
        <p:spPr>
          <a:xfrm flipH="1">
            <a:off x="1436082" y="4086808"/>
            <a:ext cx="374100" cy="10272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03" name="Google Shape;1403;p102"/>
          <p:cNvCxnSpPr>
            <a:stCxn id="1397" idx="4"/>
            <a:endCxn id="1398" idx="1"/>
          </p:cNvCxnSpPr>
          <p:nvPr/>
        </p:nvCxnSpPr>
        <p:spPr>
          <a:xfrm>
            <a:off x="1810182" y="4086808"/>
            <a:ext cx="607200" cy="10365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04" name="Google Shape;1404;p102"/>
          <p:cNvSpPr txBox="1"/>
          <p:nvPr/>
        </p:nvSpPr>
        <p:spPr>
          <a:xfrm>
            <a:off x="5400277" y="3335894"/>
            <a:ext cx="356337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0, 1, 2, 3  (or: 0, 1, 3, 2)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DAGs &amp; Topological Orderings</a:t>
            </a:r>
            <a:endParaRPr/>
          </a:p>
        </p:txBody>
      </p:sp>
      <p:sp>
        <p:nvSpPr>
          <p:cNvPr id="1410" name="Google Shape;1410;p10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Ex: What is one possible topological ordering here?</a:t>
            </a:r>
            <a:endParaRPr/>
          </a:p>
        </p:txBody>
      </p:sp>
      <p:sp>
        <p:nvSpPr>
          <p:cNvPr id="1411" name="Google Shape;1411;p103"/>
          <p:cNvSpPr/>
          <p:nvPr/>
        </p:nvSpPr>
        <p:spPr>
          <a:xfrm>
            <a:off x="1520933" y="3508310"/>
            <a:ext cx="578498" cy="5784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12" name="Google Shape;1412;p103"/>
          <p:cNvSpPr/>
          <p:nvPr/>
        </p:nvSpPr>
        <p:spPr>
          <a:xfrm>
            <a:off x="2332697" y="5038531"/>
            <a:ext cx="578498" cy="5784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13" name="Google Shape;1413;p103"/>
          <p:cNvSpPr/>
          <p:nvPr/>
        </p:nvSpPr>
        <p:spPr>
          <a:xfrm>
            <a:off x="942435" y="5029200"/>
            <a:ext cx="578498" cy="5784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14" name="Google Shape;1414;p103"/>
          <p:cNvSpPr/>
          <p:nvPr/>
        </p:nvSpPr>
        <p:spPr>
          <a:xfrm>
            <a:off x="4010083" y="2929812"/>
            <a:ext cx="578498" cy="57849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415" name="Google Shape;1415;p103"/>
          <p:cNvCxnSpPr>
            <a:stCxn id="1414" idx="2"/>
            <a:endCxn id="1411" idx="6"/>
          </p:cNvCxnSpPr>
          <p:nvPr/>
        </p:nvCxnSpPr>
        <p:spPr>
          <a:xfrm flipH="1">
            <a:off x="2099383" y="3219061"/>
            <a:ext cx="1910700" cy="5784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6" name="Google Shape;1416;p103"/>
          <p:cNvCxnSpPr>
            <a:stCxn id="1411" idx="4"/>
            <a:endCxn id="1413" idx="7"/>
          </p:cNvCxnSpPr>
          <p:nvPr/>
        </p:nvCxnSpPr>
        <p:spPr>
          <a:xfrm flipH="1">
            <a:off x="1436082" y="4086808"/>
            <a:ext cx="374100" cy="10272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7" name="Google Shape;1417;p103"/>
          <p:cNvCxnSpPr>
            <a:endCxn id="1412" idx="2"/>
          </p:cNvCxnSpPr>
          <p:nvPr/>
        </p:nvCxnSpPr>
        <p:spPr>
          <a:xfrm flipH="1" rot="10800000">
            <a:off x="1520897" y="5327780"/>
            <a:ext cx="811800" cy="510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8" name="Google Shape;1418;p103"/>
          <p:cNvSpPr txBox="1"/>
          <p:nvPr/>
        </p:nvSpPr>
        <p:spPr>
          <a:xfrm>
            <a:off x="4782831" y="4086808"/>
            <a:ext cx="2626338" cy="58477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none!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9" name="Google Shape;1419;p103"/>
          <p:cNvCxnSpPr>
            <a:stCxn id="1412" idx="0"/>
            <a:endCxn id="1411" idx="5"/>
          </p:cNvCxnSpPr>
          <p:nvPr/>
        </p:nvCxnSpPr>
        <p:spPr>
          <a:xfrm rot="10800000">
            <a:off x="2014746" y="4002031"/>
            <a:ext cx="607200" cy="10365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10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Connection to conflict serializability</a:t>
            </a:r>
            <a:endParaRPr/>
          </a:p>
        </p:txBody>
      </p:sp>
      <p:sp>
        <p:nvSpPr>
          <p:cNvPr id="1425" name="Google Shape;1425;p10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the conflict graph, a topological ordering of nodes corresponds to </a:t>
            </a:r>
            <a:r>
              <a:rPr b="1" lang="en-US"/>
              <a:t>a serial ordering of TXNs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Thus an </a:t>
            </a:r>
            <a:r>
              <a:rPr b="1" lang="en-US" u="sng"/>
              <a:t>acyclic</a:t>
            </a:r>
            <a:r>
              <a:rPr lang="en-US"/>
              <a:t> conflict graph 🡪 conflict serializable!</a:t>
            </a:r>
            <a:endParaRPr/>
          </a:p>
        </p:txBody>
      </p:sp>
      <p:sp>
        <p:nvSpPr>
          <p:cNvPr id="1426" name="Google Shape;1426;p104"/>
          <p:cNvSpPr/>
          <p:nvPr/>
        </p:nvSpPr>
        <p:spPr>
          <a:xfrm>
            <a:off x="2431396" y="4987032"/>
            <a:ext cx="7329208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Schedule is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 serializable</a:t>
            </a:r>
            <a:r>
              <a:rPr b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and only if its conflict graph is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acyclic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0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Strict Two-Phase Locking</a:t>
            </a:r>
            <a:endParaRPr/>
          </a:p>
        </p:txBody>
      </p:sp>
      <p:sp>
        <p:nvSpPr>
          <p:cNvPr id="1432" name="Google Shape;1432;p10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consider </a:t>
            </a:r>
            <a:r>
              <a:rPr b="1" lang="en-US"/>
              <a:t>locking</a:t>
            </a:r>
            <a:r>
              <a:rPr lang="en-US"/>
              <a:t>- specifically, </a:t>
            </a:r>
            <a:r>
              <a:rPr i="1" lang="en-US"/>
              <a:t>strict two-phase locking</a:t>
            </a:r>
            <a:r>
              <a:rPr lang="en-US"/>
              <a:t>- as a way to deal with concurrency, because is </a:t>
            </a:r>
            <a:r>
              <a:rPr b="1" lang="en-US"/>
              <a:t>guarantees conflict serializability (if it completes- see upcoming…)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 (</a:t>
            </a:r>
            <a:r>
              <a:rPr i="1" lang="en-US"/>
              <a:t>conceptually</a:t>
            </a:r>
            <a:r>
              <a:rPr lang="en-US"/>
              <a:t>) straightforward to implement, and transparent to the user!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106"/>
          <p:cNvSpPr txBox="1"/>
          <p:nvPr>
            <p:ph type="title"/>
          </p:nvPr>
        </p:nvSpPr>
        <p:spPr>
          <a:xfrm>
            <a:off x="864385" y="396766"/>
            <a:ext cx="9857561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Strict Two-phase Locking (Strict 2PL) Protocol:</a:t>
            </a:r>
            <a:endParaRPr/>
          </a:p>
        </p:txBody>
      </p:sp>
      <p:sp>
        <p:nvSpPr>
          <p:cNvPr id="1438" name="Google Shape;1438;p106"/>
          <p:cNvSpPr txBox="1"/>
          <p:nvPr>
            <p:ph idx="1" type="body"/>
          </p:nvPr>
        </p:nvSpPr>
        <p:spPr>
          <a:xfrm>
            <a:off x="864385" y="1635672"/>
            <a:ext cx="8336259" cy="4841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3600"/>
              <a:t>TXNs obtain:</a:t>
            </a:r>
            <a:endParaRPr b="1" sz="3500">
              <a:latin typeface="Calibri"/>
              <a:ea typeface="Calibri"/>
              <a:cs typeface="Calibri"/>
              <a:sym typeface="Calibri"/>
            </a:endParaRPr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 </a:t>
            </a:r>
            <a:r>
              <a:rPr b="1" lang="en-US"/>
              <a:t>X (</a:t>
            </a:r>
            <a:r>
              <a:rPr b="1" i="1" lang="en-US"/>
              <a:t>exclusive</a:t>
            </a:r>
            <a:r>
              <a:rPr b="1" lang="en-US"/>
              <a:t>) lock </a:t>
            </a:r>
            <a:r>
              <a:rPr lang="en-US"/>
              <a:t>on object before </a:t>
            </a:r>
            <a:r>
              <a:rPr b="1" lang="en-US"/>
              <a:t>writing</a:t>
            </a:r>
            <a:r>
              <a:rPr lang="en-US"/>
              <a:t>.</a:t>
            </a:r>
            <a:endParaRPr/>
          </a:p>
          <a:p>
            <a:pPr indent="-990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 TXN holds, no other TXN can get a</a:t>
            </a:r>
            <a:r>
              <a:rPr i="1" lang="en-US"/>
              <a:t> </a:t>
            </a:r>
            <a:r>
              <a:rPr lang="en-US"/>
              <a:t>lock (S or X) on that object.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 </a:t>
            </a:r>
            <a:r>
              <a:rPr b="1" lang="en-US"/>
              <a:t>S (</a:t>
            </a:r>
            <a:r>
              <a:rPr b="1" i="1" lang="en-US"/>
              <a:t>shared</a:t>
            </a:r>
            <a:r>
              <a:rPr b="1" lang="en-US"/>
              <a:t>) lock </a:t>
            </a:r>
            <a:r>
              <a:rPr lang="en-US"/>
              <a:t>on object before </a:t>
            </a:r>
            <a:r>
              <a:rPr b="1" lang="en-US"/>
              <a:t>reading</a:t>
            </a:r>
            <a:endParaRPr/>
          </a:p>
          <a:p>
            <a:pPr indent="-990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 TXN holds, no other TXN can get </a:t>
            </a:r>
            <a:r>
              <a:rPr i="1" lang="en-US" u="sng"/>
              <a:t>an X lock</a:t>
            </a:r>
            <a:r>
              <a:rPr i="1" lang="en-US"/>
              <a:t> </a:t>
            </a:r>
            <a:r>
              <a:rPr lang="en-US"/>
              <a:t>on that object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 locks held by a TXN are released (unlocked) when TXN completes.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Exclusive lock is not compatible with a shared lock from another transaction.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439" name="Google Shape;1439;p106"/>
          <p:cNvSpPr txBox="1"/>
          <p:nvPr/>
        </p:nvSpPr>
        <p:spPr>
          <a:xfrm>
            <a:off x="5094065" y="2127975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106"/>
          <p:cNvSpPr txBox="1"/>
          <p:nvPr/>
        </p:nvSpPr>
        <p:spPr>
          <a:xfrm>
            <a:off x="9200643" y="2969920"/>
            <a:ext cx="2879835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Terminology here- “exclusive”, “shared”- meant to be intuitive- no tricks!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5" name="Google Shape;1445;p107"/>
          <p:cNvCxnSpPr/>
          <p:nvPr/>
        </p:nvCxnSpPr>
        <p:spPr>
          <a:xfrm>
            <a:off x="2723109" y="4717576"/>
            <a:ext cx="7092041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446" name="Google Shape;1446;p10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Picture of 2-Phase Locking (2PL)</a:t>
            </a:r>
            <a:endParaRPr/>
          </a:p>
        </p:txBody>
      </p:sp>
      <p:cxnSp>
        <p:nvCxnSpPr>
          <p:cNvPr id="1447" name="Google Shape;1447;p107"/>
          <p:cNvCxnSpPr/>
          <p:nvPr/>
        </p:nvCxnSpPr>
        <p:spPr>
          <a:xfrm flipH="1" rot="10800000">
            <a:off x="3978401" y="2638872"/>
            <a:ext cx="1926304" cy="207870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8" name="Google Shape;1448;p107"/>
          <p:cNvCxnSpPr/>
          <p:nvPr/>
        </p:nvCxnSpPr>
        <p:spPr>
          <a:xfrm>
            <a:off x="3978402" y="5335700"/>
            <a:ext cx="4695085" cy="0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49" name="Google Shape;1449;p107"/>
          <p:cNvSpPr txBox="1"/>
          <p:nvPr/>
        </p:nvSpPr>
        <p:spPr>
          <a:xfrm>
            <a:off x="4848920" y="5307161"/>
            <a:ext cx="238321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cxnSp>
        <p:nvCxnSpPr>
          <p:cNvPr id="1450" name="Google Shape;1450;p107"/>
          <p:cNvCxnSpPr/>
          <p:nvPr/>
        </p:nvCxnSpPr>
        <p:spPr>
          <a:xfrm rot="10800000">
            <a:off x="7003832" y="2638872"/>
            <a:ext cx="0" cy="207870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1" name="Google Shape;1451;p107"/>
          <p:cNvCxnSpPr/>
          <p:nvPr/>
        </p:nvCxnSpPr>
        <p:spPr>
          <a:xfrm>
            <a:off x="6992058" y="4717576"/>
            <a:ext cx="2606973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2" name="Google Shape;1452;p107"/>
          <p:cNvCxnSpPr/>
          <p:nvPr/>
        </p:nvCxnSpPr>
        <p:spPr>
          <a:xfrm rot="10800000">
            <a:off x="5928652" y="2638874"/>
            <a:ext cx="2606972" cy="1926303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lgDash"/>
            <a:miter lim="800000"/>
            <a:headEnd len="sm" w="sm" type="none"/>
            <a:tailEnd len="sm" w="sm" type="none"/>
          </a:ln>
        </p:spPr>
      </p:cxnSp>
      <p:sp>
        <p:nvSpPr>
          <p:cNvPr id="1453" name="Google Shape;1453;p107"/>
          <p:cNvSpPr txBox="1"/>
          <p:nvPr/>
        </p:nvSpPr>
        <p:spPr>
          <a:xfrm>
            <a:off x="6504079" y="6021687"/>
            <a:ext cx="2340407" cy="55399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Strict 2PL</a:t>
            </a:r>
            <a:endParaRPr/>
          </a:p>
        </p:txBody>
      </p:sp>
      <p:cxnSp>
        <p:nvCxnSpPr>
          <p:cNvPr id="1454" name="Google Shape;1454;p107"/>
          <p:cNvCxnSpPr>
            <a:stCxn id="1453" idx="0"/>
          </p:cNvCxnSpPr>
          <p:nvPr/>
        </p:nvCxnSpPr>
        <p:spPr>
          <a:xfrm rot="10800000">
            <a:off x="7232083" y="4717587"/>
            <a:ext cx="442200" cy="1304100"/>
          </a:xfrm>
          <a:prstGeom prst="straightConnector1">
            <a:avLst/>
          </a:prstGeom>
          <a:noFill/>
          <a:ln cap="flat" cmpd="sng" w="101600">
            <a:solidFill>
              <a:srgbClr val="7F7F7F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55" name="Google Shape;1455;p107"/>
          <p:cNvSpPr txBox="1"/>
          <p:nvPr/>
        </p:nvSpPr>
        <p:spPr>
          <a:xfrm>
            <a:off x="2265908" y="4051495"/>
            <a:ext cx="1541244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locks</a:t>
            </a:r>
            <a:endParaRPr/>
          </a:p>
        </p:txBody>
      </p:sp>
      <p:cxnSp>
        <p:nvCxnSpPr>
          <p:cNvPr id="1456" name="Google Shape;1456;p107"/>
          <p:cNvCxnSpPr/>
          <p:nvPr/>
        </p:nvCxnSpPr>
        <p:spPr>
          <a:xfrm rot="10800000">
            <a:off x="3992420" y="2284063"/>
            <a:ext cx="0" cy="2444541"/>
          </a:xfrm>
          <a:prstGeom prst="straightConnector1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57" name="Google Shape;1457;p107"/>
          <p:cNvSpPr txBox="1"/>
          <p:nvPr/>
        </p:nvSpPr>
        <p:spPr>
          <a:xfrm>
            <a:off x="1647363" y="1552165"/>
            <a:ext cx="238321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Locks the TXN has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107"/>
          <p:cNvSpPr txBox="1"/>
          <p:nvPr/>
        </p:nvSpPr>
        <p:spPr>
          <a:xfrm>
            <a:off x="3951660" y="1587688"/>
            <a:ext cx="231746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Lock Acquisition</a:t>
            </a:r>
            <a:endParaRPr/>
          </a:p>
        </p:txBody>
      </p:sp>
      <p:sp>
        <p:nvSpPr>
          <p:cNvPr id="1459" name="Google Shape;1459;p107"/>
          <p:cNvSpPr txBox="1"/>
          <p:nvPr/>
        </p:nvSpPr>
        <p:spPr>
          <a:xfrm>
            <a:off x="7344308" y="1958281"/>
            <a:ext cx="3110598" cy="1015663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Lock Release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TXN commit!</a:t>
            </a:r>
            <a:endParaRPr/>
          </a:p>
        </p:txBody>
      </p:sp>
      <p:cxnSp>
        <p:nvCxnSpPr>
          <p:cNvPr id="1460" name="Google Shape;1460;p107"/>
          <p:cNvCxnSpPr/>
          <p:nvPr/>
        </p:nvCxnSpPr>
        <p:spPr>
          <a:xfrm flipH="1" rot="10800000">
            <a:off x="5921656" y="2631890"/>
            <a:ext cx="1070402" cy="698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0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Strict 2PL</a:t>
            </a:r>
            <a:endParaRPr/>
          </a:p>
        </p:txBody>
      </p:sp>
      <p:sp>
        <p:nvSpPr>
          <p:cNvPr id="1467" name="Google Shape;1467;p108"/>
          <p:cNvSpPr txBox="1"/>
          <p:nvPr>
            <p:ph idx="1" type="body"/>
          </p:nvPr>
        </p:nvSpPr>
        <p:spPr>
          <a:xfrm>
            <a:off x="838200" y="1598388"/>
            <a:ext cx="7258878" cy="84493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Theorem: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Strict 2PL allows only schedules whose dependency graph is acyclic</a:t>
            </a:r>
            <a:endParaRPr/>
          </a:p>
        </p:txBody>
      </p:sp>
      <p:sp>
        <p:nvSpPr>
          <p:cNvPr id="1468" name="Google Shape;1468;p108"/>
          <p:cNvSpPr txBox="1"/>
          <p:nvPr/>
        </p:nvSpPr>
        <p:spPr>
          <a:xfrm>
            <a:off x="2072641" y="5000688"/>
            <a:ext cx="8229600" cy="107721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69" name="Google Shape;1469;p108"/>
          <p:cNvSpPr txBox="1"/>
          <p:nvPr/>
        </p:nvSpPr>
        <p:spPr>
          <a:xfrm>
            <a:off x="838200" y="3121841"/>
            <a:ext cx="93726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 Intuition: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strict 2PL, if there is an edge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(i.e.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conflict) then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needs to wait until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finished –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an edge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0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Strict 2PL</a:t>
            </a:r>
            <a:endParaRPr/>
          </a:p>
        </p:txBody>
      </p:sp>
      <p:sp>
        <p:nvSpPr>
          <p:cNvPr id="1475" name="Google Shape;1475;p10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a schedule follows strict 2PL and locking, it is conflict serializable…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…and thus serializable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…and thus maintains isolation &amp; consistency!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all serializable schedules are allowed by strict 2PL.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 let’s use strict 2PL, what could go wrong?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Deadlock Detection: Example</a:t>
            </a:r>
            <a:endParaRPr/>
          </a:p>
        </p:txBody>
      </p:sp>
      <p:sp>
        <p:nvSpPr>
          <p:cNvPr id="1482" name="Google Shape;1482;p110"/>
          <p:cNvSpPr/>
          <p:nvPr/>
        </p:nvSpPr>
        <p:spPr>
          <a:xfrm>
            <a:off x="8996571" y="2471325"/>
            <a:ext cx="673100" cy="673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110"/>
          <p:cNvSpPr/>
          <p:nvPr/>
        </p:nvSpPr>
        <p:spPr>
          <a:xfrm>
            <a:off x="11130171" y="2471325"/>
            <a:ext cx="673100" cy="673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110"/>
          <p:cNvSpPr txBox="1"/>
          <p:nvPr/>
        </p:nvSpPr>
        <p:spPr>
          <a:xfrm>
            <a:off x="2483696" y="5085423"/>
            <a:ext cx="4691523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First,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requests a shared lock on A to read from it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5" name="Google Shape;1485;p110"/>
          <p:cNvCxnSpPr/>
          <p:nvPr/>
        </p:nvCxnSpPr>
        <p:spPr>
          <a:xfrm>
            <a:off x="1081864" y="3865517"/>
            <a:ext cx="7935790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6" name="Google Shape;1486;p110"/>
          <p:cNvSpPr txBox="1"/>
          <p:nvPr/>
        </p:nvSpPr>
        <p:spPr>
          <a:xfrm>
            <a:off x="602246" y="2543071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87" name="Google Shape;1487;p110"/>
          <p:cNvSpPr txBox="1"/>
          <p:nvPr/>
        </p:nvSpPr>
        <p:spPr>
          <a:xfrm>
            <a:off x="602246" y="3143081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88" name="Google Shape;1488;p110"/>
          <p:cNvSpPr txBox="1"/>
          <p:nvPr/>
        </p:nvSpPr>
        <p:spPr>
          <a:xfrm>
            <a:off x="1221678" y="2611535"/>
            <a:ext cx="679994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S(A)</a:t>
            </a:r>
            <a:endParaRPr/>
          </a:p>
        </p:txBody>
      </p:sp>
      <p:sp>
        <p:nvSpPr>
          <p:cNvPr id="1489" name="Google Shape;1489;p110"/>
          <p:cNvSpPr txBox="1"/>
          <p:nvPr/>
        </p:nvSpPr>
        <p:spPr>
          <a:xfrm>
            <a:off x="2020381" y="2611535"/>
            <a:ext cx="704039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/>
          </a:p>
        </p:txBody>
      </p:sp>
      <p:sp>
        <p:nvSpPr>
          <p:cNvPr id="1490" name="Google Shape;1490;p110"/>
          <p:cNvSpPr txBox="1"/>
          <p:nvPr/>
        </p:nvSpPr>
        <p:spPr>
          <a:xfrm>
            <a:off x="8982269" y="1776194"/>
            <a:ext cx="2371531" cy="43184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Waits-for graph: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110"/>
          <p:cNvSpPr txBox="1"/>
          <p:nvPr/>
        </p:nvSpPr>
        <p:spPr>
          <a:xfrm>
            <a:off x="9129645" y="2537460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92" name="Google Shape;1492;p110"/>
          <p:cNvSpPr txBox="1"/>
          <p:nvPr/>
        </p:nvSpPr>
        <p:spPr>
          <a:xfrm>
            <a:off x="11255949" y="2524696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Deadlock Detection: Example</a:t>
            </a:r>
            <a:endParaRPr/>
          </a:p>
        </p:txBody>
      </p:sp>
      <p:sp>
        <p:nvSpPr>
          <p:cNvPr id="1499" name="Google Shape;1499;p111"/>
          <p:cNvSpPr/>
          <p:nvPr/>
        </p:nvSpPr>
        <p:spPr>
          <a:xfrm>
            <a:off x="8996571" y="2471325"/>
            <a:ext cx="673100" cy="673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111"/>
          <p:cNvSpPr/>
          <p:nvPr/>
        </p:nvSpPr>
        <p:spPr>
          <a:xfrm>
            <a:off x="11130171" y="2471325"/>
            <a:ext cx="673100" cy="673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111"/>
          <p:cNvSpPr txBox="1"/>
          <p:nvPr/>
        </p:nvSpPr>
        <p:spPr>
          <a:xfrm>
            <a:off x="2483696" y="5085423"/>
            <a:ext cx="4691523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Next,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requests a shared lock on B to read from it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2" name="Google Shape;1502;p111"/>
          <p:cNvCxnSpPr/>
          <p:nvPr/>
        </p:nvCxnSpPr>
        <p:spPr>
          <a:xfrm>
            <a:off x="1081864" y="3865517"/>
            <a:ext cx="7935790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03" name="Google Shape;1503;p111"/>
          <p:cNvSpPr txBox="1"/>
          <p:nvPr/>
        </p:nvSpPr>
        <p:spPr>
          <a:xfrm>
            <a:off x="602246" y="2543071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04" name="Google Shape;1504;p111"/>
          <p:cNvSpPr txBox="1"/>
          <p:nvPr/>
        </p:nvSpPr>
        <p:spPr>
          <a:xfrm>
            <a:off x="602246" y="3143081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05" name="Google Shape;1505;p111"/>
          <p:cNvSpPr txBox="1"/>
          <p:nvPr/>
        </p:nvSpPr>
        <p:spPr>
          <a:xfrm>
            <a:off x="2768056" y="3203169"/>
            <a:ext cx="670376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S(B)</a:t>
            </a:r>
            <a:endParaRPr/>
          </a:p>
        </p:txBody>
      </p:sp>
      <p:sp>
        <p:nvSpPr>
          <p:cNvPr id="1506" name="Google Shape;1506;p111"/>
          <p:cNvSpPr txBox="1"/>
          <p:nvPr/>
        </p:nvSpPr>
        <p:spPr>
          <a:xfrm>
            <a:off x="3574965" y="3203169"/>
            <a:ext cx="696024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R(B)</a:t>
            </a:r>
            <a:endParaRPr/>
          </a:p>
        </p:txBody>
      </p:sp>
      <p:sp>
        <p:nvSpPr>
          <p:cNvPr id="1507" name="Google Shape;1507;p111"/>
          <p:cNvSpPr txBox="1"/>
          <p:nvPr/>
        </p:nvSpPr>
        <p:spPr>
          <a:xfrm>
            <a:off x="1221678" y="2611535"/>
            <a:ext cx="679994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S(A)</a:t>
            </a:r>
            <a:endParaRPr/>
          </a:p>
        </p:txBody>
      </p:sp>
      <p:sp>
        <p:nvSpPr>
          <p:cNvPr id="1508" name="Google Shape;1508;p111"/>
          <p:cNvSpPr txBox="1"/>
          <p:nvPr/>
        </p:nvSpPr>
        <p:spPr>
          <a:xfrm>
            <a:off x="2020381" y="2611535"/>
            <a:ext cx="704039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/>
          </a:p>
        </p:txBody>
      </p:sp>
      <p:sp>
        <p:nvSpPr>
          <p:cNvPr id="1509" name="Google Shape;1509;p111"/>
          <p:cNvSpPr txBox="1"/>
          <p:nvPr/>
        </p:nvSpPr>
        <p:spPr>
          <a:xfrm>
            <a:off x="8982269" y="1776194"/>
            <a:ext cx="2371531" cy="43184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Waits-for graph: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111"/>
          <p:cNvSpPr txBox="1"/>
          <p:nvPr/>
        </p:nvSpPr>
        <p:spPr>
          <a:xfrm>
            <a:off x="9129645" y="2537460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11" name="Google Shape;1511;p111"/>
          <p:cNvSpPr txBox="1"/>
          <p:nvPr/>
        </p:nvSpPr>
        <p:spPr>
          <a:xfrm>
            <a:off x="11255949" y="2524696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Deadlock Detection: Example</a:t>
            </a:r>
            <a:endParaRPr/>
          </a:p>
        </p:txBody>
      </p:sp>
      <p:sp>
        <p:nvSpPr>
          <p:cNvPr id="1518" name="Google Shape;1518;p112"/>
          <p:cNvSpPr/>
          <p:nvPr/>
        </p:nvSpPr>
        <p:spPr>
          <a:xfrm>
            <a:off x="8996571" y="2471325"/>
            <a:ext cx="673100" cy="673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112"/>
          <p:cNvSpPr/>
          <p:nvPr/>
        </p:nvSpPr>
        <p:spPr>
          <a:xfrm>
            <a:off x="11130171" y="2471325"/>
            <a:ext cx="673100" cy="673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112"/>
          <p:cNvSpPr txBox="1"/>
          <p:nvPr/>
        </p:nvSpPr>
        <p:spPr>
          <a:xfrm>
            <a:off x="2483696" y="5085423"/>
            <a:ext cx="4691523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requests an exclusive lock on A to write to it-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T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waiting on T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1521" name="Google Shape;1521;p112"/>
          <p:cNvCxnSpPr/>
          <p:nvPr/>
        </p:nvCxnSpPr>
        <p:spPr>
          <a:xfrm>
            <a:off x="1081864" y="3865517"/>
            <a:ext cx="7935790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22" name="Google Shape;1522;p112"/>
          <p:cNvSpPr txBox="1"/>
          <p:nvPr/>
        </p:nvSpPr>
        <p:spPr>
          <a:xfrm>
            <a:off x="602246" y="2543071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23" name="Google Shape;1523;p112"/>
          <p:cNvSpPr txBox="1"/>
          <p:nvPr/>
        </p:nvSpPr>
        <p:spPr>
          <a:xfrm>
            <a:off x="602246" y="3143081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24" name="Google Shape;1524;p112"/>
          <p:cNvSpPr txBox="1"/>
          <p:nvPr/>
        </p:nvSpPr>
        <p:spPr>
          <a:xfrm>
            <a:off x="4407522" y="3203169"/>
            <a:ext cx="694421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X(A)</a:t>
            </a:r>
            <a:endParaRPr/>
          </a:p>
        </p:txBody>
      </p:sp>
      <p:sp>
        <p:nvSpPr>
          <p:cNvPr id="1525" name="Google Shape;1525;p112"/>
          <p:cNvSpPr txBox="1"/>
          <p:nvPr/>
        </p:nvSpPr>
        <p:spPr>
          <a:xfrm>
            <a:off x="2768056" y="3203169"/>
            <a:ext cx="670376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S(B)</a:t>
            </a:r>
            <a:endParaRPr/>
          </a:p>
        </p:txBody>
      </p:sp>
      <p:sp>
        <p:nvSpPr>
          <p:cNvPr id="1526" name="Google Shape;1526;p112"/>
          <p:cNvSpPr txBox="1"/>
          <p:nvPr/>
        </p:nvSpPr>
        <p:spPr>
          <a:xfrm>
            <a:off x="3574965" y="3203169"/>
            <a:ext cx="696024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R(B)</a:t>
            </a:r>
            <a:endParaRPr/>
          </a:p>
        </p:txBody>
      </p:sp>
      <p:sp>
        <p:nvSpPr>
          <p:cNvPr id="1527" name="Google Shape;1527;p112"/>
          <p:cNvSpPr txBox="1"/>
          <p:nvPr/>
        </p:nvSpPr>
        <p:spPr>
          <a:xfrm>
            <a:off x="1221678" y="2611535"/>
            <a:ext cx="679994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S(A)</a:t>
            </a:r>
            <a:endParaRPr/>
          </a:p>
        </p:txBody>
      </p:sp>
      <p:sp>
        <p:nvSpPr>
          <p:cNvPr id="1528" name="Google Shape;1528;p112"/>
          <p:cNvSpPr txBox="1"/>
          <p:nvPr/>
        </p:nvSpPr>
        <p:spPr>
          <a:xfrm>
            <a:off x="2020381" y="2611535"/>
            <a:ext cx="704039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/>
          </a:p>
        </p:txBody>
      </p:sp>
      <p:sp>
        <p:nvSpPr>
          <p:cNvPr id="1529" name="Google Shape;1529;p112"/>
          <p:cNvSpPr txBox="1"/>
          <p:nvPr/>
        </p:nvSpPr>
        <p:spPr>
          <a:xfrm>
            <a:off x="8982269" y="1776194"/>
            <a:ext cx="2371531" cy="43184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Waits-for graph: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112"/>
          <p:cNvSpPr txBox="1"/>
          <p:nvPr/>
        </p:nvSpPr>
        <p:spPr>
          <a:xfrm>
            <a:off x="9129645" y="2537460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31" name="Google Shape;1531;p112"/>
          <p:cNvSpPr txBox="1"/>
          <p:nvPr/>
        </p:nvSpPr>
        <p:spPr>
          <a:xfrm>
            <a:off x="11255949" y="2524696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532" name="Google Shape;1532;p112"/>
          <p:cNvCxnSpPr/>
          <p:nvPr/>
        </p:nvCxnSpPr>
        <p:spPr>
          <a:xfrm rot="10800000">
            <a:off x="9563189" y="3080699"/>
            <a:ext cx="169276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33" name="Google Shape;1533;p112"/>
          <p:cNvSpPr txBox="1"/>
          <p:nvPr/>
        </p:nvSpPr>
        <p:spPr>
          <a:xfrm>
            <a:off x="5238476" y="3203168"/>
            <a:ext cx="811441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1534" name="Google Shape;1534;p112"/>
          <p:cNvSpPr/>
          <p:nvPr/>
        </p:nvSpPr>
        <p:spPr>
          <a:xfrm>
            <a:off x="5153809" y="3073200"/>
            <a:ext cx="1086124" cy="694467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Waiting…</a:t>
            </a:r>
            <a:endParaRPr/>
          </a:p>
        </p:txBody>
      </p:sp>
      <p:cxnSp>
        <p:nvCxnSpPr>
          <p:cNvPr id="1535" name="Google Shape;1535;p112"/>
          <p:cNvCxnSpPr/>
          <p:nvPr/>
        </p:nvCxnSpPr>
        <p:spPr>
          <a:xfrm>
            <a:off x="5179209" y="3080699"/>
            <a:ext cx="0" cy="686968"/>
          </a:xfrm>
          <a:prstGeom prst="straightConnector1">
            <a:avLst/>
          </a:prstGeom>
          <a:noFill/>
          <a:ln cap="flat" cmpd="sng" w="3175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fade thruBlk="1"/>
  </p:transition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Deadlock Detection: Example</a:t>
            </a:r>
            <a:endParaRPr/>
          </a:p>
        </p:txBody>
      </p:sp>
      <p:sp>
        <p:nvSpPr>
          <p:cNvPr id="1542" name="Google Shape;1542;p113"/>
          <p:cNvSpPr/>
          <p:nvPr/>
        </p:nvSpPr>
        <p:spPr>
          <a:xfrm>
            <a:off x="8996571" y="2471325"/>
            <a:ext cx="673100" cy="673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113"/>
          <p:cNvSpPr/>
          <p:nvPr/>
        </p:nvSpPr>
        <p:spPr>
          <a:xfrm>
            <a:off x="11130171" y="2471325"/>
            <a:ext cx="673100" cy="673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4" name="Google Shape;1544;p113"/>
          <p:cNvCxnSpPr/>
          <p:nvPr/>
        </p:nvCxnSpPr>
        <p:spPr>
          <a:xfrm>
            <a:off x="9682371" y="2776125"/>
            <a:ext cx="144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45" name="Google Shape;1545;p113"/>
          <p:cNvSpPr txBox="1"/>
          <p:nvPr/>
        </p:nvSpPr>
        <p:spPr>
          <a:xfrm>
            <a:off x="2483696" y="5085423"/>
            <a:ext cx="4691523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Finally,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requests an exclusive lock on B to write to it-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T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waiting on T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DEADLOCK!</a:t>
            </a:r>
            <a:endParaRPr/>
          </a:p>
        </p:txBody>
      </p:sp>
      <p:cxnSp>
        <p:nvCxnSpPr>
          <p:cNvPr id="1546" name="Google Shape;1546;p113"/>
          <p:cNvCxnSpPr/>
          <p:nvPr/>
        </p:nvCxnSpPr>
        <p:spPr>
          <a:xfrm>
            <a:off x="1081864" y="3865517"/>
            <a:ext cx="6937671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7" name="Google Shape;1547;p113"/>
          <p:cNvSpPr txBox="1"/>
          <p:nvPr/>
        </p:nvSpPr>
        <p:spPr>
          <a:xfrm>
            <a:off x="602246" y="2543071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48" name="Google Shape;1548;p113"/>
          <p:cNvSpPr txBox="1"/>
          <p:nvPr/>
        </p:nvSpPr>
        <p:spPr>
          <a:xfrm>
            <a:off x="602246" y="3143081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49" name="Google Shape;1549;p113"/>
          <p:cNvSpPr txBox="1"/>
          <p:nvPr/>
        </p:nvSpPr>
        <p:spPr>
          <a:xfrm>
            <a:off x="6204128" y="2610544"/>
            <a:ext cx="686406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X(B)</a:t>
            </a:r>
            <a:endParaRPr/>
          </a:p>
        </p:txBody>
      </p:sp>
      <p:sp>
        <p:nvSpPr>
          <p:cNvPr id="1550" name="Google Shape;1550;p113"/>
          <p:cNvSpPr txBox="1"/>
          <p:nvPr/>
        </p:nvSpPr>
        <p:spPr>
          <a:xfrm>
            <a:off x="4407522" y="3203169"/>
            <a:ext cx="694421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X(A)</a:t>
            </a:r>
            <a:endParaRPr/>
          </a:p>
        </p:txBody>
      </p:sp>
      <p:sp>
        <p:nvSpPr>
          <p:cNvPr id="1551" name="Google Shape;1551;p113"/>
          <p:cNvSpPr txBox="1"/>
          <p:nvPr/>
        </p:nvSpPr>
        <p:spPr>
          <a:xfrm>
            <a:off x="2768056" y="3203169"/>
            <a:ext cx="670376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S(B)</a:t>
            </a:r>
            <a:endParaRPr/>
          </a:p>
        </p:txBody>
      </p:sp>
      <p:sp>
        <p:nvSpPr>
          <p:cNvPr id="1552" name="Google Shape;1552;p113"/>
          <p:cNvSpPr txBox="1"/>
          <p:nvPr/>
        </p:nvSpPr>
        <p:spPr>
          <a:xfrm>
            <a:off x="3574965" y="3203169"/>
            <a:ext cx="696024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R(B)</a:t>
            </a:r>
            <a:endParaRPr/>
          </a:p>
        </p:txBody>
      </p:sp>
      <p:sp>
        <p:nvSpPr>
          <p:cNvPr id="1553" name="Google Shape;1553;p113"/>
          <p:cNvSpPr txBox="1"/>
          <p:nvPr/>
        </p:nvSpPr>
        <p:spPr>
          <a:xfrm>
            <a:off x="1221678" y="2611535"/>
            <a:ext cx="679994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S(A)</a:t>
            </a:r>
            <a:endParaRPr/>
          </a:p>
        </p:txBody>
      </p:sp>
      <p:sp>
        <p:nvSpPr>
          <p:cNvPr id="1554" name="Google Shape;1554;p113"/>
          <p:cNvSpPr txBox="1"/>
          <p:nvPr/>
        </p:nvSpPr>
        <p:spPr>
          <a:xfrm>
            <a:off x="2020381" y="2611535"/>
            <a:ext cx="704039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R(A)</a:t>
            </a:r>
            <a:endParaRPr/>
          </a:p>
        </p:txBody>
      </p:sp>
      <p:sp>
        <p:nvSpPr>
          <p:cNvPr id="1555" name="Google Shape;1555;p113"/>
          <p:cNvSpPr txBox="1"/>
          <p:nvPr/>
        </p:nvSpPr>
        <p:spPr>
          <a:xfrm>
            <a:off x="8982269" y="1776194"/>
            <a:ext cx="2371531" cy="43184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Waits-for graph: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113"/>
          <p:cNvSpPr txBox="1"/>
          <p:nvPr/>
        </p:nvSpPr>
        <p:spPr>
          <a:xfrm>
            <a:off x="9129645" y="2537460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57" name="Google Shape;1557;p113"/>
          <p:cNvSpPr txBox="1"/>
          <p:nvPr/>
        </p:nvSpPr>
        <p:spPr>
          <a:xfrm>
            <a:off x="11255949" y="2524696"/>
            <a:ext cx="4796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558" name="Google Shape;1558;p113"/>
          <p:cNvCxnSpPr/>
          <p:nvPr/>
        </p:nvCxnSpPr>
        <p:spPr>
          <a:xfrm rot="10800000">
            <a:off x="9563189" y="3080699"/>
            <a:ext cx="169276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59" name="Google Shape;1559;p113"/>
          <p:cNvSpPr txBox="1"/>
          <p:nvPr/>
        </p:nvSpPr>
        <p:spPr>
          <a:xfrm>
            <a:off x="5238476" y="3203168"/>
            <a:ext cx="811441" cy="461665"/>
          </a:xfrm>
          <a:prstGeom prst="rect">
            <a:avLst/>
          </a:prstGeom>
          <a:solidFill>
            <a:srgbClr val="0070C0">
              <a:alpha val="2000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W(A)</a:t>
            </a:r>
            <a:endParaRPr/>
          </a:p>
        </p:txBody>
      </p:sp>
      <p:sp>
        <p:nvSpPr>
          <p:cNvPr id="1560" name="Google Shape;1560;p113"/>
          <p:cNvSpPr txBox="1"/>
          <p:nvPr/>
        </p:nvSpPr>
        <p:spPr>
          <a:xfrm>
            <a:off x="7030187" y="2619034"/>
            <a:ext cx="803425" cy="461665"/>
          </a:xfrm>
          <a:prstGeom prst="rect">
            <a:avLst/>
          </a:prstGeom>
          <a:solidFill>
            <a:srgbClr val="C00000">
              <a:alpha val="20000"/>
            </a:srgbClr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W(B)</a:t>
            </a:r>
            <a:endParaRPr/>
          </a:p>
        </p:txBody>
      </p:sp>
      <p:sp>
        <p:nvSpPr>
          <p:cNvPr id="1561" name="Google Shape;1561;p113"/>
          <p:cNvSpPr txBox="1"/>
          <p:nvPr/>
        </p:nvSpPr>
        <p:spPr>
          <a:xfrm>
            <a:off x="9422773" y="3709701"/>
            <a:ext cx="1966996" cy="990747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 = DEADLOCK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13"/>
          <p:cNvSpPr/>
          <p:nvPr/>
        </p:nvSpPr>
        <p:spPr>
          <a:xfrm>
            <a:off x="5153809" y="3073200"/>
            <a:ext cx="1086124" cy="694467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Waiting…</a:t>
            </a:r>
            <a:endParaRPr/>
          </a:p>
        </p:txBody>
      </p:sp>
      <p:sp>
        <p:nvSpPr>
          <p:cNvPr id="1563" name="Google Shape;1563;p113"/>
          <p:cNvSpPr/>
          <p:nvPr/>
        </p:nvSpPr>
        <p:spPr>
          <a:xfrm>
            <a:off x="6933411" y="2494142"/>
            <a:ext cx="1086124" cy="694467"/>
          </a:xfrm>
          <a:prstGeom prst="rect">
            <a:avLst/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Waiting…</a:t>
            </a:r>
            <a:endParaRPr/>
          </a:p>
        </p:txBody>
      </p:sp>
      <p:cxnSp>
        <p:nvCxnSpPr>
          <p:cNvPr id="1564" name="Google Shape;1564;p113"/>
          <p:cNvCxnSpPr/>
          <p:nvPr/>
        </p:nvCxnSpPr>
        <p:spPr>
          <a:xfrm>
            <a:off x="5179209" y="3080699"/>
            <a:ext cx="0" cy="686968"/>
          </a:xfrm>
          <a:prstGeom prst="straightConnector1">
            <a:avLst/>
          </a:prstGeom>
          <a:noFill/>
          <a:ln cap="flat" cmpd="sng" w="3175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565" name="Google Shape;1565;p113"/>
          <p:cNvCxnSpPr/>
          <p:nvPr/>
        </p:nvCxnSpPr>
        <p:spPr>
          <a:xfrm>
            <a:off x="6968530" y="2502609"/>
            <a:ext cx="0" cy="686968"/>
          </a:xfrm>
          <a:prstGeom prst="straightConnector1">
            <a:avLst/>
          </a:prstGeom>
          <a:noFill/>
          <a:ln cap="flat" cmpd="sng" w="3175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fade thruBlk="1"/>
  </p:transition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14"/>
          <p:cNvSpPr/>
          <p:nvPr/>
        </p:nvSpPr>
        <p:spPr>
          <a:xfrm>
            <a:off x="665111" y="1255332"/>
            <a:ext cx="8360293" cy="175432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Courier"/>
                <a:ea typeface="Courier"/>
                <a:cs typeface="Courier"/>
                <a:sym typeface="Courier"/>
              </a:rPr>
              <a:t>ERROR:  deadlock detected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Courier"/>
                <a:ea typeface="Courier"/>
                <a:cs typeface="Courier"/>
                <a:sym typeface="Courier"/>
              </a:rPr>
              <a:t>DETAIL:  Process 321 waits for ExclusiveLock on tuple of relation 20 of database 12002; blocked by process 4924.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Courier"/>
                <a:ea typeface="Courier"/>
                <a:cs typeface="Courier"/>
                <a:sym typeface="Courier"/>
              </a:rPr>
              <a:t>Process 404 waits for ShareLock on transaction 689; blocked by process 552.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Courier"/>
                <a:ea typeface="Courier"/>
                <a:cs typeface="Courier"/>
                <a:sym typeface="Courier"/>
              </a:rPr>
              <a:t>HINT:  See server log for query details.</a:t>
            </a:r>
            <a:endParaRPr/>
          </a:p>
        </p:txBody>
      </p:sp>
      <p:sp>
        <p:nvSpPr>
          <p:cNvPr id="1572" name="Google Shape;1572;p114"/>
          <p:cNvSpPr txBox="1"/>
          <p:nvPr>
            <p:ph type="title"/>
          </p:nvPr>
        </p:nvSpPr>
        <p:spPr>
          <a:xfrm>
            <a:off x="3020641" y="3315623"/>
            <a:ext cx="56140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problem?</a:t>
            </a:r>
            <a:br>
              <a:rPr lang="en-US"/>
            </a:br>
            <a:r>
              <a:rPr lang="en-US"/>
              <a:t>Deadlock!??!</a:t>
            </a:r>
            <a:endParaRPr/>
          </a:p>
        </p:txBody>
      </p:sp>
      <p:pic>
        <p:nvPicPr>
          <p:cNvPr id="1573" name="Google Shape;1573;p114"/>
          <p:cNvPicPr preferRelativeResize="0"/>
          <p:nvPr/>
        </p:nvPicPr>
        <p:blipFill rotWithShape="1">
          <a:blip r:embed="rId3">
            <a:alphaModFix/>
          </a:blip>
          <a:srcRect b="41563" l="5373" r="41488" t="24518"/>
          <a:stretch/>
        </p:blipFill>
        <p:spPr>
          <a:xfrm>
            <a:off x="665111" y="415743"/>
            <a:ext cx="8360293" cy="53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4" name="Google Shape;1574;p114"/>
          <p:cNvGrpSpPr/>
          <p:nvPr/>
        </p:nvGrpSpPr>
        <p:grpSpPr>
          <a:xfrm>
            <a:off x="6745441" y="3474976"/>
            <a:ext cx="4897193" cy="1174440"/>
            <a:chOff x="8218096" y="3755906"/>
            <a:chExt cx="2806700" cy="673100"/>
          </a:xfrm>
        </p:grpSpPr>
        <p:sp>
          <p:nvSpPr>
            <p:cNvPr id="1575" name="Google Shape;1575;p114"/>
            <p:cNvSpPr/>
            <p:nvPr/>
          </p:nvSpPr>
          <p:spPr>
            <a:xfrm>
              <a:off x="8218096" y="3755906"/>
              <a:ext cx="673100" cy="673100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114"/>
            <p:cNvSpPr/>
            <p:nvPr/>
          </p:nvSpPr>
          <p:spPr>
            <a:xfrm>
              <a:off x="10351696" y="3755906"/>
              <a:ext cx="673100" cy="673100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77" name="Google Shape;1577;p114"/>
            <p:cNvCxnSpPr/>
            <p:nvPr/>
          </p:nvCxnSpPr>
          <p:spPr>
            <a:xfrm>
              <a:off x="8903896" y="4060706"/>
              <a:ext cx="1447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578" name="Google Shape;1578;p114"/>
            <p:cNvSpPr txBox="1"/>
            <p:nvPr/>
          </p:nvSpPr>
          <p:spPr>
            <a:xfrm>
              <a:off x="8351170" y="3822041"/>
              <a:ext cx="396152" cy="476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4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579" name="Google Shape;1579;p114"/>
            <p:cNvSpPr txBox="1"/>
            <p:nvPr/>
          </p:nvSpPr>
          <p:spPr>
            <a:xfrm>
              <a:off x="10477474" y="3809277"/>
              <a:ext cx="396152" cy="476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baseline="-25000" lang="en-US" sz="4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1580" name="Google Shape;1580;p114"/>
            <p:cNvCxnSpPr/>
            <p:nvPr/>
          </p:nvCxnSpPr>
          <p:spPr>
            <a:xfrm rot="10800000">
              <a:off x="8784714" y="4365280"/>
              <a:ext cx="169276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1581" name="Google Shape;1581;p114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Deadlocks</a:t>
            </a:r>
            <a:endParaRPr/>
          </a:p>
        </p:txBody>
      </p:sp>
      <p:sp>
        <p:nvSpPr>
          <p:cNvPr id="1588" name="Google Shape;1588;p1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Deadlock</a:t>
            </a:r>
            <a:r>
              <a:rPr lang="en-US"/>
              <a:t>: Cycle of transactions waiting for locks to be released by each other.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Two ways of dealing with deadlocks:</a:t>
            </a:r>
            <a:endParaRPr/>
          </a:p>
          <a:p>
            <a:pPr indent="-952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800"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 sz="2800"/>
              <a:t>Deadlock prevention</a:t>
            </a:r>
            <a:endParaRPr/>
          </a:p>
          <a:p>
            <a:pPr indent="-38100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800"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 sz="2800"/>
              <a:t>Deadlock detection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ransition spd="slow">
    <p:fade thruBlk="1"/>
  </p:transition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Deadlock Detection</a:t>
            </a:r>
            <a:endParaRPr/>
          </a:p>
        </p:txBody>
      </p:sp>
      <p:sp>
        <p:nvSpPr>
          <p:cNvPr id="1595" name="Google Shape;1595;p1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Create the </a:t>
            </a:r>
            <a:r>
              <a:rPr b="1" lang="en-US"/>
              <a:t>waits-for graph</a:t>
            </a:r>
            <a:r>
              <a:rPr lang="en-US"/>
              <a:t>: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Nodes are transactions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There is an edge from T</a:t>
            </a:r>
            <a:r>
              <a:rPr baseline="-25000" lang="en-US"/>
              <a:t>i</a:t>
            </a:r>
            <a:r>
              <a:rPr lang="en-US"/>
              <a:t> 🡪 T</a:t>
            </a:r>
            <a:r>
              <a:rPr baseline="-25000" lang="en-US"/>
              <a:t>j</a:t>
            </a:r>
            <a:r>
              <a:rPr lang="en-US"/>
              <a:t> if T</a:t>
            </a:r>
            <a:r>
              <a:rPr baseline="-25000" lang="en-US"/>
              <a:t>i</a:t>
            </a:r>
            <a:r>
              <a:rPr lang="en-US"/>
              <a:t> is </a:t>
            </a:r>
            <a:r>
              <a:rPr i="1" lang="en-US"/>
              <a:t>waiting for T</a:t>
            </a:r>
            <a:r>
              <a:rPr baseline="-25000" i="1" lang="en-US"/>
              <a:t>j</a:t>
            </a:r>
            <a:r>
              <a:rPr i="1" lang="en-US"/>
              <a:t> to release a lock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Periodically check for (</a:t>
            </a:r>
            <a:r>
              <a:rPr b="1" i="1" lang="en-US"/>
              <a:t>and break</a:t>
            </a:r>
            <a:r>
              <a:rPr lang="en-US"/>
              <a:t>) cycles in the waits-for graph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601" name="Google Shape;1601;p1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Concurrency achieved by </a:t>
            </a:r>
            <a:r>
              <a:rPr b="1" lang="en-US"/>
              <a:t>interleaving TXNs </a:t>
            </a:r>
            <a:r>
              <a:rPr lang="en-US"/>
              <a:t>such that </a:t>
            </a:r>
            <a:r>
              <a:rPr b="1" lang="en-US"/>
              <a:t>isolation </a:t>
            </a:r>
            <a:r>
              <a:rPr lang="en-US"/>
              <a:t>&amp;</a:t>
            </a:r>
            <a:r>
              <a:rPr b="1" lang="en-US"/>
              <a:t> consistency </a:t>
            </a:r>
            <a:r>
              <a:rPr lang="en-US"/>
              <a:t>are maintained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formalized a notion of </a:t>
            </a:r>
            <a:r>
              <a:rPr b="1" lang="en-US" u="sng"/>
              <a:t>serializability</a:t>
            </a:r>
            <a:r>
              <a:rPr lang="en-US"/>
              <a:t> that captured such a “good” interleaving schedule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defined </a:t>
            </a:r>
            <a:r>
              <a:rPr b="1" lang="en-US" u="sng"/>
              <a:t>conflict serializability</a:t>
            </a:r>
            <a:r>
              <a:rPr lang="en-US"/>
              <a:t>, which implies serializability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Locking </a:t>
            </a:r>
            <a:r>
              <a:rPr lang="en-US"/>
              <a:t>allows only conflict serializable schedules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the schedule completes… (it may deadlock!)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