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9D839B-E6D1-4344-9630-3BEAD02FC7BB}">
  <a:tblStyle styleId="{5B9D839B-E6D1-4344-9630-3BEAD02FC7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BF1E8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BF1E8"/>
          </a:solidFill>
        </a:fill>
      </a:tcStyle>
    </a:firstRow>
    <a:neCell>
      <a:tcTxStyle/>
    </a:neCell>
    <a:nwCell>
      <a:tcTxStyle/>
    </a:nwCell>
  </a:tblStyle>
  <a:tblStyle styleId="{2E697D79-29E2-4B8B-9C2F-E72C96E6D14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76E4FF2-0036-4C78-B935-57970D11E926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fill>
          <a:solidFill>
            <a:srgbClr val="D4E2CE"/>
          </a:solidFill>
        </a:fill>
      </a:tcStyle>
    </a:band1H>
    <a:band2H>
      <a:tcTxStyle/>
    </a:band2H>
    <a:band1V>
      <a:tcTxStyle/>
      <a:tcStyle>
        <a:fill>
          <a:solidFill>
            <a:srgbClr val="D4E2CE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table users (id int primary key, name char(10), age int);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 into users values (1,'Alice',20);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insert into users values (2,'Bob',25);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commit;</a:t>
            </a:r>
            <a:endParaRPr/>
          </a:p>
        </p:txBody>
      </p:sp>
      <p:sp>
        <p:nvSpPr>
          <p:cNvPr id="174" name="Google Shape;17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Deadlock </a:t>
            </a:r>
            <a:endParaRPr/>
          </a:p>
        </p:txBody>
      </p:sp>
      <p:sp>
        <p:nvSpPr>
          <p:cNvPr id="229" name="Google Shape;229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 problem</a:t>
            </a:r>
            <a:endParaRPr/>
          </a:p>
        </p:txBody>
      </p:sp>
      <p:sp>
        <p:nvSpPr>
          <p:cNvPr id="237" name="Google Shape;23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Only one works</a:t>
            </a:r>
            <a:endParaRPr/>
          </a:p>
        </p:txBody>
      </p:sp>
      <p:sp>
        <p:nvSpPr>
          <p:cNvPr id="246" name="Google Shape;246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out  the lock granularity</a:t>
            </a:r>
            <a:endParaRPr/>
          </a:p>
        </p:txBody>
      </p:sp>
      <p:sp>
        <p:nvSpPr>
          <p:cNvPr id="255" name="Google Shape;255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phantom ( n ot working</a:t>
            </a:r>
            <a:endParaRPr/>
          </a:p>
        </p:txBody>
      </p:sp>
      <p:sp>
        <p:nvSpPr>
          <p:cNvPr id="263" name="Google Shape;263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phantom ( n ot working</a:t>
            </a:r>
            <a:endParaRPr/>
          </a:p>
        </p:txBody>
      </p:sp>
      <p:sp>
        <p:nvSpPr>
          <p:cNvPr id="271" name="Google Shape;271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885120" y="47730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0" y="-36875"/>
            <a:ext cx="9144000" cy="197069"/>
          </a:xfrm>
          <a:prstGeom prst="rect">
            <a:avLst/>
          </a:prstGeom>
          <a:solidFill>
            <a:srgbClr val="5481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Fall 2024</a:t>
            </a:r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733925"/>
            <a:ext cx="650119" cy="4095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aw.githubusercontent.com/TeachingOW/DBMS-SQL-Labs/refs/heads/main/inclass/users.sql" TargetMode="External"/><Relationship Id="rId4" Type="http://schemas.openxmlformats.org/officeDocument/2006/relationships/hyperlink" Target="https://raw.githubusercontent.com/TeachingOW/DBMS-SQL-Labs/refs/heads/main/inclass/users.sq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/>
        </p:nvSpPr>
        <p:spPr>
          <a:xfrm>
            <a:off x="1883650" y="1164172"/>
            <a:ext cx="70317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 Transactions</a:t>
            </a:r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1153955" y="2383372"/>
            <a:ext cx="7368590" cy="0"/>
          </a:xfrm>
          <a:prstGeom prst="straightConnector1">
            <a:avLst/>
          </a:prstGeom>
          <a:noFill/>
          <a:ln cap="flat" cmpd="sng" w="127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" name="Google Shape;42;p6"/>
          <p:cNvSpPr txBox="1"/>
          <p:nvPr/>
        </p:nvSpPr>
        <p:spPr>
          <a:xfrm>
            <a:off x="4303165" y="2499794"/>
            <a:ext cx="3955715" cy="993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Isolation Levels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/>
        </p:nvSpPr>
        <p:spPr>
          <a:xfrm>
            <a:off x="1077145" y="1925032"/>
            <a:ext cx="7335355" cy="2185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r>
              <a:rPr b="0" i="0" lang="en-US" sz="18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 made a promise to the </a:t>
            </a:r>
            <a:r>
              <a:rPr b="0" i="0" lang="en-US" sz="24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programmer</a:t>
            </a:r>
            <a:r>
              <a:rPr b="0" i="0" lang="en-US" sz="18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 about complexities they </a:t>
            </a:r>
            <a:r>
              <a:rPr b="1" i="0" lang="en-US" sz="18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didn't</a:t>
            </a:r>
            <a:r>
              <a:rPr b="0" i="0" lang="en-US" sz="1800" u="none" cap="none" strike="noStrike">
                <a:solidFill>
                  <a:srgbClr val="0F1419"/>
                </a:solidFill>
                <a:latin typeface="Arial"/>
                <a:ea typeface="Arial"/>
                <a:cs typeface="Arial"/>
                <a:sym typeface="Arial"/>
              </a:rPr>
              <a:t> have to worry about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4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rgbClr val="0F14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41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				Peter Alvaro</a:t>
            </a:r>
            <a:endParaRPr/>
          </a:p>
          <a:p>
            <a:pPr indent="0" lvl="3" marL="13716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		University of California, Santa Cruz</a:t>
            </a:r>
            <a:endParaRPr b="0" i="0" sz="1800" u="none" cap="none" strike="noStrik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Transaction Properties: ACID</a:t>
            </a:r>
            <a:endParaRPr/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Char char="•"/>
            </a:pP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tomic</a:t>
            </a:r>
            <a:endParaRPr/>
          </a:p>
          <a:p>
            <a:pPr indent="-1714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State shows either all the effects of txn, or none of them</a:t>
            </a:r>
            <a:endParaRPr/>
          </a:p>
          <a:p>
            <a:pPr indent="-17145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Char char="•"/>
            </a:pP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onsistent</a:t>
            </a:r>
            <a:endParaRPr/>
          </a:p>
          <a:p>
            <a:pPr indent="-1714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Txn moves from a state where integrity holds, to another where integrity holds</a:t>
            </a:r>
            <a:endParaRPr/>
          </a:p>
          <a:p>
            <a:pPr indent="-17145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Char char="•"/>
            </a:pPr>
            <a:r>
              <a:rPr lang="en-US">
                <a:solidFill>
                  <a:srgbClr val="FF0000"/>
                </a:solidFill>
              </a:rPr>
              <a:t>I</a:t>
            </a:r>
            <a:r>
              <a:rPr lang="en-US"/>
              <a:t>solated</a:t>
            </a:r>
            <a:endParaRPr/>
          </a:p>
          <a:p>
            <a:pPr indent="-1714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Effect of txns is the same as txns running one after another (ie looks like batch mode)</a:t>
            </a:r>
            <a:endParaRPr/>
          </a:p>
          <a:p>
            <a:pPr indent="-171450" lvl="0" marL="171450" rtl="0" algn="l">
              <a:lnSpc>
                <a:spcPct val="8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2100"/>
              <a:buChar char="•"/>
            </a:pPr>
            <a:r>
              <a:rPr lang="en-US">
                <a:solidFill>
                  <a:srgbClr val="FF0000"/>
                </a:solidFill>
              </a:rPr>
              <a:t>D</a:t>
            </a:r>
            <a:r>
              <a:rPr lang="en-US"/>
              <a:t>urable</a:t>
            </a:r>
            <a:endParaRPr/>
          </a:p>
          <a:p>
            <a:pPr indent="-171450" lvl="1" marL="514350" rtl="0" algn="l">
              <a:lnSpc>
                <a:spcPct val="8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Once a txn has committed, its effects remain in the database</a:t>
            </a:r>
            <a:endParaRPr/>
          </a:p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1455887" y="4514634"/>
            <a:ext cx="6335563" cy="461665"/>
          </a:xfrm>
          <a:prstGeom prst="rect">
            <a:avLst/>
          </a:prstGeom>
          <a:solidFill>
            <a:srgbClr val="FFF2CC"/>
          </a:solidFill>
          <a:ln>
            <a:noFill/>
          </a:ln>
          <a:effectLst>
            <a:outerShdw blurRad="50800" rotWithShape="0" algn="tl" dir="2700000" dist="127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ACID continues to be a source of great debate!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Lock Granularity</a:t>
            </a:r>
            <a:endParaRPr/>
          </a:p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Lock can be of different levels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Database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Table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Page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Record</a:t>
            </a:r>
            <a:endParaRPr/>
          </a:p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/>
        </p:nvSpPr>
        <p:spPr>
          <a:xfrm>
            <a:off x="152400" y="285750"/>
            <a:ext cx="8068076" cy="4552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3035800" y="1351574"/>
            <a:ext cx="2803565" cy="9144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/>
          </a:p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990000"/>
                </a:solidFill>
              </a:rPr>
              <a:t>Solution for both concurrency and failures</a:t>
            </a:r>
            <a:endParaRPr b="1" sz="3600"/>
          </a:p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731500" y="234953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None/>
            </a:pPr>
            <a:r>
              <a:rPr lang="en-US" sz="2800"/>
              <a:t>A transaction is a sequence of one or more SQL </a:t>
            </a:r>
            <a:endParaRPr/>
          </a:p>
          <a:p>
            <a:pPr indent="-18288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None/>
            </a:pPr>
            <a:r>
              <a:rPr lang="en-US" sz="2800"/>
              <a:t>operations treated as a </a:t>
            </a:r>
            <a:r>
              <a:rPr b="1" lang="en-US" sz="2800"/>
              <a:t>unit</a:t>
            </a:r>
            <a:endParaRPr/>
          </a:p>
          <a:p>
            <a:pPr indent="-182879" lvl="1" marL="67437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990000"/>
                </a:solidFill>
              </a:rPr>
              <a:t> Transactions appear to run in isolation</a:t>
            </a:r>
            <a:endParaRPr/>
          </a:p>
          <a:p>
            <a:pPr indent="-182879" lvl="1" marL="67437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990000"/>
                </a:solidFill>
              </a:rPr>
              <a:t> If the system fails, each transaction’s changes are  </a:t>
            </a:r>
            <a:endParaRPr/>
          </a:p>
          <a:p>
            <a:pPr indent="-182879" lvl="1" marL="67437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None/>
            </a:pPr>
            <a:r>
              <a:rPr lang="en-US" sz="2400">
                <a:solidFill>
                  <a:srgbClr val="990000"/>
                </a:solidFill>
              </a:rPr>
              <a:t>    reflected either entirely or not at all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/>
        </p:nvSpPr>
        <p:spPr>
          <a:xfrm>
            <a:off x="152400" y="285750"/>
            <a:ext cx="8068076" cy="4552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79" lvl="1" marL="67437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7432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4727444" y="920336"/>
            <a:ext cx="3076162" cy="1997060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Serializability</a:t>
            </a:r>
            <a:endParaRPr sz="2400" u="sng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may be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interleaved, but execution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be equivalent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sequential (serial) order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all transactions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4689039" y="2994205"/>
            <a:ext cx="380027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⇒ Overhead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⇒ Reduction in concurrency</a:t>
            </a: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>
            <a:off x="1037215" y="973990"/>
            <a:ext cx="2090958" cy="3964444"/>
            <a:chOff x="1037215" y="973990"/>
            <a:chExt cx="2090958" cy="3964444"/>
          </a:xfrm>
        </p:grpSpPr>
        <p:cxnSp>
          <p:nvCxnSpPr>
            <p:cNvPr id="82" name="Google Shape;82;p11"/>
            <p:cNvCxnSpPr/>
            <p:nvPr/>
          </p:nvCxnSpPr>
          <p:spPr>
            <a:xfrm rot="5400000">
              <a:off x="1922786" y="3539926"/>
              <a:ext cx="381000" cy="158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83" name="Google Shape;83;p11"/>
            <p:cNvCxnSpPr/>
            <p:nvPr/>
          </p:nvCxnSpPr>
          <p:spPr>
            <a:xfrm flipH="1" rot="-5400000">
              <a:off x="647067" y="1964897"/>
              <a:ext cx="1282613" cy="422452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84" name="Google Shape;84;p11"/>
            <p:cNvCxnSpPr/>
            <p:nvPr/>
          </p:nvCxnSpPr>
          <p:spPr>
            <a:xfrm flipH="1" rot="-5400000">
              <a:off x="1134753" y="2068532"/>
              <a:ext cx="1190555" cy="30724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85" name="Google Shape;85;p11"/>
            <p:cNvCxnSpPr/>
            <p:nvPr/>
          </p:nvCxnSpPr>
          <p:spPr>
            <a:xfrm flipH="1" rot="-5400000">
              <a:off x="1499603" y="2202951"/>
              <a:ext cx="1190552" cy="38404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86" name="Google Shape;86;p11"/>
            <p:cNvCxnSpPr/>
            <p:nvPr/>
          </p:nvCxnSpPr>
          <p:spPr>
            <a:xfrm rot="5400000">
              <a:off x="1864449" y="2106940"/>
              <a:ext cx="1190556" cy="230427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87" name="Google Shape;87;p11"/>
            <p:cNvCxnSpPr/>
            <p:nvPr/>
          </p:nvCxnSpPr>
          <p:spPr>
            <a:xfrm rot="5400000">
              <a:off x="2202470" y="1945695"/>
              <a:ext cx="1321018" cy="422453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88" name="Google Shape;88;p11"/>
            <p:cNvSpPr txBox="1"/>
            <p:nvPr/>
          </p:nvSpPr>
          <p:spPr>
            <a:xfrm>
              <a:off x="1702605" y="3959820"/>
              <a:ext cx="7646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89" name="Google Shape;89;p11"/>
            <p:cNvSpPr txBox="1"/>
            <p:nvPr/>
          </p:nvSpPr>
          <p:spPr>
            <a:xfrm>
              <a:off x="1691625" y="973990"/>
              <a:ext cx="8835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 .  .</a:t>
              </a:r>
              <a:endParaRPr/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1037215" y="2807831"/>
              <a:ext cx="2090958" cy="542389"/>
            </a:xfrm>
            <a:prstGeom prst="rect">
              <a:avLst/>
            </a:prstGeom>
            <a:solidFill>
              <a:schemeClr val="lt1"/>
            </a:solidFill>
            <a:ln cap="flat" cmpd="sng" w="635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DBMS</a:t>
              </a:r>
              <a:endParaRPr/>
            </a:p>
          </p:txBody>
        </p:sp>
        <p:sp>
          <p:nvSpPr>
            <p:cNvPr id="91" name="Google Shape;91;p11"/>
            <p:cNvSpPr/>
            <p:nvPr/>
          </p:nvSpPr>
          <p:spPr>
            <a:xfrm>
              <a:off x="1641169" y="3722282"/>
              <a:ext cx="914400" cy="1216152"/>
            </a:xfrm>
            <a:prstGeom prst="can">
              <a:avLst>
                <a:gd fmla="val 25000" name="adj"/>
              </a:avLst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sp>
        <p:nvSpPr>
          <p:cNvPr id="92" name="Google Shape;92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990000"/>
                </a:solidFill>
              </a:rPr>
              <a:t>(ACID Properties)  </a:t>
            </a:r>
            <a:r>
              <a:rPr b="1" lang="en-US" sz="4000">
                <a:solidFill>
                  <a:srgbClr val="990000"/>
                </a:solidFill>
              </a:rPr>
              <a:t>Isolation</a:t>
            </a:r>
            <a:endParaRPr/>
          </a:p>
        </p:txBody>
      </p:sp>
      <p:sp>
        <p:nvSpPr>
          <p:cNvPr id="93" name="Google Shape;93;p1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/>
        </p:nvSpPr>
        <p:spPr>
          <a:xfrm>
            <a:off x="152400" y="285750"/>
            <a:ext cx="8068076" cy="4552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2"/>
          <p:cNvSpPr txBox="1"/>
          <p:nvPr/>
        </p:nvSpPr>
        <p:spPr>
          <a:xfrm>
            <a:off x="4450330" y="971848"/>
            <a:ext cx="3368486" cy="1615827"/>
          </a:xfrm>
          <a:prstGeom prst="rect">
            <a:avLst/>
          </a:prstGeom>
          <a:noFill/>
          <a:ln cap="flat" cmpd="sng" w="254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Weaker “Isolation Levels”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Read Uncommitted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Read Committed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Repeatable Read</a:t>
            </a:r>
            <a:endParaRPr/>
          </a:p>
        </p:txBody>
      </p:sp>
      <p:sp>
        <p:nvSpPr>
          <p:cNvPr id="101" name="Google Shape;101;p12"/>
          <p:cNvSpPr txBox="1"/>
          <p:nvPr/>
        </p:nvSpPr>
        <p:spPr>
          <a:xfrm>
            <a:off x="4325833" y="2838975"/>
            <a:ext cx="37026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Overhead   </a:t>
            </a:r>
            <a:r>
              <a:rPr b="1" baseline="-25000" lang="en-US" sz="3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Concurrency</a:t>
            </a:r>
            <a:endParaRPr/>
          </a:p>
        </p:txBody>
      </p:sp>
      <p:sp>
        <p:nvSpPr>
          <p:cNvPr id="102" name="Google Shape;102;p12"/>
          <p:cNvSpPr txBox="1"/>
          <p:nvPr/>
        </p:nvSpPr>
        <p:spPr>
          <a:xfrm>
            <a:off x="4349380" y="3300640"/>
            <a:ext cx="34870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36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r>
              <a:rPr b="1" lang="en-US" sz="24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 Consistency Guarantees</a:t>
            </a:r>
            <a:endParaRPr/>
          </a:p>
        </p:txBody>
      </p:sp>
      <p:grpSp>
        <p:nvGrpSpPr>
          <p:cNvPr id="103" name="Google Shape;103;p12"/>
          <p:cNvGrpSpPr/>
          <p:nvPr/>
        </p:nvGrpSpPr>
        <p:grpSpPr>
          <a:xfrm>
            <a:off x="1037215" y="973990"/>
            <a:ext cx="2090958" cy="3964444"/>
            <a:chOff x="1037215" y="973990"/>
            <a:chExt cx="2090958" cy="3964444"/>
          </a:xfrm>
        </p:grpSpPr>
        <p:cxnSp>
          <p:nvCxnSpPr>
            <p:cNvPr id="104" name="Google Shape;104;p12"/>
            <p:cNvCxnSpPr/>
            <p:nvPr/>
          </p:nvCxnSpPr>
          <p:spPr>
            <a:xfrm rot="5400000">
              <a:off x="1922786" y="3539926"/>
              <a:ext cx="381000" cy="158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5" name="Google Shape;105;p12"/>
            <p:cNvCxnSpPr/>
            <p:nvPr/>
          </p:nvCxnSpPr>
          <p:spPr>
            <a:xfrm flipH="1" rot="-5400000">
              <a:off x="647067" y="1964897"/>
              <a:ext cx="1282613" cy="422452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06" name="Google Shape;106;p12"/>
            <p:cNvCxnSpPr/>
            <p:nvPr/>
          </p:nvCxnSpPr>
          <p:spPr>
            <a:xfrm flipH="1" rot="-5400000">
              <a:off x="1134753" y="2068532"/>
              <a:ext cx="1190555" cy="30724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07" name="Google Shape;107;p12"/>
            <p:cNvCxnSpPr/>
            <p:nvPr/>
          </p:nvCxnSpPr>
          <p:spPr>
            <a:xfrm flipH="1" rot="-5400000">
              <a:off x="1499603" y="2202951"/>
              <a:ext cx="1190552" cy="38404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08" name="Google Shape;108;p12"/>
            <p:cNvCxnSpPr/>
            <p:nvPr/>
          </p:nvCxnSpPr>
          <p:spPr>
            <a:xfrm rot="5400000">
              <a:off x="1864449" y="2106940"/>
              <a:ext cx="1190556" cy="230427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09" name="Google Shape;109;p12"/>
            <p:cNvCxnSpPr/>
            <p:nvPr/>
          </p:nvCxnSpPr>
          <p:spPr>
            <a:xfrm rot="5400000">
              <a:off x="2202470" y="1945695"/>
              <a:ext cx="1321018" cy="422453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10" name="Google Shape;110;p12"/>
            <p:cNvSpPr txBox="1"/>
            <p:nvPr/>
          </p:nvSpPr>
          <p:spPr>
            <a:xfrm>
              <a:off x="1702605" y="3959820"/>
              <a:ext cx="7646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11" name="Google Shape;111;p12"/>
            <p:cNvSpPr txBox="1"/>
            <p:nvPr/>
          </p:nvSpPr>
          <p:spPr>
            <a:xfrm>
              <a:off x="1691625" y="973990"/>
              <a:ext cx="8835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 .  .</a:t>
              </a:r>
              <a:endParaRPr/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1037215" y="2807831"/>
              <a:ext cx="2090958" cy="542389"/>
            </a:xfrm>
            <a:prstGeom prst="rect">
              <a:avLst/>
            </a:prstGeom>
            <a:solidFill>
              <a:schemeClr val="lt1"/>
            </a:solidFill>
            <a:ln cap="flat" cmpd="sng" w="635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DBMS</a:t>
              </a:r>
              <a:endParaRPr/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1641169" y="3722282"/>
              <a:ext cx="914400" cy="1216152"/>
            </a:xfrm>
            <a:prstGeom prst="can">
              <a:avLst>
                <a:gd fmla="val 25000" name="adj"/>
              </a:avLst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sp>
        <p:nvSpPr>
          <p:cNvPr id="114" name="Google Shape;114;p1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8288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Calibri"/>
              <a:buNone/>
            </a:pPr>
            <a:r>
              <a:rPr lang="en-US" sz="2400">
                <a:solidFill>
                  <a:srgbClr val="990000"/>
                </a:solidFill>
              </a:rPr>
              <a:t>(ACID Properties)  </a:t>
            </a:r>
            <a:r>
              <a:rPr b="1" lang="en-US" sz="2800">
                <a:solidFill>
                  <a:srgbClr val="990000"/>
                </a:solidFill>
              </a:rPr>
              <a:t>Isolation</a:t>
            </a:r>
            <a:endParaRPr/>
          </a:p>
        </p:txBody>
      </p:sp>
      <p:sp>
        <p:nvSpPr>
          <p:cNvPr id="115" name="Google Shape;115;p1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16" name="Google Shape;116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 txBox="1"/>
          <p:nvPr/>
        </p:nvSpPr>
        <p:spPr>
          <a:xfrm>
            <a:off x="152400" y="285750"/>
            <a:ext cx="8068076" cy="4552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Isolation Levels</a:t>
            </a:r>
            <a:endParaRPr/>
          </a:p>
          <a:p>
            <a:pPr indent="-182879" lvl="1" marL="67437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Per transaction</a:t>
            </a:r>
            <a:endParaRPr/>
          </a:p>
          <a:p>
            <a:pPr indent="-182879" lvl="1" marL="67437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“In the eye of the beholder”</a:t>
            </a:r>
            <a:endParaRPr/>
          </a:p>
          <a:p>
            <a:pPr indent="-182879" lvl="1" marL="67437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7432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 rot="5400000">
            <a:off x="6681222" y="1150767"/>
            <a:ext cx="1344178" cy="2649945"/>
          </a:xfrm>
          <a:prstGeom prst="cloudCallout">
            <a:avLst>
              <a:gd fmla="val -20833" name="adj1"/>
              <a:gd fmla="val 625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 rot="-6581799">
            <a:off x="1086921" y="1142729"/>
            <a:ext cx="1307603" cy="2692228"/>
          </a:xfrm>
          <a:prstGeom prst="cloudCallout">
            <a:avLst>
              <a:gd fmla="val -20833" name="adj1"/>
              <a:gd fmla="val 625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526226" y="2173827"/>
            <a:ext cx="2218877" cy="61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My transaction is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Repeatable</a:t>
            </a:r>
            <a:r>
              <a:rPr b="1" lang="en-US" sz="105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Read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6105149" y="2072487"/>
            <a:ext cx="2358338" cy="61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My transaction is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Read</a:t>
            </a:r>
            <a:r>
              <a:rPr b="1" lang="en-US" sz="105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r>
              <a:rPr b="1" lang="en-US" sz="1800">
                <a:solidFill>
                  <a:schemeClr val="dk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Uncommitted</a:t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3556382" y="1803649"/>
            <a:ext cx="2090958" cy="3341235"/>
            <a:chOff x="1037215" y="973990"/>
            <a:chExt cx="2090958" cy="3964444"/>
          </a:xfrm>
        </p:grpSpPr>
        <p:cxnSp>
          <p:nvCxnSpPr>
            <p:cNvPr id="127" name="Google Shape;127;p13"/>
            <p:cNvCxnSpPr/>
            <p:nvPr/>
          </p:nvCxnSpPr>
          <p:spPr>
            <a:xfrm rot="5400000">
              <a:off x="1922786" y="3539926"/>
              <a:ext cx="381000" cy="1588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28" name="Google Shape;128;p13"/>
            <p:cNvCxnSpPr/>
            <p:nvPr/>
          </p:nvCxnSpPr>
          <p:spPr>
            <a:xfrm flipH="1" rot="-5400000">
              <a:off x="647067" y="1964897"/>
              <a:ext cx="1282613" cy="422452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29" name="Google Shape;129;p13"/>
            <p:cNvCxnSpPr/>
            <p:nvPr/>
          </p:nvCxnSpPr>
          <p:spPr>
            <a:xfrm flipH="1" rot="-5400000">
              <a:off x="1134753" y="2068532"/>
              <a:ext cx="1190555" cy="307240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30" name="Google Shape;130;p13"/>
            <p:cNvCxnSpPr/>
            <p:nvPr/>
          </p:nvCxnSpPr>
          <p:spPr>
            <a:xfrm flipH="1" rot="-5400000">
              <a:off x="1499603" y="2202951"/>
              <a:ext cx="1190552" cy="38404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31" name="Google Shape;131;p13"/>
            <p:cNvCxnSpPr/>
            <p:nvPr/>
          </p:nvCxnSpPr>
          <p:spPr>
            <a:xfrm rot="5400000">
              <a:off x="1864449" y="2106940"/>
              <a:ext cx="1190556" cy="230427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132" name="Google Shape;132;p13"/>
            <p:cNvCxnSpPr/>
            <p:nvPr/>
          </p:nvCxnSpPr>
          <p:spPr>
            <a:xfrm rot="5400000">
              <a:off x="2202470" y="1945695"/>
              <a:ext cx="1321018" cy="422453"/>
            </a:xfrm>
            <a:prstGeom prst="straightConnector1">
              <a:avLst/>
            </a:prstGeom>
            <a:noFill/>
            <a:ln cap="flat" cmpd="sng" w="317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sp>
          <p:nvSpPr>
            <p:cNvPr id="133" name="Google Shape;133;p13"/>
            <p:cNvSpPr txBox="1"/>
            <p:nvPr/>
          </p:nvSpPr>
          <p:spPr>
            <a:xfrm>
              <a:off x="1702605" y="3959820"/>
              <a:ext cx="764697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1691625" y="973990"/>
              <a:ext cx="883575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.  .  .</a:t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037215" y="2807831"/>
              <a:ext cx="2090958" cy="542389"/>
            </a:xfrm>
            <a:prstGeom prst="rect">
              <a:avLst/>
            </a:prstGeom>
            <a:solidFill>
              <a:schemeClr val="lt1"/>
            </a:solidFill>
            <a:ln cap="flat" cmpd="sng" w="635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DBMS</a:t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1641169" y="3722282"/>
              <a:ext cx="914400" cy="1216152"/>
            </a:xfrm>
            <a:prstGeom prst="can">
              <a:avLst>
                <a:gd fmla="val 25000" name="adj"/>
              </a:avLst>
            </a:prstGeom>
            <a:solidFill>
              <a:schemeClr val="lt1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sp>
        <p:nvSpPr>
          <p:cNvPr id="137" name="Google Shape;137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Anomalies</a:t>
            </a:r>
            <a:endParaRPr/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Dirty Read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Non-repeatable read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Phantom Read</a:t>
            </a:r>
            <a:endParaRPr/>
          </a:p>
        </p:txBody>
      </p:sp>
      <p:sp>
        <p:nvSpPr>
          <p:cNvPr id="146" name="Google Shape;146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Dirty Read</a:t>
            </a:r>
            <a:endParaRPr/>
          </a:p>
        </p:txBody>
      </p:sp>
      <p:sp>
        <p:nvSpPr>
          <p:cNvPr id="152" name="Google Shape;152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3" name="Google Shape;15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315" y="1370013"/>
            <a:ext cx="5965370" cy="326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808310" y="4719519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Source: https://vladmihalcea.com/dirty-read/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Non Repeatable Read</a:t>
            </a:r>
            <a:endParaRPr/>
          </a:p>
        </p:txBody>
      </p:sp>
      <p:sp>
        <p:nvSpPr>
          <p:cNvPr id="160" name="Google Shape;160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on-Repeatable Read" id="161" name="Google Shape;161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6390" y="1370013"/>
            <a:ext cx="5171219" cy="326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038739" y="4648630"/>
            <a:ext cx="556872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Source: https://vladmihalcea.com/non-repeatable-read/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Phantom Read</a:t>
            </a:r>
            <a:endParaRPr/>
          </a:p>
        </p:txBody>
      </p:sp>
      <p:sp>
        <p:nvSpPr>
          <p:cNvPr id="168" name="Google Shape;168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" name="Google Shape;169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6429" y="1370013"/>
            <a:ext cx="4971142" cy="326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153954" y="4765433"/>
            <a:ext cx="54151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Source: https://vladmihalcea.com/phantom-read/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18"/>
          <p:cNvGraphicFramePr/>
          <p:nvPr/>
        </p:nvGraphicFramePr>
        <p:xfrm>
          <a:off x="2613345" y="15709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{5B9D839B-E6D1-4344-9630-3BEAD02FC7BB}</a:tableStyleId>
              </a:tblPr>
              <a:tblGrid>
                <a:gridCol w="1448400"/>
                <a:gridCol w="1448400"/>
                <a:gridCol w="14484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id</a:t>
                      </a:r>
                      <a:endParaRPr i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name</a:t>
                      </a:r>
                      <a:endParaRPr i="1" sz="2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age</a:t>
                      </a:r>
                      <a:endParaRPr i="1" sz="2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Alice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Bob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25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77" name="Google Shape;177;p18"/>
          <p:cNvSpPr/>
          <p:nvPr/>
        </p:nvSpPr>
        <p:spPr>
          <a:xfrm>
            <a:off x="457200" y="216535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2613345" y="958305"/>
            <a:ext cx="426295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b="0" i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80" name="Google Shape;180;p18"/>
          <p:cNvSpPr txBox="1"/>
          <p:nvPr>
            <p:ph idx="12" type="sldNum"/>
          </p:nvPr>
        </p:nvSpPr>
        <p:spPr>
          <a:xfrm>
            <a:off x="7038408" y="486444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  <p:sp>
        <p:nvSpPr>
          <p:cNvPr id="181" name="Google Shape;181;p18"/>
          <p:cNvSpPr txBox="1"/>
          <p:nvPr/>
        </p:nvSpPr>
        <p:spPr>
          <a:xfrm>
            <a:off x="0" y="3920380"/>
            <a:ext cx="908092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SQL data: </a:t>
            </a: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https://raw.githubusercontent.com/TeachingOW/DBMS-SQL-Labs/refs/heads/main/inclass/users.sql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29890" y="196740"/>
            <a:ext cx="8997090" cy="1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b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ead phenomena / Isolation Level</a:t>
            </a:r>
            <a:br>
              <a:rPr lang="en-US" sz="8000">
                <a:solidFill>
                  <a:srgbClr val="C00000"/>
                </a:solidFill>
              </a:rPr>
            </a:br>
            <a:endParaRPr>
              <a:solidFill>
                <a:srgbClr val="C00000"/>
              </a:solidFill>
            </a:endParaRPr>
          </a:p>
        </p:txBody>
      </p:sp>
      <p:graphicFrame>
        <p:nvGraphicFramePr>
          <p:cNvPr id="188" name="Google Shape;188;p19"/>
          <p:cNvGraphicFramePr/>
          <p:nvPr/>
        </p:nvGraphicFramePr>
        <p:xfrm>
          <a:off x="501070" y="1169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{2E697D79-29E2-4B8B-9C2F-E72C96E6D140}</a:tableStyleId>
              </a:tblPr>
              <a:tblGrid>
                <a:gridCol w="4915850"/>
                <a:gridCol w="3418050"/>
              </a:tblGrid>
              <a:tr h="288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Transaction 1</a:t>
                      </a:r>
                      <a:endParaRPr/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/>
                        <a:t>Transaction 2</a:t>
                      </a:r>
                      <a:endParaRPr/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retrieves 20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5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UPDATE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21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no commit here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0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--READ UNCOMMITTED retrieves 21 (dirty read)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--READ COMMITTED retrieves 20 (dirty read has been avoided)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--REPEATABLE READ retrieves 20 (dirty read has been avoided)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SERIALIZABLE retrieves 20 (dirty read has been avoided)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endParaRPr/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ROLLBACK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</a:txBody>
                  <a:tcPr marT="36100" marB="36100" marR="72225" marL="722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7086191" y="486965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/>
        </p:nvSpPr>
        <p:spPr>
          <a:xfrm>
            <a:off x="29890" y="196740"/>
            <a:ext cx="8997090" cy="915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20"/>
          <p:cNvGraphicFramePr/>
          <p:nvPr/>
        </p:nvGraphicFramePr>
        <p:xfrm>
          <a:off x="893121" y="7552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{2E697D79-29E2-4B8B-9C2F-E72C96E6D140}</a:tableStyleId>
              </a:tblPr>
              <a:tblGrid>
                <a:gridCol w="4519425"/>
                <a:gridCol w="3367275"/>
              </a:tblGrid>
              <a:tr h="29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Transaction 1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Transaction 2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i="1" lang="en-US" sz="15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retrieves 20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UPDATE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21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6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=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1" lang="en-US" sz="15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--READ UNCOMMITTED retrieves 21 (non-repeatable read)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1" lang="en-US" sz="15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READ COMMITTED retrieves 21 (non-repeatable read)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1" lang="en-US" sz="15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REPEATABLE READ retrieves 20 (non-repeatable read has been avoided)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500"/>
                        <a:buFont typeface="Noto Sans Symbols"/>
                        <a:buNone/>
                      </a:pPr>
                      <a:r>
                        <a:rPr i="1" lang="en-US" sz="15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SERIALIZABLE retrieves 20 (non-repeatable read has been avoided)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0"/>
          <p:cNvSpPr txBox="1"/>
          <p:nvPr/>
        </p:nvSpPr>
        <p:spPr>
          <a:xfrm>
            <a:off x="29890" y="196740"/>
            <a:ext cx="8997090" cy="1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>
            <p:ph type="title"/>
          </p:nvPr>
        </p:nvSpPr>
        <p:spPr>
          <a:xfrm>
            <a:off x="645961" y="1402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b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ead phenomena / Isolation Level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8642930" y="4809838"/>
            <a:ext cx="5010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21"/>
          <p:cNvGraphicFramePr/>
          <p:nvPr/>
        </p:nvGraphicFramePr>
        <p:xfrm>
          <a:off x="641015" y="1035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{2E697D79-29E2-4B8B-9C2F-E72C96E6D140}</a:tableStyleId>
              </a:tblPr>
              <a:tblGrid>
                <a:gridCol w="4967925"/>
                <a:gridCol w="2918775"/>
              </a:tblGrid>
              <a:tr h="29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1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2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name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&gt;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17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retrieves Alice and Bob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6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BEGIN</a:t>
                      </a:r>
                      <a:r>
                        <a:rPr lang="en-US" sz="1500"/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INSERT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INTO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/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VALUES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/>
                        <a:t>(</a:t>
                      </a:r>
                      <a:r>
                        <a:rPr lang="en-US" sz="1500">
                          <a:solidFill>
                            <a:srgbClr val="666666"/>
                          </a:solidFill>
                        </a:rPr>
                        <a:t>3</a:t>
                      </a:r>
                      <a:r>
                        <a:rPr lang="en-US" sz="1500"/>
                        <a:t>,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>
                          <a:solidFill>
                            <a:srgbClr val="BA2121"/>
                          </a:solidFill>
                        </a:rPr>
                        <a:t>'Carol'</a:t>
                      </a:r>
                      <a:r>
                        <a:rPr lang="en-US" sz="1500"/>
                        <a:t>,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</a:rPr>
                        <a:t>26</a:t>
                      </a:r>
                      <a:r>
                        <a:rPr lang="en-US" sz="1500"/>
                        <a:t>);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COMMIT</a:t>
                      </a:r>
                      <a:r>
                        <a:rPr lang="en-US" sz="1500"/>
                        <a:t>; 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65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name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age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&gt;</a:t>
                      </a:r>
                      <a:r>
                        <a:rPr lang="en-US" sz="14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4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17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READ UNCOMMITTED retrieves Alice, Bob and Carol (phantom read)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READ COMMITTED retrieves Alice, Bob and Carol (phantom read)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REPEATABLE READ retrieves Alice, Bob and Carol (phantom read)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7B7B"/>
                        </a:buClr>
                        <a:buSzPts val="1400"/>
                        <a:buFont typeface="Noto Sans Symbols"/>
                        <a:buNone/>
                      </a:pPr>
                      <a:r>
                        <a:rPr i="1" lang="en-US" sz="1400">
                          <a:solidFill>
                            <a:srgbClr val="3D7B7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-- SERIALIZABLE retrieves Alice and Bob (phantom read has been avoided)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-US" sz="14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4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</a:txBody>
                  <a:tcPr marT="36900" marB="36900" marR="73775" marL="737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1"/>
          <p:cNvSpPr txBox="1"/>
          <p:nvPr/>
        </p:nvSpPr>
        <p:spPr>
          <a:xfrm>
            <a:off x="29890" y="196740"/>
            <a:ext cx="8997090" cy="1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b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lang="en-US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ead phenomena / Isolation Level</a:t>
            </a:r>
            <a:br>
              <a:rPr lang="en-US" sz="8000">
                <a:solidFill>
                  <a:srgbClr val="C00000"/>
                </a:solidFill>
              </a:rPr>
            </a:br>
            <a:endParaRPr>
              <a:solidFill>
                <a:srgbClr val="C00000"/>
              </a:solidFill>
            </a:endParaRPr>
          </a:p>
        </p:txBody>
      </p:sp>
      <p:sp>
        <p:nvSpPr>
          <p:cNvPr id="206" name="Google Shape;206;p21"/>
          <p:cNvSpPr txBox="1"/>
          <p:nvPr>
            <p:ph idx="12" type="sldNum"/>
          </p:nvPr>
        </p:nvSpPr>
        <p:spPr>
          <a:xfrm>
            <a:off x="6969580" y="473273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/>
        </p:nvSpPr>
        <p:spPr>
          <a:xfrm>
            <a:off x="29890" y="196739"/>
            <a:ext cx="8997090" cy="172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764745" y="3224637"/>
            <a:ext cx="8070210" cy="142098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Session Transaction Isolation Level Serializable;</a:t>
            </a:r>
            <a:endParaRPr/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Transaction  Read ONLY;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Avg(</a:t>
            </a: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From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Max(</a:t>
            </a: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From </a:t>
            </a: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Read Only </a:t>
            </a:r>
            <a:r>
              <a:rPr lang="en-US" sz="36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br>
              <a:rPr lang="en-US" sz="36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14" name="Google Shape;214;p22"/>
          <p:cNvSpPr txBox="1"/>
          <p:nvPr>
            <p:ph idx="1" type="body"/>
          </p:nvPr>
        </p:nvSpPr>
        <p:spPr>
          <a:xfrm>
            <a:off x="585085" y="997147"/>
            <a:ext cx="7886700" cy="10859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343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Helps system optimize performance</a:t>
            </a:r>
            <a:endParaRPr/>
          </a:p>
          <a:p>
            <a:pPr indent="-342900" lvl="0" marL="4343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Independent of isolation level</a:t>
            </a:r>
            <a:endParaRPr/>
          </a:p>
        </p:txBody>
      </p:sp>
      <p:sp>
        <p:nvSpPr>
          <p:cNvPr id="215" name="Google Shape;215;p22"/>
          <p:cNvSpPr txBox="1"/>
          <p:nvPr>
            <p:ph idx="12" type="sldNum"/>
          </p:nvPr>
        </p:nvSpPr>
        <p:spPr>
          <a:xfrm>
            <a:off x="7086600" y="48098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/>
        </p:nvSpPr>
        <p:spPr>
          <a:xfrm>
            <a:off x="152400" y="285751"/>
            <a:ext cx="8068076" cy="519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23"/>
          <p:cNvGraphicFramePr/>
          <p:nvPr/>
        </p:nvGraphicFramePr>
        <p:xfrm>
          <a:off x="769905" y="113189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{076E4FF2-0036-4C78-B935-57970D11E926}</a:tableStyleId>
              </a:tblPr>
              <a:tblGrid>
                <a:gridCol w="2841975"/>
                <a:gridCol w="1344175"/>
                <a:gridCol w="1766625"/>
                <a:gridCol w="1267375"/>
              </a:tblGrid>
              <a:tr h="62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0000FF"/>
                          </a:solidFill>
                        </a:rPr>
                        <a:t>dirty</a:t>
                      </a:r>
                      <a:r>
                        <a:rPr b="0" lang="en-US" sz="2000">
                          <a:solidFill>
                            <a:srgbClr val="0000FF"/>
                          </a:solidFill>
                        </a:rPr>
                        <a:t> reads</a:t>
                      </a:r>
                      <a:endParaRPr b="0" sz="2000">
                        <a:solidFill>
                          <a:srgbClr val="0000FF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0000FF"/>
                          </a:solidFill>
                        </a:rPr>
                        <a:t>nonrepeatable</a:t>
                      </a:r>
                      <a:endParaRPr b="0" sz="2000">
                        <a:solidFill>
                          <a:srgbClr val="0000FF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0000FF"/>
                          </a:solidFill>
                        </a:rPr>
                        <a:t>reads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>
                          <a:solidFill>
                            <a:srgbClr val="0000FF"/>
                          </a:solidFill>
                        </a:rPr>
                        <a:t>phantoms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3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Read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 Uncommitted</a:t>
                      </a:r>
                      <a:endParaRPr b="1" sz="2000">
                        <a:solidFill>
                          <a:schemeClr val="dk1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   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Read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 Committed</a:t>
                      </a:r>
                      <a:endParaRPr b="1" sz="2000">
                        <a:solidFill>
                          <a:schemeClr val="dk1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Y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33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Repeatable</a:t>
                      </a: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 Read</a:t>
                      </a:r>
                      <a:endParaRPr b="1" sz="2000">
                        <a:solidFill>
                          <a:schemeClr val="dk1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Y*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406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Serializable</a:t>
                      </a:r>
                      <a:endParaRPr b="1" sz="2000">
                        <a:solidFill>
                          <a:schemeClr val="dk1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N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3" name="Google Shape;223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18288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ct val="100000"/>
              <a:buFont typeface="Calibri"/>
              <a:buNone/>
            </a:pPr>
            <a:r>
              <a:rPr b="1" lang="en-US" sz="3600">
                <a:solidFill>
                  <a:srgbClr val="990000"/>
                </a:solidFill>
              </a:rPr>
              <a:t>Isolation Levels: Summary</a:t>
            </a:r>
            <a:br>
              <a:rPr b="1" lang="en-US" sz="3600">
                <a:solidFill>
                  <a:srgbClr val="990000"/>
                </a:solidFill>
              </a:rPr>
            </a:br>
            <a:endParaRPr/>
          </a:p>
        </p:txBody>
      </p:sp>
      <p:sp>
        <p:nvSpPr>
          <p:cNvPr id="224" name="Google Shape;224;p23"/>
          <p:cNvSpPr txBox="1"/>
          <p:nvPr>
            <p:ph idx="1" type="body"/>
          </p:nvPr>
        </p:nvSpPr>
        <p:spPr>
          <a:xfrm>
            <a:off x="628650" y="4069545"/>
            <a:ext cx="7886700" cy="5631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/>
              <a:t>MySQL includes more optimizations*</a:t>
            </a:r>
            <a:endParaRPr/>
          </a:p>
        </p:txBody>
      </p:sp>
      <p:sp>
        <p:nvSpPr>
          <p:cNvPr id="225" name="Google Shape;225;p23"/>
          <p:cNvSpPr txBox="1"/>
          <p:nvPr>
            <p:ph idx="12" type="sldNum"/>
          </p:nvPr>
        </p:nvSpPr>
        <p:spPr>
          <a:xfrm>
            <a:off x="7086600" y="473273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 I</a:t>
            </a:r>
            <a:endParaRPr/>
          </a:p>
        </p:txBody>
      </p:sp>
      <p:graphicFrame>
        <p:nvGraphicFramePr>
          <p:cNvPr id="232" name="Google Shape;232;p24"/>
          <p:cNvGraphicFramePr/>
          <p:nvPr/>
        </p:nvGraphicFramePr>
        <p:xfrm>
          <a:off x="628650" y="13700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{076E4FF2-0036-4C78-B935-57970D11E926}</a:tableStyleId>
              </a:tblPr>
              <a:tblGrid>
                <a:gridCol w="4161325"/>
                <a:gridCol w="37253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Transaction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Transaction 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BEGIN; 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 COUNT(*) FROM users;</a:t>
                      </a:r>
                      <a:endParaRPr/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Droid Sans Mono"/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 * FROM users; 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Droid Sans Mono"/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INSERT INTO `users` VALUES (4,'Dave', 26);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INSERT INTO `users` VALUES (5,'Eric', 26);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3" name="Google Shape;233;p24"/>
          <p:cNvSpPr txBox="1"/>
          <p:nvPr>
            <p:ph idx="12" type="sldNum"/>
          </p:nvPr>
        </p:nvSpPr>
        <p:spPr>
          <a:xfrm>
            <a:off x="7086600" y="486152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 II</a:t>
            </a:r>
            <a:endParaRPr/>
          </a:p>
        </p:txBody>
      </p:sp>
      <p:sp>
        <p:nvSpPr>
          <p:cNvPr id="240" name="Google Shape;240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graphicFrame>
        <p:nvGraphicFramePr>
          <p:cNvPr id="241" name="Google Shape;241;p25"/>
          <p:cNvGraphicFramePr/>
          <p:nvPr/>
        </p:nvGraphicFramePr>
        <p:xfrm>
          <a:off x="923524" y="1073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{076E4FF2-0036-4C78-B935-57970D11E926}</a:tableStyleId>
              </a:tblPr>
              <a:tblGrid>
                <a:gridCol w="4032525"/>
                <a:gridCol w="3610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Transaction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Transaction 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BEGIN; 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BEGIN; </a:t>
                      </a:r>
                      <a:endParaRPr/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INSERT INTO `users` VALUES (6,'Fred', 26);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Droid Sans Mono"/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INSERT INTO `users` VALUES (7,'George', 27);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Commit;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2" name="Google Shape;242;p25"/>
          <p:cNvSpPr txBox="1"/>
          <p:nvPr>
            <p:ph idx="12" type="sldNum"/>
          </p:nvPr>
        </p:nvSpPr>
        <p:spPr>
          <a:xfrm>
            <a:off x="7086600" y="484823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 III</a:t>
            </a:r>
            <a:endParaRPr/>
          </a:p>
        </p:txBody>
      </p:sp>
      <p:sp>
        <p:nvSpPr>
          <p:cNvPr id="249" name="Google Shape;249;p2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graphicFrame>
        <p:nvGraphicFramePr>
          <p:cNvPr id="250" name="Google Shape;250;p26"/>
          <p:cNvGraphicFramePr/>
          <p:nvPr/>
        </p:nvGraphicFramePr>
        <p:xfrm>
          <a:off x="923524" y="1073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{076E4FF2-0036-4C78-B935-57970D11E926}</a:tableStyleId>
              </a:tblPr>
              <a:tblGrid>
                <a:gridCol w="4032525"/>
                <a:gridCol w="3610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/>
                        <a:t>Transaction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US" sz="1350"/>
                        <a:t>Transaction 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BEGIN; 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BEGIN; </a:t>
                      </a:r>
                      <a:endParaRPr/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INSERT INTO `users` VALUES (8,’Hany’, 28);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Droid Sans Mono"/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INSERT INTO `users` VALUES (8,’Henry’, 28);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Commit; (Try with Rollback;)</a:t>
                      </a:r>
                      <a:endParaRPr/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57150" marB="57150" marR="123825" marL="1238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388265" y="4747033"/>
            <a:ext cx="75573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 IV</a:t>
            </a:r>
            <a:endParaRPr/>
          </a:p>
        </p:txBody>
      </p:sp>
      <p:graphicFrame>
        <p:nvGraphicFramePr>
          <p:cNvPr id="258" name="Google Shape;258;p27"/>
          <p:cNvGraphicFramePr/>
          <p:nvPr/>
        </p:nvGraphicFramePr>
        <p:xfrm>
          <a:off x="624990" y="1073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{076E4FF2-0036-4C78-B935-57970D11E926}</a:tableStyleId>
              </a:tblPr>
              <a:tblGrid>
                <a:gridCol w="3943350"/>
                <a:gridCol w="3943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1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2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Droid Sans Mono"/>
                        <a:buNone/>
                      </a:pP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Droid Sans Mono"/>
                        <a:buNone/>
                      </a:pP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SERIALIZABLE;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name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WHERE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id=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1;</a:t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BEGIN</a:t>
                      </a:r>
                      <a:r>
                        <a:rPr lang="en-US" sz="1500"/>
                        <a:t>;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INSERT INTO users VALUES (110, 'Eve', 26);</a:t>
                      </a:r>
                      <a:endParaRPr sz="15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COMMIT</a:t>
                      </a:r>
                      <a:r>
                        <a:rPr lang="en-US" sz="1500"/>
                        <a:t>; 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666666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/>
                </a:tc>
              </a:tr>
            </a:tbl>
          </a:graphicData>
        </a:graphic>
      </p:graphicFrame>
      <p:sp>
        <p:nvSpPr>
          <p:cNvPr id="259" name="Google Shape;259;p27"/>
          <p:cNvSpPr txBox="1"/>
          <p:nvPr>
            <p:ph idx="12" type="sldNum"/>
          </p:nvPr>
        </p:nvSpPr>
        <p:spPr>
          <a:xfrm>
            <a:off x="7101481" y="4854582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 V</a:t>
            </a:r>
            <a:endParaRPr/>
          </a:p>
        </p:txBody>
      </p:sp>
      <p:graphicFrame>
        <p:nvGraphicFramePr>
          <p:cNvPr id="266" name="Google Shape;266;p28"/>
          <p:cNvGraphicFramePr/>
          <p:nvPr/>
        </p:nvGraphicFramePr>
        <p:xfrm>
          <a:off x="624990" y="1073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{076E4FF2-0036-4C78-B935-57970D11E926}</a:tableStyleId>
              </a:tblPr>
              <a:tblGrid>
                <a:gridCol w="3943350"/>
                <a:gridCol w="3943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1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2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Droid Sans Mono"/>
                        <a:buNone/>
                      </a:pP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Transaction Isolation Level Repeatable read, Read Only;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Droid Sans Mono"/>
                        <a:buNone/>
                      </a:pP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Transaction Isolation Level SERIALIZABLE;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count(*)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BEGIN</a:t>
                      </a:r>
                      <a:r>
                        <a:rPr lang="en-US" sz="1500"/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INSERT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INTO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/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VALUES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/>
                        <a:t>(</a:t>
                      </a:r>
                      <a:r>
                        <a:rPr lang="en-US" sz="1500">
                          <a:solidFill>
                            <a:srgbClr val="666666"/>
                          </a:solidFill>
                        </a:rPr>
                        <a:t>10</a:t>
                      </a:r>
                      <a:r>
                        <a:rPr lang="en-US" sz="1500"/>
                        <a:t>,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‘</a:t>
                      </a:r>
                      <a:r>
                        <a:rPr lang="en-US" sz="1500">
                          <a:solidFill>
                            <a:srgbClr val="BA2121"/>
                          </a:solidFill>
                        </a:rPr>
                        <a:t>Eve'</a:t>
                      </a:r>
                      <a:r>
                        <a:rPr lang="en-US" sz="1500"/>
                        <a:t>,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</a:rPr>
                        <a:t>26</a:t>
                      </a:r>
                      <a:r>
                        <a:rPr lang="en-US" sz="1500"/>
                        <a:t>);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COMMIT</a:t>
                      </a:r>
                      <a:r>
                        <a:rPr lang="en-US" sz="1500"/>
                        <a:t>; 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1500"/>
                        <a:buFont typeface="Droid Sans Mono"/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count(*)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666666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/>
                </a:tc>
              </a:tr>
            </a:tbl>
          </a:graphicData>
        </a:graphic>
      </p:graphicFrame>
      <p:sp>
        <p:nvSpPr>
          <p:cNvPr id="267" name="Google Shape;267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Example V</a:t>
            </a:r>
            <a:endParaRPr/>
          </a:p>
        </p:txBody>
      </p:sp>
      <p:graphicFrame>
        <p:nvGraphicFramePr>
          <p:cNvPr id="274" name="Google Shape;274;p29"/>
          <p:cNvGraphicFramePr/>
          <p:nvPr/>
        </p:nvGraphicFramePr>
        <p:xfrm>
          <a:off x="624990" y="1073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{076E4FF2-0036-4C78-B935-57970D11E926}</a:tableStyleId>
              </a:tblPr>
              <a:tblGrid>
                <a:gridCol w="3943350"/>
                <a:gridCol w="3943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1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Transaction 2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Droid Sans Mono"/>
                        <a:buNone/>
                      </a:pP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session Transaction Isolation Level SERIALIZABLE, Read Only;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Droid Sans Mono"/>
                        <a:buNone/>
                      </a:pP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Set Transaction Isolation Level SERIALIZABLE;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BEGIN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count(*)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BEGIN</a:t>
                      </a:r>
                      <a:r>
                        <a:rPr lang="en-US" sz="1500"/>
                        <a:t>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INSERT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INTO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/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VALUES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/>
                        <a:t>(</a:t>
                      </a:r>
                      <a:r>
                        <a:rPr lang="en-US" sz="1500">
                          <a:solidFill>
                            <a:srgbClr val="666666"/>
                          </a:solidFill>
                        </a:rPr>
                        <a:t>10</a:t>
                      </a:r>
                      <a:r>
                        <a:rPr lang="en-US" sz="1500"/>
                        <a:t>,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‘</a:t>
                      </a:r>
                      <a:r>
                        <a:rPr lang="en-US" sz="1500">
                          <a:solidFill>
                            <a:srgbClr val="BA2121"/>
                          </a:solidFill>
                        </a:rPr>
                        <a:t>Eve'</a:t>
                      </a:r>
                      <a:r>
                        <a:rPr lang="en-US" sz="1500"/>
                        <a:t>,</a:t>
                      </a:r>
                      <a:r>
                        <a:rPr lang="en-US" sz="1500">
                          <a:solidFill>
                            <a:srgbClr val="BBBBBB"/>
                          </a:solidFill>
                        </a:rPr>
                        <a:t> </a:t>
                      </a:r>
                      <a:r>
                        <a:rPr lang="en-US" sz="1500">
                          <a:solidFill>
                            <a:srgbClr val="666666"/>
                          </a:solidFill>
                        </a:rPr>
                        <a:t>26</a:t>
                      </a:r>
                      <a:r>
                        <a:rPr lang="en-US" sz="1500"/>
                        <a:t>);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</a:rPr>
                        <a:t>COMMIT</a:t>
                      </a:r>
                      <a:r>
                        <a:rPr lang="en-US" sz="1500"/>
                        <a:t>; </a:t>
                      </a:r>
                      <a:endParaRPr/>
                    </a:p>
                  </a:txBody>
                  <a:tcPr marT="36900" marB="36900" marR="73775" marL="73775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000"/>
                        </a:buClr>
                        <a:buSzPts val="1500"/>
                        <a:buFont typeface="Droid Sans Mono"/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SELECT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max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(age)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FROM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 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users</a:t>
                      </a:r>
                      <a:r>
                        <a:rPr lang="en-US" sz="1500">
                          <a:solidFill>
                            <a:srgbClr val="BBBBBB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 sz="1500"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500">
                        <a:solidFill>
                          <a:srgbClr val="666666"/>
                        </a:solidFill>
                        <a:latin typeface="Droid Sans Mono"/>
                        <a:ea typeface="Droid Sans Mono"/>
                        <a:cs typeface="Droid Sans Mono"/>
                        <a:sym typeface="Droid Sans Mon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solidFill>
                            <a:srgbClr val="008000"/>
                          </a:solidFill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COMMIT</a:t>
                      </a:r>
                      <a:r>
                        <a:rPr lang="en-US" sz="1500">
                          <a:latin typeface="Droid Sans Mono"/>
                          <a:ea typeface="Droid Sans Mono"/>
                          <a:cs typeface="Droid Sans Mono"/>
                          <a:sym typeface="Droid Sans Mono"/>
                        </a:rPr>
                        <a:t>;</a:t>
                      </a:r>
                      <a:endParaRPr/>
                    </a:p>
                  </a:txBody>
                  <a:tcPr marT="36900" marB="36900" marR="73775" marL="737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36900" marB="36900" marR="73775" marL="73775"/>
                </a:tc>
              </a:tr>
            </a:tbl>
          </a:graphicData>
        </a:graphic>
      </p:graphicFrame>
      <p:sp>
        <p:nvSpPr>
          <p:cNvPr id="275" name="Google Shape;27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1" name="Google Shape;281;p30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82" name="Google Shape;282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/>
        </p:nvSpPr>
        <p:spPr>
          <a:xfrm>
            <a:off x="232235" y="1341506"/>
            <a:ext cx="8068076" cy="4244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880" lvl="0" marL="27432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990000"/>
                </a:solidFill>
              </a:rPr>
              <a:t>Isolation Levels: Summary</a:t>
            </a:r>
            <a:endParaRPr/>
          </a:p>
        </p:txBody>
      </p:sp>
      <p:sp>
        <p:nvSpPr>
          <p:cNvPr id="289" name="Google Shape;289;p31"/>
          <p:cNvSpPr txBox="1"/>
          <p:nvPr>
            <p:ph idx="1" type="body"/>
          </p:nvPr>
        </p:nvSpPr>
        <p:spPr>
          <a:xfrm>
            <a:off x="731500" y="1212045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400"/>
              <a:buNone/>
            </a:pPr>
            <a:r>
              <a:rPr lang="en-US" sz="2400">
                <a:solidFill>
                  <a:srgbClr val="0000FF"/>
                </a:solidFill>
              </a:rPr>
              <a:t>Standard default: </a:t>
            </a:r>
            <a:r>
              <a:rPr b="1" lang="en-US" sz="1800">
                <a:latin typeface="Droid Sans Mono"/>
                <a:ea typeface="Droid Sans Mono"/>
                <a:cs typeface="Droid Sans Mono"/>
                <a:sym typeface="Droid Sans Mono"/>
              </a:rPr>
              <a:t>Repeatable read (InnoDB) in Mysql</a:t>
            </a:r>
            <a:endParaRPr b="1" sz="2400"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82879" lvl="1" marL="67437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FF"/>
                </a:solidFill>
              </a:rPr>
              <a:t> Weaker isolation levels</a:t>
            </a:r>
            <a:endParaRPr/>
          </a:p>
          <a:p>
            <a:pPr indent="-182880" lvl="2" marL="107442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90000"/>
              </a:buClr>
              <a:buSzPts val="1500"/>
              <a:buFont typeface="Calibri"/>
              <a:buChar char="–"/>
            </a:pPr>
            <a:r>
              <a:rPr lang="en-US">
                <a:solidFill>
                  <a:srgbClr val="990000"/>
                </a:solidFill>
              </a:rPr>
              <a:t> </a:t>
            </a:r>
            <a:r>
              <a:rPr lang="en-US" sz="2000">
                <a:solidFill>
                  <a:srgbClr val="990000"/>
                </a:solidFill>
              </a:rPr>
              <a:t>Increased concurrency + decreased overhead =</a:t>
            </a:r>
            <a:endParaRPr/>
          </a:p>
          <a:p>
            <a:pPr indent="-182880" lvl="2" marL="10744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None/>
            </a:pPr>
            <a:r>
              <a:rPr lang="en-US" sz="2000">
                <a:solidFill>
                  <a:srgbClr val="990000"/>
                </a:solidFill>
              </a:rPr>
              <a:t>    increased performance</a:t>
            </a:r>
            <a:endParaRPr/>
          </a:p>
          <a:p>
            <a:pPr indent="-182880" lvl="2" marL="10744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Calibri"/>
              <a:buChar char="–"/>
            </a:pPr>
            <a:r>
              <a:rPr lang="en-US" sz="2000">
                <a:solidFill>
                  <a:srgbClr val="990000"/>
                </a:solidFill>
              </a:rPr>
              <a:t> Weaker consistency guarantees</a:t>
            </a:r>
            <a:endParaRPr/>
          </a:p>
          <a:p>
            <a:pPr indent="-182879" lvl="1" marL="67437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1800"/>
              <a:buFont typeface="Calibri"/>
              <a:buChar char="–"/>
            </a:pPr>
            <a:r>
              <a:rPr lang="en-US">
                <a:solidFill>
                  <a:srgbClr val="990000"/>
                </a:solidFill>
              </a:rPr>
              <a:t> </a:t>
            </a:r>
            <a:r>
              <a:rPr lang="en-US">
                <a:solidFill>
                  <a:srgbClr val="0000FF"/>
                </a:solidFill>
              </a:rPr>
              <a:t>Isolation level per transaction and “eye of the beholder”</a:t>
            </a:r>
            <a:endParaRPr/>
          </a:p>
          <a:p>
            <a:pPr indent="-182880" lvl="2" marL="10744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ts val="2000"/>
              <a:buFont typeface="Calibri"/>
              <a:buChar char="–"/>
            </a:pPr>
            <a:r>
              <a:rPr lang="en-US" sz="2000">
                <a:solidFill>
                  <a:srgbClr val="990000"/>
                </a:solidFill>
              </a:rPr>
              <a:t>Each transaction’s reads must conform to its isolation level</a:t>
            </a:r>
            <a:endParaRPr/>
          </a:p>
          <a:p>
            <a:pPr indent="-182880" lvl="0" marL="27432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2100"/>
              <a:buNone/>
            </a:pPr>
            <a:r>
              <a:t/>
            </a:r>
            <a:endParaRPr b="1"/>
          </a:p>
          <a:p>
            <a:pPr indent="-182880" lvl="0" marL="27432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90000"/>
              </a:buClr>
              <a:buSzPts val="2800"/>
              <a:buNone/>
            </a:pPr>
            <a:r>
              <a:t/>
            </a:r>
            <a:endParaRPr b="1" sz="2800">
              <a:solidFill>
                <a:srgbClr val="990000"/>
              </a:solidFill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19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290" name="Google Shape;290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