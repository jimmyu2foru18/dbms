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6858000" cx="12192000"/>
  <p:notesSz cx="6858000" cy="9144000"/>
  <p:embeddedFontLst>
    <p:embeddedFont>
      <p:font typeface="Noto Sans Symbols"/>
      <p:regular r:id="rId71"/>
      <p:bold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4B6E8F-847B-4F54-A885-2E2DC1C77059}">
  <a:tblStyle styleId="{7D4B6E8F-847B-4F54-A885-2E2DC1C770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A623E7B-8588-49CF-8909-64FA7D012F0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9527A10-BA2D-49CA-9686-BB9B5CDEBD44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3494A656-D72A-4CFC-835C-86A80ABA5C3E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BF1E8"/>
          </a:solidFill>
        </a:fill>
      </a:tcStyle>
    </a:band1H>
    <a:band2H>
      <a:tcTxStyle/>
    </a:band2H>
    <a:band1V>
      <a:tcTxStyle/>
      <a:tcStyle>
        <a:fill>
          <a:solidFill>
            <a:srgbClr val="EBF1E8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font" Target="fonts/NotoSansSymbols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NotoSansSymbols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IMS apparently used in the moonshot (http://www-01.ibm.com/software/data/ims/benchmark.html) and still boasts high #s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 (A,B,C, D, 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 R X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3-R intersect S</a:t>
            </a:r>
            <a:endParaRPr/>
          </a:p>
        </p:txBody>
      </p:sp>
      <p:sp>
        <p:nvSpPr>
          <p:cNvPr id="438" name="Google Shape;43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slide on Explain and Explain analyse</a:t>
            </a:r>
            <a:endParaRPr/>
          </a:p>
        </p:txBody>
      </p:sp>
      <p:sp>
        <p:nvSpPr>
          <p:cNvPr id="517" name="Google Shape;51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Outer join, example Anti join</a:t>
            </a:r>
            <a:endParaRPr/>
          </a:p>
        </p:txBody>
      </p:sp>
      <p:sp>
        <p:nvSpPr>
          <p:cNvPr id="686" name="Google Shape;68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{ Buyer,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'a1', 'b1'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'a1', 'b2'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'a2', 'b2'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'a2', 'b3'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'a3', 'b1'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'a3', 'b3'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'a4', 'b1'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'a4', 'b2'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'a4', 'b3'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 ÷ {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'b3'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'b2'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'b1'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Fall 2024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11900"/>
            <a:ext cx="866825" cy="546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acm.org/classics/nov95/toc.html" TargetMode="External"/><Relationship Id="rId4" Type="http://schemas.openxmlformats.org/officeDocument/2006/relationships/hyperlink" Target="http://en.wikipedia.org/wiki/Communications_of_the_ACM" TargetMode="External"/><Relationship Id="rId5" Type="http://schemas.openxmlformats.org/officeDocument/2006/relationships/image" Target="../media/image2.jp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Relationship Id="rId4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Relationship Id="rId4" Type="http://schemas.openxmlformats.org/officeDocument/2006/relationships/hyperlink" Target="https://dbis-uibk.github.io/relax/calc/local/uibk/local/0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5.png"/><Relationship Id="rId4" Type="http://schemas.openxmlformats.org/officeDocument/2006/relationships/image" Target="../media/image50.png"/><Relationship Id="rId5" Type="http://schemas.openxmlformats.org/officeDocument/2006/relationships/image" Target="../media/image2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png"/><Relationship Id="rId4" Type="http://schemas.openxmlformats.org/officeDocument/2006/relationships/image" Target="../media/image51.png"/><Relationship Id="rId5" Type="http://schemas.openxmlformats.org/officeDocument/2006/relationships/image" Target="../media/image2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9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2.png"/><Relationship Id="rId4" Type="http://schemas.openxmlformats.org/officeDocument/2006/relationships/image" Target="../media/image5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The Relational Model</a:t>
            </a:r>
            <a:endParaRPr/>
          </a:p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The Relational Model &amp; Relational Algebra</a:t>
            </a:r>
            <a:endParaRPr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Relational Model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Relational Algebra: Basic Operators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1524000" y="1884137"/>
            <a:ext cx="9144000" cy="1938992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Relational model is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precise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implementable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we can operate on it (query/update, etc.)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524000" y="4810650"/>
            <a:ext cx="9144000" cy="1323439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maps internally into this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procedural language.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Little History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838200" y="1825625"/>
            <a:ext cx="666184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Relational model due to Edgar “Ted” Codd, a mathematician at IBM in 1970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A Relational Model of Data for Large Shared Data Banks</a:t>
            </a:r>
            <a:r>
              <a:rPr lang="en-US">
                <a:solidFill>
                  <a:srgbClr val="000000"/>
                </a:solidFill>
              </a:rPr>
              <a:t>". </a:t>
            </a:r>
            <a:r>
              <a:rPr i="1" lang="en-US" u="sng">
                <a:solidFill>
                  <a:schemeClr val="hlink"/>
                </a:solidFill>
                <a:hlinkClick r:id="rId4"/>
              </a:rPr>
              <a:t>Communications of the ACM</a:t>
            </a:r>
            <a:r>
              <a:rPr lang="en-US">
                <a:solidFill>
                  <a:srgbClr val="000000"/>
                </a:solidFill>
              </a:rPr>
              <a:t> </a:t>
            </a:r>
            <a:r>
              <a:rPr b="1" lang="en-US">
                <a:solidFill>
                  <a:srgbClr val="000000"/>
                </a:solidFill>
              </a:rPr>
              <a:t>13</a:t>
            </a:r>
            <a:r>
              <a:rPr lang="en-US">
                <a:solidFill>
                  <a:srgbClr val="000000"/>
                </a:solidFill>
              </a:rPr>
              <a:t> (6): 377–387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IBM didn’t want to use relational model (take money from IMS)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i="1" lang="en-US">
                <a:solidFill>
                  <a:srgbClr val="000000"/>
                </a:solidFill>
              </a:rPr>
              <a:t>Apparently used in the moon landing…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>
              <a:solidFill>
                <a:srgbClr val="000000"/>
              </a:solidFill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File:Edgar F Codd.jpg" id="121" name="Google Shape;1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042" y="1690688"/>
            <a:ext cx="1905000" cy="225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042" y="4382102"/>
            <a:ext cx="3786021" cy="21123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9576693" y="1690688"/>
            <a:ext cx="2105555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Won Turing award 1981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Relational Model: Schemata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838200" y="1825625"/>
            <a:ext cx="10515600" cy="63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Relational Schema: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74255" y="2740466"/>
            <a:ext cx="10595998" cy="4801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Students(sid: 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name: 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gpa: 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float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087005" y="2620463"/>
            <a:ext cx="484995" cy="658905"/>
          </a:xfrm>
          <a:prstGeom prst="roundRect">
            <a:avLst>
              <a:gd fmla="val 16667" name="adj"/>
            </a:avLst>
          </a:prstGeom>
          <a:solidFill>
            <a:srgbClr val="DDEAF6">
              <a:alpha val="49803"/>
            </a:srgb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8962696" y="3587799"/>
            <a:ext cx="1679027" cy="523220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776985" y="2651078"/>
            <a:ext cx="771600" cy="658905"/>
          </a:xfrm>
          <a:prstGeom prst="roundRect">
            <a:avLst>
              <a:gd fmla="val 16667" name="adj"/>
            </a:avLst>
          </a:prstGeom>
          <a:solidFill>
            <a:srgbClr val="DDEAF6">
              <a:alpha val="49803"/>
            </a:srgb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571267" y="2651078"/>
            <a:ext cx="676806" cy="658905"/>
          </a:xfrm>
          <a:prstGeom prst="roundRect">
            <a:avLst>
              <a:gd fmla="val 16667" name="adj"/>
            </a:avLst>
          </a:prstGeom>
          <a:solidFill>
            <a:srgbClr val="DDEAF6">
              <a:alpha val="49803"/>
            </a:srgb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737951" y="2651078"/>
            <a:ext cx="905467" cy="63081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493001" y="3581579"/>
            <a:ext cx="3495784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String, float, int, etc.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attributes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666100" y="2620463"/>
            <a:ext cx="771600" cy="63081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381640" y="2648557"/>
            <a:ext cx="676807" cy="63081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381712" y="2639201"/>
            <a:ext cx="1623234" cy="658905"/>
          </a:xfrm>
          <a:prstGeom prst="roundRect">
            <a:avLst>
              <a:gd fmla="val 16667" name="adj"/>
            </a:avLst>
          </a:prstGeom>
          <a:solidFill>
            <a:srgbClr val="E1EFD8">
              <a:alpha val="49803"/>
            </a:srgbClr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33703" y="3498413"/>
            <a:ext cx="2362200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 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Relational Model: Data</a:t>
            </a:r>
            <a:endParaRPr/>
          </a:p>
        </p:txBody>
      </p:sp>
      <p:graphicFrame>
        <p:nvGraphicFramePr>
          <p:cNvPr id="149" name="Google Shape;149;p19"/>
          <p:cNvGraphicFramePr/>
          <p:nvPr/>
        </p:nvGraphicFramePr>
        <p:xfrm>
          <a:off x="3825716" y="2069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gpa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001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004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19"/>
          <p:cNvSpPr txBox="1"/>
          <p:nvPr/>
        </p:nvSpPr>
        <p:spPr>
          <a:xfrm>
            <a:off x="3753998" y="1572080"/>
            <a:ext cx="11934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44010" y="2164413"/>
            <a:ext cx="2843786" cy="2246769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is a typed data entry present in each tuple in the relation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609985" y="5128210"/>
            <a:ext cx="3104316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attributes is the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arity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relation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3753999" y="1978249"/>
            <a:ext cx="1646912" cy="2649070"/>
          </a:xfrm>
          <a:prstGeom prst="roundRect">
            <a:avLst>
              <a:gd fmla="val 16667" name="adj"/>
            </a:avLst>
          </a:prstGeom>
          <a:solidFill>
            <a:srgbClr val="DDEAF6">
              <a:alpha val="49803"/>
            </a:srgb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 rot="-5400000">
            <a:off x="5955952" y="2326307"/>
            <a:ext cx="333149" cy="497614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Relational Model: Data</a:t>
            </a:r>
            <a:endParaRPr/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3825716" y="2069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gpa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001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004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3753998" y="1572080"/>
            <a:ext cx="11934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 rot="10800000">
            <a:off x="8610600" y="2420323"/>
            <a:ext cx="394332" cy="220752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774140" y="3922252"/>
            <a:ext cx="4836460" cy="705592"/>
          </a:xfrm>
          <a:prstGeom prst="roundRect">
            <a:avLst>
              <a:gd fmla="val 16667" name="adj"/>
            </a:avLst>
          </a:prstGeom>
          <a:solidFill>
            <a:srgbClr val="DDEAF6">
              <a:alpha val="49803"/>
            </a:srgbClr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343241" y="4944630"/>
            <a:ext cx="5346925" cy="138499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record)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single entry in the table having the attributes specified by the schema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9345947" y="2739253"/>
            <a:ext cx="2007853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tuples is the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cardinality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relation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Relational Model: Data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3825716" y="1649336"/>
            <a:ext cx="11934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2989233" y="5249379"/>
            <a:ext cx="6345820" cy="1077218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instance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tuples all conforming to the same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8942561" y="2144850"/>
            <a:ext cx="267842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In practice DBMSs relax the set requirement, and use multisets.  </a:t>
            </a:r>
            <a:endParaRPr/>
          </a:p>
        </p:txBody>
      </p:sp>
      <p:graphicFrame>
        <p:nvGraphicFramePr>
          <p:cNvPr id="178" name="Google Shape;178;p21"/>
          <p:cNvGraphicFramePr/>
          <p:nvPr/>
        </p:nvGraphicFramePr>
        <p:xfrm>
          <a:off x="3825716" y="2069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557625"/>
                <a:gridCol w="1557625"/>
                <a:gridCol w="1557625"/>
              </a:tblGrid>
              <a:tr h="41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gpa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001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004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38200" y="1793055"/>
            <a:ext cx="9372600" cy="4333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i="1" lang="en-US" u="sng"/>
              <a:t>relational schema</a:t>
            </a:r>
            <a:r>
              <a:rPr lang="en-US"/>
              <a:t> describes the data that is contained in a </a:t>
            </a:r>
            <a:r>
              <a:rPr i="1" lang="en-US" u="sng"/>
              <a:t>relational instance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 Reiterate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1042988" y="2989520"/>
            <a:ext cx="8534400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 R(f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:Dom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,…,f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:Dom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be a </a:t>
            </a:r>
            <a:r>
              <a:rPr i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relational schema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i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instance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R is a subset of Dom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 Dom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 … x Dom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042988" y="4400297"/>
            <a:ext cx="9986962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way, a </a:t>
            </a:r>
            <a:r>
              <a:rPr i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relational schema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is a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function from attribute </a:t>
            </a:r>
            <a:r>
              <a:rPr b="1"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types</a:t>
            </a:r>
            <a:endParaRPr baseline="-25000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38200" y="1793055"/>
            <a:ext cx="9372600" cy="4333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i="1" lang="en-US" u="sng"/>
              <a:t>relational schema</a:t>
            </a:r>
            <a:r>
              <a:rPr lang="en-US"/>
              <a:t> describes the data that is contained in a </a:t>
            </a:r>
            <a:r>
              <a:rPr i="1" lang="en-US" u="sng"/>
              <a:t>relational instance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One More Time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1042988" y="2989520"/>
            <a:ext cx="5157787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 R of arity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function: R : Dom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… x Dom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{0,1}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1042988" y="4311621"/>
            <a:ext cx="8372475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Then, the schema is simply the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signature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function</a:t>
            </a:r>
            <a:endParaRPr baseline="-25000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6881813" y="2989520"/>
            <a:ext cx="4471987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 returns whether or not a tuple of matching types is a member of it</a:t>
            </a:r>
            <a:endParaRPr baseline="-25000"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1731169" y="5242459"/>
            <a:ext cx="8729662" cy="138499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here that order matters, attribute name doesn’t…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We’ll (mostly) work with the other model (last slide) in which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attribute name matters, order doesn’t!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relational database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i="1" lang="en-US" u="sng"/>
              <a:t>relational database schema</a:t>
            </a:r>
            <a:r>
              <a:rPr lang="en-US"/>
              <a:t> is a set of relational schemata, one for each relation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i="1" lang="en-US" u="sng"/>
              <a:t>relational database instance</a:t>
            </a:r>
            <a:r>
              <a:rPr lang="en-US"/>
              <a:t> is a set of relational instances, one for each relation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894943" y="4567456"/>
            <a:ext cx="10402114" cy="138499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conventions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call relational database instances as simply </a:t>
            </a:r>
            <a:r>
              <a:rPr b="1"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assume all instances are valid, i.e., satisfy the </a:t>
            </a:r>
            <a:r>
              <a:rPr i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constraints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1524000" y="3733800"/>
            <a:ext cx="9144000" cy="3124200"/>
          </a:xfrm>
          <a:prstGeom prst="rect">
            <a:avLst/>
          </a:prstGeom>
          <a:solidFill>
            <a:schemeClr val="accent1">
              <a:alpha val="2078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Remember the CMS</a:t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Relation DB Schema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Students</a:t>
            </a:r>
            <a:r>
              <a:rPr lang="en-US"/>
              <a:t>(sid: </a:t>
            </a:r>
            <a:r>
              <a:rPr i="1" lang="en-US"/>
              <a:t>string</a:t>
            </a:r>
            <a:r>
              <a:rPr lang="en-US"/>
              <a:t>, name: </a:t>
            </a:r>
            <a:r>
              <a:rPr i="1" lang="en-US"/>
              <a:t>string</a:t>
            </a:r>
            <a:r>
              <a:rPr lang="en-US"/>
              <a:t>, gpa: </a:t>
            </a:r>
            <a:r>
              <a:rPr i="1" lang="en-US"/>
              <a:t>float</a:t>
            </a:r>
            <a:r>
              <a:rPr lang="en-US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Courses</a:t>
            </a:r>
            <a:r>
              <a:rPr lang="en-US"/>
              <a:t>(cid: </a:t>
            </a:r>
            <a:r>
              <a:rPr i="1" lang="en-US"/>
              <a:t>string</a:t>
            </a:r>
            <a:r>
              <a:rPr lang="en-US"/>
              <a:t>, cname: </a:t>
            </a:r>
            <a:r>
              <a:rPr i="1" lang="en-US"/>
              <a:t>string</a:t>
            </a:r>
            <a:r>
              <a:rPr lang="en-US"/>
              <a:t>, credits: </a:t>
            </a:r>
            <a:r>
              <a:rPr i="1" lang="en-US"/>
              <a:t>int</a:t>
            </a:r>
            <a:r>
              <a:rPr lang="en-US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Enrolled</a:t>
            </a:r>
            <a:r>
              <a:rPr lang="en-US"/>
              <a:t>(sid: </a:t>
            </a:r>
            <a:r>
              <a:rPr i="1" lang="en-US"/>
              <a:t>string, </a:t>
            </a:r>
            <a:r>
              <a:rPr lang="en-US"/>
              <a:t>cid</a:t>
            </a:r>
            <a:r>
              <a:rPr i="1" lang="en-US"/>
              <a:t>: string, </a:t>
            </a:r>
            <a:r>
              <a:rPr lang="en-US"/>
              <a:t>grade</a:t>
            </a:r>
            <a:r>
              <a:rPr i="1" lang="en-US"/>
              <a:t>: string</a:t>
            </a:r>
            <a:r>
              <a:rPr lang="en-US"/>
              <a:t>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15" name="Google Shape;215;p25"/>
          <p:cNvGraphicFramePr/>
          <p:nvPr/>
        </p:nvGraphicFramePr>
        <p:xfrm>
          <a:off x="1676400" y="396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762000"/>
                <a:gridCol w="990600"/>
                <a:gridCol w="762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Sid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Name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Gpa</a:t>
                      </a:r>
                      <a:endParaRPr b="1" sz="2400" u="none" cap="none" strike="noStrike"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101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3.2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Mary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3.8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25"/>
          <p:cNvSpPr txBox="1"/>
          <p:nvPr/>
        </p:nvSpPr>
        <p:spPr>
          <a:xfrm>
            <a:off x="2057400" y="5481935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25"/>
          <p:cNvGraphicFramePr/>
          <p:nvPr/>
        </p:nvGraphicFramePr>
        <p:xfrm>
          <a:off x="7696200" y="396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762000"/>
                <a:gridCol w="1066800"/>
                <a:gridCol w="106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cname</a:t>
                      </a:r>
                      <a:endParaRPr b="1" sz="2400"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credits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564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564-2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308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417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25"/>
          <p:cNvSpPr txBox="1"/>
          <p:nvPr/>
        </p:nvSpPr>
        <p:spPr>
          <a:xfrm>
            <a:off x="8153400" y="5481935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5"/>
          <p:cNvGraphicFramePr/>
          <p:nvPr/>
        </p:nvGraphicFramePr>
        <p:xfrm>
          <a:off x="4572000" y="541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762000"/>
                <a:gridCol w="1066800"/>
                <a:gridCol w="1066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sid</a:t>
                      </a:r>
                      <a:endParaRPr b="1" sz="2400"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Grade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2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123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564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25"/>
          <p:cNvSpPr txBox="1"/>
          <p:nvPr/>
        </p:nvSpPr>
        <p:spPr>
          <a:xfrm>
            <a:off x="5029200" y="6396335"/>
            <a:ext cx="167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Enrolled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5105400" y="4038601"/>
            <a:ext cx="1752600" cy="9541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 Instances</a:t>
            </a:r>
            <a:endParaRPr/>
          </a:p>
        </p:txBody>
      </p:sp>
      <p:sp>
        <p:nvSpPr>
          <p:cNvPr id="222" name="Google Shape;2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8055769" y="1008224"/>
            <a:ext cx="354806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that the schemas impose effective </a:t>
            </a:r>
            <a:r>
              <a:rPr i="1"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/ type constraints</a:t>
            </a:r>
            <a:r>
              <a:rPr b="1"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 Gpa can’t be “Apple”</a:t>
            </a:r>
            <a:endParaRPr baseline="-25000"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</a:t>
            </a:r>
            <a:r>
              <a:rPr baseline="30000" lang="en-US"/>
              <a:t>nd</a:t>
            </a:r>
            <a:r>
              <a:rPr lang="en-US"/>
              <a:t> Part of the Model: Querying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838200" y="3560904"/>
            <a:ext cx="466684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“Find names of all students with GPA &gt; 3.5”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6415088" y="1770546"/>
            <a:ext cx="5303219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don’t tell the system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how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get the data-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 what we want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Querying is </a:t>
            </a:r>
            <a:r>
              <a:rPr b="1" i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Edgar F Codd.jpg"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557" y="4848029"/>
            <a:ext cx="1780821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/>
          <p:nvPr/>
        </p:nvSpPr>
        <p:spPr>
          <a:xfrm>
            <a:off x="3057525" y="5608054"/>
            <a:ext cx="5486400" cy="992575"/>
          </a:xfrm>
          <a:prstGeom prst="wedgeEllipseCallout">
            <a:avLst>
              <a:gd fmla="val -72160" name="adj1"/>
              <a:gd fmla="val -54194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Actually, I showed how to do this translation for a much richer language!</a:t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838200" y="1795143"/>
            <a:ext cx="4666844" cy="12557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S.name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Students 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S.gpa &gt; 3.5;</a:t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6415087" y="3539510"/>
            <a:ext cx="5303219" cy="1815882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make this happen, we need to translate the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declarative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query into a series of operators… we’ll see this next!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Virtues of the model</a:t>
            </a:r>
            <a:endParaRPr/>
          </a:p>
        </p:txBody>
      </p:sp>
      <p:sp>
        <p:nvSpPr>
          <p:cNvPr id="242" name="Google Shape;24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Physical independence (logical too), Declarative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Simple, elegant clean: Everything is a relation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did it take multiple years?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Doubted it could be done </a:t>
            </a:r>
            <a:r>
              <a:rPr i="1" lang="en-US"/>
              <a:t>efficiently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3" name="Google Shape;2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0538" y="4001294"/>
            <a:ext cx="18859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type="title"/>
          </p:nvPr>
        </p:nvSpPr>
        <p:spPr>
          <a:xfrm>
            <a:off x="1981200" y="3352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Relational Algebra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255" name="Google Shape;255;p29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/>
          </a:p>
        </p:txBody>
      </p:sp>
      <p:sp>
        <p:nvSpPr>
          <p:cNvPr id="257" name="Google Shape;257;p29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/>
          </a:p>
        </p:txBody>
      </p:sp>
      <p:sp>
        <p:nvSpPr>
          <p:cNvPr id="258" name="Google Shape;258;p29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838200" y="4809804"/>
            <a:ext cx="18192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query (from user)</a:t>
            </a:r>
            <a:endParaRPr/>
          </a:p>
        </p:txBody>
      </p:sp>
      <p:sp>
        <p:nvSpPr>
          <p:cNvPr id="263" name="Google Shape;263;p29"/>
          <p:cNvSpPr txBox="1"/>
          <p:nvPr/>
        </p:nvSpPr>
        <p:spPr>
          <a:xfrm>
            <a:off x="3128963" y="4809802"/>
            <a:ext cx="24717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 to relational algebra expresson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6134101" y="4809802"/>
            <a:ext cx="247173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logically equivalent- but more efficient- RA expression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9139239" y="4809802"/>
            <a:ext cx="24717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each operator of the optimized plan!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271" name="Google Shape;271;p30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272" name="Google Shape;272;p30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/>
          </a:p>
        </p:txBody>
      </p:sp>
      <p:sp>
        <p:nvSpPr>
          <p:cNvPr id="274" name="Google Shape;274;p30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/>
          </a:p>
        </p:txBody>
      </p:sp>
      <p:sp>
        <p:nvSpPr>
          <p:cNvPr id="275" name="Google Shape;275;p30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500066" y="2543175"/>
            <a:ext cx="1824036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5414962" y="2563812"/>
            <a:ext cx="6196013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1738864" y="5115996"/>
            <a:ext cx="8714272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Relational Algebra allows us to translate declarative (SQL) queries into precise and optimizable expressions!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 txBox="1"/>
          <p:nvPr>
            <p:ph idx="1" type="body"/>
          </p:nvPr>
        </p:nvSpPr>
        <p:spPr>
          <a:xfrm>
            <a:off x="990600" y="1843088"/>
            <a:ext cx="10515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Five </a:t>
            </a:r>
            <a:r>
              <a:rPr b="1" lang="en-US" sz="2400" u="sng"/>
              <a:t>basic </a:t>
            </a:r>
            <a:r>
              <a:rPr lang="en-US" sz="2400" u="sng"/>
              <a:t>operators: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Selection: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σ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Projection: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/>
              <a:t>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Cartesian Product: ×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Union: ∪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Difference: -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Derived or auxiliary operators: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Intersection, complement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Joins (natural,equi-join, theta join, semi-join)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Renaming: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ρ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Division</a:t>
            </a:r>
            <a:endParaRPr/>
          </a:p>
        </p:txBody>
      </p:sp>
      <p:sp>
        <p:nvSpPr>
          <p:cNvPr id="287" name="Google Shape;287;p3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</a:t>
            </a:r>
            <a:endParaRPr/>
          </a:p>
        </p:txBody>
      </p:sp>
      <p:sp>
        <p:nvSpPr>
          <p:cNvPr id="288" name="Google Shape;288;p31"/>
          <p:cNvSpPr/>
          <p:nvPr/>
        </p:nvSpPr>
        <p:spPr>
          <a:xfrm>
            <a:off x="1411940" y="2150645"/>
            <a:ext cx="3131485" cy="1264067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4964765" y="2150645"/>
            <a:ext cx="319339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look at these first!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1640541" y="4998621"/>
            <a:ext cx="1788460" cy="87354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7750827" y="4841460"/>
            <a:ext cx="3755373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also at one example of a derived operator (natural join) and a special operator (renaming)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Keep in mind: RA operates on sets!</a:t>
            </a:r>
            <a:endParaRPr/>
          </a:p>
        </p:txBody>
      </p:sp>
      <p:sp>
        <p:nvSpPr>
          <p:cNvPr id="297" name="Google Shape;297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RDBMSs use </a:t>
            </a:r>
            <a:r>
              <a:rPr i="1" lang="en-US"/>
              <a:t>multisets</a:t>
            </a:r>
            <a:r>
              <a:rPr lang="en-US"/>
              <a:t>, however in relational algebra formalism we will consider </a:t>
            </a:r>
            <a:r>
              <a:rPr b="1" lang="en-US" u="sng"/>
              <a:t>sets!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Also: we will consider the </a:t>
            </a:r>
            <a:r>
              <a:rPr b="1" i="1" lang="en-US"/>
              <a:t>named perspective</a:t>
            </a:r>
            <a:r>
              <a:rPr lang="en-US"/>
              <a:t>, where every attribute must have a </a:t>
            </a:r>
            <a:r>
              <a:rPr lang="en-US" u="sng"/>
              <a:t>unique name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🡪attribute order does not matter…</a:t>
            </a:r>
            <a:endParaRPr/>
          </a:p>
        </p:txBody>
      </p:sp>
      <p:sp>
        <p:nvSpPr>
          <p:cNvPr id="298" name="Google Shape;298;p32"/>
          <p:cNvSpPr txBox="1"/>
          <p:nvPr/>
        </p:nvSpPr>
        <p:spPr>
          <a:xfrm>
            <a:off x="2740762" y="5186879"/>
            <a:ext cx="6710476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on to the basic RA operators…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990600" y="1843088"/>
            <a:ext cx="5395914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Returns all tuples which satisfy a condition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Notation: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σ</a:t>
            </a:r>
            <a:r>
              <a:rPr baseline="-25000" lang="en-US"/>
              <a:t>c</a:t>
            </a:r>
            <a:r>
              <a:rPr lang="en-US"/>
              <a:t>(R)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800"/>
              <a:t>Salary &gt; 40000</a:t>
            </a:r>
            <a:r>
              <a:rPr lang="en-US" sz="2800"/>
              <a:t> (Employee)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800"/>
              <a:t>name = “Smith”</a:t>
            </a:r>
            <a:r>
              <a:rPr lang="en-US" sz="2800"/>
              <a:t> (Employee)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condition c can be =, &lt;, ≤, &gt;, ≥, &lt;&gt;</a:t>
            </a:r>
            <a:endParaRPr/>
          </a:p>
        </p:txBody>
      </p:sp>
      <p:sp>
        <p:nvSpPr>
          <p:cNvPr id="304" name="Google Shape;304;p33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7286626" y="2214563"/>
            <a:ext cx="3776662" cy="12557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FROM Students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gpa &gt; 3.5;</a:t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7286626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7286625" y="4424363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308" name="Google Shape;308;p33"/>
          <p:cNvSpPr txBox="1"/>
          <p:nvPr/>
        </p:nvSpPr>
        <p:spPr>
          <a:xfrm>
            <a:off x="7286625" y="4831792"/>
            <a:ext cx="4018729" cy="5990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9" name="Google Shape;309;p33"/>
          <p:cNvSpPr/>
          <p:nvPr/>
        </p:nvSpPr>
        <p:spPr>
          <a:xfrm>
            <a:off x="8889207" y="3861816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7286625" y="737271"/>
            <a:ext cx="3360110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/>
          <p:nvPr/>
        </p:nvSpPr>
        <p:spPr>
          <a:xfrm>
            <a:off x="2072985" y="3505201"/>
            <a:ext cx="35602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Salary &gt; 40000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(Employee)</a:t>
            </a:r>
            <a:endParaRPr/>
          </a:p>
        </p:txBody>
      </p:sp>
      <p:graphicFrame>
        <p:nvGraphicFramePr>
          <p:cNvPr id="316" name="Google Shape;316;p34"/>
          <p:cNvGraphicFramePr/>
          <p:nvPr/>
        </p:nvGraphicFramePr>
        <p:xfrm>
          <a:off x="4114800" y="1001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Salary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4352342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7" name="Google Shape;317;p34"/>
          <p:cNvGraphicFramePr/>
          <p:nvPr/>
        </p:nvGraphicFramePr>
        <p:xfrm>
          <a:off x="4114800" y="43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Salary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4352342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34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endParaRPr/>
          </a:p>
        </p:txBody>
      </p:sp>
      <p:sp>
        <p:nvSpPr>
          <p:cNvPr id="319" name="Google Shape;319;p34"/>
          <p:cNvSpPr/>
          <p:nvPr/>
        </p:nvSpPr>
        <p:spPr>
          <a:xfrm>
            <a:off x="6831806" y="3438528"/>
            <a:ext cx="585787" cy="65246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990600" y="1843088"/>
            <a:ext cx="5395914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Eliminates columns, then removes duplicates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Notation:  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Π </a:t>
            </a:r>
            <a:r>
              <a:rPr baseline="-25000" lang="en-US" sz="2400"/>
              <a:t>A1,…,An</a:t>
            </a:r>
            <a:r>
              <a:rPr lang="en-US" sz="1200"/>
              <a:t> </a:t>
            </a:r>
            <a:r>
              <a:rPr lang="en-US"/>
              <a:t>(R)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project social-security number and names: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/>
              <a:t> </a:t>
            </a:r>
            <a:r>
              <a:rPr baseline="-25000" lang="en-US"/>
              <a:t>SSN, Name</a:t>
            </a:r>
            <a:r>
              <a:rPr lang="en-US"/>
              <a:t> (Employee)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Output schema:   Answer(SSN, Name)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25" name="Google Shape;325;p35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6" name="Google Shape;326;p35"/>
          <p:cNvSpPr/>
          <p:nvPr/>
        </p:nvSpPr>
        <p:spPr>
          <a:xfrm>
            <a:off x="7286625" y="2214563"/>
            <a:ext cx="3776662" cy="164352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sname,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gpa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FROM Students;</a:t>
            </a:r>
            <a:endParaRPr/>
          </a:p>
        </p:txBody>
      </p:sp>
      <p:sp>
        <p:nvSpPr>
          <p:cNvPr id="327" name="Google Shape;327;p35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328" name="Google Shape;328;p35"/>
          <p:cNvSpPr txBox="1"/>
          <p:nvPr/>
        </p:nvSpPr>
        <p:spPr>
          <a:xfrm>
            <a:off x="7286624" y="4424363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329" name="Google Shape;329;p35"/>
          <p:cNvSpPr txBox="1"/>
          <p:nvPr/>
        </p:nvSpPr>
        <p:spPr>
          <a:xfrm>
            <a:off x="7286624" y="4831792"/>
            <a:ext cx="4500206" cy="5990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0" name="Google Shape;330;p35"/>
          <p:cNvSpPr/>
          <p:nvPr/>
        </p:nvSpPr>
        <p:spPr>
          <a:xfrm>
            <a:off x="8889206" y="4109627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7286624" y="737271"/>
            <a:ext cx="338846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/>
          <p:nvPr/>
        </p:nvSpPr>
        <p:spPr>
          <a:xfrm>
            <a:off x="2028826" y="3503149"/>
            <a:ext cx="3502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Name,Salary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(Employee)</a:t>
            </a:r>
            <a:endParaRPr/>
          </a:p>
        </p:txBody>
      </p:sp>
      <p:graphicFrame>
        <p:nvGraphicFramePr>
          <p:cNvPr id="337" name="Google Shape;337;p36"/>
          <p:cNvGraphicFramePr/>
          <p:nvPr/>
        </p:nvGraphicFramePr>
        <p:xfrm>
          <a:off x="4114799" y="758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Salary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4352342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8" name="Google Shape;338;p36"/>
          <p:cNvGraphicFramePr/>
          <p:nvPr/>
        </p:nvGraphicFramePr>
        <p:xfrm>
          <a:off x="5118099" y="458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Salary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9" name="Google Shape;339;p36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endParaRPr/>
          </a:p>
        </p:txBody>
      </p:sp>
      <p:sp>
        <p:nvSpPr>
          <p:cNvPr id="340" name="Google Shape;340;p36"/>
          <p:cNvSpPr/>
          <p:nvPr/>
        </p:nvSpPr>
        <p:spPr>
          <a:xfrm>
            <a:off x="6831806" y="3438528"/>
            <a:ext cx="585787" cy="65246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Note that RA Operators are Compositional!</a:t>
            </a:r>
            <a:endParaRPr/>
          </a:p>
        </p:txBody>
      </p:sp>
      <p:sp>
        <p:nvSpPr>
          <p:cNvPr id="346" name="Google Shape;346;p37"/>
          <p:cNvSpPr/>
          <p:nvPr/>
        </p:nvSpPr>
        <p:spPr>
          <a:xfrm>
            <a:off x="838200" y="2655984"/>
            <a:ext cx="3776662" cy="20313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r>
              <a:rPr lang="en-US" sz="2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sname,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gpa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Students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gpa &gt; 3.5;</a:t>
            </a:r>
            <a:endParaRPr/>
          </a:p>
        </p:txBody>
      </p:sp>
      <p:sp>
        <p:nvSpPr>
          <p:cNvPr id="347" name="Google Shape;347;p37"/>
          <p:cNvSpPr/>
          <p:nvPr/>
        </p:nvSpPr>
        <p:spPr>
          <a:xfrm>
            <a:off x="838200" y="1793054"/>
            <a:ext cx="3365205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</p:txBody>
      </p:sp>
      <p:sp>
        <p:nvSpPr>
          <p:cNvPr id="348" name="Google Shape;348;p37"/>
          <p:cNvSpPr txBox="1"/>
          <p:nvPr/>
        </p:nvSpPr>
        <p:spPr>
          <a:xfrm>
            <a:off x="838200" y="5175551"/>
            <a:ext cx="3519488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represent this query in RA?</a:t>
            </a:r>
            <a:endParaRPr/>
          </a:p>
        </p:txBody>
      </p:sp>
      <p:sp>
        <p:nvSpPr>
          <p:cNvPr id="349" name="Google Shape;349;p37"/>
          <p:cNvSpPr txBox="1"/>
          <p:nvPr/>
        </p:nvSpPr>
        <p:spPr>
          <a:xfrm>
            <a:off x="6096000" y="3017621"/>
            <a:ext cx="5759333" cy="5324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0" name="Google Shape;350;p37"/>
          <p:cNvSpPr/>
          <p:nvPr/>
        </p:nvSpPr>
        <p:spPr>
          <a:xfrm>
            <a:off x="5033962" y="3087579"/>
            <a:ext cx="642938" cy="39253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7"/>
          <p:cNvSpPr txBox="1"/>
          <p:nvPr/>
        </p:nvSpPr>
        <p:spPr>
          <a:xfrm>
            <a:off x="5966155" y="4681643"/>
            <a:ext cx="5874750" cy="5324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52" name="Google Shape;352;p37"/>
          <p:cNvSpPr/>
          <p:nvPr/>
        </p:nvSpPr>
        <p:spPr>
          <a:xfrm>
            <a:off x="8716584" y="3786167"/>
            <a:ext cx="373893" cy="659383"/>
          </a:xfrm>
          <a:prstGeom prst="up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7"/>
          <p:cNvSpPr txBox="1"/>
          <p:nvPr/>
        </p:nvSpPr>
        <p:spPr>
          <a:xfrm>
            <a:off x="6096000" y="5725865"/>
            <a:ext cx="4628707" cy="52322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these logically equivalent?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idx="1" type="body"/>
          </p:nvPr>
        </p:nvSpPr>
        <p:spPr>
          <a:xfrm>
            <a:off x="990600" y="1843088"/>
            <a:ext cx="5395914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tuple in R1 with each tuple in R2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Notation: R1 × R2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Employee × Dependents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Rare in practice; mainly used to express joins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9" name="Google Shape;359;p38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0" name="Google Shape;360;p38"/>
          <p:cNvSpPr/>
          <p:nvPr/>
        </p:nvSpPr>
        <p:spPr>
          <a:xfrm>
            <a:off x="7286624" y="2214563"/>
            <a:ext cx="4410437" cy="7571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Students, People;</a:t>
            </a:r>
            <a:endParaRPr/>
          </a:p>
        </p:txBody>
      </p:sp>
      <p:sp>
        <p:nvSpPr>
          <p:cNvPr id="361" name="Google Shape;361;p38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362" name="Google Shape;362;p38"/>
          <p:cNvSpPr txBox="1"/>
          <p:nvPr/>
        </p:nvSpPr>
        <p:spPr>
          <a:xfrm>
            <a:off x="7286624" y="3997027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363" name="Google Shape;363;p38"/>
          <p:cNvSpPr txBox="1"/>
          <p:nvPr/>
        </p:nvSpPr>
        <p:spPr>
          <a:xfrm>
            <a:off x="7286624" y="4404456"/>
            <a:ext cx="3898888" cy="5539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9206092" y="3366148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8"/>
          <p:cNvSpPr/>
          <p:nvPr/>
        </p:nvSpPr>
        <p:spPr>
          <a:xfrm>
            <a:off x="7286623" y="823413"/>
            <a:ext cx="3785413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People(ssn,pname,address)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p39"/>
          <p:cNvGraphicFramePr/>
          <p:nvPr/>
        </p:nvGraphicFramePr>
        <p:xfrm>
          <a:off x="3271838" y="1472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092600"/>
                <a:gridCol w="776050"/>
                <a:gridCol w="140915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216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217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1" name="Google Shape;371;p39"/>
          <p:cNvGraphicFramePr/>
          <p:nvPr/>
        </p:nvGraphicFramePr>
        <p:xfrm>
          <a:off x="7510463" y="1472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019175"/>
                <a:gridCol w="723900"/>
                <a:gridCol w="131445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gpa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39"/>
          <p:cNvSpPr txBox="1"/>
          <p:nvPr/>
        </p:nvSpPr>
        <p:spPr>
          <a:xfrm>
            <a:off x="901711" y="3275743"/>
            <a:ext cx="3898888" cy="553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3" name="Google Shape;373;p39"/>
          <p:cNvSpPr/>
          <p:nvPr/>
        </p:nvSpPr>
        <p:spPr>
          <a:xfrm>
            <a:off x="6637621" y="1744136"/>
            <a:ext cx="619080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74" name="Google Shape;374;p39"/>
          <p:cNvSpPr/>
          <p:nvPr/>
        </p:nvSpPr>
        <p:spPr>
          <a:xfrm>
            <a:off x="6654267" y="3226511"/>
            <a:ext cx="585787" cy="65246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5" name="Google Shape;375;p39"/>
          <p:cNvGraphicFramePr/>
          <p:nvPr/>
        </p:nvGraphicFramePr>
        <p:xfrm>
          <a:off x="4043363" y="44442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144550"/>
                <a:gridCol w="812950"/>
                <a:gridCol w="1078225"/>
                <a:gridCol w="726875"/>
                <a:gridCol w="1109425"/>
                <a:gridCol w="91440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gpa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216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217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216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216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6" name="Google Shape;376;p39"/>
          <p:cNvSpPr txBox="1"/>
          <p:nvPr/>
        </p:nvSpPr>
        <p:spPr>
          <a:xfrm>
            <a:off x="3271838" y="934734"/>
            <a:ext cx="10393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/>
          </a:p>
        </p:txBody>
      </p:sp>
      <p:sp>
        <p:nvSpPr>
          <p:cNvPr id="377" name="Google Shape;377;p39"/>
          <p:cNvSpPr txBox="1"/>
          <p:nvPr/>
        </p:nvSpPr>
        <p:spPr>
          <a:xfrm>
            <a:off x="7510463" y="940780"/>
            <a:ext cx="12879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</p:txBody>
      </p:sp>
      <p:sp>
        <p:nvSpPr>
          <p:cNvPr id="378" name="Google Shape;378;p39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idx="1" type="body"/>
          </p:nvPr>
        </p:nvSpPr>
        <p:spPr>
          <a:xfrm>
            <a:off x="990599" y="1843088"/>
            <a:ext cx="5967413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Changes the schema, not the instance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‘special’ operator- neither basic nor derived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Notation: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lang="en-US"/>
              <a:t> </a:t>
            </a:r>
            <a:r>
              <a:rPr baseline="-25000" lang="en-US"/>
              <a:t>B1,…,Bn</a:t>
            </a:r>
            <a:r>
              <a:rPr lang="en-US"/>
              <a:t> (R)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Note: this is shorthand for the proper form (since names, not order matters!):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ρ</a:t>
            </a:r>
            <a:r>
              <a:rPr lang="en-US"/>
              <a:t> </a:t>
            </a:r>
            <a:r>
              <a:rPr baseline="-25000" lang="en-US"/>
              <a:t>A1🡪B1,…,An🡪Bn</a:t>
            </a:r>
            <a:r>
              <a:rPr lang="en-US"/>
              <a:t> (R)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" name="Google Shape;384;p40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5" name="Google Shape;385;p40"/>
          <p:cNvSpPr/>
          <p:nvPr/>
        </p:nvSpPr>
        <p:spPr>
          <a:xfrm>
            <a:off x="7286624" y="2214563"/>
            <a:ext cx="4410437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 AS studId,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sname AS name,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gpa AS gradePtAvg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Students;</a:t>
            </a:r>
            <a:endParaRPr/>
          </a:p>
        </p:txBody>
      </p:sp>
      <p:sp>
        <p:nvSpPr>
          <p:cNvPr id="386" name="Google Shape;386;p40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387" name="Google Shape;387;p40"/>
          <p:cNvSpPr txBox="1"/>
          <p:nvPr/>
        </p:nvSpPr>
        <p:spPr>
          <a:xfrm>
            <a:off x="7286624" y="4473353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388" name="Google Shape;388;p40"/>
          <p:cNvSpPr txBox="1"/>
          <p:nvPr/>
        </p:nvSpPr>
        <p:spPr>
          <a:xfrm>
            <a:off x="7286624" y="4880782"/>
            <a:ext cx="4545924" cy="39940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689" l="-1071" r="-20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89" name="Google Shape;389;p40"/>
          <p:cNvSpPr/>
          <p:nvPr/>
        </p:nvSpPr>
        <p:spPr>
          <a:xfrm>
            <a:off x="9206092" y="4158617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0"/>
          <p:cNvSpPr/>
          <p:nvPr/>
        </p:nvSpPr>
        <p:spPr>
          <a:xfrm>
            <a:off x="7286624" y="823413"/>
            <a:ext cx="3586164" cy="3416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</p:txBody>
      </p:sp>
      <p:sp>
        <p:nvSpPr>
          <p:cNvPr id="391" name="Google Shape;391;p40"/>
          <p:cNvSpPr txBox="1"/>
          <p:nvPr/>
        </p:nvSpPr>
        <p:spPr>
          <a:xfrm>
            <a:off x="4920152" y="5680056"/>
            <a:ext cx="6410327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care about this operator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are working in 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perspective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41"/>
          <p:cNvGraphicFramePr/>
          <p:nvPr/>
        </p:nvGraphicFramePr>
        <p:xfrm>
          <a:off x="5495925" y="1744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019175"/>
                <a:gridCol w="723900"/>
                <a:gridCol w="131445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gpa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7" name="Google Shape;397;p41"/>
          <p:cNvSpPr txBox="1"/>
          <p:nvPr/>
        </p:nvSpPr>
        <p:spPr>
          <a:xfrm>
            <a:off x="796985" y="3319793"/>
            <a:ext cx="5299015" cy="4658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98" name="Google Shape;398;p41"/>
          <p:cNvSpPr/>
          <p:nvPr/>
        </p:nvSpPr>
        <p:spPr>
          <a:xfrm>
            <a:off x="6654267" y="3226511"/>
            <a:ext cx="585787" cy="65246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1"/>
          <p:cNvSpPr txBox="1"/>
          <p:nvPr/>
        </p:nvSpPr>
        <p:spPr>
          <a:xfrm>
            <a:off x="5495925" y="1212242"/>
            <a:ext cx="12879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</p:txBody>
      </p:sp>
      <p:graphicFrame>
        <p:nvGraphicFramePr>
          <p:cNvPr id="400" name="Google Shape;400;p41"/>
          <p:cNvGraphicFramePr/>
          <p:nvPr/>
        </p:nvGraphicFramePr>
        <p:xfrm>
          <a:off x="5495925" y="4554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019175"/>
                <a:gridCol w="885825"/>
                <a:gridCol w="1152525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studId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gradePtAvg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41"/>
          <p:cNvSpPr txBox="1"/>
          <p:nvPr/>
        </p:nvSpPr>
        <p:spPr>
          <a:xfrm>
            <a:off x="5495925" y="4022117"/>
            <a:ext cx="12879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</p:txBody>
      </p:sp>
      <p:sp>
        <p:nvSpPr>
          <p:cNvPr id="402" name="Google Shape;402;p41"/>
          <p:cNvSpPr txBox="1"/>
          <p:nvPr/>
        </p:nvSpPr>
        <p:spPr>
          <a:xfrm>
            <a:off x="485775" y="1001715"/>
            <a:ext cx="27537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>
            <p:ph idx="1" type="body"/>
          </p:nvPr>
        </p:nvSpPr>
        <p:spPr>
          <a:xfrm>
            <a:off x="990599" y="1843087"/>
            <a:ext cx="5967413" cy="46965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25" l="-1327" r="-1122" t="-1206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08" name="Google Shape;408;p42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09" name="Google Shape;409;p42"/>
          <p:cNvSpPr/>
          <p:nvPr/>
        </p:nvSpPr>
        <p:spPr>
          <a:xfrm>
            <a:off x="7286624" y="2214563"/>
            <a:ext cx="4410437" cy="24191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ssid, S.name, gpa,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ssn, address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People 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S.name = P.name;</a:t>
            </a:r>
            <a:endParaRPr/>
          </a:p>
        </p:txBody>
      </p:sp>
      <p:sp>
        <p:nvSpPr>
          <p:cNvPr id="410" name="Google Shape;410;p42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411" name="Google Shape;411;p42"/>
          <p:cNvSpPr txBox="1"/>
          <p:nvPr/>
        </p:nvSpPr>
        <p:spPr>
          <a:xfrm>
            <a:off x="7286624" y="5601423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412" name="Google Shape;412;p42"/>
          <p:cNvSpPr txBox="1"/>
          <p:nvPr/>
        </p:nvSpPr>
        <p:spPr>
          <a:xfrm>
            <a:off x="7286624" y="5985689"/>
            <a:ext cx="4208268" cy="55399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9206092" y="5233562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2"/>
          <p:cNvSpPr/>
          <p:nvPr/>
        </p:nvSpPr>
        <p:spPr>
          <a:xfrm>
            <a:off x="7286623" y="823413"/>
            <a:ext cx="3664911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People(ssn,name,address)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Natural Join</a:t>
            </a:r>
            <a:endParaRPr/>
          </a:p>
        </p:txBody>
      </p:sp>
      <p:sp>
        <p:nvSpPr>
          <p:cNvPr id="420" name="Google Shape;420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21" name="Google Shape;421;p43"/>
          <p:cNvSpPr txBox="1"/>
          <p:nvPr/>
        </p:nvSpPr>
        <p:spPr>
          <a:xfrm>
            <a:off x="1909482" y="2321859"/>
            <a:ext cx="8633012" cy="7078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066" l="0" r="0" t="-181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6" name="Google Shape;426;p44"/>
          <p:cNvGraphicFramePr/>
          <p:nvPr/>
        </p:nvGraphicFramePr>
        <p:xfrm>
          <a:off x="7756903" y="1618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019175"/>
                <a:gridCol w="814500"/>
                <a:gridCol w="122385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P.name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216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217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7" name="Google Shape;427;p44"/>
          <p:cNvGraphicFramePr/>
          <p:nvPr/>
        </p:nvGraphicFramePr>
        <p:xfrm>
          <a:off x="3239478" y="1616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019175"/>
                <a:gridCol w="948350"/>
                <a:gridCol w="109000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S.name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gpa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8" name="Google Shape;428;p44"/>
          <p:cNvSpPr txBox="1"/>
          <p:nvPr/>
        </p:nvSpPr>
        <p:spPr>
          <a:xfrm>
            <a:off x="901711" y="3275743"/>
            <a:ext cx="4107278" cy="553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9" name="Google Shape;429;p44"/>
          <p:cNvSpPr/>
          <p:nvPr/>
        </p:nvSpPr>
        <p:spPr>
          <a:xfrm>
            <a:off x="6637621" y="1744136"/>
            <a:ext cx="671979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0" name="Google Shape;430;p44"/>
          <p:cNvSpPr/>
          <p:nvPr/>
        </p:nvSpPr>
        <p:spPr>
          <a:xfrm>
            <a:off x="6654267" y="3226511"/>
            <a:ext cx="585787" cy="65246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" name="Google Shape;431;p44"/>
          <p:cNvGraphicFramePr/>
          <p:nvPr/>
        </p:nvGraphicFramePr>
        <p:xfrm>
          <a:off x="4377324" y="4512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849175"/>
                <a:gridCol w="1057275"/>
                <a:gridCol w="1128725"/>
                <a:gridCol w="1105950"/>
                <a:gridCol w="1051450"/>
              </a:tblGrid>
              <a:tr h="23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S.name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gpa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John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1234545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216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002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Bob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5423341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217 Rosse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2" name="Google Shape;432;p44"/>
          <p:cNvSpPr txBox="1"/>
          <p:nvPr/>
        </p:nvSpPr>
        <p:spPr>
          <a:xfrm>
            <a:off x="7756903" y="1080616"/>
            <a:ext cx="12669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P</a:t>
            </a:r>
            <a:endParaRPr/>
          </a:p>
        </p:txBody>
      </p:sp>
      <p:sp>
        <p:nvSpPr>
          <p:cNvPr id="433" name="Google Shape;433;p44"/>
          <p:cNvSpPr txBox="1"/>
          <p:nvPr/>
        </p:nvSpPr>
        <p:spPr>
          <a:xfrm>
            <a:off x="3239478" y="1084058"/>
            <a:ext cx="14979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S</a:t>
            </a:r>
            <a:endParaRPr/>
          </a:p>
        </p:txBody>
      </p:sp>
      <p:sp>
        <p:nvSpPr>
          <p:cNvPr id="434" name="Google Shape;434;p44"/>
          <p:cNvSpPr txBox="1"/>
          <p:nvPr/>
        </p:nvSpPr>
        <p:spPr>
          <a:xfrm>
            <a:off x="188780" y="788228"/>
            <a:ext cx="27537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Natural Join</a:t>
            </a:r>
            <a:endParaRPr/>
          </a:p>
        </p:txBody>
      </p:sp>
      <p:sp>
        <p:nvSpPr>
          <p:cNvPr id="441" name="Google Shape;441;p45"/>
          <p:cNvSpPr txBox="1"/>
          <p:nvPr>
            <p:ph idx="1" type="body"/>
          </p:nvPr>
        </p:nvSpPr>
        <p:spPr>
          <a:xfrm>
            <a:off x="838200" y="1981200"/>
            <a:ext cx="10515600" cy="411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3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42" name="Google Shape;442;p45"/>
          <p:cNvSpPr txBox="1"/>
          <p:nvPr/>
        </p:nvSpPr>
        <p:spPr>
          <a:xfrm>
            <a:off x="3098202" y="947541"/>
            <a:ext cx="8633012" cy="7078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5896" l="0" r="0" t="-179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Example: Converting SFW Query -&gt; RA</a:t>
            </a:r>
            <a:endParaRPr/>
          </a:p>
        </p:txBody>
      </p:sp>
      <p:sp>
        <p:nvSpPr>
          <p:cNvPr id="448" name="Google Shape;448;p46"/>
          <p:cNvSpPr/>
          <p:nvPr/>
        </p:nvSpPr>
        <p:spPr>
          <a:xfrm>
            <a:off x="838199" y="2655984"/>
            <a:ext cx="4405314" cy="280692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endParaRPr sz="280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gpa,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address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Students 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People 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gpa &gt; 3.5 AND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sname = pname;</a:t>
            </a:r>
            <a:endParaRPr/>
          </a:p>
        </p:txBody>
      </p:sp>
      <p:sp>
        <p:nvSpPr>
          <p:cNvPr id="449" name="Google Shape;449;p46"/>
          <p:cNvSpPr txBox="1"/>
          <p:nvPr/>
        </p:nvSpPr>
        <p:spPr>
          <a:xfrm>
            <a:off x="838199" y="5719457"/>
            <a:ext cx="3519488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represent this query in RA?</a:t>
            </a:r>
            <a:endParaRPr/>
          </a:p>
        </p:txBody>
      </p:sp>
      <p:sp>
        <p:nvSpPr>
          <p:cNvPr id="450" name="Google Shape;450;p46"/>
          <p:cNvSpPr txBox="1"/>
          <p:nvPr/>
        </p:nvSpPr>
        <p:spPr>
          <a:xfrm>
            <a:off x="6435345" y="3598189"/>
            <a:ext cx="5356146" cy="5324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51" name="Google Shape;451;p46"/>
          <p:cNvSpPr/>
          <p:nvPr/>
        </p:nvSpPr>
        <p:spPr>
          <a:xfrm>
            <a:off x="5453062" y="3669278"/>
            <a:ext cx="642938" cy="39253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6"/>
          <p:cNvSpPr/>
          <p:nvPr/>
        </p:nvSpPr>
        <p:spPr>
          <a:xfrm>
            <a:off x="838199" y="1690688"/>
            <a:ext cx="3684181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People(ssn,sname,address)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Logical Equivalence of RA Plans</a:t>
            </a:r>
            <a:endParaRPr/>
          </a:p>
        </p:txBody>
      </p:sp>
      <p:sp>
        <p:nvSpPr>
          <p:cNvPr id="458" name="Google Shape;458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459" name="Google Shape;459;p47"/>
          <p:cNvSpPr txBox="1"/>
          <p:nvPr/>
        </p:nvSpPr>
        <p:spPr>
          <a:xfrm>
            <a:off x="1738864" y="5788680"/>
            <a:ext cx="8714272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We’ll look at this in more depth later in the lecture…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RelaX</a:t>
            </a:r>
            <a:endParaRPr/>
          </a:p>
        </p:txBody>
      </p:sp>
      <p:pic>
        <p:nvPicPr>
          <p:cNvPr id="465" name="Google Shape;465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64" y="1825625"/>
            <a:ext cx="8168672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8"/>
          <p:cNvSpPr txBox="1"/>
          <p:nvPr/>
        </p:nvSpPr>
        <p:spPr>
          <a:xfrm>
            <a:off x="4558146" y="6534834"/>
            <a:ext cx="61052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https://dbis-uibk.github.io/relax/calc/local/uibk/local/0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472" name="Google Shape;472;p49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473" name="Google Shape;473;p49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9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/>
          </a:p>
        </p:txBody>
      </p:sp>
      <p:sp>
        <p:nvSpPr>
          <p:cNvPr id="475" name="Google Shape;475;p49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/>
          </a:p>
        </p:txBody>
      </p:sp>
      <p:sp>
        <p:nvSpPr>
          <p:cNvPr id="476" name="Google Shape;476;p49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9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/>
          </a:p>
        </p:txBody>
      </p:sp>
      <p:sp>
        <p:nvSpPr>
          <p:cNvPr id="478" name="Google Shape;478;p49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9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9"/>
          <p:cNvSpPr/>
          <p:nvPr/>
        </p:nvSpPr>
        <p:spPr>
          <a:xfrm>
            <a:off x="500066" y="2543175"/>
            <a:ext cx="1824036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9"/>
          <p:cNvSpPr/>
          <p:nvPr/>
        </p:nvSpPr>
        <p:spPr>
          <a:xfrm>
            <a:off x="5414962" y="2563812"/>
            <a:ext cx="6196013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9"/>
          <p:cNvSpPr txBox="1"/>
          <p:nvPr/>
        </p:nvSpPr>
        <p:spPr>
          <a:xfrm>
            <a:off x="1738864" y="5115996"/>
            <a:ext cx="8714272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saw how we can transform declarative SQL queries into precise, compositional RA plans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488" name="Google Shape;488;p50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does a SQL engine work ?</a:t>
            </a:r>
            <a:endParaRPr/>
          </a:p>
        </p:txBody>
      </p:sp>
      <p:sp>
        <p:nvSpPr>
          <p:cNvPr id="489" name="Google Shape;489;p50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0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/>
          </a:p>
        </p:txBody>
      </p:sp>
      <p:sp>
        <p:nvSpPr>
          <p:cNvPr id="491" name="Google Shape;491;p50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/>
          </a:p>
        </p:txBody>
      </p:sp>
      <p:sp>
        <p:nvSpPr>
          <p:cNvPr id="492" name="Google Shape;492;p50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0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/>
          </a:p>
        </p:txBody>
      </p:sp>
      <p:sp>
        <p:nvSpPr>
          <p:cNvPr id="494" name="Google Shape;494;p50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0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0"/>
          <p:cNvSpPr/>
          <p:nvPr/>
        </p:nvSpPr>
        <p:spPr>
          <a:xfrm>
            <a:off x="528641" y="2543175"/>
            <a:ext cx="4772021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0"/>
          <p:cNvSpPr/>
          <p:nvPr/>
        </p:nvSpPr>
        <p:spPr>
          <a:xfrm>
            <a:off x="8420101" y="2563812"/>
            <a:ext cx="3190874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50"/>
          <p:cNvSpPr txBox="1"/>
          <p:nvPr/>
        </p:nvSpPr>
        <p:spPr>
          <a:xfrm>
            <a:off x="2826819" y="5060145"/>
            <a:ext cx="6538362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We’ll look at how to then optimize these plans later in this lecture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RDBMS Architecture</a:t>
            </a:r>
            <a:endParaRPr/>
          </a:p>
        </p:txBody>
      </p:sp>
      <p:sp>
        <p:nvSpPr>
          <p:cNvPr id="504" name="Google Shape;504;p51"/>
          <p:cNvSpPr txBox="1"/>
          <p:nvPr>
            <p:ph idx="1" type="body"/>
          </p:nvPr>
        </p:nvSpPr>
        <p:spPr>
          <a:xfrm>
            <a:off x="838200" y="1825625"/>
            <a:ext cx="105156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How is the RA “plan” executed?</a:t>
            </a:r>
            <a:endParaRPr/>
          </a:p>
        </p:txBody>
      </p:sp>
      <p:sp>
        <p:nvSpPr>
          <p:cNvPr id="505" name="Google Shape;505;p51"/>
          <p:cNvSpPr/>
          <p:nvPr/>
        </p:nvSpPr>
        <p:spPr>
          <a:xfrm>
            <a:off x="2409825" y="3379274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1"/>
          <p:cNvSpPr/>
          <p:nvPr/>
        </p:nvSpPr>
        <p:spPr>
          <a:xfrm>
            <a:off x="838200" y="2938143"/>
            <a:ext cx="1428750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</a:t>
            </a:r>
            <a:endParaRPr/>
          </a:p>
        </p:txBody>
      </p:sp>
      <p:sp>
        <p:nvSpPr>
          <p:cNvPr id="507" name="Google Shape;507;p51"/>
          <p:cNvSpPr/>
          <p:nvPr/>
        </p:nvSpPr>
        <p:spPr>
          <a:xfrm>
            <a:off x="3128963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 Plan</a:t>
            </a:r>
            <a:endParaRPr/>
          </a:p>
        </p:txBody>
      </p:sp>
      <p:sp>
        <p:nvSpPr>
          <p:cNvPr id="508" name="Google Shape;508;p51"/>
          <p:cNvSpPr/>
          <p:nvPr/>
        </p:nvSpPr>
        <p:spPr>
          <a:xfrm>
            <a:off x="5414963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1"/>
          <p:cNvSpPr/>
          <p:nvPr/>
        </p:nvSpPr>
        <p:spPr>
          <a:xfrm>
            <a:off x="6134101" y="2938143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 Plan</a:t>
            </a:r>
            <a:endParaRPr/>
          </a:p>
        </p:txBody>
      </p:sp>
      <p:sp>
        <p:nvSpPr>
          <p:cNvPr id="510" name="Google Shape;510;p51"/>
          <p:cNvSpPr/>
          <p:nvPr/>
        </p:nvSpPr>
        <p:spPr>
          <a:xfrm>
            <a:off x="8420101" y="3379272"/>
            <a:ext cx="576263" cy="48013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1"/>
          <p:cNvSpPr/>
          <p:nvPr/>
        </p:nvSpPr>
        <p:spPr>
          <a:xfrm>
            <a:off x="9139239" y="2938141"/>
            <a:ext cx="2143125" cy="1362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1"/>
          <p:cNvSpPr/>
          <p:nvPr/>
        </p:nvSpPr>
        <p:spPr>
          <a:xfrm>
            <a:off x="500066" y="2543175"/>
            <a:ext cx="7920034" cy="2100263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1"/>
          <p:cNvSpPr txBox="1"/>
          <p:nvPr/>
        </p:nvSpPr>
        <p:spPr>
          <a:xfrm>
            <a:off x="1738864" y="5115996"/>
            <a:ext cx="8714272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already know how to execute all the basic operators!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 Plan Execution</a:t>
            </a:r>
            <a:endParaRPr/>
          </a:p>
        </p:txBody>
      </p:sp>
      <p:sp>
        <p:nvSpPr>
          <p:cNvPr id="520" name="Google Shape;520;p52"/>
          <p:cNvSpPr txBox="1"/>
          <p:nvPr>
            <p:ph idx="1" type="body"/>
          </p:nvPr>
        </p:nvSpPr>
        <p:spPr>
          <a:xfrm>
            <a:off x="838200" y="1825625"/>
            <a:ext cx="10515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Natural Join / Join: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saw how to use </a:t>
            </a:r>
            <a:r>
              <a:rPr b="1" lang="en-US"/>
              <a:t>memory &amp; IO cost considerations to pick the correct algorithm to execute a join</a:t>
            </a:r>
            <a:r>
              <a:rPr lang="en-US"/>
              <a:t> </a:t>
            </a:r>
            <a:r>
              <a:rPr b="1" lang="en-US"/>
              <a:t>with (BNLJ, SMJ, HJ…)!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Selection: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saw how to use </a:t>
            </a:r>
            <a:r>
              <a:rPr b="1" lang="en-US"/>
              <a:t>indexes to aid selection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always fall back on scan / binary search as well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Projection: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main operation here is finding </a:t>
            </a:r>
            <a:r>
              <a:rPr i="1" lang="en-US"/>
              <a:t>distinct </a:t>
            </a:r>
            <a:r>
              <a:rPr lang="en-US"/>
              <a:t>values of the project tuples; we briefly discussed how to do this with e.g. </a:t>
            </a:r>
            <a:r>
              <a:rPr b="1" lang="en-US"/>
              <a:t>hashing </a:t>
            </a:r>
            <a:r>
              <a:rPr lang="en-US"/>
              <a:t>or </a:t>
            </a:r>
            <a:r>
              <a:rPr b="1" lang="en-US"/>
              <a:t>sorting</a:t>
            </a:r>
            <a:endParaRPr/>
          </a:p>
        </p:txBody>
      </p:sp>
      <p:sp>
        <p:nvSpPr>
          <p:cNvPr id="521" name="Google Shape;521;p52"/>
          <p:cNvSpPr txBox="1"/>
          <p:nvPr/>
        </p:nvSpPr>
        <p:spPr>
          <a:xfrm>
            <a:off x="1738864" y="5635625"/>
            <a:ext cx="8714272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already know how to execute all the basic operators!</a:t>
            </a:r>
            <a:endParaRPr b="1" sz="2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Adv. Relational Algebra</a:t>
            </a:r>
            <a:endParaRPr/>
          </a:p>
        </p:txBody>
      </p:sp>
      <p:sp>
        <p:nvSpPr>
          <p:cNvPr id="527" name="Google Shape;52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534" name="Google Shape;534;p54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Set Operations in RA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Fancier RA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Extensions &amp; Limitations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/>
          <p:nvPr>
            <p:ph idx="1" type="body"/>
          </p:nvPr>
        </p:nvSpPr>
        <p:spPr>
          <a:xfrm>
            <a:off x="990600" y="1843088"/>
            <a:ext cx="10515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Five </a:t>
            </a:r>
            <a:r>
              <a:rPr b="1" lang="en-US" sz="2400" u="sng"/>
              <a:t>basic </a:t>
            </a:r>
            <a:r>
              <a:rPr lang="en-US" sz="2400" u="sng"/>
              <a:t>operators: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Selection: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σ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Projection: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/>
              <a:t>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Cartesian Product: ×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Union: ∪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Difference: -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Derived or auxiliary operators: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Intersection, complement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Joins (natural,equi-join, theta join, semi-join)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Renaming: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ρ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Division</a:t>
            </a:r>
            <a:endParaRPr/>
          </a:p>
        </p:txBody>
      </p:sp>
      <p:sp>
        <p:nvSpPr>
          <p:cNvPr id="541" name="Google Shape;541;p55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Relational Algebra (RA)</a:t>
            </a:r>
            <a:endParaRPr/>
          </a:p>
        </p:txBody>
      </p:sp>
      <p:sp>
        <p:nvSpPr>
          <p:cNvPr id="542" name="Google Shape;542;p55"/>
          <p:cNvSpPr/>
          <p:nvPr/>
        </p:nvSpPr>
        <p:spPr>
          <a:xfrm>
            <a:off x="1369077" y="3420854"/>
            <a:ext cx="2345673" cy="77967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5"/>
          <p:cNvSpPr txBox="1"/>
          <p:nvPr/>
        </p:nvSpPr>
        <p:spPr>
          <a:xfrm>
            <a:off x="4307540" y="3579856"/>
            <a:ext cx="319339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look at these</a:t>
            </a:r>
            <a:endParaRPr/>
          </a:p>
        </p:txBody>
      </p:sp>
      <p:sp>
        <p:nvSpPr>
          <p:cNvPr id="544" name="Google Shape;544;p55"/>
          <p:cNvSpPr txBox="1"/>
          <p:nvPr/>
        </p:nvSpPr>
        <p:spPr>
          <a:xfrm>
            <a:off x="7750828" y="5055773"/>
            <a:ext cx="316482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also at some of these derived operators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 txBox="1"/>
          <p:nvPr>
            <p:ph type="title"/>
          </p:nvPr>
        </p:nvSpPr>
        <p:spPr>
          <a:xfrm>
            <a:off x="714375" y="687287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Union (∪) and 2. Difference (–)</a:t>
            </a:r>
            <a:endParaRPr/>
          </a:p>
        </p:txBody>
      </p:sp>
      <p:sp>
        <p:nvSpPr>
          <p:cNvPr id="550" name="Google Shape;550;p56"/>
          <p:cNvSpPr txBox="1"/>
          <p:nvPr>
            <p:ph idx="1" type="body"/>
          </p:nvPr>
        </p:nvSpPr>
        <p:spPr>
          <a:xfrm>
            <a:off x="714375" y="1981200"/>
            <a:ext cx="9420225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R1 ∪ R2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ActiveEmployees ∪ RetiredEmployees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R1 – R2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AllEmployees -- RetiredEmployees</a:t>
            </a:r>
            <a:endParaRPr/>
          </a:p>
        </p:txBody>
      </p:sp>
      <p:grpSp>
        <p:nvGrpSpPr>
          <p:cNvPr id="551" name="Google Shape;551;p56"/>
          <p:cNvGrpSpPr/>
          <p:nvPr/>
        </p:nvGrpSpPr>
        <p:grpSpPr>
          <a:xfrm>
            <a:off x="8251292" y="2026215"/>
            <a:ext cx="2305614" cy="1381688"/>
            <a:chOff x="8905312" y="3952260"/>
            <a:chExt cx="2305614" cy="1381688"/>
          </a:xfrm>
        </p:grpSpPr>
        <p:sp>
          <p:nvSpPr>
            <p:cNvPr id="552" name="Google Shape;552;p56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53" name="Google Shape;553;p56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554" name="Google Shape;554;p56"/>
          <p:cNvGrpSpPr/>
          <p:nvPr/>
        </p:nvGrpSpPr>
        <p:grpSpPr>
          <a:xfrm>
            <a:off x="8251292" y="4229100"/>
            <a:ext cx="2305614" cy="1381688"/>
            <a:chOff x="8905312" y="3952260"/>
            <a:chExt cx="2305614" cy="1381688"/>
          </a:xfrm>
        </p:grpSpPr>
        <p:sp>
          <p:nvSpPr>
            <p:cNvPr id="555" name="Google Shape;555;p56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56" name="Google Shape;556;p56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aseline="-25000" lang="en-US" sz="1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7"/>
          <p:cNvSpPr txBox="1"/>
          <p:nvPr>
            <p:ph type="title"/>
          </p:nvPr>
        </p:nvSpPr>
        <p:spPr>
          <a:xfrm>
            <a:off x="1100137" y="4953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about Intersection (∩) ?</a:t>
            </a:r>
            <a:endParaRPr/>
          </a:p>
        </p:txBody>
      </p:sp>
      <p:sp>
        <p:nvSpPr>
          <p:cNvPr id="562" name="Google Shape;562;p57"/>
          <p:cNvSpPr txBox="1"/>
          <p:nvPr>
            <p:ph idx="1" type="body"/>
          </p:nvPr>
        </p:nvSpPr>
        <p:spPr>
          <a:xfrm>
            <a:off x="1100137" y="1685924"/>
            <a:ext cx="8958263" cy="433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derived operator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R1 ∩ R2 = R1 – (R1 – R2)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 expressed as a join!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UnionizedEmployees ∩ RetiredEmployees</a:t>
            </a:r>
            <a:endParaRPr/>
          </a:p>
        </p:txBody>
      </p:sp>
      <p:grpSp>
        <p:nvGrpSpPr>
          <p:cNvPr id="563" name="Google Shape;563;p57"/>
          <p:cNvGrpSpPr/>
          <p:nvPr/>
        </p:nvGrpSpPr>
        <p:grpSpPr>
          <a:xfrm>
            <a:off x="8645584" y="1685924"/>
            <a:ext cx="2305614" cy="1381688"/>
            <a:chOff x="8905312" y="3952260"/>
            <a:chExt cx="2305614" cy="1381688"/>
          </a:xfrm>
        </p:grpSpPr>
        <p:sp>
          <p:nvSpPr>
            <p:cNvPr id="564" name="Google Shape;564;p57"/>
            <p:cNvSpPr/>
            <p:nvPr/>
          </p:nvSpPr>
          <p:spPr>
            <a:xfrm>
              <a:off x="8905312" y="3952260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65" name="Google Shape;565;p57"/>
            <p:cNvSpPr/>
            <p:nvPr/>
          </p:nvSpPr>
          <p:spPr>
            <a:xfrm>
              <a:off x="9829238" y="3952260"/>
              <a:ext cx="1381688" cy="1381688"/>
            </a:xfrm>
            <a:prstGeom prst="ellipse">
              <a:avLst/>
            </a:prstGeom>
            <a:solidFill>
              <a:schemeClr val="accent1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aseline="-25000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8"/>
          <p:cNvSpPr txBox="1"/>
          <p:nvPr>
            <p:ph type="title"/>
          </p:nvPr>
        </p:nvSpPr>
        <p:spPr>
          <a:xfrm>
            <a:off x="2209800" y="3276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Fancier RA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76" name="Google Shape;576;p59"/>
          <p:cNvSpPr txBox="1"/>
          <p:nvPr>
            <p:ph idx="1" type="body"/>
          </p:nvPr>
        </p:nvSpPr>
        <p:spPr>
          <a:xfrm>
            <a:off x="838200" y="1981200"/>
            <a:ext cx="9601200" cy="4114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42" r="0" t="-23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77" name="Google Shape;577;p59"/>
          <p:cNvSpPr/>
          <p:nvPr/>
        </p:nvSpPr>
        <p:spPr>
          <a:xfrm>
            <a:off x="7286624" y="2214563"/>
            <a:ext cx="4410437" cy="14219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Students,People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578" name="Google Shape;578;p59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579" name="Google Shape;579;p59"/>
          <p:cNvSpPr txBox="1"/>
          <p:nvPr/>
        </p:nvSpPr>
        <p:spPr>
          <a:xfrm>
            <a:off x="7286624" y="4829898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580" name="Google Shape;580;p59"/>
          <p:cNvSpPr txBox="1"/>
          <p:nvPr/>
        </p:nvSpPr>
        <p:spPr>
          <a:xfrm>
            <a:off x="7286624" y="5213180"/>
            <a:ext cx="4536819" cy="55399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81" name="Google Shape;581;p59"/>
          <p:cNvSpPr/>
          <p:nvPr/>
        </p:nvSpPr>
        <p:spPr>
          <a:xfrm>
            <a:off x="7286623" y="823413"/>
            <a:ext cx="3742883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People(ssn,pname,address)</a:t>
            </a:r>
            <a:endParaRPr/>
          </a:p>
        </p:txBody>
      </p:sp>
      <p:sp>
        <p:nvSpPr>
          <p:cNvPr id="582" name="Google Shape;582;p59"/>
          <p:cNvSpPr/>
          <p:nvPr/>
        </p:nvSpPr>
        <p:spPr>
          <a:xfrm>
            <a:off x="9134655" y="4340364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9"/>
          <p:cNvSpPr txBox="1"/>
          <p:nvPr/>
        </p:nvSpPr>
        <p:spPr>
          <a:xfrm>
            <a:off x="1616767" y="4239600"/>
            <a:ext cx="3574399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natural join is a theta join + a projection.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89" name="Google Shape;589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2" r="0" t="-26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590" name="Google Shape;590;p60"/>
          <p:cNvSpPr/>
          <p:nvPr/>
        </p:nvSpPr>
        <p:spPr>
          <a:xfrm>
            <a:off x="7286624" y="2214563"/>
            <a:ext cx="4410437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People 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sname = pname;</a:t>
            </a:r>
            <a:endParaRPr/>
          </a:p>
        </p:txBody>
      </p:sp>
      <p:sp>
        <p:nvSpPr>
          <p:cNvPr id="591" name="Google Shape;591;p60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592" name="Google Shape;592;p60"/>
          <p:cNvSpPr txBox="1"/>
          <p:nvPr/>
        </p:nvSpPr>
        <p:spPr>
          <a:xfrm>
            <a:off x="7286624" y="4829898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593" name="Google Shape;593;p60"/>
          <p:cNvSpPr txBox="1"/>
          <p:nvPr/>
        </p:nvSpPr>
        <p:spPr>
          <a:xfrm>
            <a:off x="7594712" y="5296400"/>
            <a:ext cx="4012893" cy="59676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94" name="Google Shape;594;p60"/>
          <p:cNvSpPr/>
          <p:nvPr/>
        </p:nvSpPr>
        <p:spPr>
          <a:xfrm>
            <a:off x="7286624" y="823413"/>
            <a:ext cx="3693264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People(ssn,pname,address)</a:t>
            </a:r>
            <a:endParaRPr/>
          </a:p>
        </p:txBody>
      </p:sp>
      <p:sp>
        <p:nvSpPr>
          <p:cNvPr id="595" name="Google Shape;595;p60"/>
          <p:cNvSpPr/>
          <p:nvPr/>
        </p:nvSpPr>
        <p:spPr>
          <a:xfrm>
            <a:off x="9134655" y="4340364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0"/>
          <p:cNvSpPr txBox="1"/>
          <p:nvPr/>
        </p:nvSpPr>
        <p:spPr>
          <a:xfrm>
            <a:off x="1616767" y="4239600"/>
            <a:ext cx="3574399" cy="107721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common join in practice!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76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03" name="Google Shape;603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2" r="0" t="-26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604" name="Google Shape;604;p61"/>
          <p:cNvSpPr/>
          <p:nvPr/>
        </p:nvSpPr>
        <p:spPr>
          <a:xfrm>
            <a:off x="7286624" y="2307788"/>
            <a:ext cx="4543426" cy="175432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SELECT DISTINCT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sid,sname,gpa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FROM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Students,People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sname = pname;</a:t>
            </a:r>
            <a:endParaRPr/>
          </a:p>
        </p:txBody>
      </p:sp>
      <p:sp>
        <p:nvSpPr>
          <p:cNvPr id="605" name="Google Shape;605;p61"/>
          <p:cNvSpPr txBox="1"/>
          <p:nvPr/>
        </p:nvSpPr>
        <p:spPr>
          <a:xfrm>
            <a:off x="7286625" y="1691343"/>
            <a:ext cx="8386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SQL:</a:t>
            </a:r>
            <a:endParaRPr/>
          </a:p>
        </p:txBody>
      </p:sp>
      <p:sp>
        <p:nvSpPr>
          <p:cNvPr id="606" name="Google Shape;606;p61"/>
          <p:cNvSpPr txBox="1"/>
          <p:nvPr/>
        </p:nvSpPr>
        <p:spPr>
          <a:xfrm>
            <a:off x="7286624" y="4829898"/>
            <a:ext cx="6719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RA:</a:t>
            </a:r>
            <a:endParaRPr/>
          </a:p>
        </p:txBody>
      </p:sp>
      <p:sp>
        <p:nvSpPr>
          <p:cNvPr id="607" name="Google Shape;607;p61"/>
          <p:cNvSpPr txBox="1"/>
          <p:nvPr/>
        </p:nvSpPr>
        <p:spPr>
          <a:xfrm>
            <a:off x="7460541" y="5478780"/>
            <a:ext cx="3919727" cy="55399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8" name="Google Shape;608;p61"/>
          <p:cNvSpPr/>
          <p:nvPr/>
        </p:nvSpPr>
        <p:spPr>
          <a:xfrm>
            <a:off x="7286624" y="823413"/>
            <a:ext cx="3721618" cy="5909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Students(sid,sname,gpa)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People(ssn,pname,address)</a:t>
            </a:r>
            <a:endParaRPr/>
          </a:p>
        </p:txBody>
      </p:sp>
      <p:sp>
        <p:nvSpPr>
          <p:cNvPr id="609" name="Google Shape;609;p61"/>
          <p:cNvSpPr/>
          <p:nvPr/>
        </p:nvSpPr>
        <p:spPr>
          <a:xfrm>
            <a:off x="9134655" y="4340364"/>
            <a:ext cx="571500" cy="629471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Semijoins in Distributed Databases</a:t>
            </a:r>
            <a:endParaRPr/>
          </a:p>
        </p:txBody>
      </p:sp>
      <p:sp>
        <p:nvSpPr>
          <p:cNvPr id="615" name="Google Shape;615;p62"/>
          <p:cNvSpPr txBox="1"/>
          <p:nvPr>
            <p:ph idx="1" type="body"/>
          </p:nvPr>
        </p:nvSpPr>
        <p:spPr>
          <a:xfrm>
            <a:off x="838200" y="1706561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Semijoins are often used to compute natural joins in distributed databases</a:t>
            </a:r>
            <a:endParaRPr/>
          </a:p>
        </p:txBody>
      </p:sp>
      <p:graphicFrame>
        <p:nvGraphicFramePr>
          <p:cNvPr id="616" name="Google Shape;616;p62"/>
          <p:cNvGraphicFramePr/>
          <p:nvPr/>
        </p:nvGraphicFramePr>
        <p:xfrm>
          <a:off x="2606674" y="3276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952500"/>
                <a:gridCol w="9525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 . .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 . 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7" name="Google Shape;617;p62"/>
          <p:cNvGraphicFramePr/>
          <p:nvPr/>
        </p:nvGraphicFramePr>
        <p:xfrm>
          <a:off x="6569074" y="2895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952500"/>
                <a:gridCol w="952500"/>
                <a:gridCol w="9525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SSN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 . .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 . 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8" name="Google Shape;618;p62"/>
          <p:cNvSpPr/>
          <p:nvPr/>
        </p:nvSpPr>
        <p:spPr>
          <a:xfrm>
            <a:off x="2225674" y="2438708"/>
            <a:ext cx="2667000" cy="2057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2"/>
          <p:cNvSpPr/>
          <p:nvPr/>
        </p:nvSpPr>
        <p:spPr>
          <a:xfrm>
            <a:off x="6188074" y="2286308"/>
            <a:ext cx="3886200" cy="190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62"/>
          <p:cNvCxnSpPr>
            <a:stCxn id="618" idx="6"/>
            <a:endCxn id="619" idx="2"/>
          </p:cNvCxnSpPr>
          <p:nvPr/>
        </p:nvCxnSpPr>
        <p:spPr>
          <a:xfrm flipH="1" rot="10800000">
            <a:off x="4892674" y="3238808"/>
            <a:ext cx="1295400" cy="228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621" name="Google Shape;621;p62"/>
          <p:cNvSpPr txBox="1"/>
          <p:nvPr/>
        </p:nvSpPr>
        <p:spPr>
          <a:xfrm>
            <a:off x="2666999" y="2632383"/>
            <a:ext cx="11208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</a:t>
            </a:r>
            <a:endParaRPr/>
          </a:p>
        </p:txBody>
      </p:sp>
      <p:sp>
        <p:nvSpPr>
          <p:cNvPr id="622" name="Google Shape;622;p62"/>
          <p:cNvSpPr txBox="1"/>
          <p:nvPr/>
        </p:nvSpPr>
        <p:spPr>
          <a:xfrm>
            <a:off x="7315199" y="2251383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Dependents</a:t>
            </a:r>
            <a:endParaRPr/>
          </a:p>
        </p:txBody>
      </p:sp>
      <p:sp>
        <p:nvSpPr>
          <p:cNvPr id="623" name="Google Shape;623;p62"/>
          <p:cNvSpPr txBox="1"/>
          <p:nvPr/>
        </p:nvSpPr>
        <p:spPr>
          <a:xfrm>
            <a:off x="5181600" y="3470583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endParaRPr/>
          </a:p>
        </p:txBody>
      </p:sp>
      <p:sp>
        <p:nvSpPr>
          <p:cNvPr id="624" name="Google Shape;624;p62"/>
          <p:cNvSpPr/>
          <p:nvPr/>
        </p:nvSpPr>
        <p:spPr>
          <a:xfrm>
            <a:off x="2574844" y="4699983"/>
            <a:ext cx="7042312" cy="584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3331" l="-2162" r="-1210" t="-135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5" name="Google Shape;625;p62"/>
          <p:cNvSpPr txBox="1"/>
          <p:nvPr/>
        </p:nvSpPr>
        <p:spPr>
          <a:xfrm>
            <a:off x="6553200" y="5638800"/>
            <a:ext cx="3075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 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age&gt;71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(Dependents)</a:t>
            </a:r>
            <a:endParaRPr/>
          </a:p>
        </p:txBody>
      </p:sp>
      <p:sp>
        <p:nvSpPr>
          <p:cNvPr id="626" name="Google Shape;626;p62"/>
          <p:cNvSpPr txBox="1"/>
          <p:nvPr/>
        </p:nvSpPr>
        <p:spPr>
          <a:xfrm>
            <a:off x="2911312" y="5789273"/>
            <a:ext cx="2117887" cy="5734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9573" l="-2592" r="-14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27" name="Google Shape;627;p62"/>
          <p:cNvSpPr txBox="1"/>
          <p:nvPr/>
        </p:nvSpPr>
        <p:spPr>
          <a:xfrm>
            <a:off x="6629401" y="6216651"/>
            <a:ext cx="2879314" cy="5734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573" l="-1906" r="-84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628" name="Google Shape;628;p62"/>
          <p:cNvCxnSpPr/>
          <p:nvPr/>
        </p:nvCxnSpPr>
        <p:spPr>
          <a:xfrm flipH="1">
            <a:off x="5181600" y="5867400"/>
            <a:ext cx="12954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62"/>
          <p:cNvCxnSpPr/>
          <p:nvPr/>
        </p:nvCxnSpPr>
        <p:spPr>
          <a:xfrm>
            <a:off x="5181600" y="6248400"/>
            <a:ext cx="12954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62"/>
          <p:cNvSpPr txBox="1"/>
          <p:nvPr/>
        </p:nvSpPr>
        <p:spPr>
          <a:xfrm>
            <a:off x="170640" y="4937929"/>
            <a:ext cx="2251803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less data to reduce network bandwidth!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1" name="Google Shape;631;p6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32" name="Google Shape;632;p6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62"/>
            <p:cNvSpPr txBox="1"/>
            <p:nvPr/>
          </p:nvSpPr>
          <p:spPr>
            <a:xfrm>
              <a:off x="188780" y="-22510"/>
              <a:ext cx="285597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Lecture 16  &gt;  Section 2  &gt;  Fancier RA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3"/>
          <p:cNvSpPr txBox="1"/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Anti Join (</a:t>
            </a: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▷</a:t>
            </a:r>
            <a:r>
              <a:rPr lang="en-US"/>
              <a:t>)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3"/>
          <p:cNvSpPr txBox="1"/>
          <p:nvPr>
            <p:ph idx="1" type="body"/>
          </p:nvPr>
        </p:nvSpPr>
        <p:spPr>
          <a:xfrm>
            <a:off x="838200" y="1331259"/>
            <a:ext cx="10515600" cy="4845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Definition: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Anti Join is a relational operation that returns tuples from one relation that do not have matching tuples in another relation. It is often symbolized as: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 ▷ S = R - (R ⋈ 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Where: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lang="en-US"/>
              <a:t>R</a:t>
            </a:r>
            <a:r>
              <a:rPr lang="en-US"/>
              <a:t>: The left relation (source relation).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lang="en-US"/>
              <a:t>S</a:t>
            </a:r>
            <a:r>
              <a:rPr lang="en-US"/>
              <a:t>: The right relation.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lang="en-US"/>
              <a:t>⋈</a:t>
            </a:r>
            <a:r>
              <a:rPr lang="en-US"/>
              <a:t>: Represents the join operation.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Anti Join filters the tuples in </a:t>
            </a:r>
            <a:r>
              <a:rPr b="1" lang="en-US"/>
              <a:t>R</a:t>
            </a:r>
            <a:r>
              <a:rPr lang="en-US"/>
              <a:t> that do not find any matches in </a:t>
            </a:r>
            <a:r>
              <a:rPr b="1" lang="en-US"/>
              <a:t>S</a:t>
            </a:r>
            <a:r>
              <a:rPr lang="en-US"/>
              <a:t> based on a specified condition.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graphicFrame>
        <p:nvGraphicFramePr>
          <p:cNvPr id="645" name="Google Shape;645;p64"/>
          <p:cNvGraphicFramePr/>
          <p:nvPr/>
        </p:nvGraphicFramePr>
        <p:xfrm>
          <a:off x="1120588" y="1806734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B4D4A5"/>
                    </a:gs>
                    <a:gs pos="50000">
                      <a:srgbClr val="A8CD97"/>
                    </a:gs>
                    <a:gs pos="100000">
                      <a:srgbClr val="9BC985"/>
                    </a:gs>
                  </a:gsLst>
                  <a:lin ang="5400000" scaled="0"/>
                </a:gradFill>
                <a:tableStyleId>{09527A10-BA2D-49CA-9686-BB9B5CDEBD44}</a:tableStyleId>
              </a:tblPr>
              <a:tblGrid>
                <a:gridCol w="1437350"/>
                <a:gridCol w="1437350"/>
                <a:gridCol w="14373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Employee_ID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Dept_ID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Alice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Bob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Charlie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46" name="Google Shape;646;p64"/>
          <p:cNvGraphicFramePr/>
          <p:nvPr/>
        </p:nvGraphicFramePr>
        <p:xfrm>
          <a:off x="7395883" y="2050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{09527A10-BA2D-49CA-9686-BB9B5CDEBD44}</a:tableStyleId>
              </a:tblPr>
              <a:tblGrid>
                <a:gridCol w="1586750"/>
                <a:gridCol w="1586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Dept_id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Dept_name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IT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7" name="Google Shape;647;p64"/>
          <p:cNvSpPr txBox="1"/>
          <p:nvPr/>
        </p:nvSpPr>
        <p:spPr>
          <a:xfrm>
            <a:off x="1317813" y="1414101"/>
            <a:ext cx="24877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/>
          </a:p>
        </p:txBody>
      </p:sp>
      <p:sp>
        <p:nvSpPr>
          <p:cNvPr id="648" name="Google Shape;648;p64"/>
          <p:cNvSpPr txBox="1"/>
          <p:nvPr/>
        </p:nvSpPr>
        <p:spPr>
          <a:xfrm>
            <a:off x="7292789" y="1679748"/>
            <a:ext cx="24877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/>
          </a:p>
        </p:txBody>
      </p:sp>
      <p:graphicFrame>
        <p:nvGraphicFramePr>
          <p:cNvPr id="649" name="Google Shape;649;p64"/>
          <p:cNvGraphicFramePr/>
          <p:nvPr/>
        </p:nvGraphicFramePr>
        <p:xfrm>
          <a:off x="4038600" y="48089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{09527A10-BA2D-49CA-9686-BB9B5CDEBD44}</a:tableStyleId>
              </a:tblPr>
              <a:tblGrid>
                <a:gridCol w="1437350"/>
                <a:gridCol w="1437350"/>
                <a:gridCol w="14373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Employee_ID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Name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Dept_ID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Charlie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50" name="Google Shape;650;p64"/>
          <p:cNvSpPr txBox="1"/>
          <p:nvPr/>
        </p:nvSpPr>
        <p:spPr>
          <a:xfrm>
            <a:off x="4464427" y="3630011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Employees ▷ Departments</a:t>
            </a:r>
            <a:endParaRPr/>
          </a:p>
        </p:txBody>
      </p:sp>
      <p:sp>
        <p:nvSpPr>
          <p:cNvPr id="651" name="Google Shape;651;p64"/>
          <p:cNvSpPr txBox="1"/>
          <p:nvPr/>
        </p:nvSpPr>
        <p:spPr>
          <a:xfrm>
            <a:off x="4083169" y="4357144"/>
            <a:ext cx="7775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5"/>
          <p:cNvSpPr txBox="1"/>
          <p:nvPr>
            <p:ph type="title"/>
          </p:nvPr>
        </p:nvSpPr>
        <p:spPr>
          <a:xfrm>
            <a:off x="838201" y="329696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 Expressions Can Get Complex!</a:t>
            </a:r>
            <a:endParaRPr/>
          </a:p>
        </p:txBody>
      </p:sp>
      <p:sp>
        <p:nvSpPr>
          <p:cNvPr id="657" name="Google Shape;657;p65"/>
          <p:cNvSpPr txBox="1"/>
          <p:nvPr>
            <p:ph idx="1" type="body"/>
          </p:nvPr>
        </p:nvSpPr>
        <p:spPr>
          <a:xfrm>
            <a:off x="2628900" y="5635625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  Person         Purchase              Person                  Product</a:t>
            </a:r>
            <a:endParaRPr/>
          </a:p>
        </p:txBody>
      </p:sp>
      <p:sp>
        <p:nvSpPr>
          <p:cNvPr id="658" name="Google Shape;658;p65"/>
          <p:cNvSpPr/>
          <p:nvPr/>
        </p:nvSpPr>
        <p:spPr>
          <a:xfrm>
            <a:off x="6400800" y="5029201"/>
            <a:ext cx="17219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σ</a:t>
            </a:r>
            <a:r>
              <a:rPr baseline="-25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name=fred</a:t>
            </a:r>
            <a:endParaRPr/>
          </a:p>
        </p:txBody>
      </p:sp>
      <p:sp>
        <p:nvSpPr>
          <p:cNvPr id="659" name="Google Shape;659;p65"/>
          <p:cNvSpPr/>
          <p:nvPr/>
        </p:nvSpPr>
        <p:spPr>
          <a:xfrm>
            <a:off x="8305801" y="5029201"/>
            <a:ext cx="19639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σ</a:t>
            </a:r>
            <a:r>
              <a:rPr baseline="-25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name=gizmo</a:t>
            </a:r>
            <a:endParaRPr/>
          </a:p>
        </p:txBody>
      </p:sp>
      <p:sp>
        <p:nvSpPr>
          <p:cNvPr id="660" name="Google Shape;660;p65"/>
          <p:cNvSpPr/>
          <p:nvPr/>
        </p:nvSpPr>
        <p:spPr>
          <a:xfrm>
            <a:off x="8610601" y="4267201"/>
            <a:ext cx="9509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</a:t>
            </a:r>
            <a:endParaRPr/>
          </a:p>
        </p:txBody>
      </p:sp>
      <p:sp>
        <p:nvSpPr>
          <p:cNvPr id="661" name="Google Shape;661;p65"/>
          <p:cNvSpPr/>
          <p:nvPr/>
        </p:nvSpPr>
        <p:spPr>
          <a:xfrm>
            <a:off x="6629401" y="4267201"/>
            <a:ext cx="9509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endParaRPr/>
          </a:p>
        </p:txBody>
      </p:sp>
      <p:grpSp>
        <p:nvGrpSpPr>
          <p:cNvPr id="662" name="Google Shape;662;p65"/>
          <p:cNvGrpSpPr/>
          <p:nvPr/>
        </p:nvGrpSpPr>
        <p:grpSpPr>
          <a:xfrm>
            <a:off x="5334795" y="3580607"/>
            <a:ext cx="1705769" cy="461169"/>
            <a:chOff x="2737" y="2016"/>
            <a:chExt cx="1075" cy="291"/>
          </a:xfrm>
        </p:grpSpPr>
        <p:sp>
          <p:nvSpPr>
            <p:cNvPr id="663" name="Google Shape;663;p65"/>
            <p:cNvSpPr/>
            <p:nvPr/>
          </p:nvSpPr>
          <p:spPr>
            <a:xfrm rot="-5400000">
              <a:off x="2797" y="1955"/>
              <a:ext cx="122" cy="243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65"/>
            <p:cNvSpPr txBox="1"/>
            <p:nvPr/>
          </p:nvSpPr>
          <p:spPr>
            <a:xfrm>
              <a:off x="2976" y="2094"/>
              <a:ext cx="83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seller-ssn=ssn</a:t>
              </a:r>
              <a:endParaRPr/>
            </a:p>
          </p:txBody>
        </p:sp>
      </p:grpSp>
      <p:grpSp>
        <p:nvGrpSpPr>
          <p:cNvPr id="665" name="Google Shape;665;p65"/>
          <p:cNvGrpSpPr/>
          <p:nvPr/>
        </p:nvGrpSpPr>
        <p:grpSpPr>
          <a:xfrm>
            <a:off x="7544597" y="2742410"/>
            <a:ext cx="1205707" cy="462757"/>
            <a:chOff x="2737" y="2016"/>
            <a:chExt cx="760" cy="291"/>
          </a:xfrm>
        </p:grpSpPr>
        <p:sp>
          <p:nvSpPr>
            <p:cNvPr id="666" name="Google Shape;666;p65"/>
            <p:cNvSpPr/>
            <p:nvPr/>
          </p:nvSpPr>
          <p:spPr>
            <a:xfrm rot="-5400000">
              <a:off x="2797" y="1955"/>
              <a:ext cx="122" cy="243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65"/>
            <p:cNvSpPr txBox="1"/>
            <p:nvPr/>
          </p:nvSpPr>
          <p:spPr>
            <a:xfrm>
              <a:off x="2976" y="2094"/>
              <a:ext cx="52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pid=pid</a:t>
              </a:r>
              <a:endParaRPr/>
            </a:p>
          </p:txBody>
        </p:sp>
      </p:grpSp>
      <p:grpSp>
        <p:nvGrpSpPr>
          <p:cNvPr id="668" name="Google Shape;668;p65"/>
          <p:cNvGrpSpPr/>
          <p:nvPr/>
        </p:nvGrpSpPr>
        <p:grpSpPr>
          <a:xfrm>
            <a:off x="4877595" y="2056607"/>
            <a:ext cx="1729581" cy="461169"/>
            <a:chOff x="2737" y="2016"/>
            <a:chExt cx="1090" cy="291"/>
          </a:xfrm>
        </p:grpSpPr>
        <p:sp>
          <p:nvSpPr>
            <p:cNvPr id="669" name="Google Shape;669;p65"/>
            <p:cNvSpPr/>
            <p:nvPr/>
          </p:nvSpPr>
          <p:spPr>
            <a:xfrm rot="-5400000">
              <a:off x="2797" y="1955"/>
              <a:ext cx="122" cy="243"/>
            </a:xfrm>
            <a:prstGeom prst="flowChartCollat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65"/>
            <p:cNvSpPr txBox="1"/>
            <p:nvPr/>
          </p:nvSpPr>
          <p:spPr>
            <a:xfrm>
              <a:off x="2976" y="2094"/>
              <a:ext cx="85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buyer-ssn=ssn</a:t>
              </a:r>
              <a:endParaRPr/>
            </a:p>
          </p:txBody>
        </p:sp>
      </p:grpSp>
      <p:sp>
        <p:nvSpPr>
          <p:cNvPr id="671" name="Google Shape;671;p65"/>
          <p:cNvSpPr/>
          <p:nvPr/>
        </p:nvSpPr>
        <p:spPr>
          <a:xfrm>
            <a:off x="4800601" y="1066801"/>
            <a:ext cx="11961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</p:txBody>
      </p:sp>
      <p:cxnSp>
        <p:nvCxnSpPr>
          <p:cNvPr id="672" name="Google Shape;672;p65"/>
          <p:cNvCxnSpPr/>
          <p:nvPr/>
        </p:nvCxnSpPr>
        <p:spPr>
          <a:xfrm rot="10800000">
            <a:off x="7086600" y="56388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65"/>
          <p:cNvCxnSpPr/>
          <p:nvPr/>
        </p:nvCxnSpPr>
        <p:spPr>
          <a:xfrm rot="10800000">
            <a:off x="9144000" y="56388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65"/>
          <p:cNvCxnSpPr/>
          <p:nvPr/>
        </p:nvCxnSpPr>
        <p:spPr>
          <a:xfrm rot="10800000">
            <a:off x="7086600" y="48768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65"/>
          <p:cNvCxnSpPr/>
          <p:nvPr/>
        </p:nvCxnSpPr>
        <p:spPr>
          <a:xfrm rot="10800000">
            <a:off x="9144000" y="49530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65"/>
          <p:cNvCxnSpPr/>
          <p:nvPr/>
        </p:nvCxnSpPr>
        <p:spPr>
          <a:xfrm flipH="1" rot="10800000">
            <a:off x="5029200" y="4038600"/>
            <a:ext cx="533400" cy="198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65"/>
          <p:cNvCxnSpPr/>
          <p:nvPr/>
        </p:nvCxnSpPr>
        <p:spPr>
          <a:xfrm rot="10800000">
            <a:off x="5562600" y="40386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65"/>
          <p:cNvCxnSpPr/>
          <p:nvPr/>
        </p:nvCxnSpPr>
        <p:spPr>
          <a:xfrm flipH="1" rot="10800000">
            <a:off x="5562600" y="3048000"/>
            <a:ext cx="1905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5"/>
          <p:cNvCxnSpPr/>
          <p:nvPr/>
        </p:nvCxnSpPr>
        <p:spPr>
          <a:xfrm rot="10800000">
            <a:off x="7848600" y="3048000"/>
            <a:ext cx="1066800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65"/>
          <p:cNvCxnSpPr/>
          <p:nvPr/>
        </p:nvCxnSpPr>
        <p:spPr>
          <a:xfrm rot="10800000">
            <a:off x="5257800" y="2514600"/>
            <a:ext cx="2209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65"/>
          <p:cNvCxnSpPr/>
          <p:nvPr/>
        </p:nvCxnSpPr>
        <p:spPr>
          <a:xfrm flipH="1" rot="10800000">
            <a:off x="3124200" y="2514600"/>
            <a:ext cx="1676400" cy="342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65"/>
          <p:cNvCxnSpPr/>
          <p:nvPr/>
        </p:nvCxnSpPr>
        <p:spPr>
          <a:xfrm rot="10800000">
            <a:off x="5029200" y="16002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6"/>
          <p:cNvSpPr txBox="1"/>
          <p:nvPr>
            <p:ph type="title"/>
          </p:nvPr>
        </p:nvSpPr>
        <p:spPr>
          <a:xfrm>
            <a:off x="781493" y="27964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Multisets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7"/>
          <p:cNvSpPr txBox="1"/>
          <p:nvPr>
            <p:ph type="title"/>
          </p:nvPr>
        </p:nvSpPr>
        <p:spPr>
          <a:xfrm>
            <a:off x="523875" y="3792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Recall that SQL uses Multisets</a:t>
            </a:r>
            <a:endParaRPr/>
          </a:p>
        </p:txBody>
      </p:sp>
      <p:sp>
        <p:nvSpPr>
          <p:cNvPr id="694" name="Google Shape;694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95" name="Google Shape;695;p67"/>
          <p:cNvGraphicFramePr/>
          <p:nvPr/>
        </p:nvGraphicFramePr>
        <p:xfrm>
          <a:off x="2222041" y="1966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1045675"/>
              </a:tblGrid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b)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d)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d)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6" name="Google Shape;696;p67"/>
          <p:cNvGraphicFramePr/>
          <p:nvPr/>
        </p:nvGraphicFramePr>
        <p:xfrm>
          <a:off x="7767504" y="25797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97" name="Google Shape;697;p67"/>
          <p:cNvSpPr/>
          <p:nvPr/>
        </p:nvSpPr>
        <p:spPr>
          <a:xfrm>
            <a:off x="4939229" y="3316076"/>
            <a:ext cx="1156771" cy="462709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4371860" y="4040427"/>
            <a:ext cx="2291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 Representations of a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</a:t>
            </a:r>
            <a:endParaRPr b="1"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67"/>
          <p:cNvSpPr txBox="1"/>
          <p:nvPr/>
        </p:nvSpPr>
        <p:spPr>
          <a:xfrm>
            <a:off x="7767504" y="2103978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sp>
        <p:nvSpPr>
          <p:cNvPr id="700" name="Google Shape;700;p67"/>
          <p:cNvSpPr txBox="1"/>
          <p:nvPr/>
        </p:nvSpPr>
        <p:spPr>
          <a:xfrm>
            <a:off x="2131285" y="1566384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sp>
        <p:nvSpPr>
          <p:cNvPr id="701" name="Google Shape;701;p67"/>
          <p:cNvSpPr txBox="1"/>
          <p:nvPr/>
        </p:nvSpPr>
        <p:spPr>
          <a:xfrm>
            <a:off x="7988412" y="5404174"/>
            <a:ext cx="23013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In a set all counts are {0,1}.</a:t>
            </a:r>
            <a:endParaRPr/>
          </a:p>
        </p:txBody>
      </p:sp>
      <p:sp>
        <p:nvSpPr>
          <p:cNvPr id="702" name="Google Shape;702;p67"/>
          <p:cNvSpPr txBox="1"/>
          <p:nvPr/>
        </p:nvSpPr>
        <p:spPr>
          <a:xfrm>
            <a:off x="7767504" y="676049"/>
            <a:ext cx="3557265" cy="12003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Generalizing Set Operations to Multiset Operations</a:t>
            </a:r>
            <a:endParaRPr/>
          </a:p>
        </p:txBody>
      </p:sp>
      <p:sp>
        <p:nvSpPr>
          <p:cNvPr id="708" name="Google Shape;708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09" name="Google Shape;709;p68"/>
          <p:cNvGraphicFramePr/>
          <p:nvPr/>
        </p:nvGraphicFramePr>
        <p:xfrm>
          <a:off x="83820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0" name="Google Shape;710;p68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graphicFrame>
        <p:nvGraphicFramePr>
          <p:cNvPr id="711" name="Google Shape;711;p68"/>
          <p:cNvGraphicFramePr/>
          <p:nvPr/>
        </p:nvGraphicFramePr>
        <p:xfrm>
          <a:off x="4796163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2" name="Google Shape;712;p68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Y</a:t>
            </a:r>
            <a:endParaRPr/>
          </a:p>
        </p:txBody>
      </p:sp>
      <p:graphicFrame>
        <p:nvGraphicFramePr>
          <p:cNvPr id="713" name="Google Shape;713;p68"/>
          <p:cNvGraphicFramePr/>
          <p:nvPr/>
        </p:nvGraphicFramePr>
        <p:xfrm>
          <a:off x="883155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4" name="Google Shape;714;p68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Z</a:t>
            </a:r>
            <a:endParaRPr/>
          </a:p>
        </p:txBody>
      </p:sp>
      <p:sp>
        <p:nvSpPr>
          <p:cNvPr id="715" name="Google Shape;715;p68"/>
          <p:cNvSpPr txBox="1"/>
          <p:nvPr/>
        </p:nvSpPr>
        <p:spPr>
          <a:xfrm>
            <a:off x="3802830" y="3056289"/>
            <a:ext cx="628377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6" name="Google Shape;716;p68"/>
          <p:cNvSpPr txBox="1"/>
          <p:nvPr/>
        </p:nvSpPr>
        <p:spPr>
          <a:xfrm>
            <a:off x="7760793" y="3056289"/>
            <a:ext cx="67486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7" name="Google Shape;717;p68"/>
          <p:cNvSpPr/>
          <p:nvPr/>
        </p:nvSpPr>
        <p:spPr>
          <a:xfrm>
            <a:off x="4061981" y="5252887"/>
            <a:ext cx="4068037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8" name="Google Shape;718;p68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sets, this is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intersection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24" name="Google Shape;724;p69"/>
          <p:cNvGraphicFramePr/>
          <p:nvPr/>
        </p:nvGraphicFramePr>
        <p:xfrm>
          <a:off x="83820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25" name="Google Shape;725;p69"/>
          <p:cNvSpPr txBox="1"/>
          <p:nvPr/>
        </p:nvSpPr>
        <p:spPr>
          <a:xfrm>
            <a:off x="760777" y="2017933"/>
            <a:ext cx="1227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X</a:t>
            </a:r>
            <a:endParaRPr/>
          </a:p>
        </p:txBody>
      </p:sp>
      <p:graphicFrame>
        <p:nvGraphicFramePr>
          <p:cNvPr id="726" name="Google Shape;726;p69"/>
          <p:cNvGraphicFramePr/>
          <p:nvPr/>
        </p:nvGraphicFramePr>
        <p:xfrm>
          <a:off x="4796163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27" name="Google Shape;727;p69"/>
          <p:cNvSpPr txBox="1"/>
          <p:nvPr/>
        </p:nvSpPr>
        <p:spPr>
          <a:xfrm>
            <a:off x="4718740" y="2017933"/>
            <a:ext cx="12191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Y</a:t>
            </a:r>
            <a:endParaRPr/>
          </a:p>
        </p:txBody>
      </p:sp>
      <p:graphicFrame>
        <p:nvGraphicFramePr>
          <p:cNvPr id="728" name="Google Shape;728;p69"/>
          <p:cNvGraphicFramePr/>
          <p:nvPr/>
        </p:nvGraphicFramePr>
        <p:xfrm>
          <a:off x="8831550" y="2504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968875"/>
                <a:gridCol w="1553375"/>
              </a:tblGrid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Tuple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a)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 b)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(2, c)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8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(1,</a:t>
                      </a:r>
                      <a:r>
                        <a:rPr lang="en-US" sz="1800"/>
                        <a:t> d)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29" name="Google Shape;729;p69"/>
          <p:cNvSpPr txBox="1"/>
          <p:nvPr/>
        </p:nvSpPr>
        <p:spPr>
          <a:xfrm>
            <a:off x="8754127" y="2017933"/>
            <a:ext cx="12175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Multiset Z</a:t>
            </a:r>
            <a:endParaRPr/>
          </a:p>
        </p:txBody>
      </p:sp>
      <p:sp>
        <p:nvSpPr>
          <p:cNvPr id="730" name="Google Shape;730;p69"/>
          <p:cNvSpPr txBox="1"/>
          <p:nvPr/>
        </p:nvSpPr>
        <p:spPr>
          <a:xfrm>
            <a:off x="3777553" y="2810068"/>
            <a:ext cx="628377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1" name="Google Shape;731;p69"/>
          <p:cNvSpPr txBox="1"/>
          <p:nvPr/>
        </p:nvSpPr>
        <p:spPr>
          <a:xfrm>
            <a:off x="7760793" y="3056289"/>
            <a:ext cx="674865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2" name="Google Shape;732;p69"/>
          <p:cNvSpPr/>
          <p:nvPr/>
        </p:nvSpPr>
        <p:spPr>
          <a:xfrm>
            <a:off x="4374407" y="5297258"/>
            <a:ext cx="3443186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33" name="Google Shape;733;p69"/>
          <p:cNvSpPr txBox="1"/>
          <p:nvPr/>
        </p:nvSpPr>
        <p:spPr>
          <a:xfrm>
            <a:off x="8821033" y="4982420"/>
            <a:ext cx="230134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sets,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union</a:t>
            </a:r>
            <a:endParaRPr/>
          </a:p>
        </p:txBody>
      </p:sp>
      <p:sp>
        <p:nvSpPr>
          <p:cNvPr id="734" name="Google Shape;734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Generalizing Set Operations to Multiset Operations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Operations on Multisets</a:t>
            </a:r>
            <a:endParaRPr/>
          </a:p>
        </p:txBody>
      </p:sp>
      <p:sp>
        <p:nvSpPr>
          <p:cNvPr id="740" name="Google Shape;740;p70"/>
          <p:cNvSpPr txBox="1"/>
          <p:nvPr>
            <p:ph idx="1" type="body"/>
          </p:nvPr>
        </p:nvSpPr>
        <p:spPr>
          <a:xfrm>
            <a:off x="838200" y="1981200"/>
            <a:ext cx="10515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All RA operations need to be defined carefully on bags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baseline="-25000" lang="en-US" sz="2800"/>
              <a:t>C</a:t>
            </a:r>
            <a:r>
              <a:rPr lang="en-US" sz="2800"/>
              <a:t>(R): preserve the number of occurrences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aseline="-25000" lang="en-US" sz="2800"/>
              <a:t>A</a:t>
            </a:r>
            <a:r>
              <a:rPr lang="en-US" sz="2800"/>
              <a:t>(R): no duplicate elimination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Cross-product, join: no duplicate elimination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  <p:sp>
        <p:nvSpPr>
          <p:cNvPr id="741" name="Google Shape;741;p70"/>
          <p:cNvSpPr/>
          <p:nvPr/>
        </p:nvSpPr>
        <p:spPr>
          <a:xfrm>
            <a:off x="2683668" y="5432405"/>
            <a:ext cx="6824663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important- relational engines work on multisets, not sets!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 has Limitations !</a:t>
            </a:r>
            <a:endParaRPr/>
          </a:p>
        </p:txBody>
      </p:sp>
      <p:sp>
        <p:nvSpPr>
          <p:cNvPr id="747" name="Google Shape;747;p71"/>
          <p:cNvSpPr txBox="1"/>
          <p:nvPr>
            <p:ph idx="1" type="body"/>
          </p:nvPr>
        </p:nvSpPr>
        <p:spPr>
          <a:xfrm>
            <a:off x="838200" y="1981200"/>
            <a:ext cx="10515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Cannot compute “transitive closure”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Find all direct and indirect relatives of Fred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Cannot express in RA !!!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Need to write C program, use a graph engine, or modern SQL…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graphicFrame>
        <p:nvGraphicFramePr>
          <p:cNvPr id="748" name="Google Shape;748;p71"/>
          <p:cNvGraphicFramePr/>
          <p:nvPr/>
        </p:nvGraphicFramePr>
        <p:xfrm>
          <a:off x="3581400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{7D4B6E8F-847B-4F54-A885-2E2DC1C77059}</a:tableStyleId>
              </a:tblPr>
              <a:tblGrid>
                <a:gridCol w="1625600"/>
                <a:gridCol w="1625600"/>
                <a:gridCol w="1625600"/>
              </a:tblGrid>
              <a:tr h="27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Name1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Relationship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Fred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Mary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Joe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Cousin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Mary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Bill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Spouse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Nancy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Lou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Sister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DIVISION  ÷ </a:t>
            </a:r>
            <a:endParaRPr/>
          </a:p>
        </p:txBody>
      </p:sp>
      <p:sp>
        <p:nvSpPr>
          <p:cNvPr id="754" name="Google Shape;754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r ÷ s is used when we wish to express queries with “all”: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 persons have a loyal customer's card at ALL the clothing boutiques in town X?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 persons have a bank account at ALL the banks in the country?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 students are registered on ALL the courses given by Soini?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 students are registered on ALL the courses that are taught in period 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 boys are registered on those courses that are taken by ALL the girls?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 girls are registered on ALL the courses taken by student nr. 40101? 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 ÷ S</a:t>
            </a:r>
            <a:endParaRPr/>
          </a:p>
        </p:txBody>
      </p:sp>
      <p:sp>
        <p:nvSpPr>
          <p:cNvPr id="761" name="Google Shape;761;p73"/>
          <p:cNvSpPr txBox="1"/>
          <p:nvPr>
            <p:ph idx="1" type="body"/>
          </p:nvPr>
        </p:nvSpPr>
        <p:spPr>
          <a:xfrm>
            <a:off x="838200" y="1825625"/>
            <a:ext cx="10515600" cy="184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Given two relations R(a, b) and S(b):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/>
              <a:t>R</a:t>
            </a:r>
            <a:r>
              <a:rPr lang="en-US"/>
              <a:t> contains attributes a and b.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/>
              <a:t>S</a:t>
            </a:r>
            <a:r>
              <a:rPr lang="en-US"/>
              <a:t> contains attribute b.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/>
              <a:t>The result of </a:t>
            </a:r>
            <a:r>
              <a:rPr b="1" lang="en-US"/>
              <a:t>R ÷ S</a:t>
            </a:r>
            <a:r>
              <a:rPr lang="en-US"/>
              <a:t> gives a new relation with attribute a, containing tuples from R where the corresponding B values match all values in 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762" name="Google Shape;762;p73"/>
          <p:cNvGraphicFramePr/>
          <p:nvPr/>
        </p:nvGraphicFramePr>
        <p:xfrm>
          <a:off x="1816847" y="38059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1083725"/>
                <a:gridCol w="108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 (a, b)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 (b)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a1, b1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a1, b2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a2, b1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a2, b3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a3, b3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a3, b2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763" name="Google Shape;763;p73"/>
          <p:cNvGraphicFramePr/>
          <p:nvPr/>
        </p:nvGraphicFramePr>
        <p:xfrm>
          <a:off x="6096000" y="39229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{0A623E7B-8588-49CF-8909-64FA7D012F00}</a:tableStyleId>
              </a:tblPr>
              <a:tblGrid>
                <a:gridCol w="1083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 ÷ S</a:t>
                      </a:r>
                      <a:r>
                        <a:rPr lang="en-US" sz="1800"/>
                        <a:t>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a1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70" name="Google Shape;770;p74"/>
          <p:cNvSpPr txBox="1"/>
          <p:nvPr>
            <p:ph idx="1" type="body"/>
          </p:nvPr>
        </p:nvSpPr>
        <p:spPr>
          <a:xfrm>
            <a:off x="293914" y="1253331"/>
            <a:ext cx="739815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Which  Computer Sciences students take ALL the courses that 40 taking?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771" name="Google Shape;771;p74"/>
          <p:cNvGraphicFramePr/>
          <p:nvPr/>
        </p:nvGraphicFramePr>
        <p:xfrm>
          <a:off x="10629925" y="49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38475"/>
                <a:gridCol w="904050"/>
              </a:tblGrid>
              <a:tr h="3426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Enrolled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CS203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72" name="Google Shape;772;p74"/>
          <p:cNvGraphicFramePr/>
          <p:nvPr/>
        </p:nvGraphicFramePr>
        <p:xfrm>
          <a:off x="8136219" y="1185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59725"/>
                <a:gridCol w="740675"/>
                <a:gridCol w="694950"/>
              </a:tblGrid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Student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Major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73" name="Google Shape;773;p74"/>
          <p:cNvSpPr txBox="1"/>
          <p:nvPr/>
        </p:nvSpPr>
        <p:spPr>
          <a:xfrm>
            <a:off x="1058200" y="2638311"/>
            <a:ext cx="6952609" cy="2993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499" l="-545" r="-1820" t="-208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774" name="Google Shape;774;p74"/>
          <p:cNvGraphicFramePr/>
          <p:nvPr/>
        </p:nvGraphicFramePr>
        <p:xfrm>
          <a:off x="4752330" y="34006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904050"/>
              </a:tblGrid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75" name="Google Shape;775;p74"/>
          <p:cNvGraphicFramePr/>
          <p:nvPr/>
        </p:nvGraphicFramePr>
        <p:xfrm>
          <a:off x="870807" y="1571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58300"/>
                <a:gridCol w="811175"/>
                <a:gridCol w="811600"/>
                <a:gridCol w="813675"/>
              </a:tblGrid>
              <a:tr h="36575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Major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CS203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76" name="Google Shape;776;p74"/>
          <p:cNvGraphicFramePr/>
          <p:nvPr/>
        </p:nvGraphicFramePr>
        <p:xfrm>
          <a:off x="7190130" y="30218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609675"/>
                <a:gridCol w="749800"/>
                <a:gridCol w="786375"/>
              </a:tblGrid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Division Result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Major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77" name="Google Shape;777;p74"/>
          <p:cNvSpPr txBox="1"/>
          <p:nvPr/>
        </p:nvSpPr>
        <p:spPr>
          <a:xfrm>
            <a:off x="5944418" y="3735711"/>
            <a:ext cx="46519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778" name="Google Shape;778;p74"/>
          <p:cNvSpPr txBox="1"/>
          <p:nvPr/>
        </p:nvSpPr>
        <p:spPr>
          <a:xfrm>
            <a:off x="4043146" y="3657886"/>
            <a:ext cx="784189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779" name="Google Shape;779;p74"/>
          <p:cNvGraphicFramePr/>
          <p:nvPr/>
        </p:nvGraphicFramePr>
        <p:xfrm>
          <a:off x="9875283" y="5036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1458475"/>
              </a:tblGrid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Query Result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86" name="Google Shape;786;p75"/>
          <p:cNvSpPr txBox="1"/>
          <p:nvPr>
            <p:ph idx="1" type="body"/>
          </p:nvPr>
        </p:nvSpPr>
        <p:spPr>
          <a:xfrm>
            <a:off x="293913" y="1253331"/>
            <a:ext cx="8994465" cy="1059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Which  Computer Sciences students take </a:t>
            </a:r>
            <a:r>
              <a:rPr b="1" lang="en-US"/>
              <a:t>ALL</a:t>
            </a:r>
            <a:r>
              <a:rPr lang="en-US"/>
              <a:t> the courses that 40 is taking?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787" name="Google Shape;787;p75"/>
          <p:cNvGraphicFramePr/>
          <p:nvPr/>
        </p:nvGraphicFramePr>
        <p:xfrm>
          <a:off x="10629925" y="49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38475"/>
                <a:gridCol w="904050"/>
              </a:tblGrid>
              <a:tr h="3426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Enrolled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CS203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8" name="Google Shape;788;p75"/>
          <p:cNvGraphicFramePr/>
          <p:nvPr/>
        </p:nvGraphicFramePr>
        <p:xfrm>
          <a:off x="8136219" y="1185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59725"/>
                <a:gridCol w="740675"/>
                <a:gridCol w="694950"/>
              </a:tblGrid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Student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Major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89" name="Google Shape;789;p75"/>
          <p:cNvSpPr txBox="1"/>
          <p:nvPr/>
        </p:nvSpPr>
        <p:spPr>
          <a:xfrm>
            <a:off x="1010905" y="2277075"/>
            <a:ext cx="6952609" cy="2993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5995" l="-729" r="-1823" t="-1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90" name="Google Shape;790;p75"/>
          <p:cNvSpPr txBox="1"/>
          <p:nvPr/>
        </p:nvSpPr>
        <p:spPr>
          <a:xfrm>
            <a:off x="967112" y="4182113"/>
            <a:ext cx="6996402" cy="230832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DISTINCT NAME FROM STUDENT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major='cs’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NOT EXISTS (SELECT * FROM ENROLLED E2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WHERE SID=40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CID NOT IN (SELECT CID FROM ENROLLED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 WHERE E.SID=S.SID)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75"/>
          <p:cNvSpPr/>
          <p:nvPr/>
        </p:nvSpPr>
        <p:spPr>
          <a:xfrm>
            <a:off x="1010905" y="3321488"/>
            <a:ext cx="6096000" cy="6463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may not be a course that 40 takes that is not among the courses taken by the CS students</a:t>
            </a:r>
            <a:endParaRPr/>
          </a:p>
        </p:txBody>
      </p:sp>
      <p:sp>
        <p:nvSpPr>
          <p:cNvPr id="792" name="Google Shape;792;p75"/>
          <p:cNvSpPr txBox="1"/>
          <p:nvPr/>
        </p:nvSpPr>
        <p:spPr>
          <a:xfrm>
            <a:off x="1035655" y="2785508"/>
            <a:ext cx="6927859" cy="3190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8461" l="-731" r="-1098" t="-115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99" name="Google Shape;799;p76"/>
          <p:cNvSpPr txBox="1"/>
          <p:nvPr>
            <p:ph idx="1" type="body"/>
          </p:nvPr>
        </p:nvSpPr>
        <p:spPr>
          <a:xfrm>
            <a:off x="293913" y="1253331"/>
            <a:ext cx="8994465" cy="1059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Which  Computer Sciences students take </a:t>
            </a:r>
            <a:r>
              <a:rPr b="1" lang="en-US"/>
              <a:t>ALL</a:t>
            </a:r>
            <a:r>
              <a:rPr lang="en-US"/>
              <a:t> the courses that 40 is taking?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800" name="Google Shape;800;p76"/>
          <p:cNvGraphicFramePr/>
          <p:nvPr/>
        </p:nvGraphicFramePr>
        <p:xfrm>
          <a:off x="10629925" y="49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38475"/>
                <a:gridCol w="904050"/>
              </a:tblGrid>
              <a:tr h="3426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Enrolled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CID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CS203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CS404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CS102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01" name="Google Shape;801;p76"/>
          <p:cNvGraphicFramePr/>
          <p:nvPr/>
        </p:nvGraphicFramePr>
        <p:xfrm>
          <a:off x="8136219" y="1185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{3494A656-D72A-4CFC-835C-86A80ABA5C3E}</a:tableStyleId>
              </a:tblPr>
              <a:tblGrid>
                <a:gridCol w="559725"/>
                <a:gridCol w="740675"/>
                <a:gridCol w="694950"/>
              </a:tblGrid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Student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Major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John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4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Zack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Math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02" name="Google Shape;802;p76"/>
          <p:cNvSpPr txBox="1"/>
          <p:nvPr/>
        </p:nvSpPr>
        <p:spPr>
          <a:xfrm>
            <a:off x="1010905" y="2277075"/>
            <a:ext cx="6952609" cy="2993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5995" l="-729" r="-1823" t="-199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803" name="Google Shape;803;p76"/>
          <p:cNvSpPr txBox="1"/>
          <p:nvPr/>
        </p:nvSpPr>
        <p:spPr>
          <a:xfrm>
            <a:off x="967112" y="4182113"/>
            <a:ext cx="6156878" cy="258532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DISTINCT NAME FROM STUDENT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major=‘cs’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NOT EXISTS (SELECT * FROM ENROLLED E40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WHERE SID=40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NOT EXISTS ( SELECT * FROM ENROLLED 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 WHERE E.SID=S.SID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    AND E40.CID=E.CID)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76"/>
          <p:cNvSpPr/>
          <p:nvPr/>
        </p:nvSpPr>
        <p:spPr>
          <a:xfrm>
            <a:off x="1010905" y="3321488"/>
            <a:ext cx="6096000" cy="64633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 times not exists: (“There may not be  a course that 40 takes that is not taken by the current CS student”)</a:t>
            </a:r>
            <a:endParaRPr/>
          </a:p>
        </p:txBody>
      </p:sp>
      <p:sp>
        <p:nvSpPr>
          <p:cNvPr id="805" name="Google Shape;805;p76"/>
          <p:cNvSpPr txBox="1"/>
          <p:nvPr/>
        </p:nvSpPr>
        <p:spPr>
          <a:xfrm>
            <a:off x="1035655" y="2785508"/>
            <a:ext cx="6927859" cy="3190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8461" l="-731" r="-1098" t="-115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</a:t>
            </a:r>
            <a:endParaRPr/>
          </a:p>
        </p:txBody>
      </p:sp>
      <p:sp>
        <p:nvSpPr>
          <p:cNvPr id="811" name="Google Shape;811;p7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table student (SID int primary key,Name varchar(10),Major varchar(4));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table enrolled (SID int,cid varchar(5),primary key (sid,cid));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insert into student values (40,'alex','cs'), (41, 'john', 'cs'),               (42, 'mat', 'cs'), (43, 'zack', 'math');                    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insert into Enrolled values (40,'cs101'),(40,  'cs102'),(41, 'cs101'),(41,  'cs404'),(41, 'cs405'), (42,'cs101'),(42,'cs102'),(42,'cs203'),(43,'cs101'),(43,'cs102');							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