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Lst>
  <p:sldSz cy="6858000" cx="12192000"/>
  <p:notesSz cx="6858000" cy="9144000"/>
  <p:embeddedFontLst>
    <p:embeddedFont>
      <p:font typeface="Book Antiqua"/>
      <p:regular r:id="rId116"/>
      <p:bold r:id="rId117"/>
      <p:italic r:id="rId118"/>
      <p:boldItalic r:id="rId1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9526B5B-6CDD-4122-98FE-1D09106A2390}">
  <a:tblStyle styleId="{D9526B5B-6CDD-4122-98FE-1D09106A2390}" styleName="Table_0">
    <a:wholeTbl>
      <a:tcTxStyle b="off" i="off">
        <a:font>
          <a:latin typeface="Calibri"/>
          <a:ea typeface="Calibri"/>
          <a:cs typeface="Calibri"/>
        </a:font>
        <a:schemeClr val="dk1"/>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tcBdr>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tcBdr>
      </a:tcStyle>
    </a:band1H>
    <a:band2H>
      <a:tcTxStyle/>
    </a:band2H>
    <a:band1V>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cBdr>
      </a:tcStyle>
    </a:band1V>
    <a:band2V>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cBdr>
      </a:tcStyle>
    </a:band2V>
    <a:lastCol>
      <a:tcTxStyle b="on" i="off"/>
    </a:lastCol>
    <a:firstCol>
      <a:tcTxStyle b="on" i="off"/>
    </a:firstCol>
    <a:lastRow>
      <a:tcTxStyle b="on" i="off"/>
      <a:tcStyle>
        <a:tcBdr>
          <a:top>
            <a:ln cap="flat" cmpd="sng" w="50800">
              <a:solidFill>
                <a:schemeClr val="accent1"/>
              </a:solidFill>
              <a:prstDash val="solid"/>
              <a:round/>
              <a:headEnd len="sm" w="sm" type="none"/>
              <a:tailEnd len="sm" w="sm" type="none"/>
            </a:ln>
          </a:top>
        </a:tcBdr>
      </a:tcStyle>
    </a:lastRow>
    <a:seCell>
      <a:tcTxStyle/>
    </a:seCell>
    <a:swCell>
      <a:tcTxStyle/>
    </a:swCell>
    <a:firstRow>
      <a:tcTxStyle b="on" i="off">
        <a:font>
          <a:latin typeface="Calibri"/>
          <a:ea typeface="Calibri"/>
          <a:cs typeface="Calibri"/>
        </a:font>
        <a:schemeClr val="lt1"/>
      </a:tcTxStyle>
      <a:tcStyle>
        <a:fill>
          <a:solidFill>
            <a:schemeClr val="accent1"/>
          </a:solidFill>
        </a:fill>
      </a:tcStyle>
    </a:firstRow>
    <a:neCell>
      <a:tcTxStyle/>
    </a:neCell>
    <a:nwCell>
      <a:tcTxStyle/>
    </a:nwCell>
  </a:tblStyle>
  <a:tblStyle styleId="{EDECB5FD-1C33-4008-BE34-F1882D0C240B}" styleName="Table_1">
    <a:wholeTbl>
      <a:tcTxStyle b="off" i="off">
        <a:font>
          <a:latin typeface="Calibri"/>
          <a:ea typeface="Calibri"/>
          <a:cs typeface="Calibri"/>
        </a:font>
        <a:schemeClr val="dk1"/>
      </a:tcTxStyle>
      <a:tcStyle>
        <a:tcBdr>
          <a:left>
            <a:ln cap="flat" cmpd="sng" w="9525">
              <a:solidFill>
                <a:schemeClr val="accent4"/>
              </a:solidFill>
              <a:prstDash val="solid"/>
              <a:round/>
              <a:headEnd len="sm" w="sm" type="none"/>
              <a:tailEnd len="sm" w="sm" type="none"/>
            </a:ln>
          </a:left>
          <a:right>
            <a:ln cap="flat" cmpd="sng" w="9525">
              <a:solidFill>
                <a:schemeClr val="accent4"/>
              </a:solidFill>
              <a:prstDash val="solid"/>
              <a:round/>
              <a:headEnd len="sm" w="sm" type="none"/>
              <a:tailEnd len="sm" w="sm" type="none"/>
            </a:ln>
          </a:right>
          <a:top>
            <a:ln cap="flat" cmpd="sng" w="9525">
              <a:solidFill>
                <a:schemeClr val="accent4"/>
              </a:solidFill>
              <a:prstDash val="solid"/>
              <a:round/>
              <a:headEnd len="sm" w="sm" type="none"/>
              <a:tailEnd len="sm" w="sm" type="none"/>
            </a:ln>
          </a:top>
          <a:bottom>
            <a:ln cap="flat" cmpd="sng" w="9525">
              <a:solidFill>
                <a:schemeClr val="accent4"/>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tcBdr>
          <a:top>
            <a:ln cap="flat" cmpd="sng" w="9525">
              <a:solidFill>
                <a:schemeClr val="accent4"/>
              </a:solidFill>
              <a:prstDash val="solid"/>
              <a:round/>
              <a:headEnd len="sm" w="sm" type="none"/>
              <a:tailEnd len="sm" w="sm" type="none"/>
            </a:ln>
          </a:top>
          <a:bottom>
            <a:ln cap="flat" cmpd="sng" w="9525">
              <a:solidFill>
                <a:schemeClr val="accent4"/>
              </a:solidFill>
              <a:prstDash val="solid"/>
              <a:round/>
              <a:headEnd len="sm" w="sm" type="none"/>
              <a:tailEnd len="sm" w="sm" type="none"/>
            </a:ln>
          </a:bottom>
        </a:tcBdr>
      </a:tcStyle>
    </a:band1H>
    <a:band2H>
      <a:tcTxStyle/>
    </a:band2H>
    <a:band1V>
      <a:tcTxStyle/>
      <a:tcStyle>
        <a:tcBdr>
          <a:left>
            <a:ln cap="flat" cmpd="sng" w="9525">
              <a:solidFill>
                <a:schemeClr val="accent4"/>
              </a:solidFill>
              <a:prstDash val="solid"/>
              <a:round/>
              <a:headEnd len="sm" w="sm" type="none"/>
              <a:tailEnd len="sm" w="sm" type="none"/>
            </a:ln>
          </a:left>
          <a:right>
            <a:ln cap="flat" cmpd="sng" w="9525">
              <a:solidFill>
                <a:schemeClr val="accent4"/>
              </a:solidFill>
              <a:prstDash val="solid"/>
              <a:round/>
              <a:headEnd len="sm" w="sm" type="none"/>
              <a:tailEnd len="sm" w="sm" type="none"/>
            </a:ln>
          </a:right>
        </a:tcBdr>
      </a:tcStyle>
    </a:band1V>
    <a:band2V>
      <a:tcTxStyle/>
      <a:tcStyle>
        <a:tcBdr>
          <a:left>
            <a:ln cap="flat" cmpd="sng" w="9525">
              <a:solidFill>
                <a:schemeClr val="accent4"/>
              </a:solidFill>
              <a:prstDash val="solid"/>
              <a:round/>
              <a:headEnd len="sm" w="sm" type="none"/>
              <a:tailEnd len="sm" w="sm" type="none"/>
            </a:ln>
          </a:left>
          <a:right>
            <a:ln cap="flat" cmpd="sng" w="9525">
              <a:solidFill>
                <a:schemeClr val="accent4"/>
              </a:solidFill>
              <a:prstDash val="solid"/>
              <a:round/>
              <a:headEnd len="sm" w="sm" type="none"/>
              <a:tailEnd len="sm" w="sm" type="none"/>
            </a:ln>
          </a:right>
        </a:tcBdr>
      </a:tcStyle>
    </a:band2V>
    <a:lastCol>
      <a:tcTxStyle b="on" i="off"/>
    </a:lastCol>
    <a:firstCol>
      <a:tcTxStyle b="on" i="off"/>
    </a:firstCol>
    <a:lastRow>
      <a:tcTxStyle b="on" i="off"/>
      <a:tcStyle>
        <a:tcBdr>
          <a:top>
            <a:ln cap="flat" cmpd="sng" w="50800">
              <a:solidFill>
                <a:schemeClr val="accent4"/>
              </a:solidFill>
              <a:prstDash val="solid"/>
              <a:round/>
              <a:headEnd len="sm" w="sm" type="none"/>
              <a:tailEnd len="sm" w="sm" type="none"/>
            </a:ln>
          </a:top>
        </a:tcBdr>
      </a:tcStyle>
    </a:lastRow>
    <a:seCell>
      <a:tcTxStyle/>
    </a:seCell>
    <a:swCell>
      <a:tcTxStyle/>
    </a:swCell>
    <a:firstRow>
      <a:tcTxStyle b="on" i="off">
        <a:font>
          <a:latin typeface="Calibri"/>
          <a:ea typeface="Calibri"/>
          <a:cs typeface="Calibri"/>
        </a:font>
        <a:schemeClr val="lt1"/>
      </a:tcTxStyle>
      <a:tcStyle>
        <a:fill>
          <a:solidFill>
            <a:schemeClr val="accent4"/>
          </a:solidFill>
        </a:fill>
      </a:tcStyle>
    </a:firstRow>
    <a:neCell>
      <a:tcTxStyle/>
    </a:neCell>
    <a:nwCell>
      <a:tcTxStyle/>
    </a:nwCell>
  </a:tblStyle>
  <a:tblStyle styleId="{FF1A8D6A-5F5D-4DE5-8CDF-4A8D1DE8ED13}" styleName="Table_2">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font" Target="fonts/BookAntiqua-italic.fntdata"/><Relationship Id="rId117" Type="http://schemas.openxmlformats.org/officeDocument/2006/relationships/font" Target="fonts/BookAntiqua-bold.fntdata"/><Relationship Id="rId116" Type="http://schemas.openxmlformats.org/officeDocument/2006/relationships/font" Target="fonts/BookAntiqua-regular.fntdata"/><Relationship Id="rId115" Type="http://schemas.openxmlformats.org/officeDocument/2006/relationships/slide" Target="slides/slide109.xml"/><Relationship Id="rId119" Type="http://schemas.openxmlformats.org/officeDocument/2006/relationships/font" Target="fonts/BookAntiqua-boldItalic.fntdata"/><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 name="Google Shape;39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 name="Google Shape;42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3" name="Google Shape;43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23:notes"/>
          <p:cNvSpPr/>
          <p:nvPr/>
        </p:nvSpPr>
        <p:spPr>
          <a:xfrm>
            <a:off x="3884613" y="-1588"/>
            <a:ext cx="2973387" cy="457201"/>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3" name="Google Shape;443;p23:notes"/>
          <p:cNvSpPr/>
          <p:nvPr/>
        </p:nvSpPr>
        <p:spPr>
          <a:xfrm>
            <a:off x="3884613" y="8685213"/>
            <a:ext cx="2973387" cy="458787"/>
          </a:xfrm>
          <a:prstGeom prst="rect">
            <a:avLst/>
          </a:prstGeom>
          <a:noFill/>
          <a:ln>
            <a:noFill/>
          </a:ln>
        </p:spPr>
        <p:txBody>
          <a:bodyPr anchorCtr="0" anchor="b" bIns="0" lIns="19050" spcFirstLastPara="1" rIns="19050" wrap="square" tIns="0">
            <a:noAutofit/>
          </a:bodyPr>
          <a:lstStyle/>
          <a:p>
            <a:pPr indent="0" lvl="0" marL="0" marR="0" rtl="0" algn="r">
              <a:spcBef>
                <a:spcPts val="0"/>
              </a:spcBef>
              <a:spcAft>
                <a:spcPts val="0"/>
              </a:spcAft>
              <a:buNone/>
            </a:pPr>
            <a:r>
              <a:rPr i="1" lang="en-US" sz="1000">
                <a:solidFill>
                  <a:srgbClr val="000000"/>
                </a:solidFill>
                <a:latin typeface="Calibri"/>
                <a:ea typeface="Calibri"/>
                <a:cs typeface="Calibri"/>
                <a:sym typeface="Calibri"/>
              </a:rPr>
              <a:t>7</a:t>
            </a:r>
            <a:endParaRPr/>
          </a:p>
        </p:txBody>
      </p:sp>
      <p:sp>
        <p:nvSpPr>
          <p:cNvPr id="444" name="Google Shape;444;p23:notes"/>
          <p:cNvSpPr/>
          <p:nvPr/>
        </p:nvSpPr>
        <p:spPr>
          <a:xfrm>
            <a:off x="-1588" y="8685213"/>
            <a:ext cx="2971801" cy="458787"/>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5" name="Google Shape;445;p23:notes"/>
          <p:cNvSpPr/>
          <p:nvPr/>
        </p:nvSpPr>
        <p:spPr>
          <a:xfrm>
            <a:off x="-1588" y="-1588"/>
            <a:ext cx="2971801" cy="457201"/>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6" name="Google Shape;446;p23: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7" name="Google Shape;44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24:notes"/>
          <p:cNvSpPr/>
          <p:nvPr/>
        </p:nvSpPr>
        <p:spPr>
          <a:xfrm>
            <a:off x="3884613" y="-1588"/>
            <a:ext cx="2973387" cy="457201"/>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0" name="Google Shape;460;p24:notes"/>
          <p:cNvSpPr/>
          <p:nvPr/>
        </p:nvSpPr>
        <p:spPr>
          <a:xfrm>
            <a:off x="3884613" y="8685213"/>
            <a:ext cx="2973387" cy="458787"/>
          </a:xfrm>
          <a:prstGeom prst="rect">
            <a:avLst/>
          </a:prstGeom>
          <a:noFill/>
          <a:ln>
            <a:noFill/>
          </a:ln>
        </p:spPr>
        <p:txBody>
          <a:bodyPr anchorCtr="0" anchor="b" bIns="0" lIns="19050" spcFirstLastPara="1" rIns="19050" wrap="square" tIns="0">
            <a:noAutofit/>
          </a:bodyPr>
          <a:lstStyle/>
          <a:p>
            <a:pPr indent="0" lvl="0" marL="0" marR="0" rtl="0" algn="r">
              <a:spcBef>
                <a:spcPts val="0"/>
              </a:spcBef>
              <a:spcAft>
                <a:spcPts val="0"/>
              </a:spcAft>
              <a:buNone/>
            </a:pPr>
            <a:r>
              <a:rPr i="1" lang="en-US" sz="1000">
                <a:solidFill>
                  <a:srgbClr val="000000"/>
                </a:solidFill>
                <a:latin typeface="Calibri"/>
                <a:ea typeface="Calibri"/>
                <a:cs typeface="Calibri"/>
                <a:sym typeface="Calibri"/>
              </a:rPr>
              <a:t>7</a:t>
            </a:r>
            <a:endParaRPr/>
          </a:p>
        </p:txBody>
      </p:sp>
      <p:sp>
        <p:nvSpPr>
          <p:cNvPr id="461" name="Google Shape;461;p24:notes"/>
          <p:cNvSpPr/>
          <p:nvPr/>
        </p:nvSpPr>
        <p:spPr>
          <a:xfrm>
            <a:off x="-1588" y="8685213"/>
            <a:ext cx="2971801" cy="458787"/>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2" name="Google Shape;462;p24:notes"/>
          <p:cNvSpPr/>
          <p:nvPr/>
        </p:nvSpPr>
        <p:spPr>
          <a:xfrm>
            <a:off x="-1588" y="-1588"/>
            <a:ext cx="2971801" cy="457201"/>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3" name="Google Shape;463;p24: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4" name="Google Shape;464;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5" name="Google Shape;47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 name="Google Shape;48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8" name="Google Shape;49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5" name="Google Shape;515;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6" name="Google Shape;516;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8" name="Google Shape;538;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3" name="Google Shape;55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4" name="Google Shape;564;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3" name="Google Shape;57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2" name="Google Shape;58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 name="Google Shape;591;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2" name="Google Shape;592;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2" name="Google Shape;602;p35:notes"/>
          <p:cNvSpPr txBox="1"/>
          <p:nvPr>
            <p:ph idx="1" type="body"/>
          </p:nvPr>
        </p:nvSpPr>
        <p:spPr>
          <a:xfrm>
            <a:off x="912813" y="4343400"/>
            <a:ext cx="5032375"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1" name="Google Shape;611;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4" name="Google Shape;624;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3" name="Google Shape;643;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7" name="Google Shape;657;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8" name="Google Shape;658;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7" name="Google Shape;677;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8" name="Google Shape;678;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9" name="Google Shape;719;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0" name="Google Shape;720;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5" name="Google Shape;765;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6" name="Google Shape;766;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8" name="Google Shape;808;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6" name="Google Shape;816;p44:notes"/>
          <p:cNvSpPr txBox="1"/>
          <p:nvPr>
            <p:ph idx="1" type="body"/>
          </p:nvPr>
        </p:nvSpPr>
        <p:spPr>
          <a:xfrm>
            <a:off x="912813" y="4343400"/>
            <a:ext cx="5032375"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7" name="Google Shape;827;p45:notes"/>
          <p:cNvSpPr txBox="1"/>
          <p:nvPr>
            <p:ph idx="1" type="body"/>
          </p:nvPr>
        </p:nvSpPr>
        <p:spPr>
          <a:xfrm>
            <a:off x="912813" y="4343400"/>
            <a:ext cx="5032375"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3" name="Google Shape;883;p46:notes"/>
          <p:cNvSpPr txBox="1"/>
          <p:nvPr>
            <p:ph idx="1" type="body"/>
          </p:nvPr>
        </p:nvSpPr>
        <p:spPr>
          <a:xfrm>
            <a:off x="912813" y="4343400"/>
            <a:ext cx="5032375"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9" name="Google Shape;939;p47:notes"/>
          <p:cNvSpPr txBox="1"/>
          <p:nvPr>
            <p:ph idx="1" type="body"/>
          </p:nvPr>
        </p:nvSpPr>
        <p:spPr>
          <a:xfrm>
            <a:off x="912813" y="4343400"/>
            <a:ext cx="5032375"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9" name="Google Shape;949;p48:notes"/>
          <p:cNvSpPr txBox="1"/>
          <p:nvPr>
            <p:ph idx="1" type="body"/>
          </p:nvPr>
        </p:nvSpPr>
        <p:spPr>
          <a:xfrm>
            <a:off x="912813" y="4343400"/>
            <a:ext cx="5032375"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49:notes"/>
          <p:cNvSpPr txBox="1"/>
          <p:nvPr>
            <p:ph idx="1" type="body"/>
          </p:nvPr>
        </p:nvSpPr>
        <p:spPr>
          <a:xfrm>
            <a:off x="914400" y="4343400"/>
            <a:ext cx="5029200" cy="4114800"/>
          </a:xfrm>
          <a:prstGeom prst="rect">
            <a:avLst/>
          </a:prstGeom>
          <a:noFill/>
          <a:ln>
            <a:noFill/>
          </a:ln>
        </p:spPr>
        <p:txBody>
          <a:bodyPr anchorCtr="0" anchor="t" bIns="46050" lIns="92125" spcFirstLastPara="1" rIns="92125" wrap="square" tIns="46050">
            <a:noAutofit/>
          </a:bodyPr>
          <a:lstStyle/>
          <a:p>
            <a:pPr indent="0" lvl="0" marL="0" rtl="0" algn="l">
              <a:spcBef>
                <a:spcPts val="0"/>
              </a:spcBef>
              <a:spcAft>
                <a:spcPts val="0"/>
              </a:spcAft>
              <a:buNone/>
            </a:pPr>
            <a:r>
              <a:t/>
            </a:r>
            <a:endParaRPr/>
          </a:p>
        </p:txBody>
      </p:sp>
      <p:sp>
        <p:nvSpPr>
          <p:cNvPr id="960" name="Google Shape;960;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p50:notes"/>
          <p:cNvSpPr txBox="1"/>
          <p:nvPr>
            <p:ph idx="1" type="body"/>
          </p:nvPr>
        </p:nvSpPr>
        <p:spPr>
          <a:xfrm>
            <a:off x="914400" y="4343400"/>
            <a:ext cx="5029200" cy="4114800"/>
          </a:xfrm>
          <a:prstGeom prst="rect">
            <a:avLst/>
          </a:prstGeom>
          <a:noFill/>
          <a:ln>
            <a:noFill/>
          </a:ln>
        </p:spPr>
        <p:txBody>
          <a:bodyPr anchorCtr="0" anchor="t" bIns="46050" lIns="92125" spcFirstLastPara="1" rIns="92125" wrap="square" tIns="46050">
            <a:noAutofit/>
          </a:bodyPr>
          <a:lstStyle/>
          <a:p>
            <a:pPr indent="0" lvl="0" marL="0" rtl="0" algn="l">
              <a:spcBef>
                <a:spcPts val="0"/>
              </a:spcBef>
              <a:spcAft>
                <a:spcPts val="0"/>
              </a:spcAft>
              <a:buNone/>
            </a:pPr>
            <a:r>
              <a:t/>
            </a:r>
            <a:endParaRPr/>
          </a:p>
        </p:txBody>
      </p:sp>
      <p:sp>
        <p:nvSpPr>
          <p:cNvPr id="973" name="Google Shape;973;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p51:notes"/>
          <p:cNvSpPr txBox="1"/>
          <p:nvPr>
            <p:ph idx="1" type="body"/>
          </p:nvPr>
        </p:nvSpPr>
        <p:spPr>
          <a:xfrm>
            <a:off x="914400" y="4343400"/>
            <a:ext cx="5029200" cy="4114800"/>
          </a:xfrm>
          <a:prstGeom prst="rect">
            <a:avLst/>
          </a:prstGeom>
          <a:noFill/>
          <a:ln>
            <a:noFill/>
          </a:ln>
        </p:spPr>
        <p:txBody>
          <a:bodyPr anchorCtr="0" anchor="t" bIns="46050" lIns="92125" spcFirstLastPara="1" rIns="92125" wrap="square" tIns="46050">
            <a:noAutofit/>
          </a:bodyPr>
          <a:lstStyle/>
          <a:p>
            <a:pPr indent="0" lvl="0" marL="0" rtl="0" algn="l">
              <a:spcBef>
                <a:spcPts val="0"/>
              </a:spcBef>
              <a:spcAft>
                <a:spcPts val="0"/>
              </a:spcAft>
              <a:buNone/>
            </a:pPr>
            <a:r>
              <a:t/>
            </a:r>
            <a:endParaRPr/>
          </a:p>
        </p:txBody>
      </p:sp>
      <p:sp>
        <p:nvSpPr>
          <p:cNvPr id="985" name="Google Shape;985;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p52:notes"/>
          <p:cNvSpPr txBox="1"/>
          <p:nvPr>
            <p:ph idx="1" type="body"/>
          </p:nvPr>
        </p:nvSpPr>
        <p:spPr>
          <a:xfrm>
            <a:off x="914400" y="4343400"/>
            <a:ext cx="5029200" cy="4114800"/>
          </a:xfrm>
          <a:prstGeom prst="rect">
            <a:avLst/>
          </a:prstGeom>
          <a:noFill/>
          <a:ln>
            <a:noFill/>
          </a:ln>
        </p:spPr>
        <p:txBody>
          <a:bodyPr anchorCtr="0" anchor="t" bIns="46050" lIns="92125" spcFirstLastPara="1" rIns="92125" wrap="square" tIns="46050">
            <a:noAutofit/>
          </a:bodyPr>
          <a:lstStyle/>
          <a:p>
            <a:pPr indent="0" lvl="0" marL="0" rtl="0" algn="l">
              <a:spcBef>
                <a:spcPts val="0"/>
              </a:spcBef>
              <a:spcAft>
                <a:spcPts val="0"/>
              </a:spcAft>
              <a:buNone/>
            </a:pPr>
            <a:r>
              <a:t/>
            </a:r>
            <a:endParaRPr/>
          </a:p>
        </p:txBody>
      </p:sp>
      <p:sp>
        <p:nvSpPr>
          <p:cNvPr id="997" name="Google Shape;997;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p53:notes"/>
          <p:cNvSpPr txBox="1"/>
          <p:nvPr>
            <p:ph idx="1" type="body"/>
          </p:nvPr>
        </p:nvSpPr>
        <p:spPr>
          <a:xfrm>
            <a:off x="914400" y="4343400"/>
            <a:ext cx="5029200" cy="4114800"/>
          </a:xfrm>
          <a:prstGeom prst="rect">
            <a:avLst/>
          </a:prstGeom>
          <a:noFill/>
          <a:ln>
            <a:noFill/>
          </a:ln>
        </p:spPr>
        <p:txBody>
          <a:bodyPr anchorCtr="0" anchor="t" bIns="46050" lIns="92125" spcFirstLastPara="1" rIns="92125" wrap="square" tIns="46050">
            <a:noAutofit/>
          </a:bodyPr>
          <a:lstStyle/>
          <a:p>
            <a:pPr indent="0" lvl="0" marL="0" rtl="0" algn="l">
              <a:spcBef>
                <a:spcPts val="0"/>
              </a:spcBef>
              <a:spcAft>
                <a:spcPts val="0"/>
              </a:spcAft>
              <a:buNone/>
            </a:pPr>
            <a:r>
              <a:t/>
            </a:r>
            <a:endParaRPr/>
          </a:p>
        </p:txBody>
      </p:sp>
      <p:sp>
        <p:nvSpPr>
          <p:cNvPr id="1009" name="Google Shape;1009;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p54:notes"/>
          <p:cNvSpPr/>
          <p:nvPr/>
        </p:nvSpPr>
        <p:spPr>
          <a:xfrm>
            <a:off x="3884613" y="-1588"/>
            <a:ext cx="2973387" cy="457201"/>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1" name="Google Shape;1021;p54:notes"/>
          <p:cNvSpPr/>
          <p:nvPr/>
        </p:nvSpPr>
        <p:spPr>
          <a:xfrm>
            <a:off x="3884613" y="8685213"/>
            <a:ext cx="2973387" cy="458787"/>
          </a:xfrm>
          <a:prstGeom prst="rect">
            <a:avLst/>
          </a:prstGeom>
          <a:noFill/>
          <a:ln>
            <a:noFill/>
          </a:ln>
        </p:spPr>
        <p:txBody>
          <a:bodyPr anchorCtr="0" anchor="b" bIns="0" lIns="19050" spcFirstLastPara="1" rIns="19050" wrap="square" tIns="0">
            <a:noAutofit/>
          </a:bodyPr>
          <a:lstStyle/>
          <a:p>
            <a:pPr indent="0" lvl="0" marL="0" marR="0" rtl="0" algn="r">
              <a:spcBef>
                <a:spcPts val="0"/>
              </a:spcBef>
              <a:spcAft>
                <a:spcPts val="0"/>
              </a:spcAft>
              <a:buNone/>
            </a:pPr>
            <a:r>
              <a:rPr i="1" lang="en-US" sz="1000">
                <a:solidFill>
                  <a:srgbClr val="000000"/>
                </a:solidFill>
                <a:latin typeface="Calibri"/>
                <a:ea typeface="Calibri"/>
                <a:cs typeface="Calibri"/>
                <a:sym typeface="Calibri"/>
              </a:rPr>
              <a:t>11</a:t>
            </a:r>
            <a:endParaRPr/>
          </a:p>
        </p:txBody>
      </p:sp>
      <p:sp>
        <p:nvSpPr>
          <p:cNvPr id="1022" name="Google Shape;1022;p54:notes"/>
          <p:cNvSpPr/>
          <p:nvPr/>
        </p:nvSpPr>
        <p:spPr>
          <a:xfrm>
            <a:off x="-1588" y="8685213"/>
            <a:ext cx="2971801" cy="458787"/>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3" name="Google Shape;1023;p54:notes"/>
          <p:cNvSpPr/>
          <p:nvPr/>
        </p:nvSpPr>
        <p:spPr>
          <a:xfrm>
            <a:off x="-1588" y="-1588"/>
            <a:ext cx="2971801" cy="457201"/>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4" name="Google Shape;1024;p54: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5" name="Google Shape;1025;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6" name="Google Shape;1036;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p56:notes"/>
          <p:cNvSpPr txBox="1"/>
          <p:nvPr>
            <p:ph idx="1" type="body"/>
          </p:nvPr>
        </p:nvSpPr>
        <p:spPr>
          <a:xfrm>
            <a:off x="914400" y="4343400"/>
            <a:ext cx="5029200" cy="4114800"/>
          </a:xfrm>
          <a:prstGeom prst="rect">
            <a:avLst/>
          </a:prstGeom>
          <a:noFill/>
          <a:ln>
            <a:noFill/>
          </a:ln>
        </p:spPr>
        <p:txBody>
          <a:bodyPr anchorCtr="0" anchor="t" bIns="46050" lIns="92125" spcFirstLastPara="1" rIns="92125" wrap="square" tIns="46050">
            <a:noAutofit/>
          </a:bodyPr>
          <a:lstStyle/>
          <a:p>
            <a:pPr indent="0" lvl="0" marL="0" rtl="0" algn="l">
              <a:spcBef>
                <a:spcPts val="0"/>
              </a:spcBef>
              <a:spcAft>
                <a:spcPts val="0"/>
              </a:spcAft>
              <a:buNone/>
            </a:pPr>
            <a:r>
              <a:t/>
            </a:r>
            <a:endParaRPr/>
          </a:p>
        </p:txBody>
      </p:sp>
      <p:sp>
        <p:nvSpPr>
          <p:cNvPr id="1093" name="Google Shape;1093;p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p57:notes"/>
          <p:cNvSpPr txBox="1"/>
          <p:nvPr>
            <p:ph idx="1" type="body"/>
          </p:nvPr>
        </p:nvSpPr>
        <p:spPr>
          <a:xfrm>
            <a:off x="914400" y="4343400"/>
            <a:ext cx="5029200" cy="4114800"/>
          </a:xfrm>
          <a:prstGeom prst="rect">
            <a:avLst/>
          </a:prstGeom>
          <a:noFill/>
          <a:ln>
            <a:noFill/>
          </a:ln>
        </p:spPr>
        <p:txBody>
          <a:bodyPr anchorCtr="0" anchor="t" bIns="46050" lIns="92125" spcFirstLastPara="1" rIns="92125" wrap="square" tIns="46050">
            <a:noAutofit/>
          </a:bodyPr>
          <a:lstStyle/>
          <a:p>
            <a:pPr indent="0" lvl="0" marL="0" rtl="0" algn="l">
              <a:spcBef>
                <a:spcPts val="0"/>
              </a:spcBef>
              <a:spcAft>
                <a:spcPts val="0"/>
              </a:spcAft>
              <a:buNone/>
            </a:pPr>
            <a:r>
              <a:t/>
            </a:r>
            <a:endParaRPr/>
          </a:p>
        </p:txBody>
      </p:sp>
      <p:sp>
        <p:nvSpPr>
          <p:cNvPr id="1104" name="Google Shape;1104;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p5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5" name="Google Shape;1115;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p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4" name="Google Shape;1124;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p6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4" name="Google Shape;1134;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p6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3" name="Google Shape;1143;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p6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3" name="Google Shape;1153;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p6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7" name="Google Shape;1187;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p6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1" name="Google Shape;1221;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p6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6" name="Google Shape;1256;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p6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1" name="Google Shape;1291;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7" name="Shape 1327"/>
        <p:cNvGrpSpPr/>
        <p:nvPr/>
      </p:nvGrpSpPr>
      <p:grpSpPr>
        <a:xfrm>
          <a:off x="0" y="0"/>
          <a:ext cx="0" cy="0"/>
          <a:chOff x="0" y="0"/>
          <a:chExt cx="0" cy="0"/>
        </a:xfrm>
      </p:grpSpPr>
      <p:sp>
        <p:nvSpPr>
          <p:cNvPr id="1328" name="Google Shape;1328;p6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9" name="Google Shape;1329;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5" name="Shape 1365"/>
        <p:cNvGrpSpPr/>
        <p:nvPr/>
      </p:nvGrpSpPr>
      <p:grpSpPr>
        <a:xfrm>
          <a:off x="0" y="0"/>
          <a:ext cx="0" cy="0"/>
          <a:chOff x="0" y="0"/>
          <a:chExt cx="0" cy="0"/>
        </a:xfrm>
      </p:grpSpPr>
      <p:sp>
        <p:nvSpPr>
          <p:cNvPr id="1366" name="Google Shape;1366;p6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7" name="Google Shape;1367;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0" name="Shape 1400"/>
        <p:cNvGrpSpPr/>
        <p:nvPr/>
      </p:nvGrpSpPr>
      <p:grpSpPr>
        <a:xfrm>
          <a:off x="0" y="0"/>
          <a:ext cx="0" cy="0"/>
          <a:chOff x="0" y="0"/>
          <a:chExt cx="0" cy="0"/>
        </a:xfrm>
      </p:grpSpPr>
      <p:sp>
        <p:nvSpPr>
          <p:cNvPr id="1401" name="Google Shape;1401;p6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2" name="Google Shape;1402;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5" name="Shape 1435"/>
        <p:cNvGrpSpPr/>
        <p:nvPr/>
      </p:nvGrpSpPr>
      <p:grpSpPr>
        <a:xfrm>
          <a:off x="0" y="0"/>
          <a:ext cx="0" cy="0"/>
          <a:chOff x="0" y="0"/>
          <a:chExt cx="0" cy="0"/>
        </a:xfrm>
      </p:grpSpPr>
      <p:sp>
        <p:nvSpPr>
          <p:cNvPr id="1436" name="Google Shape;1436;p7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7" name="Google Shape;1437;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0" name="Shape 1470"/>
        <p:cNvGrpSpPr/>
        <p:nvPr/>
      </p:nvGrpSpPr>
      <p:grpSpPr>
        <a:xfrm>
          <a:off x="0" y="0"/>
          <a:ext cx="0" cy="0"/>
          <a:chOff x="0" y="0"/>
          <a:chExt cx="0" cy="0"/>
        </a:xfrm>
      </p:grpSpPr>
      <p:sp>
        <p:nvSpPr>
          <p:cNvPr id="1471" name="Google Shape;1471;p7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2" name="Google Shape;1472;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7" name="Shape 1507"/>
        <p:cNvGrpSpPr/>
        <p:nvPr/>
      </p:nvGrpSpPr>
      <p:grpSpPr>
        <a:xfrm>
          <a:off x="0" y="0"/>
          <a:ext cx="0" cy="0"/>
          <a:chOff x="0" y="0"/>
          <a:chExt cx="0" cy="0"/>
        </a:xfrm>
      </p:grpSpPr>
      <p:sp>
        <p:nvSpPr>
          <p:cNvPr id="1508" name="Google Shape;1508;p7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9" name="Google Shape;1509;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7" name="Shape 1517"/>
        <p:cNvGrpSpPr/>
        <p:nvPr/>
      </p:nvGrpSpPr>
      <p:grpSpPr>
        <a:xfrm>
          <a:off x="0" y="0"/>
          <a:ext cx="0" cy="0"/>
          <a:chOff x="0" y="0"/>
          <a:chExt cx="0" cy="0"/>
        </a:xfrm>
      </p:grpSpPr>
      <p:sp>
        <p:nvSpPr>
          <p:cNvPr id="1518" name="Google Shape;1518;p73:notes"/>
          <p:cNvSpPr/>
          <p:nvPr/>
        </p:nvSpPr>
        <p:spPr>
          <a:xfrm>
            <a:off x="3886200" y="0"/>
            <a:ext cx="2971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19" name="Google Shape;1519;p73:notes"/>
          <p:cNvSpPr/>
          <p:nvPr/>
        </p:nvSpPr>
        <p:spPr>
          <a:xfrm>
            <a:off x="3886200" y="8686800"/>
            <a:ext cx="2971800" cy="457200"/>
          </a:xfrm>
          <a:prstGeom prst="rect">
            <a:avLst/>
          </a:prstGeom>
          <a:noFill/>
          <a:ln>
            <a:noFill/>
          </a:ln>
        </p:spPr>
        <p:txBody>
          <a:bodyPr anchorCtr="0" anchor="b" bIns="0" lIns="19050" spcFirstLastPara="1" rIns="19050" wrap="square" tIns="0">
            <a:noAutofit/>
          </a:bodyPr>
          <a:lstStyle/>
          <a:p>
            <a:pPr indent="0" lvl="0" marL="0" marR="0" rtl="0" algn="r">
              <a:spcBef>
                <a:spcPts val="0"/>
              </a:spcBef>
              <a:spcAft>
                <a:spcPts val="0"/>
              </a:spcAft>
              <a:buNone/>
            </a:pPr>
            <a:r>
              <a:rPr i="1" lang="en-US" sz="1000">
                <a:solidFill>
                  <a:srgbClr val="000000"/>
                </a:solidFill>
                <a:latin typeface="Calibri"/>
                <a:ea typeface="Calibri"/>
                <a:cs typeface="Calibri"/>
                <a:sym typeface="Calibri"/>
              </a:rPr>
              <a:t>4</a:t>
            </a:r>
            <a:endParaRPr/>
          </a:p>
        </p:txBody>
      </p:sp>
      <p:sp>
        <p:nvSpPr>
          <p:cNvPr id="1520" name="Google Shape;1520;p73:notes"/>
          <p:cNvSpPr/>
          <p:nvPr/>
        </p:nvSpPr>
        <p:spPr>
          <a:xfrm>
            <a:off x="0" y="8686800"/>
            <a:ext cx="2971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21" name="Google Shape;1521;p73:notes"/>
          <p:cNvSpPr/>
          <p:nvPr/>
        </p:nvSpPr>
        <p:spPr>
          <a:xfrm>
            <a:off x="0" y="0"/>
            <a:ext cx="2971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22" name="Google Shape;1522;p73: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23" name="Google Shape;1523;p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3" name="Shape 1533"/>
        <p:cNvGrpSpPr/>
        <p:nvPr/>
      </p:nvGrpSpPr>
      <p:grpSpPr>
        <a:xfrm>
          <a:off x="0" y="0"/>
          <a:ext cx="0" cy="0"/>
          <a:chOff x="0" y="0"/>
          <a:chExt cx="0" cy="0"/>
        </a:xfrm>
      </p:grpSpPr>
      <p:sp>
        <p:nvSpPr>
          <p:cNvPr id="1534" name="Google Shape;1534;p7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5" name="Google Shape;1535;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2" name="Shape 1542"/>
        <p:cNvGrpSpPr/>
        <p:nvPr/>
      </p:nvGrpSpPr>
      <p:grpSpPr>
        <a:xfrm>
          <a:off x="0" y="0"/>
          <a:ext cx="0" cy="0"/>
          <a:chOff x="0" y="0"/>
          <a:chExt cx="0" cy="0"/>
        </a:xfrm>
      </p:grpSpPr>
      <p:sp>
        <p:nvSpPr>
          <p:cNvPr id="1543" name="Google Shape;1543;p75:notes"/>
          <p:cNvSpPr/>
          <p:nvPr/>
        </p:nvSpPr>
        <p:spPr>
          <a:xfrm>
            <a:off x="3886200" y="0"/>
            <a:ext cx="2971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44" name="Google Shape;1544;p75:notes"/>
          <p:cNvSpPr/>
          <p:nvPr/>
        </p:nvSpPr>
        <p:spPr>
          <a:xfrm>
            <a:off x="3886200" y="8686800"/>
            <a:ext cx="2971800" cy="457200"/>
          </a:xfrm>
          <a:prstGeom prst="rect">
            <a:avLst/>
          </a:prstGeom>
          <a:noFill/>
          <a:ln>
            <a:noFill/>
          </a:ln>
        </p:spPr>
        <p:txBody>
          <a:bodyPr anchorCtr="0" anchor="b" bIns="0" lIns="19050" spcFirstLastPara="1" rIns="19050" wrap="square" tIns="0">
            <a:noAutofit/>
          </a:bodyPr>
          <a:lstStyle/>
          <a:p>
            <a:pPr indent="0" lvl="0" marL="0" marR="0" rtl="0" algn="r">
              <a:spcBef>
                <a:spcPts val="0"/>
              </a:spcBef>
              <a:spcAft>
                <a:spcPts val="0"/>
              </a:spcAft>
              <a:buNone/>
            </a:pPr>
            <a:r>
              <a:rPr i="1" lang="en-US" sz="1000">
                <a:solidFill>
                  <a:srgbClr val="000000"/>
                </a:solidFill>
                <a:latin typeface="Calibri"/>
                <a:ea typeface="Calibri"/>
                <a:cs typeface="Calibri"/>
                <a:sym typeface="Calibri"/>
              </a:rPr>
              <a:t>4</a:t>
            </a:r>
            <a:endParaRPr/>
          </a:p>
        </p:txBody>
      </p:sp>
      <p:sp>
        <p:nvSpPr>
          <p:cNvPr id="1545" name="Google Shape;1545;p75:notes"/>
          <p:cNvSpPr/>
          <p:nvPr/>
        </p:nvSpPr>
        <p:spPr>
          <a:xfrm>
            <a:off x="0" y="8686800"/>
            <a:ext cx="2971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46" name="Google Shape;1546;p75:notes"/>
          <p:cNvSpPr/>
          <p:nvPr/>
        </p:nvSpPr>
        <p:spPr>
          <a:xfrm>
            <a:off x="0" y="0"/>
            <a:ext cx="29718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47" name="Google Shape;1547;p75: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48" name="Google Shape;1548;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8" name="Shape 1558"/>
        <p:cNvGrpSpPr/>
        <p:nvPr/>
      </p:nvGrpSpPr>
      <p:grpSpPr>
        <a:xfrm>
          <a:off x="0" y="0"/>
          <a:ext cx="0" cy="0"/>
          <a:chOff x="0" y="0"/>
          <a:chExt cx="0" cy="0"/>
        </a:xfrm>
      </p:grpSpPr>
      <p:sp>
        <p:nvSpPr>
          <p:cNvPr id="1559" name="Google Shape;1559;p7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0" name="Google Shape;1560;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9" name="Shape 1569"/>
        <p:cNvGrpSpPr/>
        <p:nvPr/>
      </p:nvGrpSpPr>
      <p:grpSpPr>
        <a:xfrm>
          <a:off x="0" y="0"/>
          <a:ext cx="0" cy="0"/>
          <a:chOff x="0" y="0"/>
          <a:chExt cx="0" cy="0"/>
        </a:xfrm>
      </p:grpSpPr>
      <p:sp>
        <p:nvSpPr>
          <p:cNvPr id="1570" name="Google Shape;1570;p7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1" name="Google Shape;1571;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0" name="Shape 1580"/>
        <p:cNvGrpSpPr/>
        <p:nvPr/>
      </p:nvGrpSpPr>
      <p:grpSpPr>
        <a:xfrm>
          <a:off x="0" y="0"/>
          <a:ext cx="0" cy="0"/>
          <a:chOff x="0" y="0"/>
          <a:chExt cx="0" cy="0"/>
        </a:xfrm>
      </p:grpSpPr>
      <p:sp>
        <p:nvSpPr>
          <p:cNvPr id="1581" name="Google Shape;1581;p7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2" name="Google Shape;1582;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9" name="Shape 1589"/>
        <p:cNvGrpSpPr/>
        <p:nvPr/>
      </p:nvGrpSpPr>
      <p:grpSpPr>
        <a:xfrm>
          <a:off x="0" y="0"/>
          <a:ext cx="0" cy="0"/>
          <a:chOff x="0" y="0"/>
          <a:chExt cx="0" cy="0"/>
        </a:xfrm>
      </p:grpSpPr>
      <p:sp>
        <p:nvSpPr>
          <p:cNvPr id="1590" name="Google Shape;1590;p7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1" name="Google Shape;1591;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2" name="Shape 1622"/>
        <p:cNvGrpSpPr/>
        <p:nvPr/>
      </p:nvGrpSpPr>
      <p:grpSpPr>
        <a:xfrm>
          <a:off x="0" y="0"/>
          <a:ext cx="0" cy="0"/>
          <a:chOff x="0" y="0"/>
          <a:chExt cx="0" cy="0"/>
        </a:xfrm>
      </p:grpSpPr>
      <p:sp>
        <p:nvSpPr>
          <p:cNvPr id="1623" name="Google Shape;1623;p8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4" name="Google Shape;1624;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7" name="Shape 1657"/>
        <p:cNvGrpSpPr/>
        <p:nvPr/>
      </p:nvGrpSpPr>
      <p:grpSpPr>
        <a:xfrm>
          <a:off x="0" y="0"/>
          <a:ext cx="0" cy="0"/>
          <a:chOff x="0" y="0"/>
          <a:chExt cx="0" cy="0"/>
        </a:xfrm>
      </p:grpSpPr>
      <p:sp>
        <p:nvSpPr>
          <p:cNvPr id="1658" name="Google Shape;1658;p8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9" name="Google Shape;1659;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1" name="Shape 1691"/>
        <p:cNvGrpSpPr/>
        <p:nvPr/>
      </p:nvGrpSpPr>
      <p:grpSpPr>
        <a:xfrm>
          <a:off x="0" y="0"/>
          <a:ext cx="0" cy="0"/>
          <a:chOff x="0" y="0"/>
          <a:chExt cx="0" cy="0"/>
        </a:xfrm>
      </p:grpSpPr>
      <p:sp>
        <p:nvSpPr>
          <p:cNvPr id="1692" name="Google Shape;1692;p8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3" name="Google Shape;1693;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5" name="Shape 1725"/>
        <p:cNvGrpSpPr/>
        <p:nvPr/>
      </p:nvGrpSpPr>
      <p:grpSpPr>
        <a:xfrm>
          <a:off x="0" y="0"/>
          <a:ext cx="0" cy="0"/>
          <a:chOff x="0" y="0"/>
          <a:chExt cx="0" cy="0"/>
        </a:xfrm>
      </p:grpSpPr>
      <p:sp>
        <p:nvSpPr>
          <p:cNvPr id="1726" name="Google Shape;1726;p8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7" name="Google Shape;1727;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4" name="Shape 1764"/>
        <p:cNvGrpSpPr/>
        <p:nvPr/>
      </p:nvGrpSpPr>
      <p:grpSpPr>
        <a:xfrm>
          <a:off x="0" y="0"/>
          <a:ext cx="0" cy="0"/>
          <a:chOff x="0" y="0"/>
          <a:chExt cx="0" cy="0"/>
        </a:xfrm>
      </p:grpSpPr>
      <p:sp>
        <p:nvSpPr>
          <p:cNvPr id="1765" name="Google Shape;1765;p8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6" name="Google Shape;1766;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8" name="Shape 1798"/>
        <p:cNvGrpSpPr/>
        <p:nvPr/>
      </p:nvGrpSpPr>
      <p:grpSpPr>
        <a:xfrm>
          <a:off x="0" y="0"/>
          <a:ext cx="0" cy="0"/>
          <a:chOff x="0" y="0"/>
          <a:chExt cx="0" cy="0"/>
        </a:xfrm>
      </p:grpSpPr>
      <p:sp>
        <p:nvSpPr>
          <p:cNvPr id="1799" name="Google Shape;1799;p8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0" name="Google Shape;1800;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7" name="Shape 1807"/>
        <p:cNvGrpSpPr/>
        <p:nvPr/>
      </p:nvGrpSpPr>
      <p:grpSpPr>
        <a:xfrm>
          <a:off x="0" y="0"/>
          <a:ext cx="0" cy="0"/>
          <a:chOff x="0" y="0"/>
          <a:chExt cx="0" cy="0"/>
        </a:xfrm>
      </p:grpSpPr>
      <p:sp>
        <p:nvSpPr>
          <p:cNvPr id="1808" name="Google Shape;1808;p8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9" name="Google Shape;1809;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7" name="Shape 1847"/>
        <p:cNvGrpSpPr/>
        <p:nvPr/>
      </p:nvGrpSpPr>
      <p:grpSpPr>
        <a:xfrm>
          <a:off x="0" y="0"/>
          <a:ext cx="0" cy="0"/>
          <a:chOff x="0" y="0"/>
          <a:chExt cx="0" cy="0"/>
        </a:xfrm>
      </p:grpSpPr>
      <p:sp>
        <p:nvSpPr>
          <p:cNvPr id="1848" name="Google Shape;1848;p8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9" name="Google Shape;1849;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5" name="Shape 1895"/>
        <p:cNvGrpSpPr/>
        <p:nvPr/>
      </p:nvGrpSpPr>
      <p:grpSpPr>
        <a:xfrm>
          <a:off x="0" y="0"/>
          <a:ext cx="0" cy="0"/>
          <a:chOff x="0" y="0"/>
          <a:chExt cx="0" cy="0"/>
        </a:xfrm>
      </p:grpSpPr>
      <p:sp>
        <p:nvSpPr>
          <p:cNvPr id="1896" name="Google Shape;1896;p8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7" name="Google Shape;1897;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5" name="Shape 1945"/>
        <p:cNvGrpSpPr/>
        <p:nvPr/>
      </p:nvGrpSpPr>
      <p:grpSpPr>
        <a:xfrm>
          <a:off x="0" y="0"/>
          <a:ext cx="0" cy="0"/>
          <a:chOff x="0" y="0"/>
          <a:chExt cx="0" cy="0"/>
        </a:xfrm>
      </p:grpSpPr>
      <p:sp>
        <p:nvSpPr>
          <p:cNvPr id="1946" name="Google Shape;1946;p8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7" name="Google Shape;1947;p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8" name="Shape 2028"/>
        <p:cNvGrpSpPr/>
        <p:nvPr/>
      </p:nvGrpSpPr>
      <p:grpSpPr>
        <a:xfrm>
          <a:off x="0" y="0"/>
          <a:ext cx="0" cy="0"/>
          <a:chOff x="0" y="0"/>
          <a:chExt cx="0" cy="0"/>
        </a:xfrm>
      </p:grpSpPr>
      <p:sp>
        <p:nvSpPr>
          <p:cNvPr id="2029" name="Google Shape;2029;p9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0" name="Google Shape;2030;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5" name="Shape 2145"/>
        <p:cNvGrpSpPr/>
        <p:nvPr/>
      </p:nvGrpSpPr>
      <p:grpSpPr>
        <a:xfrm>
          <a:off x="0" y="0"/>
          <a:ext cx="0" cy="0"/>
          <a:chOff x="0" y="0"/>
          <a:chExt cx="0" cy="0"/>
        </a:xfrm>
      </p:grpSpPr>
      <p:sp>
        <p:nvSpPr>
          <p:cNvPr id="2146" name="Google Shape;2146;p9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7" name="Google Shape;2147;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2" name="Shape 2292"/>
        <p:cNvGrpSpPr/>
        <p:nvPr/>
      </p:nvGrpSpPr>
      <p:grpSpPr>
        <a:xfrm>
          <a:off x="0" y="0"/>
          <a:ext cx="0" cy="0"/>
          <a:chOff x="0" y="0"/>
          <a:chExt cx="0" cy="0"/>
        </a:xfrm>
      </p:grpSpPr>
      <p:sp>
        <p:nvSpPr>
          <p:cNvPr id="2293" name="Google Shape;2293;p9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4" name="Google Shape;2294;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5" name="Shape 2325"/>
        <p:cNvGrpSpPr/>
        <p:nvPr/>
      </p:nvGrpSpPr>
      <p:grpSpPr>
        <a:xfrm>
          <a:off x="0" y="0"/>
          <a:ext cx="0" cy="0"/>
          <a:chOff x="0" y="0"/>
          <a:chExt cx="0" cy="0"/>
        </a:xfrm>
      </p:grpSpPr>
      <p:sp>
        <p:nvSpPr>
          <p:cNvPr id="2326" name="Google Shape;2326;p9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7" name="Google Shape;2327;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4" name="Shape 2334"/>
        <p:cNvGrpSpPr/>
        <p:nvPr/>
      </p:nvGrpSpPr>
      <p:grpSpPr>
        <a:xfrm>
          <a:off x="0" y="0"/>
          <a:ext cx="0" cy="0"/>
          <a:chOff x="0" y="0"/>
          <a:chExt cx="0" cy="0"/>
        </a:xfrm>
      </p:grpSpPr>
      <p:sp>
        <p:nvSpPr>
          <p:cNvPr id="2335" name="Google Shape;2335;p9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6" name="Google Shape;2336;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1" name="Shape 2351"/>
        <p:cNvGrpSpPr/>
        <p:nvPr/>
      </p:nvGrpSpPr>
      <p:grpSpPr>
        <a:xfrm>
          <a:off x="0" y="0"/>
          <a:ext cx="0" cy="0"/>
          <a:chOff x="0" y="0"/>
          <a:chExt cx="0" cy="0"/>
        </a:xfrm>
      </p:grpSpPr>
      <p:sp>
        <p:nvSpPr>
          <p:cNvPr id="2352" name="Google Shape;2352;p9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3" name="Google Shape;2353;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1" name="Shape 2371"/>
        <p:cNvGrpSpPr/>
        <p:nvPr/>
      </p:nvGrpSpPr>
      <p:grpSpPr>
        <a:xfrm>
          <a:off x="0" y="0"/>
          <a:ext cx="0" cy="0"/>
          <a:chOff x="0" y="0"/>
          <a:chExt cx="0" cy="0"/>
        </a:xfrm>
      </p:grpSpPr>
      <p:sp>
        <p:nvSpPr>
          <p:cNvPr id="2372" name="Google Shape;2372;p9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3" name="Google Shape;2373;p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0" name="Shape 2380"/>
        <p:cNvGrpSpPr/>
        <p:nvPr/>
      </p:nvGrpSpPr>
      <p:grpSpPr>
        <a:xfrm>
          <a:off x="0" y="0"/>
          <a:ext cx="0" cy="0"/>
          <a:chOff x="0" y="0"/>
          <a:chExt cx="0" cy="0"/>
        </a:xfrm>
      </p:grpSpPr>
      <p:sp>
        <p:nvSpPr>
          <p:cNvPr id="2381" name="Google Shape;2381;p9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2" name="Google Shape;2382;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2" name="Shape 2412"/>
        <p:cNvGrpSpPr/>
        <p:nvPr/>
      </p:nvGrpSpPr>
      <p:grpSpPr>
        <a:xfrm>
          <a:off x="0" y="0"/>
          <a:ext cx="0" cy="0"/>
          <a:chOff x="0" y="0"/>
          <a:chExt cx="0" cy="0"/>
        </a:xfrm>
      </p:grpSpPr>
      <p:sp>
        <p:nvSpPr>
          <p:cNvPr id="2413" name="Google Shape;2413;p9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4" name="Google Shape;2414;p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9" name="Shape 2449"/>
        <p:cNvGrpSpPr/>
        <p:nvPr/>
      </p:nvGrpSpPr>
      <p:grpSpPr>
        <a:xfrm>
          <a:off x="0" y="0"/>
          <a:ext cx="0" cy="0"/>
          <a:chOff x="0" y="0"/>
          <a:chExt cx="0" cy="0"/>
        </a:xfrm>
      </p:grpSpPr>
      <p:sp>
        <p:nvSpPr>
          <p:cNvPr id="2450" name="Google Shape;2450;p9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1" name="Google Shape;2451;p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4" name="Shape 2484"/>
        <p:cNvGrpSpPr/>
        <p:nvPr/>
      </p:nvGrpSpPr>
      <p:grpSpPr>
        <a:xfrm>
          <a:off x="0" y="0"/>
          <a:ext cx="0" cy="0"/>
          <a:chOff x="0" y="0"/>
          <a:chExt cx="0" cy="0"/>
        </a:xfrm>
      </p:grpSpPr>
      <p:sp>
        <p:nvSpPr>
          <p:cNvPr id="2485" name="Google Shape;2485;p10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6" name="Google Shape;2486;p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8" name="Shape 2518"/>
        <p:cNvGrpSpPr/>
        <p:nvPr/>
      </p:nvGrpSpPr>
      <p:grpSpPr>
        <a:xfrm>
          <a:off x="0" y="0"/>
          <a:ext cx="0" cy="0"/>
          <a:chOff x="0" y="0"/>
          <a:chExt cx="0" cy="0"/>
        </a:xfrm>
      </p:grpSpPr>
      <p:sp>
        <p:nvSpPr>
          <p:cNvPr id="2519" name="Google Shape;2519;p10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0" name="Google Shape;2520;p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3" name="Shape 2553"/>
        <p:cNvGrpSpPr/>
        <p:nvPr/>
      </p:nvGrpSpPr>
      <p:grpSpPr>
        <a:xfrm>
          <a:off x="0" y="0"/>
          <a:ext cx="0" cy="0"/>
          <a:chOff x="0" y="0"/>
          <a:chExt cx="0" cy="0"/>
        </a:xfrm>
      </p:grpSpPr>
      <p:sp>
        <p:nvSpPr>
          <p:cNvPr id="2554" name="Google Shape;2554;p10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5" name="Google Shape;2555;p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8" name="Shape 2588"/>
        <p:cNvGrpSpPr/>
        <p:nvPr/>
      </p:nvGrpSpPr>
      <p:grpSpPr>
        <a:xfrm>
          <a:off x="0" y="0"/>
          <a:ext cx="0" cy="0"/>
          <a:chOff x="0" y="0"/>
          <a:chExt cx="0" cy="0"/>
        </a:xfrm>
      </p:grpSpPr>
      <p:sp>
        <p:nvSpPr>
          <p:cNvPr id="2589" name="Google Shape;2589;p10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0" name="Google Shape;2590;p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1" name="Shape 2621"/>
        <p:cNvGrpSpPr/>
        <p:nvPr/>
      </p:nvGrpSpPr>
      <p:grpSpPr>
        <a:xfrm>
          <a:off x="0" y="0"/>
          <a:ext cx="0" cy="0"/>
          <a:chOff x="0" y="0"/>
          <a:chExt cx="0" cy="0"/>
        </a:xfrm>
      </p:grpSpPr>
      <p:sp>
        <p:nvSpPr>
          <p:cNvPr id="2622" name="Google Shape;2622;p10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3" name="Google Shape;2623;p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4" name="Shape 2654"/>
        <p:cNvGrpSpPr/>
        <p:nvPr/>
      </p:nvGrpSpPr>
      <p:grpSpPr>
        <a:xfrm>
          <a:off x="0" y="0"/>
          <a:ext cx="0" cy="0"/>
          <a:chOff x="0" y="0"/>
          <a:chExt cx="0" cy="0"/>
        </a:xfrm>
      </p:grpSpPr>
      <p:sp>
        <p:nvSpPr>
          <p:cNvPr id="2655" name="Google Shape;2655;p10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6" name="Google Shape;2656;p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7" name="Shape 2687"/>
        <p:cNvGrpSpPr/>
        <p:nvPr/>
      </p:nvGrpSpPr>
      <p:grpSpPr>
        <a:xfrm>
          <a:off x="0" y="0"/>
          <a:ext cx="0" cy="0"/>
          <a:chOff x="0" y="0"/>
          <a:chExt cx="0" cy="0"/>
        </a:xfrm>
      </p:grpSpPr>
      <p:sp>
        <p:nvSpPr>
          <p:cNvPr id="2688" name="Google Shape;2688;p10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9" name="Google Shape;2689;p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2" name="Shape 2722"/>
        <p:cNvGrpSpPr/>
        <p:nvPr/>
      </p:nvGrpSpPr>
      <p:grpSpPr>
        <a:xfrm>
          <a:off x="0" y="0"/>
          <a:ext cx="0" cy="0"/>
          <a:chOff x="0" y="0"/>
          <a:chExt cx="0" cy="0"/>
        </a:xfrm>
      </p:grpSpPr>
      <p:sp>
        <p:nvSpPr>
          <p:cNvPr id="2723" name="Google Shape;2723;p10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4" name="Google Shape;2724;p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7" name="Shape 2757"/>
        <p:cNvGrpSpPr/>
        <p:nvPr/>
      </p:nvGrpSpPr>
      <p:grpSpPr>
        <a:xfrm>
          <a:off x="0" y="0"/>
          <a:ext cx="0" cy="0"/>
          <a:chOff x="0" y="0"/>
          <a:chExt cx="0" cy="0"/>
        </a:xfrm>
      </p:grpSpPr>
      <p:sp>
        <p:nvSpPr>
          <p:cNvPr id="2758" name="Google Shape;2758;p10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9" name="Google Shape;2759;p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7" name="Shape 2767"/>
        <p:cNvGrpSpPr/>
        <p:nvPr/>
      </p:nvGrpSpPr>
      <p:grpSpPr>
        <a:xfrm>
          <a:off x="0" y="0"/>
          <a:ext cx="0" cy="0"/>
          <a:chOff x="0" y="0"/>
          <a:chExt cx="0" cy="0"/>
        </a:xfrm>
      </p:grpSpPr>
      <p:sp>
        <p:nvSpPr>
          <p:cNvPr id="2768" name="Google Shape;2768;p10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9" name="Google Shape;2769;p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lecture_1_1.ipynb"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4.png"/><Relationship Id="rId4" Type="http://schemas.openxmlformats.org/officeDocument/2006/relationships/hyperlink" Target="http://sortbenchmark.org"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 Id="rId3" Type="http://schemas.openxmlformats.org/officeDocument/2006/relationships/image" Target="../media/image13.png"/><Relationship Id="rId4" Type="http://schemas.openxmlformats.org/officeDocument/2006/relationships/image" Target="../media/image5.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 Id="rId3" Type="http://schemas.openxmlformats.org/officeDocument/2006/relationships/image" Target="../media/image9.png"/><Relationship Id="rId4" Type="http://schemas.openxmlformats.org/officeDocument/2006/relationships/image" Target="../media/image6.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7.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 Id="rId3" Type="http://schemas.openxmlformats.org/officeDocument/2006/relationships/image" Target="../media/image11.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 Id="rId3" Type="http://schemas.openxmlformats.org/officeDocument/2006/relationships/image" Target="../media/image12.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The IO Model &amp; Indexing &amp; External Sorting </a:t>
            </a:r>
            <a:endParaRPr/>
          </a:p>
        </p:txBody>
      </p:sp>
      <p:sp>
        <p:nvSpPr>
          <p:cNvPr id="89" name="Google Shape;89;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
        <p:nvSpPr>
          <p:cNvPr id="90" name="Google Shape;90;p13"/>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u="none" cap="none" strike="noStrike">
              <a:solidFill>
                <a:srgbClr val="595959"/>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Today’s Lecture</a:t>
            </a:r>
            <a:endParaRPr/>
          </a:p>
        </p:txBody>
      </p:sp>
      <p:sp>
        <p:nvSpPr>
          <p:cNvPr id="97" name="Google Shape;97;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36550" lvl="0" marL="514350" rtl="0" algn="l">
              <a:lnSpc>
                <a:spcPct val="90000"/>
              </a:lnSpc>
              <a:spcBef>
                <a:spcPts val="0"/>
              </a:spcBef>
              <a:spcAft>
                <a:spcPts val="0"/>
              </a:spcAft>
              <a:buClr>
                <a:schemeClr val="dk1"/>
              </a:buClr>
              <a:buSzPts val="2800"/>
              <a:buFont typeface="Calibri"/>
              <a:buNone/>
            </a:pPr>
            <a:r>
              <a:t/>
            </a:r>
            <a:endParaRPr>
              <a:latin typeface="Calibri"/>
              <a:ea typeface="Calibri"/>
              <a:cs typeface="Calibri"/>
              <a:sym typeface="Calibri"/>
            </a:endParaRPr>
          </a:p>
          <a:p>
            <a:pPr indent="-514350" lvl="0" marL="514350" rtl="0" algn="l">
              <a:lnSpc>
                <a:spcPct val="90000"/>
              </a:lnSpc>
              <a:spcBef>
                <a:spcPts val="1000"/>
              </a:spcBef>
              <a:spcAft>
                <a:spcPts val="0"/>
              </a:spcAft>
              <a:buClr>
                <a:schemeClr val="dk1"/>
              </a:buClr>
              <a:buSzPts val="2800"/>
              <a:buFont typeface="Calibri"/>
              <a:buAutoNum type="arabicPeriod"/>
            </a:pPr>
            <a:r>
              <a:rPr b="1" lang="en-US">
                <a:latin typeface="Calibri"/>
                <a:ea typeface="Calibri"/>
                <a:cs typeface="Calibri"/>
                <a:sym typeface="Calibri"/>
              </a:rPr>
              <a:t>The Buffer</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latin typeface="Calibri"/>
                <a:ea typeface="Calibri"/>
                <a:cs typeface="Calibri"/>
                <a:sym typeface="Calibri"/>
              </a:rPr>
              <a:t>Indexes</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External Merge Sort</a:t>
            </a:r>
            <a:endParaRPr/>
          </a:p>
          <a:p>
            <a:pPr indent="-336550" lvl="0" marL="514350" rtl="0" algn="l">
              <a:lnSpc>
                <a:spcPct val="90000"/>
              </a:lnSpc>
              <a:spcBef>
                <a:spcPts val="1000"/>
              </a:spcBef>
              <a:spcAft>
                <a:spcPts val="0"/>
              </a:spcAft>
              <a:buClr>
                <a:schemeClr val="dk1"/>
              </a:buClr>
              <a:buSzPts val="2800"/>
              <a:buFont typeface="Calibri"/>
              <a:buNone/>
            </a:pPr>
            <a:r>
              <a:t/>
            </a:r>
            <a:endParaRPr>
              <a:latin typeface="Calibri"/>
              <a:ea typeface="Calibri"/>
              <a:cs typeface="Calibri"/>
              <a:sym typeface="Calibri"/>
            </a:endParaRPr>
          </a:p>
        </p:txBody>
      </p:sp>
      <p:sp>
        <p:nvSpPr>
          <p:cNvPr id="98" name="Google Shape;9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99" name="Google Shape;99;p14"/>
          <p:cNvGrpSpPr/>
          <p:nvPr/>
        </p:nvGrpSpPr>
        <p:grpSpPr>
          <a:xfrm>
            <a:off x="0" y="-22510"/>
            <a:ext cx="12192000" cy="307777"/>
            <a:chOff x="0" y="-22510"/>
            <a:chExt cx="12192000" cy="307777"/>
          </a:xfrm>
        </p:grpSpPr>
        <p:sp>
          <p:nvSpPr>
            <p:cNvPr id="100" name="Google Shape;100;p14"/>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u="none" cap="none" strike="noStrike">
                <a:solidFill>
                  <a:srgbClr val="595959"/>
                </a:solidFill>
                <a:latin typeface="Calibri"/>
                <a:ea typeface="Calibri"/>
                <a:cs typeface="Calibri"/>
                <a:sym typeface="Calibri"/>
              </a:endParaRPr>
            </a:p>
          </p:txBody>
        </p:sp>
        <p:sp>
          <p:nvSpPr>
            <p:cNvPr id="101" name="Google Shape;101;p14"/>
            <p:cNvSpPr txBox="1"/>
            <p:nvPr/>
          </p:nvSpPr>
          <p:spPr>
            <a:xfrm>
              <a:off x="188780" y="-22510"/>
              <a:ext cx="93968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u="none" cap="none" strike="noStrike">
                  <a:solidFill>
                    <a:srgbClr val="595959"/>
                  </a:solidFill>
                  <a:latin typeface="Calibri"/>
                  <a:ea typeface="Calibri"/>
                  <a:cs typeface="Calibri"/>
                  <a:sym typeface="Calibri"/>
                </a:rPr>
                <a:t>Lecture 12</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lang="en-US"/>
              <a:t>1. The Buffer</a:t>
            </a:r>
            <a:endParaRPr/>
          </a:p>
        </p:txBody>
      </p:sp>
      <p:sp>
        <p:nvSpPr>
          <p:cNvPr id="107" name="Google Shape;107;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8" name="Google Shape;108;p15"/>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Transition to </a:t>
            </a:r>
            <a:r>
              <a:rPr b="1" lang="en-US"/>
              <a:t>Mechanisms</a:t>
            </a:r>
            <a:endParaRPr/>
          </a:p>
        </p:txBody>
      </p:sp>
      <p:sp>
        <p:nvSpPr>
          <p:cNvPr id="114" name="Google Shape;114;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chemeClr val="dk1"/>
              </a:buClr>
              <a:buSzPts val="2800"/>
              <a:buAutoNum type="arabicPeriod"/>
            </a:pPr>
            <a:r>
              <a:rPr lang="en-US"/>
              <a:t>So you can </a:t>
            </a:r>
            <a:r>
              <a:rPr b="1" lang="en-US"/>
              <a:t>understand</a:t>
            </a:r>
            <a:r>
              <a:rPr lang="en-US"/>
              <a:t> what the database is doing!</a:t>
            </a:r>
            <a:endParaRPr/>
          </a:p>
          <a:p>
            <a:pPr indent="-514350" lvl="1" marL="971550" rtl="0" algn="l">
              <a:lnSpc>
                <a:spcPct val="90000"/>
              </a:lnSpc>
              <a:spcBef>
                <a:spcPts val="500"/>
              </a:spcBef>
              <a:spcAft>
                <a:spcPts val="0"/>
              </a:spcAft>
              <a:buClr>
                <a:schemeClr val="dk1"/>
              </a:buClr>
              <a:buSzPts val="2400"/>
              <a:buAutoNum type="arabicPeriod"/>
            </a:pPr>
            <a:r>
              <a:rPr lang="en-US"/>
              <a:t>Understand the CS challenges of a database and how to use it.</a:t>
            </a:r>
            <a:endParaRPr/>
          </a:p>
          <a:p>
            <a:pPr indent="-514350" lvl="1" marL="971550" rtl="0" algn="l">
              <a:lnSpc>
                <a:spcPct val="90000"/>
              </a:lnSpc>
              <a:spcBef>
                <a:spcPts val="500"/>
              </a:spcBef>
              <a:spcAft>
                <a:spcPts val="0"/>
              </a:spcAft>
              <a:buClr>
                <a:schemeClr val="dk1"/>
              </a:buClr>
              <a:buSzPts val="2400"/>
              <a:buAutoNum type="arabicPeriod"/>
            </a:pPr>
            <a:r>
              <a:rPr lang="en-US"/>
              <a:t>Understand how to optimize a query</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2. Many </a:t>
            </a:r>
            <a:r>
              <a:rPr b="1" lang="en-US"/>
              <a:t>mechanisms</a:t>
            </a:r>
            <a:r>
              <a:rPr lang="en-US"/>
              <a:t> have become </a:t>
            </a:r>
            <a:r>
              <a:rPr b="1" lang="en-US"/>
              <a:t>stand-alone systems</a:t>
            </a:r>
            <a:endParaRPr/>
          </a:p>
          <a:p>
            <a:pPr indent="-228600" lvl="1" marL="685800" rtl="0" algn="l">
              <a:lnSpc>
                <a:spcPct val="90000"/>
              </a:lnSpc>
              <a:spcBef>
                <a:spcPts val="500"/>
              </a:spcBef>
              <a:spcAft>
                <a:spcPts val="0"/>
              </a:spcAft>
              <a:buClr>
                <a:schemeClr val="dk1"/>
              </a:buClr>
              <a:buSzPts val="2400"/>
              <a:buChar char="•"/>
            </a:pPr>
            <a:r>
              <a:rPr b="1" lang="en-US"/>
              <a:t>Indexing</a:t>
            </a:r>
            <a:r>
              <a:rPr lang="en-US"/>
              <a:t> to Key-value stores</a:t>
            </a:r>
            <a:endParaRPr/>
          </a:p>
          <a:p>
            <a:pPr indent="-228600" lvl="1" marL="685800" rtl="0" algn="l">
              <a:lnSpc>
                <a:spcPct val="90000"/>
              </a:lnSpc>
              <a:spcBef>
                <a:spcPts val="500"/>
              </a:spcBef>
              <a:spcAft>
                <a:spcPts val="0"/>
              </a:spcAft>
              <a:buClr>
                <a:schemeClr val="dk1"/>
              </a:buClr>
              <a:buSzPts val="2400"/>
              <a:buChar char="•"/>
            </a:pPr>
            <a:r>
              <a:rPr lang="en-US"/>
              <a:t>Embedded join processing</a:t>
            </a:r>
            <a:endParaRPr/>
          </a:p>
          <a:p>
            <a:pPr indent="-228600" lvl="1" marL="685800" rtl="0" algn="l">
              <a:lnSpc>
                <a:spcPct val="90000"/>
              </a:lnSpc>
              <a:spcBef>
                <a:spcPts val="500"/>
              </a:spcBef>
              <a:spcAft>
                <a:spcPts val="0"/>
              </a:spcAft>
              <a:buClr>
                <a:schemeClr val="dk1"/>
              </a:buClr>
              <a:buSzPts val="2400"/>
              <a:buChar char="•"/>
            </a:pPr>
            <a:r>
              <a:rPr lang="en-US"/>
              <a:t>SQL-like languages take some aspect of what we discuss (PIG, Hive)</a:t>
            </a:r>
            <a:endParaRPr/>
          </a:p>
          <a:p>
            <a:pPr indent="0" lvl="0" marL="0" rtl="0" algn="l">
              <a:lnSpc>
                <a:spcPct val="90000"/>
              </a:lnSpc>
              <a:spcBef>
                <a:spcPts val="1000"/>
              </a:spcBef>
              <a:spcAft>
                <a:spcPts val="0"/>
              </a:spcAft>
              <a:buClr>
                <a:schemeClr val="dk1"/>
              </a:buClr>
              <a:buSzPts val="2800"/>
              <a:buNone/>
            </a:pPr>
            <a:r>
              <a:t/>
            </a:r>
            <a:endParaRPr/>
          </a:p>
        </p:txBody>
      </p:sp>
      <p:grpSp>
        <p:nvGrpSpPr>
          <p:cNvPr id="115" name="Google Shape;115;p16"/>
          <p:cNvGrpSpPr/>
          <p:nvPr/>
        </p:nvGrpSpPr>
        <p:grpSpPr>
          <a:xfrm>
            <a:off x="0" y="-22510"/>
            <a:ext cx="12192000" cy="307777"/>
            <a:chOff x="0" y="-22510"/>
            <a:chExt cx="12192000" cy="307777"/>
          </a:xfrm>
        </p:grpSpPr>
        <p:sp>
          <p:nvSpPr>
            <p:cNvPr id="116" name="Google Shape;116;p16"/>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17" name="Google Shape;117;p16"/>
            <p:cNvSpPr txBox="1"/>
            <p:nvPr/>
          </p:nvSpPr>
          <p:spPr>
            <a:xfrm>
              <a:off x="188780" y="-22510"/>
              <a:ext cx="83869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Section 1</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What you will learn about in this section</a:t>
            </a:r>
            <a:endParaRPr/>
          </a:p>
        </p:txBody>
      </p:sp>
      <p:sp>
        <p:nvSpPr>
          <p:cNvPr id="124" name="Google Shape;124;p17"/>
          <p:cNvSpPr txBox="1"/>
          <p:nvPr>
            <p:ph idx="1" type="body"/>
          </p:nvPr>
        </p:nvSpPr>
        <p:spPr>
          <a:xfrm>
            <a:off x="838200" y="1825624"/>
            <a:ext cx="10515600" cy="4175783"/>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chemeClr val="dk1"/>
              </a:buClr>
              <a:buSzPts val="2800"/>
              <a:buAutoNum type="arabicPeriod"/>
            </a:pPr>
            <a:r>
              <a:rPr lang="en-US">
                <a:latin typeface="Calibri"/>
                <a:ea typeface="Calibri"/>
                <a:cs typeface="Calibri"/>
                <a:sym typeface="Calibri"/>
              </a:rPr>
              <a:t>RECAP: Storage and memory model</a:t>
            </a:r>
            <a:endParaRPr/>
          </a:p>
          <a:p>
            <a:pPr indent="-336550" lvl="0" marL="514350" rtl="0" algn="l">
              <a:lnSpc>
                <a:spcPct val="90000"/>
              </a:lnSpc>
              <a:spcBef>
                <a:spcPts val="1000"/>
              </a:spcBef>
              <a:spcAft>
                <a:spcPts val="0"/>
              </a:spcAft>
              <a:buClr>
                <a:schemeClr val="dk1"/>
              </a:buClr>
              <a:buSzPts val="2800"/>
              <a:buNone/>
            </a:pPr>
            <a:r>
              <a:t/>
            </a:r>
            <a:endParaRPr>
              <a:latin typeface="Calibri"/>
              <a:ea typeface="Calibri"/>
              <a:cs typeface="Calibri"/>
              <a:sym typeface="Calibri"/>
            </a:endParaRPr>
          </a:p>
          <a:p>
            <a:pPr indent="-514350" lvl="0" marL="514350" rtl="0" algn="l">
              <a:lnSpc>
                <a:spcPct val="90000"/>
              </a:lnSpc>
              <a:spcBef>
                <a:spcPts val="1000"/>
              </a:spcBef>
              <a:spcAft>
                <a:spcPts val="0"/>
              </a:spcAft>
              <a:buClr>
                <a:schemeClr val="dk1"/>
              </a:buClr>
              <a:buSzPts val="2800"/>
              <a:buAutoNum type="arabicPeriod"/>
            </a:pPr>
            <a:r>
              <a:rPr lang="en-US">
                <a:latin typeface="Calibri"/>
                <a:ea typeface="Calibri"/>
                <a:cs typeface="Calibri"/>
                <a:sym typeface="Calibri"/>
              </a:rPr>
              <a:t>Buffer primer</a:t>
            </a:r>
            <a:endParaRPr/>
          </a:p>
        </p:txBody>
      </p:sp>
      <p:sp>
        <p:nvSpPr>
          <p:cNvPr id="125" name="Google Shape;125;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126" name="Google Shape;126;p17"/>
          <p:cNvGrpSpPr/>
          <p:nvPr/>
        </p:nvGrpSpPr>
        <p:grpSpPr>
          <a:xfrm>
            <a:off x="0" y="-22510"/>
            <a:ext cx="12192000" cy="307777"/>
            <a:chOff x="0" y="-22510"/>
            <a:chExt cx="12192000" cy="307777"/>
          </a:xfrm>
        </p:grpSpPr>
        <p:sp>
          <p:nvSpPr>
            <p:cNvPr id="127" name="Google Shape;127;p17"/>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28" name="Google Shape;128;p17"/>
            <p:cNvSpPr txBox="1"/>
            <p:nvPr/>
          </p:nvSpPr>
          <p:spPr>
            <a:xfrm>
              <a:off x="188780" y="-22510"/>
              <a:ext cx="83869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Section 1</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High-level: Disk vs. Main Memory</a:t>
            </a:r>
            <a:endParaRPr/>
          </a:p>
        </p:txBody>
      </p:sp>
      <p:sp>
        <p:nvSpPr>
          <p:cNvPr id="135" name="Google Shape;135;p18"/>
          <p:cNvSpPr txBox="1"/>
          <p:nvPr>
            <p:ph idx="1" type="body"/>
          </p:nvPr>
        </p:nvSpPr>
        <p:spPr>
          <a:xfrm>
            <a:off x="762486" y="4189140"/>
            <a:ext cx="5469412" cy="2606456"/>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90000"/>
              </a:lnSpc>
              <a:spcBef>
                <a:spcPts val="0"/>
              </a:spcBef>
              <a:spcAft>
                <a:spcPts val="0"/>
              </a:spcAft>
              <a:buClr>
                <a:schemeClr val="dk1"/>
              </a:buClr>
              <a:buSzPct val="100000"/>
              <a:buNone/>
            </a:pPr>
            <a:r>
              <a:rPr b="1" lang="en-US" u="sng"/>
              <a:t>Disk</a:t>
            </a:r>
            <a:r>
              <a:rPr lang="en-US" u="sng"/>
              <a:t>:</a:t>
            </a:r>
            <a:endParaRPr/>
          </a:p>
          <a:p>
            <a:pPr indent="0" lvl="0" marL="0" rtl="0" algn="l">
              <a:lnSpc>
                <a:spcPct val="90000"/>
              </a:lnSpc>
              <a:spcBef>
                <a:spcPts val="1000"/>
              </a:spcBef>
              <a:spcAft>
                <a:spcPts val="0"/>
              </a:spcAft>
              <a:buClr>
                <a:schemeClr val="dk1"/>
              </a:buClr>
              <a:buSzPct val="100000"/>
              <a:buNone/>
            </a:pPr>
            <a:r>
              <a:t/>
            </a:r>
            <a:endParaRPr i="1"/>
          </a:p>
          <a:p>
            <a:pPr indent="-228600" lvl="0" marL="228600" rtl="0" algn="l">
              <a:lnSpc>
                <a:spcPct val="90000"/>
              </a:lnSpc>
              <a:spcBef>
                <a:spcPts val="1000"/>
              </a:spcBef>
              <a:spcAft>
                <a:spcPts val="0"/>
              </a:spcAft>
              <a:buClr>
                <a:schemeClr val="dk1"/>
              </a:buClr>
              <a:buSzPct val="100000"/>
              <a:buChar char="•"/>
            </a:pPr>
            <a:r>
              <a:rPr b="1" i="1" lang="en-US"/>
              <a:t>Slow:</a:t>
            </a:r>
            <a:r>
              <a:rPr b="1" lang="en-US"/>
              <a:t> </a:t>
            </a:r>
            <a:r>
              <a:rPr lang="en-US"/>
              <a:t>Sequential </a:t>
            </a:r>
            <a:r>
              <a:rPr i="1" lang="en-US"/>
              <a:t>block</a:t>
            </a:r>
            <a:r>
              <a:rPr lang="en-US"/>
              <a:t> access</a:t>
            </a:r>
            <a:endParaRPr/>
          </a:p>
          <a:p>
            <a:pPr indent="-228600" lvl="1" marL="685800" rtl="0" algn="l">
              <a:lnSpc>
                <a:spcPct val="90000"/>
              </a:lnSpc>
              <a:spcBef>
                <a:spcPts val="500"/>
              </a:spcBef>
              <a:spcAft>
                <a:spcPts val="0"/>
              </a:spcAft>
              <a:buClr>
                <a:schemeClr val="dk1"/>
              </a:buClr>
              <a:buSzPct val="100000"/>
              <a:buChar char="•"/>
            </a:pPr>
            <a:r>
              <a:rPr lang="en-US"/>
              <a:t>Read a blocks (not byte) at a time, so sequential access is cheaper than random</a:t>
            </a:r>
            <a:endParaRPr/>
          </a:p>
          <a:p>
            <a:pPr indent="-228600" lvl="1" marL="685800" rtl="0" algn="l">
              <a:lnSpc>
                <a:spcPct val="90000"/>
              </a:lnSpc>
              <a:spcBef>
                <a:spcPts val="500"/>
              </a:spcBef>
              <a:spcAft>
                <a:spcPts val="0"/>
              </a:spcAft>
              <a:buClr>
                <a:schemeClr val="dk1"/>
              </a:buClr>
              <a:buSzPct val="100000"/>
              <a:buChar char="•"/>
            </a:pPr>
            <a:r>
              <a:rPr b="1" lang="en-US"/>
              <a:t>Disk read / writes are expensive!</a:t>
            </a:r>
            <a:endParaRPr/>
          </a:p>
          <a:p>
            <a:pPr indent="-130810" lvl="0" marL="228600" rtl="0" algn="l">
              <a:lnSpc>
                <a:spcPct val="90000"/>
              </a:lnSpc>
              <a:spcBef>
                <a:spcPts val="1000"/>
              </a:spcBef>
              <a:spcAft>
                <a:spcPts val="0"/>
              </a:spcAft>
              <a:buClr>
                <a:schemeClr val="dk1"/>
              </a:buClr>
              <a:buSzPct val="100000"/>
              <a:buNone/>
            </a:pPr>
            <a:r>
              <a:t/>
            </a:r>
            <a:endParaRPr b="1" i="1"/>
          </a:p>
          <a:p>
            <a:pPr indent="-228600" lvl="0" marL="228600" rtl="0" algn="l">
              <a:lnSpc>
                <a:spcPct val="90000"/>
              </a:lnSpc>
              <a:spcBef>
                <a:spcPts val="1000"/>
              </a:spcBef>
              <a:spcAft>
                <a:spcPts val="0"/>
              </a:spcAft>
              <a:buClr>
                <a:schemeClr val="dk1"/>
              </a:buClr>
              <a:buSzPct val="100000"/>
              <a:buChar char="•"/>
            </a:pPr>
            <a:r>
              <a:rPr b="1" i="1" lang="en-US"/>
              <a:t>Durable: </a:t>
            </a:r>
            <a:r>
              <a:rPr lang="en-US"/>
              <a:t>We will assume that once on disk, data is safe!</a:t>
            </a:r>
            <a:endParaRPr/>
          </a:p>
          <a:p>
            <a:pPr indent="-13081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b="1" i="1" lang="en-US"/>
              <a:t>Cheap</a:t>
            </a:r>
            <a:endParaRPr/>
          </a:p>
        </p:txBody>
      </p:sp>
      <p:sp>
        <p:nvSpPr>
          <p:cNvPr id="136" name="Google Shape;136;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137" name="Google Shape;137;p18"/>
          <p:cNvGrpSpPr/>
          <p:nvPr/>
        </p:nvGrpSpPr>
        <p:grpSpPr>
          <a:xfrm>
            <a:off x="969281" y="1446274"/>
            <a:ext cx="2965073" cy="2511116"/>
            <a:chOff x="5257801" y="1676400"/>
            <a:chExt cx="5936499" cy="5027612"/>
          </a:xfrm>
        </p:grpSpPr>
        <p:grpSp>
          <p:nvGrpSpPr>
            <p:cNvPr id="138" name="Google Shape;138;p18"/>
            <p:cNvGrpSpPr/>
            <p:nvPr/>
          </p:nvGrpSpPr>
          <p:grpSpPr>
            <a:xfrm>
              <a:off x="6732588" y="2787651"/>
              <a:ext cx="3149600" cy="1801813"/>
              <a:chOff x="2998" y="1129"/>
              <a:chExt cx="1984" cy="1135"/>
            </a:xfrm>
          </p:grpSpPr>
          <p:sp>
            <p:nvSpPr>
              <p:cNvPr id="139" name="Google Shape;139;p18"/>
              <p:cNvSpPr/>
              <p:nvPr/>
            </p:nvSpPr>
            <p:spPr>
              <a:xfrm>
                <a:off x="2998" y="1499"/>
                <a:ext cx="1984" cy="765"/>
              </a:xfrm>
              <a:custGeom>
                <a:rect b="b" l="l" r="r" t="t"/>
                <a:pathLst>
                  <a:path extrusionOk="0" h="765" w="1984">
                    <a:moveTo>
                      <a:pt x="0" y="386"/>
                    </a:moveTo>
                    <a:lnTo>
                      <a:pt x="16" y="320"/>
                    </a:lnTo>
                    <a:lnTo>
                      <a:pt x="57" y="255"/>
                    </a:lnTo>
                    <a:lnTo>
                      <a:pt x="131" y="197"/>
                    </a:lnTo>
                    <a:lnTo>
                      <a:pt x="230" y="140"/>
                    </a:lnTo>
                    <a:lnTo>
                      <a:pt x="353" y="90"/>
                    </a:lnTo>
                    <a:lnTo>
                      <a:pt x="493" y="58"/>
                    </a:lnTo>
                    <a:lnTo>
                      <a:pt x="650" y="25"/>
                    </a:lnTo>
                    <a:lnTo>
                      <a:pt x="814" y="8"/>
                    </a:lnTo>
                    <a:lnTo>
                      <a:pt x="987" y="0"/>
                    </a:lnTo>
                    <a:lnTo>
                      <a:pt x="1160" y="8"/>
                    </a:lnTo>
                    <a:lnTo>
                      <a:pt x="1333" y="25"/>
                    </a:lnTo>
                    <a:lnTo>
                      <a:pt x="1489" y="58"/>
                    </a:lnTo>
                    <a:lnTo>
                      <a:pt x="1629" y="90"/>
                    </a:lnTo>
                    <a:lnTo>
                      <a:pt x="1753" y="140"/>
                    </a:lnTo>
                    <a:lnTo>
                      <a:pt x="1852" y="197"/>
                    </a:lnTo>
                    <a:lnTo>
                      <a:pt x="1926" y="255"/>
                    </a:lnTo>
                    <a:lnTo>
                      <a:pt x="1967" y="320"/>
                    </a:lnTo>
                    <a:lnTo>
                      <a:pt x="1983" y="386"/>
                    </a:lnTo>
                    <a:lnTo>
                      <a:pt x="1967" y="452"/>
                    </a:lnTo>
                    <a:lnTo>
                      <a:pt x="1926" y="518"/>
                    </a:lnTo>
                    <a:lnTo>
                      <a:pt x="1852" y="575"/>
                    </a:lnTo>
                    <a:lnTo>
                      <a:pt x="1753" y="633"/>
                    </a:lnTo>
                    <a:lnTo>
                      <a:pt x="1629" y="674"/>
                    </a:lnTo>
                    <a:lnTo>
                      <a:pt x="1489" y="715"/>
                    </a:lnTo>
                    <a:lnTo>
                      <a:pt x="1333" y="740"/>
                    </a:lnTo>
                    <a:lnTo>
                      <a:pt x="1160" y="764"/>
                    </a:lnTo>
                    <a:lnTo>
                      <a:pt x="987" y="764"/>
                    </a:lnTo>
                    <a:lnTo>
                      <a:pt x="814" y="764"/>
                    </a:lnTo>
                    <a:lnTo>
                      <a:pt x="650" y="740"/>
                    </a:lnTo>
                    <a:lnTo>
                      <a:pt x="493" y="715"/>
                    </a:lnTo>
                    <a:lnTo>
                      <a:pt x="353" y="674"/>
                    </a:lnTo>
                    <a:lnTo>
                      <a:pt x="230" y="633"/>
                    </a:lnTo>
                    <a:lnTo>
                      <a:pt x="131" y="575"/>
                    </a:lnTo>
                    <a:lnTo>
                      <a:pt x="57" y="518"/>
                    </a:lnTo>
                    <a:lnTo>
                      <a:pt x="16" y="452"/>
                    </a:lnTo>
                    <a:lnTo>
                      <a:pt x="0" y="386"/>
                    </a:lnTo>
                  </a:path>
                </a:pathLst>
              </a:custGeom>
              <a:solidFill>
                <a:srgbClr val="000000"/>
              </a:solidFill>
              <a:ln cap="rnd" cmpd="sng" w="50800">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rgbClr val="000000"/>
                  </a:solidFill>
                  <a:latin typeface="Calibri"/>
                  <a:ea typeface="Calibri"/>
                  <a:cs typeface="Calibri"/>
                  <a:sym typeface="Calibri"/>
                </a:endParaRPr>
              </a:p>
            </p:txBody>
          </p:sp>
          <p:sp>
            <p:nvSpPr>
              <p:cNvPr id="140" name="Google Shape;140;p18"/>
              <p:cNvSpPr/>
              <p:nvPr/>
            </p:nvSpPr>
            <p:spPr>
              <a:xfrm>
                <a:off x="2998" y="1129"/>
                <a:ext cx="1984" cy="765"/>
              </a:xfrm>
              <a:custGeom>
                <a:rect b="b" l="l" r="r" t="t"/>
                <a:pathLst>
                  <a:path extrusionOk="0" h="765" w="1984">
                    <a:moveTo>
                      <a:pt x="0" y="386"/>
                    </a:moveTo>
                    <a:lnTo>
                      <a:pt x="16" y="321"/>
                    </a:lnTo>
                    <a:lnTo>
                      <a:pt x="57" y="255"/>
                    </a:lnTo>
                    <a:lnTo>
                      <a:pt x="131" y="197"/>
                    </a:lnTo>
                    <a:lnTo>
                      <a:pt x="230" y="140"/>
                    </a:lnTo>
                    <a:lnTo>
                      <a:pt x="353" y="91"/>
                    </a:lnTo>
                    <a:lnTo>
                      <a:pt x="493" y="58"/>
                    </a:lnTo>
                    <a:lnTo>
                      <a:pt x="650" y="25"/>
                    </a:lnTo>
                    <a:lnTo>
                      <a:pt x="814" y="8"/>
                    </a:lnTo>
                    <a:lnTo>
                      <a:pt x="987" y="0"/>
                    </a:lnTo>
                    <a:lnTo>
                      <a:pt x="1160" y="8"/>
                    </a:lnTo>
                    <a:lnTo>
                      <a:pt x="1333" y="25"/>
                    </a:lnTo>
                    <a:lnTo>
                      <a:pt x="1489" y="58"/>
                    </a:lnTo>
                    <a:lnTo>
                      <a:pt x="1629" y="91"/>
                    </a:lnTo>
                    <a:lnTo>
                      <a:pt x="1753" y="140"/>
                    </a:lnTo>
                    <a:lnTo>
                      <a:pt x="1852" y="197"/>
                    </a:lnTo>
                    <a:lnTo>
                      <a:pt x="1926" y="255"/>
                    </a:lnTo>
                    <a:lnTo>
                      <a:pt x="1967" y="321"/>
                    </a:lnTo>
                    <a:lnTo>
                      <a:pt x="1983" y="386"/>
                    </a:lnTo>
                    <a:lnTo>
                      <a:pt x="1967" y="452"/>
                    </a:lnTo>
                    <a:lnTo>
                      <a:pt x="1926" y="518"/>
                    </a:lnTo>
                    <a:lnTo>
                      <a:pt x="1852" y="575"/>
                    </a:lnTo>
                    <a:lnTo>
                      <a:pt x="1753" y="633"/>
                    </a:lnTo>
                    <a:lnTo>
                      <a:pt x="1629" y="674"/>
                    </a:lnTo>
                    <a:lnTo>
                      <a:pt x="1489" y="715"/>
                    </a:lnTo>
                    <a:lnTo>
                      <a:pt x="1333" y="740"/>
                    </a:lnTo>
                    <a:lnTo>
                      <a:pt x="1160" y="764"/>
                    </a:lnTo>
                    <a:lnTo>
                      <a:pt x="987" y="764"/>
                    </a:lnTo>
                    <a:lnTo>
                      <a:pt x="814" y="764"/>
                    </a:lnTo>
                    <a:lnTo>
                      <a:pt x="650" y="740"/>
                    </a:lnTo>
                    <a:lnTo>
                      <a:pt x="493" y="715"/>
                    </a:lnTo>
                    <a:lnTo>
                      <a:pt x="353" y="674"/>
                    </a:lnTo>
                    <a:lnTo>
                      <a:pt x="230" y="633"/>
                    </a:lnTo>
                    <a:lnTo>
                      <a:pt x="131" y="575"/>
                    </a:lnTo>
                    <a:lnTo>
                      <a:pt x="57" y="518"/>
                    </a:lnTo>
                    <a:lnTo>
                      <a:pt x="16" y="452"/>
                    </a:lnTo>
                    <a:lnTo>
                      <a:pt x="0" y="386"/>
                    </a:lnTo>
                  </a:path>
                </a:pathLst>
              </a:custGeom>
              <a:solidFill>
                <a:srgbClr val="000000"/>
              </a:solidFill>
              <a:ln cap="rnd" cmpd="sng" w="50800">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rgbClr val="000000"/>
                  </a:solidFill>
                  <a:latin typeface="Calibri"/>
                  <a:ea typeface="Calibri"/>
                  <a:cs typeface="Calibri"/>
                  <a:sym typeface="Calibri"/>
                </a:endParaRPr>
              </a:p>
            </p:txBody>
          </p:sp>
        </p:grpSp>
        <p:grpSp>
          <p:nvGrpSpPr>
            <p:cNvPr id="141" name="Google Shape;141;p18"/>
            <p:cNvGrpSpPr/>
            <p:nvPr/>
          </p:nvGrpSpPr>
          <p:grpSpPr>
            <a:xfrm>
              <a:off x="6705600" y="2057401"/>
              <a:ext cx="3176588" cy="4594225"/>
              <a:chOff x="2981" y="669"/>
              <a:chExt cx="2001" cy="2894"/>
            </a:xfrm>
          </p:grpSpPr>
          <p:grpSp>
            <p:nvGrpSpPr>
              <p:cNvPr id="142" name="Google Shape;142;p18"/>
              <p:cNvGrpSpPr/>
              <p:nvPr/>
            </p:nvGrpSpPr>
            <p:grpSpPr>
              <a:xfrm>
                <a:off x="2981" y="1096"/>
                <a:ext cx="2001" cy="2467"/>
                <a:chOff x="2981" y="1096"/>
                <a:chExt cx="2001" cy="2467"/>
              </a:xfrm>
            </p:grpSpPr>
            <p:grpSp>
              <p:nvGrpSpPr>
                <p:cNvPr id="143" name="Google Shape;143;p18"/>
                <p:cNvGrpSpPr/>
                <p:nvPr/>
              </p:nvGrpSpPr>
              <p:grpSpPr>
                <a:xfrm>
                  <a:off x="2998" y="1466"/>
                  <a:ext cx="1984" cy="765"/>
                  <a:chOff x="2998" y="1466"/>
                  <a:chExt cx="1984" cy="765"/>
                </a:xfrm>
              </p:grpSpPr>
              <p:sp>
                <p:nvSpPr>
                  <p:cNvPr id="144" name="Google Shape;144;p18"/>
                  <p:cNvSpPr/>
                  <p:nvPr/>
                </p:nvSpPr>
                <p:spPr>
                  <a:xfrm>
                    <a:off x="2998" y="1466"/>
                    <a:ext cx="1984" cy="765"/>
                  </a:xfrm>
                  <a:custGeom>
                    <a:rect b="b" l="l" r="r" t="t"/>
                    <a:pathLst>
                      <a:path extrusionOk="0" h="765" w="1984">
                        <a:moveTo>
                          <a:pt x="0" y="378"/>
                        </a:moveTo>
                        <a:lnTo>
                          <a:pt x="16" y="312"/>
                        </a:lnTo>
                        <a:lnTo>
                          <a:pt x="57" y="247"/>
                        </a:lnTo>
                        <a:lnTo>
                          <a:pt x="131" y="189"/>
                        </a:lnTo>
                        <a:lnTo>
                          <a:pt x="230" y="132"/>
                        </a:lnTo>
                        <a:lnTo>
                          <a:pt x="353" y="91"/>
                        </a:lnTo>
                        <a:lnTo>
                          <a:pt x="493" y="49"/>
                        </a:lnTo>
                        <a:lnTo>
                          <a:pt x="650" y="25"/>
                        </a:lnTo>
                        <a:lnTo>
                          <a:pt x="814" y="0"/>
                        </a:lnTo>
                        <a:lnTo>
                          <a:pt x="987" y="0"/>
                        </a:lnTo>
                        <a:lnTo>
                          <a:pt x="1160" y="0"/>
                        </a:lnTo>
                        <a:lnTo>
                          <a:pt x="1333" y="25"/>
                        </a:lnTo>
                        <a:lnTo>
                          <a:pt x="1489" y="49"/>
                        </a:lnTo>
                        <a:lnTo>
                          <a:pt x="1629" y="91"/>
                        </a:lnTo>
                        <a:lnTo>
                          <a:pt x="1753" y="132"/>
                        </a:lnTo>
                        <a:lnTo>
                          <a:pt x="1852" y="189"/>
                        </a:lnTo>
                        <a:lnTo>
                          <a:pt x="1926" y="247"/>
                        </a:lnTo>
                        <a:lnTo>
                          <a:pt x="1967" y="312"/>
                        </a:lnTo>
                        <a:lnTo>
                          <a:pt x="1983" y="378"/>
                        </a:lnTo>
                        <a:lnTo>
                          <a:pt x="1967" y="444"/>
                        </a:lnTo>
                        <a:lnTo>
                          <a:pt x="1926" y="510"/>
                        </a:lnTo>
                        <a:lnTo>
                          <a:pt x="1852" y="567"/>
                        </a:lnTo>
                        <a:lnTo>
                          <a:pt x="1753" y="625"/>
                        </a:lnTo>
                        <a:lnTo>
                          <a:pt x="1629" y="674"/>
                        </a:lnTo>
                        <a:lnTo>
                          <a:pt x="1489" y="707"/>
                        </a:lnTo>
                        <a:lnTo>
                          <a:pt x="1333" y="740"/>
                        </a:lnTo>
                        <a:lnTo>
                          <a:pt x="1160" y="756"/>
                        </a:lnTo>
                        <a:lnTo>
                          <a:pt x="987" y="764"/>
                        </a:lnTo>
                        <a:lnTo>
                          <a:pt x="814" y="756"/>
                        </a:lnTo>
                        <a:lnTo>
                          <a:pt x="650" y="740"/>
                        </a:lnTo>
                        <a:lnTo>
                          <a:pt x="493" y="707"/>
                        </a:lnTo>
                        <a:lnTo>
                          <a:pt x="353" y="674"/>
                        </a:lnTo>
                        <a:lnTo>
                          <a:pt x="230" y="625"/>
                        </a:lnTo>
                        <a:lnTo>
                          <a:pt x="131" y="567"/>
                        </a:lnTo>
                        <a:lnTo>
                          <a:pt x="57" y="510"/>
                        </a:lnTo>
                        <a:lnTo>
                          <a:pt x="16" y="444"/>
                        </a:lnTo>
                        <a:lnTo>
                          <a:pt x="0" y="378"/>
                        </a:lnTo>
                      </a:path>
                    </a:pathLst>
                  </a:custGeom>
                  <a:solidFill>
                    <a:srgbClr val="FFFFFF"/>
                  </a:solidFill>
                  <a:ln cap="rnd" cmpd="sng" w="12700">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rgbClr val="000000"/>
                      </a:solidFill>
                      <a:latin typeface="Calibri"/>
                      <a:ea typeface="Calibri"/>
                      <a:cs typeface="Calibri"/>
                      <a:sym typeface="Calibri"/>
                    </a:endParaRPr>
                  </a:p>
                </p:txBody>
              </p:sp>
              <p:sp>
                <p:nvSpPr>
                  <p:cNvPr id="145" name="Google Shape;145;p18"/>
                  <p:cNvSpPr/>
                  <p:nvPr/>
                </p:nvSpPr>
                <p:spPr>
                  <a:xfrm>
                    <a:off x="3055" y="1524"/>
                    <a:ext cx="1853" cy="650"/>
                  </a:xfrm>
                  <a:custGeom>
                    <a:rect b="b" l="l" r="r" t="t"/>
                    <a:pathLst>
                      <a:path extrusionOk="0" h="650" w="1853">
                        <a:moveTo>
                          <a:pt x="0" y="328"/>
                        </a:moveTo>
                        <a:lnTo>
                          <a:pt x="17" y="263"/>
                        </a:lnTo>
                        <a:lnTo>
                          <a:pt x="66" y="205"/>
                        </a:lnTo>
                        <a:lnTo>
                          <a:pt x="140" y="156"/>
                        </a:lnTo>
                        <a:lnTo>
                          <a:pt x="247" y="106"/>
                        </a:lnTo>
                        <a:lnTo>
                          <a:pt x="371" y="65"/>
                        </a:lnTo>
                        <a:lnTo>
                          <a:pt x="519" y="33"/>
                        </a:lnTo>
                        <a:lnTo>
                          <a:pt x="675" y="16"/>
                        </a:lnTo>
                        <a:lnTo>
                          <a:pt x="840" y="0"/>
                        </a:lnTo>
                        <a:lnTo>
                          <a:pt x="1013" y="0"/>
                        </a:lnTo>
                        <a:lnTo>
                          <a:pt x="1177" y="16"/>
                        </a:lnTo>
                        <a:lnTo>
                          <a:pt x="1342" y="33"/>
                        </a:lnTo>
                        <a:lnTo>
                          <a:pt x="1482" y="65"/>
                        </a:lnTo>
                        <a:lnTo>
                          <a:pt x="1613" y="106"/>
                        </a:lnTo>
                        <a:lnTo>
                          <a:pt x="1712" y="156"/>
                        </a:lnTo>
                        <a:lnTo>
                          <a:pt x="1795" y="205"/>
                        </a:lnTo>
                        <a:lnTo>
                          <a:pt x="1836" y="263"/>
                        </a:lnTo>
                        <a:lnTo>
                          <a:pt x="1852" y="328"/>
                        </a:lnTo>
                        <a:lnTo>
                          <a:pt x="1836" y="386"/>
                        </a:lnTo>
                        <a:lnTo>
                          <a:pt x="1795" y="443"/>
                        </a:lnTo>
                        <a:lnTo>
                          <a:pt x="1712" y="493"/>
                        </a:lnTo>
                        <a:lnTo>
                          <a:pt x="1613" y="542"/>
                        </a:lnTo>
                        <a:lnTo>
                          <a:pt x="1482" y="583"/>
                        </a:lnTo>
                        <a:lnTo>
                          <a:pt x="1342" y="616"/>
                        </a:lnTo>
                        <a:lnTo>
                          <a:pt x="1177" y="641"/>
                        </a:lnTo>
                        <a:lnTo>
                          <a:pt x="1013" y="649"/>
                        </a:lnTo>
                        <a:lnTo>
                          <a:pt x="840" y="649"/>
                        </a:lnTo>
                        <a:lnTo>
                          <a:pt x="675" y="641"/>
                        </a:lnTo>
                        <a:lnTo>
                          <a:pt x="519" y="616"/>
                        </a:lnTo>
                        <a:lnTo>
                          <a:pt x="371" y="583"/>
                        </a:lnTo>
                        <a:lnTo>
                          <a:pt x="247" y="542"/>
                        </a:lnTo>
                        <a:lnTo>
                          <a:pt x="140" y="493"/>
                        </a:lnTo>
                        <a:lnTo>
                          <a:pt x="66" y="443"/>
                        </a:lnTo>
                        <a:lnTo>
                          <a:pt x="17" y="386"/>
                        </a:lnTo>
                        <a:lnTo>
                          <a:pt x="0" y="328"/>
                        </a:lnTo>
                      </a:path>
                    </a:pathLst>
                  </a:custGeom>
                  <a:solidFill>
                    <a:srgbClr val="FFFFFF"/>
                  </a:solidFill>
                  <a:ln cap="rnd" cmpd="sng" w="12700">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rgbClr val="000000"/>
                      </a:solidFill>
                      <a:latin typeface="Calibri"/>
                      <a:ea typeface="Calibri"/>
                      <a:cs typeface="Calibri"/>
                      <a:sym typeface="Calibri"/>
                    </a:endParaRPr>
                  </a:p>
                </p:txBody>
              </p:sp>
              <p:sp>
                <p:nvSpPr>
                  <p:cNvPr id="146" name="Google Shape;146;p18"/>
                  <p:cNvSpPr/>
                  <p:nvPr/>
                </p:nvSpPr>
                <p:spPr>
                  <a:xfrm>
                    <a:off x="3146" y="1589"/>
                    <a:ext cx="1672" cy="494"/>
                  </a:xfrm>
                  <a:custGeom>
                    <a:rect b="b" l="l" r="r" t="t"/>
                    <a:pathLst>
                      <a:path extrusionOk="0" h="494" w="1672">
                        <a:moveTo>
                          <a:pt x="0" y="247"/>
                        </a:moveTo>
                        <a:lnTo>
                          <a:pt x="16" y="198"/>
                        </a:lnTo>
                        <a:lnTo>
                          <a:pt x="66" y="148"/>
                        </a:lnTo>
                        <a:lnTo>
                          <a:pt x="148" y="107"/>
                        </a:lnTo>
                        <a:lnTo>
                          <a:pt x="247" y="74"/>
                        </a:lnTo>
                        <a:lnTo>
                          <a:pt x="370" y="41"/>
                        </a:lnTo>
                        <a:lnTo>
                          <a:pt x="518" y="17"/>
                        </a:lnTo>
                        <a:lnTo>
                          <a:pt x="675" y="0"/>
                        </a:lnTo>
                        <a:lnTo>
                          <a:pt x="839" y="0"/>
                        </a:lnTo>
                        <a:lnTo>
                          <a:pt x="996" y="0"/>
                        </a:lnTo>
                        <a:lnTo>
                          <a:pt x="1152" y="17"/>
                        </a:lnTo>
                        <a:lnTo>
                          <a:pt x="1300" y="41"/>
                        </a:lnTo>
                        <a:lnTo>
                          <a:pt x="1424" y="74"/>
                        </a:lnTo>
                        <a:lnTo>
                          <a:pt x="1531" y="107"/>
                        </a:lnTo>
                        <a:lnTo>
                          <a:pt x="1605" y="148"/>
                        </a:lnTo>
                        <a:lnTo>
                          <a:pt x="1654" y="198"/>
                        </a:lnTo>
                        <a:lnTo>
                          <a:pt x="1671" y="247"/>
                        </a:lnTo>
                        <a:lnTo>
                          <a:pt x="1654" y="296"/>
                        </a:lnTo>
                        <a:lnTo>
                          <a:pt x="1605" y="337"/>
                        </a:lnTo>
                        <a:lnTo>
                          <a:pt x="1531" y="378"/>
                        </a:lnTo>
                        <a:lnTo>
                          <a:pt x="1424" y="419"/>
                        </a:lnTo>
                        <a:lnTo>
                          <a:pt x="1300" y="452"/>
                        </a:lnTo>
                        <a:lnTo>
                          <a:pt x="1152" y="477"/>
                        </a:lnTo>
                        <a:lnTo>
                          <a:pt x="996" y="485"/>
                        </a:lnTo>
                        <a:lnTo>
                          <a:pt x="839" y="493"/>
                        </a:lnTo>
                        <a:lnTo>
                          <a:pt x="675" y="485"/>
                        </a:lnTo>
                        <a:lnTo>
                          <a:pt x="518" y="477"/>
                        </a:lnTo>
                        <a:lnTo>
                          <a:pt x="370" y="452"/>
                        </a:lnTo>
                        <a:lnTo>
                          <a:pt x="247" y="419"/>
                        </a:lnTo>
                        <a:lnTo>
                          <a:pt x="148" y="378"/>
                        </a:lnTo>
                        <a:lnTo>
                          <a:pt x="66" y="337"/>
                        </a:lnTo>
                        <a:lnTo>
                          <a:pt x="16" y="296"/>
                        </a:lnTo>
                        <a:lnTo>
                          <a:pt x="0" y="247"/>
                        </a:lnTo>
                      </a:path>
                    </a:pathLst>
                  </a:custGeom>
                  <a:solidFill>
                    <a:srgbClr val="FFFFFF"/>
                  </a:solidFill>
                  <a:ln cap="rnd" cmpd="sng" w="12700">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rgbClr val="000000"/>
                      </a:solidFill>
                      <a:latin typeface="Calibri"/>
                      <a:ea typeface="Calibri"/>
                      <a:cs typeface="Calibri"/>
                      <a:sym typeface="Calibri"/>
                    </a:endParaRPr>
                  </a:p>
                </p:txBody>
              </p:sp>
            </p:grpSp>
            <p:grpSp>
              <p:nvGrpSpPr>
                <p:cNvPr id="147" name="Google Shape;147;p18"/>
                <p:cNvGrpSpPr/>
                <p:nvPr/>
              </p:nvGrpSpPr>
              <p:grpSpPr>
                <a:xfrm>
                  <a:off x="2998" y="1096"/>
                  <a:ext cx="1984" cy="766"/>
                  <a:chOff x="2998" y="1096"/>
                  <a:chExt cx="1984" cy="766"/>
                </a:xfrm>
              </p:grpSpPr>
              <p:sp>
                <p:nvSpPr>
                  <p:cNvPr id="148" name="Google Shape;148;p18"/>
                  <p:cNvSpPr/>
                  <p:nvPr/>
                </p:nvSpPr>
                <p:spPr>
                  <a:xfrm>
                    <a:off x="2998" y="1096"/>
                    <a:ext cx="1984" cy="766"/>
                  </a:xfrm>
                  <a:custGeom>
                    <a:rect b="b" l="l" r="r" t="t"/>
                    <a:pathLst>
                      <a:path extrusionOk="0" h="766" w="1984">
                        <a:moveTo>
                          <a:pt x="0" y="378"/>
                        </a:moveTo>
                        <a:lnTo>
                          <a:pt x="16" y="313"/>
                        </a:lnTo>
                        <a:lnTo>
                          <a:pt x="57" y="247"/>
                        </a:lnTo>
                        <a:lnTo>
                          <a:pt x="131" y="189"/>
                        </a:lnTo>
                        <a:lnTo>
                          <a:pt x="230" y="132"/>
                        </a:lnTo>
                        <a:lnTo>
                          <a:pt x="353" y="91"/>
                        </a:lnTo>
                        <a:lnTo>
                          <a:pt x="493" y="50"/>
                        </a:lnTo>
                        <a:lnTo>
                          <a:pt x="650" y="25"/>
                        </a:lnTo>
                        <a:lnTo>
                          <a:pt x="814" y="0"/>
                        </a:lnTo>
                        <a:lnTo>
                          <a:pt x="987" y="0"/>
                        </a:lnTo>
                        <a:lnTo>
                          <a:pt x="1160" y="0"/>
                        </a:lnTo>
                        <a:lnTo>
                          <a:pt x="1333" y="25"/>
                        </a:lnTo>
                        <a:lnTo>
                          <a:pt x="1489" y="50"/>
                        </a:lnTo>
                        <a:lnTo>
                          <a:pt x="1629" y="91"/>
                        </a:lnTo>
                        <a:lnTo>
                          <a:pt x="1753" y="132"/>
                        </a:lnTo>
                        <a:lnTo>
                          <a:pt x="1852" y="189"/>
                        </a:lnTo>
                        <a:lnTo>
                          <a:pt x="1926" y="247"/>
                        </a:lnTo>
                        <a:lnTo>
                          <a:pt x="1967" y="313"/>
                        </a:lnTo>
                        <a:lnTo>
                          <a:pt x="1983" y="378"/>
                        </a:lnTo>
                        <a:lnTo>
                          <a:pt x="1967" y="444"/>
                        </a:lnTo>
                        <a:lnTo>
                          <a:pt x="1926" y="510"/>
                        </a:lnTo>
                        <a:lnTo>
                          <a:pt x="1852" y="567"/>
                        </a:lnTo>
                        <a:lnTo>
                          <a:pt x="1753" y="625"/>
                        </a:lnTo>
                        <a:lnTo>
                          <a:pt x="1629" y="674"/>
                        </a:lnTo>
                        <a:lnTo>
                          <a:pt x="1489" y="707"/>
                        </a:lnTo>
                        <a:lnTo>
                          <a:pt x="1333" y="740"/>
                        </a:lnTo>
                        <a:lnTo>
                          <a:pt x="1160" y="756"/>
                        </a:lnTo>
                        <a:lnTo>
                          <a:pt x="987" y="765"/>
                        </a:lnTo>
                        <a:lnTo>
                          <a:pt x="814" y="756"/>
                        </a:lnTo>
                        <a:lnTo>
                          <a:pt x="650" y="740"/>
                        </a:lnTo>
                        <a:lnTo>
                          <a:pt x="493" y="707"/>
                        </a:lnTo>
                        <a:lnTo>
                          <a:pt x="353" y="674"/>
                        </a:lnTo>
                        <a:lnTo>
                          <a:pt x="230" y="625"/>
                        </a:lnTo>
                        <a:lnTo>
                          <a:pt x="131" y="567"/>
                        </a:lnTo>
                        <a:lnTo>
                          <a:pt x="57" y="510"/>
                        </a:lnTo>
                        <a:lnTo>
                          <a:pt x="16" y="444"/>
                        </a:lnTo>
                        <a:lnTo>
                          <a:pt x="0" y="378"/>
                        </a:lnTo>
                      </a:path>
                    </a:pathLst>
                  </a:custGeom>
                  <a:solidFill>
                    <a:srgbClr val="FFFFFF"/>
                  </a:solidFill>
                  <a:ln cap="rnd" cmpd="sng" w="12700">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rgbClr val="000000"/>
                      </a:solidFill>
                      <a:latin typeface="Calibri"/>
                      <a:ea typeface="Calibri"/>
                      <a:cs typeface="Calibri"/>
                      <a:sym typeface="Calibri"/>
                    </a:endParaRPr>
                  </a:p>
                </p:txBody>
              </p:sp>
              <p:sp>
                <p:nvSpPr>
                  <p:cNvPr id="149" name="Google Shape;149;p18"/>
                  <p:cNvSpPr/>
                  <p:nvPr/>
                </p:nvSpPr>
                <p:spPr>
                  <a:xfrm>
                    <a:off x="3055" y="1154"/>
                    <a:ext cx="1853" cy="650"/>
                  </a:xfrm>
                  <a:custGeom>
                    <a:rect b="b" l="l" r="r" t="t"/>
                    <a:pathLst>
                      <a:path extrusionOk="0" h="650" w="1853">
                        <a:moveTo>
                          <a:pt x="0" y="329"/>
                        </a:moveTo>
                        <a:lnTo>
                          <a:pt x="17" y="263"/>
                        </a:lnTo>
                        <a:lnTo>
                          <a:pt x="66" y="205"/>
                        </a:lnTo>
                        <a:lnTo>
                          <a:pt x="140" y="156"/>
                        </a:lnTo>
                        <a:lnTo>
                          <a:pt x="247" y="107"/>
                        </a:lnTo>
                        <a:lnTo>
                          <a:pt x="371" y="66"/>
                        </a:lnTo>
                        <a:lnTo>
                          <a:pt x="519" y="33"/>
                        </a:lnTo>
                        <a:lnTo>
                          <a:pt x="675" y="16"/>
                        </a:lnTo>
                        <a:lnTo>
                          <a:pt x="840" y="0"/>
                        </a:lnTo>
                        <a:lnTo>
                          <a:pt x="1013" y="0"/>
                        </a:lnTo>
                        <a:lnTo>
                          <a:pt x="1177" y="16"/>
                        </a:lnTo>
                        <a:lnTo>
                          <a:pt x="1342" y="33"/>
                        </a:lnTo>
                        <a:lnTo>
                          <a:pt x="1482" y="66"/>
                        </a:lnTo>
                        <a:lnTo>
                          <a:pt x="1613" y="107"/>
                        </a:lnTo>
                        <a:lnTo>
                          <a:pt x="1712" y="156"/>
                        </a:lnTo>
                        <a:lnTo>
                          <a:pt x="1795" y="205"/>
                        </a:lnTo>
                        <a:lnTo>
                          <a:pt x="1836" y="263"/>
                        </a:lnTo>
                        <a:lnTo>
                          <a:pt x="1852" y="329"/>
                        </a:lnTo>
                        <a:lnTo>
                          <a:pt x="1836" y="386"/>
                        </a:lnTo>
                        <a:lnTo>
                          <a:pt x="1795" y="444"/>
                        </a:lnTo>
                        <a:lnTo>
                          <a:pt x="1712" y="493"/>
                        </a:lnTo>
                        <a:lnTo>
                          <a:pt x="1613" y="542"/>
                        </a:lnTo>
                        <a:lnTo>
                          <a:pt x="1482" y="583"/>
                        </a:lnTo>
                        <a:lnTo>
                          <a:pt x="1342" y="616"/>
                        </a:lnTo>
                        <a:lnTo>
                          <a:pt x="1177" y="641"/>
                        </a:lnTo>
                        <a:lnTo>
                          <a:pt x="1013" y="649"/>
                        </a:lnTo>
                        <a:lnTo>
                          <a:pt x="840" y="649"/>
                        </a:lnTo>
                        <a:lnTo>
                          <a:pt x="675" y="641"/>
                        </a:lnTo>
                        <a:lnTo>
                          <a:pt x="519" y="616"/>
                        </a:lnTo>
                        <a:lnTo>
                          <a:pt x="371" y="583"/>
                        </a:lnTo>
                        <a:lnTo>
                          <a:pt x="247" y="542"/>
                        </a:lnTo>
                        <a:lnTo>
                          <a:pt x="140" y="493"/>
                        </a:lnTo>
                        <a:lnTo>
                          <a:pt x="66" y="444"/>
                        </a:lnTo>
                        <a:lnTo>
                          <a:pt x="17" y="386"/>
                        </a:lnTo>
                        <a:lnTo>
                          <a:pt x="0" y="329"/>
                        </a:lnTo>
                      </a:path>
                    </a:pathLst>
                  </a:custGeom>
                  <a:solidFill>
                    <a:srgbClr val="FFFFFF"/>
                  </a:solidFill>
                  <a:ln cap="rnd" cmpd="sng" w="12700">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rgbClr val="000000"/>
                      </a:solidFill>
                      <a:latin typeface="Calibri"/>
                      <a:ea typeface="Calibri"/>
                      <a:cs typeface="Calibri"/>
                      <a:sym typeface="Calibri"/>
                    </a:endParaRPr>
                  </a:p>
                </p:txBody>
              </p:sp>
              <p:sp>
                <p:nvSpPr>
                  <p:cNvPr id="150" name="Google Shape;150;p18"/>
                  <p:cNvSpPr/>
                  <p:nvPr/>
                </p:nvSpPr>
                <p:spPr>
                  <a:xfrm>
                    <a:off x="3146" y="1220"/>
                    <a:ext cx="1672" cy="494"/>
                  </a:xfrm>
                  <a:custGeom>
                    <a:rect b="b" l="l" r="r" t="t"/>
                    <a:pathLst>
                      <a:path extrusionOk="0" h="494" w="1672">
                        <a:moveTo>
                          <a:pt x="0" y="246"/>
                        </a:moveTo>
                        <a:lnTo>
                          <a:pt x="16" y="197"/>
                        </a:lnTo>
                        <a:lnTo>
                          <a:pt x="66" y="147"/>
                        </a:lnTo>
                        <a:lnTo>
                          <a:pt x="148" y="106"/>
                        </a:lnTo>
                        <a:lnTo>
                          <a:pt x="247" y="74"/>
                        </a:lnTo>
                        <a:lnTo>
                          <a:pt x="370" y="41"/>
                        </a:lnTo>
                        <a:lnTo>
                          <a:pt x="518" y="16"/>
                        </a:lnTo>
                        <a:lnTo>
                          <a:pt x="675" y="0"/>
                        </a:lnTo>
                        <a:lnTo>
                          <a:pt x="839" y="0"/>
                        </a:lnTo>
                        <a:lnTo>
                          <a:pt x="996" y="0"/>
                        </a:lnTo>
                        <a:lnTo>
                          <a:pt x="1152" y="16"/>
                        </a:lnTo>
                        <a:lnTo>
                          <a:pt x="1300" y="41"/>
                        </a:lnTo>
                        <a:lnTo>
                          <a:pt x="1424" y="74"/>
                        </a:lnTo>
                        <a:lnTo>
                          <a:pt x="1531" y="106"/>
                        </a:lnTo>
                        <a:lnTo>
                          <a:pt x="1605" y="147"/>
                        </a:lnTo>
                        <a:lnTo>
                          <a:pt x="1654" y="197"/>
                        </a:lnTo>
                        <a:lnTo>
                          <a:pt x="1671" y="246"/>
                        </a:lnTo>
                        <a:lnTo>
                          <a:pt x="1654" y="295"/>
                        </a:lnTo>
                        <a:lnTo>
                          <a:pt x="1605" y="337"/>
                        </a:lnTo>
                        <a:lnTo>
                          <a:pt x="1531" y="378"/>
                        </a:lnTo>
                        <a:lnTo>
                          <a:pt x="1424" y="419"/>
                        </a:lnTo>
                        <a:lnTo>
                          <a:pt x="1300" y="452"/>
                        </a:lnTo>
                        <a:lnTo>
                          <a:pt x="1152" y="476"/>
                        </a:lnTo>
                        <a:lnTo>
                          <a:pt x="996" y="484"/>
                        </a:lnTo>
                        <a:lnTo>
                          <a:pt x="839" y="493"/>
                        </a:lnTo>
                        <a:lnTo>
                          <a:pt x="675" y="484"/>
                        </a:lnTo>
                        <a:lnTo>
                          <a:pt x="518" y="476"/>
                        </a:lnTo>
                        <a:lnTo>
                          <a:pt x="370" y="452"/>
                        </a:lnTo>
                        <a:lnTo>
                          <a:pt x="247" y="419"/>
                        </a:lnTo>
                        <a:lnTo>
                          <a:pt x="148" y="378"/>
                        </a:lnTo>
                        <a:lnTo>
                          <a:pt x="66" y="337"/>
                        </a:lnTo>
                        <a:lnTo>
                          <a:pt x="16" y="295"/>
                        </a:lnTo>
                        <a:lnTo>
                          <a:pt x="0" y="246"/>
                        </a:lnTo>
                      </a:path>
                    </a:pathLst>
                  </a:custGeom>
                  <a:solidFill>
                    <a:srgbClr val="FFFFFF"/>
                  </a:solidFill>
                  <a:ln cap="rnd" cmpd="sng" w="12700">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rgbClr val="000000"/>
                      </a:solidFill>
                      <a:latin typeface="Calibri"/>
                      <a:ea typeface="Calibri"/>
                      <a:cs typeface="Calibri"/>
                      <a:sym typeface="Calibri"/>
                    </a:endParaRPr>
                  </a:p>
                </p:txBody>
              </p:sp>
            </p:grpSp>
            <p:sp>
              <p:nvSpPr>
                <p:cNvPr id="151" name="Google Shape;151;p18"/>
                <p:cNvSpPr/>
                <p:nvPr/>
              </p:nvSpPr>
              <p:spPr>
                <a:xfrm>
                  <a:off x="2981" y="2797"/>
                  <a:ext cx="1993" cy="766"/>
                </a:xfrm>
                <a:custGeom>
                  <a:rect b="b" l="l" r="r" t="t"/>
                  <a:pathLst>
                    <a:path extrusionOk="0" h="766" w="1993">
                      <a:moveTo>
                        <a:pt x="0" y="378"/>
                      </a:moveTo>
                      <a:lnTo>
                        <a:pt x="17" y="313"/>
                      </a:lnTo>
                      <a:lnTo>
                        <a:pt x="66" y="247"/>
                      </a:lnTo>
                      <a:lnTo>
                        <a:pt x="132" y="189"/>
                      </a:lnTo>
                      <a:lnTo>
                        <a:pt x="239" y="140"/>
                      </a:lnTo>
                      <a:lnTo>
                        <a:pt x="354" y="91"/>
                      </a:lnTo>
                      <a:lnTo>
                        <a:pt x="502" y="50"/>
                      </a:lnTo>
                      <a:lnTo>
                        <a:pt x="659" y="25"/>
                      </a:lnTo>
                      <a:lnTo>
                        <a:pt x="823" y="9"/>
                      </a:lnTo>
                      <a:lnTo>
                        <a:pt x="996" y="0"/>
                      </a:lnTo>
                      <a:lnTo>
                        <a:pt x="1169" y="9"/>
                      </a:lnTo>
                      <a:lnTo>
                        <a:pt x="1334" y="25"/>
                      </a:lnTo>
                      <a:lnTo>
                        <a:pt x="1490" y="50"/>
                      </a:lnTo>
                      <a:lnTo>
                        <a:pt x="1638" y="91"/>
                      </a:lnTo>
                      <a:lnTo>
                        <a:pt x="1753" y="140"/>
                      </a:lnTo>
                      <a:lnTo>
                        <a:pt x="1860" y="189"/>
                      </a:lnTo>
                      <a:lnTo>
                        <a:pt x="1926" y="247"/>
                      </a:lnTo>
                      <a:lnTo>
                        <a:pt x="1976" y="313"/>
                      </a:lnTo>
                      <a:lnTo>
                        <a:pt x="1992" y="378"/>
                      </a:lnTo>
                      <a:lnTo>
                        <a:pt x="1976" y="444"/>
                      </a:lnTo>
                      <a:lnTo>
                        <a:pt x="1926" y="510"/>
                      </a:lnTo>
                      <a:lnTo>
                        <a:pt x="1860" y="576"/>
                      </a:lnTo>
                      <a:lnTo>
                        <a:pt x="1753" y="625"/>
                      </a:lnTo>
                      <a:lnTo>
                        <a:pt x="1638" y="674"/>
                      </a:lnTo>
                      <a:lnTo>
                        <a:pt x="1490" y="715"/>
                      </a:lnTo>
                      <a:lnTo>
                        <a:pt x="1334" y="740"/>
                      </a:lnTo>
                      <a:lnTo>
                        <a:pt x="1169" y="756"/>
                      </a:lnTo>
                      <a:lnTo>
                        <a:pt x="996" y="765"/>
                      </a:lnTo>
                      <a:lnTo>
                        <a:pt x="823" y="756"/>
                      </a:lnTo>
                      <a:lnTo>
                        <a:pt x="659" y="740"/>
                      </a:lnTo>
                      <a:lnTo>
                        <a:pt x="502" y="715"/>
                      </a:lnTo>
                      <a:lnTo>
                        <a:pt x="354" y="674"/>
                      </a:lnTo>
                      <a:lnTo>
                        <a:pt x="239" y="625"/>
                      </a:lnTo>
                      <a:lnTo>
                        <a:pt x="132" y="576"/>
                      </a:lnTo>
                      <a:lnTo>
                        <a:pt x="66" y="510"/>
                      </a:lnTo>
                      <a:lnTo>
                        <a:pt x="17" y="444"/>
                      </a:lnTo>
                      <a:lnTo>
                        <a:pt x="0" y="378"/>
                      </a:lnTo>
                    </a:path>
                  </a:pathLst>
                </a:custGeom>
                <a:solidFill>
                  <a:srgbClr val="000000"/>
                </a:solidFill>
                <a:ln cap="rnd" cmpd="sng" w="12700">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rgbClr val="000000"/>
                    </a:solidFill>
                    <a:latin typeface="Calibri"/>
                    <a:ea typeface="Calibri"/>
                    <a:cs typeface="Calibri"/>
                    <a:sym typeface="Calibri"/>
                  </a:endParaRPr>
                </a:p>
              </p:txBody>
            </p:sp>
          </p:grpSp>
          <p:grpSp>
            <p:nvGrpSpPr>
              <p:cNvPr id="152" name="Google Shape;152;p18"/>
              <p:cNvGrpSpPr/>
              <p:nvPr/>
            </p:nvGrpSpPr>
            <p:grpSpPr>
              <a:xfrm>
                <a:off x="2981" y="2756"/>
                <a:ext cx="1993" cy="766"/>
                <a:chOff x="2981" y="2756"/>
                <a:chExt cx="1993" cy="766"/>
              </a:xfrm>
            </p:grpSpPr>
            <p:sp>
              <p:nvSpPr>
                <p:cNvPr id="153" name="Google Shape;153;p18"/>
                <p:cNvSpPr/>
                <p:nvPr/>
              </p:nvSpPr>
              <p:spPr>
                <a:xfrm>
                  <a:off x="2981" y="2756"/>
                  <a:ext cx="1993" cy="766"/>
                </a:xfrm>
                <a:custGeom>
                  <a:rect b="b" l="l" r="r" t="t"/>
                  <a:pathLst>
                    <a:path extrusionOk="0" h="766" w="1993">
                      <a:moveTo>
                        <a:pt x="0" y="387"/>
                      </a:moveTo>
                      <a:lnTo>
                        <a:pt x="17" y="321"/>
                      </a:lnTo>
                      <a:lnTo>
                        <a:pt x="66" y="255"/>
                      </a:lnTo>
                      <a:lnTo>
                        <a:pt x="132" y="198"/>
                      </a:lnTo>
                      <a:lnTo>
                        <a:pt x="239" y="140"/>
                      </a:lnTo>
                      <a:lnTo>
                        <a:pt x="354" y="91"/>
                      </a:lnTo>
                      <a:lnTo>
                        <a:pt x="502" y="58"/>
                      </a:lnTo>
                      <a:lnTo>
                        <a:pt x="659" y="25"/>
                      </a:lnTo>
                      <a:lnTo>
                        <a:pt x="823" y="9"/>
                      </a:lnTo>
                      <a:lnTo>
                        <a:pt x="996" y="0"/>
                      </a:lnTo>
                      <a:lnTo>
                        <a:pt x="1169" y="9"/>
                      </a:lnTo>
                      <a:lnTo>
                        <a:pt x="1334" y="25"/>
                      </a:lnTo>
                      <a:lnTo>
                        <a:pt x="1490" y="58"/>
                      </a:lnTo>
                      <a:lnTo>
                        <a:pt x="1638" y="91"/>
                      </a:lnTo>
                      <a:lnTo>
                        <a:pt x="1753" y="140"/>
                      </a:lnTo>
                      <a:lnTo>
                        <a:pt x="1860" y="198"/>
                      </a:lnTo>
                      <a:lnTo>
                        <a:pt x="1926" y="255"/>
                      </a:lnTo>
                      <a:lnTo>
                        <a:pt x="1976" y="321"/>
                      </a:lnTo>
                      <a:lnTo>
                        <a:pt x="1992" y="387"/>
                      </a:lnTo>
                      <a:lnTo>
                        <a:pt x="1976" y="452"/>
                      </a:lnTo>
                      <a:lnTo>
                        <a:pt x="1926" y="518"/>
                      </a:lnTo>
                      <a:lnTo>
                        <a:pt x="1860" y="576"/>
                      </a:lnTo>
                      <a:lnTo>
                        <a:pt x="1753" y="633"/>
                      </a:lnTo>
                      <a:lnTo>
                        <a:pt x="1638" y="674"/>
                      </a:lnTo>
                      <a:lnTo>
                        <a:pt x="1490" y="715"/>
                      </a:lnTo>
                      <a:lnTo>
                        <a:pt x="1334" y="740"/>
                      </a:lnTo>
                      <a:lnTo>
                        <a:pt x="1169" y="756"/>
                      </a:lnTo>
                      <a:lnTo>
                        <a:pt x="996" y="765"/>
                      </a:lnTo>
                      <a:lnTo>
                        <a:pt x="823" y="756"/>
                      </a:lnTo>
                      <a:lnTo>
                        <a:pt x="659" y="740"/>
                      </a:lnTo>
                      <a:lnTo>
                        <a:pt x="502" y="715"/>
                      </a:lnTo>
                      <a:lnTo>
                        <a:pt x="354" y="674"/>
                      </a:lnTo>
                      <a:lnTo>
                        <a:pt x="239" y="633"/>
                      </a:lnTo>
                      <a:lnTo>
                        <a:pt x="132" y="576"/>
                      </a:lnTo>
                      <a:lnTo>
                        <a:pt x="66" y="518"/>
                      </a:lnTo>
                      <a:lnTo>
                        <a:pt x="17" y="452"/>
                      </a:lnTo>
                      <a:lnTo>
                        <a:pt x="0" y="387"/>
                      </a:lnTo>
                    </a:path>
                  </a:pathLst>
                </a:custGeom>
                <a:solidFill>
                  <a:srgbClr val="FFFFFF"/>
                </a:solidFill>
                <a:ln cap="rnd" cmpd="sng" w="12700">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rgbClr val="000000"/>
                    </a:solidFill>
                    <a:latin typeface="Calibri"/>
                    <a:ea typeface="Calibri"/>
                    <a:cs typeface="Calibri"/>
                    <a:sym typeface="Calibri"/>
                  </a:endParaRPr>
                </a:p>
              </p:txBody>
            </p:sp>
            <p:sp>
              <p:nvSpPr>
                <p:cNvPr id="154" name="Google Shape;154;p18"/>
                <p:cNvSpPr/>
                <p:nvPr/>
              </p:nvSpPr>
              <p:spPr>
                <a:xfrm>
                  <a:off x="3047" y="2822"/>
                  <a:ext cx="1853" cy="642"/>
                </a:xfrm>
                <a:custGeom>
                  <a:rect b="b" l="l" r="r" t="t"/>
                  <a:pathLst>
                    <a:path extrusionOk="0" h="642" w="1853">
                      <a:moveTo>
                        <a:pt x="0" y="321"/>
                      </a:moveTo>
                      <a:lnTo>
                        <a:pt x="16" y="263"/>
                      </a:lnTo>
                      <a:lnTo>
                        <a:pt x="58" y="206"/>
                      </a:lnTo>
                      <a:lnTo>
                        <a:pt x="140" y="148"/>
                      </a:lnTo>
                      <a:lnTo>
                        <a:pt x="239" y="107"/>
                      </a:lnTo>
                      <a:lnTo>
                        <a:pt x="362" y="66"/>
                      </a:lnTo>
                      <a:lnTo>
                        <a:pt x="510" y="33"/>
                      </a:lnTo>
                      <a:lnTo>
                        <a:pt x="667" y="8"/>
                      </a:lnTo>
                      <a:lnTo>
                        <a:pt x="840" y="0"/>
                      </a:lnTo>
                      <a:lnTo>
                        <a:pt x="1012" y="0"/>
                      </a:lnTo>
                      <a:lnTo>
                        <a:pt x="1177" y="8"/>
                      </a:lnTo>
                      <a:lnTo>
                        <a:pt x="1333" y="33"/>
                      </a:lnTo>
                      <a:lnTo>
                        <a:pt x="1482" y="66"/>
                      </a:lnTo>
                      <a:lnTo>
                        <a:pt x="1605" y="107"/>
                      </a:lnTo>
                      <a:lnTo>
                        <a:pt x="1712" y="148"/>
                      </a:lnTo>
                      <a:lnTo>
                        <a:pt x="1786" y="206"/>
                      </a:lnTo>
                      <a:lnTo>
                        <a:pt x="1835" y="263"/>
                      </a:lnTo>
                      <a:lnTo>
                        <a:pt x="1852" y="321"/>
                      </a:lnTo>
                      <a:lnTo>
                        <a:pt x="1835" y="378"/>
                      </a:lnTo>
                      <a:lnTo>
                        <a:pt x="1786" y="436"/>
                      </a:lnTo>
                      <a:lnTo>
                        <a:pt x="1712" y="493"/>
                      </a:lnTo>
                      <a:lnTo>
                        <a:pt x="1605" y="542"/>
                      </a:lnTo>
                      <a:lnTo>
                        <a:pt x="1482" y="584"/>
                      </a:lnTo>
                      <a:lnTo>
                        <a:pt x="1333" y="608"/>
                      </a:lnTo>
                      <a:lnTo>
                        <a:pt x="1177" y="633"/>
                      </a:lnTo>
                      <a:lnTo>
                        <a:pt x="1012" y="641"/>
                      </a:lnTo>
                      <a:lnTo>
                        <a:pt x="840" y="641"/>
                      </a:lnTo>
                      <a:lnTo>
                        <a:pt x="667" y="633"/>
                      </a:lnTo>
                      <a:lnTo>
                        <a:pt x="510" y="608"/>
                      </a:lnTo>
                      <a:lnTo>
                        <a:pt x="362" y="584"/>
                      </a:lnTo>
                      <a:lnTo>
                        <a:pt x="239" y="542"/>
                      </a:lnTo>
                      <a:lnTo>
                        <a:pt x="140" y="493"/>
                      </a:lnTo>
                      <a:lnTo>
                        <a:pt x="58" y="436"/>
                      </a:lnTo>
                      <a:lnTo>
                        <a:pt x="16" y="378"/>
                      </a:lnTo>
                      <a:lnTo>
                        <a:pt x="0" y="321"/>
                      </a:lnTo>
                    </a:path>
                  </a:pathLst>
                </a:custGeom>
                <a:solidFill>
                  <a:srgbClr val="FFFFFF"/>
                </a:solidFill>
                <a:ln cap="rnd" cmpd="sng" w="12700">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rgbClr val="000000"/>
                    </a:solidFill>
                    <a:latin typeface="Calibri"/>
                    <a:ea typeface="Calibri"/>
                    <a:cs typeface="Calibri"/>
                    <a:sym typeface="Calibri"/>
                  </a:endParaRPr>
                </a:p>
              </p:txBody>
            </p:sp>
            <p:sp>
              <p:nvSpPr>
                <p:cNvPr id="155" name="Google Shape;155;p18"/>
                <p:cNvSpPr/>
                <p:nvPr/>
              </p:nvSpPr>
              <p:spPr>
                <a:xfrm>
                  <a:off x="3137" y="2880"/>
                  <a:ext cx="1672" cy="494"/>
                </a:xfrm>
                <a:custGeom>
                  <a:rect b="b" l="l" r="r" t="t"/>
                  <a:pathLst>
                    <a:path extrusionOk="0" h="494" w="1672">
                      <a:moveTo>
                        <a:pt x="0" y="246"/>
                      </a:moveTo>
                      <a:lnTo>
                        <a:pt x="17" y="197"/>
                      </a:lnTo>
                      <a:lnTo>
                        <a:pt x="66" y="156"/>
                      </a:lnTo>
                      <a:lnTo>
                        <a:pt x="140" y="115"/>
                      </a:lnTo>
                      <a:lnTo>
                        <a:pt x="247" y="74"/>
                      </a:lnTo>
                      <a:lnTo>
                        <a:pt x="371" y="41"/>
                      </a:lnTo>
                      <a:lnTo>
                        <a:pt x="519" y="24"/>
                      </a:lnTo>
                      <a:lnTo>
                        <a:pt x="675" y="8"/>
                      </a:lnTo>
                      <a:lnTo>
                        <a:pt x="832" y="0"/>
                      </a:lnTo>
                      <a:lnTo>
                        <a:pt x="996" y="8"/>
                      </a:lnTo>
                      <a:lnTo>
                        <a:pt x="1153" y="24"/>
                      </a:lnTo>
                      <a:lnTo>
                        <a:pt x="1301" y="41"/>
                      </a:lnTo>
                      <a:lnTo>
                        <a:pt x="1424" y="74"/>
                      </a:lnTo>
                      <a:lnTo>
                        <a:pt x="1523" y="115"/>
                      </a:lnTo>
                      <a:lnTo>
                        <a:pt x="1606" y="156"/>
                      </a:lnTo>
                      <a:lnTo>
                        <a:pt x="1655" y="197"/>
                      </a:lnTo>
                      <a:lnTo>
                        <a:pt x="1671" y="246"/>
                      </a:lnTo>
                      <a:lnTo>
                        <a:pt x="1655" y="295"/>
                      </a:lnTo>
                      <a:lnTo>
                        <a:pt x="1606" y="345"/>
                      </a:lnTo>
                      <a:lnTo>
                        <a:pt x="1523" y="386"/>
                      </a:lnTo>
                      <a:lnTo>
                        <a:pt x="1424" y="427"/>
                      </a:lnTo>
                      <a:lnTo>
                        <a:pt x="1301" y="452"/>
                      </a:lnTo>
                      <a:lnTo>
                        <a:pt x="1153" y="476"/>
                      </a:lnTo>
                      <a:lnTo>
                        <a:pt x="996" y="493"/>
                      </a:lnTo>
                      <a:lnTo>
                        <a:pt x="832" y="493"/>
                      </a:lnTo>
                      <a:lnTo>
                        <a:pt x="675" y="493"/>
                      </a:lnTo>
                      <a:lnTo>
                        <a:pt x="519" y="476"/>
                      </a:lnTo>
                      <a:lnTo>
                        <a:pt x="371" y="452"/>
                      </a:lnTo>
                      <a:lnTo>
                        <a:pt x="247" y="427"/>
                      </a:lnTo>
                      <a:lnTo>
                        <a:pt x="140" y="386"/>
                      </a:lnTo>
                      <a:lnTo>
                        <a:pt x="66" y="345"/>
                      </a:lnTo>
                      <a:lnTo>
                        <a:pt x="17" y="295"/>
                      </a:lnTo>
                      <a:lnTo>
                        <a:pt x="0" y="246"/>
                      </a:lnTo>
                    </a:path>
                  </a:pathLst>
                </a:custGeom>
                <a:solidFill>
                  <a:srgbClr val="FFFFFF"/>
                </a:solidFill>
                <a:ln cap="rnd" cmpd="sng" w="12700">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rgbClr val="000000"/>
                    </a:solidFill>
                    <a:latin typeface="Calibri"/>
                    <a:ea typeface="Calibri"/>
                    <a:cs typeface="Calibri"/>
                    <a:sym typeface="Calibri"/>
                  </a:endParaRPr>
                </a:p>
              </p:txBody>
            </p:sp>
          </p:grpSp>
          <p:grpSp>
            <p:nvGrpSpPr>
              <p:cNvPr id="156" name="Google Shape;156;p18"/>
              <p:cNvGrpSpPr/>
              <p:nvPr/>
            </p:nvGrpSpPr>
            <p:grpSpPr>
              <a:xfrm>
                <a:off x="3788" y="669"/>
                <a:ext cx="429" cy="2516"/>
                <a:chOff x="3788" y="669"/>
                <a:chExt cx="429" cy="2516"/>
              </a:xfrm>
            </p:grpSpPr>
            <p:sp>
              <p:nvSpPr>
                <p:cNvPr id="157" name="Google Shape;157;p18"/>
                <p:cNvSpPr/>
                <p:nvPr/>
              </p:nvSpPr>
              <p:spPr>
                <a:xfrm>
                  <a:off x="3845" y="784"/>
                  <a:ext cx="248" cy="741"/>
                </a:xfrm>
                <a:custGeom>
                  <a:rect b="b" l="l" r="r" t="t"/>
                  <a:pathLst>
                    <a:path extrusionOk="0" h="741" w="248">
                      <a:moveTo>
                        <a:pt x="247" y="649"/>
                      </a:moveTo>
                      <a:lnTo>
                        <a:pt x="247" y="0"/>
                      </a:lnTo>
                      <a:lnTo>
                        <a:pt x="0" y="0"/>
                      </a:lnTo>
                      <a:lnTo>
                        <a:pt x="0" y="649"/>
                      </a:lnTo>
                      <a:lnTo>
                        <a:pt x="0" y="657"/>
                      </a:lnTo>
                      <a:lnTo>
                        <a:pt x="17" y="699"/>
                      </a:lnTo>
                      <a:lnTo>
                        <a:pt x="50" y="723"/>
                      </a:lnTo>
                      <a:lnTo>
                        <a:pt x="99" y="740"/>
                      </a:lnTo>
                      <a:lnTo>
                        <a:pt x="157" y="740"/>
                      </a:lnTo>
                      <a:lnTo>
                        <a:pt x="206" y="723"/>
                      </a:lnTo>
                      <a:lnTo>
                        <a:pt x="239" y="699"/>
                      </a:lnTo>
                      <a:lnTo>
                        <a:pt x="247" y="657"/>
                      </a:lnTo>
                      <a:lnTo>
                        <a:pt x="247" y="649"/>
                      </a:lnTo>
                    </a:path>
                  </a:pathLst>
                </a:custGeom>
                <a:solidFill>
                  <a:srgbClr val="FFFFFF"/>
                </a:solidFill>
                <a:ln cap="rnd" cmpd="sng" w="12700">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rgbClr val="000000"/>
                    </a:solidFill>
                    <a:latin typeface="Calibri"/>
                    <a:ea typeface="Calibri"/>
                    <a:cs typeface="Calibri"/>
                    <a:sym typeface="Calibri"/>
                  </a:endParaRPr>
                </a:p>
              </p:txBody>
            </p:sp>
            <p:sp>
              <p:nvSpPr>
                <p:cNvPr id="158" name="Google Shape;158;p18"/>
                <p:cNvSpPr/>
                <p:nvPr/>
              </p:nvSpPr>
              <p:spPr>
                <a:xfrm>
                  <a:off x="3845" y="669"/>
                  <a:ext cx="248" cy="157"/>
                </a:xfrm>
                <a:custGeom>
                  <a:rect b="b" l="l" r="r" t="t"/>
                  <a:pathLst>
                    <a:path extrusionOk="0" h="157" w="248">
                      <a:moveTo>
                        <a:pt x="0" y="74"/>
                      </a:moveTo>
                      <a:lnTo>
                        <a:pt x="17" y="41"/>
                      </a:lnTo>
                      <a:lnTo>
                        <a:pt x="50" y="8"/>
                      </a:lnTo>
                      <a:lnTo>
                        <a:pt x="99" y="0"/>
                      </a:lnTo>
                      <a:lnTo>
                        <a:pt x="157" y="0"/>
                      </a:lnTo>
                      <a:lnTo>
                        <a:pt x="206" y="8"/>
                      </a:lnTo>
                      <a:lnTo>
                        <a:pt x="239" y="41"/>
                      </a:lnTo>
                      <a:lnTo>
                        <a:pt x="247" y="74"/>
                      </a:lnTo>
                      <a:lnTo>
                        <a:pt x="239" y="115"/>
                      </a:lnTo>
                      <a:lnTo>
                        <a:pt x="206" y="140"/>
                      </a:lnTo>
                      <a:lnTo>
                        <a:pt x="157" y="156"/>
                      </a:lnTo>
                      <a:lnTo>
                        <a:pt x="99" y="156"/>
                      </a:lnTo>
                      <a:lnTo>
                        <a:pt x="50" y="140"/>
                      </a:lnTo>
                      <a:lnTo>
                        <a:pt x="17" y="115"/>
                      </a:lnTo>
                      <a:lnTo>
                        <a:pt x="0" y="74"/>
                      </a:lnTo>
                    </a:path>
                  </a:pathLst>
                </a:custGeom>
                <a:solidFill>
                  <a:srgbClr val="FFFFFF"/>
                </a:solidFill>
                <a:ln cap="rnd" cmpd="sng" w="12700">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rgbClr val="000000"/>
                    </a:solidFill>
                    <a:latin typeface="Calibri"/>
                    <a:ea typeface="Calibri"/>
                    <a:cs typeface="Calibri"/>
                    <a:sym typeface="Calibri"/>
                  </a:endParaRPr>
                </a:p>
              </p:txBody>
            </p:sp>
            <p:sp>
              <p:nvSpPr>
                <p:cNvPr id="159" name="Google Shape;159;p18"/>
                <p:cNvSpPr/>
                <p:nvPr/>
              </p:nvSpPr>
              <p:spPr>
                <a:xfrm>
                  <a:off x="3845" y="2263"/>
                  <a:ext cx="248" cy="922"/>
                </a:xfrm>
                <a:custGeom>
                  <a:rect b="b" l="l" r="r" t="t"/>
                  <a:pathLst>
                    <a:path extrusionOk="0" h="922" w="248">
                      <a:moveTo>
                        <a:pt x="247" y="814"/>
                      </a:moveTo>
                      <a:lnTo>
                        <a:pt x="247" y="0"/>
                      </a:lnTo>
                      <a:lnTo>
                        <a:pt x="0" y="0"/>
                      </a:lnTo>
                      <a:lnTo>
                        <a:pt x="0" y="814"/>
                      </a:lnTo>
                      <a:lnTo>
                        <a:pt x="0" y="822"/>
                      </a:lnTo>
                      <a:lnTo>
                        <a:pt x="17" y="871"/>
                      </a:lnTo>
                      <a:lnTo>
                        <a:pt x="50" y="904"/>
                      </a:lnTo>
                      <a:lnTo>
                        <a:pt x="99" y="921"/>
                      </a:lnTo>
                      <a:lnTo>
                        <a:pt x="157" y="921"/>
                      </a:lnTo>
                      <a:lnTo>
                        <a:pt x="206" y="904"/>
                      </a:lnTo>
                      <a:lnTo>
                        <a:pt x="239" y="871"/>
                      </a:lnTo>
                      <a:lnTo>
                        <a:pt x="247" y="822"/>
                      </a:lnTo>
                      <a:lnTo>
                        <a:pt x="247" y="814"/>
                      </a:lnTo>
                    </a:path>
                  </a:pathLst>
                </a:custGeom>
                <a:solidFill>
                  <a:srgbClr val="FFFFFF"/>
                </a:solidFill>
                <a:ln cap="rnd" cmpd="sng" w="12700">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rgbClr val="000000"/>
                    </a:solidFill>
                    <a:latin typeface="Calibri"/>
                    <a:ea typeface="Calibri"/>
                    <a:cs typeface="Calibri"/>
                    <a:sym typeface="Calibri"/>
                  </a:endParaRPr>
                </a:p>
              </p:txBody>
            </p:sp>
            <p:sp>
              <p:nvSpPr>
                <p:cNvPr id="160" name="Google Shape;160;p18"/>
                <p:cNvSpPr/>
                <p:nvPr/>
              </p:nvSpPr>
              <p:spPr>
                <a:xfrm>
                  <a:off x="3788" y="850"/>
                  <a:ext cx="429" cy="247"/>
                </a:xfrm>
                <a:custGeom>
                  <a:rect b="b" l="l" r="r" t="t"/>
                  <a:pathLst>
                    <a:path extrusionOk="0" h="247" w="429">
                      <a:moveTo>
                        <a:pt x="57" y="0"/>
                      </a:moveTo>
                      <a:lnTo>
                        <a:pt x="16" y="49"/>
                      </a:lnTo>
                      <a:lnTo>
                        <a:pt x="0" y="98"/>
                      </a:lnTo>
                      <a:lnTo>
                        <a:pt x="16" y="156"/>
                      </a:lnTo>
                      <a:lnTo>
                        <a:pt x="66" y="205"/>
                      </a:lnTo>
                      <a:lnTo>
                        <a:pt x="131" y="230"/>
                      </a:lnTo>
                      <a:lnTo>
                        <a:pt x="214" y="246"/>
                      </a:lnTo>
                      <a:lnTo>
                        <a:pt x="296" y="230"/>
                      </a:lnTo>
                      <a:lnTo>
                        <a:pt x="362" y="205"/>
                      </a:lnTo>
                      <a:lnTo>
                        <a:pt x="411" y="156"/>
                      </a:lnTo>
                      <a:lnTo>
                        <a:pt x="428" y="98"/>
                      </a:lnTo>
                      <a:lnTo>
                        <a:pt x="411" y="49"/>
                      </a:lnTo>
                    </a:path>
                  </a:pathLst>
                </a:custGeom>
                <a:noFill/>
                <a:ln cap="rnd"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rgbClr val="000000"/>
                    </a:solidFill>
                    <a:latin typeface="Calibri"/>
                    <a:ea typeface="Calibri"/>
                    <a:cs typeface="Calibri"/>
                    <a:sym typeface="Calibri"/>
                  </a:endParaRPr>
                </a:p>
              </p:txBody>
            </p:sp>
          </p:grpSp>
        </p:grpSp>
        <p:sp>
          <p:nvSpPr>
            <p:cNvPr id="161" name="Google Shape;161;p18"/>
            <p:cNvSpPr/>
            <p:nvPr/>
          </p:nvSpPr>
          <p:spPr>
            <a:xfrm>
              <a:off x="8574088" y="2344738"/>
              <a:ext cx="171450" cy="171450"/>
            </a:xfrm>
            <a:custGeom>
              <a:rect b="b" l="l" r="r" t="t"/>
              <a:pathLst>
                <a:path extrusionOk="0" h="108" w="108">
                  <a:moveTo>
                    <a:pt x="25" y="107"/>
                  </a:moveTo>
                  <a:lnTo>
                    <a:pt x="0" y="0"/>
                  </a:lnTo>
                  <a:lnTo>
                    <a:pt x="107" y="41"/>
                  </a:lnTo>
                  <a:lnTo>
                    <a:pt x="25" y="107"/>
                  </a:lnTo>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rgbClr val="000000"/>
                </a:solidFill>
                <a:latin typeface="Calibri"/>
                <a:ea typeface="Calibri"/>
                <a:cs typeface="Calibri"/>
                <a:sym typeface="Calibri"/>
              </a:endParaRPr>
            </a:p>
          </p:txBody>
        </p:sp>
        <p:cxnSp>
          <p:nvCxnSpPr>
            <p:cNvPr id="162" name="Google Shape;162;p18"/>
            <p:cNvCxnSpPr/>
            <p:nvPr/>
          </p:nvCxnSpPr>
          <p:spPr>
            <a:xfrm>
              <a:off x="6118226" y="3322638"/>
              <a:ext cx="784225" cy="0"/>
            </a:xfrm>
            <a:prstGeom prst="straightConnector1">
              <a:avLst/>
            </a:prstGeom>
            <a:noFill/>
            <a:ln cap="flat" cmpd="sng" w="50800">
              <a:solidFill>
                <a:srgbClr val="000000"/>
              </a:solidFill>
              <a:prstDash val="solid"/>
              <a:round/>
              <a:headEnd len="sm" w="sm" type="none"/>
              <a:tailEnd len="sm" w="sm" type="none"/>
            </a:ln>
          </p:spPr>
        </p:cxnSp>
        <p:cxnSp>
          <p:nvCxnSpPr>
            <p:cNvPr id="163" name="Google Shape;163;p18"/>
            <p:cNvCxnSpPr/>
            <p:nvPr/>
          </p:nvCxnSpPr>
          <p:spPr>
            <a:xfrm>
              <a:off x="6118226" y="3935413"/>
              <a:ext cx="784225" cy="0"/>
            </a:xfrm>
            <a:prstGeom prst="straightConnector1">
              <a:avLst/>
            </a:prstGeom>
            <a:noFill/>
            <a:ln cap="flat" cmpd="sng" w="50800">
              <a:solidFill>
                <a:srgbClr val="000000"/>
              </a:solidFill>
              <a:prstDash val="solid"/>
              <a:round/>
              <a:headEnd len="sm" w="sm" type="none"/>
              <a:tailEnd len="sm" w="sm" type="none"/>
            </a:ln>
          </p:spPr>
        </p:cxnSp>
        <p:cxnSp>
          <p:nvCxnSpPr>
            <p:cNvPr id="164" name="Google Shape;164;p18"/>
            <p:cNvCxnSpPr/>
            <p:nvPr/>
          </p:nvCxnSpPr>
          <p:spPr>
            <a:xfrm>
              <a:off x="6118226" y="6022975"/>
              <a:ext cx="784225" cy="0"/>
            </a:xfrm>
            <a:prstGeom prst="straightConnector1">
              <a:avLst/>
            </a:prstGeom>
            <a:noFill/>
            <a:ln cap="flat" cmpd="sng" w="50800">
              <a:solidFill>
                <a:srgbClr val="000000"/>
              </a:solidFill>
              <a:prstDash val="solid"/>
              <a:round/>
              <a:headEnd len="sm" w="sm" type="none"/>
              <a:tailEnd len="sm" w="sm" type="none"/>
            </a:ln>
          </p:spPr>
        </p:cxnSp>
        <p:cxnSp>
          <p:nvCxnSpPr>
            <p:cNvPr id="165" name="Google Shape;165;p18"/>
            <p:cNvCxnSpPr/>
            <p:nvPr/>
          </p:nvCxnSpPr>
          <p:spPr>
            <a:xfrm>
              <a:off x="6118225" y="4497389"/>
              <a:ext cx="0" cy="1565275"/>
            </a:xfrm>
            <a:prstGeom prst="straightConnector1">
              <a:avLst/>
            </a:prstGeom>
            <a:noFill/>
            <a:ln cap="flat" cmpd="sng" w="50800">
              <a:solidFill>
                <a:srgbClr val="000000"/>
              </a:solidFill>
              <a:prstDash val="solid"/>
              <a:round/>
              <a:headEnd len="sm" w="sm" type="none"/>
              <a:tailEnd len="sm" w="sm" type="none"/>
            </a:ln>
          </p:spPr>
        </p:cxnSp>
        <p:cxnSp>
          <p:nvCxnSpPr>
            <p:cNvPr id="166" name="Google Shape;166;p18"/>
            <p:cNvCxnSpPr/>
            <p:nvPr/>
          </p:nvCxnSpPr>
          <p:spPr>
            <a:xfrm rot="10800000">
              <a:off x="6118225" y="3322638"/>
              <a:ext cx="0" cy="1174750"/>
            </a:xfrm>
            <a:prstGeom prst="straightConnector1">
              <a:avLst/>
            </a:prstGeom>
            <a:noFill/>
            <a:ln cap="flat" cmpd="sng" w="50800">
              <a:solidFill>
                <a:srgbClr val="000000"/>
              </a:solidFill>
              <a:prstDash val="solid"/>
              <a:round/>
              <a:headEnd len="sm" w="sm" type="none"/>
              <a:tailEnd len="sm" w="sm" type="none"/>
            </a:ln>
          </p:spPr>
        </p:cxnSp>
        <p:sp>
          <p:nvSpPr>
            <p:cNvPr descr="Light vertical" id="167" name="Google Shape;167;p18"/>
            <p:cNvSpPr/>
            <p:nvPr/>
          </p:nvSpPr>
          <p:spPr>
            <a:xfrm>
              <a:off x="6902451" y="5984876"/>
              <a:ext cx="157163" cy="79375"/>
            </a:xfrm>
            <a:custGeom>
              <a:rect b="b" l="l" r="r" t="t"/>
              <a:pathLst>
                <a:path extrusionOk="0" h="50" w="99">
                  <a:moveTo>
                    <a:pt x="0" y="49"/>
                  </a:moveTo>
                  <a:lnTo>
                    <a:pt x="98" y="49"/>
                  </a:lnTo>
                  <a:lnTo>
                    <a:pt x="98" y="0"/>
                  </a:lnTo>
                  <a:lnTo>
                    <a:pt x="0" y="0"/>
                  </a:lnTo>
                  <a:lnTo>
                    <a:pt x="0" y="49"/>
                  </a:lnTo>
                </a:path>
              </a:pathLst>
            </a:custGeom>
            <a:solidFill>
              <a:srgbClr val="000000"/>
            </a:solidFill>
            <a:ln cap="rnd" cmpd="sng" w="12700">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rgbClr val="000000"/>
                </a:solidFill>
                <a:latin typeface="Calibri"/>
                <a:ea typeface="Calibri"/>
                <a:cs typeface="Calibri"/>
                <a:sym typeface="Calibri"/>
              </a:endParaRPr>
            </a:p>
          </p:txBody>
        </p:sp>
        <p:sp>
          <p:nvSpPr>
            <p:cNvPr descr="Light vertical" id="168" name="Google Shape;168;p18"/>
            <p:cNvSpPr/>
            <p:nvPr/>
          </p:nvSpPr>
          <p:spPr>
            <a:xfrm>
              <a:off x="6902451" y="3282951"/>
              <a:ext cx="157163" cy="68263"/>
            </a:xfrm>
            <a:custGeom>
              <a:rect b="b" l="l" r="r" t="t"/>
              <a:pathLst>
                <a:path extrusionOk="0" h="43" w="99">
                  <a:moveTo>
                    <a:pt x="0" y="42"/>
                  </a:moveTo>
                  <a:lnTo>
                    <a:pt x="98" y="42"/>
                  </a:lnTo>
                  <a:lnTo>
                    <a:pt x="98" y="0"/>
                  </a:lnTo>
                  <a:lnTo>
                    <a:pt x="0" y="0"/>
                  </a:lnTo>
                  <a:lnTo>
                    <a:pt x="0" y="42"/>
                  </a:lnTo>
                </a:path>
              </a:pathLst>
            </a:custGeom>
            <a:solidFill>
              <a:srgbClr val="000000"/>
            </a:solidFill>
            <a:ln cap="rnd" cmpd="sng" w="12700">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rgbClr val="000000"/>
                </a:solidFill>
                <a:latin typeface="Calibri"/>
                <a:ea typeface="Calibri"/>
                <a:cs typeface="Calibri"/>
                <a:sym typeface="Calibri"/>
              </a:endParaRPr>
            </a:p>
          </p:txBody>
        </p:sp>
        <p:sp>
          <p:nvSpPr>
            <p:cNvPr descr="Light vertical" id="169" name="Google Shape;169;p18"/>
            <p:cNvSpPr/>
            <p:nvPr/>
          </p:nvSpPr>
          <p:spPr>
            <a:xfrm>
              <a:off x="6902451" y="3910014"/>
              <a:ext cx="157163" cy="66675"/>
            </a:xfrm>
            <a:custGeom>
              <a:rect b="b" l="l" r="r" t="t"/>
              <a:pathLst>
                <a:path extrusionOk="0" h="42" w="99">
                  <a:moveTo>
                    <a:pt x="0" y="41"/>
                  </a:moveTo>
                  <a:lnTo>
                    <a:pt x="98" y="41"/>
                  </a:lnTo>
                  <a:lnTo>
                    <a:pt x="98" y="0"/>
                  </a:lnTo>
                  <a:lnTo>
                    <a:pt x="0" y="0"/>
                  </a:lnTo>
                  <a:lnTo>
                    <a:pt x="0" y="41"/>
                  </a:lnTo>
                </a:path>
              </a:pathLst>
            </a:custGeom>
            <a:solidFill>
              <a:srgbClr val="000000"/>
            </a:solidFill>
            <a:ln cap="rnd" cmpd="sng" w="12700">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rgbClr val="000000"/>
                </a:solidFill>
                <a:latin typeface="Calibri"/>
                <a:ea typeface="Calibri"/>
                <a:cs typeface="Calibri"/>
                <a:sym typeface="Calibri"/>
              </a:endParaRPr>
            </a:p>
          </p:txBody>
        </p:sp>
        <p:sp>
          <p:nvSpPr>
            <p:cNvPr id="170" name="Google Shape;170;p18"/>
            <p:cNvSpPr/>
            <p:nvPr/>
          </p:nvSpPr>
          <p:spPr>
            <a:xfrm>
              <a:off x="9764714" y="4776788"/>
              <a:ext cx="1415365" cy="555877"/>
            </a:xfrm>
            <a:prstGeom prst="rect">
              <a:avLst/>
            </a:prstGeom>
            <a:noFill/>
            <a:ln>
              <a:noFill/>
            </a:ln>
          </p:spPr>
          <p:txBody>
            <a:bodyPr anchorCtr="0" anchor="t" bIns="46025" lIns="92075" spcFirstLastPara="1" rIns="92075" wrap="square" tIns="46025">
              <a:no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Platters</a:t>
              </a:r>
              <a:endParaRPr/>
            </a:p>
          </p:txBody>
        </p:sp>
        <p:cxnSp>
          <p:nvCxnSpPr>
            <p:cNvPr id="171" name="Google Shape;171;p18"/>
            <p:cNvCxnSpPr/>
            <p:nvPr/>
          </p:nvCxnSpPr>
          <p:spPr>
            <a:xfrm>
              <a:off x="9645651" y="4300539"/>
              <a:ext cx="392113" cy="484187"/>
            </a:xfrm>
            <a:prstGeom prst="straightConnector1">
              <a:avLst/>
            </a:prstGeom>
            <a:noFill/>
            <a:ln cap="flat" cmpd="sng" w="12700">
              <a:solidFill>
                <a:srgbClr val="000000"/>
              </a:solidFill>
              <a:prstDash val="solid"/>
              <a:round/>
              <a:headEnd len="sm" w="sm" type="none"/>
              <a:tailEnd len="sm" w="sm" type="none"/>
            </a:ln>
          </p:spPr>
        </p:cxnSp>
        <p:cxnSp>
          <p:nvCxnSpPr>
            <p:cNvPr id="172" name="Google Shape;172;p18"/>
            <p:cNvCxnSpPr/>
            <p:nvPr/>
          </p:nvCxnSpPr>
          <p:spPr>
            <a:xfrm flipH="1" rot="10800000">
              <a:off x="9645651" y="5084764"/>
              <a:ext cx="392113" cy="585787"/>
            </a:xfrm>
            <a:prstGeom prst="straightConnector1">
              <a:avLst/>
            </a:prstGeom>
            <a:noFill/>
            <a:ln cap="flat" cmpd="sng" w="12700">
              <a:solidFill>
                <a:srgbClr val="000000"/>
              </a:solidFill>
              <a:prstDash val="solid"/>
              <a:round/>
              <a:headEnd len="sm" w="sm" type="none"/>
              <a:tailEnd len="sm" w="sm" type="none"/>
            </a:ln>
          </p:spPr>
        </p:cxnSp>
        <p:sp>
          <p:nvSpPr>
            <p:cNvPr id="173" name="Google Shape;173;p18"/>
            <p:cNvSpPr/>
            <p:nvPr/>
          </p:nvSpPr>
          <p:spPr>
            <a:xfrm>
              <a:off x="9104314" y="2049463"/>
              <a:ext cx="1392897" cy="555877"/>
            </a:xfrm>
            <a:prstGeom prst="rect">
              <a:avLst/>
            </a:prstGeom>
            <a:noFill/>
            <a:ln>
              <a:noFill/>
            </a:ln>
          </p:spPr>
          <p:txBody>
            <a:bodyPr anchorCtr="0" anchor="t" bIns="46025" lIns="92075" spcFirstLastPara="1" rIns="92075" wrap="square" tIns="46025">
              <a:no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Spindle</a:t>
              </a:r>
              <a:endParaRPr/>
            </a:p>
          </p:txBody>
        </p:sp>
        <p:sp>
          <p:nvSpPr>
            <p:cNvPr id="174" name="Google Shape;174;p18"/>
            <p:cNvSpPr/>
            <p:nvPr/>
          </p:nvSpPr>
          <p:spPr>
            <a:xfrm>
              <a:off x="8470901" y="2184401"/>
              <a:ext cx="695325" cy="117475"/>
            </a:xfrm>
            <a:custGeom>
              <a:rect b="b" l="l" r="r" t="t"/>
              <a:pathLst>
                <a:path extrusionOk="0" h="74" w="438">
                  <a:moveTo>
                    <a:pt x="437" y="8"/>
                  </a:moveTo>
                  <a:lnTo>
                    <a:pt x="288" y="0"/>
                  </a:lnTo>
                  <a:lnTo>
                    <a:pt x="140" y="24"/>
                  </a:lnTo>
                  <a:lnTo>
                    <a:pt x="0" y="73"/>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rgbClr val="000000"/>
                </a:solidFill>
                <a:latin typeface="Calibri"/>
                <a:ea typeface="Calibri"/>
                <a:cs typeface="Calibri"/>
                <a:sym typeface="Calibri"/>
              </a:endParaRPr>
            </a:p>
          </p:txBody>
        </p:sp>
        <p:sp>
          <p:nvSpPr>
            <p:cNvPr id="175" name="Google Shape;175;p18"/>
            <p:cNvSpPr/>
            <p:nvPr/>
          </p:nvSpPr>
          <p:spPr>
            <a:xfrm>
              <a:off x="6092827" y="2365375"/>
              <a:ext cx="1736308" cy="555877"/>
            </a:xfrm>
            <a:prstGeom prst="rect">
              <a:avLst/>
            </a:prstGeom>
            <a:noFill/>
            <a:ln>
              <a:noFill/>
            </a:ln>
          </p:spPr>
          <p:txBody>
            <a:bodyPr anchorCtr="0" anchor="t" bIns="46025" lIns="92075" spcFirstLastPara="1" rIns="92075" wrap="square" tIns="46025">
              <a:no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Disk head</a:t>
              </a:r>
              <a:endParaRPr/>
            </a:p>
          </p:txBody>
        </p:sp>
        <p:grpSp>
          <p:nvGrpSpPr>
            <p:cNvPr id="176" name="Google Shape;176;p18"/>
            <p:cNvGrpSpPr/>
            <p:nvPr/>
          </p:nvGrpSpPr>
          <p:grpSpPr>
            <a:xfrm>
              <a:off x="6415089" y="4708524"/>
              <a:ext cx="2459038" cy="754063"/>
              <a:chOff x="2798" y="2339"/>
              <a:chExt cx="1549" cy="475"/>
            </a:xfrm>
          </p:grpSpPr>
          <p:sp>
            <p:nvSpPr>
              <p:cNvPr id="177" name="Google Shape;177;p18"/>
              <p:cNvSpPr/>
              <p:nvPr/>
            </p:nvSpPr>
            <p:spPr>
              <a:xfrm>
                <a:off x="2831" y="2339"/>
                <a:ext cx="865" cy="124"/>
              </a:xfrm>
              <a:custGeom>
                <a:rect b="b" l="l" r="r" t="t"/>
                <a:pathLst>
                  <a:path extrusionOk="0" h="124" w="865">
                    <a:moveTo>
                      <a:pt x="0" y="65"/>
                    </a:moveTo>
                    <a:lnTo>
                      <a:pt x="41" y="0"/>
                    </a:lnTo>
                    <a:lnTo>
                      <a:pt x="41" y="41"/>
                    </a:lnTo>
                    <a:lnTo>
                      <a:pt x="831" y="41"/>
                    </a:lnTo>
                    <a:lnTo>
                      <a:pt x="831" y="0"/>
                    </a:lnTo>
                    <a:lnTo>
                      <a:pt x="864" y="65"/>
                    </a:lnTo>
                    <a:lnTo>
                      <a:pt x="831" y="123"/>
                    </a:lnTo>
                    <a:lnTo>
                      <a:pt x="831" y="82"/>
                    </a:lnTo>
                    <a:lnTo>
                      <a:pt x="41" y="82"/>
                    </a:lnTo>
                    <a:lnTo>
                      <a:pt x="41" y="123"/>
                    </a:lnTo>
                    <a:lnTo>
                      <a:pt x="0" y="65"/>
                    </a:lnTo>
                  </a:path>
                </a:pathLst>
              </a:custGeom>
              <a:solidFill>
                <a:srgbClr val="FFFFFF"/>
              </a:solidFill>
              <a:ln cap="rnd" cmpd="sng" w="12700">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rgbClr val="000000"/>
                  </a:solidFill>
                  <a:latin typeface="Calibri"/>
                  <a:ea typeface="Calibri"/>
                  <a:cs typeface="Calibri"/>
                  <a:sym typeface="Calibri"/>
                </a:endParaRPr>
              </a:p>
            </p:txBody>
          </p:sp>
          <p:sp>
            <p:nvSpPr>
              <p:cNvPr id="178" name="Google Shape;178;p18"/>
              <p:cNvSpPr/>
              <p:nvPr/>
            </p:nvSpPr>
            <p:spPr>
              <a:xfrm>
                <a:off x="2798" y="2464"/>
                <a:ext cx="1549" cy="350"/>
              </a:xfrm>
              <a:prstGeom prst="rect">
                <a:avLst/>
              </a:prstGeom>
              <a:noFill/>
              <a:ln>
                <a:noFill/>
              </a:ln>
            </p:spPr>
            <p:txBody>
              <a:bodyPr anchorCtr="0" anchor="t" bIns="46025" lIns="92075" spcFirstLastPara="1" rIns="92075" wrap="square" tIns="46025">
                <a:no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Arm movement</a:t>
                </a:r>
                <a:endParaRPr/>
              </a:p>
            </p:txBody>
          </p:sp>
        </p:grpSp>
        <p:grpSp>
          <p:nvGrpSpPr>
            <p:cNvPr id="179" name="Google Shape;179;p18"/>
            <p:cNvGrpSpPr/>
            <p:nvPr/>
          </p:nvGrpSpPr>
          <p:grpSpPr>
            <a:xfrm>
              <a:off x="5257801" y="5670549"/>
              <a:ext cx="2320925" cy="1033463"/>
              <a:chOff x="2069" y="2945"/>
              <a:chExt cx="1462" cy="651"/>
            </a:xfrm>
          </p:grpSpPr>
          <p:sp>
            <p:nvSpPr>
              <p:cNvPr id="180" name="Google Shape;180;p18"/>
              <p:cNvSpPr/>
              <p:nvPr/>
            </p:nvSpPr>
            <p:spPr>
              <a:xfrm>
                <a:off x="2069" y="3246"/>
                <a:ext cx="1462" cy="350"/>
              </a:xfrm>
              <a:prstGeom prst="rect">
                <a:avLst/>
              </a:prstGeom>
              <a:noFill/>
              <a:ln>
                <a:noFill/>
              </a:ln>
            </p:spPr>
            <p:txBody>
              <a:bodyPr anchorCtr="0" anchor="t" bIns="46025" lIns="92075" spcFirstLastPara="1" rIns="92075" wrap="square" tIns="46025">
                <a:no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Arm assembly</a:t>
                </a:r>
                <a:endParaRPr/>
              </a:p>
            </p:txBody>
          </p:sp>
          <p:sp>
            <p:nvSpPr>
              <p:cNvPr id="181" name="Google Shape;181;p18"/>
              <p:cNvSpPr/>
              <p:nvPr/>
            </p:nvSpPr>
            <p:spPr>
              <a:xfrm>
                <a:off x="2357" y="2945"/>
                <a:ext cx="256" cy="305"/>
              </a:xfrm>
              <a:custGeom>
                <a:rect b="b" l="l" r="r" t="t"/>
                <a:pathLst>
                  <a:path extrusionOk="0" h="305" w="256">
                    <a:moveTo>
                      <a:pt x="8" y="304"/>
                    </a:moveTo>
                    <a:lnTo>
                      <a:pt x="0" y="230"/>
                    </a:lnTo>
                    <a:lnTo>
                      <a:pt x="16" y="156"/>
                    </a:lnTo>
                    <a:lnTo>
                      <a:pt x="57" y="91"/>
                    </a:lnTo>
                    <a:lnTo>
                      <a:pt x="115" y="41"/>
                    </a:lnTo>
                    <a:lnTo>
                      <a:pt x="181" y="9"/>
                    </a:lnTo>
                    <a:lnTo>
                      <a:pt x="255" y="0"/>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rgbClr val="000000"/>
                  </a:solidFill>
                  <a:latin typeface="Calibri"/>
                  <a:ea typeface="Calibri"/>
                  <a:cs typeface="Calibri"/>
                  <a:sym typeface="Calibri"/>
                </a:endParaRPr>
              </a:p>
            </p:txBody>
          </p:sp>
        </p:grpSp>
        <p:sp>
          <p:nvSpPr>
            <p:cNvPr id="182" name="Google Shape;182;p18"/>
            <p:cNvSpPr/>
            <p:nvPr/>
          </p:nvSpPr>
          <p:spPr>
            <a:xfrm>
              <a:off x="6707189" y="2592389"/>
              <a:ext cx="288925" cy="731837"/>
            </a:xfrm>
            <a:custGeom>
              <a:rect b="b" l="l" r="r" t="t"/>
              <a:pathLst>
                <a:path extrusionOk="0" h="461" w="182">
                  <a:moveTo>
                    <a:pt x="0" y="0"/>
                  </a:moveTo>
                  <a:lnTo>
                    <a:pt x="82" y="66"/>
                  </a:lnTo>
                  <a:lnTo>
                    <a:pt x="140" y="156"/>
                  </a:lnTo>
                  <a:lnTo>
                    <a:pt x="173" y="255"/>
                  </a:lnTo>
                  <a:lnTo>
                    <a:pt x="181" y="353"/>
                  </a:lnTo>
                  <a:lnTo>
                    <a:pt x="165" y="460"/>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rgbClr val="000000"/>
                </a:solidFill>
                <a:latin typeface="Calibri"/>
                <a:ea typeface="Calibri"/>
                <a:cs typeface="Calibri"/>
                <a:sym typeface="Calibri"/>
              </a:endParaRPr>
            </a:p>
          </p:txBody>
        </p:sp>
        <p:grpSp>
          <p:nvGrpSpPr>
            <p:cNvPr id="183" name="Google Shape;183;p18"/>
            <p:cNvGrpSpPr/>
            <p:nvPr/>
          </p:nvGrpSpPr>
          <p:grpSpPr>
            <a:xfrm>
              <a:off x="9199563" y="2255838"/>
              <a:ext cx="1819275" cy="792162"/>
              <a:chOff x="4552" y="794"/>
              <a:chExt cx="1146" cy="499"/>
            </a:xfrm>
          </p:grpSpPr>
          <p:sp>
            <p:nvSpPr>
              <p:cNvPr id="184" name="Google Shape;184;p18"/>
              <p:cNvSpPr/>
              <p:nvPr/>
            </p:nvSpPr>
            <p:spPr>
              <a:xfrm>
                <a:off x="4609" y="988"/>
                <a:ext cx="372" cy="305"/>
              </a:xfrm>
              <a:custGeom>
                <a:rect b="b" l="l" r="r" t="t"/>
                <a:pathLst>
                  <a:path extrusionOk="0" h="305" w="372">
                    <a:moveTo>
                      <a:pt x="371" y="0"/>
                    </a:moveTo>
                    <a:lnTo>
                      <a:pt x="255" y="33"/>
                    </a:lnTo>
                    <a:lnTo>
                      <a:pt x="148" y="107"/>
                    </a:lnTo>
                    <a:lnTo>
                      <a:pt x="58" y="197"/>
                    </a:lnTo>
                    <a:lnTo>
                      <a:pt x="0" y="304"/>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rgbClr val="000000"/>
                  </a:solidFill>
                  <a:latin typeface="Calibri"/>
                  <a:ea typeface="Calibri"/>
                  <a:cs typeface="Calibri"/>
                  <a:sym typeface="Calibri"/>
                </a:endParaRPr>
              </a:p>
            </p:txBody>
          </p:sp>
          <p:grpSp>
            <p:nvGrpSpPr>
              <p:cNvPr id="185" name="Google Shape;185;p18"/>
              <p:cNvGrpSpPr/>
              <p:nvPr/>
            </p:nvGrpSpPr>
            <p:grpSpPr>
              <a:xfrm>
                <a:off x="4552" y="794"/>
                <a:ext cx="1146" cy="442"/>
                <a:chOff x="4552" y="794"/>
                <a:chExt cx="1146" cy="442"/>
              </a:xfrm>
            </p:grpSpPr>
            <p:sp>
              <p:nvSpPr>
                <p:cNvPr id="186" name="Google Shape;186;p18"/>
                <p:cNvSpPr/>
                <p:nvPr/>
              </p:nvSpPr>
              <p:spPr>
                <a:xfrm>
                  <a:off x="4888" y="794"/>
                  <a:ext cx="810" cy="350"/>
                </a:xfrm>
                <a:prstGeom prst="rect">
                  <a:avLst/>
                </a:prstGeom>
                <a:noFill/>
                <a:ln>
                  <a:noFill/>
                </a:ln>
              </p:spPr>
              <p:txBody>
                <a:bodyPr anchorCtr="0" anchor="t" bIns="46025" lIns="92075" spcFirstLastPara="1" rIns="92075" wrap="square" tIns="46025">
                  <a:no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Tracks</a:t>
                  </a:r>
                  <a:endParaRPr/>
                </a:p>
              </p:txBody>
            </p:sp>
            <p:sp>
              <p:nvSpPr>
                <p:cNvPr id="187" name="Google Shape;187;p18"/>
                <p:cNvSpPr/>
                <p:nvPr/>
              </p:nvSpPr>
              <p:spPr>
                <a:xfrm>
                  <a:off x="4552" y="988"/>
                  <a:ext cx="305" cy="248"/>
                </a:xfrm>
                <a:custGeom>
                  <a:rect b="b" l="l" r="r" t="t"/>
                  <a:pathLst>
                    <a:path extrusionOk="0" h="248" w="305">
                      <a:moveTo>
                        <a:pt x="304" y="0"/>
                      </a:moveTo>
                      <a:lnTo>
                        <a:pt x="222" y="0"/>
                      </a:lnTo>
                      <a:lnTo>
                        <a:pt x="139" y="33"/>
                      </a:lnTo>
                      <a:lnTo>
                        <a:pt x="74" y="90"/>
                      </a:lnTo>
                      <a:lnTo>
                        <a:pt x="24" y="164"/>
                      </a:lnTo>
                      <a:lnTo>
                        <a:pt x="0" y="247"/>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rgbClr val="000000"/>
                    </a:solidFill>
                    <a:latin typeface="Calibri"/>
                    <a:ea typeface="Calibri"/>
                    <a:cs typeface="Calibri"/>
                    <a:sym typeface="Calibri"/>
                  </a:endParaRPr>
                </a:p>
              </p:txBody>
            </p:sp>
          </p:grpSp>
        </p:grpSp>
        <p:sp>
          <p:nvSpPr>
            <p:cNvPr id="188" name="Google Shape;188;p18"/>
            <p:cNvSpPr/>
            <p:nvPr/>
          </p:nvSpPr>
          <p:spPr>
            <a:xfrm>
              <a:off x="9723439" y="3127375"/>
              <a:ext cx="174625" cy="444500"/>
            </a:xfrm>
            <a:custGeom>
              <a:rect b="b" l="l" r="r" t="t"/>
              <a:pathLst>
                <a:path extrusionOk="0" h="280" w="110">
                  <a:moveTo>
                    <a:pt x="0" y="279"/>
                  </a:moveTo>
                  <a:lnTo>
                    <a:pt x="64" y="238"/>
                  </a:lnTo>
                  <a:lnTo>
                    <a:pt x="100" y="181"/>
                  </a:lnTo>
                  <a:lnTo>
                    <a:pt x="109" y="115"/>
                  </a:lnTo>
                  <a:lnTo>
                    <a:pt x="81" y="49"/>
                  </a:lnTo>
                  <a:lnTo>
                    <a:pt x="28" y="0"/>
                  </a:lnTo>
                  <a:lnTo>
                    <a:pt x="55" y="33"/>
                  </a:lnTo>
                </a:path>
              </a:pathLst>
            </a:custGeom>
            <a:noFill/>
            <a:ln cap="rnd" cmpd="sng" w="508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rgbClr val="000000"/>
                </a:solidFill>
                <a:latin typeface="Calibri"/>
                <a:ea typeface="Calibri"/>
                <a:cs typeface="Calibri"/>
                <a:sym typeface="Calibri"/>
              </a:endParaRPr>
            </a:p>
          </p:txBody>
        </p:sp>
        <p:sp>
          <p:nvSpPr>
            <p:cNvPr id="189" name="Google Shape;189;p18"/>
            <p:cNvSpPr/>
            <p:nvPr/>
          </p:nvSpPr>
          <p:spPr>
            <a:xfrm>
              <a:off x="9932988" y="3200401"/>
              <a:ext cx="1261312" cy="555877"/>
            </a:xfrm>
            <a:prstGeom prst="rect">
              <a:avLst/>
            </a:prstGeom>
            <a:noFill/>
            <a:ln>
              <a:noFill/>
            </a:ln>
          </p:spPr>
          <p:txBody>
            <a:bodyPr anchorCtr="0" anchor="t" bIns="46025" lIns="92075" spcFirstLastPara="1" rIns="92075" wrap="square" tIns="46025">
              <a:no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Sector</a:t>
              </a:r>
              <a:endParaRPr/>
            </a:p>
          </p:txBody>
        </p:sp>
        <p:sp>
          <p:nvSpPr>
            <p:cNvPr id="190" name="Google Shape;190;p18"/>
            <p:cNvSpPr/>
            <p:nvPr/>
          </p:nvSpPr>
          <p:spPr>
            <a:xfrm>
              <a:off x="9896475" y="3074989"/>
              <a:ext cx="520700" cy="276225"/>
            </a:xfrm>
            <a:custGeom>
              <a:rect b="b" l="l" r="r" t="t"/>
              <a:pathLst>
                <a:path extrusionOk="0" h="174" w="328">
                  <a:moveTo>
                    <a:pt x="327" y="33"/>
                  </a:moveTo>
                  <a:lnTo>
                    <a:pt x="264" y="0"/>
                  </a:lnTo>
                  <a:lnTo>
                    <a:pt x="191" y="0"/>
                  </a:lnTo>
                  <a:lnTo>
                    <a:pt x="118" y="16"/>
                  </a:lnTo>
                  <a:lnTo>
                    <a:pt x="64" y="49"/>
                  </a:lnTo>
                  <a:lnTo>
                    <a:pt x="19" y="107"/>
                  </a:lnTo>
                  <a:lnTo>
                    <a:pt x="0" y="173"/>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rgbClr val="000000"/>
                </a:solidFill>
                <a:latin typeface="Calibri"/>
                <a:ea typeface="Calibri"/>
                <a:cs typeface="Calibri"/>
                <a:sym typeface="Calibri"/>
              </a:endParaRPr>
            </a:p>
          </p:txBody>
        </p:sp>
        <p:sp>
          <p:nvSpPr>
            <p:cNvPr id="191" name="Google Shape;191;p18"/>
            <p:cNvSpPr/>
            <p:nvPr/>
          </p:nvSpPr>
          <p:spPr>
            <a:xfrm>
              <a:off x="6934199" y="1676400"/>
              <a:ext cx="1495599" cy="555877"/>
            </a:xfrm>
            <a:prstGeom prst="rect">
              <a:avLst/>
            </a:prstGeom>
            <a:noFill/>
            <a:ln>
              <a:noFill/>
            </a:ln>
          </p:spPr>
          <p:txBody>
            <a:bodyPr anchorCtr="0" anchor="t" bIns="46025" lIns="92075" spcFirstLastPara="1" rIns="92075" wrap="square" tIns="46025">
              <a:no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Cylinder</a:t>
              </a:r>
              <a:endParaRPr/>
            </a:p>
          </p:txBody>
        </p:sp>
        <p:cxnSp>
          <p:nvCxnSpPr>
            <p:cNvPr id="192" name="Google Shape;192;p18"/>
            <p:cNvCxnSpPr/>
            <p:nvPr/>
          </p:nvCxnSpPr>
          <p:spPr>
            <a:xfrm>
              <a:off x="7467600" y="2057400"/>
              <a:ext cx="76200" cy="3505200"/>
            </a:xfrm>
            <a:prstGeom prst="straightConnector1">
              <a:avLst/>
            </a:prstGeom>
            <a:noFill/>
            <a:ln cap="flat" cmpd="sng" w="9525">
              <a:solidFill>
                <a:schemeClr val="dk1"/>
              </a:solidFill>
              <a:prstDash val="solid"/>
              <a:round/>
              <a:headEnd len="med" w="med" type="none"/>
              <a:tailEnd len="med" w="med" type="triangle"/>
            </a:ln>
          </p:spPr>
        </p:cxnSp>
      </p:grpSp>
      <p:sp>
        <p:nvSpPr>
          <p:cNvPr id="193" name="Google Shape;193;p18"/>
          <p:cNvSpPr txBox="1"/>
          <p:nvPr/>
        </p:nvSpPr>
        <p:spPr>
          <a:xfrm>
            <a:off x="6587175" y="4189140"/>
            <a:ext cx="5247607" cy="2532335"/>
          </a:xfrm>
          <a:prstGeom prst="rect">
            <a:avLst/>
          </a:prstGeom>
          <a:noFill/>
          <a:ln>
            <a:noFill/>
          </a:ln>
        </p:spPr>
        <p:txBody>
          <a:bodyPr anchorCtr="0" anchor="t" bIns="45700" lIns="91425" spcFirstLastPara="1" rIns="91425" wrap="square" tIns="45700">
            <a:normAutofit fontScale="55000" lnSpcReduction="20000"/>
          </a:bodyPr>
          <a:lstStyle/>
          <a:p>
            <a:pPr indent="0" lvl="0" marL="0" marR="0" rtl="0" algn="l">
              <a:lnSpc>
                <a:spcPct val="90000"/>
              </a:lnSpc>
              <a:spcBef>
                <a:spcPts val="0"/>
              </a:spcBef>
              <a:spcAft>
                <a:spcPts val="0"/>
              </a:spcAft>
              <a:buClr>
                <a:schemeClr val="dk1"/>
              </a:buClr>
              <a:buSzPct val="100000"/>
              <a:buFont typeface="Arial"/>
              <a:buNone/>
            </a:pPr>
            <a:r>
              <a:rPr b="1" lang="en-US" sz="2800" u="sng">
                <a:solidFill>
                  <a:schemeClr val="dk1"/>
                </a:solidFill>
                <a:latin typeface="Calibri"/>
                <a:ea typeface="Calibri"/>
                <a:cs typeface="Calibri"/>
                <a:sym typeface="Calibri"/>
              </a:rPr>
              <a:t>Random Access Memory (RAM) or Main Memory:</a:t>
            </a:r>
            <a:endParaRPr/>
          </a:p>
          <a:p>
            <a:pPr indent="0" lvl="1" marL="457200" marR="0" rtl="0" algn="l">
              <a:lnSpc>
                <a:spcPct val="90000"/>
              </a:lnSpc>
              <a:spcBef>
                <a:spcPts val="500"/>
              </a:spcBef>
              <a:spcAft>
                <a:spcPts val="0"/>
              </a:spcAft>
              <a:buClr>
                <a:schemeClr val="dk1"/>
              </a:buClr>
              <a:buSzPct val="100000"/>
              <a:buFont typeface="Arial"/>
              <a:buNone/>
            </a:pPr>
            <a:r>
              <a:t/>
            </a:r>
            <a:endParaRPr b="0" i="1" sz="24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ct val="100000"/>
              <a:buFont typeface="Arial"/>
              <a:buChar char="•"/>
            </a:pPr>
            <a:r>
              <a:rPr b="1" i="1" lang="en-US" sz="2800">
                <a:solidFill>
                  <a:schemeClr val="dk1"/>
                </a:solidFill>
                <a:latin typeface="Calibri"/>
                <a:ea typeface="Calibri"/>
                <a:cs typeface="Calibri"/>
                <a:sym typeface="Calibri"/>
              </a:rPr>
              <a:t>Fast:</a:t>
            </a:r>
            <a:r>
              <a:rPr i="1" lang="en-US" sz="2800">
                <a:solidFill>
                  <a:schemeClr val="dk1"/>
                </a:solidFill>
                <a:latin typeface="Calibri"/>
                <a:ea typeface="Calibri"/>
                <a:cs typeface="Calibri"/>
                <a:sym typeface="Calibri"/>
              </a:rPr>
              <a:t> </a:t>
            </a:r>
            <a:r>
              <a:rPr lang="en-US" sz="2800">
                <a:solidFill>
                  <a:schemeClr val="dk1"/>
                </a:solidFill>
                <a:latin typeface="Calibri"/>
                <a:ea typeface="Calibri"/>
                <a:cs typeface="Calibri"/>
                <a:sym typeface="Calibri"/>
              </a:rPr>
              <a:t>Random access, byte addressable</a:t>
            </a:r>
            <a:endParaRPr/>
          </a:p>
          <a:p>
            <a:pPr indent="-228600" lvl="2" marL="1143000" marR="0" rtl="0" algn="l">
              <a:lnSpc>
                <a:spcPct val="90000"/>
              </a:lnSpc>
              <a:spcBef>
                <a:spcPts val="500"/>
              </a:spcBef>
              <a:spcAft>
                <a:spcPts val="0"/>
              </a:spcAft>
              <a:buClr>
                <a:schemeClr val="dk1"/>
              </a:buClr>
              <a:buSzPct val="100000"/>
              <a:buFont typeface="Arial"/>
              <a:buChar char="•"/>
            </a:pPr>
            <a:r>
              <a:rPr b="0" i="0" lang="en-US" sz="2000" u="none" cap="none" strike="noStrike">
                <a:solidFill>
                  <a:schemeClr val="dk1"/>
                </a:solidFill>
                <a:latin typeface="Calibri"/>
                <a:ea typeface="Calibri"/>
                <a:cs typeface="Calibri"/>
                <a:sym typeface="Calibri"/>
              </a:rPr>
              <a:t>~10x faster for </a:t>
            </a:r>
            <a:r>
              <a:rPr b="0" i="0" lang="en-US" sz="2000" u="sng" cap="none" strike="noStrike">
                <a:solidFill>
                  <a:schemeClr val="dk1"/>
                </a:solidFill>
                <a:latin typeface="Calibri"/>
                <a:ea typeface="Calibri"/>
                <a:cs typeface="Calibri"/>
                <a:sym typeface="Calibri"/>
              </a:rPr>
              <a:t>sequential access</a:t>
            </a:r>
            <a:endParaRPr/>
          </a:p>
          <a:p>
            <a:pPr indent="-228600" lvl="2" marL="1143000" marR="0" rtl="0" algn="l">
              <a:lnSpc>
                <a:spcPct val="90000"/>
              </a:lnSpc>
              <a:spcBef>
                <a:spcPts val="500"/>
              </a:spcBef>
              <a:spcAft>
                <a:spcPts val="0"/>
              </a:spcAft>
              <a:buClr>
                <a:schemeClr val="dk1"/>
              </a:buClr>
              <a:buSzPct val="100000"/>
              <a:buFont typeface="Arial"/>
              <a:buChar char="•"/>
            </a:pPr>
            <a:r>
              <a:rPr b="0" i="0" lang="en-US" sz="2000" u="none" cap="none" strike="noStrike">
                <a:solidFill>
                  <a:schemeClr val="dk1"/>
                </a:solidFill>
                <a:latin typeface="Calibri"/>
                <a:ea typeface="Calibri"/>
                <a:cs typeface="Calibri"/>
                <a:sym typeface="Calibri"/>
              </a:rPr>
              <a:t>~100,000x faster for </a:t>
            </a:r>
            <a:r>
              <a:rPr b="0" i="0" lang="en-US" sz="2000" u="sng" cap="none" strike="noStrike">
                <a:solidFill>
                  <a:schemeClr val="dk1"/>
                </a:solidFill>
                <a:latin typeface="Calibri"/>
                <a:ea typeface="Calibri"/>
                <a:cs typeface="Calibri"/>
                <a:sym typeface="Calibri"/>
              </a:rPr>
              <a:t>random access!</a:t>
            </a:r>
            <a:endParaRPr/>
          </a:p>
          <a:p>
            <a:pPr indent="-144780" lvl="1" marL="685800" marR="0" rtl="0" algn="l">
              <a:lnSpc>
                <a:spcPct val="90000"/>
              </a:lnSpc>
              <a:spcBef>
                <a:spcPts val="500"/>
              </a:spcBef>
              <a:spcAft>
                <a:spcPts val="0"/>
              </a:spcAft>
              <a:buClr>
                <a:schemeClr val="dk1"/>
              </a:buClr>
              <a:buSzPct val="100000"/>
              <a:buFont typeface="Arial"/>
              <a:buNone/>
            </a:pPr>
            <a:r>
              <a:t/>
            </a:r>
            <a:endParaRPr b="0" i="0" sz="2400" u="sng"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ct val="100000"/>
              <a:buFont typeface="Arial"/>
              <a:buChar char="•"/>
            </a:pPr>
            <a:r>
              <a:rPr b="1" i="1" lang="en-US" sz="2800">
                <a:solidFill>
                  <a:schemeClr val="dk1"/>
                </a:solidFill>
                <a:latin typeface="Calibri"/>
                <a:ea typeface="Calibri"/>
                <a:cs typeface="Calibri"/>
                <a:sym typeface="Calibri"/>
              </a:rPr>
              <a:t>Volatile:</a:t>
            </a:r>
            <a:r>
              <a:rPr i="1" lang="en-US" sz="2800">
                <a:solidFill>
                  <a:schemeClr val="dk1"/>
                </a:solidFill>
                <a:latin typeface="Calibri"/>
                <a:ea typeface="Calibri"/>
                <a:cs typeface="Calibri"/>
                <a:sym typeface="Calibri"/>
              </a:rPr>
              <a:t> </a:t>
            </a:r>
            <a:r>
              <a:rPr lang="en-US" sz="2800">
                <a:solidFill>
                  <a:schemeClr val="dk1"/>
                </a:solidFill>
                <a:latin typeface="Calibri"/>
                <a:ea typeface="Calibri"/>
                <a:cs typeface="Calibri"/>
                <a:sym typeface="Calibri"/>
              </a:rPr>
              <a:t>Data can be lost if e.g. crash occurs, power goes out, etc!</a:t>
            </a:r>
            <a:endParaRPr/>
          </a:p>
          <a:p>
            <a:pPr indent="-144780" lvl="1" marL="685800" marR="0" rtl="0" algn="l">
              <a:lnSpc>
                <a:spcPct val="90000"/>
              </a:lnSpc>
              <a:spcBef>
                <a:spcPts val="500"/>
              </a:spcBef>
              <a:spcAft>
                <a:spcPts val="0"/>
              </a:spcAft>
              <a:buClr>
                <a:schemeClr val="dk1"/>
              </a:buClr>
              <a:buSzPct val="100000"/>
              <a:buFont typeface="Arial"/>
              <a:buNone/>
            </a:pPr>
            <a:r>
              <a:t/>
            </a:r>
            <a:endParaRPr b="0" i="0" sz="2400" u="sng"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ct val="100000"/>
              <a:buFont typeface="Arial"/>
              <a:buChar char="•"/>
            </a:pPr>
            <a:r>
              <a:rPr b="1" i="1" lang="en-US" sz="2800">
                <a:solidFill>
                  <a:schemeClr val="dk1"/>
                </a:solidFill>
                <a:latin typeface="Calibri"/>
                <a:ea typeface="Calibri"/>
                <a:cs typeface="Calibri"/>
                <a:sym typeface="Calibri"/>
              </a:rPr>
              <a:t>Expensive:</a:t>
            </a:r>
            <a:r>
              <a:rPr lang="en-US" sz="2800">
                <a:solidFill>
                  <a:schemeClr val="dk1"/>
                </a:solidFill>
                <a:latin typeface="Calibri"/>
                <a:ea typeface="Calibri"/>
                <a:cs typeface="Calibri"/>
                <a:sym typeface="Calibri"/>
              </a:rPr>
              <a:t> For $100, get 16GB of RAM vs. 2TB of disk!</a:t>
            </a:r>
            <a:endParaRPr/>
          </a:p>
        </p:txBody>
      </p:sp>
      <p:pic>
        <p:nvPicPr>
          <p:cNvPr id="194" name="Google Shape;194;p18"/>
          <p:cNvPicPr preferRelativeResize="0"/>
          <p:nvPr/>
        </p:nvPicPr>
        <p:blipFill rotWithShape="1">
          <a:blip r:embed="rId3">
            <a:alphaModFix/>
          </a:blip>
          <a:srcRect b="0" l="0" r="0" t="0"/>
          <a:stretch/>
        </p:blipFill>
        <p:spPr>
          <a:xfrm>
            <a:off x="7605422" y="1622620"/>
            <a:ext cx="3297504" cy="2198336"/>
          </a:xfrm>
          <a:prstGeom prst="rect">
            <a:avLst/>
          </a:prstGeom>
          <a:noFill/>
          <a:ln>
            <a:noFill/>
          </a:ln>
        </p:spPr>
      </p:pic>
      <p:sp>
        <p:nvSpPr>
          <p:cNvPr id="195" name="Google Shape;195;p18"/>
          <p:cNvSpPr/>
          <p:nvPr/>
        </p:nvSpPr>
        <p:spPr>
          <a:xfrm>
            <a:off x="4892331" y="2595188"/>
            <a:ext cx="1817152" cy="677262"/>
          </a:xfrm>
          <a:prstGeom prst="leftRight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96" name="Google Shape;196;p18"/>
          <p:cNvGrpSpPr/>
          <p:nvPr/>
        </p:nvGrpSpPr>
        <p:grpSpPr>
          <a:xfrm>
            <a:off x="0" y="-22510"/>
            <a:ext cx="12192000" cy="307777"/>
            <a:chOff x="0" y="-22510"/>
            <a:chExt cx="12192000" cy="307777"/>
          </a:xfrm>
        </p:grpSpPr>
        <p:sp>
          <p:nvSpPr>
            <p:cNvPr id="197" name="Google Shape;197;p18"/>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98" name="Google Shape;198;p18"/>
            <p:cNvSpPr txBox="1"/>
            <p:nvPr/>
          </p:nvSpPr>
          <p:spPr>
            <a:xfrm>
              <a:off x="188780" y="-22510"/>
              <a:ext cx="203004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Storage &amp; memory model</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The Buffer</a:t>
            </a:r>
            <a:endParaRPr/>
          </a:p>
        </p:txBody>
      </p:sp>
      <p:grpSp>
        <p:nvGrpSpPr>
          <p:cNvPr id="204" name="Google Shape;204;p19"/>
          <p:cNvGrpSpPr/>
          <p:nvPr/>
        </p:nvGrpSpPr>
        <p:grpSpPr>
          <a:xfrm>
            <a:off x="0" y="-22510"/>
            <a:ext cx="12192000" cy="307777"/>
            <a:chOff x="0" y="-22510"/>
            <a:chExt cx="12192000" cy="307777"/>
          </a:xfrm>
        </p:grpSpPr>
        <p:sp>
          <p:nvSpPr>
            <p:cNvPr id="205" name="Google Shape;205;p19"/>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206" name="Google Shape;206;p19"/>
            <p:cNvSpPr txBox="1"/>
            <p:nvPr/>
          </p:nvSpPr>
          <p:spPr>
            <a:xfrm>
              <a:off x="188780" y="-22510"/>
              <a:ext cx="92698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The Buffer</a:t>
              </a:r>
              <a:endParaRPr/>
            </a:p>
          </p:txBody>
        </p:sp>
      </p:grpSp>
      <p:sp>
        <p:nvSpPr>
          <p:cNvPr id="207" name="Google Shape;207;p19"/>
          <p:cNvSpPr/>
          <p:nvPr/>
        </p:nvSpPr>
        <p:spPr>
          <a:xfrm>
            <a:off x="9270640" y="4666593"/>
            <a:ext cx="2644274" cy="1899307"/>
          </a:xfrm>
          <a:prstGeom prst="can">
            <a:avLst>
              <a:gd fmla="val 25000"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lt1"/>
                </a:solidFill>
                <a:latin typeface="Calibri"/>
                <a:ea typeface="Calibri"/>
                <a:cs typeface="Calibri"/>
                <a:sym typeface="Calibri"/>
              </a:rPr>
              <a:t>Disk</a:t>
            </a:r>
            <a:endParaRPr/>
          </a:p>
        </p:txBody>
      </p:sp>
      <p:sp>
        <p:nvSpPr>
          <p:cNvPr id="208" name="Google Shape;208;p19"/>
          <p:cNvSpPr/>
          <p:nvPr/>
        </p:nvSpPr>
        <p:spPr>
          <a:xfrm>
            <a:off x="10316880" y="3642353"/>
            <a:ext cx="551793" cy="1383699"/>
          </a:xfrm>
          <a:prstGeom prst="upDown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nvGrpSpPr>
          <p:cNvPr id="209" name="Google Shape;209;p19"/>
          <p:cNvGrpSpPr/>
          <p:nvPr/>
        </p:nvGrpSpPr>
        <p:grpSpPr>
          <a:xfrm>
            <a:off x="7466322" y="1027906"/>
            <a:ext cx="4259923" cy="2456273"/>
            <a:chOff x="7466322" y="1027906"/>
            <a:chExt cx="4259923" cy="2456273"/>
          </a:xfrm>
        </p:grpSpPr>
        <p:sp>
          <p:nvSpPr>
            <p:cNvPr id="210" name="Google Shape;210;p19"/>
            <p:cNvSpPr/>
            <p:nvPr/>
          </p:nvSpPr>
          <p:spPr>
            <a:xfrm>
              <a:off x="7466322" y="1027906"/>
              <a:ext cx="4252691" cy="2440508"/>
            </a:xfrm>
            <a:prstGeom prst="rect">
              <a:avLst/>
            </a:prstGeom>
            <a:solidFill>
              <a:srgbClr val="FFF2CC"/>
            </a:solidFill>
            <a:ln cap="flat" cmpd="sng" w="9525">
              <a:solidFill>
                <a:srgbClr val="7F7F7F"/>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0">
                <a:solidFill>
                  <a:schemeClr val="dk1"/>
                </a:solidFill>
                <a:latin typeface="Calibri"/>
                <a:ea typeface="Calibri"/>
                <a:cs typeface="Calibri"/>
                <a:sym typeface="Calibri"/>
              </a:endParaRPr>
            </a:p>
          </p:txBody>
        </p:sp>
        <p:sp>
          <p:nvSpPr>
            <p:cNvPr id="211" name="Google Shape;211;p19"/>
            <p:cNvSpPr/>
            <p:nvPr/>
          </p:nvSpPr>
          <p:spPr>
            <a:xfrm>
              <a:off x="9459310" y="1986455"/>
              <a:ext cx="2266935" cy="1497724"/>
            </a:xfrm>
            <a:prstGeom prst="rect">
              <a:avLst/>
            </a:prstGeom>
            <a:solidFill>
              <a:srgbClr val="B3C6E7"/>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212" name="Google Shape;212;p19"/>
            <p:cNvSpPr txBox="1"/>
            <p:nvPr/>
          </p:nvSpPr>
          <p:spPr>
            <a:xfrm>
              <a:off x="7624243" y="1210562"/>
              <a:ext cx="196842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Main Memory</a:t>
              </a:r>
              <a:endParaRPr/>
            </a:p>
          </p:txBody>
        </p:sp>
        <p:sp>
          <p:nvSpPr>
            <p:cNvPr id="213" name="Google Shape;213;p19"/>
            <p:cNvSpPr txBox="1"/>
            <p:nvPr/>
          </p:nvSpPr>
          <p:spPr>
            <a:xfrm>
              <a:off x="10115979" y="2048829"/>
              <a:ext cx="95359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Buffer</a:t>
              </a:r>
              <a:endParaRPr/>
            </a:p>
          </p:txBody>
        </p:sp>
        <p:sp>
          <p:nvSpPr>
            <p:cNvPr id="214" name="Google Shape;214;p19"/>
            <p:cNvSpPr/>
            <p:nvPr/>
          </p:nvSpPr>
          <p:spPr>
            <a:xfrm>
              <a:off x="8994227" y="2098357"/>
              <a:ext cx="930166" cy="362607"/>
            </a:xfrm>
            <a:prstGeom prst="lef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5" name="Google Shape;215;p19"/>
          <p:cNvSpPr txBox="1"/>
          <p:nvPr>
            <p:ph idx="1" type="body"/>
          </p:nvPr>
        </p:nvSpPr>
        <p:spPr>
          <a:xfrm>
            <a:off x="609600" y="1600201"/>
            <a:ext cx="6483178" cy="4965699"/>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 </a:t>
            </a:r>
            <a:r>
              <a:rPr b="1" lang="en-US" u="sng"/>
              <a:t>buffer</a:t>
            </a:r>
            <a:r>
              <a:rPr lang="en-US"/>
              <a:t> is a region of physical memory used to store </a:t>
            </a:r>
            <a:r>
              <a:rPr i="1" lang="en-US"/>
              <a:t>temporary data</a:t>
            </a:r>
            <a:endParaRPr/>
          </a:p>
          <a:p>
            <a:pPr indent="-50800" lvl="1" marL="685800" rtl="0" algn="l">
              <a:lnSpc>
                <a:spcPct val="90000"/>
              </a:lnSpc>
              <a:spcBef>
                <a:spcPts val="500"/>
              </a:spcBef>
              <a:spcAft>
                <a:spcPts val="0"/>
              </a:spcAft>
              <a:buClr>
                <a:schemeClr val="dk1"/>
              </a:buClr>
              <a:buSzPts val="2800"/>
              <a:buNone/>
            </a:pPr>
            <a:r>
              <a:t/>
            </a:r>
            <a:endParaRPr sz="2800"/>
          </a:p>
          <a:p>
            <a:pPr indent="-228600" lvl="1" marL="685800" rtl="0" algn="l">
              <a:lnSpc>
                <a:spcPct val="90000"/>
              </a:lnSpc>
              <a:spcBef>
                <a:spcPts val="500"/>
              </a:spcBef>
              <a:spcAft>
                <a:spcPts val="0"/>
              </a:spcAft>
              <a:buClr>
                <a:schemeClr val="dk1"/>
              </a:buClr>
              <a:buSzPts val="2800"/>
              <a:buChar char="•"/>
            </a:pPr>
            <a:r>
              <a:rPr i="1" lang="en-US" sz="2800"/>
              <a:t>In this lecture: </a:t>
            </a:r>
            <a:r>
              <a:rPr lang="en-US" sz="2800"/>
              <a:t>a region in  main memory used to store </a:t>
            </a:r>
            <a:r>
              <a:rPr b="1" lang="en-US" sz="2800"/>
              <a:t>intermediate data between disk and processes</a:t>
            </a:r>
            <a:endParaRPr/>
          </a:p>
          <a:p>
            <a:pPr indent="0" lvl="1" marL="457200" rtl="0" algn="l">
              <a:lnSpc>
                <a:spcPct val="90000"/>
              </a:lnSpc>
              <a:spcBef>
                <a:spcPts val="500"/>
              </a:spcBef>
              <a:spcAft>
                <a:spcPts val="0"/>
              </a:spcAft>
              <a:buClr>
                <a:schemeClr val="dk1"/>
              </a:buClr>
              <a:buSzPts val="2800"/>
              <a:buNone/>
            </a:pPr>
            <a:r>
              <a:t/>
            </a:r>
            <a:endParaRPr i="1" sz="2800"/>
          </a:p>
          <a:p>
            <a:pPr indent="-228600" lvl="0" marL="228600" rtl="0" algn="l">
              <a:lnSpc>
                <a:spcPct val="90000"/>
              </a:lnSpc>
              <a:spcBef>
                <a:spcPts val="1000"/>
              </a:spcBef>
              <a:spcAft>
                <a:spcPts val="0"/>
              </a:spcAft>
              <a:buClr>
                <a:schemeClr val="dk1"/>
              </a:buClr>
              <a:buSzPts val="2800"/>
              <a:buChar char="•"/>
            </a:pPr>
            <a:r>
              <a:rPr i="1" lang="en-US"/>
              <a:t>Key idea: </a:t>
            </a:r>
            <a:r>
              <a:rPr lang="en-US"/>
              <a:t>Reading / writing to disk is slow- need to cache data!</a:t>
            </a:r>
            <a:endParaRPr/>
          </a:p>
          <a:p>
            <a:pPr indent="-76200" lvl="1" marL="685800" rtl="0" algn="l">
              <a:lnSpc>
                <a:spcPct val="90000"/>
              </a:lnSpc>
              <a:spcBef>
                <a:spcPts val="500"/>
              </a:spcBef>
              <a:spcAft>
                <a:spcPts val="0"/>
              </a:spcAft>
              <a:buClr>
                <a:schemeClr val="dk1"/>
              </a:buClr>
              <a:buSzPts val="24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grpSp>
        <p:nvGrpSpPr>
          <p:cNvPr id="220" name="Google Shape;220;p20"/>
          <p:cNvGrpSpPr/>
          <p:nvPr/>
        </p:nvGrpSpPr>
        <p:grpSpPr>
          <a:xfrm>
            <a:off x="7466322" y="1027906"/>
            <a:ext cx="4259923" cy="2456273"/>
            <a:chOff x="7466322" y="1027906"/>
            <a:chExt cx="4259923" cy="2456273"/>
          </a:xfrm>
        </p:grpSpPr>
        <p:sp>
          <p:nvSpPr>
            <p:cNvPr id="221" name="Google Shape;221;p20"/>
            <p:cNvSpPr/>
            <p:nvPr/>
          </p:nvSpPr>
          <p:spPr>
            <a:xfrm>
              <a:off x="7466322" y="1027906"/>
              <a:ext cx="4252691" cy="2440508"/>
            </a:xfrm>
            <a:prstGeom prst="rect">
              <a:avLst/>
            </a:prstGeom>
            <a:solidFill>
              <a:srgbClr val="FFF2CC"/>
            </a:solidFill>
            <a:ln cap="flat" cmpd="sng" w="9525">
              <a:solidFill>
                <a:srgbClr val="7F7F7F"/>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0">
                <a:solidFill>
                  <a:schemeClr val="dk1"/>
                </a:solidFill>
                <a:latin typeface="Calibri"/>
                <a:ea typeface="Calibri"/>
                <a:cs typeface="Calibri"/>
                <a:sym typeface="Calibri"/>
              </a:endParaRPr>
            </a:p>
          </p:txBody>
        </p:sp>
        <p:sp>
          <p:nvSpPr>
            <p:cNvPr id="222" name="Google Shape;222;p20"/>
            <p:cNvSpPr/>
            <p:nvPr/>
          </p:nvSpPr>
          <p:spPr>
            <a:xfrm>
              <a:off x="9459310" y="1986455"/>
              <a:ext cx="2266935" cy="1497724"/>
            </a:xfrm>
            <a:prstGeom prst="rect">
              <a:avLst/>
            </a:prstGeom>
            <a:solidFill>
              <a:srgbClr val="B3C6E7"/>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223" name="Google Shape;223;p20"/>
            <p:cNvSpPr txBox="1"/>
            <p:nvPr/>
          </p:nvSpPr>
          <p:spPr>
            <a:xfrm>
              <a:off x="7624243" y="1210562"/>
              <a:ext cx="196842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Main Memory</a:t>
              </a:r>
              <a:endParaRPr/>
            </a:p>
          </p:txBody>
        </p:sp>
        <p:sp>
          <p:nvSpPr>
            <p:cNvPr id="224" name="Google Shape;224;p20"/>
            <p:cNvSpPr txBox="1"/>
            <p:nvPr/>
          </p:nvSpPr>
          <p:spPr>
            <a:xfrm>
              <a:off x="10115979" y="2048829"/>
              <a:ext cx="95359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Buffer</a:t>
              </a:r>
              <a:endParaRPr/>
            </a:p>
          </p:txBody>
        </p:sp>
        <p:sp>
          <p:nvSpPr>
            <p:cNvPr id="225" name="Google Shape;225;p20"/>
            <p:cNvSpPr/>
            <p:nvPr/>
          </p:nvSpPr>
          <p:spPr>
            <a:xfrm>
              <a:off x="8994227" y="2098357"/>
              <a:ext cx="930166" cy="362607"/>
            </a:xfrm>
            <a:prstGeom prst="lef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26" name="Google Shape;226;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The (Simplified) Buffer</a:t>
            </a:r>
            <a:endParaRPr/>
          </a:p>
        </p:txBody>
      </p:sp>
      <p:sp>
        <p:nvSpPr>
          <p:cNvPr id="227" name="Google Shape;227;p20"/>
          <p:cNvSpPr txBox="1"/>
          <p:nvPr>
            <p:ph idx="1" type="body"/>
          </p:nvPr>
        </p:nvSpPr>
        <p:spPr>
          <a:xfrm>
            <a:off x="609600" y="1600202"/>
            <a:ext cx="6856722" cy="1450425"/>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In this class: We’ll consider a buffer located in </a:t>
            </a:r>
            <a:r>
              <a:rPr b="1" lang="en-US"/>
              <a:t>main memory</a:t>
            </a:r>
            <a:r>
              <a:rPr lang="en-US"/>
              <a:t> that operates over </a:t>
            </a:r>
            <a:r>
              <a:rPr b="1" lang="en-US"/>
              <a:t>pages</a:t>
            </a:r>
            <a:r>
              <a:rPr lang="en-US"/>
              <a:t> and </a:t>
            </a:r>
            <a:r>
              <a:rPr b="1" lang="en-US"/>
              <a:t>files</a:t>
            </a:r>
            <a:r>
              <a:rPr lang="en-US" sz="2800"/>
              <a:t>:</a:t>
            </a:r>
            <a:endParaRPr/>
          </a:p>
        </p:txBody>
      </p:sp>
      <p:grpSp>
        <p:nvGrpSpPr>
          <p:cNvPr id="228" name="Google Shape;228;p20"/>
          <p:cNvGrpSpPr/>
          <p:nvPr/>
        </p:nvGrpSpPr>
        <p:grpSpPr>
          <a:xfrm>
            <a:off x="0" y="-22510"/>
            <a:ext cx="12192000" cy="307777"/>
            <a:chOff x="0" y="-22510"/>
            <a:chExt cx="12192000" cy="307777"/>
          </a:xfrm>
        </p:grpSpPr>
        <p:sp>
          <p:nvSpPr>
            <p:cNvPr id="229" name="Google Shape;229;p20"/>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230" name="Google Shape;230;p20"/>
            <p:cNvSpPr txBox="1"/>
            <p:nvPr/>
          </p:nvSpPr>
          <p:spPr>
            <a:xfrm>
              <a:off x="188780" y="-22510"/>
              <a:ext cx="92698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The Buffer</a:t>
              </a:r>
              <a:endParaRPr/>
            </a:p>
          </p:txBody>
        </p:sp>
      </p:grpSp>
      <p:sp>
        <p:nvSpPr>
          <p:cNvPr id="231" name="Google Shape;231;p20"/>
          <p:cNvSpPr/>
          <p:nvPr/>
        </p:nvSpPr>
        <p:spPr>
          <a:xfrm>
            <a:off x="9270640" y="4666593"/>
            <a:ext cx="2644274" cy="1899307"/>
          </a:xfrm>
          <a:prstGeom prst="can">
            <a:avLst>
              <a:gd fmla="val 25000"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lt1"/>
                </a:solidFill>
                <a:latin typeface="Calibri"/>
                <a:ea typeface="Calibri"/>
                <a:cs typeface="Calibri"/>
                <a:sym typeface="Calibri"/>
              </a:rPr>
              <a:t>Disk</a:t>
            </a:r>
            <a:endParaRPr/>
          </a:p>
        </p:txBody>
      </p:sp>
      <p:sp>
        <p:nvSpPr>
          <p:cNvPr id="232" name="Google Shape;232;p20"/>
          <p:cNvSpPr/>
          <p:nvPr/>
        </p:nvSpPr>
        <p:spPr>
          <a:xfrm>
            <a:off x="10316880" y="3642353"/>
            <a:ext cx="551793" cy="1383699"/>
          </a:xfrm>
          <a:prstGeom prst="upDown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20"/>
          <p:cNvSpPr txBox="1"/>
          <p:nvPr/>
        </p:nvSpPr>
        <p:spPr>
          <a:xfrm>
            <a:off x="9478368" y="5103478"/>
            <a:ext cx="1114408" cy="461665"/>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C000"/>
                </a:solidFill>
                <a:latin typeface="Arial"/>
                <a:ea typeface="Arial"/>
                <a:cs typeface="Arial"/>
                <a:sym typeface="Arial"/>
              </a:rPr>
              <a:t>1,0,3</a:t>
            </a:r>
            <a:endParaRPr/>
          </a:p>
        </p:txBody>
      </p:sp>
      <p:sp>
        <p:nvSpPr>
          <p:cNvPr id="234" name="Google Shape;234;p20"/>
          <p:cNvSpPr txBox="1"/>
          <p:nvPr/>
        </p:nvSpPr>
        <p:spPr>
          <a:xfrm>
            <a:off x="9478368" y="5103478"/>
            <a:ext cx="1114408" cy="461665"/>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C000"/>
                </a:solidFill>
                <a:latin typeface="Arial"/>
                <a:ea typeface="Arial"/>
                <a:cs typeface="Arial"/>
                <a:sym typeface="Arial"/>
              </a:rPr>
              <a:t>1,0,3</a:t>
            </a:r>
            <a:endParaRPr/>
          </a:p>
        </p:txBody>
      </p:sp>
      <p:sp>
        <p:nvSpPr>
          <p:cNvPr id="235" name="Google Shape;235;p20"/>
          <p:cNvSpPr txBox="1"/>
          <p:nvPr/>
        </p:nvSpPr>
        <p:spPr>
          <a:xfrm>
            <a:off x="838199" y="3050627"/>
            <a:ext cx="6366641" cy="954107"/>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chemeClr val="dk1"/>
              </a:buClr>
              <a:buSzPts val="2800"/>
              <a:buFont typeface="Arial"/>
              <a:buChar char="•"/>
            </a:pPr>
            <a:r>
              <a:rPr b="1" lang="en-US" sz="2800" u="sng">
                <a:solidFill>
                  <a:schemeClr val="dk1"/>
                </a:solidFill>
                <a:latin typeface="Calibri"/>
                <a:ea typeface="Calibri"/>
                <a:cs typeface="Calibri"/>
                <a:sym typeface="Calibri"/>
              </a:rPr>
              <a:t>Read(page):</a:t>
            </a:r>
            <a:r>
              <a:rPr b="1" lang="en-US" sz="2800">
                <a:solidFill>
                  <a:schemeClr val="dk1"/>
                </a:solidFill>
                <a:latin typeface="Calibri"/>
                <a:ea typeface="Calibri"/>
                <a:cs typeface="Calibri"/>
                <a:sym typeface="Calibri"/>
              </a:rPr>
              <a:t> </a:t>
            </a:r>
            <a:r>
              <a:rPr lang="en-US" sz="2800">
                <a:solidFill>
                  <a:schemeClr val="dk1"/>
                </a:solidFill>
                <a:latin typeface="Calibri"/>
                <a:ea typeface="Calibri"/>
                <a:cs typeface="Calibri"/>
                <a:sym typeface="Calibri"/>
              </a:rPr>
              <a:t>Read page from disk -&gt; buffer </a:t>
            </a:r>
            <a:r>
              <a:rPr i="1" lang="en-US" sz="2800">
                <a:solidFill>
                  <a:schemeClr val="dk1"/>
                </a:solidFill>
                <a:latin typeface="Calibri"/>
                <a:ea typeface="Calibri"/>
                <a:cs typeface="Calibri"/>
                <a:sym typeface="Calibri"/>
              </a:rPr>
              <a:t>if not already in buffer</a:t>
            </a:r>
            <a:endParaRPr sz="2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grpSp>
        <p:nvGrpSpPr>
          <p:cNvPr id="240" name="Google Shape;240;p21"/>
          <p:cNvGrpSpPr/>
          <p:nvPr/>
        </p:nvGrpSpPr>
        <p:grpSpPr>
          <a:xfrm>
            <a:off x="7466322" y="1027906"/>
            <a:ext cx="4259923" cy="2456273"/>
            <a:chOff x="7466322" y="1027906"/>
            <a:chExt cx="4259923" cy="2456273"/>
          </a:xfrm>
        </p:grpSpPr>
        <p:sp>
          <p:nvSpPr>
            <p:cNvPr id="241" name="Google Shape;241;p21"/>
            <p:cNvSpPr/>
            <p:nvPr/>
          </p:nvSpPr>
          <p:spPr>
            <a:xfrm>
              <a:off x="7466322" y="1027906"/>
              <a:ext cx="4252691" cy="2440508"/>
            </a:xfrm>
            <a:prstGeom prst="rect">
              <a:avLst/>
            </a:prstGeom>
            <a:solidFill>
              <a:srgbClr val="FFF2CC"/>
            </a:solidFill>
            <a:ln cap="flat" cmpd="sng" w="9525">
              <a:solidFill>
                <a:srgbClr val="7F7F7F"/>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0">
                <a:solidFill>
                  <a:schemeClr val="dk1"/>
                </a:solidFill>
                <a:latin typeface="Calibri"/>
                <a:ea typeface="Calibri"/>
                <a:cs typeface="Calibri"/>
                <a:sym typeface="Calibri"/>
              </a:endParaRPr>
            </a:p>
          </p:txBody>
        </p:sp>
        <p:sp>
          <p:nvSpPr>
            <p:cNvPr id="242" name="Google Shape;242;p21"/>
            <p:cNvSpPr/>
            <p:nvPr/>
          </p:nvSpPr>
          <p:spPr>
            <a:xfrm>
              <a:off x="9459310" y="1986455"/>
              <a:ext cx="2266935" cy="1497724"/>
            </a:xfrm>
            <a:prstGeom prst="rect">
              <a:avLst/>
            </a:prstGeom>
            <a:solidFill>
              <a:srgbClr val="B3C6E7"/>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243" name="Google Shape;243;p21"/>
            <p:cNvSpPr txBox="1"/>
            <p:nvPr/>
          </p:nvSpPr>
          <p:spPr>
            <a:xfrm>
              <a:off x="7624243" y="1210562"/>
              <a:ext cx="196842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Main Memory</a:t>
              </a:r>
              <a:endParaRPr/>
            </a:p>
          </p:txBody>
        </p:sp>
        <p:sp>
          <p:nvSpPr>
            <p:cNvPr id="244" name="Google Shape;244;p21"/>
            <p:cNvSpPr txBox="1"/>
            <p:nvPr/>
          </p:nvSpPr>
          <p:spPr>
            <a:xfrm>
              <a:off x="10115979" y="2048829"/>
              <a:ext cx="95359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Buffer</a:t>
              </a:r>
              <a:endParaRPr/>
            </a:p>
          </p:txBody>
        </p:sp>
        <p:sp>
          <p:nvSpPr>
            <p:cNvPr id="245" name="Google Shape;245;p21"/>
            <p:cNvSpPr/>
            <p:nvPr/>
          </p:nvSpPr>
          <p:spPr>
            <a:xfrm>
              <a:off x="8994227" y="2098357"/>
              <a:ext cx="930166" cy="362607"/>
            </a:xfrm>
            <a:prstGeom prst="lef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46" name="Google Shape;246;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The (Simplified) Buffer</a:t>
            </a:r>
            <a:endParaRPr/>
          </a:p>
        </p:txBody>
      </p:sp>
      <p:sp>
        <p:nvSpPr>
          <p:cNvPr id="247" name="Google Shape;247;p21"/>
          <p:cNvSpPr txBox="1"/>
          <p:nvPr>
            <p:ph idx="1" type="body"/>
          </p:nvPr>
        </p:nvSpPr>
        <p:spPr>
          <a:xfrm>
            <a:off x="609600" y="1600202"/>
            <a:ext cx="6856722" cy="1450425"/>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In this class: We’ll consider a buffer located in </a:t>
            </a:r>
            <a:r>
              <a:rPr b="1" lang="en-US"/>
              <a:t>main memory</a:t>
            </a:r>
            <a:r>
              <a:rPr lang="en-US"/>
              <a:t> that operates over </a:t>
            </a:r>
            <a:r>
              <a:rPr b="1" lang="en-US"/>
              <a:t>pages</a:t>
            </a:r>
            <a:r>
              <a:rPr lang="en-US"/>
              <a:t> and </a:t>
            </a:r>
            <a:r>
              <a:rPr b="1" lang="en-US"/>
              <a:t>files</a:t>
            </a:r>
            <a:r>
              <a:rPr lang="en-US" sz="2800"/>
              <a:t>:</a:t>
            </a:r>
            <a:endParaRPr/>
          </a:p>
        </p:txBody>
      </p:sp>
      <p:grpSp>
        <p:nvGrpSpPr>
          <p:cNvPr id="248" name="Google Shape;248;p21"/>
          <p:cNvGrpSpPr/>
          <p:nvPr/>
        </p:nvGrpSpPr>
        <p:grpSpPr>
          <a:xfrm>
            <a:off x="0" y="-22510"/>
            <a:ext cx="12192000" cy="307777"/>
            <a:chOff x="0" y="-22510"/>
            <a:chExt cx="12192000" cy="307777"/>
          </a:xfrm>
        </p:grpSpPr>
        <p:sp>
          <p:nvSpPr>
            <p:cNvPr id="249" name="Google Shape;249;p21"/>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250" name="Google Shape;250;p21"/>
            <p:cNvSpPr txBox="1"/>
            <p:nvPr/>
          </p:nvSpPr>
          <p:spPr>
            <a:xfrm>
              <a:off x="188780" y="-22510"/>
              <a:ext cx="92698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The Buffer</a:t>
              </a:r>
              <a:endParaRPr/>
            </a:p>
          </p:txBody>
        </p:sp>
      </p:grpSp>
      <p:sp>
        <p:nvSpPr>
          <p:cNvPr id="251" name="Google Shape;251;p21"/>
          <p:cNvSpPr/>
          <p:nvPr/>
        </p:nvSpPr>
        <p:spPr>
          <a:xfrm>
            <a:off x="9270640" y="4666593"/>
            <a:ext cx="2644274" cy="1899307"/>
          </a:xfrm>
          <a:prstGeom prst="can">
            <a:avLst>
              <a:gd fmla="val 25000"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lt1"/>
                </a:solidFill>
                <a:latin typeface="Calibri"/>
                <a:ea typeface="Calibri"/>
                <a:cs typeface="Calibri"/>
                <a:sym typeface="Calibri"/>
              </a:rPr>
              <a:t>Disk</a:t>
            </a:r>
            <a:endParaRPr/>
          </a:p>
        </p:txBody>
      </p:sp>
      <p:sp>
        <p:nvSpPr>
          <p:cNvPr id="252" name="Google Shape;252;p21"/>
          <p:cNvSpPr/>
          <p:nvPr/>
        </p:nvSpPr>
        <p:spPr>
          <a:xfrm>
            <a:off x="10316880" y="3642353"/>
            <a:ext cx="551793" cy="1383699"/>
          </a:xfrm>
          <a:prstGeom prst="upDown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3" name="Google Shape;253;p21"/>
          <p:cNvSpPr txBox="1"/>
          <p:nvPr/>
        </p:nvSpPr>
        <p:spPr>
          <a:xfrm>
            <a:off x="9478368" y="5103478"/>
            <a:ext cx="1114408" cy="461665"/>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C000"/>
                </a:solidFill>
                <a:latin typeface="Arial"/>
                <a:ea typeface="Arial"/>
                <a:cs typeface="Arial"/>
                <a:sym typeface="Arial"/>
              </a:rPr>
              <a:t>1,0,3</a:t>
            </a:r>
            <a:endParaRPr/>
          </a:p>
        </p:txBody>
      </p:sp>
      <p:sp>
        <p:nvSpPr>
          <p:cNvPr id="254" name="Google Shape;254;p21"/>
          <p:cNvSpPr txBox="1"/>
          <p:nvPr/>
        </p:nvSpPr>
        <p:spPr>
          <a:xfrm>
            <a:off x="9478368" y="3001800"/>
            <a:ext cx="1114408" cy="461665"/>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C000"/>
                </a:solidFill>
                <a:latin typeface="Arial"/>
                <a:ea typeface="Arial"/>
                <a:cs typeface="Arial"/>
                <a:sym typeface="Arial"/>
              </a:rPr>
              <a:t>1,0,3</a:t>
            </a:r>
            <a:endParaRPr/>
          </a:p>
        </p:txBody>
      </p:sp>
      <p:sp>
        <p:nvSpPr>
          <p:cNvPr id="255" name="Google Shape;255;p21"/>
          <p:cNvSpPr txBox="1"/>
          <p:nvPr/>
        </p:nvSpPr>
        <p:spPr>
          <a:xfrm>
            <a:off x="838199" y="3050627"/>
            <a:ext cx="6366641" cy="954107"/>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chemeClr val="dk1"/>
              </a:buClr>
              <a:buSzPts val="2800"/>
              <a:buFont typeface="Arial"/>
              <a:buChar char="•"/>
            </a:pPr>
            <a:r>
              <a:rPr b="1" lang="en-US" sz="2800" u="sng">
                <a:solidFill>
                  <a:schemeClr val="dk1"/>
                </a:solidFill>
                <a:latin typeface="Calibri"/>
                <a:ea typeface="Calibri"/>
                <a:cs typeface="Calibri"/>
                <a:sym typeface="Calibri"/>
              </a:rPr>
              <a:t>Read(page):</a:t>
            </a:r>
            <a:r>
              <a:rPr b="1" lang="en-US" sz="2800">
                <a:solidFill>
                  <a:schemeClr val="dk1"/>
                </a:solidFill>
                <a:latin typeface="Calibri"/>
                <a:ea typeface="Calibri"/>
                <a:cs typeface="Calibri"/>
                <a:sym typeface="Calibri"/>
              </a:rPr>
              <a:t> </a:t>
            </a:r>
            <a:r>
              <a:rPr lang="en-US" sz="2800">
                <a:solidFill>
                  <a:schemeClr val="dk1"/>
                </a:solidFill>
                <a:latin typeface="Calibri"/>
                <a:ea typeface="Calibri"/>
                <a:cs typeface="Calibri"/>
                <a:sym typeface="Calibri"/>
              </a:rPr>
              <a:t>Read page from disk -&gt; buffer </a:t>
            </a:r>
            <a:r>
              <a:rPr i="1" lang="en-US" sz="2800">
                <a:solidFill>
                  <a:schemeClr val="dk1"/>
                </a:solidFill>
                <a:latin typeface="Calibri"/>
                <a:ea typeface="Calibri"/>
                <a:cs typeface="Calibri"/>
                <a:sym typeface="Calibri"/>
              </a:rPr>
              <a:t>if not already in buffer</a:t>
            </a:r>
            <a:endParaRPr sz="2800">
              <a:solidFill>
                <a:schemeClr val="dk1"/>
              </a:solidFill>
              <a:latin typeface="Calibri"/>
              <a:ea typeface="Calibri"/>
              <a:cs typeface="Calibri"/>
              <a:sym typeface="Calibri"/>
            </a:endParaRPr>
          </a:p>
        </p:txBody>
      </p:sp>
      <p:sp>
        <p:nvSpPr>
          <p:cNvPr id="256" name="Google Shape;256;p21"/>
          <p:cNvSpPr txBox="1"/>
          <p:nvPr/>
        </p:nvSpPr>
        <p:spPr>
          <a:xfrm>
            <a:off x="9834499" y="2995546"/>
            <a:ext cx="370614" cy="461665"/>
          </a:xfrm>
          <a:prstGeom prst="rect">
            <a:avLst/>
          </a:prstGeom>
          <a:solidFill>
            <a:srgbClr val="7F7F7F"/>
          </a:solidFill>
          <a:ln cap="flat" cmpd="sng" w="25400">
            <a:solidFill>
              <a:srgbClr val="00B05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C000"/>
                </a:solidFill>
                <a:latin typeface="Arial"/>
                <a:ea typeface="Arial"/>
                <a:cs typeface="Arial"/>
                <a:sym typeface="Arial"/>
              </a:rPr>
              <a:t>0</a:t>
            </a:r>
            <a:endParaRPr/>
          </a:p>
        </p:txBody>
      </p:sp>
      <p:sp>
        <p:nvSpPr>
          <p:cNvPr id="257" name="Google Shape;257;p21"/>
          <p:cNvSpPr txBox="1"/>
          <p:nvPr/>
        </p:nvSpPr>
        <p:spPr>
          <a:xfrm>
            <a:off x="8204939" y="3001800"/>
            <a:ext cx="370614" cy="461665"/>
          </a:xfrm>
          <a:prstGeom prst="rect">
            <a:avLst/>
          </a:prstGeom>
          <a:solidFill>
            <a:srgbClr val="7F7F7F"/>
          </a:solidFill>
          <a:ln cap="flat" cmpd="sng" w="25400">
            <a:solidFill>
              <a:srgbClr val="00B05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C000"/>
                </a:solidFill>
                <a:latin typeface="Arial"/>
                <a:ea typeface="Arial"/>
                <a:cs typeface="Arial"/>
                <a:sym typeface="Arial"/>
              </a:rPr>
              <a:t>2</a:t>
            </a:r>
            <a:endParaRPr/>
          </a:p>
        </p:txBody>
      </p:sp>
      <p:sp>
        <p:nvSpPr>
          <p:cNvPr id="258" name="Google Shape;258;p21"/>
          <p:cNvSpPr txBox="1"/>
          <p:nvPr/>
        </p:nvSpPr>
        <p:spPr>
          <a:xfrm>
            <a:off x="3916932" y="4226437"/>
            <a:ext cx="4691523" cy="954107"/>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Processes can then read from / write to the page in the buffer</a:t>
            </a:r>
            <a:endParaRPr b="1" sz="2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xit" presetID="1" presetSubtype="0">
                                  <p:stCondLst>
                                    <p:cond delay="0"/>
                                  </p:stCondLst>
                                  <p:childTnLst>
                                    <p:set>
                                      <p:cBhvr>
                                        <p:cTn dur="1" fill="hold">
                                          <p:stCondLst>
                                            <p:cond delay="1"/>
                                          </p:stCondLst>
                                        </p:cTn>
                                        <p:tgtEl>
                                          <p:spTgt spid="256"/>
                                        </p:tgtEl>
                                        <p:attrNameLst>
                                          <p:attrName>style.visibility</p:attrName>
                                        </p:attrNameLst>
                                      </p:cBhvr>
                                      <p:to>
                                        <p:strVal val="hidden"/>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2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grpSp>
        <p:nvGrpSpPr>
          <p:cNvPr id="263" name="Google Shape;263;p22"/>
          <p:cNvGrpSpPr/>
          <p:nvPr/>
        </p:nvGrpSpPr>
        <p:grpSpPr>
          <a:xfrm>
            <a:off x="7466322" y="1027906"/>
            <a:ext cx="4259923" cy="2456273"/>
            <a:chOff x="7466322" y="1027906"/>
            <a:chExt cx="4259923" cy="2456273"/>
          </a:xfrm>
        </p:grpSpPr>
        <p:sp>
          <p:nvSpPr>
            <p:cNvPr id="264" name="Google Shape;264;p22"/>
            <p:cNvSpPr/>
            <p:nvPr/>
          </p:nvSpPr>
          <p:spPr>
            <a:xfrm>
              <a:off x="7466322" y="1027906"/>
              <a:ext cx="4252691" cy="2440508"/>
            </a:xfrm>
            <a:prstGeom prst="rect">
              <a:avLst/>
            </a:prstGeom>
            <a:solidFill>
              <a:srgbClr val="FFF2CC"/>
            </a:solidFill>
            <a:ln cap="flat" cmpd="sng" w="9525">
              <a:solidFill>
                <a:srgbClr val="7F7F7F"/>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0">
                <a:solidFill>
                  <a:schemeClr val="dk1"/>
                </a:solidFill>
                <a:latin typeface="Calibri"/>
                <a:ea typeface="Calibri"/>
                <a:cs typeface="Calibri"/>
                <a:sym typeface="Calibri"/>
              </a:endParaRPr>
            </a:p>
          </p:txBody>
        </p:sp>
        <p:sp>
          <p:nvSpPr>
            <p:cNvPr id="265" name="Google Shape;265;p22"/>
            <p:cNvSpPr/>
            <p:nvPr/>
          </p:nvSpPr>
          <p:spPr>
            <a:xfrm>
              <a:off x="9459310" y="1986455"/>
              <a:ext cx="2266935" cy="1497724"/>
            </a:xfrm>
            <a:prstGeom prst="rect">
              <a:avLst/>
            </a:prstGeom>
            <a:solidFill>
              <a:srgbClr val="B3C6E7"/>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266" name="Google Shape;266;p22"/>
            <p:cNvSpPr txBox="1"/>
            <p:nvPr/>
          </p:nvSpPr>
          <p:spPr>
            <a:xfrm>
              <a:off x="7624243" y="1210562"/>
              <a:ext cx="196842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Main Memory</a:t>
              </a:r>
              <a:endParaRPr/>
            </a:p>
          </p:txBody>
        </p:sp>
        <p:sp>
          <p:nvSpPr>
            <p:cNvPr id="267" name="Google Shape;267;p22"/>
            <p:cNvSpPr txBox="1"/>
            <p:nvPr/>
          </p:nvSpPr>
          <p:spPr>
            <a:xfrm>
              <a:off x="10115979" y="2048829"/>
              <a:ext cx="95359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Buffer</a:t>
              </a:r>
              <a:endParaRPr/>
            </a:p>
          </p:txBody>
        </p:sp>
        <p:sp>
          <p:nvSpPr>
            <p:cNvPr id="268" name="Google Shape;268;p22"/>
            <p:cNvSpPr/>
            <p:nvPr/>
          </p:nvSpPr>
          <p:spPr>
            <a:xfrm>
              <a:off x="8994227" y="2098357"/>
              <a:ext cx="930166" cy="362607"/>
            </a:xfrm>
            <a:prstGeom prst="lef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69" name="Google Shape;269;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The (Simplified) Buffer</a:t>
            </a:r>
            <a:endParaRPr/>
          </a:p>
        </p:txBody>
      </p:sp>
      <p:sp>
        <p:nvSpPr>
          <p:cNvPr id="270" name="Google Shape;270;p22"/>
          <p:cNvSpPr txBox="1"/>
          <p:nvPr>
            <p:ph idx="1" type="body"/>
          </p:nvPr>
        </p:nvSpPr>
        <p:spPr>
          <a:xfrm>
            <a:off x="609600" y="1600202"/>
            <a:ext cx="6856722" cy="1450425"/>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In this class: We’ll consider a buffer located in </a:t>
            </a:r>
            <a:r>
              <a:rPr b="1" lang="en-US"/>
              <a:t>main memory</a:t>
            </a:r>
            <a:r>
              <a:rPr lang="en-US"/>
              <a:t> that operates over </a:t>
            </a:r>
            <a:r>
              <a:rPr b="1" lang="en-US"/>
              <a:t>pages</a:t>
            </a:r>
            <a:r>
              <a:rPr lang="en-US"/>
              <a:t> and </a:t>
            </a:r>
            <a:r>
              <a:rPr b="1" lang="en-US"/>
              <a:t>files</a:t>
            </a:r>
            <a:r>
              <a:rPr lang="en-US" sz="2800"/>
              <a:t>:</a:t>
            </a:r>
            <a:endParaRPr/>
          </a:p>
        </p:txBody>
      </p:sp>
      <p:grpSp>
        <p:nvGrpSpPr>
          <p:cNvPr id="271" name="Google Shape;271;p22"/>
          <p:cNvGrpSpPr/>
          <p:nvPr/>
        </p:nvGrpSpPr>
        <p:grpSpPr>
          <a:xfrm>
            <a:off x="0" y="-22510"/>
            <a:ext cx="12192000" cy="307777"/>
            <a:chOff x="0" y="-22510"/>
            <a:chExt cx="12192000" cy="307777"/>
          </a:xfrm>
        </p:grpSpPr>
        <p:sp>
          <p:nvSpPr>
            <p:cNvPr id="272" name="Google Shape;272;p22"/>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273" name="Google Shape;273;p22"/>
            <p:cNvSpPr txBox="1"/>
            <p:nvPr/>
          </p:nvSpPr>
          <p:spPr>
            <a:xfrm>
              <a:off x="188780" y="-22510"/>
              <a:ext cx="92698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The Buffer</a:t>
              </a:r>
              <a:endParaRPr/>
            </a:p>
          </p:txBody>
        </p:sp>
      </p:grpSp>
      <p:sp>
        <p:nvSpPr>
          <p:cNvPr id="274" name="Google Shape;274;p22"/>
          <p:cNvSpPr/>
          <p:nvPr/>
        </p:nvSpPr>
        <p:spPr>
          <a:xfrm>
            <a:off x="9270640" y="4666593"/>
            <a:ext cx="2644274" cy="1899307"/>
          </a:xfrm>
          <a:prstGeom prst="can">
            <a:avLst>
              <a:gd fmla="val 25000"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lt1"/>
                </a:solidFill>
                <a:latin typeface="Calibri"/>
                <a:ea typeface="Calibri"/>
                <a:cs typeface="Calibri"/>
                <a:sym typeface="Calibri"/>
              </a:rPr>
              <a:t>Disk</a:t>
            </a:r>
            <a:endParaRPr/>
          </a:p>
        </p:txBody>
      </p:sp>
      <p:sp>
        <p:nvSpPr>
          <p:cNvPr id="275" name="Google Shape;275;p22"/>
          <p:cNvSpPr/>
          <p:nvPr/>
        </p:nvSpPr>
        <p:spPr>
          <a:xfrm>
            <a:off x="10316880" y="3642353"/>
            <a:ext cx="551793" cy="1383699"/>
          </a:xfrm>
          <a:prstGeom prst="upDown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6" name="Google Shape;276;p22"/>
          <p:cNvSpPr txBox="1"/>
          <p:nvPr/>
        </p:nvSpPr>
        <p:spPr>
          <a:xfrm>
            <a:off x="9478368" y="5103478"/>
            <a:ext cx="1114408" cy="461665"/>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C000"/>
                </a:solidFill>
                <a:latin typeface="Arial"/>
                <a:ea typeface="Arial"/>
                <a:cs typeface="Arial"/>
                <a:sym typeface="Arial"/>
              </a:rPr>
              <a:t>1,0,3</a:t>
            </a:r>
            <a:endParaRPr/>
          </a:p>
        </p:txBody>
      </p:sp>
      <p:sp>
        <p:nvSpPr>
          <p:cNvPr id="277" name="Google Shape;277;p22"/>
          <p:cNvSpPr txBox="1"/>
          <p:nvPr/>
        </p:nvSpPr>
        <p:spPr>
          <a:xfrm>
            <a:off x="9478368" y="3000055"/>
            <a:ext cx="1114408" cy="461665"/>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C000"/>
                </a:solidFill>
                <a:latin typeface="Arial"/>
                <a:ea typeface="Arial"/>
                <a:cs typeface="Arial"/>
                <a:sym typeface="Arial"/>
              </a:rPr>
              <a:t>1,2,3</a:t>
            </a:r>
            <a:endParaRPr/>
          </a:p>
        </p:txBody>
      </p:sp>
      <p:sp>
        <p:nvSpPr>
          <p:cNvPr id="278" name="Google Shape;278;p22"/>
          <p:cNvSpPr txBox="1"/>
          <p:nvPr/>
        </p:nvSpPr>
        <p:spPr>
          <a:xfrm>
            <a:off x="838199" y="3050627"/>
            <a:ext cx="6366641" cy="954107"/>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chemeClr val="dk1"/>
              </a:buClr>
              <a:buSzPts val="2800"/>
              <a:buFont typeface="Arial"/>
              <a:buChar char="•"/>
            </a:pPr>
            <a:r>
              <a:rPr b="1" lang="en-US" sz="2800" u="sng">
                <a:solidFill>
                  <a:schemeClr val="dk1"/>
                </a:solidFill>
                <a:latin typeface="Calibri"/>
                <a:ea typeface="Calibri"/>
                <a:cs typeface="Calibri"/>
                <a:sym typeface="Calibri"/>
              </a:rPr>
              <a:t>Read(page):</a:t>
            </a:r>
            <a:r>
              <a:rPr b="1" lang="en-US" sz="2800">
                <a:solidFill>
                  <a:schemeClr val="dk1"/>
                </a:solidFill>
                <a:latin typeface="Calibri"/>
                <a:ea typeface="Calibri"/>
                <a:cs typeface="Calibri"/>
                <a:sym typeface="Calibri"/>
              </a:rPr>
              <a:t> </a:t>
            </a:r>
            <a:r>
              <a:rPr lang="en-US" sz="2800">
                <a:solidFill>
                  <a:schemeClr val="dk1"/>
                </a:solidFill>
                <a:latin typeface="Calibri"/>
                <a:ea typeface="Calibri"/>
                <a:cs typeface="Calibri"/>
                <a:sym typeface="Calibri"/>
              </a:rPr>
              <a:t>Read page from disk -&gt; buffer </a:t>
            </a:r>
            <a:r>
              <a:rPr i="1" lang="en-US" sz="2800">
                <a:solidFill>
                  <a:schemeClr val="dk1"/>
                </a:solidFill>
                <a:latin typeface="Calibri"/>
                <a:ea typeface="Calibri"/>
                <a:cs typeface="Calibri"/>
                <a:sym typeface="Calibri"/>
              </a:rPr>
              <a:t>if not already in buffer</a:t>
            </a:r>
            <a:endParaRPr sz="2800">
              <a:solidFill>
                <a:schemeClr val="dk1"/>
              </a:solidFill>
              <a:latin typeface="Calibri"/>
              <a:ea typeface="Calibri"/>
              <a:cs typeface="Calibri"/>
              <a:sym typeface="Calibri"/>
            </a:endParaRPr>
          </a:p>
        </p:txBody>
      </p:sp>
      <p:sp>
        <p:nvSpPr>
          <p:cNvPr id="279" name="Google Shape;279;p22"/>
          <p:cNvSpPr txBox="1"/>
          <p:nvPr/>
        </p:nvSpPr>
        <p:spPr>
          <a:xfrm>
            <a:off x="838200" y="4149371"/>
            <a:ext cx="6366641" cy="954107"/>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chemeClr val="dk1"/>
              </a:buClr>
              <a:buSzPts val="2800"/>
              <a:buFont typeface="Arial"/>
              <a:buChar char="•"/>
            </a:pPr>
            <a:r>
              <a:rPr b="1" lang="en-US" sz="2800" u="sng">
                <a:solidFill>
                  <a:schemeClr val="dk1"/>
                </a:solidFill>
                <a:latin typeface="Calibri"/>
                <a:ea typeface="Calibri"/>
                <a:cs typeface="Calibri"/>
                <a:sym typeface="Calibri"/>
              </a:rPr>
              <a:t>Flush(page):</a:t>
            </a:r>
            <a:r>
              <a:rPr b="1" lang="en-US" sz="2800">
                <a:solidFill>
                  <a:schemeClr val="dk1"/>
                </a:solidFill>
                <a:latin typeface="Calibri"/>
                <a:ea typeface="Calibri"/>
                <a:cs typeface="Calibri"/>
                <a:sym typeface="Calibri"/>
              </a:rPr>
              <a:t> </a:t>
            </a:r>
            <a:r>
              <a:rPr lang="en-US" sz="2800">
                <a:solidFill>
                  <a:schemeClr val="dk1"/>
                </a:solidFill>
                <a:latin typeface="Calibri"/>
                <a:ea typeface="Calibri"/>
                <a:cs typeface="Calibri"/>
                <a:sym typeface="Calibri"/>
              </a:rPr>
              <a:t>Evict page from buffer &amp; write to disk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grpSp>
        <p:nvGrpSpPr>
          <p:cNvPr id="284" name="Google Shape;284;p23"/>
          <p:cNvGrpSpPr/>
          <p:nvPr/>
        </p:nvGrpSpPr>
        <p:grpSpPr>
          <a:xfrm>
            <a:off x="7466322" y="1027906"/>
            <a:ext cx="4259923" cy="2456273"/>
            <a:chOff x="7466322" y="1027906"/>
            <a:chExt cx="4259923" cy="2456273"/>
          </a:xfrm>
        </p:grpSpPr>
        <p:sp>
          <p:nvSpPr>
            <p:cNvPr id="285" name="Google Shape;285;p23"/>
            <p:cNvSpPr/>
            <p:nvPr/>
          </p:nvSpPr>
          <p:spPr>
            <a:xfrm>
              <a:off x="7466322" y="1027906"/>
              <a:ext cx="4252691" cy="2440508"/>
            </a:xfrm>
            <a:prstGeom prst="rect">
              <a:avLst/>
            </a:prstGeom>
            <a:solidFill>
              <a:srgbClr val="FFF2CC"/>
            </a:solidFill>
            <a:ln cap="flat" cmpd="sng" w="9525">
              <a:solidFill>
                <a:srgbClr val="7F7F7F"/>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0">
                <a:solidFill>
                  <a:schemeClr val="dk1"/>
                </a:solidFill>
                <a:latin typeface="Calibri"/>
                <a:ea typeface="Calibri"/>
                <a:cs typeface="Calibri"/>
                <a:sym typeface="Calibri"/>
              </a:endParaRPr>
            </a:p>
          </p:txBody>
        </p:sp>
        <p:sp>
          <p:nvSpPr>
            <p:cNvPr id="286" name="Google Shape;286;p23"/>
            <p:cNvSpPr/>
            <p:nvPr/>
          </p:nvSpPr>
          <p:spPr>
            <a:xfrm>
              <a:off x="9459310" y="1986455"/>
              <a:ext cx="2266935" cy="1497724"/>
            </a:xfrm>
            <a:prstGeom prst="rect">
              <a:avLst/>
            </a:prstGeom>
            <a:solidFill>
              <a:srgbClr val="B3C6E7"/>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287" name="Google Shape;287;p23"/>
            <p:cNvSpPr txBox="1"/>
            <p:nvPr/>
          </p:nvSpPr>
          <p:spPr>
            <a:xfrm>
              <a:off x="7624243" y="1210562"/>
              <a:ext cx="196842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Main Memory</a:t>
              </a:r>
              <a:endParaRPr/>
            </a:p>
          </p:txBody>
        </p:sp>
        <p:sp>
          <p:nvSpPr>
            <p:cNvPr id="288" name="Google Shape;288;p23"/>
            <p:cNvSpPr txBox="1"/>
            <p:nvPr/>
          </p:nvSpPr>
          <p:spPr>
            <a:xfrm>
              <a:off x="10115979" y="2048829"/>
              <a:ext cx="95359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Buffer</a:t>
              </a:r>
              <a:endParaRPr/>
            </a:p>
          </p:txBody>
        </p:sp>
        <p:sp>
          <p:nvSpPr>
            <p:cNvPr id="289" name="Google Shape;289;p23"/>
            <p:cNvSpPr/>
            <p:nvPr/>
          </p:nvSpPr>
          <p:spPr>
            <a:xfrm>
              <a:off x="8994227" y="2098357"/>
              <a:ext cx="930166" cy="362607"/>
            </a:xfrm>
            <a:prstGeom prst="lef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90" name="Google Shape;290;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The (Simplified) Buffer</a:t>
            </a:r>
            <a:endParaRPr/>
          </a:p>
        </p:txBody>
      </p:sp>
      <p:sp>
        <p:nvSpPr>
          <p:cNvPr id="291" name="Google Shape;291;p23"/>
          <p:cNvSpPr txBox="1"/>
          <p:nvPr>
            <p:ph idx="1" type="body"/>
          </p:nvPr>
        </p:nvSpPr>
        <p:spPr>
          <a:xfrm>
            <a:off x="609600" y="1600202"/>
            <a:ext cx="6856722" cy="1450425"/>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In this class: We’ll consider a buffer located in </a:t>
            </a:r>
            <a:r>
              <a:rPr b="1" lang="en-US"/>
              <a:t>main memory</a:t>
            </a:r>
            <a:r>
              <a:rPr lang="en-US"/>
              <a:t> that operates over </a:t>
            </a:r>
            <a:r>
              <a:rPr b="1" lang="en-US"/>
              <a:t>pages</a:t>
            </a:r>
            <a:r>
              <a:rPr lang="en-US"/>
              <a:t> and </a:t>
            </a:r>
            <a:r>
              <a:rPr b="1" lang="en-US"/>
              <a:t>files</a:t>
            </a:r>
            <a:r>
              <a:rPr lang="en-US" sz="2800"/>
              <a:t>:</a:t>
            </a:r>
            <a:endParaRPr/>
          </a:p>
        </p:txBody>
      </p:sp>
      <p:grpSp>
        <p:nvGrpSpPr>
          <p:cNvPr id="292" name="Google Shape;292;p23"/>
          <p:cNvGrpSpPr/>
          <p:nvPr/>
        </p:nvGrpSpPr>
        <p:grpSpPr>
          <a:xfrm>
            <a:off x="0" y="-22510"/>
            <a:ext cx="12192000" cy="307777"/>
            <a:chOff x="0" y="-22510"/>
            <a:chExt cx="12192000" cy="307777"/>
          </a:xfrm>
        </p:grpSpPr>
        <p:sp>
          <p:nvSpPr>
            <p:cNvPr id="293" name="Google Shape;293;p23"/>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294" name="Google Shape;294;p23"/>
            <p:cNvSpPr txBox="1"/>
            <p:nvPr/>
          </p:nvSpPr>
          <p:spPr>
            <a:xfrm>
              <a:off x="188780" y="-22510"/>
              <a:ext cx="92698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The Buffer</a:t>
              </a:r>
              <a:endParaRPr/>
            </a:p>
          </p:txBody>
        </p:sp>
      </p:grpSp>
      <p:sp>
        <p:nvSpPr>
          <p:cNvPr id="295" name="Google Shape;295;p23"/>
          <p:cNvSpPr/>
          <p:nvPr/>
        </p:nvSpPr>
        <p:spPr>
          <a:xfrm>
            <a:off x="9270640" y="4666593"/>
            <a:ext cx="2644274" cy="1899307"/>
          </a:xfrm>
          <a:prstGeom prst="can">
            <a:avLst>
              <a:gd fmla="val 25000"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lt1"/>
                </a:solidFill>
                <a:latin typeface="Calibri"/>
                <a:ea typeface="Calibri"/>
                <a:cs typeface="Calibri"/>
                <a:sym typeface="Calibri"/>
              </a:rPr>
              <a:t>Disk</a:t>
            </a:r>
            <a:endParaRPr/>
          </a:p>
        </p:txBody>
      </p:sp>
      <p:sp>
        <p:nvSpPr>
          <p:cNvPr id="296" name="Google Shape;296;p23"/>
          <p:cNvSpPr/>
          <p:nvPr/>
        </p:nvSpPr>
        <p:spPr>
          <a:xfrm>
            <a:off x="10316880" y="3642353"/>
            <a:ext cx="551793" cy="1383699"/>
          </a:xfrm>
          <a:prstGeom prst="upDown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7" name="Google Shape;297;p23"/>
          <p:cNvSpPr txBox="1"/>
          <p:nvPr/>
        </p:nvSpPr>
        <p:spPr>
          <a:xfrm>
            <a:off x="9478368" y="5103478"/>
            <a:ext cx="1114408" cy="461665"/>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C000"/>
                </a:solidFill>
                <a:latin typeface="Arial"/>
                <a:ea typeface="Arial"/>
                <a:cs typeface="Arial"/>
                <a:sym typeface="Arial"/>
              </a:rPr>
              <a:t>1,0,3</a:t>
            </a:r>
            <a:endParaRPr/>
          </a:p>
        </p:txBody>
      </p:sp>
      <p:sp>
        <p:nvSpPr>
          <p:cNvPr id="298" name="Google Shape;298;p23"/>
          <p:cNvSpPr txBox="1"/>
          <p:nvPr/>
        </p:nvSpPr>
        <p:spPr>
          <a:xfrm>
            <a:off x="9478368" y="2835995"/>
            <a:ext cx="1114408" cy="461665"/>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C000"/>
                </a:solidFill>
                <a:latin typeface="Arial"/>
                <a:ea typeface="Arial"/>
                <a:cs typeface="Arial"/>
                <a:sym typeface="Arial"/>
              </a:rPr>
              <a:t>1,2,3</a:t>
            </a:r>
            <a:endParaRPr/>
          </a:p>
        </p:txBody>
      </p:sp>
      <p:sp>
        <p:nvSpPr>
          <p:cNvPr id="299" name="Google Shape;299;p23"/>
          <p:cNvSpPr txBox="1"/>
          <p:nvPr/>
        </p:nvSpPr>
        <p:spPr>
          <a:xfrm>
            <a:off x="838199" y="3050627"/>
            <a:ext cx="6366641" cy="954107"/>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chemeClr val="dk1"/>
              </a:buClr>
              <a:buSzPts val="2800"/>
              <a:buFont typeface="Arial"/>
              <a:buChar char="•"/>
            </a:pPr>
            <a:r>
              <a:rPr b="1" lang="en-US" sz="2800" u="sng">
                <a:solidFill>
                  <a:schemeClr val="dk1"/>
                </a:solidFill>
                <a:latin typeface="Calibri"/>
                <a:ea typeface="Calibri"/>
                <a:cs typeface="Calibri"/>
                <a:sym typeface="Calibri"/>
              </a:rPr>
              <a:t>Read(page):</a:t>
            </a:r>
            <a:r>
              <a:rPr b="1" lang="en-US" sz="2800">
                <a:solidFill>
                  <a:schemeClr val="dk1"/>
                </a:solidFill>
                <a:latin typeface="Calibri"/>
                <a:ea typeface="Calibri"/>
                <a:cs typeface="Calibri"/>
                <a:sym typeface="Calibri"/>
              </a:rPr>
              <a:t> </a:t>
            </a:r>
            <a:r>
              <a:rPr lang="en-US" sz="2800">
                <a:solidFill>
                  <a:schemeClr val="dk1"/>
                </a:solidFill>
                <a:latin typeface="Calibri"/>
                <a:ea typeface="Calibri"/>
                <a:cs typeface="Calibri"/>
                <a:sym typeface="Calibri"/>
              </a:rPr>
              <a:t>Read page from disk -&gt; buffer </a:t>
            </a:r>
            <a:r>
              <a:rPr i="1" lang="en-US" sz="2800">
                <a:solidFill>
                  <a:schemeClr val="dk1"/>
                </a:solidFill>
                <a:latin typeface="Calibri"/>
                <a:ea typeface="Calibri"/>
                <a:cs typeface="Calibri"/>
                <a:sym typeface="Calibri"/>
              </a:rPr>
              <a:t>if not already in buffer</a:t>
            </a:r>
            <a:endParaRPr sz="2800">
              <a:solidFill>
                <a:schemeClr val="dk1"/>
              </a:solidFill>
              <a:latin typeface="Calibri"/>
              <a:ea typeface="Calibri"/>
              <a:cs typeface="Calibri"/>
              <a:sym typeface="Calibri"/>
            </a:endParaRPr>
          </a:p>
        </p:txBody>
      </p:sp>
      <p:sp>
        <p:nvSpPr>
          <p:cNvPr id="300" name="Google Shape;300;p23"/>
          <p:cNvSpPr txBox="1"/>
          <p:nvPr/>
        </p:nvSpPr>
        <p:spPr>
          <a:xfrm>
            <a:off x="838200" y="4149371"/>
            <a:ext cx="6366641" cy="954107"/>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chemeClr val="dk1"/>
              </a:buClr>
              <a:buSzPts val="2800"/>
              <a:buFont typeface="Arial"/>
              <a:buChar char="•"/>
            </a:pPr>
            <a:r>
              <a:rPr b="1" lang="en-US" sz="2800" u="sng">
                <a:solidFill>
                  <a:schemeClr val="dk1"/>
                </a:solidFill>
                <a:latin typeface="Calibri"/>
                <a:ea typeface="Calibri"/>
                <a:cs typeface="Calibri"/>
                <a:sym typeface="Calibri"/>
              </a:rPr>
              <a:t>Flush(page):</a:t>
            </a:r>
            <a:r>
              <a:rPr b="1" lang="en-US" sz="2800">
                <a:solidFill>
                  <a:schemeClr val="dk1"/>
                </a:solidFill>
                <a:latin typeface="Calibri"/>
                <a:ea typeface="Calibri"/>
                <a:cs typeface="Calibri"/>
                <a:sym typeface="Calibri"/>
              </a:rPr>
              <a:t> </a:t>
            </a:r>
            <a:r>
              <a:rPr lang="en-US" sz="2800">
                <a:solidFill>
                  <a:schemeClr val="dk1"/>
                </a:solidFill>
                <a:latin typeface="Calibri"/>
                <a:ea typeface="Calibri"/>
                <a:cs typeface="Calibri"/>
                <a:sym typeface="Calibri"/>
              </a:rPr>
              <a:t>Evict page from buffer &amp; write to disk</a:t>
            </a:r>
            <a:endParaRPr/>
          </a:p>
        </p:txBody>
      </p:sp>
      <p:sp>
        <p:nvSpPr>
          <p:cNvPr id="301" name="Google Shape;301;p23"/>
          <p:cNvSpPr txBox="1"/>
          <p:nvPr/>
        </p:nvSpPr>
        <p:spPr>
          <a:xfrm>
            <a:off x="838199" y="5207192"/>
            <a:ext cx="6366641" cy="954107"/>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chemeClr val="dk1"/>
              </a:buClr>
              <a:buSzPts val="2800"/>
              <a:buFont typeface="Arial"/>
              <a:buChar char="•"/>
            </a:pPr>
            <a:r>
              <a:rPr b="1" lang="en-US" sz="2800" u="sng">
                <a:solidFill>
                  <a:schemeClr val="dk1"/>
                </a:solidFill>
                <a:latin typeface="Calibri"/>
                <a:ea typeface="Calibri"/>
                <a:cs typeface="Calibri"/>
                <a:sym typeface="Calibri"/>
              </a:rPr>
              <a:t>Release(page):</a:t>
            </a:r>
            <a:r>
              <a:rPr b="1" lang="en-US" sz="2800">
                <a:solidFill>
                  <a:schemeClr val="dk1"/>
                </a:solidFill>
                <a:latin typeface="Calibri"/>
                <a:ea typeface="Calibri"/>
                <a:cs typeface="Calibri"/>
                <a:sym typeface="Calibri"/>
              </a:rPr>
              <a:t> </a:t>
            </a:r>
            <a:r>
              <a:rPr lang="en-US" sz="2800">
                <a:solidFill>
                  <a:schemeClr val="dk1"/>
                </a:solidFill>
                <a:latin typeface="Calibri"/>
                <a:ea typeface="Calibri"/>
                <a:cs typeface="Calibri"/>
                <a:sym typeface="Calibri"/>
              </a:rPr>
              <a:t>Evict page from buffer </a:t>
            </a:r>
            <a:r>
              <a:rPr i="1" lang="en-US" sz="2800">
                <a:solidFill>
                  <a:schemeClr val="dk1"/>
                </a:solidFill>
                <a:latin typeface="Calibri"/>
                <a:ea typeface="Calibri"/>
                <a:cs typeface="Calibri"/>
                <a:sym typeface="Calibri"/>
              </a:rPr>
              <a:t>without</a:t>
            </a:r>
            <a:r>
              <a:rPr lang="en-US" sz="2800">
                <a:solidFill>
                  <a:schemeClr val="dk1"/>
                </a:solidFill>
                <a:latin typeface="Calibri"/>
                <a:ea typeface="Calibri"/>
                <a:cs typeface="Calibri"/>
                <a:sym typeface="Calibri"/>
              </a:rPr>
              <a:t> writing to disk</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98"/>
                                        </p:tgtEl>
                                      </p:cBhvr>
                                    </p:animEffect>
                                    <p:set>
                                      <p:cBhvr>
                                        <p:cTn dur="1" fill="hold">
                                          <p:stCondLst>
                                            <p:cond delay="500"/>
                                          </p:stCondLst>
                                        </p:cTn>
                                        <p:tgtEl>
                                          <p:spTgt spid="29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grpSp>
        <p:nvGrpSpPr>
          <p:cNvPr id="306" name="Google Shape;306;p24"/>
          <p:cNvGrpSpPr/>
          <p:nvPr/>
        </p:nvGrpSpPr>
        <p:grpSpPr>
          <a:xfrm>
            <a:off x="7466322" y="1027906"/>
            <a:ext cx="4259923" cy="2456273"/>
            <a:chOff x="7466322" y="1027906"/>
            <a:chExt cx="4259923" cy="2456273"/>
          </a:xfrm>
        </p:grpSpPr>
        <p:sp>
          <p:nvSpPr>
            <p:cNvPr id="307" name="Google Shape;307;p24"/>
            <p:cNvSpPr/>
            <p:nvPr/>
          </p:nvSpPr>
          <p:spPr>
            <a:xfrm>
              <a:off x="7466322" y="1027906"/>
              <a:ext cx="4252691" cy="2440508"/>
            </a:xfrm>
            <a:prstGeom prst="rect">
              <a:avLst/>
            </a:prstGeom>
            <a:solidFill>
              <a:srgbClr val="FFF2CC"/>
            </a:solidFill>
            <a:ln cap="flat" cmpd="sng" w="9525">
              <a:solidFill>
                <a:srgbClr val="7F7F7F"/>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0">
                <a:solidFill>
                  <a:schemeClr val="dk1"/>
                </a:solidFill>
                <a:latin typeface="Calibri"/>
                <a:ea typeface="Calibri"/>
                <a:cs typeface="Calibri"/>
                <a:sym typeface="Calibri"/>
              </a:endParaRPr>
            </a:p>
          </p:txBody>
        </p:sp>
        <p:sp>
          <p:nvSpPr>
            <p:cNvPr id="308" name="Google Shape;308;p24"/>
            <p:cNvSpPr/>
            <p:nvPr/>
          </p:nvSpPr>
          <p:spPr>
            <a:xfrm>
              <a:off x="9459310" y="1986455"/>
              <a:ext cx="2266935" cy="1497724"/>
            </a:xfrm>
            <a:prstGeom prst="rect">
              <a:avLst/>
            </a:prstGeom>
            <a:solidFill>
              <a:srgbClr val="B3C6E7"/>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309" name="Google Shape;309;p24"/>
            <p:cNvSpPr txBox="1"/>
            <p:nvPr/>
          </p:nvSpPr>
          <p:spPr>
            <a:xfrm>
              <a:off x="7624243" y="1210562"/>
              <a:ext cx="196842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Main Memory</a:t>
              </a:r>
              <a:endParaRPr/>
            </a:p>
          </p:txBody>
        </p:sp>
        <p:sp>
          <p:nvSpPr>
            <p:cNvPr id="310" name="Google Shape;310;p24"/>
            <p:cNvSpPr txBox="1"/>
            <p:nvPr/>
          </p:nvSpPr>
          <p:spPr>
            <a:xfrm>
              <a:off x="10115979" y="2048829"/>
              <a:ext cx="95359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Buffer</a:t>
              </a:r>
              <a:endParaRPr/>
            </a:p>
          </p:txBody>
        </p:sp>
        <p:sp>
          <p:nvSpPr>
            <p:cNvPr id="311" name="Google Shape;311;p24"/>
            <p:cNvSpPr/>
            <p:nvPr/>
          </p:nvSpPr>
          <p:spPr>
            <a:xfrm>
              <a:off x="8994227" y="2098357"/>
              <a:ext cx="930166" cy="362607"/>
            </a:xfrm>
            <a:prstGeom prst="lef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12" name="Google Shape;312;p24"/>
          <p:cNvGrpSpPr/>
          <p:nvPr/>
        </p:nvGrpSpPr>
        <p:grpSpPr>
          <a:xfrm>
            <a:off x="0" y="-22510"/>
            <a:ext cx="12192000" cy="307777"/>
            <a:chOff x="0" y="-22510"/>
            <a:chExt cx="12192000" cy="307777"/>
          </a:xfrm>
        </p:grpSpPr>
        <p:sp>
          <p:nvSpPr>
            <p:cNvPr id="313" name="Google Shape;313;p24"/>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314" name="Google Shape;314;p24"/>
            <p:cNvSpPr txBox="1"/>
            <p:nvPr/>
          </p:nvSpPr>
          <p:spPr>
            <a:xfrm>
              <a:off x="188780" y="-22510"/>
              <a:ext cx="92698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The Buffer</a:t>
              </a:r>
              <a:endParaRPr/>
            </a:p>
          </p:txBody>
        </p:sp>
      </p:grpSp>
      <p:sp>
        <p:nvSpPr>
          <p:cNvPr id="315" name="Google Shape;315;p24"/>
          <p:cNvSpPr/>
          <p:nvPr/>
        </p:nvSpPr>
        <p:spPr>
          <a:xfrm>
            <a:off x="9270640" y="4666593"/>
            <a:ext cx="2644274" cy="1899307"/>
          </a:xfrm>
          <a:prstGeom prst="can">
            <a:avLst>
              <a:gd fmla="val 25000"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lt1"/>
                </a:solidFill>
                <a:latin typeface="Calibri"/>
                <a:ea typeface="Calibri"/>
                <a:cs typeface="Calibri"/>
                <a:sym typeface="Calibri"/>
              </a:rPr>
              <a:t>Disk</a:t>
            </a:r>
            <a:endParaRPr/>
          </a:p>
        </p:txBody>
      </p:sp>
      <p:sp>
        <p:nvSpPr>
          <p:cNvPr id="316" name="Google Shape;316;p24"/>
          <p:cNvSpPr/>
          <p:nvPr/>
        </p:nvSpPr>
        <p:spPr>
          <a:xfrm>
            <a:off x="10316880" y="3642353"/>
            <a:ext cx="551793" cy="1383699"/>
          </a:xfrm>
          <a:prstGeom prst="upDown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17" name="Google Shape;317;p24"/>
          <p:cNvSpPr txBox="1"/>
          <p:nvPr>
            <p:ph type="title"/>
          </p:nvPr>
        </p:nvSpPr>
        <p:spPr>
          <a:xfrm>
            <a:off x="838200" y="660892"/>
            <a:ext cx="6208986"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Managing Disk: The DBMS Buffer</a:t>
            </a:r>
            <a:endParaRPr/>
          </a:p>
        </p:txBody>
      </p:sp>
      <p:sp>
        <p:nvSpPr>
          <p:cNvPr id="318" name="Google Shape;318;p24"/>
          <p:cNvSpPr txBox="1"/>
          <p:nvPr>
            <p:ph idx="1" type="body"/>
          </p:nvPr>
        </p:nvSpPr>
        <p:spPr>
          <a:xfrm>
            <a:off x="838200" y="2214562"/>
            <a:ext cx="6208986"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3200"/>
              <a:buChar char="•"/>
            </a:pPr>
            <a:r>
              <a:rPr lang="en-US" sz="3200"/>
              <a:t>Database maintains its own buffer</a:t>
            </a:r>
            <a:endParaRPr/>
          </a:p>
          <a:p>
            <a:pPr indent="-50800" lvl="1" marL="685800" rtl="0" algn="l">
              <a:lnSpc>
                <a:spcPct val="90000"/>
              </a:lnSpc>
              <a:spcBef>
                <a:spcPts val="500"/>
              </a:spcBef>
              <a:spcAft>
                <a:spcPts val="0"/>
              </a:spcAft>
              <a:buClr>
                <a:schemeClr val="dk1"/>
              </a:buClr>
              <a:buSzPts val="2800"/>
              <a:buNone/>
            </a:pPr>
            <a:r>
              <a:t/>
            </a:r>
            <a:endParaRPr sz="2800"/>
          </a:p>
          <a:p>
            <a:pPr indent="-228600" lvl="1" marL="685800" rtl="0" algn="l">
              <a:lnSpc>
                <a:spcPct val="90000"/>
              </a:lnSpc>
              <a:spcBef>
                <a:spcPts val="500"/>
              </a:spcBef>
              <a:spcAft>
                <a:spcPts val="0"/>
              </a:spcAft>
              <a:buClr>
                <a:schemeClr val="dk1"/>
              </a:buClr>
              <a:buSzPts val="2800"/>
              <a:buChar char="•"/>
            </a:pPr>
            <a:r>
              <a:rPr lang="en-US" sz="2800"/>
              <a:t>Why? The OS already does this…</a:t>
            </a:r>
            <a:endParaRPr/>
          </a:p>
          <a:p>
            <a:pPr indent="-50800" lvl="1" marL="685800" rtl="0" algn="l">
              <a:lnSpc>
                <a:spcPct val="90000"/>
              </a:lnSpc>
              <a:spcBef>
                <a:spcPts val="500"/>
              </a:spcBef>
              <a:spcAft>
                <a:spcPts val="0"/>
              </a:spcAft>
              <a:buClr>
                <a:schemeClr val="dk1"/>
              </a:buClr>
              <a:buSzPts val="2800"/>
              <a:buNone/>
            </a:pPr>
            <a:r>
              <a:t/>
            </a:r>
            <a:endParaRPr sz="2800"/>
          </a:p>
          <a:p>
            <a:pPr indent="-228600" lvl="1" marL="685800" rtl="0" algn="l">
              <a:lnSpc>
                <a:spcPct val="90000"/>
              </a:lnSpc>
              <a:spcBef>
                <a:spcPts val="500"/>
              </a:spcBef>
              <a:spcAft>
                <a:spcPts val="0"/>
              </a:spcAft>
              <a:buClr>
                <a:schemeClr val="dk1"/>
              </a:buClr>
              <a:buSzPts val="2800"/>
              <a:buChar char="•"/>
            </a:pPr>
            <a:r>
              <a:rPr lang="en-US" sz="2800"/>
              <a:t>DB knows more about access patterns.</a:t>
            </a:r>
            <a:endParaRPr/>
          </a:p>
          <a:p>
            <a:pPr indent="-228600" lvl="2" marL="1143000" rtl="0" algn="l">
              <a:lnSpc>
                <a:spcPct val="90000"/>
              </a:lnSpc>
              <a:spcBef>
                <a:spcPts val="500"/>
              </a:spcBef>
              <a:spcAft>
                <a:spcPts val="0"/>
              </a:spcAft>
              <a:buClr>
                <a:schemeClr val="dk1"/>
              </a:buClr>
              <a:buSzPts val="2000"/>
              <a:buChar char="•"/>
            </a:pPr>
            <a:r>
              <a:rPr lang="en-US"/>
              <a:t>Watch for how this shows up! (cf. </a:t>
            </a:r>
            <a:r>
              <a:rPr i="1" lang="en-US"/>
              <a:t>Sequential Flooding</a:t>
            </a:r>
            <a:r>
              <a:rPr lang="en-US"/>
              <a:t>)</a:t>
            </a:r>
            <a:endParaRPr/>
          </a:p>
          <a:p>
            <a:pPr indent="-50800" lvl="1" marL="685800" rtl="0" algn="l">
              <a:lnSpc>
                <a:spcPct val="90000"/>
              </a:lnSpc>
              <a:spcBef>
                <a:spcPts val="500"/>
              </a:spcBef>
              <a:spcAft>
                <a:spcPts val="0"/>
              </a:spcAft>
              <a:buClr>
                <a:schemeClr val="dk1"/>
              </a:buClr>
              <a:buSzPts val="2800"/>
              <a:buNone/>
            </a:pPr>
            <a:r>
              <a:t/>
            </a:r>
            <a:endParaRPr sz="2800"/>
          </a:p>
          <a:p>
            <a:pPr indent="-228600" lvl="1" marL="685800" rtl="0" algn="l">
              <a:lnSpc>
                <a:spcPct val="90000"/>
              </a:lnSpc>
              <a:spcBef>
                <a:spcPts val="500"/>
              </a:spcBef>
              <a:spcAft>
                <a:spcPts val="0"/>
              </a:spcAft>
              <a:buClr>
                <a:schemeClr val="dk1"/>
              </a:buClr>
              <a:buSzPts val="2800"/>
              <a:buChar char="•"/>
            </a:pPr>
            <a:r>
              <a:rPr lang="en-US" sz="2800"/>
              <a:t>Recovery and logging require ability to </a:t>
            </a:r>
            <a:r>
              <a:rPr b="1" lang="en-US" sz="2800"/>
              <a:t>flush</a:t>
            </a:r>
            <a:r>
              <a:rPr lang="en-US" sz="2800"/>
              <a:t> to disk.</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The Buffer Manager</a:t>
            </a:r>
            <a:endParaRPr/>
          </a:p>
        </p:txBody>
      </p:sp>
      <p:sp>
        <p:nvSpPr>
          <p:cNvPr id="324" name="Google Shape;324;p25"/>
          <p:cNvSpPr txBox="1"/>
          <p:nvPr>
            <p:ph idx="1" type="body"/>
          </p:nvPr>
        </p:nvSpPr>
        <p:spPr>
          <a:xfrm>
            <a:off x="609600" y="1600201"/>
            <a:ext cx="10972800" cy="4965699"/>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 </a:t>
            </a:r>
            <a:r>
              <a:rPr b="1" lang="en-US" u="sng"/>
              <a:t>buffer manager</a:t>
            </a:r>
            <a:r>
              <a:rPr lang="en-US"/>
              <a:t> handles supporting operations for the buffer:</a:t>
            </a:r>
            <a:endParaRPr/>
          </a:p>
          <a:p>
            <a:pPr indent="-50800" lvl="1" marL="685800" rtl="0" algn="l">
              <a:lnSpc>
                <a:spcPct val="90000"/>
              </a:lnSpc>
              <a:spcBef>
                <a:spcPts val="500"/>
              </a:spcBef>
              <a:spcAft>
                <a:spcPts val="0"/>
              </a:spcAft>
              <a:buClr>
                <a:schemeClr val="dk1"/>
              </a:buClr>
              <a:buSzPts val="2800"/>
              <a:buNone/>
            </a:pPr>
            <a:r>
              <a:t/>
            </a:r>
            <a:endParaRPr sz="2800"/>
          </a:p>
          <a:p>
            <a:pPr indent="-228600" lvl="1" marL="685800" rtl="0" algn="l">
              <a:lnSpc>
                <a:spcPct val="90000"/>
              </a:lnSpc>
              <a:spcBef>
                <a:spcPts val="500"/>
              </a:spcBef>
              <a:spcAft>
                <a:spcPts val="0"/>
              </a:spcAft>
              <a:buClr>
                <a:schemeClr val="dk1"/>
              </a:buClr>
              <a:buSzPts val="2800"/>
              <a:buChar char="•"/>
            </a:pPr>
            <a:r>
              <a:rPr lang="en-US" sz="2800"/>
              <a:t>Primarily, handles &amp; executes the “replacement policy” </a:t>
            </a:r>
            <a:endParaRPr/>
          </a:p>
          <a:p>
            <a:pPr indent="-228600" lvl="2" marL="1143000" rtl="0" algn="l">
              <a:lnSpc>
                <a:spcPct val="90000"/>
              </a:lnSpc>
              <a:spcBef>
                <a:spcPts val="500"/>
              </a:spcBef>
              <a:spcAft>
                <a:spcPts val="0"/>
              </a:spcAft>
              <a:buClr>
                <a:schemeClr val="dk1"/>
              </a:buClr>
              <a:buSzPts val="2800"/>
              <a:buChar char="•"/>
            </a:pPr>
            <a:r>
              <a:rPr lang="en-US" sz="2800"/>
              <a:t>i.e. finds a page in buffer to flush/release if buffer is full and a new page needs to be read in</a:t>
            </a:r>
            <a:endParaRPr/>
          </a:p>
          <a:p>
            <a:pPr indent="-50800" lvl="2" marL="1143000" rtl="0" algn="l">
              <a:lnSpc>
                <a:spcPct val="90000"/>
              </a:lnSpc>
              <a:spcBef>
                <a:spcPts val="500"/>
              </a:spcBef>
              <a:spcAft>
                <a:spcPts val="0"/>
              </a:spcAft>
              <a:buClr>
                <a:schemeClr val="dk1"/>
              </a:buClr>
              <a:buSzPts val="2800"/>
              <a:buNone/>
            </a:pPr>
            <a:r>
              <a:t/>
            </a:r>
            <a:endParaRPr sz="2800"/>
          </a:p>
          <a:p>
            <a:pPr indent="-228600" lvl="1" marL="685800" rtl="0" algn="l">
              <a:lnSpc>
                <a:spcPct val="90000"/>
              </a:lnSpc>
              <a:spcBef>
                <a:spcPts val="500"/>
              </a:spcBef>
              <a:spcAft>
                <a:spcPts val="0"/>
              </a:spcAft>
              <a:buClr>
                <a:schemeClr val="dk1"/>
              </a:buClr>
              <a:buSzPts val="2800"/>
              <a:buChar char="•"/>
            </a:pPr>
            <a:r>
              <a:rPr lang="en-US" sz="2800"/>
              <a:t>DBMSs typically implement their own buffer management routines</a:t>
            </a:r>
            <a:endParaRPr/>
          </a:p>
          <a:p>
            <a:pPr indent="-50800" lvl="0" marL="228600" rtl="0" algn="l">
              <a:lnSpc>
                <a:spcPct val="90000"/>
              </a:lnSpc>
              <a:spcBef>
                <a:spcPts val="1000"/>
              </a:spcBef>
              <a:spcAft>
                <a:spcPts val="0"/>
              </a:spcAft>
              <a:buClr>
                <a:schemeClr val="dk1"/>
              </a:buClr>
              <a:buSzPts val="2800"/>
              <a:buNone/>
            </a:pPr>
            <a:r>
              <a:t/>
            </a:r>
            <a:endParaRPr/>
          </a:p>
          <a:p>
            <a:pPr indent="-76200" lvl="1" marL="685800" rtl="0" algn="l">
              <a:lnSpc>
                <a:spcPct val="90000"/>
              </a:lnSpc>
              <a:spcBef>
                <a:spcPts val="500"/>
              </a:spcBef>
              <a:spcAft>
                <a:spcPts val="0"/>
              </a:spcAft>
              <a:buClr>
                <a:schemeClr val="dk1"/>
              </a:buClr>
              <a:buSzPts val="2400"/>
              <a:buNone/>
            </a:pPr>
            <a:r>
              <a:t/>
            </a:r>
            <a:endParaRPr/>
          </a:p>
        </p:txBody>
      </p:sp>
      <p:grpSp>
        <p:nvGrpSpPr>
          <p:cNvPr id="325" name="Google Shape;325;p25"/>
          <p:cNvGrpSpPr/>
          <p:nvPr/>
        </p:nvGrpSpPr>
        <p:grpSpPr>
          <a:xfrm>
            <a:off x="0" y="-22510"/>
            <a:ext cx="12192000" cy="307777"/>
            <a:chOff x="0" y="-22510"/>
            <a:chExt cx="12192000" cy="307777"/>
          </a:xfrm>
        </p:grpSpPr>
        <p:sp>
          <p:nvSpPr>
            <p:cNvPr id="326" name="Google Shape;326;p25"/>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327" name="Google Shape;327;p25"/>
            <p:cNvSpPr txBox="1"/>
            <p:nvPr/>
          </p:nvSpPr>
          <p:spPr>
            <a:xfrm>
              <a:off x="188780" y="-22510"/>
              <a:ext cx="92698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The Buffer</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 Simplified Filesystem Model</a:t>
            </a:r>
            <a:endParaRPr/>
          </a:p>
        </p:txBody>
      </p:sp>
      <p:sp>
        <p:nvSpPr>
          <p:cNvPr id="333" name="Google Shape;333;p26"/>
          <p:cNvSpPr txBox="1"/>
          <p:nvPr>
            <p:ph idx="1" type="body"/>
          </p:nvPr>
        </p:nvSpPr>
        <p:spPr>
          <a:xfrm>
            <a:off x="838200" y="1825625"/>
            <a:ext cx="7281041"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For us, a </a:t>
            </a:r>
            <a:r>
              <a:rPr b="1" lang="en-US" u="sng"/>
              <a:t>page</a:t>
            </a:r>
            <a:r>
              <a:rPr lang="en-US"/>
              <a:t> is a </a:t>
            </a:r>
            <a:r>
              <a:rPr b="1" i="1" lang="en-US"/>
              <a:t>fixed-sized array</a:t>
            </a:r>
            <a:r>
              <a:rPr b="1" lang="en-US"/>
              <a:t> </a:t>
            </a:r>
            <a:r>
              <a:rPr lang="en-US"/>
              <a:t>of memory </a:t>
            </a:r>
            <a:endParaRPr/>
          </a:p>
          <a:p>
            <a:pPr indent="-228600" lvl="1" marL="685800" rtl="0" algn="l">
              <a:lnSpc>
                <a:spcPct val="90000"/>
              </a:lnSpc>
              <a:spcBef>
                <a:spcPts val="500"/>
              </a:spcBef>
              <a:spcAft>
                <a:spcPts val="0"/>
              </a:spcAft>
              <a:buClr>
                <a:schemeClr val="dk1"/>
              </a:buClr>
              <a:buSzPts val="2400"/>
              <a:buChar char="•"/>
            </a:pPr>
            <a:r>
              <a:rPr lang="en-US"/>
              <a:t>Think: One or more disk blocks</a:t>
            </a:r>
            <a:endParaRPr/>
          </a:p>
          <a:p>
            <a:pPr indent="-228600" lvl="1" marL="685800" rtl="0" algn="l">
              <a:lnSpc>
                <a:spcPct val="90000"/>
              </a:lnSpc>
              <a:spcBef>
                <a:spcPts val="500"/>
              </a:spcBef>
              <a:spcAft>
                <a:spcPts val="0"/>
              </a:spcAft>
              <a:buClr>
                <a:schemeClr val="dk1"/>
              </a:buClr>
              <a:buSzPts val="2400"/>
              <a:buChar char="•"/>
            </a:pPr>
            <a:r>
              <a:rPr lang="en-US"/>
              <a:t>Interface:</a:t>
            </a:r>
            <a:endParaRPr/>
          </a:p>
          <a:p>
            <a:pPr indent="-228600" lvl="2" marL="1143000" rtl="0" algn="l">
              <a:lnSpc>
                <a:spcPct val="90000"/>
              </a:lnSpc>
              <a:spcBef>
                <a:spcPts val="500"/>
              </a:spcBef>
              <a:spcAft>
                <a:spcPts val="0"/>
              </a:spcAft>
              <a:buClr>
                <a:schemeClr val="dk1"/>
              </a:buClr>
              <a:buSzPts val="2000"/>
              <a:buChar char="•"/>
            </a:pPr>
            <a:r>
              <a:rPr lang="en-US"/>
              <a:t>write to an entry (called a </a:t>
            </a:r>
            <a:r>
              <a:rPr b="1" lang="en-US"/>
              <a:t>slot</a:t>
            </a:r>
            <a:r>
              <a:rPr lang="en-US"/>
              <a:t>) or set to “None”</a:t>
            </a:r>
            <a:endParaRPr/>
          </a:p>
          <a:p>
            <a:pPr indent="-76200" lvl="1" marL="685800" rtl="0" algn="l">
              <a:lnSpc>
                <a:spcPct val="90000"/>
              </a:lnSpc>
              <a:spcBef>
                <a:spcPts val="500"/>
              </a:spcBef>
              <a:spcAft>
                <a:spcPts val="0"/>
              </a:spcAft>
              <a:buClr>
                <a:schemeClr val="dk1"/>
              </a:buClr>
              <a:buSzPts val="2400"/>
              <a:buNone/>
            </a:pPr>
            <a:r>
              <a:t/>
            </a:r>
            <a:endParaRPr/>
          </a:p>
          <a:p>
            <a:pPr indent="-228600" lvl="1" marL="685800" rtl="0" algn="l">
              <a:lnSpc>
                <a:spcPct val="90000"/>
              </a:lnSpc>
              <a:spcBef>
                <a:spcPts val="500"/>
              </a:spcBef>
              <a:spcAft>
                <a:spcPts val="0"/>
              </a:spcAft>
              <a:buClr>
                <a:schemeClr val="dk1"/>
              </a:buClr>
              <a:buSzPts val="2400"/>
              <a:buChar char="•"/>
            </a:pPr>
            <a:r>
              <a:rPr lang="en-US"/>
              <a:t>DBMS also needs to handle variable length fields</a:t>
            </a:r>
            <a:endParaRPr/>
          </a:p>
          <a:p>
            <a:pPr indent="-228600" lvl="2" marL="1143000" rtl="0" algn="l">
              <a:lnSpc>
                <a:spcPct val="90000"/>
              </a:lnSpc>
              <a:spcBef>
                <a:spcPts val="500"/>
              </a:spcBef>
              <a:spcAft>
                <a:spcPts val="0"/>
              </a:spcAft>
              <a:buClr>
                <a:schemeClr val="dk1"/>
              </a:buClr>
              <a:buSzPts val="2000"/>
              <a:buChar char="•"/>
            </a:pPr>
            <a:r>
              <a:rPr lang="en-US"/>
              <a:t>Page layout is important for good hardware utilization as well (see 346)</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And a </a:t>
            </a:r>
            <a:r>
              <a:rPr b="1" lang="en-US" u="sng"/>
              <a:t>file</a:t>
            </a:r>
            <a:r>
              <a:rPr lang="en-US"/>
              <a:t> is a </a:t>
            </a:r>
            <a:r>
              <a:rPr i="1" lang="en-US"/>
              <a:t>variable-length list</a:t>
            </a:r>
            <a:r>
              <a:rPr lang="en-US"/>
              <a:t> of pages</a:t>
            </a:r>
            <a:endParaRPr/>
          </a:p>
          <a:p>
            <a:pPr indent="-228600" lvl="1" marL="685800" rtl="0" algn="l">
              <a:lnSpc>
                <a:spcPct val="90000"/>
              </a:lnSpc>
              <a:spcBef>
                <a:spcPts val="500"/>
              </a:spcBef>
              <a:spcAft>
                <a:spcPts val="0"/>
              </a:spcAft>
              <a:buClr>
                <a:schemeClr val="dk1"/>
              </a:buClr>
              <a:buSzPts val="2400"/>
              <a:buChar char="•"/>
            </a:pPr>
            <a:r>
              <a:rPr lang="en-US"/>
              <a:t>Interface: create / open / close; next_page(); etc.</a:t>
            </a:r>
            <a:endParaRPr/>
          </a:p>
          <a:p>
            <a:pPr indent="-101600" lvl="2" marL="1143000" rtl="0" algn="l">
              <a:lnSpc>
                <a:spcPct val="90000"/>
              </a:lnSpc>
              <a:spcBef>
                <a:spcPts val="500"/>
              </a:spcBef>
              <a:spcAft>
                <a:spcPts val="0"/>
              </a:spcAft>
              <a:buClr>
                <a:schemeClr val="dk1"/>
              </a:buClr>
              <a:buSzPts val="2000"/>
              <a:buNone/>
            </a:pPr>
            <a:r>
              <a:t/>
            </a:r>
            <a:endParaRPr/>
          </a:p>
        </p:txBody>
      </p:sp>
      <p:grpSp>
        <p:nvGrpSpPr>
          <p:cNvPr id="334" name="Google Shape;334;p26"/>
          <p:cNvGrpSpPr/>
          <p:nvPr/>
        </p:nvGrpSpPr>
        <p:grpSpPr>
          <a:xfrm>
            <a:off x="0" y="-22510"/>
            <a:ext cx="12192000" cy="307777"/>
            <a:chOff x="0" y="-22510"/>
            <a:chExt cx="12192000" cy="307777"/>
          </a:xfrm>
        </p:grpSpPr>
        <p:sp>
          <p:nvSpPr>
            <p:cNvPr id="335" name="Google Shape;335;p26"/>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336" name="Google Shape;336;p26"/>
            <p:cNvSpPr txBox="1"/>
            <p:nvPr/>
          </p:nvSpPr>
          <p:spPr>
            <a:xfrm>
              <a:off x="188780" y="-22510"/>
              <a:ext cx="92698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The Buffer</a:t>
              </a:r>
              <a:endParaRPr/>
            </a:p>
          </p:txBody>
        </p:sp>
      </p:grpSp>
      <p:sp>
        <p:nvSpPr>
          <p:cNvPr id="337" name="Google Shape;337;p26"/>
          <p:cNvSpPr/>
          <p:nvPr/>
        </p:nvSpPr>
        <p:spPr>
          <a:xfrm>
            <a:off x="8713435" y="2412125"/>
            <a:ext cx="3201478" cy="2822028"/>
          </a:xfrm>
          <a:prstGeom prst="can">
            <a:avLst>
              <a:gd fmla="val 25000"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lt1"/>
                </a:solidFill>
                <a:latin typeface="Calibri"/>
                <a:ea typeface="Calibri"/>
                <a:cs typeface="Calibri"/>
                <a:sym typeface="Calibri"/>
              </a:rPr>
              <a:t>Disk</a:t>
            </a:r>
            <a:endParaRPr/>
          </a:p>
        </p:txBody>
      </p:sp>
      <p:sp>
        <p:nvSpPr>
          <p:cNvPr id="338" name="Google Shape;338;p26"/>
          <p:cNvSpPr/>
          <p:nvPr/>
        </p:nvSpPr>
        <p:spPr>
          <a:xfrm>
            <a:off x="9133292" y="4430111"/>
            <a:ext cx="2361763" cy="583324"/>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9" name="Google Shape;339;p26"/>
          <p:cNvSpPr txBox="1"/>
          <p:nvPr/>
        </p:nvSpPr>
        <p:spPr>
          <a:xfrm>
            <a:off x="9243651" y="4521718"/>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FFC000"/>
                </a:solidFill>
                <a:latin typeface="Arial"/>
                <a:ea typeface="Arial"/>
                <a:cs typeface="Arial"/>
                <a:sym typeface="Arial"/>
              </a:rPr>
              <a:t>1,0,3</a:t>
            </a:r>
            <a:endParaRPr/>
          </a:p>
        </p:txBody>
      </p:sp>
      <p:sp>
        <p:nvSpPr>
          <p:cNvPr id="340" name="Google Shape;340;p26"/>
          <p:cNvSpPr txBox="1"/>
          <p:nvPr/>
        </p:nvSpPr>
        <p:spPr>
          <a:xfrm>
            <a:off x="10354043" y="4521718"/>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FFC000"/>
                </a:solidFill>
                <a:latin typeface="Arial"/>
                <a:ea typeface="Arial"/>
                <a:cs typeface="Arial"/>
                <a:sym typeface="Arial"/>
              </a:rPr>
              <a:t>1,0,3</a:t>
            </a:r>
            <a:endParaRPr/>
          </a:p>
        </p:txBody>
      </p:sp>
      <p:sp>
        <p:nvSpPr>
          <p:cNvPr id="341" name="Google Shape;341;p26"/>
          <p:cNvSpPr txBox="1"/>
          <p:nvPr/>
        </p:nvSpPr>
        <p:spPr>
          <a:xfrm>
            <a:off x="7973452" y="4490215"/>
            <a:ext cx="68480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Calibri"/>
                <a:ea typeface="Calibri"/>
                <a:cs typeface="Calibri"/>
                <a:sym typeface="Calibri"/>
              </a:rPr>
              <a:t>File</a:t>
            </a:r>
            <a:endParaRPr/>
          </a:p>
        </p:txBody>
      </p:sp>
      <p:sp>
        <p:nvSpPr>
          <p:cNvPr id="342" name="Google Shape;342;p26"/>
          <p:cNvSpPr txBox="1"/>
          <p:nvPr/>
        </p:nvSpPr>
        <p:spPr>
          <a:xfrm>
            <a:off x="9284751" y="5693980"/>
            <a:ext cx="871905"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Calibri"/>
                <a:ea typeface="Calibri"/>
                <a:cs typeface="Calibri"/>
                <a:sym typeface="Calibri"/>
              </a:rPr>
              <a:t>Page</a:t>
            </a:r>
            <a:endParaRPr/>
          </a:p>
        </p:txBody>
      </p:sp>
      <p:cxnSp>
        <p:nvCxnSpPr>
          <p:cNvPr id="343" name="Google Shape;343;p26"/>
          <p:cNvCxnSpPr>
            <a:endCxn id="339" idx="2"/>
          </p:cNvCxnSpPr>
          <p:nvPr/>
        </p:nvCxnSpPr>
        <p:spPr>
          <a:xfrm rot="10800000">
            <a:off x="9720705" y="4921828"/>
            <a:ext cx="0" cy="772200"/>
          </a:xfrm>
          <a:prstGeom prst="straightConnector1">
            <a:avLst/>
          </a:prstGeom>
          <a:noFill/>
          <a:ln cap="flat" cmpd="sng" w="41275">
            <a:solidFill>
              <a:schemeClr val="dk1"/>
            </a:solidFill>
            <a:prstDash val="solid"/>
            <a:miter lim="800000"/>
            <a:headEnd len="sm" w="sm" type="none"/>
            <a:tailEnd len="med" w="med"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27"/>
          <p:cNvSpPr txBox="1"/>
          <p:nvPr>
            <p:ph type="ctrTitle"/>
          </p:nvPr>
        </p:nvSpPr>
        <p:spPr>
          <a:xfrm>
            <a:off x="1524000" y="21637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B+ Trees: </a:t>
            </a:r>
            <a:br>
              <a:rPr lang="en-US"/>
            </a:br>
            <a:r>
              <a:rPr lang="en-US"/>
              <a:t>An IO-Aware Index Structure</a:t>
            </a:r>
            <a:endParaRPr/>
          </a:p>
        </p:txBody>
      </p:sp>
      <p:grpSp>
        <p:nvGrpSpPr>
          <p:cNvPr id="349" name="Google Shape;349;p27"/>
          <p:cNvGrpSpPr/>
          <p:nvPr/>
        </p:nvGrpSpPr>
        <p:grpSpPr>
          <a:xfrm>
            <a:off x="0" y="-22510"/>
            <a:ext cx="12192000" cy="307777"/>
            <a:chOff x="0" y="-22510"/>
            <a:chExt cx="12192000" cy="307777"/>
          </a:xfrm>
        </p:grpSpPr>
        <p:sp>
          <p:nvSpPr>
            <p:cNvPr id="350" name="Google Shape;350;p27"/>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351" name="Google Shape;351;p27"/>
            <p:cNvSpPr txBox="1"/>
            <p:nvPr/>
          </p:nvSpPr>
          <p:spPr>
            <a:xfrm>
              <a:off x="188780" y="-22510"/>
              <a:ext cx="93968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a:t>
              </a: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2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lang="en-US"/>
              <a:t>“If you don’t find it in the index, look very carefully through the entire catalog”</a:t>
            </a:r>
            <a:endParaRPr/>
          </a:p>
        </p:txBody>
      </p:sp>
      <p:sp>
        <p:nvSpPr>
          <p:cNvPr id="357" name="Google Shape;357;p2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r">
              <a:lnSpc>
                <a:spcPct val="90000"/>
              </a:lnSpc>
              <a:spcBef>
                <a:spcPts val="0"/>
              </a:spcBef>
              <a:spcAft>
                <a:spcPts val="0"/>
              </a:spcAft>
              <a:buClr>
                <a:srgbClr val="888888"/>
              </a:buClr>
              <a:buSzPts val="2400"/>
              <a:buNone/>
            </a:pPr>
            <a:r>
              <a:rPr lang="en-US"/>
              <a:t>- Sears, Roebuck and Co., Consumers Guide, 1897</a:t>
            </a:r>
            <a:endParaRPr/>
          </a:p>
        </p:txBody>
      </p:sp>
      <p:sp>
        <p:nvSpPr>
          <p:cNvPr id="358" name="Google Shape;358;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359" name="Google Shape;359;p28"/>
          <p:cNvGrpSpPr/>
          <p:nvPr/>
        </p:nvGrpSpPr>
        <p:grpSpPr>
          <a:xfrm>
            <a:off x="0" y="-22510"/>
            <a:ext cx="12192000" cy="307777"/>
            <a:chOff x="0" y="-22510"/>
            <a:chExt cx="12192000" cy="307777"/>
          </a:xfrm>
        </p:grpSpPr>
        <p:sp>
          <p:nvSpPr>
            <p:cNvPr id="360" name="Google Shape;360;p28"/>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361" name="Google Shape;361;p28"/>
            <p:cNvSpPr txBox="1"/>
            <p:nvPr/>
          </p:nvSpPr>
          <p:spPr>
            <a:xfrm>
              <a:off x="188780" y="-22510"/>
              <a:ext cx="93968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Today’s Lecture</a:t>
            </a:r>
            <a:endParaRPr/>
          </a:p>
        </p:txBody>
      </p:sp>
      <p:sp>
        <p:nvSpPr>
          <p:cNvPr id="368" name="Google Shape;368;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36550" lvl="0" marL="514350" rtl="0" algn="l">
              <a:lnSpc>
                <a:spcPct val="90000"/>
              </a:lnSpc>
              <a:spcBef>
                <a:spcPts val="0"/>
              </a:spcBef>
              <a:spcAft>
                <a:spcPts val="0"/>
              </a:spcAft>
              <a:buClr>
                <a:schemeClr val="dk1"/>
              </a:buClr>
              <a:buSzPts val="2800"/>
              <a:buFont typeface="Calibri"/>
              <a:buNone/>
            </a:pPr>
            <a:r>
              <a:t/>
            </a:r>
            <a:endParaRPr>
              <a:latin typeface="Calibri"/>
              <a:ea typeface="Calibri"/>
              <a:cs typeface="Calibri"/>
              <a:sym typeface="Calibri"/>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latin typeface="Calibri"/>
                <a:ea typeface="Calibri"/>
                <a:cs typeface="Calibri"/>
                <a:sym typeface="Calibri"/>
              </a:rPr>
              <a:t>Indexes: Motivations &amp; Basics</a:t>
            </a:r>
            <a:endParaRPr/>
          </a:p>
          <a:p>
            <a:pPr indent="-336550" lvl="0" marL="514350" rtl="0" algn="l">
              <a:lnSpc>
                <a:spcPct val="90000"/>
              </a:lnSpc>
              <a:spcBef>
                <a:spcPts val="1000"/>
              </a:spcBef>
              <a:spcAft>
                <a:spcPts val="0"/>
              </a:spcAft>
              <a:buClr>
                <a:schemeClr val="dk1"/>
              </a:buClr>
              <a:buSzPts val="2800"/>
              <a:buFont typeface="Calibri"/>
              <a:buNone/>
            </a:pPr>
            <a:r>
              <a:t/>
            </a:r>
            <a:endParaRPr>
              <a:latin typeface="Calibri"/>
              <a:ea typeface="Calibri"/>
              <a:cs typeface="Calibri"/>
              <a:sym typeface="Calibri"/>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latin typeface="Calibri"/>
                <a:ea typeface="Calibri"/>
                <a:cs typeface="Calibri"/>
                <a:sym typeface="Calibri"/>
              </a:rPr>
              <a:t>B+ Trees</a:t>
            </a:r>
            <a:endParaRPr/>
          </a:p>
          <a:p>
            <a:pPr indent="0" lvl="0" marL="0" rtl="0" algn="l">
              <a:lnSpc>
                <a:spcPct val="90000"/>
              </a:lnSpc>
              <a:spcBef>
                <a:spcPts val="1000"/>
              </a:spcBef>
              <a:spcAft>
                <a:spcPts val="0"/>
              </a:spcAft>
              <a:buClr>
                <a:schemeClr val="dk1"/>
              </a:buClr>
              <a:buSzPts val="2800"/>
              <a:buNone/>
            </a:pPr>
            <a:r>
              <a:t/>
            </a:r>
            <a:endParaRPr>
              <a:latin typeface="Calibri"/>
              <a:ea typeface="Calibri"/>
              <a:cs typeface="Calibri"/>
              <a:sym typeface="Calibri"/>
            </a:endParaRPr>
          </a:p>
        </p:txBody>
      </p:sp>
      <p:sp>
        <p:nvSpPr>
          <p:cNvPr id="369" name="Google Shape;369;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370" name="Google Shape;370;p29"/>
          <p:cNvGrpSpPr/>
          <p:nvPr/>
        </p:nvGrpSpPr>
        <p:grpSpPr>
          <a:xfrm>
            <a:off x="0" y="-22510"/>
            <a:ext cx="12192000" cy="307777"/>
            <a:chOff x="0" y="-22510"/>
            <a:chExt cx="12192000" cy="307777"/>
          </a:xfrm>
        </p:grpSpPr>
        <p:sp>
          <p:nvSpPr>
            <p:cNvPr id="371" name="Google Shape;371;p29"/>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372" name="Google Shape;372;p29"/>
            <p:cNvSpPr txBox="1"/>
            <p:nvPr/>
          </p:nvSpPr>
          <p:spPr>
            <a:xfrm>
              <a:off x="188780" y="-22510"/>
              <a:ext cx="93968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a:t>
              </a: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30"/>
          <p:cNvSpPr/>
          <p:nvPr/>
        </p:nvSpPr>
        <p:spPr>
          <a:xfrm>
            <a:off x="0" y="3632638"/>
            <a:ext cx="8610600" cy="88286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9" name="Google Shape;379;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What you will learn about in this section</a:t>
            </a:r>
            <a:endParaRPr/>
          </a:p>
        </p:txBody>
      </p:sp>
      <p:sp>
        <p:nvSpPr>
          <p:cNvPr id="380" name="Google Shape;380;p30"/>
          <p:cNvSpPr txBox="1"/>
          <p:nvPr>
            <p:ph idx="1" type="body"/>
          </p:nvPr>
        </p:nvSpPr>
        <p:spPr>
          <a:xfrm>
            <a:off x="838200" y="1825624"/>
            <a:ext cx="10515600" cy="4175783"/>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chemeClr val="dk1"/>
              </a:buClr>
              <a:buSzPts val="2800"/>
              <a:buAutoNum type="arabicPeriod"/>
            </a:pPr>
            <a:r>
              <a:rPr lang="en-US">
                <a:latin typeface="Calibri"/>
                <a:ea typeface="Calibri"/>
                <a:cs typeface="Calibri"/>
                <a:sym typeface="Calibri"/>
              </a:rPr>
              <a:t>Indexes: Motivation</a:t>
            </a:r>
            <a:endParaRPr/>
          </a:p>
          <a:p>
            <a:pPr indent="-336550" lvl="0" marL="514350" rtl="0" algn="l">
              <a:lnSpc>
                <a:spcPct val="90000"/>
              </a:lnSpc>
              <a:spcBef>
                <a:spcPts val="1000"/>
              </a:spcBef>
              <a:spcAft>
                <a:spcPts val="0"/>
              </a:spcAft>
              <a:buClr>
                <a:schemeClr val="dk1"/>
              </a:buClr>
              <a:buSzPts val="2800"/>
              <a:buNone/>
            </a:pPr>
            <a:r>
              <a:t/>
            </a:r>
            <a:endParaRPr>
              <a:latin typeface="Calibri"/>
              <a:ea typeface="Calibri"/>
              <a:cs typeface="Calibri"/>
              <a:sym typeface="Calibri"/>
            </a:endParaRPr>
          </a:p>
          <a:p>
            <a:pPr indent="-514350" lvl="0" marL="514350" rtl="0" algn="l">
              <a:lnSpc>
                <a:spcPct val="90000"/>
              </a:lnSpc>
              <a:spcBef>
                <a:spcPts val="1000"/>
              </a:spcBef>
              <a:spcAft>
                <a:spcPts val="0"/>
              </a:spcAft>
              <a:buClr>
                <a:schemeClr val="dk1"/>
              </a:buClr>
              <a:buSzPts val="2800"/>
              <a:buAutoNum type="arabicPeriod"/>
            </a:pPr>
            <a:r>
              <a:rPr lang="en-US">
                <a:latin typeface="Calibri"/>
                <a:ea typeface="Calibri"/>
                <a:cs typeface="Calibri"/>
                <a:sym typeface="Calibri"/>
              </a:rPr>
              <a:t>Indexes: Basics</a:t>
            </a:r>
            <a:endParaRPr/>
          </a:p>
          <a:p>
            <a:pPr indent="-336550" lvl="0" marL="514350" rtl="0" algn="l">
              <a:lnSpc>
                <a:spcPct val="90000"/>
              </a:lnSpc>
              <a:spcBef>
                <a:spcPts val="1000"/>
              </a:spcBef>
              <a:spcAft>
                <a:spcPts val="0"/>
              </a:spcAft>
              <a:buClr>
                <a:schemeClr val="dk1"/>
              </a:buClr>
              <a:buSzPts val="2800"/>
              <a:buNone/>
            </a:pPr>
            <a:r>
              <a:t/>
            </a:r>
            <a:endParaRPr>
              <a:latin typeface="Calibri"/>
              <a:ea typeface="Calibri"/>
              <a:cs typeface="Calibri"/>
              <a:sym typeface="Calibri"/>
            </a:endParaRPr>
          </a:p>
          <a:p>
            <a:pPr indent="-514350" lvl="0" marL="514350" rtl="0" algn="l">
              <a:lnSpc>
                <a:spcPct val="90000"/>
              </a:lnSpc>
              <a:spcBef>
                <a:spcPts val="1000"/>
              </a:spcBef>
              <a:spcAft>
                <a:spcPts val="0"/>
              </a:spcAft>
              <a:buClr>
                <a:schemeClr val="dk1"/>
              </a:buClr>
              <a:buSzPts val="2800"/>
              <a:buAutoNum type="arabicPeriod"/>
            </a:pPr>
            <a:r>
              <a:rPr lang="en-US">
                <a:latin typeface="Calibri"/>
                <a:ea typeface="Calibri"/>
                <a:cs typeface="Calibri"/>
                <a:sym typeface="Calibri"/>
              </a:rPr>
              <a:t>ACTIVITY: Creating indexes</a:t>
            </a:r>
            <a:endParaRPr/>
          </a:p>
        </p:txBody>
      </p:sp>
      <p:sp>
        <p:nvSpPr>
          <p:cNvPr id="381" name="Google Shape;38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382" name="Google Shape;382;p30"/>
          <p:cNvGrpSpPr/>
          <p:nvPr/>
        </p:nvGrpSpPr>
        <p:grpSpPr>
          <a:xfrm>
            <a:off x="0" y="-22510"/>
            <a:ext cx="12192000" cy="307777"/>
            <a:chOff x="0" y="-22510"/>
            <a:chExt cx="12192000" cy="307777"/>
          </a:xfrm>
        </p:grpSpPr>
        <p:sp>
          <p:nvSpPr>
            <p:cNvPr id="383" name="Google Shape;383;p30"/>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384" name="Google Shape;384;p30"/>
            <p:cNvSpPr txBox="1"/>
            <p:nvPr/>
          </p:nvSpPr>
          <p:spPr>
            <a:xfrm>
              <a:off x="188780" y="-22510"/>
              <a:ext cx="167385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Section 1</a:t>
              </a: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Index Motivation</a:t>
            </a:r>
            <a:endParaRPr/>
          </a:p>
        </p:txBody>
      </p:sp>
      <p:sp>
        <p:nvSpPr>
          <p:cNvPr id="390" name="Google Shape;390;p31"/>
          <p:cNvSpPr txBox="1"/>
          <p:nvPr>
            <p:ph idx="1" type="body"/>
          </p:nvPr>
        </p:nvSpPr>
        <p:spPr>
          <a:xfrm>
            <a:off x="838199" y="1600200"/>
            <a:ext cx="10515601" cy="3914775"/>
          </a:xfrm>
          <a:prstGeom prst="rect">
            <a:avLst/>
          </a:prstGeom>
          <a:blipFill rotWithShape="1">
            <a:blip r:embed="rId3">
              <a:alphaModFix/>
            </a:blip>
            <a:stretch>
              <a:fillRect b="0" l="-984" r="0" t="-2647"/>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US"/>
              <a:t> </a:t>
            </a:r>
            <a:endParaRPr/>
          </a:p>
        </p:txBody>
      </p:sp>
      <p:grpSp>
        <p:nvGrpSpPr>
          <p:cNvPr id="391" name="Google Shape;391;p31"/>
          <p:cNvGrpSpPr/>
          <p:nvPr/>
        </p:nvGrpSpPr>
        <p:grpSpPr>
          <a:xfrm>
            <a:off x="0" y="-22510"/>
            <a:ext cx="12192000" cy="307777"/>
            <a:chOff x="0" y="-22510"/>
            <a:chExt cx="12192000" cy="307777"/>
          </a:xfrm>
        </p:grpSpPr>
        <p:sp>
          <p:nvSpPr>
            <p:cNvPr id="392" name="Google Shape;392;p31"/>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393" name="Google Shape;393;p31"/>
            <p:cNvSpPr txBox="1"/>
            <p:nvPr/>
          </p:nvSpPr>
          <p:spPr>
            <a:xfrm>
              <a:off x="188780" y="-22510"/>
              <a:ext cx="243419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Indexes: Motivation</a:t>
              </a:r>
              <a:endParaRPr/>
            </a:p>
          </p:txBody>
        </p:sp>
      </p:grpSp>
      <p:sp>
        <p:nvSpPr>
          <p:cNvPr id="394" name="Google Shape;394;p31"/>
          <p:cNvSpPr/>
          <p:nvPr/>
        </p:nvSpPr>
        <p:spPr>
          <a:xfrm>
            <a:off x="8008012" y="797073"/>
            <a:ext cx="3345788" cy="461665"/>
          </a:xfrm>
          <a:prstGeom prst="rect">
            <a:avLst/>
          </a:prstGeom>
          <a:solidFill>
            <a:schemeClr val="lt1"/>
          </a:solidFill>
          <a:ln cap="flat" cmpd="sng" w="9525">
            <a:solidFill>
              <a:schemeClr val="dk1"/>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accent2"/>
                </a:solidFill>
                <a:latin typeface="Arial"/>
                <a:ea typeface="Arial"/>
                <a:cs typeface="Arial"/>
                <a:sym typeface="Arial"/>
              </a:rPr>
              <a:t>Person(</a:t>
            </a:r>
            <a:r>
              <a:rPr lang="en-US" sz="2400" u="sng">
                <a:solidFill>
                  <a:schemeClr val="accent2"/>
                </a:solidFill>
                <a:latin typeface="Arial"/>
                <a:ea typeface="Arial"/>
                <a:cs typeface="Arial"/>
                <a:sym typeface="Arial"/>
              </a:rPr>
              <a:t>name</a:t>
            </a:r>
            <a:r>
              <a:rPr lang="en-US" sz="2400">
                <a:solidFill>
                  <a:schemeClr val="accent2"/>
                </a:solidFill>
                <a:latin typeface="Arial"/>
                <a:ea typeface="Arial"/>
                <a:cs typeface="Arial"/>
                <a:sym typeface="Arial"/>
              </a:rPr>
              <a:t>, age)</a:t>
            </a:r>
            <a:endParaRPr sz="2400">
              <a:solidFill>
                <a:schemeClr val="dk1"/>
              </a:solidFill>
              <a:latin typeface="Arial"/>
              <a:ea typeface="Arial"/>
              <a:cs typeface="Arial"/>
              <a:sym typeface="Arial"/>
            </a:endParaRPr>
          </a:p>
        </p:txBody>
      </p:sp>
      <p:sp>
        <p:nvSpPr>
          <p:cNvPr id="395" name="Google Shape;395;p31"/>
          <p:cNvSpPr txBox="1"/>
          <p:nvPr/>
        </p:nvSpPr>
        <p:spPr>
          <a:xfrm>
            <a:off x="1942241" y="5623302"/>
            <a:ext cx="8301037" cy="954107"/>
          </a:xfrm>
          <a:prstGeom prst="rect">
            <a:avLst/>
          </a:prstGeom>
          <a:blipFill rotWithShape="1">
            <a:blip r:embed="rId4">
              <a:alphaModFix/>
            </a:blip>
            <a:stretch>
              <a:fillRect b="0" l="0" r="0" t="0"/>
            </a:stretch>
          </a:blipFill>
          <a:ln>
            <a:noFill/>
          </a:ln>
          <a:effectLst>
            <a:outerShdw blurRad="50800" rotWithShape="0" algn="tl" dir="2700000" dist="12700">
              <a:srgbClr val="000000">
                <a:alpha val="4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Index Motivation</a:t>
            </a:r>
            <a:endParaRPr/>
          </a:p>
        </p:txBody>
      </p:sp>
      <p:sp>
        <p:nvSpPr>
          <p:cNvPr id="401" name="Google Shape;401;p32"/>
          <p:cNvSpPr txBox="1"/>
          <p:nvPr>
            <p:ph idx="1" type="body"/>
          </p:nvPr>
        </p:nvSpPr>
        <p:spPr>
          <a:xfrm>
            <a:off x="838199" y="1600200"/>
            <a:ext cx="10515601" cy="380047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What about if we want to </a:t>
            </a:r>
            <a:r>
              <a:rPr b="1" lang="en-US"/>
              <a:t>insert</a:t>
            </a:r>
            <a:r>
              <a:rPr lang="en-US"/>
              <a:t> a new person, but keep the list sorted?</a:t>
            </a:r>
            <a:endParaRPr/>
          </a:p>
          <a:p>
            <a:pPr indent="-508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b="1" i="1"/>
          </a:p>
          <a:p>
            <a:pPr indent="-50800" lvl="0" marL="228600" rtl="0" algn="l">
              <a:lnSpc>
                <a:spcPct val="90000"/>
              </a:lnSpc>
              <a:spcBef>
                <a:spcPts val="1000"/>
              </a:spcBef>
              <a:spcAft>
                <a:spcPts val="0"/>
              </a:spcAft>
              <a:buClr>
                <a:schemeClr val="dk1"/>
              </a:buClr>
              <a:buSzPts val="2800"/>
              <a:buNone/>
            </a:pPr>
            <a:r>
              <a:t/>
            </a:r>
            <a:endParaRPr b="1" i="1"/>
          </a:p>
          <a:p>
            <a:pPr indent="-228600" lvl="0" marL="228600" rtl="0" algn="l">
              <a:lnSpc>
                <a:spcPct val="90000"/>
              </a:lnSpc>
              <a:spcBef>
                <a:spcPts val="1000"/>
              </a:spcBef>
              <a:spcAft>
                <a:spcPts val="0"/>
              </a:spcAft>
              <a:buClr>
                <a:schemeClr val="dk1"/>
              </a:buClr>
              <a:buSzPts val="2800"/>
              <a:buChar char="•"/>
            </a:pPr>
            <a:r>
              <a:rPr lang="en-US"/>
              <a:t>We would have to potentially shift </a:t>
            </a:r>
            <a:r>
              <a:rPr b="1" i="1" lang="en-US"/>
              <a:t>N</a:t>
            </a:r>
            <a:r>
              <a:rPr lang="en-US"/>
              <a:t> records, requiring up to </a:t>
            </a:r>
            <a:r>
              <a:rPr b="1" lang="en-US"/>
              <a:t>~ 2*N/P </a:t>
            </a:r>
            <a:r>
              <a:rPr lang="en-US"/>
              <a:t>IO operations (where P = # of records per page)!</a:t>
            </a:r>
            <a:endParaRPr/>
          </a:p>
          <a:p>
            <a:pPr indent="-228600" lvl="1" marL="685800" rtl="0" algn="l">
              <a:lnSpc>
                <a:spcPct val="90000"/>
              </a:lnSpc>
              <a:spcBef>
                <a:spcPts val="500"/>
              </a:spcBef>
              <a:spcAft>
                <a:spcPts val="0"/>
              </a:spcAft>
              <a:buClr>
                <a:schemeClr val="dk1"/>
              </a:buClr>
              <a:buSzPts val="2400"/>
              <a:buChar char="•"/>
            </a:pPr>
            <a:r>
              <a:rPr lang="en-US"/>
              <a:t>We could leave some “slack” in the pages…</a:t>
            </a:r>
            <a:endParaRPr/>
          </a:p>
          <a:p>
            <a:pPr indent="0" lvl="0" marL="0" rtl="0" algn="l">
              <a:lnSpc>
                <a:spcPct val="90000"/>
              </a:lnSpc>
              <a:spcBef>
                <a:spcPts val="1000"/>
              </a:spcBef>
              <a:spcAft>
                <a:spcPts val="0"/>
              </a:spcAft>
              <a:buClr>
                <a:schemeClr val="dk1"/>
              </a:buClr>
              <a:buSzPts val="2800"/>
              <a:buNone/>
            </a:pPr>
            <a:r>
              <a:t/>
            </a:r>
            <a:endParaRPr b="1" i="1"/>
          </a:p>
          <a:p>
            <a:pPr indent="-50800" lvl="0" marL="228600" rtl="0" algn="l">
              <a:lnSpc>
                <a:spcPct val="90000"/>
              </a:lnSpc>
              <a:spcBef>
                <a:spcPts val="1000"/>
              </a:spcBef>
              <a:spcAft>
                <a:spcPts val="0"/>
              </a:spcAft>
              <a:buClr>
                <a:schemeClr val="dk1"/>
              </a:buClr>
              <a:buSzPts val="2800"/>
              <a:buNone/>
            </a:pPr>
            <a:r>
              <a:t/>
            </a:r>
            <a:endParaRPr b="1" i="1"/>
          </a:p>
        </p:txBody>
      </p:sp>
      <p:grpSp>
        <p:nvGrpSpPr>
          <p:cNvPr id="402" name="Google Shape;402;p32"/>
          <p:cNvGrpSpPr/>
          <p:nvPr/>
        </p:nvGrpSpPr>
        <p:grpSpPr>
          <a:xfrm>
            <a:off x="1416847" y="2591696"/>
            <a:ext cx="9184478" cy="1139531"/>
            <a:chOff x="1416847" y="2591696"/>
            <a:chExt cx="9184478" cy="1139531"/>
          </a:xfrm>
        </p:grpSpPr>
        <p:sp>
          <p:nvSpPr>
            <p:cNvPr id="403" name="Google Shape;403;p32"/>
            <p:cNvSpPr/>
            <p:nvPr/>
          </p:nvSpPr>
          <p:spPr>
            <a:xfrm>
              <a:off x="1416847" y="3206207"/>
              <a:ext cx="3296832" cy="525020"/>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04" name="Google Shape;404;p32"/>
            <p:cNvGrpSpPr/>
            <p:nvPr/>
          </p:nvGrpSpPr>
          <p:grpSpPr>
            <a:xfrm>
              <a:off x="1559053" y="3268662"/>
              <a:ext cx="3012421" cy="400110"/>
              <a:chOff x="2844928" y="2635940"/>
              <a:chExt cx="3012421" cy="400110"/>
            </a:xfrm>
          </p:grpSpPr>
          <p:sp>
            <p:nvSpPr>
              <p:cNvPr id="405" name="Google Shape;405;p32"/>
              <p:cNvSpPr txBox="1"/>
              <p:nvPr/>
            </p:nvSpPr>
            <p:spPr>
              <a:xfrm>
                <a:off x="3874097" y="2635940"/>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4,5</a:t>
                </a:r>
                <a:endParaRPr/>
              </a:p>
            </p:txBody>
          </p:sp>
          <p:sp>
            <p:nvSpPr>
              <p:cNvPr id="406" name="Google Shape;406;p32"/>
              <p:cNvSpPr txBox="1"/>
              <p:nvPr/>
            </p:nvSpPr>
            <p:spPr>
              <a:xfrm>
                <a:off x="4903242" y="2635940"/>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6,7</a:t>
                </a:r>
                <a:endParaRPr/>
              </a:p>
            </p:txBody>
          </p:sp>
          <p:sp>
            <p:nvSpPr>
              <p:cNvPr id="407" name="Google Shape;407;p32"/>
              <p:cNvSpPr txBox="1"/>
              <p:nvPr/>
            </p:nvSpPr>
            <p:spPr>
              <a:xfrm>
                <a:off x="2844928" y="2635940"/>
                <a:ext cx="954106"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1,3</a:t>
                </a:r>
                <a:endParaRPr/>
              </a:p>
            </p:txBody>
          </p:sp>
        </p:grpSp>
        <p:sp>
          <p:nvSpPr>
            <p:cNvPr id="408" name="Google Shape;408;p32"/>
            <p:cNvSpPr/>
            <p:nvPr/>
          </p:nvSpPr>
          <p:spPr>
            <a:xfrm>
              <a:off x="5026293" y="3296187"/>
              <a:ext cx="971550" cy="345060"/>
            </a:xfrm>
            <a:prstGeom prst="right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9" name="Google Shape;409;p32"/>
            <p:cNvSpPr/>
            <p:nvPr/>
          </p:nvSpPr>
          <p:spPr>
            <a:xfrm>
              <a:off x="6310456" y="3206207"/>
              <a:ext cx="4290869" cy="525020"/>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0" name="Google Shape;410;p32"/>
            <p:cNvSpPr txBox="1"/>
            <p:nvPr/>
          </p:nvSpPr>
          <p:spPr>
            <a:xfrm>
              <a:off x="7481832" y="3268662"/>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3,4</a:t>
              </a:r>
              <a:endParaRPr/>
            </a:p>
          </p:txBody>
        </p:sp>
        <p:sp>
          <p:nvSpPr>
            <p:cNvPr id="411" name="Google Shape;411;p32"/>
            <p:cNvSpPr txBox="1"/>
            <p:nvPr/>
          </p:nvSpPr>
          <p:spPr>
            <a:xfrm>
              <a:off x="8510977" y="3268662"/>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5,6</a:t>
              </a:r>
              <a:endParaRPr/>
            </a:p>
          </p:txBody>
        </p:sp>
        <p:sp>
          <p:nvSpPr>
            <p:cNvPr id="412" name="Google Shape;412;p32"/>
            <p:cNvSpPr txBox="1"/>
            <p:nvPr/>
          </p:nvSpPr>
          <p:spPr>
            <a:xfrm>
              <a:off x="6452663" y="3268662"/>
              <a:ext cx="954106"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1,2</a:t>
              </a:r>
              <a:endParaRPr/>
            </a:p>
          </p:txBody>
        </p:sp>
        <p:sp>
          <p:nvSpPr>
            <p:cNvPr id="413" name="Google Shape;413;p32"/>
            <p:cNvSpPr/>
            <p:nvPr/>
          </p:nvSpPr>
          <p:spPr>
            <a:xfrm>
              <a:off x="1957525" y="3056962"/>
              <a:ext cx="157162" cy="291558"/>
            </a:xfrm>
            <a:prstGeom prst="downArrow">
              <a:avLst>
                <a:gd fmla="val 50000" name="adj1"/>
                <a:gd fmla="val 50000" name="adj2"/>
              </a:avLst>
            </a:prstGeom>
            <a:gradFill>
              <a:gsLst>
                <a:gs pos="0">
                  <a:srgbClr val="F08B54"/>
                </a:gs>
                <a:gs pos="50000">
                  <a:srgbClr val="F67A26"/>
                </a:gs>
                <a:gs pos="100000">
                  <a:srgbClr val="E36A18"/>
                </a:gs>
              </a:gsLst>
              <a:lin ang="5400000" scaled="0"/>
            </a:gradFill>
            <a:ln cap="flat" cmpd="sng" w="952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4" name="Google Shape;414;p32"/>
            <p:cNvSpPr txBox="1"/>
            <p:nvPr/>
          </p:nvSpPr>
          <p:spPr>
            <a:xfrm>
              <a:off x="1866829" y="2591696"/>
              <a:ext cx="338554" cy="400110"/>
            </a:xfrm>
            <a:prstGeom prst="rect">
              <a:avLst/>
            </a:prstGeom>
            <a:solidFill>
              <a:srgbClr val="7F7F7F"/>
            </a:solidFill>
            <a:ln cap="flat" cmpd="sng" w="25400">
              <a:solidFill>
                <a:srgbClr val="00B05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FFC000"/>
                  </a:solidFill>
                  <a:latin typeface="Arial"/>
                  <a:ea typeface="Arial"/>
                  <a:cs typeface="Arial"/>
                  <a:sym typeface="Arial"/>
                </a:rPr>
                <a:t>2</a:t>
              </a:r>
              <a:endParaRPr/>
            </a:p>
          </p:txBody>
        </p:sp>
        <p:sp>
          <p:nvSpPr>
            <p:cNvPr id="415" name="Google Shape;415;p32"/>
            <p:cNvSpPr txBox="1"/>
            <p:nvPr/>
          </p:nvSpPr>
          <p:spPr>
            <a:xfrm>
              <a:off x="9540147" y="3268662"/>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7,</a:t>
              </a:r>
              <a:endParaRPr/>
            </a:p>
          </p:txBody>
        </p:sp>
      </p:grpSp>
      <p:sp>
        <p:nvSpPr>
          <p:cNvPr id="416" name="Google Shape;416;p32"/>
          <p:cNvSpPr txBox="1"/>
          <p:nvPr/>
        </p:nvSpPr>
        <p:spPr>
          <a:xfrm>
            <a:off x="3363735" y="5695613"/>
            <a:ext cx="5464528" cy="584775"/>
          </a:xfrm>
          <a:prstGeom prst="rect">
            <a:avLst/>
          </a:prstGeom>
          <a:solidFill>
            <a:srgbClr val="FBE4D4"/>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Could we get faster insertions?</a:t>
            </a:r>
            <a:endParaRPr sz="3200">
              <a:solidFill>
                <a:schemeClr val="dk1"/>
              </a:solidFill>
              <a:latin typeface="Calibri"/>
              <a:ea typeface="Calibri"/>
              <a:cs typeface="Calibri"/>
              <a:sym typeface="Calibri"/>
            </a:endParaRPr>
          </a:p>
        </p:txBody>
      </p:sp>
      <p:grpSp>
        <p:nvGrpSpPr>
          <p:cNvPr id="417" name="Google Shape;417;p32"/>
          <p:cNvGrpSpPr/>
          <p:nvPr/>
        </p:nvGrpSpPr>
        <p:grpSpPr>
          <a:xfrm>
            <a:off x="0" y="-22510"/>
            <a:ext cx="12192000" cy="307777"/>
            <a:chOff x="0" y="-22510"/>
            <a:chExt cx="12192000" cy="307777"/>
          </a:xfrm>
        </p:grpSpPr>
        <p:sp>
          <p:nvSpPr>
            <p:cNvPr id="418" name="Google Shape;418;p32"/>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419" name="Google Shape;419;p32"/>
            <p:cNvSpPr txBox="1"/>
            <p:nvPr/>
          </p:nvSpPr>
          <p:spPr>
            <a:xfrm>
              <a:off x="188780" y="-22510"/>
              <a:ext cx="243419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Indexes: Motivation</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1">
                                            <p:txEl>
                                              <p:pRg end="7" st="7"/>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Index Motivation</a:t>
            </a:r>
            <a:endParaRPr/>
          </a:p>
        </p:txBody>
      </p:sp>
      <p:sp>
        <p:nvSpPr>
          <p:cNvPr id="425" name="Google Shape;425;p33"/>
          <p:cNvSpPr txBox="1"/>
          <p:nvPr>
            <p:ph idx="1" type="body"/>
          </p:nvPr>
        </p:nvSpPr>
        <p:spPr>
          <a:xfrm>
            <a:off x="838199" y="1600200"/>
            <a:ext cx="10515601" cy="380047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What about if we want to be able to search quickly along multiple attributes (e.g. not just age)?</a:t>
            </a:r>
            <a:endParaRPr/>
          </a:p>
          <a:p>
            <a:pPr indent="-228600" lvl="1" marL="685800" rtl="0" algn="l">
              <a:lnSpc>
                <a:spcPct val="90000"/>
              </a:lnSpc>
              <a:spcBef>
                <a:spcPts val="500"/>
              </a:spcBef>
              <a:spcAft>
                <a:spcPts val="0"/>
              </a:spcAft>
              <a:buClr>
                <a:schemeClr val="dk1"/>
              </a:buClr>
              <a:buSzPts val="2400"/>
              <a:buChar char="•"/>
            </a:pPr>
            <a:r>
              <a:rPr lang="en-US"/>
              <a:t>We could keep multiple copies of the records, each sorted by one attribute set… this would take a lot of space</a:t>
            </a:r>
            <a:endParaRPr/>
          </a:p>
          <a:p>
            <a:pPr indent="0" lvl="0" marL="0" rtl="0" algn="l">
              <a:lnSpc>
                <a:spcPct val="90000"/>
              </a:lnSpc>
              <a:spcBef>
                <a:spcPts val="1000"/>
              </a:spcBef>
              <a:spcAft>
                <a:spcPts val="0"/>
              </a:spcAft>
              <a:buClr>
                <a:schemeClr val="dk1"/>
              </a:buClr>
              <a:buSzPts val="2800"/>
              <a:buNone/>
            </a:pPr>
            <a:r>
              <a:t/>
            </a:r>
            <a:endParaRPr b="1" i="1"/>
          </a:p>
          <a:p>
            <a:pPr indent="-50800" lvl="0" marL="228600" rtl="0" algn="l">
              <a:lnSpc>
                <a:spcPct val="90000"/>
              </a:lnSpc>
              <a:spcBef>
                <a:spcPts val="1000"/>
              </a:spcBef>
              <a:spcAft>
                <a:spcPts val="0"/>
              </a:spcAft>
              <a:buClr>
                <a:schemeClr val="dk1"/>
              </a:buClr>
              <a:buSzPts val="2800"/>
              <a:buNone/>
            </a:pPr>
            <a:r>
              <a:t/>
            </a:r>
            <a:endParaRPr b="1" i="1"/>
          </a:p>
        </p:txBody>
      </p:sp>
      <p:sp>
        <p:nvSpPr>
          <p:cNvPr id="426" name="Google Shape;426;p33"/>
          <p:cNvSpPr txBox="1"/>
          <p:nvPr/>
        </p:nvSpPr>
        <p:spPr>
          <a:xfrm>
            <a:off x="2100966" y="3500437"/>
            <a:ext cx="7990065" cy="1077218"/>
          </a:xfrm>
          <a:prstGeom prst="rect">
            <a:avLst/>
          </a:prstGeom>
          <a:solidFill>
            <a:srgbClr val="FBE4D4"/>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Can we get fast search over multiple attribute (sets) without taking too much space?</a:t>
            </a:r>
            <a:endParaRPr/>
          </a:p>
        </p:txBody>
      </p:sp>
      <p:sp>
        <p:nvSpPr>
          <p:cNvPr id="427" name="Google Shape;427;p33"/>
          <p:cNvSpPr txBox="1"/>
          <p:nvPr/>
        </p:nvSpPr>
        <p:spPr>
          <a:xfrm>
            <a:off x="2100966" y="5310186"/>
            <a:ext cx="7990065" cy="1077218"/>
          </a:xfrm>
          <a:prstGeom prst="rect">
            <a:avLst/>
          </a:prstGeom>
          <a:solidFill>
            <a:srgbClr val="E1EFD8"/>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We’ll create separate data structures called </a:t>
            </a:r>
            <a:r>
              <a:rPr b="1" i="1" lang="en-US" sz="3200">
                <a:solidFill>
                  <a:schemeClr val="dk1"/>
                </a:solidFill>
                <a:latin typeface="Calibri"/>
                <a:ea typeface="Calibri"/>
                <a:cs typeface="Calibri"/>
                <a:sym typeface="Calibri"/>
              </a:rPr>
              <a:t>indexes</a:t>
            </a:r>
            <a:r>
              <a:rPr lang="en-US" sz="3200">
                <a:solidFill>
                  <a:schemeClr val="dk1"/>
                </a:solidFill>
                <a:latin typeface="Calibri"/>
                <a:ea typeface="Calibri"/>
                <a:cs typeface="Calibri"/>
                <a:sym typeface="Calibri"/>
              </a:rPr>
              <a:t> to address all these points</a:t>
            </a:r>
            <a:endParaRPr sz="3200">
              <a:solidFill>
                <a:schemeClr val="dk1"/>
              </a:solidFill>
              <a:latin typeface="Calibri"/>
              <a:ea typeface="Calibri"/>
              <a:cs typeface="Calibri"/>
              <a:sym typeface="Calibri"/>
            </a:endParaRPr>
          </a:p>
        </p:txBody>
      </p:sp>
      <p:grpSp>
        <p:nvGrpSpPr>
          <p:cNvPr id="428" name="Google Shape;428;p33"/>
          <p:cNvGrpSpPr/>
          <p:nvPr/>
        </p:nvGrpSpPr>
        <p:grpSpPr>
          <a:xfrm>
            <a:off x="0" y="-22510"/>
            <a:ext cx="12192000" cy="307777"/>
            <a:chOff x="0" y="-22510"/>
            <a:chExt cx="12192000" cy="307777"/>
          </a:xfrm>
        </p:grpSpPr>
        <p:sp>
          <p:nvSpPr>
            <p:cNvPr id="429" name="Google Shape;429;p33"/>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430" name="Google Shape;430;p33"/>
            <p:cNvSpPr txBox="1"/>
            <p:nvPr/>
          </p:nvSpPr>
          <p:spPr>
            <a:xfrm>
              <a:off x="188780" y="-22510"/>
              <a:ext cx="243419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Indexes: Motivation</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Further Motivation for Indexes: NoSQL!</a:t>
            </a:r>
            <a:endParaRPr/>
          </a:p>
        </p:txBody>
      </p:sp>
      <p:sp>
        <p:nvSpPr>
          <p:cNvPr id="436" name="Google Shape;436;p34"/>
          <p:cNvSpPr txBox="1"/>
          <p:nvPr>
            <p:ph idx="1" type="body"/>
          </p:nvPr>
        </p:nvSpPr>
        <p:spPr>
          <a:xfrm>
            <a:off x="838199" y="1600200"/>
            <a:ext cx="10515601" cy="380047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NoSQL engines are (basically) </a:t>
            </a:r>
            <a:r>
              <a:rPr b="1" i="1" lang="en-US"/>
              <a:t>just indexes!</a:t>
            </a:r>
            <a:endParaRPr/>
          </a:p>
          <a:p>
            <a:pPr indent="-76200" lvl="1" marL="685800" rtl="0" algn="l">
              <a:lnSpc>
                <a:spcPct val="90000"/>
              </a:lnSpc>
              <a:spcBef>
                <a:spcPts val="500"/>
              </a:spcBef>
              <a:spcAft>
                <a:spcPts val="0"/>
              </a:spcAft>
              <a:buClr>
                <a:schemeClr val="dk1"/>
              </a:buClr>
              <a:buSzPts val="2400"/>
              <a:buNone/>
            </a:pPr>
            <a:r>
              <a:t/>
            </a:r>
            <a:endParaRPr/>
          </a:p>
          <a:p>
            <a:pPr indent="-228600" lvl="1" marL="685800" rtl="0" algn="l">
              <a:lnSpc>
                <a:spcPct val="90000"/>
              </a:lnSpc>
              <a:spcBef>
                <a:spcPts val="500"/>
              </a:spcBef>
              <a:spcAft>
                <a:spcPts val="0"/>
              </a:spcAft>
              <a:buClr>
                <a:schemeClr val="dk1"/>
              </a:buClr>
              <a:buSzPts val="2400"/>
              <a:buChar char="•"/>
            </a:pPr>
            <a:r>
              <a:rPr lang="en-US"/>
              <a:t>A lot more is left to the user in NoSQL… one of the primary remaining functions of the DBMS is still to provide index over the data records, for the reasons we just saw!</a:t>
            </a:r>
            <a:endParaRPr/>
          </a:p>
          <a:p>
            <a:pPr indent="-76200" lvl="1" marL="685800" rtl="0" algn="l">
              <a:lnSpc>
                <a:spcPct val="90000"/>
              </a:lnSpc>
              <a:spcBef>
                <a:spcPts val="500"/>
              </a:spcBef>
              <a:spcAft>
                <a:spcPts val="0"/>
              </a:spcAft>
              <a:buClr>
                <a:schemeClr val="dk1"/>
              </a:buClr>
              <a:buSzPts val="2400"/>
              <a:buNone/>
            </a:pPr>
            <a:r>
              <a:t/>
            </a:r>
            <a:endParaRPr/>
          </a:p>
          <a:p>
            <a:pPr indent="-228600" lvl="1" marL="685800" rtl="0" algn="l">
              <a:lnSpc>
                <a:spcPct val="90000"/>
              </a:lnSpc>
              <a:spcBef>
                <a:spcPts val="500"/>
              </a:spcBef>
              <a:spcAft>
                <a:spcPts val="0"/>
              </a:spcAft>
              <a:buClr>
                <a:schemeClr val="dk1"/>
              </a:buClr>
              <a:buSzPts val="2400"/>
              <a:buChar char="•"/>
            </a:pPr>
            <a:r>
              <a:rPr lang="en-US"/>
              <a:t>Sometimes use B+ Trees (covered next), sometimes hash indexes (not covered here)</a:t>
            </a:r>
            <a:endParaRPr/>
          </a:p>
          <a:p>
            <a:pPr indent="0" lvl="0" marL="0" rtl="0" algn="l">
              <a:lnSpc>
                <a:spcPct val="90000"/>
              </a:lnSpc>
              <a:spcBef>
                <a:spcPts val="1000"/>
              </a:spcBef>
              <a:spcAft>
                <a:spcPts val="0"/>
              </a:spcAft>
              <a:buClr>
                <a:schemeClr val="dk1"/>
              </a:buClr>
              <a:buSzPts val="2800"/>
              <a:buNone/>
            </a:pPr>
            <a:r>
              <a:t/>
            </a:r>
            <a:endParaRPr b="1" i="1"/>
          </a:p>
          <a:p>
            <a:pPr indent="-50800" lvl="0" marL="228600" rtl="0" algn="l">
              <a:lnSpc>
                <a:spcPct val="90000"/>
              </a:lnSpc>
              <a:spcBef>
                <a:spcPts val="1000"/>
              </a:spcBef>
              <a:spcAft>
                <a:spcPts val="0"/>
              </a:spcAft>
              <a:buClr>
                <a:schemeClr val="dk1"/>
              </a:buClr>
              <a:buSzPts val="2800"/>
              <a:buNone/>
            </a:pPr>
            <a:r>
              <a:t/>
            </a:r>
            <a:endParaRPr b="1" i="1"/>
          </a:p>
        </p:txBody>
      </p:sp>
      <p:sp>
        <p:nvSpPr>
          <p:cNvPr id="437" name="Google Shape;437;p34"/>
          <p:cNvSpPr txBox="1"/>
          <p:nvPr/>
        </p:nvSpPr>
        <p:spPr>
          <a:xfrm>
            <a:off x="2100966" y="5310186"/>
            <a:ext cx="7990065" cy="584775"/>
          </a:xfrm>
          <a:prstGeom prst="rect">
            <a:avLst/>
          </a:prstGeom>
          <a:solidFill>
            <a:srgbClr val="E1EFD8"/>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Indexes are critical across all DBMS types</a:t>
            </a:r>
            <a:endParaRPr/>
          </a:p>
        </p:txBody>
      </p:sp>
      <p:grpSp>
        <p:nvGrpSpPr>
          <p:cNvPr id="438" name="Google Shape;438;p34"/>
          <p:cNvGrpSpPr/>
          <p:nvPr/>
        </p:nvGrpSpPr>
        <p:grpSpPr>
          <a:xfrm>
            <a:off x="0" y="-22510"/>
            <a:ext cx="12192000" cy="307777"/>
            <a:chOff x="0" y="-22510"/>
            <a:chExt cx="12192000" cy="307777"/>
          </a:xfrm>
        </p:grpSpPr>
        <p:sp>
          <p:nvSpPr>
            <p:cNvPr id="439" name="Google Shape;439;p34"/>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440" name="Google Shape;440;p34"/>
            <p:cNvSpPr txBox="1"/>
            <p:nvPr/>
          </p:nvSpPr>
          <p:spPr>
            <a:xfrm>
              <a:off x="188780" y="-22510"/>
              <a:ext cx="243419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Indexes: Motivation</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35"/>
          <p:cNvSpPr/>
          <p:nvPr/>
        </p:nvSpPr>
        <p:spPr>
          <a:xfrm>
            <a:off x="2209800" y="6248400"/>
            <a:ext cx="1905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0" name="Google Shape;450;p35"/>
          <p:cNvSpPr/>
          <p:nvPr/>
        </p:nvSpPr>
        <p:spPr>
          <a:xfrm>
            <a:off x="4648200" y="6248400"/>
            <a:ext cx="289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1" name="Google Shape;451;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Indexes: High-level</a:t>
            </a:r>
            <a:endParaRPr/>
          </a:p>
        </p:txBody>
      </p:sp>
      <p:sp>
        <p:nvSpPr>
          <p:cNvPr id="452" name="Google Shape;452;p35"/>
          <p:cNvSpPr txBox="1"/>
          <p:nvPr>
            <p:ph idx="1" type="body"/>
          </p:nvPr>
        </p:nvSpPr>
        <p:spPr>
          <a:xfrm>
            <a:off x="838200" y="1524000"/>
            <a:ext cx="10515600" cy="46101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An </a:t>
            </a:r>
            <a:r>
              <a:rPr i="1" lang="en-US" u="sng"/>
              <a:t>index</a:t>
            </a:r>
            <a:r>
              <a:rPr lang="en-US">
                <a:solidFill>
                  <a:schemeClr val="accent2"/>
                </a:solidFill>
              </a:rPr>
              <a:t> </a:t>
            </a:r>
            <a:r>
              <a:rPr lang="en-US"/>
              <a:t>on a file speeds up selections on the </a:t>
            </a:r>
            <a:r>
              <a:rPr i="1" lang="en-US" u="sng"/>
              <a:t>search key</a:t>
            </a:r>
            <a:r>
              <a:rPr i="1" lang="en-US"/>
              <a:t> fields </a:t>
            </a:r>
            <a:r>
              <a:rPr lang="en-US"/>
              <a:t>for the index.</a:t>
            </a:r>
            <a:endParaRPr/>
          </a:p>
          <a:p>
            <a:pPr indent="-228600" lvl="1" marL="685800" rtl="0" algn="l">
              <a:lnSpc>
                <a:spcPct val="90000"/>
              </a:lnSpc>
              <a:spcBef>
                <a:spcPts val="500"/>
              </a:spcBef>
              <a:spcAft>
                <a:spcPts val="0"/>
              </a:spcAft>
              <a:buClr>
                <a:schemeClr val="dk1"/>
              </a:buClr>
              <a:buSzPts val="1800"/>
              <a:buChar char="•"/>
            </a:pPr>
            <a:r>
              <a:rPr lang="en-US"/>
              <a:t>Search key properties</a:t>
            </a:r>
            <a:endParaRPr/>
          </a:p>
          <a:p>
            <a:pPr indent="-228600" lvl="2" marL="1143000" rtl="0" algn="l">
              <a:lnSpc>
                <a:spcPct val="90000"/>
              </a:lnSpc>
              <a:spcBef>
                <a:spcPts val="500"/>
              </a:spcBef>
              <a:spcAft>
                <a:spcPts val="0"/>
              </a:spcAft>
              <a:buClr>
                <a:schemeClr val="dk1"/>
              </a:buClr>
              <a:buSzPts val="1500"/>
              <a:buChar char="•"/>
            </a:pPr>
            <a:r>
              <a:rPr lang="en-US"/>
              <a:t>Any subset of fields</a:t>
            </a:r>
            <a:endParaRPr/>
          </a:p>
          <a:p>
            <a:pPr indent="-228600" lvl="2" marL="1143000" rtl="0" algn="l">
              <a:lnSpc>
                <a:spcPct val="90000"/>
              </a:lnSpc>
              <a:spcBef>
                <a:spcPts val="500"/>
              </a:spcBef>
              <a:spcAft>
                <a:spcPts val="0"/>
              </a:spcAft>
              <a:buClr>
                <a:schemeClr val="dk1"/>
              </a:buClr>
              <a:buSzPts val="1500"/>
              <a:buChar char="•"/>
            </a:pPr>
            <a:r>
              <a:rPr lang="en-US"/>
              <a:t>is</a:t>
            </a:r>
            <a:r>
              <a:rPr b="1" lang="en-US"/>
              <a:t> </a:t>
            </a:r>
            <a:r>
              <a:rPr b="1" lang="en-US" u="sng"/>
              <a:t>not</a:t>
            </a:r>
            <a:r>
              <a:rPr b="1" lang="en-US"/>
              <a:t> </a:t>
            </a:r>
            <a:r>
              <a:rPr lang="en-US"/>
              <a:t>the same as </a:t>
            </a:r>
            <a:r>
              <a:rPr i="1" lang="en-US"/>
              <a:t>key of a relation</a:t>
            </a:r>
            <a:endParaRPr/>
          </a:p>
          <a:p>
            <a:pPr indent="-133350" lvl="2" marL="1143000" rtl="0" algn="l">
              <a:lnSpc>
                <a:spcPct val="90000"/>
              </a:lnSpc>
              <a:spcBef>
                <a:spcPts val="500"/>
              </a:spcBef>
              <a:spcAft>
                <a:spcPts val="0"/>
              </a:spcAft>
              <a:buClr>
                <a:schemeClr val="dk1"/>
              </a:buClr>
              <a:buSzPts val="1500"/>
              <a:buNone/>
            </a:pPr>
            <a:r>
              <a:t/>
            </a:r>
            <a:endParaRPr i="1"/>
          </a:p>
          <a:p>
            <a:pPr indent="-228600" lvl="0" marL="228600" rtl="0" algn="l">
              <a:lnSpc>
                <a:spcPct val="90000"/>
              </a:lnSpc>
              <a:spcBef>
                <a:spcPts val="1000"/>
              </a:spcBef>
              <a:spcAft>
                <a:spcPts val="0"/>
              </a:spcAft>
              <a:buClr>
                <a:schemeClr val="dk1"/>
              </a:buClr>
              <a:buSzPts val="2100"/>
              <a:buChar char="•"/>
            </a:pPr>
            <a:r>
              <a:rPr i="1" lang="en-US"/>
              <a:t>Example:</a:t>
            </a:r>
            <a:endParaRPr/>
          </a:p>
        </p:txBody>
      </p:sp>
      <p:sp>
        <p:nvSpPr>
          <p:cNvPr id="453" name="Google Shape;453;p35"/>
          <p:cNvSpPr txBox="1"/>
          <p:nvPr/>
        </p:nvSpPr>
        <p:spPr>
          <a:xfrm>
            <a:off x="7543800" y="4259570"/>
            <a:ext cx="3048000" cy="1200329"/>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On which attributes would you build indexes?</a:t>
            </a:r>
            <a:endParaRPr/>
          </a:p>
        </p:txBody>
      </p:sp>
      <p:sp>
        <p:nvSpPr>
          <p:cNvPr id="454" name="Google Shape;454;p35"/>
          <p:cNvSpPr/>
          <p:nvPr/>
        </p:nvSpPr>
        <p:spPr>
          <a:xfrm>
            <a:off x="1233629" y="4628903"/>
            <a:ext cx="5205271" cy="461665"/>
          </a:xfrm>
          <a:prstGeom prst="rect">
            <a:avLst/>
          </a:prstGeom>
          <a:solidFill>
            <a:schemeClr val="lt1"/>
          </a:solidFill>
          <a:ln cap="flat" cmpd="sng" w="9525">
            <a:solidFill>
              <a:schemeClr val="dk1"/>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accent2"/>
                </a:solidFill>
                <a:latin typeface="Arial"/>
                <a:ea typeface="Arial"/>
                <a:cs typeface="Arial"/>
                <a:sym typeface="Arial"/>
              </a:rPr>
              <a:t>Product(</a:t>
            </a:r>
            <a:r>
              <a:rPr lang="en-US" sz="2400" u="sng">
                <a:solidFill>
                  <a:schemeClr val="accent2"/>
                </a:solidFill>
                <a:latin typeface="Arial"/>
                <a:ea typeface="Arial"/>
                <a:cs typeface="Arial"/>
                <a:sym typeface="Arial"/>
              </a:rPr>
              <a:t>name</a:t>
            </a:r>
            <a:r>
              <a:rPr lang="en-US" sz="2400">
                <a:solidFill>
                  <a:schemeClr val="accent2"/>
                </a:solidFill>
                <a:latin typeface="Arial"/>
                <a:ea typeface="Arial"/>
                <a:cs typeface="Arial"/>
                <a:sym typeface="Arial"/>
              </a:rPr>
              <a:t>, maker, price)</a:t>
            </a:r>
            <a:endParaRPr sz="2400">
              <a:solidFill>
                <a:schemeClr val="dk1"/>
              </a:solidFill>
              <a:latin typeface="Arial"/>
              <a:ea typeface="Arial"/>
              <a:cs typeface="Arial"/>
              <a:sym typeface="Arial"/>
            </a:endParaRPr>
          </a:p>
        </p:txBody>
      </p:sp>
      <p:grpSp>
        <p:nvGrpSpPr>
          <p:cNvPr id="455" name="Google Shape;455;p35"/>
          <p:cNvGrpSpPr/>
          <p:nvPr/>
        </p:nvGrpSpPr>
        <p:grpSpPr>
          <a:xfrm>
            <a:off x="0" y="-22510"/>
            <a:ext cx="12192000" cy="307777"/>
            <a:chOff x="0" y="-22510"/>
            <a:chExt cx="12192000" cy="307777"/>
          </a:xfrm>
        </p:grpSpPr>
        <p:sp>
          <p:nvSpPr>
            <p:cNvPr id="456" name="Google Shape;456;p35"/>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457" name="Google Shape;457;p35"/>
            <p:cNvSpPr txBox="1"/>
            <p:nvPr/>
          </p:nvSpPr>
          <p:spPr>
            <a:xfrm>
              <a:off x="188780" y="-22510"/>
              <a:ext cx="207992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Indexes: Basics</a:t>
              </a:r>
              <a:endParaRPr/>
            </a:p>
          </p:txBody>
        </p:sp>
      </p:grpSp>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53"/>
                                        </p:tgtEl>
                                        <p:attrNameLst>
                                          <p:attrName>style.visibility</p:attrName>
                                        </p:attrNameLst>
                                      </p:cBhvr>
                                      <p:to>
                                        <p:strVal val="visible"/>
                                      </p:to>
                                    </p:set>
                                    <p:anim calcmode="lin" valueType="num">
                                      <p:cBhvr additive="base">
                                        <p:cTn dur="500"/>
                                        <p:tgtEl>
                                          <p:spTgt spid="453"/>
                                        </p:tgtEl>
                                        <p:attrNameLst>
                                          <p:attrName>ppt_y</p:attrName>
                                        </p:attrNameLst>
                                      </p:cBhvr>
                                      <p:tavLst>
                                        <p:tav fmla="" tm="0">
                                          <p:val>
                                            <p:strVal val="#ppt_y+1"/>
                                          </p:val>
                                        </p:tav>
                                        <p:tav fmla="" tm="100000">
                                          <p:val>
                                            <p:strVal val="#ppt_y"/>
                                          </p:val>
                                        </p:tav>
                                      </p:tavLst>
                                    </p:anim>
                                  </p:childTnLst>
                                </p:cTn>
                              </p:par>
                              <p:par>
                                <p:cTn fill="hold" nodeType="withEffect" presetClass="entr" presetID="1" presetSubtype="0">
                                  <p:stCondLst>
                                    <p:cond delay="0"/>
                                  </p:stCondLst>
                                  <p:childTnLst>
                                    <p:set>
                                      <p:cBhvr>
                                        <p:cTn dur="1" fill="hold">
                                          <p:stCondLst>
                                            <p:cond delay="0"/>
                                          </p:stCondLst>
                                        </p:cTn>
                                        <p:tgtEl>
                                          <p:spTgt spid="4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36"/>
          <p:cNvSpPr/>
          <p:nvPr/>
        </p:nvSpPr>
        <p:spPr>
          <a:xfrm>
            <a:off x="2209800" y="6248400"/>
            <a:ext cx="1905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7" name="Google Shape;467;p36"/>
          <p:cNvSpPr/>
          <p:nvPr/>
        </p:nvSpPr>
        <p:spPr>
          <a:xfrm>
            <a:off x="4648200" y="6248400"/>
            <a:ext cx="289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8" name="Google Shape;468;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More precisely</a:t>
            </a:r>
            <a:endParaRPr/>
          </a:p>
        </p:txBody>
      </p:sp>
      <p:sp>
        <p:nvSpPr>
          <p:cNvPr id="469" name="Google Shape;469;p36"/>
          <p:cNvSpPr txBox="1"/>
          <p:nvPr>
            <p:ph idx="1" type="body"/>
          </p:nvPr>
        </p:nvSpPr>
        <p:spPr>
          <a:xfrm>
            <a:off x="838200" y="1524000"/>
            <a:ext cx="10515600" cy="46101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An </a:t>
            </a:r>
            <a:r>
              <a:rPr i="1" lang="en-US" u="sng"/>
              <a:t>index</a:t>
            </a:r>
            <a:r>
              <a:rPr lang="en-US">
                <a:solidFill>
                  <a:schemeClr val="accent2"/>
                </a:solidFill>
              </a:rPr>
              <a:t> </a:t>
            </a:r>
            <a:r>
              <a:rPr lang="en-US"/>
              <a:t>is a </a:t>
            </a:r>
            <a:r>
              <a:rPr b="1" lang="en-US"/>
              <a:t>data structure</a:t>
            </a:r>
            <a:r>
              <a:rPr lang="en-US"/>
              <a:t> mapping </a:t>
            </a:r>
            <a:r>
              <a:rPr lang="en-US" u="sng"/>
              <a:t>search keys</a:t>
            </a:r>
            <a:r>
              <a:rPr lang="en-US"/>
              <a:t> to </a:t>
            </a:r>
            <a:r>
              <a:rPr lang="en-US" u="sng"/>
              <a:t>sets of rows in a database table</a:t>
            </a:r>
            <a:endParaRPr/>
          </a:p>
          <a:p>
            <a:pPr indent="-114300" lvl="1" marL="685800" rtl="0" algn="l">
              <a:lnSpc>
                <a:spcPct val="90000"/>
              </a:lnSpc>
              <a:spcBef>
                <a:spcPts val="500"/>
              </a:spcBef>
              <a:spcAft>
                <a:spcPts val="0"/>
              </a:spcAft>
              <a:buClr>
                <a:schemeClr val="dk1"/>
              </a:buClr>
              <a:buSzPts val="1800"/>
              <a:buNone/>
            </a:pPr>
            <a:r>
              <a:t/>
            </a:r>
            <a:endParaRPr/>
          </a:p>
          <a:p>
            <a:pPr indent="-228600" lvl="1" marL="685800" rtl="0" algn="l">
              <a:lnSpc>
                <a:spcPct val="90000"/>
              </a:lnSpc>
              <a:spcBef>
                <a:spcPts val="500"/>
              </a:spcBef>
              <a:spcAft>
                <a:spcPts val="0"/>
              </a:spcAft>
              <a:buClr>
                <a:schemeClr val="dk1"/>
              </a:buClr>
              <a:buSzPts val="1800"/>
              <a:buChar char="•"/>
            </a:pPr>
            <a:r>
              <a:rPr lang="en-US"/>
              <a:t>Provides efficient lookup &amp; retrieval by search key value- usually much faster than searching through all the rows of the database table</a:t>
            </a:r>
            <a:endParaRPr/>
          </a:p>
          <a:p>
            <a:pPr indent="-133350" lvl="2" marL="1143000" rtl="0" algn="l">
              <a:lnSpc>
                <a:spcPct val="90000"/>
              </a:lnSpc>
              <a:spcBef>
                <a:spcPts val="500"/>
              </a:spcBef>
              <a:spcAft>
                <a:spcPts val="0"/>
              </a:spcAft>
              <a:buClr>
                <a:schemeClr val="dk1"/>
              </a:buClr>
              <a:buSzPts val="1500"/>
              <a:buNone/>
            </a:pPr>
            <a:r>
              <a:t/>
            </a:r>
            <a:endParaRPr i="1"/>
          </a:p>
          <a:p>
            <a:pPr indent="-228600" lvl="0" marL="228600" rtl="0" algn="l">
              <a:lnSpc>
                <a:spcPct val="90000"/>
              </a:lnSpc>
              <a:spcBef>
                <a:spcPts val="1000"/>
              </a:spcBef>
              <a:spcAft>
                <a:spcPts val="0"/>
              </a:spcAft>
              <a:buClr>
                <a:schemeClr val="dk1"/>
              </a:buClr>
              <a:buSzPts val="2100"/>
              <a:buChar char="•"/>
            </a:pPr>
            <a:r>
              <a:rPr lang="en-US"/>
              <a:t>An index can store the full rows it points to (</a:t>
            </a:r>
            <a:r>
              <a:rPr i="1" lang="en-US"/>
              <a:t>primary index</a:t>
            </a:r>
            <a:r>
              <a:rPr lang="en-US"/>
              <a:t>) or pointers to those rows (</a:t>
            </a:r>
            <a:r>
              <a:rPr i="1" lang="en-US"/>
              <a:t>secondary index</a:t>
            </a:r>
            <a:r>
              <a:rPr lang="en-US"/>
              <a:t>)</a:t>
            </a:r>
            <a:endParaRPr/>
          </a:p>
          <a:p>
            <a:pPr indent="-114300" lvl="1" marL="685800" rtl="0" algn="l">
              <a:lnSpc>
                <a:spcPct val="90000"/>
              </a:lnSpc>
              <a:spcBef>
                <a:spcPts val="500"/>
              </a:spcBef>
              <a:spcAft>
                <a:spcPts val="0"/>
              </a:spcAft>
              <a:buClr>
                <a:schemeClr val="dk1"/>
              </a:buClr>
              <a:buSzPts val="1800"/>
              <a:buNone/>
            </a:pPr>
            <a:r>
              <a:t/>
            </a:r>
            <a:endParaRPr/>
          </a:p>
          <a:p>
            <a:pPr indent="-228600" lvl="1" marL="685800" rtl="0" algn="l">
              <a:lnSpc>
                <a:spcPct val="90000"/>
              </a:lnSpc>
              <a:spcBef>
                <a:spcPts val="500"/>
              </a:spcBef>
              <a:spcAft>
                <a:spcPts val="0"/>
              </a:spcAft>
              <a:buClr>
                <a:schemeClr val="dk1"/>
              </a:buClr>
              <a:buSzPts val="1800"/>
              <a:buChar char="•"/>
            </a:pPr>
            <a:r>
              <a:rPr lang="en-US"/>
              <a:t>We’ll mainly consider secondary indexes</a:t>
            </a:r>
            <a:endParaRPr/>
          </a:p>
        </p:txBody>
      </p:sp>
      <p:grpSp>
        <p:nvGrpSpPr>
          <p:cNvPr id="470" name="Google Shape;470;p36"/>
          <p:cNvGrpSpPr/>
          <p:nvPr/>
        </p:nvGrpSpPr>
        <p:grpSpPr>
          <a:xfrm>
            <a:off x="0" y="-22510"/>
            <a:ext cx="12192000" cy="307777"/>
            <a:chOff x="0" y="-22510"/>
            <a:chExt cx="12192000" cy="307777"/>
          </a:xfrm>
        </p:grpSpPr>
        <p:sp>
          <p:nvSpPr>
            <p:cNvPr id="471" name="Google Shape;471;p36"/>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472" name="Google Shape;472;p36"/>
            <p:cNvSpPr txBox="1"/>
            <p:nvPr/>
          </p:nvSpPr>
          <p:spPr>
            <a:xfrm>
              <a:off x="188780" y="-22510"/>
              <a:ext cx="207992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Indexes: Basics</a:t>
              </a:r>
              <a:endParaRPr/>
            </a:p>
          </p:txBody>
        </p:sp>
      </p:grpSp>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9">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Operations on an Index</a:t>
            </a:r>
            <a:endParaRPr/>
          </a:p>
        </p:txBody>
      </p:sp>
      <p:sp>
        <p:nvSpPr>
          <p:cNvPr id="478" name="Google Shape;478;p3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u="sng"/>
              <a:t>Search</a:t>
            </a:r>
            <a:r>
              <a:rPr lang="en-US"/>
              <a:t>: Quickly find all records which meet some </a:t>
            </a:r>
            <a:r>
              <a:rPr i="1" lang="en-US"/>
              <a:t>condition on the search key attributes</a:t>
            </a:r>
            <a:endParaRPr/>
          </a:p>
          <a:p>
            <a:pPr indent="-228600" lvl="1" marL="685800" rtl="0" algn="l">
              <a:lnSpc>
                <a:spcPct val="90000"/>
              </a:lnSpc>
              <a:spcBef>
                <a:spcPts val="500"/>
              </a:spcBef>
              <a:spcAft>
                <a:spcPts val="0"/>
              </a:spcAft>
              <a:buClr>
                <a:schemeClr val="dk1"/>
              </a:buClr>
              <a:buSzPts val="2800"/>
              <a:buChar char="•"/>
            </a:pPr>
            <a:r>
              <a:rPr lang="en-US" sz="2800"/>
              <a:t>More sophisticated variants as well. Why?</a:t>
            </a:r>
            <a:endParaRPr/>
          </a:p>
          <a:p>
            <a:pPr indent="-50800" lvl="1" marL="685800" rtl="0" algn="l">
              <a:lnSpc>
                <a:spcPct val="90000"/>
              </a:lnSpc>
              <a:spcBef>
                <a:spcPts val="500"/>
              </a:spcBef>
              <a:spcAft>
                <a:spcPts val="0"/>
              </a:spcAft>
              <a:buClr>
                <a:schemeClr val="dk1"/>
              </a:buClr>
              <a:buSzPts val="2800"/>
              <a:buNone/>
            </a:pPr>
            <a:r>
              <a:t/>
            </a:r>
            <a:endParaRPr sz="2800"/>
          </a:p>
          <a:p>
            <a:pPr indent="-228600" lvl="0" marL="228600" rtl="0" algn="l">
              <a:lnSpc>
                <a:spcPct val="90000"/>
              </a:lnSpc>
              <a:spcBef>
                <a:spcPts val="1000"/>
              </a:spcBef>
              <a:spcAft>
                <a:spcPts val="0"/>
              </a:spcAft>
              <a:buClr>
                <a:schemeClr val="dk1"/>
              </a:buClr>
              <a:buSzPts val="2800"/>
              <a:buChar char="•"/>
            </a:pPr>
            <a:r>
              <a:rPr lang="en-US" u="sng"/>
              <a:t>Insert / Remove</a:t>
            </a:r>
            <a:r>
              <a:rPr lang="en-US"/>
              <a:t> entries</a:t>
            </a:r>
            <a:endParaRPr/>
          </a:p>
          <a:p>
            <a:pPr indent="-228600" lvl="1" marL="685800" rtl="0" algn="l">
              <a:lnSpc>
                <a:spcPct val="90000"/>
              </a:lnSpc>
              <a:spcBef>
                <a:spcPts val="500"/>
              </a:spcBef>
              <a:spcAft>
                <a:spcPts val="0"/>
              </a:spcAft>
              <a:buClr>
                <a:schemeClr val="dk1"/>
              </a:buClr>
              <a:buSzPts val="2800"/>
              <a:buChar char="•"/>
            </a:pPr>
            <a:r>
              <a:rPr lang="en-US" sz="2800"/>
              <a:t>Bulk Load / Delete. Why?</a:t>
            </a:r>
            <a:endParaRPr/>
          </a:p>
          <a:p>
            <a:pPr indent="-50800" lvl="1" marL="685800" rtl="0" algn="l">
              <a:lnSpc>
                <a:spcPct val="90000"/>
              </a:lnSpc>
              <a:spcBef>
                <a:spcPts val="500"/>
              </a:spcBef>
              <a:spcAft>
                <a:spcPts val="0"/>
              </a:spcAft>
              <a:buClr>
                <a:schemeClr val="dk1"/>
              </a:buClr>
              <a:buSzPts val="2800"/>
              <a:buNone/>
            </a:pPr>
            <a:r>
              <a:t/>
            </a:r>
            <a:endParaRPr sz="2800"/>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479" name="Google Shape;479;p37"/>
          <p:cNvSpPr txBox="1"/>
          <p:nvPr/>
        </p:nvSpPr>
        <p:spPr>
          <a:xfrm>
            <a:off x="1890272" y="5234682"/>
            <a:ext cx="8411456" cy="1077218"/>
          </a:xfrm>
          <a:prstGeom prst="rect">
            <a:avLst/>
          </a:prstGeom>
          <a:solidFill>
            <a:srgbClr val="E1EFD8"/>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rgbClr val="000000"/>
                </a:solidFill>
                <a:latin typeface="Calibri"/>
                <a:ea typeface="Calibri"/>
                <a:cs typeface="Calibri"/>
                <a:sym typeface="Calibri"/>
              </a:rPr>
              <a:t>Indexing is one the most important features provided by a database for performance</a:t>
            </a:r>
            <a:endParaRPr/>
          </a:p>
        </p:txBody>
      </p:sp>
      <p:grpSp>
        <p:nvGrpSpPr>
          <p:cNvPr id="480" name="Google Shape;480;p37"/>
          <p:cNvGrpSpPr/>
          <p:nvPr/>
        </p:nvGrpSpPr>
        <p:grpSpPr>
          <a:xfrm>
            <a:off x="0" y="-22510"/>
            <a:ext cx="12192000" cy="307777"/>
            <a:chOff x="0" y="-22510"/>
            <a:chExt cx="12192000" cy="307777"/>
          </a:xfrm>
        </p:grpSpPr>
        <p:sp>
          <p:nvSpPr>
            <p:cNvPr id="481" name="Google Shape;481;p37"/>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482" name="Google Shape;482;p37"/>
            <p:cNvSpPr txBox="1"/>
            <p:nvPr/>
          </p:nvSpPr>
          <p:spPr>
            <a:xfrm>
              <a:off x="188780" y="-22510"/>
              <a:ext cx="207992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Indexes: Basics</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Conceptual Example</a:t>
            </a:r>
            <a:endParaRPr/>
          </a:p>
        </p:txBody>
      </p:sp>
      <p:sp>
        <p:nvSpPr>
          <p:cNvPr id="488" name="Google Shape;488;p38"/>
          <p:cNvSpPr txBox="1"/>
          <p:nvPr>
            <p:ph idx="1" type="body"/>
          </p:nvPr>
        </p:nvSpPr>
        <p:spPr>
          <a:xfrm>
            <a:off x="838200" y="4383741"/>
            <a:ext cx="10515600" cy="1793222"/>
          </a:xfrm>
          <a:prstGeom prst="rect">
            <a:avLst/>
          </a:prstGeom>
          <a:noFill/>
          <a:ln>
            <a:noFill/>
          </a:ln>
        </p:spPr>
        <p:txBody>
          <a:bodyPr anchorCtr="0" anchor="t" bIns="45700" lIns="91425" spcFirstLastPara="1" rIns="91425" wrap="square" tIns="45700">
            <a:normAutofit/>
          </a:bodyPr>
          <a:lstStyle/>
          <a:p>
            <a:pPr indent="0" lvl="1" marL="457200" rtl="0" algn="l">
              <a:lnSpc>
                <a:spcPct val="90000"/>
              </a:lnSpc>
              <a:spcBef>
                <a:spcPts val="0"/>
              </a:spcBef>
              <a:spcAft>
                <a:spcPts val="0"/>
              </a:spcAft>
              <a:buClr>
                <a:schemeClr val="dk1"/>
              </a:buClr>
              <a:buSzPts val="2800"/>
              <a:buNone/>
            </a:pPr>
            <a:r>
              <a:t/>
            </a:r>
            <a:endParaRPr sz="2800"/>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489" name="Google Shape;489;p38"/>
          <p:cNvSpPr txBox="1"/>
          <p:nvPr/>
        </p:nvSpPr>
        <p:spPr>
          <a:xfrm>
            <a:off x="838200" y="1914263"/>
            <a:ext cx="3801035" cy="26776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What if we want to return all books published after 1867?  The above table might be very expensive to search over row-by-row…</a:t>
            </a:r>
            <a:endParaRPr/>
          </a:p>
        </p:txBody>
      </p:sp>
      <p:sp>
        <p:nvSpPr>
          <p:cNvPr id="490" name="Google Shape;490;p38"/>
          <p:cNvSpPr/>
          <p:nvPr/>
        </p:nvSpPr>
        <p:spPr>
          <a:xfrm>
            <a:off x="3958235" y="5023407"/>
            <a:ext cx="4275529" cy="1200329"/>
          </a:xfrm>
          <a:prstGeom prst="rect">
            <a:avLst/>
          </a:prstGeom>
          <a:solidFill>
            <a:schemeClr val="lt1"/>
          </a:solidFill>
          <a:ln cap="flat" cmpd="sng" w="9525">
            <a:solidFill>
              <a:schemeClr val="dk1"/>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accent2"/>
                </a:solidFill>
                <a:latin typeface="Arial"/>
                <a:ea typeface="Arial"/>
                <a:cs typeface="Arial"/>
                <a:sym typeface="Arial"/>
              </a:rPr>
              <a:t>SELECT </a:t>
            </a:r>
            <a:r>
              <a:rPr lang="en-US" sz="2400">
                <a:solidFill>
                  <a:schemeClr val="dk1"/>
                </a:solidFill>
                <a:latin typeface="Arial"/>
                <a:ea typeface="Arial"/>
                <a:cs typeface="Arial"/>
                <a:sym typeface="Arial"/>
              </a:rPr>
              <a:t>*</a:t>
            </a:r>
            <a:endParaRPr/>
          </a:p>
          <a:p>
            <a:pPr indent="0" lvl="0" marL="0" marR="0" rtl="0" algn="l">
              <a:spcBef>
                <a:spcPts val="0"/>
              </a:spcBef>
              <a:spcAft>
                <a:spcPts val="0"/>
              </a:spcAft>
              <a:buNone/>
            </a:pPr>
            <a:r>
              <a:rPr lang="en-US" sz="2400">
                <a:solidFill>
                  <a:schemeClr val="accent2"/>
                </a:solidFill>
                <a:latin typeface="Arial"/>
                <a:ea typeface="Arial"/>
                <a:cs typeface="Arial"/>
                <a:sym typeface="Arial"/>
              </a:rPr>
              <a:t>FROM </a:t>
            </a:r>
            <a:r>
              <a:rPr lang="en-US" sz="2400">
                <a:solidFill>
                  <a:schemeClr val="dk1"/>
                </a:solidFill>
                <a:latin typeface="Arial"/>
                <a:ea typeface="Arial"/>
                <a:cs typeface="Arial"/>
                <a:sym typeface="Arial"/>
              </a:rPr>
              <a:t>Russian_Novels</a:t>
            </a:r>
            <a:br>
              <a:rPr lang="en-US" sz="2400">
                <a:solidFill>
                  <a:schemeClr val="accent2"/>
                </a:solidFill>
                <a:latin typeface="Arial"/>
                <a:ea typeface="Arial"/>
                <a:cs typeface="Arial"/>
                <a:sym typeface="Arial"/>
              </a:rPr>
            </a:br>
            <a:r>
              <a:rPr lang="en-US" sz="2400">
                <a:solidFill>
                  <a:schemeClr val="accent2"/>
                </a:solidFill>
                <a:latin typeface="Arial"/>
                <a:ea typeface="Arial"/>
                <a:cs typeface="Arial"/>
                <a:sym typeface="Arial"/>
              </a:rPr>
              <a:t>WHERE </a:t>
            </a:r>
            <a:r>
              <a:rPr lang="en-US" sz="2400">
                <a:solidFill>
                  <a:schemeClr val="dk1"/>
                </a:solidFill>
                <a:latin typeface="Arial"/>
                <a:ea typeface="Arial"/>
                <a:cs typeface="Arial"/>
                <a:sym typeface="Arial"/>
              </a:rPr>
              <a:t>Published &gt; 1867</a:t>
            </a:r>
            <a:endParaRPr/>
          </a:p>
        </p:txBody>
      </p:sp>
      <p:graphicFrame>
        <p:nvGraphicFramePr>
          <p:cNvPr id="491" name="Google Shape;491;p38"/>
          <p:cNvGraphicFramePr/>
          <p:nvPr/>
        </p:nvGraphicFramePr>
        <p:xfrm>
          <a:off x="5106895" y="2122176"/>
          <a:ext cx="3000000" cy="3000000"/>
        </p:xfrm>
        <a:graphic>
          <a:graphicData uri="http://schemas.openxmlformats.org/drawingml/2006/table">
            <a:tbl>
              <a:tblPr bandRow="1" firstRow="1">
                <a:noFill/>
                <a:tableStyleId>{D9526B5B-6CDD-4122-98FE-1D09106A2390}</a:tableStyleId>
              </a:tblPr>
              <a:tblGrid>
                <a:gridCol w="635000"/>
                <a:gridCol w="1613650"/>
                <a:gridCol w="1499500"/>
                <a:gridCol w="1249375"/>
                <a:gridCol w="1249375"/>
              </a:tblGrid>
              <a:tr h="299200">
                <a:tc>
                  <a:txBody>
                    <a:bodyPr/>
                    <a:lstStyle/>
                    <a:p>
                      <a:pPr indent="0" lvl="0" marL="0" marR="0" rtl="0" algn="l">
                        <a:spcBef>
                          <a:spcPts val="0"/>
                        </a:spcBef>
                        <a:spcAft>
                          <a:spcPts val="0"/>
                        </a:spcAft>
                        <a:buNone/>
                      </a:pPr>
                      <a:r>
                        <a:rPr lang="en-US" sz="1800" u="none" cap="none" strike="noStrike"/>
                        <a:t>BID</a:t>
                      </a:r>
                      <a:endParaRPr/>
                    </a:p>
                  </a:txBody>
                  <a:tcPr marT="45725" marB="45725" marR="91450" marL="91450"/>
                </a:tc>
                <a:tc>
                  <a:txBody>
                    <a:bodyPr/>
                    <a:lstStyle/>
                    <a:p>
                      <a:pPr indent="0" lvl="0" marL="0" marR="0" rtl="0" algn="l">
                        <a:spcBef>
                          <a:spcPts val="0"/>
                        </a:spcBef>
                        <a:spcAft>
                          <a:spcPts val="0"/>
                        </a:spcAft>
                        <a:buNone/>
                      </a:pPr>
                      <a:r>
                        <a:rPr lang="en-US" sz="1800"/>
                        <a:t>Title</a:t>
                      </a:r>
                      <a:endParaRPr/>
                    </a:p>
                  </a:txBody>
                  <a:tcPr marT="45725" marB="45725" marR="91450" marL="91450"/>
                </a:tc>
                <a:tc>
                  <a:txBody>
                    <a:bodyPr/>
                    <a:lstStyle/>
                    <a:p>
                      <a:pPr indent="0" lvl="0" marL="0" marR="0" rtl="0" algn="l">
                        <a:spcBef>
                          <a:spcPts val="0"/>
                        </a:spcBef>
                        <a:spcAft>
                          <a:spcPts val="0"/>
                        </a:spcAft>
                        <a:buNone/>
                      </a:pPr>
                      <a:r>
                        <a:rPr lang="en-US" sz="1800"/>
                        <a:t>Author</a:t>
                      </a:r>
                      <a:endParaRPr/>
                    </a:p>
                  </a:txBody>
                  <a:tcPr marT="45725" marB="45725" marR="91450" marL="91450"/>
                </a:tc>
                <a:tc>
                  <a:txBody>
                    <a:bodyPr/>
                    <a:lstStyle/>
                    <a:p>
                      <a:pPr indent="0" lvl="0" marL="0" marR="0" rtl="0" algn="l">
                        <a:spcBef>
                          <a:spcPts val="0"/>
                        </a:spcBef>
                        <a:spcAft>
                          <a:spcPts val="0"/>
                        </a:spcAft>
                        <a:buNone/>
                      </a:pPr>
                      <a:r>
                        <a:rPr lang="en-US" sz="1800"/>
                        <a:t>Published</a:t>
                      </a:r>
                      <a:endParaRPr/>
                    </a:p>
                  </a:txBody>
                  <a:tcPr marT="45725" marB="45725" marR="91450" marL="91450"/>
                </a:tc>
                <a:tc>
                  <a:txBody>
                    <a:bodyPr/>
                    <a:lstStyle/>
                    <a:p>
                      <a:pPr indent="0" lvl="0" marL="0" marR="0" rtl="0" algn="l">
                        <a:spcBef>
                          <a:spcPts val="0"/>
                        </a:spcBef>
                        <a:spcAft>
                          <a:spcPts val="0"/>
                        </a:spcAft>
                        <a:buNone/>
                      </a:pPr>
                      <a:r>
                        <a:rPr lang="en-US" sz="1800"/>
                        <a:t>Full_text</a:t>
                      </a:r>
                      <a:endParaRPr sz="1800"/>
                    </a:p>
                  </a:txBody>
                  <a:tcPr marT="45725" marB="45725" marR="91450" marL="91450"/>
                </a:tc>
              </a:tr>
              <a:tr h="516500">
                <a:tc>
                  <a:txBody>
                    <a:bodyPr/>
                    <a:lstStyle/>
                    <a:p>
                      <a:pPr indent="0" lvl="0" marL="0" marR="0" rtl="0" algn="l">
                        <a:spcBef>
                          <a:spcPts val="0"/>
                        </a:spcBef>
                        <a:spcAft>
                          <a:spcPts val="0"/>
                        </a:spcAft>
                        <a:buNone/>
                      </a:pPr>
                      <a:r>
                        <a:rPr lang="en-US" sz="1800"/>
                        <a:t>001</a:t>
                      </a:r>
                      <a:endParaRPr/>
                    </a:p>
                  </a:txBody>
                  <a:tcPr marT="45725" marB="45725" marR="91450" marL="91450"/>
                </a:tc>
                <a:tc>
                  <a:txBody>
                    <a:bodyPr/>
                    <a:lstStyle/>
                    <a:p>
                      <a:pPr indent="0" lvl="0" marL="0" marR="0" rtl="0" algn="l">
                        <a:spcBef>
                          <a:spcPts val="0"/>
                        </a:spcBef>
                        <a:spcAft>
                          <a:spcPts val="0"/>
                        </a:spcAft>
                        <a:buNone/>
                      </a:pPr>
                      <a:r>
                        <a:rPr i="1" lang="en-US" sz="1800"/>
                        <a:t>War and Peace</a:t>
                      </a:r>
                      <a:endParaRPr/>
                    </a:p>
                  </a:txBody>
                  <a:tcPr marT="45725" marB="45725" marR="91450" marL="91450"/>
                </a:tc>
                <a:tc>
                  <a:txBody>
                    <a:bodyPr/>
                    <a:lstStyle/>
                    <a:p>
                      <a:pPr indent="0" lvl="0" marL="0" marR="0" rtl="0" algn="l">
                        <a:spcBef>
                          <a:spcPts val="0"/>
                        </a:spcBef>
                        <a:spcAft>
                          <a:spcPts val="0"/>
                        </a:spcAft>
                        <a:buNone/>
                      </a:pPr>
                      <a:r>
                        <a:rPr lang="en-US" sz="1800"/>
                        <a:t>Tolstoy</a:t>
                      </a:r>
                      <a:endParaRPr/>
                    </a:p>
                  </a:txBody>
                  <a:tcPr marT="45725" marB="45725" marR="91450" marL="91450"/>
                </a:tc>
                <a:tc>
                  <a:txBody>
                    <a:bodyPr/>
                    <a:lstStyle/>
                    <a:p>
                      <a:pPr indent="0" lvl="0" marL="0" marR="0" rtl="0" algn="l">
                        <a:spcBef>
                          <a:spcPts val="0"/>
                        </a:spcBef>
                        <a:spcAft>
                          <a:spcPts val="0"/>
                        </a:spcAft>
                        <a:buNone/>
                      </a:pPr>
                      <a:r>
                        <a:rPr lang="en-US" sz="1800"/>
                        <a:t>1869</a:t>
                      </a:r>
                      <a:endParaRPr/>
                    </a:p>
                  </a:txBody>
                  <a:tcPr marT="45725" marB="45725" marR="91450" marL="91450"/>
                </a:tc>
                <a:tc>
                  <a:txBody>
                    <a:bodyPr/>
                    <a:lstStyle/>
                    <a:p>
                      <a:pPr indent="0" lvl="0" marL="0" marR="0" rtl="0" algn="l">
                        <a:spcBef>
                          <a:spcPts val="0"/>
                        </a:spcBef>
                        <a:spcAft>
                          <a:spcPts val="0"/>
                        </a:spcAft>
                        <a:buNone/>
                      </a:pPr>
                      <a:r>
                        <a:rPr lang="en-US" sz="1800"/>
                        <a:t>…</a:t>
                      </a:r>
                      <a:endParaRPr/>
                    </a:p>
                  </a:txBody>
                  <a:tcPr marT="45725" marB="45725" marR="91450" marL="91450"/>
                </a:tc>
              </a:tr>
              <a:tr h="516500">
                <a:tc>
                  <a:txBody>
                    <a:bodyPr/>
                    <a:lstStyle/>
                    <a:p>
                      <a:pPr indent="0" lvl="0" marL="0" marR="0" rtl="0" algn="l">
                        <a:spcBef>
                          <a:spcPts val="0"/>
                        </a:spcBef>
                        <a:spcAft>
                          <a:spcPts val="0"/>
                        </a:spcAft>
                        <a:buNone/>
                      </a:pPr>
                      <a:r>
                        <a:rPr lang="en-US" sz="1800"/>
                        <a:t>002</a:t>
                      </a:r>
                      <a:endParaRPr/>
                    </a:p>
                  </a:txBody>
                  <a:tcPr marT="45725" marB="45725" marR="91450" marL="91450"/>
                </a:tc>
                <a:tc>
                  <a:txBody>
                    <a:bodyPr/>
                    <a:lstStyle/>
                    <a:p>
                      <a:pPr indent="0" lvl="0" marL="0" marR="0" rtl="0" algn="l">
                        <a:spcBef>
                          <a:spcPts val="0"/>
                        </a:spcBef>
                        <a:spcAft>
                          <a:spcPts val="0"/>
                        </a:spcAft>
                        <a:buNone/>
                      </a:pPr>
                      <a:r>
                        <a:rPr i="1" lang="en-US" sz="1800"/>
                        <a:t>Crime and Punishment</a:t>
                      </a:r>
                      <a:endParaRPr/>
                    </a:p>
                  </a:txBody>
                  <a:tcPr marT="45725" marB="45725" marR="91450" marL="91450"/>
                </a:tc>
                <a:tc>
                  <a:txBody>
                    <a:bodyPr/>
                    <a:lstStyle/>
                    <a:p>
                      <a:pPr indent="0" lvl="0" marL="0" marR="0" rtl="0" algn="l">
                        <a:spcBef>
                          <a:spcPts val="0"/>
                        </a:spcBef>
                        <a:spcAft>
                          <a:spcPts val="0"/>
                        </a:spcAft>
                        <a:buNone/>
                      </a:pPr>
                      <a:r>
                        <a:rPr lang="en-US" sz="1800"/>
                        <a:t>Dostoyevsky</a:t>
                      </a:r>
                      <a:endParaRPr/>
                    </a:p>
                  </a:txBody>
                  <a:tcPr marT="45725" marB="45725" marR="91450" marL="91450"/>
                </a:tc>
                <a:tc>
                  <a:txBody>
                    <a:bodyPr/>
                    <a:lstStyle/>
                    <a:p>
                      <a:pPr indent="0" lvl="0" marL="0" marR="0" rtl="0" algn="l">
                        <a:spcBef>
                          <a:spcPts val="0"/>
                        </a:spcBef>
                        <a:spcAft>
                          <a:spcPts val="0"/>
                        </a:spcAft>
                        <a:buNone/>
                      </a:pPr>
                      <a:r>
                        <a:rPr lang="en-US" sz="1800"/>
                        <a:t>1866</a:t>
                      </a:r>
                      <a:endParaRPr/>
                    </a:p>
                  </a:txBody>
                  <a:tcPr marT="45725" marB="45725" marR="91450" marL="91450"/>
                </a:tc>
                <a:tc>
                  <a:txBody>
                    <a:bodyPr/>
                    <a:lstStyle/>
                    <a:p>
                      <a:pPr indent="0" lvl="0" marL="0" marR="0" rtl="0" algn="l">
                        <a:spcBef>
                          <a:spcPts val="0"/>
                        </a:spcBef>
                        <a:spcAft>
                          <a:spcPts val="0"/>
                        </a:spcAft>
                        <a:buNone/>
                      </a:pPr>
                      <a:r>
                        <a:rPr lang="en-US" sz="1800"/>
                        <a:t>…</a:t>
                      </a:r>
                      <a:endParaRPr/>
                    </a:p>
                  </a:txBody>
                  <a:tcPr marT="45725" marB="45725" marR="91450" marL="91450"/>
                </a:tc>
              </a:tr>
              <a:tr h="516500">
                <a:tc>
                  <a:txBody>
                    <a:bodyPr/>
                    <a:lstStyle/>
                    <a:p>
                      <a:pPr indent="0" lvl="0" marL="0" marR="0" rtl="0" algn="l">
                        <a:spcBef>
                          <a:spcPts val="0"/>
                        </a:spcBef>
                        <a:spcAft>
                          <a:spcPts val="0"/>
                        </a:spcAft>
                        <a:buNone/>
                      </a:pPr>
                      <a:r>
                        <a:rPr lang="en-US" sz="1800"/>
                        <a:t>003</a:t>
                      </a:r>
                      <a:endParaRPr/>
                    </a:p>
                  </a:txBody>
                  <a:tcPr marT="45725" marB="45725" marR="91450" marL="91450"/>
                </a:tc>
                <a:tc>
                  <a:txBody>
                    <a:bodyPr/>
                    <a:lstStyle/>
                    <a:p>
                      <a:pPr indent="0" lvl="0" marL="0" marR="0" rtl="0" algn="l">
                        <a:spcBef>
                          <a:spcPts val="0"/>
                        </a:spcBef>
                        <a:spcAft>
                          <a:spcPts val="0"/>
                        </a:spcAft>
                        <a:buNone/>
                      </a:pPr>
                      <a:r>
                        <a:rPr i="1" lang="en-US" sz="1800"/>
                        <a:t>Anna Karenina</a:t>
                      </a:r>
                      <a:endParaRPr/>
                    </a:p>
                  </a:txBody>
                  <a:tcPr marT="45725" marB="45725" marR="91450" marL="91450"/>
                </a:tc>
                <a:tc>
                  <a:txBody>
                    <a:bodyPr/>
                    <a:lstStyle/>
                    <a:p>
                      <a:pPr indent="0" lvl="0" marL="0" marR="0" rtl="0" algn="l">
                        <a:spcBef>
                          <a:spcPts val="0"/>
                        </a:spcBef>
                        <a:spcAft>
                          <a:spcPts val="0"/>
                        </a:spcAft>
                        <a:buNone/>
                      </a:pPr>
                      <a:r>
                        <a:rPr lang="en-US" sz="1800"/>
                        <a:t>Tolstoy</a:t>
                      </a:r>
                      <a:endParaRPr/>
                    </a:p>
                  </a:txBody>
                  <a:tcPr marT="45725" marB="45725" marR="91450" marL="91450"/>
                </a:tc>
                <a:tc>
                  <a:txBody>
                    <a:bodyPr/>
                    <a:lstStyle/>
                    <a:p>
                      <a:pPr indent="0" lvl="0" marL="0" marR="0" rtl="0" algn="l">
                        <a:spcBef>
                          <a:spcPts val="0"/>
                        </a:spcBef>
                        <a:spcAft>
                          <a:spcPts val="0"/>
                        </a:spcAft>
                        <a:buNone/>
                      </a:pPr>
                      <a:r>
                        <a:rPr lang="en-US" sz="1800"/>
                        <a:t>1877</a:t>
                      </a:r>
                      <a:endParaRPr/>
                    </a:p>
                  </a:txBody>
                  <a:tcPr marT="45725" marB="45725" marR="91450" marL="91450"/>
                </a:tc>
                <a:tc>
                  <a:txBody>
                    <a:bodyPr/>
                    <a:lstStyle/>
                    <a:p>
                      <a:pPr indent="0" lvl="0" marL="0" marR="0" rtl="0" algn="l">
                        <a:spcBef>
                          <a:spcPts val="0"/>
                        </a:spcBef>
                        <a:spcAft>
                          <a:spcPts val="0"/>
                        </a:spcAft>
                        <a:buNone/>
                      </a:pPr>
                      <a:r>
                        <a:rPr lang="en-US" sz="1800"/>
                        <a:t>…</a:t>
                      </a:r>
                      <a:endParaRPr/>
                    </a:p>
                  </a:txBody>
                  <a:tcPr marT="45725" marB="45725" marR="91450" marL="91450"/>
                </a:tc>
              </a:tr>
            </a:tbl>
          </a:graphicData>
        </a:graphic>
      </p:graphicFrame>
      <p:sp>
        <p:nvSpPr>
          <p:cNvPr id="492" name="Google Shape;492;p38"/>
          <p:cNvSpPr txBox="1"/>
          <p:nvPr/>
        </p:nvSpPr>
        <p:spPr>
          <a:xfrm>
            <a:off x="5106895" y="1612211"/>
            <a:ext cx="278794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Russian_Novels</a:t>
            </a:r>
            <a:endParaRPr b="1" sz="2400">
              <a:solidFill>
                <a:schemeClr val="accent2"/>
              </a:solidFill>
              <a:latin typeface="Arial"/>
              <a:ea typeface="Arial"/>
              <a:cs typeface="Arial"/>
              <a:sym typeface="Arial"/>
            </a:endParaRPr>
          </a:p>
        </p:txBody>
      </p:sp>
      <p:grpSp>
        <p:nvGrpSpPr>
          <p:cNvPr id="493" name="Google Shape;493;p38"/>
          <p:cNvGrpSpPr/>
          <p:nvPr/>
        </p:nvGrpSpPr>
        <p:grpSpPr>
          <a:xfrm>
            <a:off x="0" y="-22510"/>
            <a:ext cx="12192000" cy="307777"/>
            <a:chOff x="0" y="-22510"/>
            <a:chExt cx="12192000" cy="307777"/>
          </a:xfrm>
        </p:grpSpPr>
        <p:sp>
          <p:nvSpPr>
            <p:cNvPr id="494" name="Google Shape;494;p38"/>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495" name="Google Shape;495;p38"/>
            <p:cNvSpPr txBox="1"/>
            <p:nvPr/>
          </p:nvSpPr>
          <p:spPr>
            <a:xfrm>
              <a:off x="188780" y="-22510"/>
              <a:ext cx="207992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Indexes: Basics</a:t>
              </a:r>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Conceptual Example</a:t>
            </a:r>
            <a:endParaRPr/>
          </a:p>
        </p:txBody>
      </p:sp>
      <p:graphicFrame>
        <p:nvGraphicFramePr>
          <p:cNvPr id="501" name="Google Shape;501;p39"/>
          <p:cNvGraphicFramePr/>
          <p:nvPr/>
        </p:nvGraphicFramePr>
        <p:xfrm>
          <a:off x="5106895" y="2122176"/>
          <a:ext cx="3000000" cy="3000000"/>
        </p:xfrm>
        <a:graphic>
          <a:graphicData uri="http://schemas.openxmlformats.org/drawingml/2006/table">
            <a:tbl>
              <a:tblPr bandRow="1" firstRow="1">
                <a:noFill/>
                <a:tableStyleId>{D9526B5B-6CDD-4122-98FE-1D09106A2390}</a:tableStyleId>
              </a:tblPr>
              <a:tblGrid>
                <a:gridCol w="635000"/>
                <a:gridCol w="1613650"/>
                <a:gridCol w="1499500"/>
                <a:gridCol w="1249375"/>
                <a:gridCol w="1249375"/>
              </a:tblGrid>
              <a:tr h="299200">
                <a:tc>
                  <a:txBody>
                    <a:bodyPr/>
                    <a:lstStyle/>
                    <a:p>
                      <a:pPr indent="0" lvl="0" marL="0" marR="0" rtl="0" algn="l">
                        <a:spcBef>
                          <a:spcPts val="0"/>
                        </a:spcBef>
                        <a:spcAft>
                          <a:spcPts val="0"/>
                        </a:spcAft>
                        <a:buNone/>
                      </a:pPr>
                      <a:r>
                        <a:rPr lang="en-US" sz="1800"/>
                        <a:t>BID</a:t>
                      </a:r>
                      <a:endParaRPr/>
                    </a:p>
                  </a:txBody>
                  <a:tcPr marT="45725" marB="45725" marR="91450" marL="91450"/>
                </a:tc>
                <a:tc>
                  <a:txBody>
                    <a:bodyPr/>
                    <a:lstStyle/>
                    <a:p>
                      <a:pPr indent="0" lvl="0" marL="0" marR="0" rtl="0" algn="l">
                        <a:spcBef>
                          <a:spcPts val="0"/>
                        </a:spcBef>
                        <a:spcAft>
                          <a:spcPts val="0"/>
                        </a:spcAft>
                        <a:buNone/>
                      </a:pPr>
                      <a:r>
                        <a:rPr lang="en-US" sz="1800"/>
                        <a:t>Title</a:t>
                      </a:r>
                      <a:endParaRPr/>
                    </a:p>
                  </a:txBody>
                  <a:tcPr marT="45725" marB="45725" marR="91450" marL="91450"/>
                </a:tc>
                <a:tc>
                  <a:txBody>
                    <a:bodyPr/>
                    <a:lstStyle/>
                    <a:p>
                      <a:pPr indent="0" lvl="0" marL="0" marR="0" rtl="0" algn="l">
                        <a:spcBef>
                          <a:spcPts val="0"/>
                        </a:spcBef>
                        <a:spcAft>
                          <a:spcPts val="0"/>
                        </a:spcAft>
                        <a:buNone/>
                      </a:pPr>
                      <a:r>
                        <a:rPr lang="en-US" sz="1800"/>
                        <a:t>Author</a:t>
                      </a:r>
                      <a:endParaRPr/>
                    </a:p>
                  </a:txBody>
                  <a:tcPr marT="45725" marB="45725" marR="91450" marL="91450"/>
                </a:tc>
                <a:tc>
                  <a:txBody>
                    <a:bodyPr/>
                    <a:lstStyle/>
                    <a:p>
                      <a:pPr indent="0" lvl="0" marL="0" marR="0" rtl="0" algn="l">
                        <a:spcBef>
                          <a:spcPts val="0"/>
                        </a:spcBef>
                        <a:spcAft>
                          <a:spcPts val="0"/>
                        </a:spcAft>
                        <a:buNone/>
                      </a:pPr>
                      <a:r>
                        <a:rPr lang="en-US" sz="1800"/>
                        <a:t>Published</a:t>
                      </a:r>
                      <a:endParaRPr/>
                    </a:p>
                  </a:txBody>
                  <a:tcPr marT="45725" marB="45725" marR="91450" marL="91450"/>
                </a:tc>
                <a:tc>
                  <a:txBody>
                    <a:bodyPr/>
                    <a:lstStyle/>
                    <a:p>
                      <a:pPr indent="0" lvl="0" marL="0" marR="0" rtl="0" algn="l">
                        <a:spcBef>
                          <a:spcPts val="0"/>
                        </a:spcBef>
                        <a:spcAft>
                          <a:spcPts val="0"/>
                        </a:spcAft>
                        <a:buNone/>
                      </a:pPr>
                      <a:r>
                        <a:rPr lang="en-US" sz="1800"/>
                        <a:t>Full_text</a:t>
                      </a:r>
                      <a:endParaRPr sz="1800"/>
                    </a:p>
                  </a:txBody>
                  <a:tcPr marT="45725" marB="45725" marR="91450" marL="91450"/>
                </a:tc>
              </a:tr>
              <a:tr h="516500">
                <a:tc>
                  <a:txBody>
                    <a:bodyPr/>
                    <a:lstStyle/>
                    <a:p>
                      <a:pPr indent="0" lvl="0" marL="0" marR="0" rtl="0" algn="l">
                        <a:spcBef>
                          <a:spcPts val="0"/>
                        </a:spcBef>
                        <a:spcAft>
                          <a:spcPts val="0"/>
                        </a:spcAft>
                        <a:buNone/>
                      </a:pPr>
                      <a:r>
                        <a:rPr lang="en-US" sz="1800"/>
                        <a:t>001</a:t>
                      </a:r>
                      <a:endParaRPr/>
                    </a:p>
                  </a:txBody>
                  <a:tcPr marT="45725" marB="45725" marR="91450" marL="91450"/>
                </a:tc>
                <a:tc>
                  <a:txBody>
                    <a:bodyPr/>
                    <a:lstStyle/>
                    <a:p>
                      <a:pPr indent="0" lvl="0" marL="0" marR="0" rtl="0" algn="l">
                        <a:spcBef>
                          <a:spcPts val="0"/>
                        </a:spcBef>
                        <a:spcAft>
                          <a:spcPts val="0"/>
                        </a:spcAft>
                        <a:buNone/>
                      </a:pPr>
                      <a:r>
                        <a:rPr i="1" lang="en-US" sz="1800"/>
                        <a:t>War and Peace</a:t>
                      </a:r>
                      <a:endParaRPr/>
                    </a:p>
                  </a:txBody>
                  <a:tcPr marT="45725" marB="45725" marR="91450" marL="91450"/>
                </a:tc>
                <a:tc>
                  <a:txBody>
                    <a:bodyPr/>
                    <a:lstStyle/>
                    <a:p>
                      <a:pPr indent="0" lvl="0" marL="0" marR="0" rtl="0" algn="l">
                        <a:spcBef>
                          <a:spcPts val="0"/>
                        </a:spcBef>
                        <a:spcAft>
                          <a:spcPts val="0"/>
                        </a:spcAft>
                        <a:buNone/>
                      </a:pPr>
                      <a:r>
                        <a:rPr lang="en-US" sz="1800"/>
                        <a:t>Tolstoy</a:t>
                      </a:r>
                      <a:endParaRPr/>
                    </a:p>
                  </a:txBody>
                  <a:tcPr marT="45725" marB="45725" marR="91450" marL="91450"/>
                </a:tc>
                <a:tc>
                  <a:txBody>
                    <a:bodyPr/>
                    <a:lstStyle/>
                    <a:p>
                      <a:pPr indent="0" lvl="0" marL="0" marR="0" rtl="0" algn="l">
                        <a:spcBef>
                          <a:spcPts val="0"/>
                        </a:spcBef>
                        <a:spcAft>
                          <a:spcPts val="0"/>
                        </a:spcAft>
                        <a:buNone/>
                      </a:pPr>
                      <a:r>
                        <a:rPr lang="en-US" sz="1800"/>
                        <a:t>1869</a:t>
                      </a:r>
                      <a:endParaRPr/>
                    </a:p>
                  </a:txBody>
                  <a:tcPr marT="45725" marB="45725" marR="91450" marL="91450"/>
                </a:tc>
                <a:tc>
                  <a:txBody>
                    <a:bodyPr/>
                    <a:lstStyle/>
                    <a:p>
                      <a:pPr indent="0" lvl="0" marL="0" marR="0" rtl="0" algn="l">
                        <a:spcBef>
                          <a:spcPts val="0"/>
                        </a:spcBef>
                        <a:spcAft>
                          <a:spcPts val="0"/>
                        </a:spcAft>
                        <a:buNone/>
                      </a:pPr>
                      <a:r>
                        <a:rPr lang="en-US" sz="1800"/>
                        <a:t>…</a:t>
                      </a:r>
                      <a:endParaRPr/>
                    </a:p>
                  </a:txBody>
                  <a:tcPr marT="45725" marB="45725" marR="91450" marL="91450"/>
                </a:tc>
              </a:tr>
              <a:tr h="516500">
                <a:tc>
                  <a:txBody>
                    <a:bodyPr/>
                    <a:lstStyle/>
                    <a:p>
                      <a:pPr indent="0" lvl="0" marL="0" marR="0" rtl="0" algn="l">
                        <a:spcBef>
                          <a:spcPts val="0"/>
                        </a:spcBef>
                        <a:spcAft>
                          <a:spcPts val="0"/>
                        </a:spcAft>
                        <a:buNone/>
                      </a:pPr>
                      <a:r>
                        <a:rPr lang="en-US" sz="1800"/>
                        <a:t>002</a:t>
                      </a:r>
                      <a:endParaRPr/>
                    </a:p>
                  </a:txBody>
                  <a:tcPr marT="45725" marB="45725" marR="91450" marL="91450"/>
                </a:tc>
                <a:tc>
                  <a:txBody>
                    <a:bodyPr/>
                    <a:lstStyle/>
                    <a:p>
                      <a:pPr indent="0" lvl="0" marL="0" marR="0" rtl="0" algn="l">
                        <a:spcBef>
                          <a:spcPts val="0"/>
                        </a:spcBef>
                        <a:spcAft>
                          <a:spcPts val="0"/>
                        </a:spcAft>
                        <a:buNone/>
                      </a:pPr>
                      <a:r>
                        <a:rPr i="1" lang="en-US" sz="1800"/>
                        <a:t>Crime and Punishment</a:t>
                      </a:r>
                      <a:endParaRPr/>
                    </a:p>
                  </a:txBody>
                  <a:tcPr marT="45725" marB="45725" marR="91450" marL="91450"/>
                </a:tc>
                <a:tc>
                  <a:txBody>
                    <a:bodyPr/>
                    <a:lstStyle/>
                    <a:p>
                      <a:pPr indent="0" lvl="0" marL="0" marR="0" rtl="0" algn="l">
                        <a:spcBef>
                          <a:spcPts val="0"/>
                        </a:spcBef>
                        <a:spcAft>
                          <a:spcPts val="0"/>
                        </a:spcAft>
                        <a:buNone/>
                      </a:pPr>
                      <a:r>
                        <a:rPr lang="en-US" sz="1800"/>
                        <a:t>Dostoyevsky</a:t>
                      </a:r>
                      <a:endParaRPr/>
                    </a:p>
                  </a:txBody>
                  <a:tcPr marT="45725" marB="45725" marR="91450" marL="91450"/>
                </a:tc>
                <a:tc>
                  <a:txBody>
                    <a:bodyPr/>
                    <a:lstStyle/>
                    <a:p>
                      <a:pPr indent="0" lvl="0" marL="0" marR="0" rtl="0" algn="l">
                        <a:spcBef>
                          <a:spcPts val="0"/>
                        </a:spcBef>
                        <a:spcAft>
                          <a:spcPts val="0"/>
                        </a:spcAft>
                        <a:buNone/>
                      </a:pPr>
                      <a:r>
                        <a:rPr lang="en-US" sz="1800"/>
                        <a:t>1866</a:t>
                      </a:r>
                      <a:endParaRPr/>
                    </a:p>
                  </a:txBody>
                  <a:tcPr marT="45725" marB="45725" marR="91450" marL="91450"/>
                </a:tc>
                <a:tc>
                  <a:txBody>
                    <a:bodyPr/>
                    <a:lstStyle/>
                    <a:p>
                      <a:pPr indent="0" lvl="0" marL="0" marR="0" rtl="0" algn="l">
                        <a:spcBef>
                          <a:spcPts val="0"/>
                        </a:spcBef>
                        <a:spcAft>
                          <a:spcPts val="0"/>
                        </a:spcAft>
                        <a:buNone/>
                      </a:pPr>
                      <a:r>
                        <a:rPr lang="en-US" sz="1800"/>
                        <a:t>…</a:t>
                      </a:r>
                      <a:endParaRPr/>
                    </a:p>
                  </a:txBody>
                  <a:tcPr marT="45725" marB="45725" marR="91450" marL="91450"/>
                </a:tc>
              </a:tr>
              <a:tr h="516500">
                <a:tc>
                  <a:txBody>
                    <a:bodyPr/>
                    <a:lstStyle/>
                    <a:p>
                      <a:pPr indent="0" lvl="0" marL="0" marR="0" rtl="0" algn="l">
                        <a:spcBef>
                          <a:spcPts val="0"/>
                        </a:spcBef>
                        <a:spcAft>
                          <a:spcPts val="0"/>
                        </a:spcAft>
                        <a:buNone/>
                      </a:pPr>
                      <a:r>
                        <a:rPr lang="en-US" sz="1800"/>
                        <a:t>003</a:t>
                      </a:r>
                      <a:endParaRPr/>
                    </a:p>
                  </a:txBody>
                  <a:tcPr marT="45725" marB="45725" marR="91450" marL="91450"/>
                </a:tc>
                <a:tc>
                  <a:txBody>
                    <a:bodyPr/>
                    <a:lstStyle/>
                    <a:p>
                      <a:pPr indent="0" lvl="0" marL="0" marR="0" rtl="0" algn="l">
                        <a:spcBef>
                          <a:spcPts val="0"/>
                        </a:spcBef>
                        <a:spcAft>
                          <a:spcPts val="0"/>
                        </a:spcAft>
                        <a:buNone/>
                      </a:pPr>
                      <a:r>
                        <a:rPr i="1" lang="en-US" sz="1800"/>
                        <a:t>Anna Karenina</a:t>
                      </a:r>
                      <a:endParaRPr/>
                    </a:p>
                  </a:txBody>
                  <a:tcPr marT="45725" marB="45725" marR="91450" marL="91450"/>
                </a:tc>
                <a:tc>
                  <a:txBody>
                    <a:bodyPr/>
                    <a:lstStyle/>
                    <a:p>
                      <a:pPr indent="0" lvl="0" marL="0" marR="0" rtl="0" algn="l">
                        <a:spcBef>
                          <a:spcPts val="0"/>
                        </a:spcBef>
                        <a:spcAft>
                          <a:spcPts val="0"/>
                        </a:spcAft>
                        <a:buNone/>
                      </a:pPr>
                      <a:r>
                        <a:rPr lang="en-US" sz="1800"/>
                        <a:t>Tolstoy</a:t>
                      </a:r>
                      <a:endParaRPr/>
                    </a:p>
                  </a:txBody>
                  <a:tcPr marT="45725" marB="45725" marR="91450" marL="91450"/>
                </a:tc>
                <a:tc>
                  <a:txBody>
                    <a:bodyPr/>
                    <a:lstStyle/>
                    <a:p>
                      <a:pPr indent="0" lvl="0" marL="0" marR="0" rtl="0" algn="l">
                        <a:spcBef>
                          <a:spcPts val="0"/>
                        </a:spcBef>
                        <a:spcAft>
                          <a:spcPts val="0"/>
                        </a:spcAft>
                        <a:buNone/>
                      </a:pPr>
                      <a:r>
                        <a:rPr lang="en-US" sz="1800"/>
                        <a:t>1877</a:t>
                      </a:r>
                      <a:endParaRPr/>
                    </a:p>
                  </a:txBody>
                  <a:tcPr marT="45725" marB="45725" marR="91450" marL="91450"/>
                </a:tc>
                <a:tc>
                  <a:txBody>
                    <a:bodyPr/>
                    <a:lstStyle/>
                    <a:p>
                      <a:pPr indent="0" lvl="0" marL="0" marR="0" rtl="0" algn="l">
                        <a:spcBef>
                          <a:spcPts val="0"/>
                        </a:spcBef>
                        <a:spcAft>
                          <a:spcPts val="0"/>
                        </a:spcAft>
                        <a:buNone/>
                      </a:pPr>
                      <a:r>
                        <a:rPr lang="en-US" sz="1800"/>
                        <a:t>…</a:t>
                      </a:r>
                      <a:endParaRPr/>
                    </a:p>
                  </a:txBody>
                  <a:tcPr marT="45725" marB="45725" marR="91450" marL="91450"/>
                </a:tc>
              </a:tr>
            </a:tbl>
          </a:graphicData>
        </a:graphic>
      </p:graphicFrame>
      <p:graphicFrame>
        <p:nvGraphicFramePr>
          <p:cNvPr id="502" name="Google Shape;502;p39"/>
          <p:cNvGraphicFramePr/>
          <p:nvPr/>
        </p:nvGraphicFramePr>
        <p:xfrm>
          <a:off x="838200" y="2183962"/>
          <a:ext cx="3000000" cy="3000000"/>
        </p:xfrm>
        <a:graphic>
          <a:graphicData uri="http://schemas.openxmlformats.org/drawingml/2006/table">
            <a:tbl>
              <a:tblPr bandRow="1" firstRow="1">
                <a:noFill/>
                <a:tableStyleId>{EDECB5FD-1C33-4008-BE34-F1882D0C240B}</a:tableStyleId>
              </a:tblPr>
              <a:tblGrid>
                <a:gridCol w="1226675"/>
                <a:gridCol w="1021975"/>
              </a:tblGrid>
              <a:tr h="299200">
                <a:tc>
                  <a:txBody>
                    <a:bodyPr/>
                    <a:lstStyle/>
                    <a:p>
                      <a:pPr indent="0" lvl="0" marL="0" marR="0" rtl="0" algn="l">
                        <a:spcBef>
                          <a:spcPts val="0"/>
                        </a:spcBef>
                        <a:spcAft>
                          <a:spcPts val="0"/>
                        </a:spcAft>
                        <a:buNone/>
                      </a:pPr>
                      <a:r>
                        <a:rPr lang="en-US" sz="1800"/>
                        <a:t>Published</a:t>
                      </a:r>
                      <a:endParaRPr/>
                    </a:p>
                  </a:txBody>
                  <a:tcPr marT="45725" marB="45725" marR="91450" marL="91450"/>
                </a:tc>
                <a:tc>
                  <a:txBody>
                    <a:bodyPr/>
                    <a:lstStyle/>
                    <a:p>
                      <a:pPr indent="0" lvl="0" marL="0" marR="0" rtl="0" algn="l">
                        <a:spcBef>
                          <a:spcPts val="0"/>
                        </a:spcBef>
                        <a:spcAft>
                          <a:spcPts val="0"/>
                        </a:spcAft>
                        <a:buNone/>
                      </a:pPr>
                      <a:r>
                        <a:rPr lang="en-US" sz="1800"/>
                        <a:t>BID</a:t>
                      </a:r>
                      <a:endParaRPr/>
                    </a:p>
                  </a:txBody>
                  <a:tcPr marT="45725" marB="45725" marR="91450" marL="91450"/>
                </a:tc>
              </a:tr>
              <a:tr h="516500">
                <a:tc>
                  <a:txBody>
                    <a:bodyPr/>
                    <a:lstStyle/>
                    <a:p>
                      <a:pPr indent="0" lvl="0" marL="0" marR="0" rtl="0" algn="l">
                        <a:spcBef>
                          <a:spcPts val="0"/>
                        </a:spcBef>
                        <a:spcAft>
                          <a:spcPts val="0"/>
                        </a:spcAft>
                        <a:buNone/>
                      </a:pPr>
                      <a:r>
                        <a:rPr lang="en-US" sz="1800"/>
                        <a:t>1866</a:t>
                      </a:r>
                      <a:endParaRPr/>
                    </a:p>
                  </a:txBody>
                  <a:tcPr marT="45725" marB="45725" marR="91450" marL="91450"/>
                </a:tc>
                <a:tc>
                  <a:txBody>
                    <a:bodyPr/>
                    <a:lstStyle/>
                    <a:p>
                      <a:pPr indent="0" lvl="0" marL="0" marR="0" rtl="0" algn="l">
                        <a:spcBef>
                          <a:spcPts val="0"/>
                        </a:spcBef>
                        <a:spcAft>
                          <a:spcPts val="0"/>
                        </a:spcAft>
                        <a:buNone/>
                      </a:pPr>
                      <a:r>
                        <a:rPr lang="en-US" sz="1800"/>
                        <a:t>002</a:t>
                      </a:r>
                      <a:endParaRPr i="1" sz="1800"/>
                    </a:p>
                  </a:txBody>
                  <a:tcPr marT="45725" marB="45725" marR="91450" marL="91450"/>
                </a:tc>
              </a:tr>
              <a:tr h="516500">
                <a:tc>
                  <a:txBody>
                    <a:bodyPr/>
                    <a:lstStyle/>
                    <a:p>
                      <a:pPr indent="0" lvl="0" marL="0" marR="0" rtl="0" algn="l">
                        <a:spcBef>
                          <a:spcPts val="0"/>
                        </a:spcBef>
                        <a:spcAft>
                          <a:spcPts val="0"/>
                        </a:spcAft>
                        <a:buNone/>
                      </a:pPr>
                      <a:r>
                        <a:rPr b="1" i="1" lang="en-US" sz="1800"/>
                        <a:t>1869</a:t>
                      </a:r>
                      <a:endParaRPr/>
                    </a:p>
                  </a:txBody>
                  <a:tcPr marT="45725" marB="45725" marR="91450" marL="91450"/>
                </a:tc>
                <a:tc>
                  <a:txBody>
                    <a:bodyPr/>
                    <a:lstStyle/>
                    <a:p>
                      <a:pPr indent="0" lvl="0" marL="0" marR="0" rtl="0" algn="l">
                        <a:spcBef>
                          <a:spcPts val="0"/>
                        </a:spcBef>
                        <a:spcAft>
                          <a:spcPts val="0"/>
                        </a:spcAft>
                        <a:buNone/>
                      </a:pPr>
                      <a:r>
                        <a:rPr b="1" i="1" lang="en-US" sz="1800"/>
                        <a:t>001</a:t>
                      </a:r>
                      <a:endParaRPr/>
                    </a:p>
                  </a:txBody>
                  <a:tcPr marT="45725" marB="45725" marR="91450" marL="91450"/>
                </a:tc>
              </a:tr>
              <a:tr h="516500">
                <a:tc>
                  <a:txBody>
                    <a:bodyPr/>
                    <a:lstStyle/>
                    <a:p>
                      <a:pPr indent="0" lvl="0" marL="0" marR="0" rtl="0" algn="l">
                        <a:spcBef>
                          <a:spcPts val="0"/>
                        </a:spcBef>
                        <a:spcAft>
                          <a:spcPts val="0"/>
                        </a:spcAft>
                        <a:buNone/>
                      </a:pPr>
                      <a:r>
                        <a:rPr b="1" i="1" lang="en-US" sz="1800"/>
                        <a:t>1877</a:t>
                      </a:r>
                      <a:endParaRPr/>
                    </a:p>
                  </a:txBody>
                  <a:tcPr marT="45725" marB="45725" marR="91450" marL="91450"/>
                </a:tc>
                <a:tc>
                  <a:txBody>
                    <a:bodyPr/>
                    <a:lstStyle/>
                    <a:p>
                      <a:pPr indent="0" lvl="0" marL="0" marR="0" rtl="0" algn="l">
                        <a:spcBef>
                          <a:spcPts val="0"/>
                        </a:spcBef>
                        <a:spcAft>
                          <a:spcPts val="0"/>
                        </a:spcAft>
                        <a:buNone/>
                      </a:pPr>
                      <a:r>
                        <a:rPr b="1" i="1" lang="en-US" sz="1800"/>
                        <a:t>003</a:t>
                      </a:r>
                      <a:endParaRPr/>
                    </a:p>
                  </a:txBody>
                  <a:tcPr marT="45725" marB="45725" marR="91450" marL="91450"/>
                </a:tc>
              </a:tr>
            </a:tbl>
          </a:graphicData>
        </a:graphic>
      </p:graphicFrame>
      <p:cxnSp>
        <p:nvCxnSpPr>
          <p:cNvPr id="503" name="Google Shape;503;p39"/>
          <p:cNvCxnSpPr/>
          <p:nvPr/>
        </p:nvCxnSpPr>
        <p:spPr>
          <a:xfrm>
            <a:off x="3086846" y="2757829"/>
            <a:ext cx="2020049" cy="578224"/>
          </a:xfrm>
          <a:prstGeom prst="straightConnector1">
            <a:avLst/>
          </a:prstGeom>
          <a:noFill/>
          <a:ln cap="flat" cmpd="sng" w="9525">
            <a:solidFill>
              <a:schemeClr val="accent1"/>
            </a:solidFill>
            <a:prstDash val="solid"/>
            <a:miter lim="800000"/>
            <a:headEnd len="sm" w="sm" type="none"/>
            <a:tailEnd len="med" w="med" type="triangle"/>
          </a:ln>
        </p:spPr>
      </p:cxnSp>
      <p:cxnSp>
        <p:nvCxnSpPr>
          <p:cNvPr id="504" name="Google Shape;504;p39"/>
          <p:cNvCxnSpPr/>
          <p:nvPr/>
        </p:nvCxnSpPr>
        <p:spPr>
          <a:xfrm flipH="1" rot="10800000">
            <a:off x="3086846" y="2757829"/>
            <a:ext cx="2020049" cy="578224"/>
          </a:xfrm>
          <a:prstGeom prst="straightConnector1">
            <a:avLst/>
          </a:prstGeom>
          <a:noFill/>
          <a:ln cap="flat" cmpd="sng" w="38100">
            <a:solidFill>
              <a:schemeClr val="accent1"/>
            </a:solidFill>
            <a:prstDash val="solid"/>
            <a:miter lim="800000"/>
            <a:headEnd len="sm" w="sm" type="none"/>
            <a:tailEnd len="med" w="med" type="triangle"/>
          </a:ln>
        </p:spPr>
      </p:cxnSp>
      <p:cxnSp>
        <p:nvCxnSpPr>
          <p:cNvPr id="505" name="Google Shape;505;p39"/>
          <p:cNvCxnSpPr/>
          <p:nvPr/>
        </p:nvCxnSpPr>
        <p:spPr>
          <a:xfrm flipH="1" rot="10800000">
            <a:off x="3086846" y="3806700"/>
            <a:ext cx="2020049" cy="1"/>
          </a:xfrm>
          <a:prstGeom prst="straightConnector1">
            <a:avLst/>
          </a:prstGeom>
          <a:noFill/>
          <a:ln cap="flat" cmpd="sng" w="38100">
            <a:solidFill>
              <a:schemeClr val="accent1"/>
            </a:solidFill>
            <a:prstDash val="solid"/>
            <a:miter lim="800000"/>
            <a:headEnd len="sm" w="sm" type="none"/>
            <a:tailEnd len="med" w="med" type="triangle"/>
          </a:ln>
        </p:spPr>
      </p:cxnSp>
      <p:sp>
        <p:nvSpPr>
          <p:cNvPr id="506" name="Google Shape;506;p39"/>
          <p:cNvSpPr txBox="1"/>
          <p:nvPr/>
        </p:nvSpPr>
        <p:spPr>
          <a:xfrm>
            <a:off x="2032554" y="4552597"/>
            <a:ext cx="8130988"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Calibri"/>
                <a:ea typeface="Calibri"/>
                <a:cs typeface="Calibri"/>
                <a:sym typeface="Calibri"/>
              </a:rPr>
              <a:t>Maintain an index for this, and search over that!</a:t>
            </a:r>
            <a:endParaRPr sz="3200">
              <a:solidFill>
                <a:schemeClr val="dk1"/>
              </a:solidFill>
              <a:latin typeface="Calibri"/>
              <a:ea typeface="Calibri"/>
              <a:cs typeface="Calibri"/>
              <a:sym typeface="Calibri"/>
            </a:endParaRPr>
          </a:p>
        </p:txBody>
      </p:sp>
      <p:sp>
        <p:nvSpPr>
          <p:cNvPr id="507" name="Google Shape;507;p39"/>
          <p:cNvSpPr txBox="1"/>
          <p:nvPr/>
        </p:nvSpPr>
        <p:spPr>
          <a:xfrm>
            <a:off x="5106895" y="1612211"/>
            <a:ext cx="278794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Russian_Novels</a:t>
            </a:r>
            <a:endParaRPr b="1" sz="2400">
              <a:solidFill>
                <a:schemeClr val="accent2"/>
              </a:solidFill>
              <a:latin typeface="Arial"/>
              <a:ea typeface="Arial"/>
              <a:cs typeface="Arial"/>
              <a:sym typeface="Arial"/>
            </a:endParaRPr>
          </a:p>
        </p:txBody>
      </p:sp>
      <p:sp>
        <p:nvSpPr>
          <p:cNvPr id="508" name="Google Shape;508;p39"/>
          <p:cNvSpPr txBox="1"/>
          <p:nvPr/>
        </p:nvSpPr>
        <p:spPr>
          <a:xfrm>
            <a:off x="838200" y="1679697"/>
            <a:ext cx="223009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By_Yr_Index</a:t>
            </a:r>
            <a:endParaRPr b="1" sz="2400">
              <a:solidFill>
                <a:schemeClr val="accent2"/>
              </a:solidFill>
              <a:latin typeface="Arial"/>
              <a:ea typeface="Arial"/>
              <a:cs typeface="Arial"/>
              <a:sym typeface="Arial"/>
            </a:endParaRPr>
          </a:p>
        </p:txBody>
      </p:sp>
      <p:sp>
        <p:nvSpPr>
          <p:cNvPr id="509" name="Google Shape;509;p39"/>
          <p:cNvSpPr txBox="1"/>
          <p:nvPr/>
        </p:nvSpPr>
        <p:spPr>
          <a:xfrm>
            <a:off x="6723529" y="5646278"/>
            <a:ext cx="4894730" cy="830997"/>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Why might just keeping the table sorted by year not be good enough?</a:t>
            </a:r>
            <a:endParaRPr/>
          </a:p>
        </p:txBody>
      </p:sp>
      <p:grpSp>
        <p:nvGrpSpPr>
          <p:cNvPr id="510" name="Google Shape;510;p39"/>
          <p:cNvGrpSpPr/>
          <p:nvPr/>
        </p:nvGrpSpPr>
        <p:grpSpPr>
          <a:xfrm>
            <a:off x="0" y="-22510"/>
            <a:ext cx="12192000" cy="307777"/>
            <a:chOff x="0" y="-22510"/>
            <a:chExt cx="12192000" cy="307777"/>
          </a:xfrm>
        </p:grpSpPr>
        <p:sp>
          <p:nvSpPr>
            <p:cNvPr id="511" name="Google Shape;511;p39"/>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512" name="Google Shape;512;p39"/>
            <p:cNvSpPr txBox="1"/>
            <p:nvPr/>
          </p:nvSpPr>
          <p:spPr>
            <a:xfrm>
              <a:off x="188780" y="-22510"/>
              <a:ext cx="207992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Indexes: Basics</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9"/>
                                        </p:tgtEl>
                                        <p:attrNameLst>
                                          <p:attrName>style.visibility</p:attrName>
                                        </p:attrNameLst>
                                      </p:cBhvr>
                                      <p:to>
                                        <p:strVal val="visible"/>
                                      </p:to>
                                    </p:set>
                                    <p:anim calcmode="lin" valueType="num">
                                      <p:cBhvr additive="base">
                                        <p:cTn dur="500"/>
                                        <p:tgtEl>
                                          <p:spTgt spid="50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Conceptual Example</a:t>
            </a:r>
            <a:endParaRPr/>
          </a:p>
        </p:txBody>
      </p:sp>
      <p:graphicFrame>
        <p:nvGraphicFramePr>
          <p:cNvPr id="519" name="Google Shape;519;p40"/>
          <p:cNvGraphicFramePr/>
          <p:nvPr/>
        </p:nvGraphicFramePr>
        <p:xfrm>
          <a:off x="5658225" y="1836075"/>
          <a:ext cx="3000000" cy="3000000"/>
        </p:xfrm>
        <a:graphic>
          <a:graphicData uri="http://schemas.openxmlformats.org/drawingml/2006/table">
            <a:tbl>
              <a:tblPr bandRow="1" firstRow="1">
                <a:noFill/>
                <a:tableStyleId>{D9526B5B-6CDD-4122-98FE-1D09106A2390}</a:tableStyleId>
              </a:tblPr>
              <a:tblGrid>
                <a:gridCol w="635000"/>
                <a:gridCol w="1613650"/>
                <a:gridCol w="1499500"/>
                <a:gridCol w="1249375"/>
                <a:gridCol w="1249375"/>
              </a:tblGrid>
              <a:tr h="299200">
                <a:tc>
                  <a:txBody>
                    <a:bodyPr/>
                    <a:lstStyle/>
                    <a:p>
                      <a:pPr indent="0" lvl="0" marL="0" marR="0" rtl="0" algn="l">
                        <a:spcBef>
                          <a:spcPts val="0"/>
                        </a:spcBef>
                        <a:spcAft>
                          <a:spcPts val="0"/>
                        </a:spcAft>
                        <a:buNone/>
                      </a:pPr>
                      <a:r>
                        <a:rPr lang="en-US" sz="1800"/>
                        <a:t>BID</a:t>
                      </a:r>
                      <a:endParaRPr/>
                    </a:p>
                  </a:txBody>
                  <a:tcPr marT="45725" marB="45725" marR="91450" marL="91450"/>
                </a:tc>
                <a:tc>
                  <a:txBody>
                    <a:bodyPr/>
                    <a:lstStyle/>
                    <a:p>
                      <a:pPr indent="0" lvl="0" marL="0" marR="0" rtl="0" algn="l">
                        <a:spcBef>
                          <a:spcPts val="0"/>
                        </a:spcBef>
                        <a:spcAft>
                          <a:spcPts val="0"/>
                        </a:spcAft>
                        <a:buNone/>
                      </a:pPr>
                      <a:r>
                        <a:rPr lang="en-US" sz="1800"/>
                        <a:t>Title</a:t>
                      </a:r>
                      <a:endParaRPr/>
                    </a:p>
                  </a:txBody>
                  <a:tcPr marT="45725" marB="45725" marR="91450" marL="91450"/>
                </a:tc>
                <a:tc>
                  <a:txBody>
                    <a:bodyPr/>
                    <a:lstStyle/>
                    <a:p>
                      <a:pPr indent="0" lvl="0" marL="0" marR="0" rtl="0" algn="l">
                        <a:spcBef>
                          <a:spcPts val="0"/>
                        </a:spcBef>
                        <a:spcAft>
                          <a:spcPts val="0"/>
                        </a:spcAft>
                        <a:buNone/>
                      </a:pPr>
                      <a:r>
                        <a:rPr lang="en-US" sz="1800"/>
                        <a:t>Author</a:t>
                      </a:r>
                      <a:endParaRPr/>
                    </a:p>
                  </a:txBody>
                  <a:tcPr marT="45725" marB="45725" marR="91450" marL="91450"/>
                </a:tc>
                <a:tc>
                  <a:txBody>
                    <a:bodyPr/>
                    <a:lstStyle/>
                    <a:p>
                      <a:pPr indent="0" lvl="0" marL="0" marR="0" rtl="0" algn="l">
                        <a:spcBef>
                          <a:spcPts val="0"/>
                        </a:spcBef>
                        <a:spcAft>
                          <a:spcPts val="0"/>
                        </a:spcAft>
                        <a:buNone/>
                      </a:pPr>
                      <a:r>
                        <a:rPr lang="en-US" sz="1800"/>
                        <a:t>Published</a:t>
                      </a:r>
                      <a:endParaRPr/>
                    </a:p>
                  </a:txBody>
                  <a:tcPr marT="45725" marB="45725" marR="91450" marL="91450"/>
                </a:tc>
                <a:tc>
                  <a:txBody>
                    <a:bodyPr/>
                    <a:lstStyle/>
                    <a:p>
                      <a:pPr indent="0" lvl="0" marL="0" marR="0" rtl="0" algn="l">
                        <a:spcBef>
                          <a:spcPts val="0"/>
                        </a:spcBef>
                        <a:spcAft>
                          <a:spcPts val="0"/>
                        </a:spcAft>
                        <a:buNone/>
                      </a:pPr>
                      <a:r>
                        <a:rPr lang="en-US" sz="1800"/>
                        <a:t>Full_text</a:t>
                      </a:r>
                      <a:endParaRPr sz="1800"/>
                    </a:p>
                  </a:txBody>
                  <a:tcPr marT="45725" marB="45725" marR="91450" marL="91450"/>
                </a:tc>
              </a:tr>
              <a:tr h="516500">
                <a:tc>
                  <a:txBody>
                    <a:bodyPr/>
                    <a:lstStyle/>
                    <a:p>
                      <a:pPr indent="0" lvl="0" marL="0" marR="0" rtl="0" algn="l">
                        <a:spcBef>
                          <a:spcPts val="0"/>
                        </a:spcBef>
                        <a:spcAft>
                          <a:spcPts val="0"/>
                        </a:spcAft>
                        <a:buNone/>
                      </a:pPr>
                      <a:r>
                        <a:rPr lang="en-US" sz="1800"/>
                        <a:t>001</a:t>
                      </a:r>
                      <a:endParaRPr/>
                    </a:p>
                  </a:txBody>
                  <a:tcPr marT="45725" marB="45725" marR="91450" marL="91450"/>
                </a:tc>
                <a:tc>
                  <a:txBody>
                    <a:bodyPr/>
                    <a:lstStyle/>
                    <a:p>
                      <a:pPr indent="0" lvl="0" marL="0" marR="0" rtl="0" algn="l">
                        <a:spcBef>
                          <a:spcPts val="0"/>
                        </a:spcBef>
                        <a:spcAft>
                          <a:spcPts val="0"/>
                        </a:spcAft>
                        <a:buNone/>
                      </a:pPr>
                      <a:r>
                        <a:rPr i="1" lang="en-US" sz="1800"/>
                        <a:t>War and Peace</a:t>
                      </a:r>
                      <a:endParaRPr/>
                    </a:p>
                  </a:txBody>
                  <a:tcPr marT="45725" marB="45725" marR="91450" marL="91450"/>
                </a:tc>
                <a:tc>
                  <a:txBody>
                    <a:bodyPr/>
                    <a:lstStyle/>
                    <a:p>
                      <a:pPr indent="0" lvl="0" marL="0" marR="0" rtl="0" algn="l">
                        <a:spcBef>
                          <a:spcPts val="0"/>
                        </a:spcBef>
                        <a:spcAft>
                          <a:spcPts val="0"/>
                        </a:spcAft>
                        <a:buNone/>
                      </a:pPr>
                      <a:r>
                        <a:rPr lang="en-US" sz="1800"/>
                        <a:t>Tolstoy</a:t>
                      </a:r>
                      <a:endParaRPr/>
                    </a:p>
                  </a:txBody>
                  <a:tcPr marT="45725" marB="45725" marR="91450" marL="91450"/>
                </a:tc>
                <a:tc>
                  <a:txBody>
                    <a:bodyPr/>
                    <a:lstStyle/>
                    <a:p>
                      <a:pPr indent="0" lvl="0" marL="0" marR="0" rtl="0" algn="l">
                        <a:spcBef>
                          <a:spcPts val="0"/>
                        </a:spcBef>
                        <a:spcAft>
                          <a:spcPts val="0"/>
                        </a:spcAft>
                        <a:buNone/>
                      </a:pPr>
                      <a:r>
                        <a:rPr lang="en-US" sz="1800"/>
                        <a:t>1869</a:t>
                      </a:r>
                      <a:endParaRPr/>
                    </a:p>
                  </a:txBody>
                  <a:tcPr marT="45725" marB="45725" marR="91450" marL="91450"/>
                </a:tc>
                <a:tc>
                  <a:txBody>
                    <a:bodyPr/>
                    <a:lstStyle/>
                    <a:p>
                      <a:pPr indent="0" lvl="0" marL="0" marR="0" rtl="0" algn="l">
                        <a:spcBef>
                          <a:spcPts val="0"/>
                        </a:spcBef>
                        <a:spcAft>
                          <a:spcPts val="0"/>
                        </a:spcAft>
                        <a:buNone/>
                      </a:pPr>
                      <a:r>
                        <a:rPr lang="en-US" sz="1800"/>
                        <a:t>…</a:t>
                      </a:r>
                      <a:endParaRPr/>
                    </a:p>
                  </a:txBody>
                  <a:tcPr marT="45725" marB="45725" marR="91450" marL="91450"/>
                </a:tc>
              </a:tr>
              <a:tr h="516500">
                <a:tc>
                  <a:txBody>
                    <a:bodyPr/>
                    <a:lstStyle/>
                    <a:p>
                      <a:pPr indent="0" lvl="0" marL="0" marR="0" rtl="0" algn="l">
                        <a:spcBef>
                          <a:spcPts val="0"/>
                        </a:spcBef>
                        <a:spcAft>
                          <a:spcPts val="0"/>
                        </a:spcAft>
                        <a:buNone/>
                      </a:pPr>
                      <a:r>
                        <a:rPr lang="en-US" sz="1800"/>
                        <a:t>002</a:t>
                      </a:r>
                      <a:endParaRPr/>
                    </a:p>
                  </a:txBody>
                  <a:tcPr marT="45725" marB="45725" marR="91450" marL="91450"/>
                </a:tc>
                <a:tc>
                  <a:txBody>
                    <a:bodyPr/>
                    <a:lstStyle/>
                    <a:p>
                      <a:pPr indent="0" lvl="0" marL="0" marR="0" rtl="0" algn="l">
                        <a:spcBef>
                          <a:spcPts val="0"/>
                        </a:spcBef>
                        <a:spcAft>
                          <a:spcPts val="0"/>
                        </a:spcAft>
                        <a:buNone/>
                      </a:pPr>
                      <a:r>
                        <a:rPr i="1" lang="en-US" sz="1800"/>
                        <a:t>Crime and Punishment</a:t>
                      </a:r>
                      <a:endParaRPr/>
                    </a:p>
                  </a:txBody>
                  <a:tcPr marT="45725" marB="45725" marR="91450" marL="91450"/>
                </a:tc>
                <a:tc>
                  <a:txBody>
                    <a:bodyPr/>
                    <a:lstStyle/>
                    <a:p>
                      <a:pPr indent="0" lvl="0" marL="0" marR="0" rtl="0" algn="l">
                        <a:spcBef>
                          <a:spcPts val="0"/>
                        </a:spcBef>
                        <a:spcAft>
                          <a:spcPts val="0"/>
                        </a:spcAft>
                        <a:buNone/>
                      </a:pPr>
                      <a:r>
                        <a:rPr lang="en-US" sz="1800"/>
                        <a:t>Dostoyevsky</a:t>
                      </a:r>
                      <a:endParaRPr/>
                    </a:p>
                  </a:txBody>
                  <a:tcPr marT="45725" marB="45725" marR="91450" marL="91450"/>
                </a:tc>
                <a:tc>
                  <a:txBody>
                    <a:bodyPr/>
                    <a:lstStyle/>
                    <a:p>
                      <a:pPr indent="0" lvl="0" marL="0" marR="0" rtl="0" algn="l">
                        <a:spcBef>
                          <a:spcPts val="0"/>
                        </a:spcBef>
                        <a:spcAft>
                          <a:spcPts val="0"/>
                        </a:spcAft>
                        <a:buNone/>
                      </a:pPr>
                      <a:r>
                        <a:rPr lang="en-US" sz="1800"/>
                        <a:t>1866</a:t>
                      </a:r>
                      <a:endParaRPr/>
                    </a:p>
                  </a:txBody>
                  <a:tcPr marT="45725" marB="45725" marR="91450" marL="91450"/>
                </a:tc>
                <a:tc>
                  <a:txBody>
                    <a:bodyPr/>
                    <a:lstStyle/>
                    <a:p>
                      <a:pPr indent="0" lvl="0" marL="0" marR="0" rtl="0" algn="l">
                        <a:spcBef>
                          <a:spcPts val="0"/>
                        </a:spcBef>
                        <a:spcAft>
                          <a:spcPts val="0"/>
                        </a:spcAft>
                        <a:buNone/>
                      </a:pPr>
                      <a:r>
                        <a:rPr lang="en-US" sz="1800"/>
                        <a:t>…</a:t>
                      </a:r>
                      <a:endParaRPr/>
                    </a:p>
                  </a:txBody>
                  <a:tcPr marT="45725" marB="45725" marR="91450" marL="91450"/>
                </a:tc>
              </a:tr>
              <a:tr h="516500">
                <a:tc>
                  <a:txBody>
                    <a:bodyPr/>
                    <a:lstStyle/>
                    <a:p>
                      <a:pPr indent="0" lvl="0" marL="0" marR="0" rtl="0" algn="l">
                        <a:spcBef>
                          <a:spcPts val="0"/>
                        </a:spcBef>
                        <a:spcAft>
                          <a:spcPts val="0"/>
                        </a:spcAft>
                        <a:buNone/>
                      </a:pPr>
                      <a:r>
                        <a:rPr lang="en-US" sz="1800"/>
                        <a:t>003</a:t>
                      </a:r>
                      <a:endParaRPr/>
                    </a:p>
                  </a:txBody>
                  <a:tcPr marT="45725" marB="45725" marR="91450" marL="91450"/>
                </a:tc>
                <a:tc>
                  <a:txBody>
                    <a:bodyPr/>
                    <a:lstStyle/>
                    <a:p>
                      <a:pPr indent="0" lvl="0" marL="0" marR="0" rtl="0" algn="l">
                        <a:spcBef>
                          <a:spcPts val="0"/>
                        </a:spcBef>
                        <a:spcAft>
                          <a:spcPts val="0"/>
                        </a:spcAft>
                        <a:buNone/>
                      </a:pPr>
                      <a:r>
                        <a:rPr i="1" lang="en-US" sz="1800"/>
                        <a:t>Anna Karenina</a:t>
                      </a:r>
                      <a:endParaRPr/>
                    </a:p>
                  </a:txBody>
                  <a:tcPr marT="45725" marB="45725" marR="91450" marL="91450"/>
                </a:tc>
                <a:tc>
                  <a:txBody>
                    <a:bodyPr/>
                    <a:lstStyle/>
                    <a:p>
                      <a:pPr indent="0" lvl="0" marL="0" marR="0" rtl="0" algn="l">
                        <a:spcBef>
                          <a:spcPts val="0"/>
                        </a:spcBef>
                        <a:spcAft>
                          <a:spcPts val="0"/>
                        </a:spcAft>
                        <a:buNone/>
                      </a:pPr>
                      <a:r>
                        <a:rPr lang="en-US" sz="1800"/>
                        <a:t>Tolstoy</a:t>
                      </a:r>
                      <a:endParaRPr/>
                    </a:p>
                  </a:txBody>
                  <a:tcPr marT="45725" marB="45725" marR="91450" marL="91450"/>
                </a:tc>
                <a:tc>
                  <a:txBody>
                    <a:bodyPr/>
                    <a:lstStyle/>
                    <a:p>
                      <a:pPr indent="0" lvl="0" marL="0" marR="0" rtl="0" algn="l">
                        <a:spcBef>
                          <a:spcPts val="0"/>
                        </a:spcBef>
                        <a:spcAft>
                          <a:spcPts val="0"/>
                        </a:spcAft>
                        <a:buNone/>
                      </a:pPr>
                      <a:r>
                        <a:rPr lang="en-US" sz="1800"/>
                        <a:t>1877</a:t>
                      </a:r>
                      <a:endParaRPr/>
                    </a:p>
                  </a:txBody>
                  <a:tcPr marT="45725" marB="45725" marR="91450" marL="91450"/>
                </a:tc>
                <a:tc>
                  <a:txBody>
                    <a:bodyPr/>
                    <a:lstStyle/>
                    <a:p>
                      <a:pPr indent="0" lvl="0" marL="0" marR="0" rtl="0" algn="l">
                        <a:spcBef>
                          <a:spcPts val="0"/>
                        </a:spcBef>
                        <a:spcAft>
                          <a:spcPts val="0"/>
                        </a:spcAft>
                        <a:buNone/>
                      </a:pPr>
                      <a:r>
                        <a:rPr lang="en-US" sz="1800"/>
                        <a:t>…</a:t>
                      </a:r>
                      <a:endParaRPr/>
                    </a:p>
                  </a:txBody>
                  <a:tcPr marT="45725" marB="45725" marR="91450" marL="91450"/>
                </a:tc>
              </a:tr>
            </a:tbl>
          </a:graphicData>
        </a:graphic>
      </p:graphicFrame>
      <p:graphicFrame>
        <p:nvGraphicFramePr>
          <p:cNvPr id="520" name="Google Shape;520;p40"/>
          <p:cNvGraphicFramePr/>
          <p:nvPr/>
        </p:nvGraphicFramePr>
        <p:xfrm>
          <a:off x="838200" y="1897861"/>
          <a:ext cx="3000000" cy="3000000"/>
        </p:xfrm>
        <a:graphic>
          <a:graphicData uri="http://schemas.openxmlformats.org/drawingml/2006/table">
            <a:tbl>
              <a:tblPr bandRow="1" firstRow="1">
                <a:noFill/>
                <a:tableStyleId>{EDECB5FD-1C33-4008-BE34-F1882D0C240B}</a:tableStyleId>
              </a:tblPr>
              <a:tblGrid>
                <a:gridCol w="1226675"/>
                <a:gridCol w="1021975"/>
              </a:tblGrid>
              <a:tr h="299200">
                <a:tc>
                  <a:txBody>
                    <a:bodyPr/>
                    <a:lstStyle/>
                    <a:p>
                      <a:pPr indent="0" lvl="0" marL="0" marR="0" rtl="0" algn="l">
                        <a:spcBef>
                          <a:spcPts val="0"/>
                        </a:spcBef>
                        <a:spcAft>
                          <a:spcPts val="0"/>
                        </a:spcAft>
                        <a:buNone/>
                      </a:pPr>
                      <a:r>
                        <a:rPr lang="en-US" sz="1800"/>
                        <a:t>Published</a:t>
                      </a:r>
                      <a:endParaRPr/>
                    </a:p>
                  </a:txBody>
                  <a:tcPr marT="45725" marB="45725" marR="91450" marL="91450"/>
                </a:tc>
                <a:tc>
                  <a:txBody>
                    <a:bodyPr/>
                    <a:lstStyle/>
                    <a:p>
                      <a:pPr indent="0" lvl="0" marL="0" marR="0" rtl="0" algn="l">
                        <a:spcBef>
                          <a:spcPts val="0"/>
                        </a:spcBef>
                        <a:spcAft>
                          <a:spcPts val="0"/>
                        </a:spcAft>
                        <a:buNone/>
                      </a:pPr>
                      <a:r>
                        <a:rPr lang="en-US" sz="1800"/>
                        <a:t>BID</a:t>
                      </a:r>
                      <a:endParaRPr/>
                    </a:p>
                  </a:txBody>
                  <a:tcPr marT="45725" marB="45725" marR="91450" marL="91450"/>
                </a:tc>
              </a:tr>
              <a:tr h="516500">
                <a:tc>
                  <a:txBody>
                    <a:bodyPr/>
                    <a:lstStyle/>
                    <a:p>
                      <a:pPr indent="0" lvl="0" marL="0" marR="0" rtl="0" algn="l">
                        <a:spcBef>
                          <a:spcPts val="0"/>
                        </a:spcBef>
                        <a:spcAft>
                          <a:spcPts val="0"/>
                        </a:spcAft>
                        <a:buNone/>
                      </a:pPr>
                      <a:r>
                        <a:rPr lang="en-US" sz="1800"/>
                        <a:t>1866</a:t>
                      </a:r>
                      <a:endParaRPr/>
                    </a:p>
                  </a:txBody>
                  <a:tcPr marT="45725" marB="45725" marR="91450" marL="91450"/>
                </a:tc>
                <a:tc>
                  <a:txBody>
                    <a:bodyPr/>
                    <a:lstStyle/>
                    <a:p>
                      <a:pPr indent="0" lvl="0" marL="0" marR="0" rtl="0" algn="l">
                        <a:spcBef>
                          <a:spcPts val="0"/>
                        </a:spcBef>
                        <a:spcAft>
                          <a:spcPts val="0"/>
                        </a:spcAft>
                        <a:buNone/>
                      </a:pPr>
                      <a:r>
                        <a:rPr lang="en-US" sz="1800"/>
                        <a:t>002</a:t>
                      </a:r>
                      <a:endParaRPr i="1" sz="1800"/>
                    </a:p>
                  </a:txBody>
                  <a:tcPr marT="45725" marB="45725" marR="91450" marL="91450"/>
                </a:tc>
              </a:tr>
              <a:tr h="516500">
                <a:tc>
                  <a:txBody>
                    <a:bodyPr/>
                    <a:lstStyle/>
                    <a:p>
                      <a:pPr indent="0" lvl="0" marL="0" marR="0" rtl="0" algn="l">
                        <a:spcBef>
                          <a:spcPts val="0"/>
                        </a:spcBef>
                        <a:spcAft>
                          <a:spcPts val="0"/>
                        </a:spcAft>
                        <a:buNone/>
                      </a:pPr>
                      <a:r>
                        <a:rPr b="0" i="0" lang="en-US" sz="1800"/>
                        <a:t>1869</a:t>
                      </a:r>
                      <a:endParaRPr/>
                    </a:p>
                  </a:txBody>
                  <a:tcPr marT="45725" marB="45725" marR="91450" marL="91450"/>
                </a:tc>
                <a:tc>
                  <a:txBody>
                    <a:bodyPr/>
                    <a:lstStyle/>
                    <a:p>
                      <a:pPr indent="0" lvl="0" marL="0" marR="0" rtl="0" algn="l">
                        <a:spcBef>
                          <a:spcPts val="0"/>
                        </a:spcBef>
                        <a:spcAft>
                          <a:spcPts val="0"/>
                        </a:spcAft>
                        <a:buNone/>
                      </a:pPr>
                      <a:r>
                        <a:rPr b="0" i="0" lang="en-US" sz="1800"/>
                        <a:t>001</a:t>
                      </a:r>
                      <a:endParaRPr/>
                    </a:p>
                  </a:txBody>
                  <a:tcPr marT="45725" marB="45725" marR="91450" marL="91450"/>
                </a:tc>
              </a:tr>
              <a:tr h="516500">
                <a:tc>
                  <a:txBody>
                    <a:bodyPr/>
                    <a:lstStyle/>
                    <a:p>
                      <a:pPr indent="0" lvl="0" marL="0" marR="0" rtl="0" algn="l">
                        <a:spcBef>
                          <a:spcPts val="0"/>
                        </a:spcBef>
                        <a:spcAft>
                          <a:spcPts val="0"/>
                        </a:spcAft>
                        <a:buNone/>
                      </a:pPr>
                      <a:r>
                        <a:rPr b="0" i="0" lang="en-US" sz="1800"/>
                        <a:t>1877</a:t>
                      </a:r>
                      <a:endParaRPr/>
                    </a:p>
                  </a:txBody>
                  <a:tcPr marT="45725" marB="45725" marR="91450" marL="91450"/>
                </a:tc>
                <a:tc>
                  <a:txBody>
                    <a:bodyPr/>
                    <a:lstStyle/>
                    <a:p>
                      <a:pPr indent="0" lvl="0" marL="0" marR="0" rtl="0" algn="l">
                        <a:spcBef>
                          <a:spcPts val="0"/>
                        </a:spcBef>
                        <a:spcAft>
                          <a:spcPts val="0"/>
                        </a:spcAft>
                        <a:buNone/>
                      </a:pPr>
                      <a:r>
                        <a:rPr b="0" i="0" lang="en-US" sz="1800"/>
                        <a:t>003</a:t>
                      </a:r>
                      <a:endParaRPr/>
                    </a:p>
                  </a:txBody>
                  <a:tcPr marT="45725" marB="45725" marR="91450" marL="91450"/>
                </a:tc>
              </a:tr>
            </a:tbl>
          </a:graphicData>
        </a:graphic>
      </p:graphicFrame>
      <p:cxnSp>
        <p:nvCxnSpPr>
          <p:cNvPr id="521" name="Google Shape;521;p40"/>
          <p:cNvCxnSpPr/>
          <p:nvPr/>
        </p:nvCxnSpPr>
        <p:spPr>
          <a:xfrm>
            <a:off x="3086846" y="2471728"/>
            <a:ext cx="2571379" cy="578224"/>
          </a:xfrm>
          <a:prstGeom prst="straightConnector1">
            <a:avLst/>
          </a:prstGeom>
          <a:noFill/>
          <a:ln cap="flat" cmpd="sng" w="9525">
            <a:solidFill>
              <a:schemeClr val="accent1"/>
            </a:solidFill>
            <a:prstDash val="solid"/>
            <a:miter lim="800000"/>
            <a:headEnd len="sm" w="sm" type="none"/>
            <a:tailEnd len="med" w="med" type="triangle"/>
          </a:ln>
        </p:spPr>
      </p:cxnSp>
      <p:cxnSp>
        <p:nvCxnSpPr>
          <p:cNvPr id="522" name="Google Shape;522;p40"/>
          <p:cNvCxnSpPr/>
          <p:nvPr/>
        </p:nvCxnSpPr>
        <p:spPr>
          <a:xfrm flipH="1" rot="10800000">
            <a:off x="3086846" y="2442940"/>
            <a:ext cx="2589927" cy="607012"/>
          </a:xfrm>
          <a:prstGeom prst="straightConnector1">
            <a:avLst/>
          </a:prstGeom>
          <a:noFill/>
          <a:ln cap="flat" cmpd="sng" w="9525">
            <a:solidFill>
              <a:schemeClr val="accent1"/>
            </a:solidFill>
            <a:prstDash val="solid"/>
            <a:miter lim="800000"/>
            <a:headEnd len="sm" w="sm" type="none"/>
            <a:tailEnd len="med" w="med" type="triangle"/>
          </a:ln>
        </p:spPr>
      </p:cxnSp>
      <p:cxnSp>
        <p:nvCxnSpPr>
          <p:cNvPr id="523" name="Google Shape;523;p40"/>
          <p:cNvCxnSpPr/>
          <p:nvPr/>
        </p:nvCxnSpPr>
        <p:spPr>
          <a:xfrm flipH="1" rot="10800000">
            <a:off x="3086846" y="3520600"/>
            <a:ext cx="2571379" cy="1"/>
          </a:xfrm>
          <a:prstGeom prst="straightConnector1">
            <a:avLst/>
          </a:prstGeom>
          <a:noFill/>
          <a:ln cap="flat" cmpd="sng" w="9525">
            <a:solidFill>
              <a:schemeClr val="accent1"/>
            </a:solidFill>
            <a:prstDash val="solid"/>
            <a:miter lim="800000"/>
            <a:headEnd len="sm" w="sm" type="none"/>
            <a:tailEnd len="med" w="med" type="triangle"/>
          </a:ln>
        </p:spPr>
      </p:cxnSp>
      <p:sp>
        <p:nvSpPr>
          <p:cNvPr id="524" name="Google Shape;524;p40"/>
          <p:cNvSpPr txBox="1"/>
          <p:nvPr/>
        </p:nvSpPr>
        <p:spPr>
          <a:xfrm>
            <a:off x="5676773" y="5579376"/>
            <a:ext cx="5677027" cy="830997"/>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Indexes shown here as tables, but in reality we will use more efficient data structures…</a:t>
            </a:r>
            <a:endParaRPr/>
          </a:p>
        </p:txBody>
      </p:sp>
      <p:sp>
        <p:nvSpPr>
          <p:cNvPr id="525" name="Google Shape;525;p40"/>
          <p:cNvSpPr txBox="1"/>
          <p:nvPr/>
        </p:nvSpPr>
        <p:spPr>
          <a:xfrm>
            <a:off x="5658225" y="1326110"/>
            <a:ext cx="278794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Russian_Novels</a:t>
            </a:r>
            <a:endParaRPr b="1" sz="2400">
              <a:solidFill>
                <a:schemeClr val="accent2"/>
              </a:solidFill>
              <a:latin typeface="Arial"/>
              <a:ea typeface="Arial"/>
              <a:cs typeface="Arial"/>
              <a:sym typeface="Arial"/>
            </a:endParaRPr>
          </a:p>
        </p:txBody>
      </p:sp>
      <p:sp>
        <p:nvSpPr>
          <p:cNvPr id="526" name="Google Shape;526;p40"/>
          <p:cNvSpPr txBox="1"/>
          <p:nvPr/>
        </p:nvSpPr>
        <p:spPr>
          <a:xfrm>
            <a:off x="838200" y="1393596"/>
            <a:ext cx="223009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By_Yr_Index</a:t>
            </a:r>
            <a:endParaRPr b="1" sz="2400">
              <a:solidFill>
                <a:schemeClr val="accent2"/>
              </a:solidFill>
              <a:latin typeface="Arial"/>
              <a:ea typeface="Arial"/>
              <a:cs typeface="Arial"/>
              <a:sym typeface="Arial"/>
            </a:endParaRPr>
          </a:p>
        </p:txBody>
      </p:sp>
      <p:graphicFrame>
        <p:nvGraphicFramePr>
          <p:cNvPr id="527" name="Google Shape;527;p40"/>
          <p:cNvGraphicFramePr/>
          <p:nvPr/>
        </p:nvGraphicFramePr>
        <p:xfrm>
          <a:off x="838200" y="4498162"/>
          <a:ext cx="3000000" cy="3000000"/>
        </p:xfrm>
        <a:graphic>
          <a:graphicData uri="http://schemas.openxmlformats.org/drawingml/2006/table">
            <a:tbl>
              <a:tblPr bandRow="1" firstRow="1">
                <a:noFill/>
                <a:tableStyleId>{EDECB5FD-1C33-4008-BE34-F1882D0C240B}</a:tableStyleId>
              </a:tblPr>
              <a:tblGrid>
                <a:gridCol w="1461250"/>
                <a:gridCol w="1546400"/>
                <a:gridCol w="699250"/>
              </a:tblGrid>
              <a:tr h="299200">
                <a:tc>
                  <a:txBody>
                    <a:bodyPr/>
                    <a:lstStyle/>
                    <a:p>
                      <a:pPr indent="0" lvl="0" marL="0" marR="0" rtl="0" algn="l">
                        <a:spcBef>
                          <a:spcPts val="0"/>
                        </a:spcBef>
                        <a:spcAft>
                          <a:spcPts val="0"/>
                        </a:spcAft>
                        <a:buNone/>
                      </a:pPr>
                      <a:r>
                        <a:rPr lang="en-US" sz="1800"/>
                        <a:t>Author</a:t>
                      </a:r>
                      <a:endParaRPr/>
                    </a:p>
                  </a:txBody>
                  <a:tcPr marT="45725" marB="45725" marR="91450" marL="91450"/>
                </a:tc>
                <a:tc>
                  <a:txBody>
                    <a:bodyPr/>
                    <a:lstStyle/>
                    <a:p>
                      <a:pPr indent="0" lvl="0" marL="0" marR="0" rtl="0" algn="l">
                        <a:spcBef>
                          <a:spcPts val="0"/>
                        </a:spcBef>
                        <a:spcAft>
                          <a:spcPts val="0"/>
                        </a:spcAft>
                        <a:buNone/>
                      </a:pPr>
                      <a:r>
                        <a:rPr lang="en-US" sz="1800"/>
                        <a:t>Title</a:t>
                      </a:r>
                      <a:endParaRPr/>
                    </a:p>
                  </a:txBody>
                  <a:tcPr marT="45725" marB="45725" marR="91450" marL="91450"/>
                </a:tc>
                <a:tc>
                  <a:txBody>
                    <a:bodyPr/>
                    <a:lstStyle/>
                    <a:p>
                      <a:pPr indent="0" lvl="0" marL="0" marR="0" rtl="0" algn="l">
                        <a:spcBef>
                          <a:spcPts val="0"/>
                        </a:spcBef>
                        <a:spcAft>
                          <a:spcPts val="0"/>
                        </a:spcAft>
                        <a:buNone/>
                      </a:pPr>
                      <a:r>
                        <a:rPr lang="en-US" sz="1800"/>
                        <a:t>BID</a:t>
                      </a:r>
                      <a:endParaRPr/>
                    </a:p>
                  </a:txBody>
                  <a:tcPr marT="45725" marB="45725" marR="91450" marL="91450"/>
                </a:tc>
              </a:tr>
              <a:tr h="516500">
                <a:tc>
                  <a:txBody>
                    <a:bodyPr/>
                    <a:lstStyle/>
                    <a:p>
                      <a:pPr indent="0" lvl="0" marL="0" marR="0" rtl="0" algn="l">
                        <a:spcBef>
                          <a:spcPts val="0"/>
                        </a:spcBef>
                        <a:spcAft>
                          <a:spcPts val="0"/>
                        </a:spcAft>
                        <a:buNone/>
                      </a:pPr>
                      <a:r>
                        <a:rPr b="0" i="0" lang="en-US" sz="1800"/>
                        <a:t>Dostoyevsky</a:t>
                      </a:r>
                      <a:endParaRPr/>
                    </a:p>
                  </a:txBody>
                  <a:tcPr marT="45725" marB="45725" marR="91450" marL="91450"/>
                </a:tc>
                <a:tc>
                  <a:txBody>
                    <a:bodyPr/>
                    <a:lstStyle/>
                    <a:p>
                      <a:pPr indent="0" lvl="0" marL="0" marR="0" rtl="0" algn="l">
                        <a:spcBef>
                          <a:spcPts val="0"/>
                        </a:spcBef>
                        <a:spcAft>
                          <a:spcPts val="0"/>
                        </a:spcAft>
                        <a:buNone/>
                      </a:pPr>
                      <a:r>
                        <a:rPr b="0" i="0" lang="en-US" sz="1800"/>
                        <a:t>Crime</a:t>
                      </a:r>
                      <a:r>
                        <a:rPr b="0" i="0" lang="en-US" sz="1800"/>
                        <a:t> and Punishment</a:t>
                      </a:r>
                      <a:endParaRPr b="0" i="0" sz="1800"/>
                    </a:p>
                  </a:txBody>
                  <a:tcPr marT="45725" marB="45725" marR="91450" marL="91450"/>
                </a:tc>
                <a:tc>
                  <a:txBody>
                    <a:bodyPr/>
                    <a:lstStyle/>
                    <a:p>
                      <a:pPr indent="0" lvl="0" marL="0" marR="0" rtl="0" algn="l">
                        <a:spcBef>
                          <a:spcPts val="0"/>
                        </a:spcBef>
                        <a:spcAft>
                          <a:spcPts val="0"/>
                        </a:spcAft>
                        <a:buNone/>
                      </a:pPr>
                      <a:r>
                        <a:rPr b="0" i="0" lang="en-US" sz="1800"/>
                        <a:t>002</a:t>
                      </a:r>
                      <a:endParaRPr/>
                    </a:p>
                  </a:txBody>
                  <a:tcPr marT="45725" marB="45725" marR="91450" marL="91450"/>
                </a:tc>
              </a:tr>
              <a:tr h="516500">
                <a:tc>
                  <a:txBody>
                    <a:bodyPr/>
                    <a:lstStyle/>
                    <a:p>
                      <a:pPr indent="0" lvl="0" marL="0" marR="0" rtl="0" algn="l">
                        <a:spcBef>
                          <a:spcPts val="0"/>
                        </a:spcBef>
                        <a:spcAft>
                          <a:spcPts val="0"/>
                        </a:spcAft>
                        <a:buNone/>
                      </a:pPr>
                      <a:r>
                        <a:rPr b="0" i="0" lang="en-US" sz="1800"/>
                        <a:t>Tolstoy</a:t>
                      </a:r>
                      <a:endParaRPr/>
                    </a:p>
                  </a:txBody>
                  <a:tcPr marT="45725" marB="45725" marR="91450" marL="91450"/>
                </a:tc>
                <a:tc>
                  <a:txBody>
                    <a:bodyPr/>
                    <a:lstStyle/>
                    <a:p>
                      <a:pPr indent="0" lvl="0" marL="0" marR="0" rtl="0" algn="l">
                        <a:spcBef>
                          <a:spcPts val="0"/>
                        </a:spcBef>
                        <a:spcAft>
                          <a:spcPts val="0"/>
                        </a:spcAft>
                        <a:buNone/>
                      </a:pPr>
                      <a:r>
                        <a:rPr b="0" i="0" lang="en-US" sz="1800"/>
                        <a:t>Anna Karenina</a:t>
                      </a:r>
                      <a:endParaRPr/>
                    </a:p>
                  </a:txBody>
                  <a:tcPr marT="45725" marB="45725" marR="91450" marL="91450"/>
                </a:tc>
                <a:tc>
                  <a:txBody>
                    <a:bodyPr/>
                    <a:lstStyle/>
                    <a:p>
                      <a:pPr indent="0" lvl="0" marL="0" marR="0" rtl="0" algn="l">
                        <a:spcBef>
                          <a:spcPts val="0"/>
                        </a:spcBef>
                        <a:spcAft>
                          <a:spcPts val="0"/>
                        </a:spcAft>
                        <a:buNone/>
                      </a:pPr>
                      <a:r>
                        <a:rPr b="0" i="0" lang="en-US" sz="1800"/>
                        <a:t>003</a:t>
                      </a:r>
                      <a:endParaRPr/>
                    </a:p>
                  </a:txBody>
                  <a:tcPr marT="45725" marB="45725" marR="91450" marL="91450"/>
                </a:tc>
              </a:tr>
              <a:tr h="516500">
                <a:tc>
                  <a:txBody>
                    <a:bodyPr/>
                    <a:lstStyle/>
                    <a:p>
                      <a:pPr indent="0" lvl="0" marL="0" marR="0" rtl="0" algn="l">
                        <a:spcBef>
                          <a:spcPts val="0"/>
                        </a:spcBef>
                        <a:spcAft>
                          <a:spcPts val="0"/>
                        </a:spcAft>
                        <a:buNone/>
                      </a:pPr>
                      <a:r>
                        <a:rPr b="0" i="0" lang="en-US" sz="1800"/>
                        <a:t>Tolstoy</a:t>
                      </a:r>
                      <a:endParaRPr/>
                    </a:p>
                  </a:txBody>
                  <a:tcPr marT="45725" marB="45725" marR="91450" marL="91450"/>
                </a:tc>
                <a:tc>
                  <a:txBody>
                    <a:bodyPr/>
                    <a:lstStyle/>
                    <a:p>
                      <a:pPr indent="0" lvl="0" marL="0" marR="0" rtl="0" algn="l">
                        <a:spcBef>
                          <a:spcPts val="0"/>
                        </a:spcBef>
                        <a:spcAft>
                          <a:spcPts val="0"/>
                        </a:spcAft>
                        <a:buNone/>
                      </a:pPr>
                      <a:r>
                        <a:rPr b="0" i="0" lang="en-US" sz="1800"/>
                        <a:t>War</a:t>
                      </a:r>
                      <a:r>
                        <a:rPr b="0" i="0" lang="en-US" sz="1800"/>
                        <a:t> and Peace</a:t>
                      </a:r>
                      <a:endParaRPr b="0" i="0" sz="1800"/>
                    </a:p>
                  </a:txBody>
                  <a:tcPr marT="45725" marB="45725" marR="91450" marL="91450"/>
                </a:tc>
                <a:tc>
                  <a:txBody>
                    <a:bodyPr/>
                    <a:lstStyle/>
                    <a:p>
                      <a:pPr indent="0" lvl="0" marL="0" marR="0" rtl="0" algn="l">
                        <a:spcBef>
                          <a:spcPts val="0"/>
                        </a:spcBef>
                        <a:spcAft>
                          <a:spcPts val="0"/>
                        </a:spcAft>
                        <a:buNone/>
                      </a:pPr>
                      <a:r>
                        <a:rPr b="0" i="0" lang="en-US" sz="1800"/>
                        <a:t>001</a:t>
                      </a:r>
                      <a:endParaRPr/>
                    </a:p>
                  </a:txBody>
                  <a:tcPr marT="45725" marB="45725" marR="91450" marL="91450"/>
                </a:tc>
              </a:tr>
            </a:tbl>
          </a:graphicData>
        </a:graphic>
      </p:graphicFrame>
      <p:sp>
        <p:nvSpPr>
          <p:cNvPr id="528" name="Google Shape;528;p40"/>
          <p:cNvSpPr txBox="1"/>
          <p:nvPr/>
        </p:nvSpPr>
        <p:spPr>
          <a:xfrm>
            <a:off x="838201" y="4053010"/>
            <a:ext cx="311335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accent2"/>
                </a:solidFill>
                <a:latin typeface="Arial"/>
                <a:ea typeface="Arial"/>
                <a:cs typeface="Arial"/>
                <a:sym typeface="Arial"/>
              </a:rPr>
              <a:t>By_Author_Title_Index</a:t>
            </a:r>
            <a:endParaRPr b="1" sz="1800">
              <a:solidFill>
                <a:schemeClr val="accent2"/>
              </a:solidFill>
              <a:latin typeface="Arial"/>
              <a:ea typeface="Arial"/>
              <a:cs typeface="Arial"/>
              <a:sym typeface="Arial"/>
            </a:endParaRPr>
          </a:p>
        </p:txBody>
      </p:sp>
      <p:cxnSp>
        <p:nvCxnSpPr>
          <p:cNvPr id="529" name="Google Shape;529;p40"/>
          <p:cNvCxnSpPr/>
          <p:nvPr/>
        </p:nvCxnSpPr>
        <p:spPr>
          <a:xfrm flipH="1" rot="10800000">
            <a:off x="4545106" y="3049952"/>
            <a:ext cx="1113119" cy="2100272"/>
          </a:xfrm>
          <a:prstGeom prst="straightConnector1">
            <a:avLst/>
          </a:prstGeom>
          <a:noFill/>
          <a:ln cap="flat" cmpd="sng" w="9525">
            <a:solidFill>
              <a:schemeClr val="accent1"/>
            </a:solidFill>
            <a:prstDash val="solid"/>
            <a:miter lim="800000"/>
            <a:headEnd len="sm" w="sm" type="none"/>
            <a:tailEnd len="med" w="med" type="triangle"/>
          </a:ln>
        </p:spPr>
      </p:cxnSp>
      <p:cxnSp>
        <p:nvCxnSpPr>
          <p:cNvPr id="530" name="Google Shape;530;p40"/>
          <p:cNvCxnSpPr/>
          <p:nvPr/>
        </p:nvCxnSpPr>
        <p:spPr>
          <a:xfrm flipH="1" rot="10800000">
            <a:off x="4545106" y="3520600"/>
            <a:ext cx="1113119" cy="2207849"/>
          </a:xfrm>
          <a:prstGeom prst="straightConnector1">
            <a:avLst/>
          </a:prstGeom>
          <a:noFill/>
          <a:ln cap="flat" cmpd="sng" w="9525">
            <a:solidFill>
              <a:schemeClr val="accent1"/>
            </a:solidFill>
            <a:prstDash val="solid"/>
            <a:miter lim="800000"/>
            <a:headEnd len="sm" w="sm" type="none"/>
            <a:tailEnd len="med" w="med" type="triangle"/>
          </a:ln>
        </p:spPr>
      </p:cxnSp>
      <p:cxnSp>
        <p:nvCxnSpPr>
          <p:cNvPr id="531" name="Google Shape;531;p40"/>
          <p:cNvCxnSpPr/>
          <p:nvPr/>
        </p:nvCxnSpPr>
        <p:spPr>
          <a:xfrm flipH="1" rot="10800000">
            <a:off x="4554380" y="2442939"/>
            <a:ext cx="1103845" cy="3923299"/>
          </a:xfrm>
          <a:prstGeom prst="straightConnector1">
            <a:avLst/>
          </a:prstGeom>
          <a:noFill/>
          <a:ln cap="flat" cmpd="sng" w="9525">
            <a:solidFill>
              <a:schemeClr val="accent1"/>
            </a:solidFill>
            <a:prstDash val="solid"/>
            <a:miter lim="800000"/>
            <a:headEnd len="sm" w="sm" type="none"/>
            <a:tailEnd len="med" w="med" type="triangle"/>
          </a:ln>
        </p:spPr>
      </p:cxnSp>
      <p:sp>
        <p:nvSpPr>
          <p:cNvPr id="532" name="Google Shape;532;p40"/>
          <p:cNvSpPr txBox="1"/>
          <p:nvPr/>
        </p:nvSpPr>
        <p:spPr>
          <a:xfrm>
            <a:off x="5676773" y="4122980"/>
            <a:ext cx="6228357"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Calibri"/>
                <a:ea typeface="Calibri"/>
                <a:cs typeface="Calibri"/>
                <a:sym typeface="Calibri"/>
              </a:rPr>
              <a:t>Can have multiple indexes to support multiple search keys</a:t>
            </a:r>
            <a:endParaRPr sz="3200">
              <a:solidFill>
                <a:schemeClr val="dk1"/>
              </a:solidFill>
              <a:latin typeface="Calibri"/>
              <a:ea typeface="Calibri"/>
              <a:cs typeface="Calibri"/>
              <a:sym typeface="Calibri"/>
            </a:endParaRPr>
          </a:p>
        </p:txBody>
      </p:sp>
      <p:grpSp>
        <p:nvGrpSpPr>
          <p:cNvPr id="533" name="Google Shape;533;p40"/>
          <p:cNvGrpSpPr/>
          <p:nvPr/>
        </p:nvGrpSpPr>
        <p:grpSpPr>
          <a:xfrm>
            <a:off x="0" y="-22510"/>
            <a:ext cx="12192000" cy="307777"/>
            <a:chOff x="0" y="-22510"/>
            <a:chExt cx="12192000" cy="307777"/>
          </a:xfrm>
        </p:grpSpPr>
        <p:sp>
          <p:nvSpPr>
            <p:cNvPr id="534" name="Google Shape;534;p40"/>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535" name="Google Shape;535;p40"/>
            <p:cNvSpPr txBox="1"/>
            <p:nvPr/>
          </p:nvSpPr>
          <p:spPr>
            <a:xfrm>
              <a:off x="188780" y="-22510"/>
              <a:ext cx="207992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Indexes: Basics</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24"/>
                                        </p:tgtEl>
                                        <p:attrNameLst>
                                          <p:attrName>style.visibility</p:attrName>
                                        </p:attrNameLst>
                                      </p:cBhvr>
                                      <p:to>
                                        <p:strVal val="visible"/>
                                      </p:to>
                                    </p:set>
                                    <p:anim calcmode="lin" valueType="num">
                                      <p:cBhvr additive="base">
                                        <p:cTn dur="500"/>
                                        <p:tgtEl>
                                          <p:spTgt spid="52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Covering Indexes</a:t>
            </a:r>
            <a:endParaRPr/>
          </a:p>
        </p:txBody>
      </p:sp>
      <p:graphicFrame>
        <p:nvGraphicFramePr>
          <p:cNvPr id="541" name="Google Shape;541;p41"/>
          <p:cNvGraphicFramePr/>
          <p:nvPr/>
        </p:nvGraphicFramePr>
        <p:xfrm>
          <a:off x="1366838" y="3069436"/>
          <a:ext cx="3000000" cy="3000000"/>
        </p:xfrm>
        <a:graphic>
          <a:graphicData uri="http://schemas.openxmlformats.org/drawingml/2006/table">
            <a:tbl>
              <a:tblPr bandRow="1" firstRow="1">
                <a:noFill/>
                <a:tableStyleId>{EDECB5FD-1C33-4008-BE34-F1882D0C240B}</a:tableStyleId>
              </a:tblPr>
              <a:tblGrid>
                <a:gridCol w="1226675"/>
                <a:gridCol w="1021975"/>
              </a:tblGrid>
              <a:tr h="299200">
                <a:tc>
                  <a:txBody>
                    <a:bodyPr/>
                    <a:lstStyle/>
                    <a:p>
                      <a:pPr indent="0" lvl="0" marL="0" marR="0" rtl="0" algn="l">
                        <a:spcBef>
                          <a:spcPts val="0"/>
                        </a:spcBef>
                        <a:spcAft>
                          <a:spcPts val="0"/>
                        </a:spcAft>
                        <a:buNone/>
                      </a:pPr>
                      <a:r>
                        <a:rPr lang="en-US" sz="1800"/>
                        <a:t>Published</a:t>
                      </a:r>
                      <a:endParaRPr/>
                    </a:p>
                  </a:txBody>
                  <a:tcPr marT="45725" marB="45725" marR="91450" marL="91450"/>
                </a:tc>
                <a:tc>
                  <a:txBody>
                    <a:bodyPr/>
                    <a:lstStyle/>
                    <a:p>
                      <a:pPr indent="0" lvl="0" marL="0" marR="0" rtl="0" algn="l">
                        <a:spcBef>
                          <a:spcPts val="0"/>
                        </a:spcBef>
                        <a:spcAft>
                          <a:spcPts val="0"/>
                        </a:spcAft>
                        <a:buNone/>
                      </a:pPr>
                      <a:r>
                        <a:rPr lang="en-US" sz="1800"/>
                        <a:t>BID</a:t>
                      </a:r>
                      <a:endParaRPr/>
                    </a:p>
                  </a:txBody>
                  <a:tcPr marT="45725" marB="45725" marR="91450" marL="91450"/>
                </a:tc>
              </a:tr>
              <a:tr h="516500">
                <a:tc>
                  <a:txBody>
                    <a:bodyPr/>
                    <a:lstStyle/>
                    <a:p>
                      <a:pPr indent="0" lvl="0" marL="0" marR="0" rtl="0" algn="l">
                        <a:spcBef>
                          <a:spcPts val="0"/>
                        </a:spcBef>
                        <a:spcAft>
                          <a:spcPts val="0"/>
                        </a:spcAft>
                        <a:buNone/>
                      </a:pPr>
                      <a:r>
                        <a:rPr lang="en-US" sz="1800"/>
                        <a:t>1866</a:t>
                      </a:r>
                      <a:endParaRPr/>
                    </a:p>
                  </a:txBody>
                  <a:tcPr marT="45725" marB="45725" marR="91450" marL="91450"/>
                </a:tc>
                <a:tc>
                  <a:txBody>
                    <a:bodyPr/>
                    <a:lstStyle/>
                    <a:p>
                      <a:pPr indent="0" lvl="0" marL="0" marR="0" rtl="0" algn="l">
                        <a:spcBef>
                          <a:spcPts val="0"/>
                        </a:spcBef>
                        <a:spcAft>
                          <a:spcPts val="0"/>
                        </a:spcAft>
                        <a:buNone/>
                      </a:pPr>
                      <a:r>
                        <a:rPr lang="en-US" sz="1800"/>
                        <a:t>002</a:t>
                      </a:r>
                      <a:endParaRPr i="1" sz="1800"/>
                    </a:p>
                  </a:txBody>
                  <a:tcPr marT="45725" marB="45725" marR="91450" marL="91450"/>
                </a:tc>
              </a:tr>
              <a:tr h="516500">
                <a:tc>
                  <a:txBody>
                    <a:bodyPr/>
                    <a:lstStyle/>
                    <a:p>
                      <a:pPr indent="0" lvl="0" marL="0" marR="0" rtl="0" algn="l">
                        <a:spcBef>
                          <a:spcPts val="0"/>
                        </a:spcBef>
                        <a:spcAft>
                          <a:spcPts val="0"/>
                        </a:spcAft>
                        <a:buNone/>
                      </a:pPr>
                      <a:r>
                        <a:rPr b="0" i="0" lang="en-US" sz="1800"/>
                        <a:t>1869</a:t>
                      </a:r>
                      <a:endParaRPr/>
                    </a:p>
                  </a:txBody>
                  <a:tcPr marT="45725" marB="45725" marR="91450" marL="91450"/>
                </a:tc>
                <a:tc>
                  <a:txBody>
                    <a:bodyPr/>
                    <a:lstStyle/>
                    <a:p>
                      <a:pPr indent="0" lvl="0" marL="0" marR="0" rtl="0" algn="l">
                        <a:spcBef>
                          <a:spcPts val="0"/>
                        </a:spcBef>
                        <a:spcAft>
                          <a:spcPts val="0"/>
                        </a:spcAft>
                        <a:buNone/>
                      </a:pPr>
                      <a:r>
                        <a:rPr b="0" i="0" lang="en-US" sz="1800"/>
                        <a:t>001</a:t>
                      </a:r>
                      <a:endParaRPr/>
                    </a:p>
                  </a:txBody>
                  <a:tcPr marT="45725" marB="45725" marR="91450" marL="91450"/>
                </a:tc>
              </a:tr>
              <a:tr h="516500">
                <a:tc>
                  <a:txBody>
                    <a:bodyPr/>
                    <a:lstStyle/>
                    <a:p>
                      <a:pPr indent="0" lvl="0" marL="0" marR="0" rtl="0" algn="l">
                        <a:spcBef>
                          <a:spcPts val="0"/>
                        </a:spcBef>
                        <a:spcAft>
                          <a:spcPts val="0"/>
                        </a:spcAft>
                        <a:buNone/>
                      </a:pPr>
                      <a:r>
                        <a:rPr b="0" i="0" lang="en-US" sz="1800"/>
                        <a:t>1877</a:t>
                      </a:r>
                      <a:endParaRPr/>
                    </a:p>
                  </a:txBody>
                  <a:tcPr marT="45725" marB="45725" marR="91450" marL="91450"/>
                </a:tc>
                <a:tc>
                  <a:txBody>
                    <a:bodyPr/>
                    <a:lstStyle/>
                    <a:p>
                      <a:pPr indent="0" lvl="0" marL="0" marR="0" rtl="0" algn="l">
                        <a:spcBef>
                          <a:spcPts val="0"/>
                        </a:spcBef>
                        <a:spcAft>
                          <a:spcPts val="0"/>
                        </a:spcAft>
                        <a:buNone/>
                      </a:pPr>
                      <a:r>
                        <a:rPr b="0" i="0" lang="en-US" sz="1800"/>
                        <a:t>003</a:t>
                      </a:r>
                      <a:endParaRPr/>
                    </a:p>
                  </a:txBody>
                  <a:tcPr marT="45725" marB="45725" marR="91450" marL="91450"/>
                </a:tc>
              </a:tr>
            </a:tbl>
          </a:graphicData>
        </a:graphic>
      </p:graphicFrame>
      <p:sp>
        <p:nvSpPr>
          <p:cNvPr id="542" name="Google Shape;542;p41"/>
          <p:cNvSpPr txBox="1"/>
          <p:nvPr/>
        </p:nvSpPr>
        <p:spPr>
          <a:xfrm>
            <a:off x="1366838" y="2565171"/>
            <a:ext cx="223009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By_Yr_Index</a:t>
            </a:r>
            <a:endParaRPr b="1" sz="2400">
              <a:solidFill>
                <a:schemeClr val="accent2"/>
              </a:solidFill>
              <a:latin typeface="Arial"/>
              <a:ea typeface="Arial"/>
              <a:cs typeface="Arial"/>
              <a:sym typeface="Arial"/>
            </a:endParaRPr>
          </a:p>
        </p:txBody>
      </p:sp>
      <p:sp>
        <p:nvSpPr>
          <p:cNvPr id="543" name="Google Shape;543;p41"/>
          <p:cNvSpPr txBox="1"/>
          <p:nvPr/>
        </p:nvSpPr>
        <p:spPr>
          <a:xfrm>
            <a:off x="5094754" y="1770546"/>
            <a:ext cx="6463834" cy="1569660"/>
          </a:xfrm>
          <a:prstGeom prst="rect">
            <a:avLst/>
          </a:prstGeom>
          <a:solidFill>
            <a:srgbClr val="DDEAF6"/>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We say that an index is </a:t>
            </a:r>
            <a:r>
              <a:rPr b="1" lang="en-US" sz="2400" u="sng">
                <a:solidFill>
                  <a:srgbClr val="000000"/>
                </a:solidFill>
                <a:latin typeface="Calibri"/>
                <a:ea typeface="Calibri"/>
                <a:cs typeface="Calibri"/>
                <a:sym typeface="Calibri"/>
              </a:rPr>
              <a:t>covering</a:t>
            </a:r>
            <a:r>
              <a:rPr lang="en-US" sz="2400">
                <a:solidFill>
                  <a:srgbClr val="000000"/>
                </a:solidFill>
                <a:latin typeface="Calibri"/>
                <a:ea typeface="Calibri"/>
                <a:cs typeface="Calibri"/>
                <a:sym typeface="Calibri"/>
              </a:rPr>
              <a:t> </a:t>
            </a:r>
            <a:r>
              <a:rPr i="1" lang="en-US" sz="2400">
                <a:solidFill>
                  <a:srgbClr val="000000"/>
                </a:solidFill>
                <a:latin typeface="Calibri"/>
                <a:ea typeface="Calibri"/>
                <a:cs typeface="Calibri"/>
                <a:sym typeface="Calibri"/>
              </a:rPr>
              <a:t>for a specific query</a:t>
            </a:r>
            <a:r>
              <a:rPr lang="en-US" sz="2400">
                <a:solidFill>
                  <a:srgbClr val="000000"/>
                </a:solidFill>
                <a:latin typeface="Calibri"/>
                <a:ea typeface="Calibri"/>
                <a:cs typeface="Calibri"/>
                <a:sym typeface="Calibri"/>
              </a:rPr>
              <a:t> if the index contains all the needed attributes- </a:t>
            </a:r>
            <a:r>
              <a:rPr b="1" i="1" lang="en-US" sz="2400">
                <a:solidFill>
                  <a:srgbClr val="000000"/>
                </a:solidFill>
                <a:latin typeface="Calibri"/>
                <a:ea typeface="Calibri"/>
                <a:cs typeface="Calibri"/>
                <a:sym typeface="Calibri"/>
              </a:rPr>
              <a:t>meaning the query can be answered using the index alone!</a:t>
            </a:r>
            <a:endParaRPr/>
          </a:p>
        </p:txBody>
      </p:sp>
      <p:sp>
        <p:nvSpPr>
          <p:cNvPr id="544" name="Google Shape;544;p41"/>
          <p:cNvSpPr txBox="1"/>
          <p:nvPr/>
        </p:nvSpPr>
        <p:spPr>
          <a:xfrm>
            <a:off x="5094754" y="3667165"/>
            <a:ext cx="6463834" cy="830997"/>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The “needed” attributes are the union of those in the SELECT and WHERE clauses…</a:t>
            </a:r>
            <a:endParaRPr b="1" i="1" sz="2400">
              <a:solidFill>
                <a:srgbClr val="000000"/>
              </a:solidFill>
              <a:latin typeface="Calibri"/>
              <a:ea typeface="Calibri"/>
              <a:cs typeface="Calibri"/>
              <a:sym typeface="Calibri"/>
            </a:endParaRPr>
          </a:p>
        </p:txBody>
      </p:sp>
      <p:grpSp>
        <p:nvGrpSpPr>
          <p:cNvPr id="545" name="Google Shape;545;p41"/>
          <p:cNvGrpSpPr/>
          <p:nvPr/>
        </p:nvGrpSpPr>
        <p:grpSpPr>
          <a:xfrm>
            <a:off x="5576146" y="4984720"/>
            <a:ext cx="5982442" cy="1200329"/>
            <a:chOff x="5576146" y="4984720"/>
            <a:chExt cx="5982442" cy="1200329"/>
          </a:xfrm>
        </p:grpSpPr>
        <p:sp>
          <p:nvSpPr>
            <p:cNvPr id="546" name="Google Shape;546;p41"/>
            <p:cNvSpPr/>
            <p:nvPr/>
          </p:nvSpPr>
          <p:spPr>
            <a:xfrm>
              <a:off x="7283059" y="4984720"/>
              <a:ext cx="4275529" cy="1200329"/>
            </a:xfrm>
            <a:prstGeom prst="rect">
              <a:avLst/>
            </a:prstGeom>
            <a:solidFill>
              <a:schemeClr val="lt1"/>
            </a:solidFill>
            <a:ln cap="flat" cmpd="sng" w="9525">
              <a:solidFill>
                <a:schemeClr val="dk1"/>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accent2"/>
                  </a:solidFill>
                  <a:latin typeface="Arial"/>
                  <a:ea typeface="Arial"/>
                  <a:cs typeface="Arial"/>
                  <a:sym typeface="Arial"/>
                </a:rPr>
                <a:t>SELECT </a:t>
              </a:r>
              <a:r>
                <a:rPr lang="en-US" sz="2400">
                  <a:solidFill>
                    <a:schemeClr val="dk1"/>
                  </a:solidFill>
                  <a:latin typeface="Arial"/>
                  <a:ea typeface="Arial"/>
                  <a:cs typeface="Arial"/>
                  <a:sym typeface="Arial"/>
                </a:rPr>
                <a:t>Published, BID</a:t>
              </a:r>
              <a:endParaRPr sz="2400">
                <a:solidFill>
                  <a:schemeClr val="dk1"/>
                </a:solidFill>
                <a:latin typeface="Arial"/>
                <a:ea typeface="Arial"/>
                <a:cs typeface="Arial"/>
                <a:sym typeface="Arial"/>
              </a:endParaRPr>
            </a:p>
            <a:p>
              <a:pPr indent="0" lvl="0" marL="0" marR="0" rtl="0" algn="l">
                <a:spcBef>
                  <a:spcPts val="0"/>
                </a:spcBef>
                <a:spcAft>
                  <a:spcPts val="0"/>
                </a:spcAft>
                <a:buNone/>
              </a:pPr>
              <a:r>
                <a:rPr lang="en-US" sz="2400">
                  <a:solidFill>
                    <a:schemeClr val="accent2"/>
                  </a:solidFill>
                  <a:latin typeface="Arial"/>
                  <a:ea typeface="Arial"/>
                  <a:cs typeface="Arial"/>
                  <a:sym typeface="Arial"/>
                </a:rPr>
                <a:t>FROM </a:t>
              </a:r>
              <a:r>
                <a:rPr lang="en-US" sz="2400">
                  <a:solidFill>
                    <a:schemeClr val="dk1"/>
                  </a:solidFill>
                  <a:latin typeface="Arial"/>
                  <a:ea typeface="Arial"/>
                  <a:cs typeface="Arial"/>
                  <a:sym typeface="Arial"/>
                </a:rPr>
                <a:t>Russian_Novels</a:t>
              </a:r>
              <a:br>
                <a:rPr lang="en-US" sz="2400">
                  <a:solidFill>
                    <a:schemeClr val="accent2"/>
                  </a:solidFill>
                  <a:latin typeface="Arial"/>
                  <a:ea typeface="Arial"/>
                  <a:cs typeface="Arial"/>
                  <a:sym typeface="Arial"/>
                </a:rPr>
              </a:br>
              <a:r>
                <a:rPr lang="en-US" sz="2400">
                  <a:solidFill>
                    <a:schemeClr val="accent2"/>
                  </a:solidFill>
                  <a:latin typeface="Arial"/>
                  <a:ea typeface="Arial"/>
                  <a:cs typeface="Arial"/>
                  <a:sym typeface="Arial"/>
                </a:rPr>
                <a:t>WHERE </a:t>
              </a:r>
              <a:r>
                <a:rPr lang="en-US" sz="2400">
                  <a:solidFill>
                    <a:schemeClr val="dk1"/>
                  </a:solidFill>
                  <a:latin typeface="Arial"/>
                  <a:ea typeface="Arial"/>
                  <a:cs typeface="Arial"/>
                  <a:sym typeface="Arial"/>
                </a:rPr>
                <a:t>Published &gt; 1867</a:t>
              </a:r>
              <a:endParaRPr/>
            </a:p>
          </p:txBody>
        </p:sp>
        <p:sp>
          <p:nvSpPr>
            <p:cNvPr id="547" name="Google Shape;547;p41"/>
            <p:cNvSpPr txBox="1"/>
            <p:nvPr/>
          </p:nvSpPr>
          <p:spPr>
            <a:xfrm>
              <a:off x="5576146" y="4984720"/>
              <a:ext cx="151188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Example:</a:t>
              </a:r>
              <a:endParaRPr/>
            </a:p>
          </p:txBody>
        </p:sp>
      </p:grpSp>
      <p:grpSp>
        <p:nvGrpSpPr>
          <p:cNvPr id="548" name="Google Shape;548;p41"/>
          <p:cNvGrpSpPr/>
          <p:nvPr/>
        </p:nvGrpSpPr>
        <p:grpSpPr>
          <a:xfrm>
            <a:off x="0" y="-22510"/>
            <a:ext cx="12192000" cy="307777"/>
            <a:chOff x="0" y="-22510"/>
            <a:chExt cx="12192000" cy="307777"/>
          </a:xfrm>
        </p:grpSpPr>
        <p:sp>
          <p:nvSpPr>
            <p:cNvPr id="549" name="Google Shape;549;p41"/>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550" name="Google Shape;550;p41"/>
            <p:cNvSpPr txBox="1"/>
            <p:nvPr/>
          </p:nvSpPr>
          <p:spPr>
            <a:xfrm>
              <a:off x="188780" y="-22510"/>
              <a:ext cx="207992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Indexes: Basics</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High-level Categories of Index Types</a:t>
            </a:r>
            <a:endParaRPr/>
          </a:p>
        </p:txBody>
      </p:sp>
      <p:sp>
        <p:nvSpPr>
          <p:cNvPr id="556" name="Google Shape;556;p42"/>
          <p:cNvSpPr txBox="1"/>
          <p:nvPr>
            <p:ph idx="1" type="body"/>
          </p:nvPr>
        </p:nvSpPr>
        <p:spPr>
          <a:xfrm>
            <a:off x="838200" y="1600201"/>
            <a:ext cx="10515600" cy="2851574"/>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lang="en-US" sz="2400"/>
              <a:t>B-Trees </a:t>
            </a:r>
            <a:r>
              <a:rPr i="1" lang="en-US" sz="2400"/>
              <a:t>(covered next)</a:t>
            </a:r>
            <a:endParaRPr/>
          </a:p>
          <a:p>
            <a:pPr indent="-228600" lvl="1" marL="685800" rtl="0" algn="l">
              <a:lnSpc>
                <a:spcPct val="90000"/>
              </a:lnSpc>
              <a:spcBef>
                <a:spcPts val="500"/>
              </a:spcBef>
              <a:spcAft>
                <a:spcPts val="0"/>
              </a:spcAft>
              <a:buClr>
                <a:schemeClr val="dk1"/>
              </a:buClr>
              <a:buSzPts val="2400"/>
              <a:buChar char="•"/>
            </a:pPr>
            <a:r>
              <a:rPr lang="en-US"/>
              <a:t>Very good for range queries, sorted data</a:t>
            </a:r>
            <a:endParaRPr/>
          </a:p>
          <a:p>
            <a:pPr indent="-228600" lvl="1" marL="685800" rtl="0" algn="l">
              <a:lnSpc>
                <a:spcPct val="90000"/>
              </a:lnSpc>
              <a:spcBef>
                <a:spcPts val="500"/>
              </a:spcBef>
              <a:spcAft>
                <a:spcPts val="0"/>
              </a:spcAft>
              <a:buClr>
                <a:schemeClr val="dk1"/>
              </a:buClr>
              <a:buSzPts val="2400"/>
              <a:buChar char="•"/>
            </a:pPr>
            <a:r>
              <a:rPr lang="en-US"/>
              <a:t>Some old databases only implemented B-Trees</a:t>
            </a:r>
            <a:endParaRPr/>
          </a:p>
          <a:p>
            <a:pPr indent="-228600" lvl="1" marL="685800" rtl="0" algn="l">
              <a:lnSpc>
                <a:spcPct val="90000"/>
              </a:lnSpc>
              <a:spcBef>
                <a:spcPts val="500"/>
              </a:spcBef>
              <a:spcAft>
                <a:spcPts val="0"/>
              </a:spcAft>
              <a:buClr>
                <a:schemeClr val="dk1"/>
              </a:buClr>
              <a:buSzPts val="2400"/>
              <a:buChar char="•"/>
            </a:pPr>
            <a:r>
              <a:rPr i="1" lang="en-US"/>
              <a:t>We will look at a variant called </a:t>
            </a:r>
            <a:r>
              <a:rPr b="1" i="1" lang="en-US"/>
              <a:t>B+ Trees</a:t>
            </a:r>
            <a:endParaRPr i="1"/>
          </a:p>
          <a:p>
            <a:pPr indent="-76200" lvl="0" marL="228600" rtl="0" algn="l">
              <a:lnSpc>
                <a:spcPct val="90000"/>
              </a:lnSpc>
              <a:spcBef>
                <a:spcPts val="1000"/>
              </a:spcBef>
              <a:spcAft>
                <a:spcPts val="0"/>
              </a:spcAft>
              <a:buClr>
                <a:schemeClr val="dk1"/>
              </a:buClr>
              <a:buSzPts val="2400"/>
              <a:buNone/>
            </a:pPr>
            <a:r>
              <a:t/>
            </a:r>
            <a:endParaRPr sz="2400"/>
          </a:p>
          <a:p>
            <a:pPr indent="-228600" lvl="0" marL="228600" rtl="0" algn="l">
              <a:lnSpc>
                <a:spcPct val="90000"/>
              </a:lnSpc>
              <a:spcBef>
                <a:spcPts val="1000"/>
              </a:spcBef>
              <a:spcAft>
                <a:spcPts val="0"/>
              </a:spcAft>
              <a:buClr>
                <a:schemeClr val="dk1"/>
              </a:buClr>
              <a:buSzPts val="2400"/>
              <a:buChar char="•"/>
            </a:pPr>
            <a:r>
              <a:rPr lang="en-US" sz="2400"/>
              <a:t>Hash Tables </a:t>
            </a:r>
            <a:r>
              <a:rPr i="1" lang="en-US" sz="2400"/>
              <a:t>(not covered)</a:t>
            </a:r>
            <a:endParaRPr/>
          </a:p>
          <a:p>
            <a:pPr indent="-228600" lvl="1" marL="685800" rtl="0" algn="l">
              <a:lnSpc>
                <a:spcPct val="90000"/>
              </a:lnSpc>
              <a:spcBef>
                <a:spcPts val="500"/>
              </a:spcBef>
              <a:spcAft>
                <a:spcPts val="0"/>
              </a:spcAft>
              <a:buClr>
                <a:schemeClr val="dk1"/>
              </a:buClr>
              <a:buSzPts val="2400"/>
              <a:buChar char="•"/>
            </a:pPr>
            <a:r>
              <a:rPr lang="en-US"/>
              <a:t>There are variants of this basic structure to deal with IO</a:t>
            </a:r>
            <a:endParaRPr/>
          </a:p>
          <a:p>
            <a:pPr indent="-228600" lvl="1" marL="685800" rtl="0" algn="l">
              <a:lnSpc>
                <a:spcPct val="90000"/>
              </a:lnSpc>
              <a:spcBef>
                <a:spcPts val="500"/>
              </a:spcBef>
              <a:spcAft>
                <a:spcPts val="0"/>
              </a:spcAft>
              <a:buClr>
                <a:schemeClr val="dk1"/>
              </a:buClr>
              <a:buSzPts val="2400"/>
              <a:buChar char="•"/>
            </a:pPr>
            <a:r>
              <a:rPr lang="en-US"/>
              <a:t>Called </a:t>
            </a:r>
            <a:r>
              <a:rPr b="1" i="1" lang="en-US"/>
              <a:t>linear </a:t>
            </a:r>
            <a:r>
              <a:rPr lang="en-US"/>
              <a:t>or </a:t>
            </a:r>
            <a:r>
              <a:rPr b="1" i="1" lang="en-US"/>
              <a:t>extendible hashing-</a:t>
            </a:r>
            <a:r>
              <a:rPr lang="en-US"/>
              <a:t> IO aware!</a:t>
            </a:r>
            <a:endParaRPr/>
          </a:p>
        </p:txBody>
      </p:sp>
      <p:sp>
        <p:nvSpPr>
          <p:cNvPr id="557" name="Google Shape;557;p42"/>
          <p:cNvSpPr txBox="1"/>
          <p:nvPr/>
        </p:nvSpPr>
        <p:spPr>
          <a:xfrm>
            <a:off x="8447132" y="2346574"/>
            <a:ext cx="3051419" cy="1433960"/>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00"/>
                </a:solidFill>
                <a:latin typeface="Calibri"/>
                <a:ea typeface="Calibri"/>
                <a:cs typeface="Calibri"/>
                <a:sym typeface="Calibri"/>
              </a:rPr>
              <a:t>The data structures we present here are “IO aware”</a:t>
            </a:r>
            <a:endParaRPr/>
          </a:p>
        </p:txBody>
      </p:sp>
      <p:sp>
        <p:nvSpPr>
          <p:cNvPr id="558" name="Google Shape;558;p42"/>
          <p:cNvSpPr txBox="1"/>
          <p:nvPr/>
        </p:nvSpPr>
        <p:spPr>
          <a:xfrm>
            <a:off x="2219157" y="5356517"/>
            <a:ext cx="7753684" cy="1015663"/>
          </a:xfrm>
          <a:prstGeom prst="rect">
            <a:avLst/>
          </a:prstGeom>
          <a:solidFill>
            <a:srgbClr val="E1EFD8"/>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000">
                <a:solidFill>
                  <a:srgbClr val="000000"/>
                </a:solidFill>
                <a:latin typeface="Calibri"/>
                <a:ea typeface="Calibri"/>
                <a:cs typeface="Calibri"/>
                <a:sym typeface="Calibri"/>
              </a:rPr>
              <a:t>Real difference between structures</a:t>
            </a:r>
            <a:r>
              <a:rPr lang="en-US" sz="3000">
                <a:solidFill>
                  <a:srgbClr val="000000"/>
                </a:solidFill>
                <a:latin typeface="Calibri"/>
                <a:ea typeface="Calibri"/>
                <a:cs typeface="Calibri"/>
                <a:sym typeface="Calibri"/>
              </a:rPr>
              <a:t>: costs of ops </a:t>
            </a:r>
            <a:r>
              <a:rPr i="1" lang="en-US" sz="3000">
                <a:solidFill>
                  <a:srgbClr val="000000"/>
                </a:solidFill>
                <a:latin typeface="Calibri"/>
                <a:ea typeface="Calibri"/>
                <a:cs typeface="Calibri"/>
                <a:sym typeface="Calibri"/>
              </a:rPr>
              <a:t>determines which index you pick and why</a:t>
            </a:r>
            <a:endParaRPr/>
          </a:p>
        </p:txBody>
      </p:sp>
      <p:grpSp>
        <p:nvGrpSpPr>
          <p:cNvPr id="559" name="Google Shape;559;p42"/>
          <p:cNvGrpSpPr/>
          <p:nvPr/>
        </p:nvGrpSpPr>
        <p:grpSpPr>
          <a:xfrm>
            <a:off x="0" y="-22510"/>
            <a:ext cx="12192000" cy="307777"/>
            <a:chOff x="0" y="-22510"/>
            <a:chExt cx="12192000" cy="307777"/>
          </a:xfrm>
        </p:grpSpPr>
        <p:sp>
          <p:nvSpPr>
            <p:cNvPr id="560" name="Google Shape;560;p42"/>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561" name="Google Shape;561;p42"/>
            <p:cNvSpPr txBox="1"/>
            <p:nvPr/>
          </p:nvSpPr>
          <p:spPr>
            <a:xfrm>
              <a:off x="188780" y="-22510"/>
              <a:ext cx="207992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Indexes: Basics</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4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lang="en-US" u="sng">
                <a:solidFill>
                  <a:schemeClr val="hlink"/>
                </a:solidFill>
                <a:hlinkClick r:id="rId3"/>
              </a:rPr>
              <a:t>Activity-13.ipynb</a:t>
            </a:r>
            <a:endParaRPr/>
          </a:p>
        </p:txBody>
      </p:sp>
      <p:sp>
        <p:nvSpPr>
          <p:cNvPr id="567" name="Google Shape;567;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568" name="Google Shape;568;p43"/>
          <p:cNvGrpSpPr/>
          <p:nvPr/>
        </p:nvGrpSpPr>
        <p:grpSpPr>
          <a:xfrm>
            <a:off x="0" y="-22510"/>
            <a:ext cx="12192000" cy="307777"/>
            <a:chOff x="0" y="-22510"/>
            <a:chExt cx="12192000" cy="307777"/>
          </a:xfrm>
        </p:grpSpPr>
        <p:sp>
          <p:nvSpPr>
            <p:cNvPr id="569" name="Google Shape;569;p43"/>
            <p:cNvSpPr/>
            <p:nvPr/>
          </p:nvSpPr>
          <p:spPr>
            <a:xfrm>
              <a:off x="0" y="0"/>
              <a:ext cx="12192000" cy="262759"/>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570" name="Google Shape;570;p43"/>
            <p:cNvSpPr txBox="1"/>
            <p:nvPr/>
          </p:nvSpPr>
          <p:spPr>
            <a:xfrm>
              <a:off x="188780" y="-22510"/>
              <a:ext cx="165596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ACTIVITY</a:t>
              </a:r>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Project #2 Hint</a:t>
            </a:r>
            <a:endParaRPr/>
          </a:p>
        </p:txBody>
      </p:sp>
      <p:sp>
        <p:nvSpPr>
          <p:cNvPr id="576" name="Google Shape;576;p44"/>
          <p:cNvSpPr txBox="1"/>
          <p:nvPr>
            <p:ph idx="1" type="body"/>
          </p:nvPr>
        </p:nvSpPr>
        <p:spPr>
          <a:xfrm>
            <a:off x="838200" y="1825624"/>
            <a:ext cx="10515600" cy="4740275"/>
          </a:xfrm>
          <a:prstGeom prst="rect">
            <a:avLst/>
          </a:prstGeom>
          <a:noFill/>
          <a:ln>
            <a:noFill/>
          </a:ln>
        </p:spPr>
        <p:txBody>
          <a:bodyPr anchorCtr="0" anchor="t" bIns="45700" lIns="91425" spcFirstLastPara="1" rIns="91425" wrap="square" tIns="45700">
            <a:normAutofit/>
          </a:bodyPr>
          <a:lstStyle/>
          <a:p>
            <a:pPr indent="-76200" lvl="1" marL="685800" rtl="0" algn="l">
              <a:lnSpc>
                <a:spcPct val="90000"/>
              </a:lnSpc>
              <a:spcBef>
                <a:spcPts val="0"/>
              </a:spcBef>
              <a:spcAft>
                <a:spcPts val="0"/>
              </a:spcAft>
              <a:buClr>
                <a:schemeClr val="dk1"/>
              </a:buClr>
              <a:buSzPts val="2400"/>
              <a:buNone/>
            </a:pPr>
            <a:r>
              <a:t/>
            </a:r>
            <a:endParaRPr/>
          </a:p>
          <a:p>
            <a:pPr indent="-228600" lvl="0" marL="228600" rtl="0" algn="l">
              <a:lnSpc>
                <a:spcPct val="90000"/>
              </a:lnSpc>
              <a:spcBef>
                <a:spcPts val="1000"/>
              </a:spcBef>
              <a:spcAft>
                <a:spcPts val="0"/>
              </a:spcAft>
              <a:buClr>
                <a:schemeClr val="dk1"/>
              </a:buClr>
              <a:buSzPts val="2800"/>
              <a:buChar char="•"/>
            </a:pPr>
            <a:r>
              <a:rPr lang="en-US"/>
              <a:t>You may want to do </a:t>
            </a:r>
            <a:r>
              <a:rPr i="1" lang="en-US"/>
              <a:t>Trigger activity </a:t>
            </a:r>
            <a:r>
              <a:rPr lang="en-US"/>
              <a:t>for project 2.</a:t>
            </a:r>
            <a:endParaRPr i="1"/>
          </a:p>
          <a:p>
            <a:pPr indent="-228600" lvl="1" marL="685800" rtl="0" algn="l">
              <a:lnSpc>
                <a:spcPct val="90000"/>
              </a:lnSpc>
              <a:spcBef>
                <a:spcPts val="500"/>
              </a:spcBef>
              <a:spcAft>
                <a:spcPts val="0"/>
              </a:spcAft>
              <a:buClr>
                <a:schemeClr val="dk1"/>
              </a:buClr>
              <a:buSzPts val="2400"/>
              <a:buChar char="•"/>
            </a:pPr>
            <a:r>
              <a:rPr lang="en-US"/>
              <a:t>We’ve noticed those who do it have less trouble with project!</a:t>
            </a:r>
            <a:endParaRPr/>
          </a:p>
          <a:p>
            <a:pPr indent="0" lvl="2" marL="914400" rtl="0" algn="l">
              <a:lnSpc>
                <a:spcPct val="90000"/>
              </a:lnSpc>
              <a:spcBef>
                <a:spcPts val="500"/>
              </a:spcBef>
              <a:spcAft>
                <a:spcPts val="0"/>
              </a:spcAft>
              <a:buClr>
                <a:schemeClr val="dk1"/>
              </a:buClr>
              <a:buSzPts val="2000"/>
              <a:buNone/>
            </a:pPr>
            <a:r>
              <a:t/>
            </a:r>
            <a:endParaRPr/>
          </a:p>
          <a:p>
            <a:pPr indent="-228600" lvl="1" marL="685800" rtl="0" algn="l">
              <a:lnSpc>
                <a:spcPct val="90000"/>
              </a:lnSpc>
              <a:spcBef>
                <a:spcPts val="500"/>
              </a:spcBef>
              <a:spcAft>
                <a:spcPts val="0"/>
              </a:spcAft>
              <a:buClr>
                <a:schemeClr val="dk1"/>
              </a:buClr>
              <a:buSzPts val="2400"/>
              <a:buChar char="•"/>
            </a:pPr>
            <a:r>
              <a:rPr lang="en-US"/>
              <a:t>Seems like we’re good here ☺ Exciting for us!</a:t>
            </a:r>
            <a:endParaRPr/>
          </a:p>
          <a:p>
            <a:pPr indent="-76200" lvl="1" marL="685800" rtl="0" algn="l">
              <a:lnSpc>
                <a:spcPct val="90000"/>
              </a:lnSpc>
              <a:spcBef>
                <a:spcPts val="500"/>
              </a:spcBef>
              <a:spcAft>
                <a:spcPts val="0"/>
              </a:spcAft>
              <a:buClr>
                <a:schemeClr val="dk1"/>
              </a:buClr>
              <a:buSzPts val="2400"/>
              <a:buNone/>
            </a:pPr>
            <a:r>
              <a:t/>
            </a:r>
            <a:endParaRPr/>
          </a:p>
          <a:p>
            <a:pPr indent="-76200" lvl="1" marL="685800" rtl="0" algn="l">
              <a:lnSpc>
                <a:spcPct val="90000"/>
              </a:lnSpc>
              <a:spcBef>
                <a:spcPts val="500"/>
              </a:spcBef>
              <a:spcAft>
                <a:spcPts val="0"/>
              </a:spcAft>
              <a:buClr>
                <a:schemeClr val="dk1"/>
              </a:buClr>
              <a:buSzPts val="2400"/>
              <a:buNone/>
            </a:pPr>
            <a:r>
              <a:t/>
            </a:r>
            <a:endParaRPr/>
          </a:p>
        </p:txBody>
      </p:sp>
      <p:grpSp>
        <p:nvGrpSpPr>
          <p:cNvPr id="577" name="Google Shape;577;p44"/>
          <p:cNvGrpSpPr/>
          <p:nvPr/>
        </p:nvGrpSpPr>
        <p:grpSpPr>
          <a:xfrm>
            <a:off x="0" y="-22510"/>
            <a:ext cx="12192000" cy="307777"/>
            <a:chOff x="0" y="-22510"/>
            <a:chExt cx="12192000" cy="307777"/>
          </a:xfrm>
        </p:grpSpPr>
        <p:sp>
          <p:nvSpPr>
            <p:cNvPr id="578" name="Google Shape;578;p44"/>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579" name="Google Shape;579;p44"/>
            <p:cNvSpPr txBox="1"/>
            <p:nvPr/>
          </p:nvSpPr>
          <p:spPr>
            <a:xfrm>
              <a:off x="188780" y="-22510"/>
              <a:ext cx="93968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a:t>
              </a:r>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4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lang="en-US"/>
              <a:t>2. B+ Trees</a:t>
            </a:r>
            <a:endParaRPr/>
          </a:p>
        </p:txBody>
      </p:sp>
      <p:sp>
        <p:nvSpPr>
          <p:cNvPr id="585" name="Google Shape;585;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586" name="Google Shape;586;p45"/>
          <p:cNvGrpSpPr/>
          <p:nvPr/>
        </p:nvGrpSpPr>
        <p:grpSpPr>
          <a:xfrm>
            <a:off x="0" y="-22510"/>
            <a:ext cx="12192000" cy="307777"/>
            <a:chOff x="0" y="-22510"/>
            <a:chExt cx="12192000" cy="307777"/>
          </a:xfrm>
        </p:grpSpPr>
        <p:sp>
          <p:nvSpPr>
            <p:cNvPr id="587" name="Google Shape;587;p45"/>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588" name="Google Shape;588;p45"/>
            <p:cNvSpPr txBox="1"/>
            <p:nvPr/>
          </p:nvSpPr>
          <p:spPr>
            <a:xfrm>
              <a:off x="188780" y="-22510"/>
              <a:ext cx="167385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Section 2</a:t>
              </a:r>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What you will learn about in this section</a:t>
            </a:r>
            <a:endParaRPr/>
          </a:p>
        </p:txBody>
      </p:sp>
      <p:sp>
        <p:nvSpPr>
          <p:cNvPr id="595" name="Google Shape;595;p46"/>
          <p:cNvSpPr txBox="1"/>
          <p:nvPr>
            <p:ph idx="1" type="body"/>
          </p:nvPr>
        </p:nvSpPr>
        <p:spPr>
          <a:xfrm>
            <a:off x="838200" y="1825624"/>
            <a:ext cx="10515600" cy="4175783"/>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chemeClr val="dk1"/>
              </a:buClr>
              <a:buSzPts val="2800"/>
              <a:buAutoNum type="arabicPeriod"/>
            </a:pPr>
            <a:r>
              <a:rPr lang="en-US">
                <a:latin typeface="Calibri"/>
                <a:ea typeface="Calibri"/>
                <a:cs typeface="Calibri"/>
                <a:sym typeface="Calibri"/>
              </a:rPr>
              <a:t>B+ Trees: Basics</a:t>
            </a:r>
            <a:endParaRPr/>
          </a:p>
          <a:p>
            <a:pPr indent="-336550" lvl="0" marL="514350" rtl="0" algn="l">
              <a:lnSpc>
                <a:spcPct val="90000"/>
              </a:lnSpc>
              <a:spcBef>
                <a:spcPts val="1000"/>
              </a:spcBef>
              <a:spcAft>
                <a:spcPts val="0"/>
              </a:spcAft>
              <a:buClr>
                <a:schemeClr val="dk1"/>
              </a:buClr>
              <a:buSzPts val="2800"/>
              <a:buNone/>
            </a:pPr>
            <a:r>
              <a:t/>
            </a:r>
            <a:endParaRPr>
              <a:latin typeface="Calibri"/>
              <a:ea typeface="Calibri"/>
              <a:cs typeface="Calibri"/>
              <a:sym typeface="Calibri"/>
            </a:endParaRPr>
          </a:p>
          <a:p>
            <a:pPr indent="-514350" lvl="0" marL="514350" rtl="0" algn="l">
              <a:lnSpc>
                <a:spcPct val="90000"/>
              </a:lnSpc>
              <a:spcBef>
                <a:spcPts val="1000"/>
              </a:spcBef>
              <a:spcAft>
                <a:spcPts val="0"/>
              </a:spcAft>
              <a:buClr>
                <a:schemeClr val="dk1"/>
              </a:buClr>
              <a:buSzPts val="2800"/>
              <a:buAutoNum type="arabicPeriod"/>
            </a:pPr>
            <a:r>
              <a:rPr lang="en-US">
                <a:latin typeface="Calibri"/>
                <a:ea typeface="Calibri"/>
                <a:cs typeface="Calibri"/>
                <a:sym typeface="Calibri"/>
              </a:rPr>
              <a:t>B+ Trees: Design &amp; Cost</a:t>
            </a:r>
            <a:endParaRPr/>
          </a:p>
          <a:p>
            <a:pPr indent="-336550" lvl="0" marL="514350" rtl="0" algn="l">
              <a:lnSpc>
                <a:spcPct val="90000"/>
              </a:lnSpc>
              <a:spcBef>
                <a:spcPts val="1000"/>
              </a:spcBef>
              <a:spcAft>
                <a:spcPts val="0"/>
              </a:spcAft>
              <a:buClr>
                <a:schemeClr val="dk1"/>
              </a:buClr>
              <a:buSzPts val="2800"/>
              <a:buNone/>
            </a:pPr>
            <a:r>
              <a:t/>
            </a:r>
            <a:endParaRPr>
              <a:latin typeface="Calibri"/>
              <a:ea typeface="Calibri"/>
              <a:cs typeface="Calibri"/>
              <a:sym typeface="Calibri"/>
            </a:endParaRPr>
          </a:p>
          <a:p>
            <a:pPr indent="-514350" lvl="0" marL="514350" rtl="0" algn="l">
              <a:lnSpc>
                <a:spcPct val="90000"/>
              </a:lnSpc>
              <a:spcBef>
                <a:spcPts val="1000"/>
              </a:spcBef>
              <a:spcAft>
                <a:spcPts val="0"/>
              </a:spcAft>
              <a:buClr>
                <a:schemeClr val="dk1"/>
              </a:buClr>
              <a:buSzPts val="2800"/>
              <a:buAutoNum type="arabicPeriod"/>
            </a:pPr>
            <a:r>
              <a:rPr lang="en-US">
                <a:latin typeface="Calibri"/>
                <a:ea typeface="Calibri"/>
                <a:cs typeface="Calibri"/>
                <a:sym typeface="Calibri"/>
              </a:rPr>
              <a:t>Clustered Indexes</a:t>
            </a:r>
            <a:endParaRPr/>
          </a:p>
        </p:txBody>
      </p:sp>
      <p:sp>
        <p:nvSpPr>
          <p:cNvPr id="596" name="Google Shape;596;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597" name="Google Shape;597;p46"/>
          <p:cNvGrpSpPr/>
          <p:nvPr/>
        </p:nvGrpSpPr>
        <p:grpSpPr>
          <a:xfrm>
            <a:off x="0" y="-22510"/>
            <a:ext cx="12192000" cy="307777"/>
            <a:chOff x="0" y="-22510"/>
            <a:chExt cx="12192000" cy="307777"/>
          </a:xfrm>
        </p:grpSpPr>
        <p:sp>
          <p:nvSpPr>
            <p:cNvPr id="598" name="Google Shape;598;p46"/>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599" name="Google Shape;599;p46"/>
            <p:cNvSpPr txBox="1"/>
            <p:nvPr/>
          </p:nvSpPr>
          <p:spPr>
            <a:xfrm>
              <a:off x="188780" y="-22510"/>
              <a:ext cx="163378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Section 2</a:t>
              </a:r>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 Trees</a:t>
            </a:r>
            <a:endParaRPr/>
          </a:p>
        </p:txBody>
      </p:sp>
      <p:sp>
        <p:nvSpPr>
          <p:cNvPr id="605" name="Google Shape;605;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Search trees </a:t>
            </a:r>
            <a:endParaRPr/>
          </a:p>
          <a:p>
            <a:pPr indent="-228600" lvl="1" marL="685800" rtl="0" algn="l">
              <a:lnSpc>
                <a:spcPct val="90000"/>
              </a:lnSpc>
              <a:spcBef>
                <a:spcPts val="500"/>
              </a:spcBef>
              <a:spcAft>
                <a:spcPts val="0"/>
              </a:spcAft>
              <a:buClr>
                <a:schemeClr val="dk1"/>
              </a:buClr>
              <a:buSzPts val="2400"/>
              <a:buChar char="•"/>
            </a:pPr>
            <a:r>
              <a:rPr lang="en-US"/>
              <a:t>B does not mean binary!</a:t>
            </a:r>
            <a:endParaRPr/>
          </a:p>
          <a:p>
            <a:pPr indent="-76200" lvl="1" marL="685800" rtl="0" algn="l">
              <a:lnSpc>
                <a:spcPct val="90000"/>
              </a:lnSpc>
              <a:spcBef>
                <a:spcPts val="500"/>
              </a:spcBef>
              <a:spcAft>
                <a:spcPts val="0"/>
              </a:spcAft>
              <a:buClr>
                <a:schemeClr val="dk1"/>
              </a:buClr>
              <a:buSzPts val="2400"/>
              <a:buNone/>
            </a:pPr>
            <a:r>
              <a:t/>
            </a:r>
            <a:endParaRPr/>
          </a:p>
          <a:p>
            <a:pPr indent="-228600" lvl="0" marL="228600" rtl="0" algn="l">
              <a:lnSpc>
                <a:spcPct val="90000"/>
              </a:lnSpc>
              <a:spcBef>
                <a:spcPts val="1000"/>
              </a:spcBef>
              <a:spcAft>
                <a:spcPts val="0"/>
              </a:spcAft>
              <a:buClr>
                <a:schemeClr val="dk1"/>
              </a:buClr>
              <a:buSzPts val="2800"/>
              <a:buChar char="•"/>
            </a:pPr>
            <a:r>
              <a:rPr lang="en-US"/>
              <a:t>Idea in B Trees:</a:t>
            </a:r>
            <a:endParaRPr/>
          </a:p>
          <a:p>
            <a:pPr indent="-228600" lvl="1" marL="685800" rtl="0" algn="l">
              <a:lnSpc>
                <a:spcPct val="90000"/>
              </a:lnSpc>
              <a:spcBef>
                <a:spcPts val="500"/>
              </a:spcBef>
              <a:spcAft>
                <a:spcPts val="0"/>
              </a:spcAft>
              <a:buClr>
                <a:schemeClr val="dk1"/>
              </a:buClr>
              <a:buSzPts val="2400"/>
              <a:buChar char="•"/>
            </a:pPr>
            <a:r>
              <a:rPr lang="en-US"/>
              <a:t>make 1 node = 1 physical page</a:t>
            </a:r>
            <a:endParaRPr/>
          </a:p>
          <a:p>
            <a:pPr indent="-228600" lvl="1" marL="685800" rtl="0" algn="l">
              <a:lnSpc>
                <a:spcPct val="90000"/>
              </a:lnSpc>
              <a:spcBef>
                <a:spcPts val="500"/>
              </a:spcBef>
              <a:spcAft>
                <a:spcPts val="0"/>
              </a:spcAft>
              <a:buClr>
                <a:schemeClr val="dk1"/>
              </a:buClr>
              <a:buSzPts val="2400"/>
              <a:buChar char="•"/>
            </a:pPr>
            <a:r>
              <a:rPr lang="en-US"/>
              <a:t>Balanced, height adjusted tree (not the B either)</a:t>
            </a:r>
            <a:endParaRPr/>
          </a:p>
          <a:p>
            <a:pPr indent="-76200" lvl="1" marL="685800" rtl="0" algn="l">
              <a:lnSpc>
                <a:spcPct val="90000"/>
              </a:lnSpc>
              <a:spcBef>
                <a:spcPts val="500"/>
              </a:spcBef>
              <a:spcAft>
                <a:spcPts val="0"/>
              </a:spcAft>
              <a:buClr>
                <a:schemeClr val="dk1"/>
              </a:buClr>
              <a:buSzPts val="2400"/>
              <a:buNone/>
            </a:pPr>
            <a:r>
              <a:t/>
            </a:r>
            <a:endParaRPr/>
          </a:p>
          <a:p>
            <a:pPr indent="-228600" lvl="0" marL="228600" rtl="0" algn="l">
              <a:lnSpc>
                <a:spcPct val="90000"/>
              </a:lnSpc>
              <a:spcBef>
                <a:spcPts val="1000"/>
              </a:spcBef>
              <a:spcAft>
                <a:spcPts val="0"/>
              </a:spcAft>
              <a:buClr>
                <a:schemeClr val="dk1"/>
              </a:buClr>
              <a:buSzPts val="2800"/>
              <a:buChar char="•"/>
            </a:pPr>
            <a:r>
              <a:rPr lang="en-US"/>
              <a:t>Idea in B+ Trees:</a:t>
            </a:r>
            <a:endParaRPr/>
          </a:p>
          <a:p>
            <a:pPr indent="-228600" lvl="1" marL="685800" rtl="0" algn="l">
              <a:lnSpc>
                <a:spcPct val="90000"/>
              </a:lnSpc>
              <a:spcBef>
                <a:spcPts val="500"/>
              </a:spcBef>
              <a:spcAft>
                <a:spcPts val="0"/>
              </a:spcAft>
              <a:buClr>
                <a:schemeClr val="dk1"/>
              </a:buClr>
              <a:buSzPts val="2400"/>
              <a:buChar char="•"/>
            </a:pPr>
            <a:r>
              <a:rPr lang="en-US"/>
              <a:t>Make leaves into a linked list (for range queries)</a:t>
            </a:r>
            <a:endParaRPr/>
          </a:p>
        </p:txBody>
      </p:sp>
      <p:grpSp>
        <p:nvGrpSpPr>
          <p:cNvPr id="606" name="Google Shape;606;p47"/>
          <p:cNvGrpSpPr/>
          <p:nvPr/>
        </p:nvGrpSpPr>
        <p:grpSpPr>
          <a:xfrm>
            <a:off x="0" y="-22510"/>
            <a:ext cx="12192000" cy="307777"/>
            <a:chOff x="0" y="-22510"/>
            <a:chExt cx="12192000" cy="307777"/>
          </a:xfrm>
        </p:grpSpPr>
        <p:sp>
          <p:nvSpPr>
            <p:cNvPr id="607" name="Google Shape;607;p47"/>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608" name="Google Shape;608;p47"/>
            <p:cNvSpPr txBox="1"/>
            <p:nvPr/>
          </p:nvSpPr>
          <p:spPr>
            <a:xfrm>
              <a:off x="188780" y="-22510"/>
              <a:ext cx="27634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Section 2  B+ Tree basics</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5">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 Tree Basics</a:t>
            </a:r>
            <a:endParaRPr/>
          </a:p>
        </p:txBody>
      </p:sp>
      <p:graphicFrame>
        <p:nvGraphicFramePr>
          <p:cNvPr id="614" name="Google Shape;614;p48"/>
          <p:cNvGraphicFramePr/>
          <p:nvPr/>
        </p:nvGraphicFramePr>
        <p:xfrm>
          <a:off x="2449285" y="2149928"/>
          <a:ext cx="3000000" cy="3000000"/>
        </p:xfrm>
        <a:graphic>
          <a:graphicData uri="http://schemas.openxmlformats.org/drawingml/2006/table">
            <a:tbl>
              <a:tblPr>
                <a:noFill/>
                <a:tableStyleId>{FF1A8D6A-5F5D-4DE5-8CDF-4A8D1DE8ED13}</a:tableStyleId>
              </a:tblPr>
              <a:tblGrid>
                <a:gridCol w="438150"/>
                <a:gridCol w="190500"/>
                <a:gridCol w="327025"/>
                <a:gridCol w="239725"/>
                <a:gridCol w="241300"/>
                <a:gridCol w="392100"/>
              </a:tblGrid>
              <a:tr h="342900">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1" i="0" lang="en-US" sz="1400" u="none" cap="none" strike="noStrike">
                          <a:solidFill>
                            <a:schemeClr val="dk1"/>
                          </a:solidFill>
                          <a:latin typeface="Book Antiqua"/>
                          <a:ea typeface="Book Antiqua"/>
                          <a:cs typeface="Book Antiqua"/>
                          <a:sym typeface="Book Antiqua"/>
                        </a:rPr>
                        <a:t>10</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1" i="0" lang="en-US" sz="1400" u="none" cap="none" strike="noStrike">
                          <a:solidFill>
                            <a:schemeClr val="dk1"/>
                          </a:solidFill>
                          <a:latin typeface="Book Antiqua"/>
                          <a:ea typeface="Book Antiqua"/>
                          <a:cs typeface="Book Antiqua"/>
                          <a:sym typeface="Book Antiqua"/>
                        </a:rPr>
                        <a:t>20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1" i="0" lang="en-US" sz="1400" u="none" cap="none" strike="noStrike">
                          <a:solidFill>
                            <a:schemeClr val="dk1"/>
                          </a:solidFill>
                          <a:latin typeface="Book Antiqua"/>
                          <a:ea typeface="Book Antiqua"/>
                          <a:cs typeface="Book Antiqua"/>
                          <a:sym typeface="Book Antiqua"/>
                        </a:rPr>
                        <a:t>30</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42900">
                <a:tc>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615" name="Google Shape;615;p48"/>
          <p:cNvSpPr txBox="1"/>
          <p:nvPr/>
        </p:nvSpPr>
        <p:spPr>
          <a:xfrm>
            <a:off x="5748602" y="2754486"/>
            <a:ext cx="4455572" cy="954107"/>
          </a:xfrm>
          <a:prstGeom prst="rect">
            <a:avLst/>
          </a:prstGeom>
          <a:noFill/>
          <a:ln>
            <a:noFill/>
          </a:ln>
          <a:effectLst>
            <a:outerShdw blurRad="50800" rotWithShape="0" algn="tl" dir="2700000" dist="12700">
              <a:srgbClr val="000000">
                <a:alpha val="4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616" name="Google Shape;616;p48"/>
          <p:cNvSpPr/>
          <p:nvPr/>
        </p:nvSpPr>
        <p:spPr>
          <a:xfrm>
            <a:off x="2378765" y="2080591"/>
            <a:ext cx="1981200" cy="463826"/>
          </a:xfrm>
          <a:prstGeom prst="roundRect">
            <a:avLst>
              <a:gd fmla="val 16667" name="adj"/>
            </a:avLst>
          </a:prstGeom>
          <a:solidFill>
            <a:schemeClr val="accent2">
              <a:alpha val="21960"/>
            </a:schemeClr>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7" name="Google Shape;617;p48"/>
          <p:cNvSpPr/>
          <p:nvPr/>
        </p:nvSpPr>
        <p:spPr>
          <a:xfrm>
            <a:off x="5748602" y="4019586"/>
            <a:ext cx="4229129"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dk1"/>
                </a:solidFill>
                <a:latin typeface="Calibri"/>
                <a:ea typeface="Calibri"/>
                <a:cs typeface="Calibri"/>
                <a:sym typeface="Calibri"/>
              </a:rPr>
              <a:t>*except for root node, which can have between </a:t>
            </a:r>
            <a:r>
              <a:rPr b="1" i="1" lang="en-US" sz="2400">
                <a:solidFill>
                  <a:schemeClr val="dk1"/>
                </a:solidFill>
                <a:latin typeface="Calibri"/>
                <a:ea typeface="Calibri"/>
                <a:cs typeface="Calibri"/>
                <a:sym typeface="Calibri"/>
              </a:rPr>
              <a:t>1 </a:t>
            </a:r>
            <a:r>
              <a:rPr i="1" lang="en-US" sz="2400">
                <a:solidFill>
                  <a:schemeClr val="dk1"/>
                </a:solidFill>
                <a:latin typeface="Calibri"/>
                <a:ea typeface="Calibri"/>
                <a:cs typeface="Calibri"/>
                <a:sym typeface="Calibri"/>
              </a:rPr>
              <a:t>and 2d keys</a:t>
            </a:r>
            <a:endParaRPr sz="2400">
              <a:solidFill>
                <a:schemeClr val="dk1"/>
              </a:solidFill>
              <a:latin typeface="Calibri"/>
              <a:ea typeface="Calibri"/>
              <a:cs typeface="Calibri"/>
              <a:sym typeface="Calibri"/>
            </a:endParaRPr>
          </a:p>
        </p:txBody>
      </p:sp>
      <p:sp>
        <p:nvSpPr>
          <p:cNvPr id="618" name="Google Shape;618;p48"/>
          <p:cNvSpPr txBox="1"/>
          <p:nvPr/>
        </p:nvSpPr>
        <p:spPr>
          <a:xfrm>
            <a:off x="5748602" y="1999666"/>
            <a:ext cx="3886200" cy="523220"/>
          </a:xfrm>
          <a:prstGeom prst="rect">
            <a:avLst/>
          </a:prstGeom>
          <a:solidFill>
            <a:srgbClr val="DDEAF6"/>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Parameter </a:t>
            </a:r>
            <a:r>
              <a:rPr b="1" i="1" lang="en-US" sz="2800">
                <a:solidFill>
                  <a:schemeClr val="dk1"/>
                </a:solidFill>
                <a:latin typeface="Calibri"/>
                <a:ea typeface="Calibri"/>
                <a:cs typeface="Calibri"/>
                <a:sym typeface="Calibri"/>
              </a:rPr>
              <a:t>d</a:t>
            </a:r>
            <a:r>
              <a:rPr lang="en-US" sz="2800">
                <a:solidFill>
                  <a:schemeClr val="dk1"/>
                </a:solidFill>
                <a:latin typeface="Calibri"/>
                <a:ea typeface="Calibri"/>
                <a:cs typeface="Calibri"/>
                <a:sym typeface="Calibri"/>
              </a:rPr>
              <a:t> = the degree</a:t>
            </a:r>
            <a:endParaRPr b="1" i="1" sz="2800">
              <a:solidFill>
                <a:schemeClr val="dk1"/>
              </a:solidFill>
              <a:latin typeface="Calibri"/>
              <a:ea typeface="Calibri"/>
              <a:cs typeface="Calibri"/>
              <a:sym typeface="Calibri"/>
            </a:endParaRPr>
          </a:p>
        </p:txBody>
      </p:sp>
      <p:grpSp>
        <p:nvGrpSpPr>
          <p:cNvPr id="619" name="Google Shape;619;p48"/>
          <p:cNvGrpSpPr/>
          <p:nvPr/>
        </p:nvGrpSpPr>
        <p:grpSpPr>
          <a:xfrm>
            <a:off x="0" y="-22510"/>
            <a:ext cx="12192000" cy="307777"/>
            <a:chOff x="0" y="-22510"/>
            <a:chExt cx="12192000" cy="307777"/>
          </a:xfrm>
        </p:grpSpPr>
        <p:sp>
          <p:nvSpPr>
            <p:cNvPr id="620" name="Google Shape;620;p48"/>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621" name="Google Shape;621;p48"/>
            <p:cNvSpPr txBox="1"/>
            <p:nvPr/>
          </p:nvSpPr>
          <p:spPr>
            <a:xfrm>
              <a:off x="188780" y="-22510"/>
              <a:ext cx="27634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Section 2  B+ Tree basics</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 Tree Basics</a:t>
            </a:r>
            <a:endParaRPr/>
          </a:p>
        </p:txBody>
      </p:sp>
      <p:graphicFrame>
        <p:nvGraphicFramePr>
          <p:cNvPr id="627" name="Google Shape;627;p49"/>
          <p:cNvGraphicFramePr/>
          <p:nvPr/>
        </p:nvGraphicFramePr>
        <p:xfrm>
          <a:off x="2449285" y="2149928"/>
          <a:ext cx="3000000" cy="3000000"/>
        </p:xfrm>
        <a:graphic>
          <a:graphicData uri="http://schemas.openxmlformats.org/drawingml/2006/table">
            <a:tbl>
              <a:tblPr>
                <a:noFill/>
                <a:tableStyleId>{FF1A8D6A-5F5D-4DE5-8CDF-4A8D1DE8ED13}</a:tableStyleId>
              </a:tblPr>
              <a:tblGrid>
                <a:gridCol w="438150"/>
                <a:gridCol w="190500"/>
                <a:gridCol w="327025"/>
                <a:gridCol w="239725"/>
                <a:gridCol w="241300"/>
                <a:gridCol w="392100"/>
              </a:tblGrid>
              <a:tr h="342900">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1" i="0" lang="en-US" sz="1400" u="none" cap="none" strike="noStrike">
                          <a:solidFill>
                            <a:schemeClr val="dk1"/>
                          </a:solidFill>
                          <a:latin typeface="Book Antiqua"/>
                          <a:ea typeface="Book Antiqua"/>
                          <a:cs typeface="Book Antiqua"/>
                          <a:sym typeface="Book Antiqua"/>
                        </a:rPr>
                        <a:t>10</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1" i="0" lang="en-US" sz="1400" u="none" cap="none" strike="noStrike">
                          <a:solidFill>
                            <a:schemeClr val="dk1"/>
                          </a:solidFill>
                          <a:latin typeface="Book Antiqua"/>
                          <a:ea typeface="Book Antiqua"/>
                          <a:cs typeface="Book Antiqua"/>
                          <a:sym typeface="Book Antiqua"/>
                        </a:rPr>
                        <a:t>20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1" i="0" lang="en-US" sz="1400" u="none" cap="none" strike="noStrike">
                          <a:solidFill>
                            <a:schemeClr val="dk1"/>
                          </a:solidFill>
                          <a:latin typeface="Book Antiqua"/>
                          <a:ea typeface="Book Antiqua"/>
                          <a:cs typeface="Book Antiqua"/>
                          <a:sym typeface="Book Antiqua"/>
                        </a:rPr>
                        <a:t>30</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42900">
                <a:tc>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cxnSp>
        <p:nvCxnSpPr>
          <p:cNvPr id="628" name="Google Shape;628;p49"/>
          <p:cNvCxnSpPr/>
          <p:nvPr/>
        </p:nvCxnSpPr>
        <p:spPr>
          <a:xfrm>
            <a:off x="3635829" y="2667001"/>
            <a:ext cx="119742" cy="653143"/>
          </a:xfrm>
          <a:prstGeom prst="straightConnector1">
            <a:avLst/>
          </a:prstGeom>
          <a:noFill/>
          <a:ln cap="flat" cmpd="sng" w="12700">
            <a:solidFill>
              <a:schemeClr val="accent1"/>
            </a:solidFill>
            <a:prstDash val="solid"/>
            <a:miter lim="800000"/>
            <a:headEnd len="sm" w="sm" type="none"/>
            <a:tailEnd len="med" w="med" type="triangle"/>
          </a:ln>
        </p:spPr>
      </p:cxnSp>
      <p:cxnSp>
        <p:nvCxnSpPr>
          <p:cNvPr id="629" name="Google Shape;629;p49"/>
          <p:cNvCxnSpPr/>
          <p:nvPr/>
        </p:nvCxnSpPr>
        <p:spPr>
          <a:xfrm flipH="1">
            <a:off x="2220686" y="2667001"/>
            <a:ext cx="391886" cy="653143"/>
          </a:xfrm>
          <a:prstGeom prst="straightConnector1">
            <a:avLst/>
          </a:prstGeom>
          <a:noFill/>
          <a:ln cap="flat" cmpd="sng" w="12700">
            <a:solidFill>
              <a:schemeClr val="accent1"/>
            </a:solidFill>
            <a:prstDash val="solid"/>
            <a:miter lim="800000"/>
            <a:headEnd len="sm" w="sm" type="none"/>
            <a:tailEnd len="med" w="med" type="triangle"/>
          </a:ln>
        </p:spPr>
      </p:cxnSp>
      <p:cxnSp>
        <p:nvCxnSpPr>
          <p:cNvPr id="630" name="Google Shape;630;p49"/>
          <p:cNvCxnSpPr>
            <a:endCxn id="631" idx="0"/>
          </p:cNvCxnSpPr>
          <p:nvPr/>
        </p:nvCxnSpPr>
        <p:spPr>
          <a:xfrm>
            <a:off x="3128668" y="2666985"/>
            <a:ext cx="5100" cy="1384200"/>
          </a:xfrm>
          <a:prstGeom prst="straightConnector1">
            <a:avLst/>
          </a:prstGeom>
          <a:noFill/>
          <a:ln cap="flat" cmpd="sng" w="12700">
            <a:solidFill>
              <a:schemeClr val="accent1"/>
            </a:solidFill>
            <a:prstDash val="solid"/>
            <a:miter lim="800000"/>
            <a:headEnd len="sm" w="sm" type="none"/>
            <a:tailEnd len="med" w="med" type="triangle"/>
          </a:ln>
        </p:spPr>
      </p:cxnSp>
      <p:cxnSp>
        <p:nvCxnSpPr>
          <p:cNvPr id="632" name="Google Shape;632;p49"/>
          <p:cNvCxnSpPr>
            <a:endCxn id="633" idx="0"/>
          </p:cNvCxnSpPr>
          <p:nvPr/>
        </p:nvCxnSpPr>
        <p:spPr>
          <a:xfrm>
            <a:off x="4054720" y="2666987"/>
            <a:ext cx="1272900" cy="1033200"/>
          </a:xfrm>
          <a:prstGeom prst="straightConnector1">
            <a:avLst/>
          </a:prstGeom>
          <a:noFill/>
          <a:ln cap="flat" cmpd="sng" w="12700">
            <a:solidFill>
              <a:schemeClr val="accent1"/>
            </a:solidFill>
            <a:prstDash val="solid"/>
            <a:miter lim="800000"/>
            <a:headEnd len="sm" w="sm" type="none"/>
            <a:tailEnd len="med" w="med" type="triangle"/>
          </a:ln>
        </p:spPr>
      </p:cxnSp>
      <p:sp>
        <p:nvSpPr>
          <p:cNvPr id="634" name="Google Shape;634;p49"/>
          <p:cNvSpPr txBox="1"/>
          <p:nvPr/>
        </p:nvSpPr>
        <p:spPr>
          <a:xfrm>
            <a:off x="1747854" y="3350376"/>
            <a:ext cx="92685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k &lt; 10</a:t>
            </a:r>
            <a:endParaRPr/>
          </a:p>
        </p:txBody>
      </p:sp>
      <p:sp>
        <p:nvSpPr>
          <p:cNvPr id="631" name="Google Shape;631;p49"/>
          <p:cNvSpPr txBox="1"/>
          <p:nvPr/>
        </p:nvSpPr>
        <p:spPr>
          <a:xfrm>
            <a:off x="2303284" y="4051185"/>
            <a:ext cx="1660968"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635" name="Google Shape;635;p49"/>
          <p:cNvSpPr txBox="1"/>
          <p:nvPr/>
        </p:nvSpPr>
        <p:spPr>
          <a:xfrm>
            <a:off x="3224656" y="3339027"/>
            <a:ext cx="1660968"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633" name="Google Shape;633;p49"/>
          <p:cNvSpPr txBox="1"/>
          <p:nvPr/>
        </p:nvSpPr>
        <p:spPr>
          <a:xfrm>
            <a:off x="4797699" y="3700187"/>
            <a:ext cx="1059842"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636" name="Google Shape;636;p49"/>
          <p:cNvSpPr/>
          <p:nvPr/>
        </p:nvSpPr>
        <p:spPr>
          <a:xfrm>
            <a:off x="2400538" y="2431371"/>
            <a:ext cx="1981200" cy="463826"/>
          </a:xfrm>
          <a:prstGeom prst="roundRect">
            <a:avLst>
              <a:gd fmla="val 16667" name="adj"/>
            </a:avLst>
          </a:prstGeom>
          <a:solidFill>
            <a:schemeClr val="accent2">
              <a:alpha val="21960"/>
            </a:schemeClr>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37" name="Google Shape;637;p49"/>
          <p:cNvSpPr txBox="1"/>
          <p:nvPr/>
        </p:nvSpPr>
        <p:spPr>
          <a:xfrm>
            <a:off x="6305194" y="2186230"/>
            <a:ext cx="3136980" cy="954107"/>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The </a:t>
            </a:r>
            <a:r>
              <a:rPr i="1" lang="en-US" sz="2800">
                <a:solidFill>
                  <a:schemeClr val="dk1"/>
                </a:solidFill>
                <a:latin typeface="Calibri"/>
                <a:ea typeface="Calibri"/>
                <a:cs typeface="Calibri"/>
                <a:sym typeface="Calibri"/>
              </a:rPr>
              <a:t>n </a:t>
            </a:r>
            <a:r>
              <a:rPr lang="en-US" sz="2800">
                <a:solidFill>
                  <a:schemeClr val="dk1"/>
                </a:solidFill>
                <a:latin typeface="Calibri"/>
                <a:ea typeface="Calibri"/>
                <a:cs typeface="Calibri"/>
                <a:sym typeface="Calibri"/>
              </a:rPr>
              <a:t>keys in a node define </a:t>
            </a:r>
            <a:r>
              <a:rPr i="1" lang="en-US" sz="2800">
                <a:solidFill>
                  <a:schemeClr val="dk1"/>
                </a:solidFill>
                <a:latin typeface="Calibri"/>
                <a:ea typeface="Calibri"/>
                <a:cs typeface="Calibri"/>
                <a:sym typeface="Calibri"/>
              </a:rPr>
              <a:t>n+1 </a:t>
            </a:r>
            <a:r>
              <a:rPr lang="en-US" sz="2800">
                <a:solidFill>
                  <a:schemeClr val="dk1"/>
                </a:solidFill>
                <a:latin typeface="Calibri"/>
                <a:ea typeface="Calibri"/>
                <a:cs typeface="Calibri"/>
                <a:sym typeface="Calibri"/>
              </a:rPr>
              <a:t>ranges </a:t>
            </a:r>
            <a:endParaRPr/>
          </a:p>
        </p:txBody>
      </p:sp>
      <p:grpSp>
        <p:nvGrpSpPr>
          <p:cNvPr id="638" name="Google Shape;638;p49"/>
          <p:cNvGrpSpPr/>
          <p:nvPr/>
        </p:nvGrpSpPr>
        <p:grpSpPr>
          <a:xfrm>
            <a:off x="0" y="-22510"/>
            <a:ext cx="12192000" cy="307777"/>
            <a:chOff x="0" y="-22510"/>
            <a:chExt cx="12192000" cy="307777"/>
          </a:xfrm>
        </p:grpSpPr>
        <p:sp>
          <p:nvSpPr>
            <p:cNvPr id="639" name="Google Shape;639;p49"/>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640" name="Google Shape;640;p49"/>
            <p:cNvSpPr txBox="1"/>
            <p:nvPr/>
          </p:nvSpPr>
          <p:spPr>
            <a:xfrm>
              <a:off x="188780" y="-22510"/>
              <a:ext cx="27634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Section 2  B+ Tree basics</a:t>
              </a:r>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 Tree Basics</a:t>
            </a:r>
            <a:endParaRPr/>
          </a:p>
        </p:txBody>
      </p:sp>
      <p:graphicFrame>
        <p:nvGraphicFramePr>
          <p:cNvPr id="646" name="Google Shape;646;p50"/>
          <p:cNvGraphicFramePr/>
          <p:nvPr/>
        </p:nvGraphicFramePr>
        <p:xfrm>
          <a:off x="2449285" y="2149928"/>
          <a:ext cx="3000000" cy="3000000"/>
        </p:xfrm>
        <a:graphic>
          <a:graphicData uri="http://schemas.openxmlformats.org/drawingml/2006/table">
            <a:tbl>
              <a:tblPr>
                <a:noFill/>
                <a:tableStyleId>{FF1A8D6A-5F5D-4DE5-8CDF-4A8D1DE8ED13}</a:tableStyleId>
              </a:tblPr>
              <a:tblGrid>
                <a:gridCol w="438150"/>
                <a:gridCol w="190500"/>
                <a:gridCol w="327025"/>
                <a:gridCol w="239725"/>
                <a:gridCol w="241300"/>
                <a:gridCol w="392100"/>
              </a:tblGrid>
              <a:tr h="342900">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1" i="0" lang="en-US" sz="1400" u="none" cap="none" strike="noStrike">
                          <a:solidFill>
                            <a:schemeClr val="dk1"/>
                          </a:solidFill>
                          <a:latin typeface="Book Antiqua"/>
                          <a:ea typeface="Book Antiqua"/>
                          <a:cs typeface="Book Antiqua"/>
                          <a:sym typeface="Book Antiqua"/>
                        </a:rPr>
                        <a:t>10</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1" i="0" lang="en-US" sz="1400" u="none" cap="none" strike="noStrike">
                          <a:solidFill>
                            <a:schemeClr val="dk1"/>
                          </a:solidFill>
                          <a:latin typeface="Book Antiqua"/>
                          <a:ea typeface="Book Antiqua"/>
                          <a:cs typeface="Book Antiqua"/>
                          <a:sym typeface="Book Antiqua"/>
                        </a:rPr>
                        <a:t>20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1" i="0" lang="en-US" sz="1400" u="none" cap="none" strike="noStrike">
                          <a:solidFill>
                            <a:schemeClr val="dk1"/>
                          </a:solidFill>
                          <a:latin typeface="Book Antiqua"/>
                          <a:ea typeface="Book Antiqua"/>
                          <a:cs typeface="Book Antiqua"/>
                          <a:sym typeface="Book Antiqua"/>
                        </a:rPr>
                        <a:t>30</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42900">
                <a:tc>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cxnSp>
        <p:nvCxnSpPr>
          <p:cNvPr id="647" name="Google Shape;647;p50"/>
          <p:cNvCxnSpPr/>
          <p:nvPr/>
        </p:nvCxnSpPr>
        <p:spPr>
          <a:xfrm>
            <a:off x="3570513" y="2680758"/>
            <a:ext cx="1012372" cy="659692"/>
          </a:xfrm>
          <a:prstGeom prst="straightConnector1">
            <a:avLst/>
          </a:prstGeom>
          <a:noFill/>
          <a:ln cap="flat" cmpd="sng" w="28575">
            <a:solidFill>
              <a:schemeClr val="dk1"/>
            </a:solidFill>
            <a:prstDash val="solid"/>
            <a:miter lim="800000"/>
            <a:headEnd len="sm" w="sm" type="none"/>
            <a:tailEnd len="med" w="med" type="triangle"/>
          </a:ln>
        </p:spPr>
      </p:cxnSp>
      <p:sp>
        <p:nvSpPr>
          <p:cNvPr id="648" name="Google Shape;648;p50"/>
          <p:cNvSpPr txBox="1"/>
          <p:nvPr/>
        </p:nvSpPr>
        <p:spPr>
          <a:xfrm>
            <a:off x="1716871" y="1592968"/>
            <a:ext cx="2561214" cy="369332"/>
          </a:xfrm>
          <a:prstGeom prst="rect">
            <a:avLst/>
          </a:prstGeom>
          <a:solidFill>
            <a:srgbClr val="DDEAF6"/>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Non-leaf or </a:t>
            </a:r>
            <a:r>
              <a:rPr i="1" lang="en-US" sz="1800">
                <a:solidFill>
                  <a:schemeClr val="dk1"/>
                </a:solidFill>
                <a:latin typeface="Calibri"/>
                <a:ea typeface="Calibri"/>
                <a:cs typeface="Calibri"/>
                <a:sym typeface="Calibri"/>
              </a:rPr>
              <a:t>internal </a:t>
            </a:r>
            <a:r>
              <a:rPr lang="en-US" sz="1800">
                <a:solidFill>
                  <a:schemeClr val="dk1"/>
                </a:solidFill>
                <a:latin typeface="Calibri"/>
                <a:ea typeface="Calibri"/>
                <a:cs typeface="Calibri"/>
                <a:sym typeface="Calibri"/>
              </a:rPr>
              <a:t>node</a:t>
            </a:r>
            <a:endParaRPr/>
          </a:p>
        </p:txBody>
      </p:sp>
      <p:sp>
        <p:nvSpPr>
          <p:cNvPr id="649" name="Google Shape;649;p50"/>
          <p:cNvSpPr/>
          <p:nvPr/>
        </p:nvSpPr>
        <p:spPr>
          <a:xfrm>
            <a:off x="3346174" y="2431371"/>
            <a:ext cx="609600" cy="463826"/>
          </a:xfrm>
          <a:prstGeom prst="roundRect">
            <a:avLst>
              <a:gd fmla="val 16667" name="adj"/>
            </a:avLst>
          </a:prstGeom>
          <a:solidFill>
            <a:schemeClr val="accent2">
              <a:alpha val="21960"/>
            </a:schemeClr>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aphicFrame>
        <p:nvGraphicFramePr>
          <p:cNvPr id="650" name="Google Shape;650;p50"/>
          <p:cNvGraphicFramePr/>
          <p:nvPr/>
        </p:nvGraphicFramePr>
        <p:xfrm>
          <a:off x="3668485" y="3442015"/>
          <a:ext cx="3000000" cy="3000000"/>
        </p:xfrm>
        <a:graphic>
          <a:graphicData uri="http://schemas.openxmlformats.org/drawingml/2006/table">
            <a:tbl>
              <a:tblPr>
                <a:noFill/>
                <a:tableStyleId>{FF1A8D6A-5F5D-4DE5-8CDF-4A8D1DE8ED13}</a:tableStyleId>
              </a:tblPr>
              <a:tblGrid>
                <a:gridCol w="438150"/>
                <a:gridCol w="190500"/>
                <a:gridCol w="327025"/>
                <a:gridCol w="239725"/>
                <a:gridCol w="241300"/>
                <a:gridCol w="392100"/>
              </a:tblGrid>
              <a:tr h="342900">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1" i="0" lang="en-US" sz="1400" u="none" cap="none" strike="noStrike">
                          <a:solidFill>
                            <a:schemeClr val="dk1"/>
                          </a:solidFill>
                          <a:latin typeface="Book Antiqua"/>
                          <a:ea typeface="Book Antiqua"/>
                          <a:cs typeface="Book Antiqua"/>
                          <a:sym typeface="Book Antiqua"/>
                        </a:rPr>
                        <a:t>22</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1" i="0" lang="en-US" sz="1400" u="none" cap="none" strike="noStrike">
                          <a:solidFill>
                            <a:schemeClr val="dk1"/>
                          </a:solidFill>
                          <a:latin typeface="Book Antiqua"/>
                          <a:ea typeface="Book Antiqua"/>
                          <a:cs typeface="Book Antiqua"/>
                          <a:sym typeface="Book Antiqua"/>
                        </a:rPr>
                        <a:t>25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1" i="0" lang="en-US" sz="1400" u="none" cap="none" strike="noStrike">
                          <a:solidFill>
                            <a:schemeClr val="dk1"/>
                          </a:solidFill>
                          <a:latin typeface="Book Antiqua"/>
                          <a:ea typeface="Book Antiqua"/>
                          <a:cs typeface="Book Antiqua"/>
                          <a:sym typeface="Book Antiqua"/>
                        </a:rPr>
                        <a:t>28</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42900">
                <a:tc>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651" name="Google Shape;651;p50"/>
          <p:cNvSpPr txBox="1"/>
          <p:nvPr/>
        </p:nvSpPr>
        <p:spPr>
          <a:xfrm>
            <a:off x="6305193" y="2186230"/>
            <a:ext cx="4435693" cy="1815882"/>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For each range, in a </a:t>
            </a:r>
            <a:r>
              <a:rPr i="1" lang="en-US" sz="2800">
                <a:solidFill>
                  <a:schemeClr val="dk1"/>
                </a:solidFill>
                <a:latin typeface="Calibri"/>
                <a:ea typeface="Calibri"/>
                <a:cs typeface="Calibri"/>
                <a:sym typeface="Calibri"/>
              </a:rPr>
              <a:t>non-leaf </a:t>
            </a:r>
            <a:r>
              <a:rPr lang="en-US" sz="2800">
                <a:solidFill>
                  <a:schemeClr val="dk1"/>
                </a:solidFill>
                <a:latin typeface="Calibri"/>
                <a:ea typeface="Calibri"/>
                <a:cs typeface="Calibri"/>
                <a:sym typeface="Calibri"/>
              </a:rPr>
              <a:t>node, there is a </a:t>
            </a:r>
            <a:r>
              <a:rPr b="1" lang="en-US" sz="2800">
                <a:solidFill>
                  <a:schemeClr val="dk1"/>
                </a:solidFill>
                <a:latin typeface="Calibri"/>
                <a:ea typeface="Calibri"/>
                <a:cs typeface="Calibri"/>
                <a:sym typeface="Calibri"/>
              </a:rPr>
              <a:t>pointer</a:t>
            </a:r>
            <a:r>
              <a:rPr lang="en-US" sz="2800">
                <a:solidFill>
                  <a:schemeClr val="dk1"/>
                </a:solidFill>
                <a:latin typeface="Calibri"/>
                <a:ea typeface="Calibri"/>
                <a:cs typeface="Calibri"/>
                <a:sym typeface="Calibri"/>
              </a:rPr>
              <a:t> to another node with keys in that range</a:t>
            </a:r>
            <a:endParaRPr/>
          </a:p>
        </p:txBody>
      </p:sp>
      <p:grpSp>
        <p:nvGrpSpPr>
          <p:cNvPr id="652" name="Google Shape;652;p50"/>
          <p:cNvGrpSpPr/>
          <p:nvPr/>
        </p:nvGrpSpPr>
        <p:grpSpPr>
          <a:xfrm>
            <a:off x="0" y="-22510"/>
            <a:ext cx="12192000" cy="307777"/>
            <a:chOff x="0" y="-22510"/>
            <a:chExt cx="12192000" cy="307777"/>
          </a:xfrm>
        </p:grpSpPr>
        <p:sp>
          <p:nvSpPr>
            <p:cNvPr id="653" name="Google Shape;653;p50"/>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654" name="Google Shape;654;p50"/>
            <p:cNvSpPr txBox="1"/>
            <p:nvPr/>
          </p:nvSpPr>
          <p:spPr>
            <a:xfrm>
              <a:off x="188780" y="-22510"/>
              <a:ext cx="27634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Section 2  B+ Tree basics</a:t>
              </a:r>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 Tree Basics</a:t>
            </a:r>
            <a:endParaRPr/>
          </a:p>
        </p:txBody>
      </p:sp>
      <p:graphicFrame>
        <p:nvGraphicFramePr>
          <p:cNvPr id="661" name="Google Shape;661;p51"/>
          <p:cNvGraphicFramePr/>
          <p:nvPr/>
        </p:nvGraphicFramePr>
        <p:xfrm>
          <a:off x="2449285" y="2149928"/>
          <a:ext cx="3000000" cy="3000000"/>
        </p:xfrm>
        <a:graphic>
          <a:graphicData uri="http://schemas.openxmlformats.org/drawingml/2006/table">
            <a:tbl>
              <a:tblPr>
                <a:noFill/>
                <a:tableStyleId>{FF1A8D6A-5F5D-4DE5-8CDF-4A8D1DE8ED13}</a:tableStyleId>
              </a:tblPr>
              <a:tblGrid>
                <a:gridCol w="438150"/>
                <a:gridCol w="190500"/>
                <a:gridCol w="327025"/>
                <a:gridCol w="239725"/>
                <a:gridCol w="241300"/>
                <a:gridCol w="392100"/>
              </a:tblGrid>
              <a:tr h="342900">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1" i="0" lang="en-US" sz="1400" u="none" cap="none" strike="noStrike">
                          <a:solidFill>
                            <a:schemeClr val="dk1"/>
                          </a:solidFill>
                          <a:latin typeface="Book Antiqua"/>
                          <a:ea typeface="Book Antiqua"/>
                          <a:cs typeface="Book Antiqua"/>
                          <a:sym typeface="Book Antiqua"/>
                        </a:rPr>
                        <a:t>10</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1" i="0" lang="en-US" sz="1400" u="none" cap="none" strike="noStrike">
                          <a:solidFill>
                            <a:schemeClr val="dk1"/>
                          </a:solidFill>
                          <a:latin typeface="Book Antiqua"/>
                          <a:ea typeface="Book Antiqua"/>
                          <a:cs typeface="Book Antiqua"/>
                          <a:sym typeface="Book Antiqua"/>
                        </a:rPr>
                        <a:t>20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1" i="0" lang="en-US" sz="1400" u="none" cap="none" strike="noStrike">
                          <a:solidFill>
                            <a:schemeClr val="dk1"/>
                          </a:solidFill>
                          <a:latin typeface="Book Antiqua"/>
                          <a:ea typeface="Book Antiqua"/>
                          <a:cs typeface="Book Antiqua"/>
                          <a:sym typeface="Book Antiqua"/>
                        </a:rPr>
                        <a:t>30</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42900">
                <a:tc>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662" name="Google Shape;662;p51"/>
          <p:cNvSpPr txBox="1"/>
          <p:nvPr/>
        </p:nvSpPr>
        <p:spPr>
          <a:xfrm>
            <a:off x="8103138" y="971975"/>
            <a:ext cx="3567541"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Leaf nodes also have between </a:t>
            </a:r>
            <a:r>
              <a:rPr i="1" lang="en-US" sz="2400">
                <a:solidFill>
                  <a:schemeClr val="dk1"/>
                </a:solidFill>
                <a:latin typeface="Calibri"/>
                <a:ea typeface="Calibri"/>
                <a:cs typeface="Calibri"/>
                <a:sym typeface="Calibri"/>
              </a:rPr>
              <a:t>d </a:t>
            </a:r>
            <a:r>
              <a:rPr lang="en-US" sz="2400">
                <a:solidFill>
                  <a:schemeClr val="dk1"/>
                </a:solidFill>
                <a:latin typeface="Calibri"/>
                <a:ea typeface="Calibri"/>
                <a:cs typeface="Calibri"/>
                <a:sym typeface="Calibri"/>
              </a:rPr>
              <a:t>and </a:t>
            </a:r>
            <a:r>
              <a:rPr i="1" lang="en-US" sz="2400">
                <a:solidFill>
                  <a:schemeClr val="dk1"/>
                </a:solidFill>
                <a:latin typeface="Calibri"/>
                <a:ea typeface="Calibri"/>
                <a:cs typeface="Calibri"/>
                <a:sym typeface="Calibri"/>
              </a:rPr>
              <a:t>2d </a:t>
            </a:r>
            <a:r>
              <a:rPr lang="en-US" sz="2400">
                <a:solidFill>
                  <a:schemeClr val="dk1"/>
                </a:solidFill>
                <a:latin typeface="Calibri"/>
                <a:ea typeface="Calibri"/>
                <a:cs typeface="Calibri"/>
                <a:sym typeface="Calibri"/>
              </a:rPr>
              <a:t>keys, and are different in that:</a:t>
            </a:r>
            <a:endParaRPr/>
          </a:p>
        </p:txBody>
      </p:sp>
      <p:cxnSp>
        <p:nvCxnSpPr>
          <p:cNvPr id="663" name="Google Shape;663;p51"/>
          <p:cNvCxnSpPr/>
          <p:nvPr/>
        </p:nvCxnSpPr>
        <p:spPr>
          <a:xfrm flipH="1">
            <a:off x="3091691" y="2680758"/>
            <a:ext cx="557100" cy="1059000"/>
          </a:xfrm>
          <a:prstGeom prst="straightConnector1">
            <a:avLst/>
          </a:prstGeom>
          <a:noFill/>
          <a:ln cap="flat" cmpd="sng" w="25400">
            <a:solidFill>
              <a:schemeClr val="dk1"/>
            </a:solidFill>
            <a:prstDash val="solid"/>
            <a:miter lim="800000"/>
            <a:headEnd len="sm" w="sm" type="none"/>
            <a:tailEnd len="med" w="med" type="triangle"/>
          </a:ln>
        </p:spPr>
      </p:cxnSp>
      <p:graphicFrame>
        <p:nvGraphicFramePr>
          <p:cNvPr id="664" name="Google Shape;664;p51"/>
          <p:cNvGraphicFramePr/>
          <p:nvPr/>
        </p:nvGraphicFramePr>
        <p:xfrm>
          <a:off x="1915886" y="3739619"/>
          <a:ext cx="3000000" cy="3000000"/>
        </p:xfrm>
        <a:graphic>
          <a:graphicData uri="http://schemas.openxmlformats.org/drawingml/2006/table">
            <a:tbl>
              <a:tblPr>
                <a:noFill/>
                <a:tableStyleId>{FF1A8D6A-5F5D-4DE5-8CDF-4A8D1DE8ED13}</a:tableStyleId>
              </a:tblPr>
              <a:tblGrid>
                <a:gridCol w="328900"/>
                <a:gridCol w="272925"/>
                <a:gridCol w="272925"/>
                <a:gridCol w="272925"/>
                <a:gridCol w="328900"/>
                <a:gridCol w="272925"/>
                <a:gridCol w="272925"/>
                <a:gridCol w="328900"/>
              </a:tblGrid>
              <a:tr h="359225">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22</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25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28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29</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59225">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EAF6"/>
                    </a:solidFill>
                  </a:tcPr>
                </a:tc>
              </a:tr>
            </a:tbl>
          </a:graphicData>
        </a:graphic>
      </p:graphicFrame>
      <p:sp>
        <p:nvSpPr>
          <p:cNvPr id="665" name="Google Shape;665;p51"/>
          <p:cNvSpPr txBox="1"/>
          <p:nvPr/>
        </p:nvSpPr>
        <p:spPr>
          <a:xfrm>
            <a:off x="5836569" y="3174736"/>
            <a:ext cx="1201419" cy="369332"/>
          </a:xfrm>
          <a:prstGeom prst="rect">
            <a:avLst/>
          </a:prstGeom>
          <a:solidFill>
            <a:srgbClr val="DDEAF6"/>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Leaf</a:t>
            </a:r>
            <a:r>
              <a:rPr i="1" lang="en-US" sz="1800">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nodes</a:t>
            </a:r>
            <a:endParaRPr/>
          </a:p>
        </p:txBody>
      </p:sp>
      <p:graphicFrame>
        <p:nvGraphicFramePr>
          <p:cNvPr id="666" name="Google Shape;666;p51"/>
          <p:cNvGraphicFramePr/>
          <p:nvPr/>
        </p:nvGraphicFramePr>
        <p:xfrm>
          <a:off x="4738243" y="3728733"/>
          <a:ext cx="3000000" cy="3000000"/>
        </p:xfrm>
        <a:graphic>
          <a:graphicData uri="http://schemas.openxmlformats.org/drawingml/2006/table">
            <a:tbl>
              <a:tblPr>
                <a:noFill/>
                <a:tableStyleId>{FF1A8D6A-5F5D-4DE5-8CDF-4A8D1DE8ED13}</a:tableStyleId>
              </a:tblPr>
              <a:tblGrid>
                <a:gridCol w="328900"/>
                <a:gridCol w="272925"/>
                <a:gridCol w="272925"/>
                <a:gridCol w="272925"/>
                <a:gridCol w="328900"/>
                <a:gridCol w="272925"/>
                <a:gridCol w="272925"/>
                <a:gridCol w="328900"/>
              </a:tblGrid>
              <a:tr h="359225">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32</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34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37</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38</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59225">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EAF6"/>
                    </a:solidFill>
                  </a:tcPr>
                </a:tc>
              </a:tr>
            </a:tbl>
          </a:graphicData>
        </a:graphic>
      </p:graphicFrame>
      <p:cxnSp>
        <p:nvCxnSpPr>
          <p:cNvPr id="667" name="Google Shape;667;p51"/>
          <p:cNvCxnSpPr/>
          <p:nvPr/>
        </p:nvCxnSpPr>
        <p:spPr>
          <a:xfrm>
            <a:off x="4071258" y="2680758"/>
            <a:ext cx="1842600" cy="1047900"/>
          </a:xfrm>
          <a:prstGeom prst="straightConnector1">
            <a:avLst/>
          </a:prstGeom>
          <a:noFill/>
          <a:ln cap="flat" cmpd="sng" w="25400">
            <a:solidFill>
              <a:schemeClr val="dk1"/>
            </a:solidFill>
            <a:prstDash val="solid"/>
            <a:miter lim="800000"/>
            <a:headEnd len="sm" w="sm" type="none"/>
            <a:tailEnd len="med" w="med" type="triangle"/>
          </a:ln>
        </p:spPr>
      </p:cxnSp>
      <p:sp>
        <p:nvSpPr>
          <p:cNvPr id="668" name="Google Shape;668;p51"/>
          <p:cNvSpPr txBox="1"/>
          <p:nvPr/>
        </p:nvSpPr>
        <p:spPr>
          <a:xfrm>
            <a:off x="1716871" y="1592968"/>
            <a:ext cx="2561214" cy="369332"/>
          </a:xfrm>
          <a:prstGeom prst="rect">
            <a:avLst/>
          </a:prstGeom>
          <a:solidFill>
            <a:srgbClr val="DDEAF6"/>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Non-leaf or </a:t>
            </a:r>
            <a:r>
              <a:rPr i="1" lang="en-US" sz="1800">
                <a:solidFill>
                  <a:schemeClr val="dk1"/>
                </a:solidFill>
                <a:latin typeface="Calibri"/>
                <a:ea typeface="Calibri"/>
                <a:cs typeface="Calibri"/>
                <a:sym typeface="Calibri"/>
              </a:rPr>
              <a:t>internal </a:t>
            </a:r>
            <a:r>
              <a:rPr lang="en-US" sz="1800">
                <a:solidFill>
                  <a:schemeClr val="dk1"/>
                </a:solidFill>
                <a:latin typeface="Calibri"/>
                <a:ea typeface="Calibri"/>
                <a:cs typeface="Calibri"/>
                <a:sym typeface="Calibri"/>
              </a:rPr>
              <a:t>node</a:t>
            </a:r>
            <a:endParaRPr/>
          </a:p>
        </p:txBody>
      </p:sp>
      <p:graphicFrame>
        <p:nvGraphicFramePr>
          <p:cNvPr id="669" name="Google Shape;669;p51"/>
          <p:cNvGraphicFramePr/>
          <p:nvPr/>
        </p:nvGraphicFramePr>
        <p:xfrm>
          <a:off x="298102" y="3739619"/>
          <a:ext cx="3000000" cy="3000000"/>
        </p:xfrm>
        <a:graphic>
          <a:graphicData uri="http://schemas.openxmlformats.org/drawingml/2006/table">
            <a:tbl>
              <a:tblPr>
                <a:noFill/>
                <a:tableStyleId>{FF1A8D6A-5F5D-4DE5-8CDF-4A8D1DE8ED13}</a:tableStyleId>
              </a:tblPr>
              <a:tblGrid>
                <a:gridCol w="328900"/>
                <a:gridCol w="272925"/>
                <a:gridCol w="272925"/>
                <a:gridCol w="272925"/>
              </a:tblGrid>
              <a:tr h="359225">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12</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17</a:t>
                      </a:r>
                      <a:endParaRPr/>
                    </a:p>
                  </a:txBody>
                  <a:tcPr marT="45725" marB="45725" marR="91450" marL="91450">
                    <a:lnL cap="flat" cmpd="sng" w="127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59225">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EAF6"/>
                    </a:solidFill>
                  </a:tcPr>
                </a:tc>
              </a:tr>
            </a:tbl>
          </a:graphicData>
        </a:graphic>
      </p:graphicFrame>
      <p:cxnSp>
        <p:nvCxnSpPr>
          <p:cNvPr id="670" name="Google Shape;670;p51"/>
          <p:cNvCxnSpPr/>
          <p:nvPr/>
        </p:nvCxnSpPr>
        <p:spPr>
          <a:xfrm flipH="1">
            <a:off x="871967" y="2680758"/>
            <a:ext cx="2315100" cy="1059000"/>
          </a:xfrm>
          <a:prstGeom prst="straightConnector1">
            <a:avLst/>
          </a:prstGeom>
          <a:noFill/>
          <a:ln cap="flat" cmpd="sng" w="25400">
            <a:solidFill>
              <a:schemeClr val="dk1"/>
            </a:solidFill>
            <a:prstDash val="solid"/>
            <a:miter lim="800000"/>
            <a:headEnd len="sm" w="sm" type="none"/>
            <a:tailEnd len="med" w="med" type="triangle"/>
          </a:ln>
        </p:spPr>
      </p:cxnSp>
      <p:cxnSp>
        <p:nvCxnSpPr>
          <p:cNvPr id="671" name="Google Shape;671;p51"/>
          <p:cNvCxnSpPr/>
          <p:nvPr/>
        </p:nvCxnSpPr>
        <p:spPr>
          <a:xfrm flipH="1">
            <a:off x="-119270" y="2653921"/>
            <a:ext cx="2803778" cy="1021191"/>
          </a:xfrm>
          <a:prstGeom prst="straightConnector1">
            <a:avLst/>
          </a:prstGeom>
          <a:noFill/>
          <a:ln cap="flat" cmpd="sng" w="25400">
            <a:solidFill>
              <a:schemeClr val="dk1"/>
            </a:solidFill>
            <a:prstDash val="solid"/>
            <a:miter lim="800000"/>
            <a:headEnd len="sm" w="sm" type="none"/>
            <a:tailEnd len="med" w="med" type="triangle"/>
          </a:ln>
        </p:spPr>
      </p:cxnSp>
      <p:grpSp>
        <p:nvGrpSpPr>
          <p:cNvPr id="672" name="Google Shape;672;p51"/>
          <p:cNvGrpSpPr/>
          <p:nvPr/>
        </p:nvGrpSpPr>
        <p:grpSpPr>
          <a:xfrm>
            <a:off x="0" y="-22510"/>
            <a:ext cx="12192000" cy="307777"/>
            <a:chOff x="0" y="-22510"/>
            <a:chExt cx="12192000" cy="307777"/>
          </a:xfrm>
        </p:grpSpPr>
        <p:sp>
          <p:nvSpPr>
            <p:cNvPr id="673" name="Google Shape;673;p51"/>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674" name="Google Shape;674;p51"/>
            <p:cNvSpPr txBox="1"/>
            <p:nvPr/>
          </p:nvSpPr>
          <p:spPr>
            <a:xfrm>
              <a:off x="188780" y="-22510"/>
              <a:ext cx="27634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Section 2  B+ Tree basics</a:t>
              </a:r>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 Tree Basics</a:t>
            </a:r>
            <a:endParaRPr/>
          </a:p>
        </p:txBody>
      </p:sp>
      <p:graphicFrame>
        <p:nvGraphicFramePr>
          <p:cNvPr id="681" name="Google Shape;681;p52"/>
          <p:cNvGraphicFramePr/>
          <p:nvPr/>
        </p:nvGraphicFramePr>
        <p:xfrm>
          <a:off x="2449285" y="2149928"/>
          <a:ext cx="3000000" cy="3000000"/>
        </p:xfrm>
        <a:graphic>
          <a:graphicData uri="http://schemas.openxmlformats.org/drawingml/2006/table">
            <a:tbl>
              <a:tblPr>
                <a:noFill/>
                <a:tableStyleId>{FF1A8D6A-5F5D-4DE5-8CDF-4A8D1DE8ED13}</a:tableStyleId>
              </a:tblPr>
              <a:tblGrid>
                <a:gridCol w="438150"/>
                <a:gridCol w="190500"/>
                <a:gridCol w="327025"/>
                <a:gridCol w="239725"/>
                <a:gridCol w="241300"/>
                <a:gridCol w="392100"/>
              </a:tblGrid>
              <a:tr h="342900">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1" i="0" lang="en-US" sz="1400" u="none" cap="none" strike="noStrike">
                          <a:solidFill>
                            <a:schemeClr val="dk1"/>
                          </a:solidFill>
                          <a:latin typeface="Book Antiqua"/>
                          <a:ea typeface="Book Antiqua"/>
                          <a:cs typeface="Book Antiqua"/>
                          <a:sym typeface="Book Antiqua"/>
                        </a:rPr>
                        <a:t>10</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1" i="0" lang="en-US" sz="1400" u="none" cap="none" strike="noStrike">
                          <a:solidFill>
                            <a:schemeClr val="dk1"/>
                          </a:solidFill>
                          <a:latin typeface="Book Antiqua"/>
                          <a:ea typeface="Book Antiqua"/>
                          <a:cs typeface="Book Antiqua"/>
                          <a:sym typeface="Book Antiqua"/>
                        </a:rPr>
                        <a:t>20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1" i="0" lang="en-US" sz="1400" u="none" cap="none" strike="noStrike">
                          <a:solidFill>
                            <a:schemeClr val="dk1"/>
                          </a:solidFill>
                          <a:latin typeface="Book Antiqua"/>
                          <a:ea typeface="Book Antiqua"/>
                          <a:cs typeface="Book Antiqua"/>
                          <a:sym typeface="Book Antiqua"/>
                        </a:rPr>
                        <a:t>30</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42900">
                <a:tc>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cxnSp>
        <p:nvCxnSpPr>
          <p:cNvPr id="682" name="Google Shape;682;p52"/>
          <p:cNvCxnSpPr/>
          <p:nvPr/>
        </p:nvCxnSpPr>
        <p:spPr>
          <a:xfrm flipH="1">
            <a:off x="3091691" y="2680758"/>
            <a:ext cx="557100" cy="1059000"/>
          </a:xfrm>
          <a:prstGeom prst="straightConnector1">
            <a:avLst/>
          </a:prstGeom>
          <a:noFill/>
          <a:ln cap="flat" cmpd="sng" w="25400">
            <a:solidFill>
              <a:schemeClr val="dk1"/>
            </a:solidFill>
            <a:prstDash val="solid"/>
            <a:miter lim="800000"/>
            <a:headEnd len="sm" w="sm" type="none"/>
            <a:tailEnd len="med" w="med" type="triangle"/>
          </a:ln>
        </p:spPr>
      </p:cxnSp>
      <p:graphicFrame>
        <p:nvGraphicFramePr>
          <p:cNvPr id="683" name="Google Shape;683;p52"/>
          <p:cNvGraphicFramePr/>
          <p:nvPr/>
        </p:nvGraphicFramePr>
        <p:xfrm>
          <a:off x="1915886" y="3739619"/>
          <a:ext cx="3000000" cy="3000000"/>
        </p:xfrm>
        <a:graphic>
          <a:graphicData uri="http://schemas.openxmlformats.org/drawingml/2006/table">
            <a:tbl>
              <a:tblPr>
                <a:noFill/>
                <a:tableStyleId>{FF1A8D6A-5F5D-4DE5-8CDF-4A8D1DE8ED13}</a:tableStyleId>
              </a:tblPr>
              <a:tblGrid>
                <a:gridCol w="328900"/>
                <a:gridCol w="272925"/>
                <a:gridCol w="272925"/>
                <a:gridCol w="272925"/>
                <a:gridCol w="328900"/>
                <a:gridCol w="272925"/>
                <a:gridCol w="272925"/>
                <a:gridCol w="328900"/>
              </a:tblGrid>
              <a:tr h="359225">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22</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25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28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29</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59225">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EAF6"/>
                    </a:solidFill>
                  </a:tcPr>
                </a:tc>
              </a:tr>
            </a:tbl>
          </a:graphicData>
        </a:graphic>
      </p:graphicFrame>
      <p:sp>
        <p:nvSpPr>
          <p:cNvPr id="684" name="Google Shape;684;p52"/>
          <p:cNvSpPr txBox="1"/>
          <p:nvPr/>
        </p:nvSpPr>
        <p:spPr>
          <a:xfrm>
            <a:off x="5836569" y="3174736"/>
            <a:ext cx="1201419" cy="369332"/>
          </a:xfrm>
          <a:prstGeom prst="rect">
            <a:avLst/>
          </a:prstGeom>
          <a:solidFill>
            <a:srgbClr val="DDEAF6"/>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Leaf</a:t>
            </a:r>
            <a:r>
              <a:rPr i="1" lang="en-US" sz="1800">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nodes</a:t>
            </a:r>
            <a:endParaRPr/>
          </a:p>
        </p:txBody>
      </p:sp>
      <p:graphicFrame>
        <p:nvGraphicFramePr>
          <p:cNvPr id="685" name="Google Shape;685;p52"/>
          <p:cNvGraphicFramePr/>
          <p:nvPr/>
        </p:nvGraphicFramePr>
        <p:xfrm>
          <a:off x="4738243" y="3728733"/>
          <a:ext cx="3000000" cy="3000000"/>
        </p:xfrm>
        <a:graphic>
          <a:graphicData uri="http://schemas.openxmlformats.org/drawingml/2006/table">
            <a:tbl>
              <a:tblPr>
                <a:noFill/>
                <a:tableStyleId>{FF1A8D6A-5F5D-4DE5-8CDF-4A8D1DE8ED13}</a:tableStyleId>
              </a:tblPr>
              <a:tblGrid>
                <a:gridCol w="328900"/>
                <a:gridCol w="272925"/>
                <a:gridCol w="272925"/>
                <a:gridCol w="272925"/>
                <a:gridCol w="328900"/>
                <a:gridCol w="272925"/>
                <a:gridCol w="272925"/>
                <a:gridCol w="328900"/>
              </a:tblGrid>
              <a:tr h="359225">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32</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34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37</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38</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59225">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EAF6"/>
                    </a:solidFill>
                  </a:tcPr>
                </a:tc>
              </a:tr>
            </a:tbl>
          </a:graphicData>
        </a:graphic>
      </p:graphicFrame>
      <p:cxnSp>
        <p:nvCxnSpPr>
          <p:cNvPr id="686" name="Google Shape;686;p52"/>
          <p:cNvCxnSpPr/>
          <p:nvPr/>
        </p:nvCxnSpPr>
        <p:spPr>
          <a:xfrm>
            <a:off x="4071258" y="2680758"/>
            <a:ext cx="1842600" cy="1047900"/>
          </a:xfrm>
          <a:prstGeom prst="straightConnector1">
            <a:avLst/>
          </a:prstGeom>
          <a:noFill/>
          <a:ln cap="flat" cmpd="sng" w="25400">
            <a:solidFill>
              <a:schemeClr val="dk1"/>
            </a:solidFill>
            <a:prstDash val="solid"/>
            <a:miter lim="800000"/>
            <a:headEnd len="sm" w="sm" type="none"/>
            <a:tailEnd len="med" w="med" type="triangle"/>
          </a:ln>
        </p:spPr>
      </p:cxnSp>
      <p:sp>
        <p:nvSpPr>
          <p:cNvPr id="687" name="Google Shape;687;p52"/>
          <p:cNvSpPr txBox="1"/>
          <p:nvPr/>
        </p:nvSpPr>
        <p:spPr>
          <a:xfrm>
            <a:off x="1716871" y="1592968"/>
            <a:ext cx="2561214" cy="369332"/>
          </a:xfrm>
          <a:prstGeom prst="rect">
            <a:avLst/>
          </a:prstGeom>
          <a:solidFill>
            <a:srgbClr val="DDEAF6"/>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Non-leaf or </a:t>
            </a:r>
            <a:r>
              <a:rPr i="1" lang="en-US" sz="1800">
                <a:solidFill>
                  <a:schemeClr val="dk1"/>
                </a:solidFill>
                <a:latin typeface="Calibri"/>
                <a:ea typeface="Calibri"/>
                <a:cs typeface="Calibri"/>
                <a:sym typeface="Calibri"/>
              </a:rPr>
              <a:t>internal </a:t>
            </a:r>
            <a:r>
              <a:rPr lang="en-US" sz="1800">
                <a:solidFill>
                  <a:schemeClr val="dk1"/>
                </a:solidFill>
                <a:latin typeface="Calibri"/>
                <a:ea typeface="Calibri"/>
                <a:cs typeface="Calibri"/>
                <a:sym typeface="Calibri"/>
              </a:rPr>
              <a:t>node</a:t>
            </a:r>
            <a:endParaRPr/>
          </a:p>
        </p:txBody>
      </p:sp>
      <p:graphicFrame>
        <p:nvGraphicFramePr>
          <p:cNvPr id="688" name="Google Shape;688;p52"/>
          <p:cNvGraphicFramePr/>
          <p:nvPr/>
        </p:nvGraphicFramePr>
        <p:xfrm>
          <a:off x="298102" y="3739619"/>
          <a:ext cx="3000000" cy="3000000"/>
        </p:xfrm>
        <a:graphic>
          <a:graphicData uri="http://schemas.openxmlformats.org/drawingml/2006/table">
            <a:tbl>
              <a:tblPr>
                <a:noFill/>
                <a:tableStyleId>{FF1A8D6A-5F5D-4DE5-8CDF-4A8D1DE8ED13}</a:tableStyleId>
              </a:tblPr>
              <a:tblGrid>
                <a:gridCol w="328900"/>
                <a:gridCol w="272925"/>
                <a:gridCol w="272925"/>
                <a:gridCol w="272925"/>
              </a:tblGrid>
              <a:tr h="359225">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12</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17</a:t>
                      </a:r>
                      <a:endParaRPr/>
                    </a:p>
                  </a:txBody>
                  <a:tcPr marT="45725" marB="45725" marR="91450" marL="91450">
                    <a:lnL cap="flat" cmpd="sng" w="127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59225">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EAF6"/>
                    </a:solidFill>
                  </a:tcPr>
                </a:tc>
              </a:tr>
            </a:tbl>
          </a:graphicData>
        </a:graphic>
      </p:graphicFrame>
      <p:cxnSp>
        <p:nvCxnSpPr>
          <p:cNvPr id="689" name="Google Shape;689;p52"/>
          <p:cNvCxnSpPr/>
          <p:nvPr/>
        </p:nvCxnSpPr>
        <p:spPr>
          <a:xfrm flipH="1">
            <a:off x="871967" y="2680758"/>
            <a:ext cx="2315100" cy="1059000"/>
          </a:xfrm>
          <a:prstGeom prst="straightConnector1">
            <a:avLst/>
          </a:prstGeom>
          <a:noFill/>
          <a:ln cap="flat" cmpd="sng" w="25400">
            <a:solidFill>
              <a:schemeClr val="dk1"/>
            </a:solidFill>
            <a:prstDash val="solid"/>
            <a:miter lim="800000"/>
            <a:headEnd len="sm" w="sm" type="none"/>
            <a:tailEnd len="med" w="med" type="triangle"/>
          </a:ln>
        </p:spPr>
      </p:cxnSp>
      <p:cxnSp>
        <p:nvCxnSpPr>
          <p:cNvPr id="690" name="Google Shape;690;p52"/>
          <p:cNvCxnSpPr/>
          <p:nvPr/>
        </p:nvCxnSpPr>
        <p:spPr>
          <a:xfrm flipH="1">
            <a:off x="-119270" y="2653921"/>
            <a:ext cx="2803778" cy="1021191"/>
          </a:xfrm>
          <a:prstGeom prst="straightConnector1">
            <a:avLst/>
          </a:prstGeom>
          <a:noFill/>
          <a:ln cap="flat" cmpd="sng" w="25400">
            <a:solidFill>
              <a:schemeClr val="dk1"/>
            </a:solidFill>
            <a:prstDash val="solid"/>
            <a:miter lim="800000"/>
            <a:headEnd len="sm" w="sm" type="none"/>
            <a:tailEnd len="med" w="med" type="triangle"/>
          </a:ln>
        </p:spPr>
      </p:cxnSp>
      <p:cxnSp>
        <p:nvCxnSpPr>
          <p:cNvPr id="691" name="Google Shape;691;p52"/>
          <p:cNvCxnSpPr/>
          <p:nvPr/>
        </p:nvCxnSpPr>
        <p:spPr>
          <a:xfrm flipH="1">
            <a:off x="1540346" y="4256838"/>
            <a:ext cx="587384" cy="832423"/>
          </a:xfrm>
          <a:prstGeom prst="straightConnector1">
            <a:avLst/>
          </a:prstGeom>
          <a:noFill/>
          <a:ln cap="flat" cmpd="sng" w="25400">
            <a:solidFill>
              <a:schemeClr val="dk1"/>
            </a:solidFill>
            <a:prstDash val="solid"/>
            <a:miter lim="800000"/>
            <a:headEnd len="sm" w="sm" type="none"/>
            <a:tailEnd len="med" w="med" type="triangle"/>
          </a:ln>
        </p:spPr>
      </p:cxnSp>
      <p:cxnSp>
        <p:nvCxnSpPr>
          <p:cNvPr id="692" name="Google Shape;692;p52"/>
          <p:cNvCxnSpPr/>
          <p:nvPr/>
        </p:nvCxnSpPr>
        <p:spPr>
          <a:xfrm flipH="1">
            <a:off x="2277786" y="4249876"/>
            <a:ext cx="322547" cy="832423"/>
          </a:xfrm>
          <a:prstGeom prst="straightConnector1">
            <a:avLst/>
          </a:prstGeom>
          <a:noFill/>
          <a:ln cap="flat" cmpd="sng" w="25400">
            <a:solidFill>
              <a:schemeClr val="dk1"/>
            </a:solidFill>
            <a:prstDash val="solid"/>
            <a:miter lim="800000"/>
            <a:headEnd len="sm" w="sm" type="none"/>
            <a:tailEnd len="med" w="med" type="triangle"/>
          </a:ln>
        </p:spPr>
      </p:cxnSp>
      <p:cxnSp>
        <p:nvCxnSpPr>
          <p:cNvPr id="693" name="Google Shape;693;p52"/>
          <p:cNvCxnSpPr/>
          <p:nvPr/>
        </p:nvCxnSpPr>
        <p:spPr>
          <a:xfrm flipH="1">
            <a:off x="3044079" y="4249876"/>
            <a:ext cx="165373" cy="832423"/>
          </a:xfrm>
          <a:prstGeom prst="straightConnector1">
            <a:avLst/>
          </a:prstGeom>
          <a:noFill/>
          <a:ln cap="flat" cmpd="sng" w="25400">
            <a:solidFill>
              <a:schemeClr val="dk1"/>
            </a:solidFill>
            <a:prstDash val="solid"/>
            <a:miter lim="800000"/>
            <a:headEnd len="sm" w="sm" type="none"/>
            <a:tailEnd len="med" w="med" type="triangle"/>
          </a:ln>
        </p:spPr>
      </p:cxnSp>
      <p:cxnSp>
        <p:nvCxnSpPr>
          <p:cNvPr id="694" name="Google Shape;694;p52"/>
          <p:cNvCxnSpPr/>
          <p:nvPr/>
        </p:nvCxnSpPr>
        <p:spPr>
          <a:xfrm>
            <a:off x="3645845" y="4256838"/>
            <a:ext cx="164526" cy="825461"/>
          </a:xfrm>
          <a:prstGeom prst="straightConnector1">
            <a:avLst/>
          </a:prstGeom>
          <a:noFill/>
          <a:ln cap="flat" cmpd="sng" w="25400">
            <a:solidFill>
              <a:schemeClr val="dk1"/>
            </a:solidFill>
            <a:prstDash val="solid"/>
            <a:miter lim="800000"/>
            <a:headEnd len="sm" w="sm" type="none"/>
            <a:tailEnd len="med" w="med" type="triangle"/>
          </a:ln>
        </p:spPr>
      </p:cxnSp>
      <p:cxnSp>
        <p:nvCxnSpPr>
          <p:cNvPr id="695" name="Google Shape;695;p52"/>
          <p:cNvCxnSpPr/>
          <p:nvPr/>
        </p:nvCxnSpPr>
        <p:spPr>
          <a:xfrm flipH="1">
            <a:off x="4576665" y="4249876"/>
            <a:ext cx="374983" cy="832423"/>
          </a:xfrm>
          <a:prstGeom prst="straightConnector1">
            <a:avLst/>
          </a:prstGeom>
          <a:noFill/>
          <a:ln cap="flat" cmpd="sng" w="25400">
            <a:solidFill>
              <a:schemeClr val="dk1"/>
            </a:solidFill>
            <a:prstDash val="solid"/>
            <a:miter lim="800000"/>
            <a:headEnd len="sm" w="sm" type="none"/>
            <a:tailEnd len="med" w="med" type="triangle"/>
          </a:ln>
        </p:spPr>
      </p:cxnSp>
      <p:cxnSp>
        <p:nvCxnSpPr>
          <p:cNvPr id="696" name="Google Shape;696;p52"/>
          <p:cNvCxnSpPr/>
          <p:nvPr/>
        </p:nvCxnSpPr>
        <p:spPr>
          <a:xfrm flipH="1">
            <a:off x="5342958" y="4249876"/>
            <a:ext cx="52233" cy="832423"/>
          </a:xfrm>
          <a:prstGeom prst="straightConnector1">
            <a:avLst/>
          </a:prstGeom>
          <a:noFill/>
          <a:ln cap="flat" cmpd="sng" w="25400">
            <a:solidFill>
              <a:schemeClr val="dk1"/>
            </a:solidFill>
            <a:prstDash val="solid"/>
            <a:miter lim="800000"/>
            <a:headEnd len="sm" w="sm" type="none"/>
            <a:tailEnd len="med" w="med" type="triangle"/>
          </a:ln>
        </p:spPr>
      </p:cxnSp>
      <p:cxnSp>
        <p:nvCxnSpPr>
          <p:cNvPr id="697" name="Google Shape;697;p52"/>
          <p:cNvCxnSpPr/>
          <p:nvPr/>
        </p:nvCxnSpPr>
        <p:spPr>
          <a:xfrm>
            <a:off x="5961832" y="4249876"/>
            <a:ext cx="147419" cy="832423"/>
          </a:xfrm>
          <a:prstGeom prst="straightConnector1">
            <a:avLst/>
          </a:prstGeom>
          <a:noFill/>
          <a:ln cap="flat" cmpd="sng" w="25400">
            <a:solidFill>
              <a:schemeClr val="dk1"/>
            </a:solidFill>
            <a:prstDash val="solid"/>
            <a:miter lim="800000"/>
            <a:headEnd len="sm" w="sm" type="none"/>
            <a:tailEnd len="med" w="med" type="triangle"/>
          </a:ln>
        </p:spPr>
      </p:cxnSp>
      <p:cxnSp>
        <p:nvCxnSpPr>
          <p:cNvPr id="698" name="Google Shape;698;p52"/>
          <p:cNvCxnSpPr/>
          <p:nvPr/>
        </p:nvCxnSpPr>
        <p:spPr>
          <a:xfrm>
            <a:off x="6456838" y="4256838"/>
            <a:ext cx="418704" cy="825461"/>
          </a:xfrm>
          <a:prstGeom prst="straightConnector1">
            <a:avLst/>
          </a:prstGeom>
          <a:noFill/>
          <a:ln cap="flat" cmpd="sng" w="25400">
            <a:solidFill>
              <a:schemeClr val="dk1"/>
            </a:solidFill>
            <a:prstDash val="solid"/>
            <a:miter lim="800000"/>
            <a:headEnd len="sm" w="sm" type="none"/>
            <a:tailEnd len="med" w="med" type="triangle"/>
          </a:ln>
        </p:spPr>
      </p:cxnSp>
      <p:cxnSp>
        <p:nvCxnSpPr>
          <p:cNvPr id="699" name="Google Shape;699;p52"/>
          <p:cNvCxnSpPr/>
          <p:nvPr/>
        </p:nvCxnSpPr>
        <p:spPr>
          <a:xfrm>
            <a:off x="898694" y="4279115"/>
            <a:ext cx="8122" cy="803183"/>
          </a:xfrm>
          <a:prstGeom prst="straightConnector1">
            <a:avLst/>
          </a:prstGeom>
          <a:noFill/>
          <a:ln cap="flat" cmpd="sng" w="25400">
            <a:solidFill>
              <a:schemeClr val="dk1"/>
            </a:solidFill>
            <a:prstDash val="solid"/>
            <a:miter lim="800000"/>
            <a:headEnd len="sm" w="sm" type="none"/>
            <a:tailEnd len="med" w="med" type="triangle"/>
          </a:ln>
        </p:spPr>
      </p:cxnSp>
      <p:cxnSp>
        <p:nvCxnSpPr>
          <p:cNvPr id="700" name="Google Shape;700;p52"/>
          <p:cNvCxnSpPr/>
          <p:nvPr/>
        </p:nvCxnSpPr>
        <p:spPr>
          <a:xfrm flipH="1">
            <a:off x="301915" y="4286077"/>
            <a:ext cx="164912" cy="803184"/>
          </a:xfrm>
          <a:prstGeom prst="straightConnector1">
            <a:avLst/>
          </a:prstGeom>
          <a:noFill/>
          <a:ln cap="flat" cmpd="sng" w="25400">
            <a:solidFill>
              <a:schemeClr val="dk1"/>
            </a:solidFill>
            <a:prstDash val="solid"/>
            <a:miter lim="800000"/>
            <a:headEnd len="sm" w="sm" type="none"/>
            <a:tailEnd len="med" w="med" type="triangle"/>
          </a:ln>
        </p:spPr>
      </p:cxnSp>
      <p:sp>
        <p:nvSpPr>
          <p:cNvPr id="701" name="Google Shape;701;p52"/>
          <p:cNvSpPr txBox="1"/>
          <p:nvPr/>
        </p:nvSpPr>
        <p:spPr>
          <a:xfrm>
            <a:off x="8103138" y="971975"/>
            <a:ext cx="3567541"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Leaf nodes also have between </a:t>
            </a:r>
            <a:r>
              <a:rPr i="1" lang="en-US" sz="2400">
                <a:solidFill>
                  <a:schemeClr val="dk1"/>
                </a:solidFill>
                <a:latin typeface="Calibri"/>
                <a:ea typeface="Calibri"/>
                <a:cs typeface="Calibri"/>
                <a:sym typeface="Calibri"/>
              </a:rPr>
              <a:t>d </a:t>
            </a:r>
            <a:r>
              <a:rPr lang="en-US" sz="2400">
                <a:solidFill>
                  <a:schemeClr val="dk1"/>
                </a:solidFill>
                <a:latin typeface="Calibri"/>
                <a:ea typeface="Calibri"/>
                <a:cs typeface="Calibri"/>
                <a:sym typeface="Calibri"/>
              </a:rPr>
              <a:t>and </a:t>
            </a:r>
            <a:r>
              <a:rPr i="1" lang="en-US" sz="2400">
                <a:solidFill>
                  <a:schemeClr val="dk1"/>
                </a:solidFill>
                <a:latin typeface="Calibri"/>
                <a:ea typeface="Calibri"/>
                <a:cs typeface="Calibri"/>
                <a:sym typeface="Calibri"/>
              </a:rPr>
              <a:t>2d </a:t>
            </a:r>
            <a:r>
              <a:rPr lang="en-US" sz="2400">
                <a:solidFill>
                  <a:schemeClr val="dk1"/>
                </a:solidFill>
                <a:latin typeface="Calibri"/>
                <a:ea typeface="Calibri"/>
                <a:cs typeface="Calibri"/>
                <a:sym typeface="Calibri"/>
              </a:rPr>
              <a:t>keys, and are different in that:</a:t>
            </a:r>
            <a:endParaRPr/>
          </a:p>
        </p:txBody>
      </p:sp>
      <p:sp>
        <p:nvSpPr>
          <p:cNvPr id="702" name="Google Shape;702;p52"/>
          <p:cNvSpPr txBox="1"/>
          <p:nvPr/>
        </p:nvSpPr>
        <p:spPr>
          <a:xfrm>
            <a:off x="8103138" y="2492828"/>
            <a:ext cx="3704549" cy="954107"/>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Their key slots contain pointers to data records</a:t>
            </a:r>
            <a:endParaRPr/>
          </a:p>
        </p:txBody>
      </p:sp>
      <p:sp>
        <p:nvSpPr>
          <p:cNvPr id="703" name="Google Shape;703;p52"/>
          <p:cNvSpPr/>
          <p:nvPr/>
        </p:nvSpPr>
        <p:spPr>
          <a:xfrm>
            <a:off x="6173633" y="4038046"/>
            <a:ext cx="609600" cy="463826"/>
          </a:xfrm>
          <a:prstGeom prst="roundRect">
            <a:avLst>
              <a:gd fmla="val 16667" name="adj"/>
            </a:avLst>
          </a:prstGeom>
          <a:solidFill>
            <a:schemeClr val="accent2">
              <a:alpha val="21960"/>
            </a:schemeClr>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4" name="Google Shape;704;p52"/>
          <p:cNvSpPr txBox="1"/>
          <p:nvPr/>
        </p:nvSpPr>
        <p:spPr>
          <a:xfrm>
            <a:off x="1302140" y="5089260"/>
            <a:ext cx="418704" cy="369332"/>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21</a:t>
            </a:r>
            <a:endParaRPr/>
          </a:p>
        </p:txBody>
      </p:sp>
      <p:sp>
        <p:nvSpPr>
          <p:cNvPr id="705" name="Google Shape;705;p52"/>
          <p:cNvSpPr txBox="1"/>
          <p:nvPr/>
        </p:nvSpPr>
        <p:spPr>
          <a:xfrm>
            <a:off x="2068433" y="5082298"/>
            <a:ext cx="418704" cy="369332"/>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22</a:t>
            </a:r>
            <a:endParaRPr/>
          </a:p>
        </p:txBody>
      </p:sp>
      <p:sp>
        <p:nvSpPr>
          <p:cNvPr id="706" name="Google Shape;706;p52"/>
          <p:cNvSpPr txBox="1"/>
          <p:nvPr/>
        </p:nvSpPr>
        <p:spPr>
          <a:xfrm>
            <a:off x="2834726" y="5082298"/>
            <a:ext cx="418704" cy="369332"/>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27</a:t>
            </a:r>
            <a:endParaRPr/>
          </a:p>
        </p:txBody>
      </p:sp>
      <p:sp>
        <p:nvSpPr>
          <p:cNvPr id="707" name="Google Shape;707;p52"/>
          <p:cNvSpPr txBox="1"/>
          <p:nvPr/>
        </p:nvSpPr>
        <p:spPr>
          <a:xfrm>
            <a:off x="3601019" y="5082298"/>
            <a:ext cx="418704" cy="369332"/>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28</a:t>
            </a:r>
            <a:endParaRPr/>
          </a:p>
        </p:txBody>
      </p:sp>
      <p:sp>
        <p:nvSpPr>
          <p:cNvPr id="708" name="Google Shape;708;p52"/>
          <p:cNvSpPr txBox="1"/>
          <p:nvPr/>
        </p:nvSpPr>
        <p:spPr>
          <a:xfrm>
            <a:off x="4367312" y="5082298"/>
            <a:ext cx="418704" cy="369332"/>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30</a:t>
            </a:r>
            <a:endParaRPr/>
          </a:p>
        </p:txBody>
      </p:sp>
      <p:sp>
        <p:nvSpPr>
          <p:cNvPr id="709" name="Google Shape;709;p52"/>
          <p:cNvSpPr txBox="1"/>
          <p:nvPr/>
        </p:nvSpPr>
        <p:spPr>
          <a:xfrm>
            <a:off x="5133605" y="5082298"/>
            <a:ext cx="418704" cy="369332"/>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33</a:t>
            </a:r>
            <a:endParaRPr/>
          </a:p>
        </p:txBody>
      </p:sp>
      <p:sp>
        <p:nvSpPr>
          <p:cNvPr id="710" name="Google Shape;710;p52"/>
          <p:cNvSpPr txBox="1"/>
          <p:nvPr/>
        </p:nvSpPr>
        <p:spPr>
          <a:xfrm>
            <a:off x="5899898" y="5082298"/>
            <a:ext cx="418704" cy="369332"/>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35</a:t>
            </a:r>
            <a:endParaRPr/>
          </a:p>
        </p:txBody>
      </p:sp>
      <p:sp>
        <p:nvSpPr>
          <p:cNvPr id="711" name="Google Shape;711;p52"/>
          <p:cNvSpPr txBox="1"/>
          <p:nvPr/>
        </p:nvSpPr>
        <p:spPr>
          <a:xfrm>
            <a:off x="6666190" y="5082298"/>
            <a:ext cx="418704" cy="369332"/>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37</a:t>
            </a:r>
            <a:endParaRPr/>
          </a:p>
        </p:txBody>
      </p:sp>
      <p:sp>
        <p:nvSpPr>
          <p:cNvPr id="712" name="Google Shape;712;p52"/>
          <p:cNvSpPr txBox="1"/>
          <p:nvPr/>
        </p:nvSpPr>
        <p:spPr>
          <a:xfrm>
            <a:off x="668610" y="5082298"/>
            <a:ext cx="476412" cy="369332"/>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15</a:t>
            </a:r>
            <a:endParaRPr/>
          </a:p>
        </p:txBody>
      </p:sp>
      <p:sp>
        <p:nvSpPr>
          <p:cNvPr id="713" name="Google Shape;713;p52"/>
          <p:cNvSpPr txBox="1"/>
          <p:nvPr/>
        </p:nvSpPr>
        <p:spPr>
          <a:xfrm>
            <a:off x="63709" y="5089260"/>
            <a:ext cx="476412" cy="369332"/>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11</a:t>
            </a:r>
            <a:endParaRPr/>
          </a:p>
        </p:txBody>
      </p:sp>
      <p:grpSp>
        <p:nvGrpSpPr>
          <p:cNvPr id="714" name="Google Shape;714;p52"/>
          <p:cNvGrpSpPr/>
          <p:nvPr/>
        </p:nvGrpSpPr>
        <p:grpSpPr>
          <a:xfrm>
            <a:off x="0" y="-22510"/>
            <a:ext cx="12192000" cy="307777"/>
            <a:chOff x="0" y="-22510"/>
            <a:chExt cx="12192000" cy="307777"/>
          </a:xfrm>
        </p:grpSpPr>
        <p:sp>
          <p:nvSpPr>
            <p:cNvPr id="715" name="Google Shape;715;p52"/>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716" name="Google Shape;716;p52"/>
            <p:cNvSpPr txBox="1"/>
            <p:nvPr/>
          </p:nvSpPr>
          <p:spPr>
            <a:xfrm>
              <a:off x="188780" y="-22510"/>
              <a:ext cx="27634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Section 2  B+ Tree basics</a:t>
              </a:r>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 Tree Basics</a:t>
            </a:r>
            <a:endParaRPr/>
          </a:p>
        </p:txBody>
      </p:sp>
      <p:graphicFrame>
        <p:nvGraphicFramePr>
          <p:cNvPr id="723" name="Google Shape;723;p53"/>
          <p:cNvGraphicFramePr/>
          <p:nvPr/>
        </p:nvGraphicFramePr>
        <p:xfrm>
          <a:off x="2449285" y="2149928"/>
          <a:ext cx="3000000" cy="3000000"/>
        </p:xfrm>
        <a:graphic>
          <a:graphicData uri="http://schemas.openxmlformats.org/drawingml/2006/table">
            <a:tbl>
              <a:tblPr>
                <a:noFill/>
                <a:tableStyleId>{FF1A8D6A-5F5D-4DE5-8CDF-4A8D1DE8ED13}</a:tableStyleId>
              </a:tblPr>
              <a:tblGrid>
                <a:gridCol w="438150"/>
                <a:gridCol w="190500"/>
                <a:gridCol w="327025"/>
                <a:gridCol w="239725"/>
                <a:gridCol w="241300"/>
                <a:gridCol w="392100"/>
              </a:tblGrid>
              <a:tr h="342900">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1" i="0" lang="en-US" sz="1400" u="none" cap="none" strike="noStrike">
                          <a:solidFill>
                            <a:schemeClr val="dk1"/>
                          </a:solidFill>
                          <a:latin typeface="Book Antiqua"/>
                          <a:ea typeface="Book Antiqua"/>
                          <a:cs typeface="Book Antiqua"/>
                          <a:sym typeface="Book Antiqua"/>
                        </a:rPr>
                        <a:t>10</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1" i="0" lang="en-US" sz="1400" u="none" cap="none" strike="noStrike">
                          <a:solidFill>
                            <a:schemeClr val="dk1"/>
                          </a:solidFill>
                          <a:latin typeface="Book Antiqua"/>
                          <a:ea typeface="Book Antiqua"/>
                          <a:cs typeface="Book Antiqua"/>
                          <a:sym typeface="Book Antiqua"/>
                        </a:rPr>
                        <a:t>20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1" i="0" lang="en-US" sz="1400" u="none" cap="none" strike="noStrike">
                          <a:solidFill>
                            <a:schemeClr val="dk1"/>
                          </a:solidFill>
                          <a:latin typeface="Book Antiqua"/>
                          <a:ea typeface="Book Antiqua"/>
                          <a:cs typeface="Book Antiqua"/>
                          <a:sym typeface="Book Antiqua"/>
                        </a:rPr>
                        <a:t>30</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42900">
                <a:tc>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cxnSp>
        <p:nvCxnSpPr>
          <p:cNvPr id="724" name="Google Shape;724;p53"/>
          <p:cNvCxnSpPr/>
          <p:nvPr/>
        </p:nvCxnSpPr>
        <p:spPr>
          <a:xfrm flipH="1">
            <a:off x="3091691" y="2680758"/>
            <a:ext cx="557100" cy="1059000"/>
          </a:xfrm>
          <a:prstGeom prst="straightConnector1">
            <a:avLst/>
          </a:prstGeom>
          <a:noFill/>
          <a:ln cap="flat" cmpd="sng" w="25400">
            <a:solidFill>
              <a:schemeClr val="dk1"/>
            </a:solidFill>
            <a:prstDash val="solid"/>
            <a:miter lim="800000"/>
            <a:headEnd len="sm" w="sm" type="none"/>
            <a:tailEnd len="med" w="med" type="triangle"/>
          </a:ln>
        </p:spPr>
      </p:cxnSp>
      <p:graphicFrame>
        <p:nvGraphicFramePr>
          <p:cNvPr id="725" name="Google Shape;725;p53"/>
          <p:cNvGraphicFramePr/>
          <p:nvPr/>
        </p:nvGraphicFramePr>
        <p:xfrm>
          <a:off x="1915886" y="3739619"/>
          <a:ext cx="3000000" cy="3000000"/>
        </p:xfrm>
        <a:graphic>
          <a:graphicData uri="http://schemas.openxmlformats.org/drawingml/2006/table">
            <a:tbl>
              <a:tblPr>
                <a:noFill/>
                <a:tableStyleId>{FF1A8D6A-5F5D-4DE5-8CDF-4A8D1DE8ED13}</a:tableStyleId>
              </a:tblPr>
              <a:tblGrid>
                <a:gridCol w="328900"/>
                <a:gridCol w="272925"/>
                <a:gridCol w="272925"/>
                <a:gridCol w="272925"/>
                <a:gridCol w="328900"/>
                <a:gridCol w="272925"/>
                <a:gridCol w="272925"/>
                <a:gridCol w="328900"/>
              </a:tblGrid>
              <a:tr h="359225">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22</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25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28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29</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59225">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EAF6"/>
                    </a:solidFill>
                  </a:tcPr>
                </a:tc>
              </a:tr>
            </a:tbl>
          </a:graphicData>
        </a:graphic>
      </p:graphicFrame>
      <p:sp>
        <p:nvSpPr>
          <p:cNvPr id="726" name="Google Shape;726;p53"/>
          <p:cNvSpPr txBox="1"/>
          <p:nvPr/>
        </p:nvSpPr>
        <p:spPr>
          <a:xfrm>
            <a:off x="5836569" y="3174736"/>
            <a:ext cx="1201419" cy="369332"/>
          </a:xfrm>
          <a:prstGeom prst="rect">
            <a:avLst/>
          </a:prstGeom>
          <a:solidFill>
            <a:srgbClr val="DDEAF6"/>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Leaf</a:t>
            </a:r>
            <a:r>
              <a:rPr i="1" lang="en-US" sz="1800">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nodes</a:t>
            </a:r>
            <a:endParaRPr/>
          </a:p>
        </p:txBody>
      </p:sp>
      <p:graphicFrame>
        <p:nvGraphicFramePr>
          <p:cNvPr id="727" name="Google Shape;727;p53"/>
          <p:cNvGraphicFramePr/>
          <p:nvPr/>
        </p:nvGraphicFramePr>
        <p:xfrm>
          <a:off x="4738243" y="3728733"/>
          <a:ext cx="3000000" cy="3000000"/>
        </p:xfrm>
        <a:graphic>
          <a:graphicData uri="http://schemas.openxmlformats.org/drawingml/2006/table">
            <a:tbl>
              <a:tblPr>
                <a:noFill/>
                <a:tableStyleId>{FF1A8D6A-5F5D-4DE5-8CDF-4A8D1DE8ED13}</a:tableStyleId>
              </a:tblPr>
              <a:tblGrid>
                <a:gridCol w="328900"/>
                <a:gridCol w="272925"/>
                <a:gridCol w="272925"/>
                <a:gridCol w="272925"/>
                <a:gridCol w="328900"/>
                <a:gridCol w="272925"/>
                <a:gridCol w="272925"/>
                <a:gridCol w="328900"/>
              </a:tblGrid>
              <a:tr h="359225">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32</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34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37</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38</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59225">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EAF6"/>
                    </a:solidFill>
                  </a:tcPr>
                </a:tc>
              </a:tr>
            </a:tbl>
          </a:graphicData>
        </a:graphic>
      </p:graphicFrame>
      <p:cxnSp>
        <p:nvCxnSpPr>
          <p:cNvPr id="728" name="Google Shape;728;p53"/>
          <p:cNvCxnSpPr/>
          <p:nvPr/>
        </p:nvCxnSpPr>
        <p:spPr>
          <a:xfrm>
            <a:off x="4071258" y="2680758"/>
            <a:ext cx="1842600" cy="1047900"/>
          </a:xfrm>
          <a:prstGeom prst="straightConnector1">
            <a:avLst/>
          </a:prstGeom>
          <a:noFill/>
          <a:ln cap="flat" cmpd="sng" w="25400">
            <a:solidFill>
              <a:schemeClr val="dk1"/>
            </a:solidFill>
            <a:prstDash val="solid"/>
            <a:miter lim="800000"/>
            <a:headEnd len="sm" w="sm" type="none"/>
            <a:tailEnd len="med" w="med" type="triangle"/>
          </a:ln>
        </p:spPr>
      </p:cxnSp>
      <p:sp>
        <p:nvSpPr>
          <p:cNvPr id="729" name="Google Shape;729;p53"/>
          <p:cNvSpPr txBox="1"/>
          <p:nvPr/>
        </p:nvSpPr>
        <p:spPr>
          <a:xfrm>
            <a:off x="1716871" y="1592968"/>
            <a:ext cx="2561214" cy="369332"/>
          </a:xfrm>
          <a:prstGeom prst="rect">
            <a:avLst/>
          </a:prstGeom>
          <a:solidFill>
            <a:srgbClr val="DDEAF6"/>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Non-leaf or </a:t>
            </a:r>
            <a:r>
              <a:rPr i="1" lang="en-US" sz="1800">
                <a:solidFill>
                  <a:schemeClr val="dk1"/>
                </a:solidFill>
                <a:latin typeface="Calibri"/>
                <a:ea typeface="Calibri"/>
                <a:cs typeface="Calibri"/>
                <a:sym typeface="Calibri"/>
              </a:rPr>
              <a:t>internal </a:t>
            </a:r>
            <a:r>
              <a:rPr lang="en-US" sz="1800">
                <a:solidFill>
                  <a:schemeClr val="dk1"/>
                </a:solidFill>
                <a:latin typeface="Calibri"/>
                <a:ea typeface="Calibri"/>
                <a:cs typeface="Calibri"/>
                <a:sym typeface="Calibri"/>
              </a:rPr>
              <a:t>node</a:t>
            </a:r>
            <a:endParaRPr/>
          </a:p>
        </p:txBody>
      </p:sp>
      <p:graphicFrame>
        <p:nvGraphicFramePr>
          <p:cNvPr id="730" name="Google Shape;730;p53"/>
          <p:cNvGraphicFramePr/>
          <p:nvPr/>
        </p:nvGraphicFramePr>
        <p:xfrm>
          <a:off x="298102" y="3739619"/>
          <a:ext cx="3000000" cy="3000000"/>
        </p:xfrm>
        <a:graphic>
          <a:graphicData uri="http://schemas.openxmlformats.org/drawingml/2006/table">
            <a:tbl>
              <a:tblPr>
                <a:noFill/>
                <a:tableStyleId>{FF1A8D6A-5F5D-4DE5-8CDF-4A8D1DE8ED13}</a:tableStyleId>
              </a:tblPr>
              <a:tblGrid>
                <a:gridCol w="328900"/>
                <a:gridCol w="272925"/>
                <a:gridCol w="272925"/>
                <a:gridCol w="272925"/>
              </a:tblGrid>
              <a:tr h="359225">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12</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17</a:t>
                      </a:r>
                      <a:endParaRPr/>
                    </a:p>
                  </a:txBody>
                  <a:tcPr marT="45725" marB="45725" marR="91450" marL="91450">
                    <a:lnL cap="flat" cmpd="sng" w="127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59225">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EAF6"/>
                    </a:solidFill>
                  </a:tcPr>
                </a:tc>
              </a:tr>
            </a:tbl>
          </a:graphicData>
        </a:graphic>
      </p:graphicFrame>
      <p:cxnSp>
        <p:nvCxnSpPr>
          <p:cNvPr id="731" name="Google Shape;731;p53"/>
          <p:cNvCxnSpPr/>
          <p:nvPr/>
        </p:nvCxnSpPr>
        <p:spPr>
          <a:xfrm flipH="1">
            <a:off x="871967" y="2680758"/>
            <a:ext cx="2315100" cy="1059000"/>
          </a:xfrm>
          <a:prstGeom prst="straightConnector1">
            <a:avLst/>
          </a:prstGeom>
          <a:noFill/>
          <a:ln cap="flat" cmpd="sng" w="25400">
            <a:solidFill>
              <a:schemeClr val="dk1"/>
            </a:solidFill>
            <a:prstDash val="solid"/>
            <a:miter lim="800000"/>
            <a:headEnd len="sm" w="sm" type="none"/>
            <a:tailEnd len="med" w="med" type="triangle"/>
          </a:ln>
        </p:spPr>
      </p:cxnSp>
      <p:cxnSp>
        <p:nvCxnSpPr>
          <p:cNvPr id="732" name="Google Shape;732;p53"/>
          <p:cNvCxnSpPr/>
          <p:nvPr/>
        </p:nvCxnSpPr>
        <p:spPr>
          <a:xfrm flipH="1">
            <a:off x="-119270" y="2653921"/>
            <a:ext cx="2803778" cy="1021191"/>
          </a:xfrm>
          <a:prstGeom prst="straightConnector1">
            <a:avLst/>
          </a:prstGeom>
          <a:noFill/>
          <a:ln cap="flat" cmpd="sng" w="25400">
            <a:solidFill>
              <a:schemeClr val="dk1"/>
            </a:solidFill>
            <a:prstDash val="solid"/>
            <a:miter lim="800000"/>
            <a:headEnd len="sm" w="sm" type="none"/>
            <a:tailEnd len="med" w="med" type="triangle"/>
          </a:ln>
        </p:spPr>
      </p:cxnSp>
      <p:cxnSp>
        <p:nvCxnSpPr>
          <p:cNvPr id="733" name="Google Shape;733;p53"/>
          <p:cNvCxnSpPr/>
          <p:nvPr/>
        </p:nvCxnSpPr>
        <p:spPr>
          <a:xfrm flipH="1">
            <a:off x="1540346" y="4256838"/>
            <a:ext cx="587384" cy="832423"/>
          </a:xfrm>
          <a:prstGeom prst="straightConnector1">
            <a:avLst/>
          </a:prstGeom>
          <a:noFill/>
          <a:ln cap="flat" cmpd="sng" w="25400">
            <a:solidFill>
              <a:schemeClr val="dk1"/>
            </a:solidFill>
            <a:prstDash val="solid"/>
            <a:miter lim="800000"/>
            <a:headEnd len="sm" w="sm" type="none"/>
            <a:tailEnd len="med" w="med" type="triangle"/>
          </a:ln>
        </p:spPr>
      </p:cxnSp>
      <p:sp>
        <p:nvSpPr>
          <p:cNvPr id="734" name="Google Shape;734;p53"/>
          <p:cNvSpPr txBox="1"/>
          <p:nvPr/>
        </p:nvSpPr>
        <p:spPr>
          <a:xfrm>
            <a:off x="1302140" y="5089260"/>
            <a:ext cx="418704" cy="369332"/>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21</a:t>
            </a:r>
            <a:endParaRPr/>
          </a:p>
        </p:txBody>
      </p:sp>
      <p:cxnSp>
        <p:nvCxnSpPr>
          <p:cNvPr id="735" name="Google Shape;735;p53"/>
          <p:cNvCxnSpPr/>
          <p:nvPr/>
        </p:nvCxnSpPr>
        <p:spPr>
          <a:xfrm flipH="1">
            <a:off x="2277786" y="4249876"/>
            <a:ext cx="322547" cy="832423"/>
          </a:xfrm>
          <a:prstGeom prst="straightConnector1">
            <a:avLst/>
          </a:prstGeom>
          <a:noFill/>
          <a:ln cap="flat" cmpd="sng" w="25400">
            <a:solidFill>
              <a:schemeClr val="dk1"/>
            </a:solidFill>
            <a:prstDash val="solid"/>
            <a:miter lim="800000"/>
            <a:headEnd len="sm" w="sm" type="none"/>
            <a:tailEnd len="med" w="med" type="triangle"/>
          </a:ln>
        </p:spPr>
      </p:cxnSp>
      <p:sp>
        <p:nvSpPr>
          <p:cNvPr id="736" name="Google Shape;736;p53"/>
          <p:cNvSpPr txBox="1"/>
          <p:nvPr/>
        </p:nvSpPr>
        <p:spPr>
          <a:xfrm>
            <a:off x="2068433" y="5082298"/>
            <a:ext cx="418704" cy="369332"/>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22</a:t>
            </a:r>
            <a:endParaRPr/>
          </a:p>
        </p:txBody>
      </p:sp>
      <p:cxnSp>
        <p:nvCxnSpPr>
          <p:cNvPr id="737" name="Google Shape;737;p53"/>
          <p:cNvCxnSpPr/>
          <p:nvPr/>
        </p:nvCxnSpPr>
        <p:spPr>
          <a:xfrm flipH="1">
            <a:off x="3044079" y="4249876"/>
            <a:ext cx="165373" cy="832423"/>
          </a:xfrm>
          <a:prstGeom prst="straightConnector1">
            <a:avLst/>
          </a:prstGeom>
          <a:noFill/>
          <a:ln cap="flat" cmpd="sng" w="25400">
            <a:solidFill>
              <a:schemeClr val="dk1"/>
            </a:solidFill>
            <a:prstDash val="solid"/>
            <a:miter lim="800000"/>
            <a:headEnd len="sm" w="sm" type="none"/>
            <a:tailEnd len="med" w="med" type="triangle"/>
          </a:ln>
        </p:spPr>
      </p:cxnSp>
      <p:sp>
        <p:nvSpPr>
          <p:cNvPr id="738" name="Google Shape;738;p53"/>
          <p:cNvSpPr txBox="1"/>
          <p:nvPr/>
        </p:nvSpPr>
        <p:spPr>
          <a:xfrm>
            <a:off x="2834726" y="5082298"/>
            <a:ext cx="418704" cy="369332"/>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27</a:t>
            </a:r>
            <a:endParaRPr/>
          </a:p>
        </p:txBody>
      </p:sp>
      <p:cxnSp>
        <p:nvCxnSpPr>
          <p:cNvPr id="739" name="Google Shape;739;p53"/>
          <p:cNvCxnSpPr/>
          <p:nvPr/>
        </p:nvCxnSpPr>
        <p:spPr>
          <a:xfrm>
            <a:off x="3645845" y="4256838"/>
            <a:ext cx="164526" cy="825461"/>
          </a:xfrm>
          <a:prstGeom prst="straightConnector1">
            <a:avLst/>
          </a:prstGeom>
          <a:noFill/>
          <a:ln cap="flat" cmpd="sng" w="25400">
            <a:solidFill>
              <a:schemeClr val="dk1"/>
            </a:solidFill>
            <a:prstDash val="solid"/>
            <a:miter lim="800000"/>
            <a:headEnd len="sm" w="sm" type="none"/>
            <a:tailEnd len="med" w="med" type="triangle"/>
          </a:ln>
        </p:spPr>
      </p:cxnSp>
      <p:sp>
        <p:nvSpPr>
          <p:cNvPr id="740" name="Google Shape;740;p53"/>
          <p:cNvSpPr txBox="1"/>
          <p:nvPr/>
        </p:nvSpPr>
        <p:spPr>
          <a:xfrm>
            <a:off x="3601019" y="5082298"/>
            <a:ext cx="418704" cy="369332"/>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28</a:t>
            </a:r>
            <a:endParaRPr/>
          </a:p>
        </p:txBody>
      </p:sp>
      <p:cxnSp>
        <p:nvCxnSpPr>
          <p:cNvPr id="741" name="Google Shape;741;p53"/>
          <p:cNvCxnSpPr/>
          <p:nvPr/>
        </p:nvCxnSpPr>
        <p:spPr>
          <a:xfrm flipH="1">
            <a:off x="4576665" y="4249876"/>
            <a:ext cx="374983" cy="832423"/>
          </a:xfrm>
          <a:prstGeom prst="straightConnector1">
            <a:avLst/>
          </a:prstGeom>
          <a:noFill/>
          <a:ln cap="flat" cmpd="sng" w="25400">
            <a:solidFill>
              <a:schemeClr val="dk1"/>
            </a:solidFill>
            <a:prstDash val="solid"/>
            <a:miter lim="800000"/>
            <a:headEnd len="sm" w="sm" type="none"/>
            <a:tailEnd len="med" w="med" type="triangle"/>
          </a:ln>
        </p:spPr>
      </p:cxnSp>
      <p:sp>
        <p:nvSpPr>
          <p:cNvPr id="742" name="Google Shape;742;p53"/>
          <p:cNvSpPr txBox="1"/>
          <p:nvPr/>
        </p:nvSpPr>
        <p:spPr>
          <a:xfrm>
            <a:off x="4367312" y="5082298"/>
            <a:ext cx="418704" cy="369332"/>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30</a:t>
            </a:r>
            <a:endParaRPr/>
          </a:p>
        </p:txBody>
      </p:sp>
      <p:cxnSp>
        <p:nvCxnSpPr>
          <p:cNvPr id="743" name="Google Shape;743;p53"/>
          <p:cNvCxnSpPr/>
          <p:nvPr/>
        </p:nvCxnSpPr>
        <p:spPr>
          <a:xfrm flipH="1">
            <a:off x="5342958" y="4249876"/>
            <a:ext cx="52233" cy="832423"/>
          </a:xfrm>
          <a:prstGeom prst="straightConnector1">
            <a:avLst/>
          </a:prstGeom>
          <a:noFill/>
          <a:ln cap="flat" cmpd="sng" w="25400">
            <a:solidFill>
              <a:schemeClr val="dk1"/>
            </a:solidFill>
            <a:prstDash val="solid"/>
            <a:miter lim="800000"/>
            <a:headEnd len="sm" w="sm" type="none"/>
            <a:tailEnd len="med" w="med" type="triangle"/>
          </a:ln>
        </p:spPr>
      </p:cxnSp>
      <p:sp>
        <p:nvSpPr>
          <p:cNvPr id="744" name="Google Shape;744;p53"/>
          <p:cNvSpPr txBox="1"/>
          <p:nvPr/>
        </p:nvSpPr>
        <p:spPr>
          <a:xfrm>
            <a:off x="5133605" y="5082298"/>
            <a:ext cx="418704" cy="369332"/>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33</a:t>
            </a:r>
            <a:endParaRPr/>
          </a:p>
        </p:txBody>
      </p:sp>
      <p:cxnSp>
        <p:nvCxnSpPr>
          <p:cNvPr id="745" name="Google Shape;745;p53"/>
          <p:cNvCxnSpPr/>
          <p:nvPr/>
        </p:nvCxnSpPr>
        <p:spPr>
          <a:xfrm>
            <a:off x="5961832" y="4249876"/>
            <a:ext cx="147419" cy="832423"/>
          </a:xfrm>
          <a:prstGeom prst="straightConnector1">
            <a:avLst/>
          </a:prstGeom>
          <a:noFill/>
          <a:ln cap="flat" cmpd="sng" w="25400">
            <a:solidFill>
              <a:schemeClr val="dk1"/>
            </a:solidFill>
            <a:prstDash val="solid"/>
            <a:miter lim="800000"/>
            <a:headEnd len="sm" w="sm" type="none"/>
            <a:tailEnd len="med" w="med" type="triangle"/>
          </a:ln>
        </p:spPr>
      </p:cxnSp>
      <p:sp>
        <p:nvSpPr>
          <p:cNvPr id="746" name="Google Shape;746;p53"/>
          <p:cNvSpPr txBox="1"/>
          <p:nvPr/>
        </p:nvSpPr>
        <p:spPr>
          <a:xfrm>
            <a:off x="5899898" y="5082298"/>
            <a:ext cx="418704" cy="369332"/>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35</a:t>
            </a:r>
            <a:endParaRPr/>
          </a:p>
        </p:txBody>
      </p:sp>
      <p:cxnSp>
        <p:nvCxnSpPr>
          <p:cNvPr id="747" name="Google Shape;747;p53"/>
          <p:cNvCxnSpPr/>
          <p:nvPr/>
        </p:nvCxnSpPr>
        <p:spPr>
          <a:xfrm>
            <a:off x="6456838" y="4256838"/>
            <a:ext cx="418704" cy="825461"/>
          </a:xfrm>
          <a:prstGeom prst="straightConnector1">
            <a:avLst/>
          </a:prstGeom>
          <a:noFill/>
          <a:ln cap="flat" cmpd="sng" w="25400">
            <a:solidFill>
              <a:schemeClr val="dk1"/>
            </a:solidFill>
            <a:prstDash val="solid"/>
            <a:miter lim="800000"/>
            <a:headEnd len="sm" w="sm" type="none"/>
            <a:tailEnd len="med" w="med" type="triangle"/>
          </a:ln>
        </p:spPr>
      </p:cxnSp>
      <p:sp>
        <p:nvSpPr>
          <p:cNvPr id="748" name="Google Shape;748;p53"/>
          <p:cNvSpPr txBox="1"/>
          <p:nvPr/>
        </p:nvSpPr>
        <p:spPr>
          <a:xfrm>
            <a:off x="6666190" y="5082298"/>
            <a:ext cx="418704" cy="369332"/>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37</a:t>
            </a:r>
            <a:endParaRPr/>
          </a:p>
        </p:txBody>
      </p:sp>
      <p:cxnSp>
        <p:nvCxnSpPr>
          <p:cNvPr id="749" name="Google Shape;749;p53"/>
          <p:cNvCxnSpPr>
            <a:endCxn id="750" idx="0"/>
          </p:cNvCxnSpPr>
          <p:nvPr/>
        </p:nvCxnSpPr>
        <p:spPr>
          <a:xfrm>
            <a:off x="898716" y="4279198"/>
            <a:ext cx="8100" cy="803100"/>
          </a:xfrm>
          <a:prstGeom prst="straightConnector1">
            <a:avLst/>
          </a:prstGeom>
          <a:noFill/>
          <a:ln cap="flat" cmpd="sng" w="25400">
            <a:solidFill>
              <a:schemeClr val="dk1"/>
            </a:solidFill>
            <a:prstDash val="solid"/>
            <a:miter lim="800000"/>
            <a:headEnd len="sm" w="sm" type="none"/>
            <a:tailEnd len="med" w="med" type="triangle"/>
          </a:ln>
        </p:spPr>
      </p:cxnSp>
      <p:sp>
        <p:nvSpPr>
          <p:cNvPr id="750" name="Google Shape;750;p53"/>
          <p:cNvSpPr txBox="1"/>
          <p:nvPr/>
        </p:nvSpPr>
        <p:spPr>
          <a:xfrm>
            <a:off x="668610" y="5082298"/>
            <a:ext cx="476412" cy="369332"/>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15</a:t>
            </a:r>
            <a:endParaRPr/>
          </a:p>
        </p:txBody>
      </p:sp>
      <p:cxnSp>
        <p:nvCxnSpPr>
          <p:cNvPr id="751" name="Google Shape;751;p53"/>
          <p:cNvCxnSpPr/>
          <p:nvPr/>
        </p:nvCxnSpPr>
        <p:spPr>
          <a:xfrm flipH="1">
            <a:off x="301915" y="4286077"/>
            <a:ext cx="164912" cy="803184"/>
          </a:xfrm>
          <a:prstGeom prst="straightConnector1">
            <a:avLst/>
          </a:prstGeom>
          <a:noFill/>
          <a:ln cap="flat" cmpd="sng" w="25400">
            <a:solidFill>
              <a:schemeClr val="dk1"/>
            </a:solidFill>
            <a:prstDash val="solid"/>
            <a:miter lim="800000"/>
            <a:headEnd len="sm" w="sm" type="none"/>
            <a:tailEnd len="med" w="med" type="triangle"/>
          </a:ln>
        </p:spPr>
      </p:cxnSp>
      <p:sp>
        <p:nvSpPr>
          <p:cNvPr id="752" name="Google Shape;752;p53"/>
          <p:cNvSpPr txBox="1"/>
          <p:nvPr/>
        </p:nvSpPr>
        <p:spPr>
          <a:xfrm>
            <a:off x="63709" y="5089260"/>
            <a:ext cx="476412" cy="369332"/>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11</a:t>
            </a:r>
            <a:endParaRPr/>
          </a:p>
        </p:txBody>
      </p:sp>
      <p:sp>
        <p:nvSpPr>
          <p:cNvPr id="753" name="Google Shape;753;p53"/>
          <p:cNvSpPr txBox="1"/>
          <p:nvPr/>
        </p:nvSpPr>
        <p:spPr>
          <a:xfrm>
            <a:off x="8103138" y="971975"/>
            <a:ext cx="3567541"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Leaf nodes also have between </a:t>
            </a:r>
            <a:r>
              <a:rPr i="1" lang="en-US" sz="2400">
                <a:solidFill>
                  <a:schemeClr val="dk1"/>
                </a:solidFill>
                <a:latin typeface="Calibri"/>
                <a:ea typeface="Calibri"/>
                <a:cs typeface="Calibri"/>
                <a:sym typeface="Calibri"/>
              </a:rPr>
              <a:t>d </a:t>
            </a:r>
            <a:r>
              <a:rPr lang="en-US" sz="2400">
                <a:solidFill>
                  <a:schemeClr val="dk1"/>
                </a:solidFill>
                <a:latin typeface="Calibri"/>
                <a:ea typeface="Calibri"/>
                <a:cs typeface="Calibri"/>
                <a:sym typeface="Calibri"/>
              </a:rPr>
              <a:t>and </a:t>
            </a:r>
            <a:r>
              <a:rPr i="1" lang="en-US" sz="2400">
                <a:solidFill>
                  <a:schemeClr val="dk1"/>
                </a:solidFill>
                <a:latin typeface="Calibri"/>
                <a:ea typeface="Calibri"/>
                <a:cs typeface="Calibri"/>
                <a:sym typeface="Calibri"/>
              </a:rPr>
              <a:t>2d </a:t>
            </a:r>
            <a:r>
              <a:rPr lang="en-US" sz="2400">
                <a:solidFill>
                  <a:schemeClr val="dk1"/>
                </a:solidFill>
                <a:latin typeface="Calibri"/>
                <a:ea typeface="Calibri"/>
                <a:cs typeface="Calibri"/>
                <a:sym typeface="Calibri"/>
              </a:rPr>
              <a:t>keys, and are different in that:</a:t>
            </a:r>
            <a:endParaRPr/>
          </a:p>
        </p:txBody>
      </p:sp>
      <p:sp>
        <p:nvSpPr>
          <p:cNvPr id="754" name="Google Shape;754;p53"/>
          <p:cNvSpPr txBox="1"/>
          <p:nvPr/>
        </p:nvSpPr>
        <p:spPr>
          <a:xfrm>
            <a:off x="8103138" y="2492828"/>
            <a:ext cx="3704549" cy="954107"/>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Their key slots contain pointers to data records</a:t>
            </a:r>
            <a:endParaRPr/>
          </a:p>
        </p:txBody>
      </p:sp>
      <p:sp>
        <p:nvSpPr>
          <p:cNvPr id="755" name="Google Shape;755;p53"/>
          <p:cNvSpPr/>
          <p:nvPr/>
        </p:nvSpPr>
        <p:spPr>
          <a:xfrm>
            <a:off x="3986021" y="4038046"/>
            <a:ext cx="995504" cy="463826"/>
          </a:xfrm>
          <a:prstGeom prst="roundRect">
            <a:avLst>
              <a:gd fmla="val 16667" name="adj"/>
            </a:avLst>
          </a:prstGeom>
          <a:solidFill>
            <a:schemeClr val="accent2">
              <a:alpha val="21960"/>
            </a:schemeClr>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756" name="Google Shape;756;p53"/>
          <p:cNvCxnSpPr/>
          <p:nvPr/>
        </p:nvCxnSpPr>
        <p:spPr>
          <a:xfrm flipH="1" rot="10800000">
            <a:off x="4071258" y="4245430"/>
            <a:ext cx="838200" cy="1"/>
          </a:xfrm>
          <a:prstGeom prst="straightConnector1">
            <a:avLst/>
          </a:prstGeom>
          <a:noFill/>
          <a:ln cap="flat" cmpd="sng" w="25400">
            <a:solidFill>
              <a:schemeClr val="accent2"/>
            </a:solidFill>
            <a:prstDash val="solid"/>
            <a:miter lim="800000"/>
            <a:headEnd len="sm" w="sm" type="none"/>
            <a:tailEnd len="med" w="med" type="triangle"/>
          </a:ln>
        </p:spPr>
      </p:cxnSp>
      <p:cxnSp>
        <p:nvCxnSpPr>
          <p:cNvPr id="757" name="Google Shape;757;p53"/>
          <p:cNvCxnSpPr/>
          <p:nvPr/>
        </p:nvCxnSpPr>
        <p:spPr>
          <a:xfrm>
            <a:off x="1279022" y="4245429"/>
            <a:ext cx="754906" cy="1"/>
          </a:xfrm>
          <a:prstGeom prst="straightConnector1">
            <a:avLst/>
          </a:prstGeom>
          <a:noFill/>
          <a:ln cap="flat" cmpd="sng" w="25400">
            <a:solidFill>
              <a:schemeClr val="accent2"/>
            </a:solidFill>
            <a:prstDash val="solid"/>
            <a:miter lim="800000"/>
            <a:headEnd len="sm" w="sm" type="none"/>
            <a:tailEnd len="med" w="med" type="triangle"/>
          </a:ln>
        </p:spPr>
      </p:cxnSp>
      <p:cxnSp>
        <p:nvCxnSpPr>
          <p:cNvPr id="758" name="Google Shape;758;p53"/>
          <p:cNvCxnSpPr/>
          <p:nvPr/>
        </p:nvCxnSpPr>
        <p:spPr>
          <a:xfrm>
            <a:off x="0" y="4245428"/>
            <a:ext cx="462301" cy="0"/>
          </a:xfrm>
          <a:prstGeom prst="straightConnector1">
            <a:avLst/>
          </a:prstGeom>
          <a:noFill/>
          <a:ln cap="flat" cmpd="sng" w="25400">
            <a:solidFill>
              <a:schemeClr val="accent2"/>
            </a:solidFill>
            <a:prstDash val="solid"/>
            <a:miter lim="800000"/>
            <a:headEnd len="sm" w="sm" type="none"/>
            <a:tailEnd len="med" w="med" type="triangle"/>
          </a:ln>
        </p:spPr>
      </p:cxnSp>
      <p:sp>
        <p:nvSpPr>
          <p:cNvPr id="759" name="Google Shape;759;p53"/>
          <p:cNvSpPr txBox="1"/>
          <p:nvPr/>
        </p:nvSpPr>
        <p:spPr>
          <a:xfrm>
            <a:off x="8103138" y="3739619"/>
            <a:ext cx="3704549" cy="1815882"/>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They contain a pointer to the next leaf node as well, </a:t>
            </a:r>
            <a:r>
              <a:rPr b="1" i="1" lang="en-US" sz="2800">
                <a:solidFill>
                  <a:schemeClr val="dk1"/>
                </a:solidFill>
                <a:latin typeface="Calibri"/>
                <a:ea typeface="Calibri"/>
                <a:cs typeface="Calibri"/>
                <a:sym typeface="Calibri"/>
              </a:rPr>
              <a:t>for faster sequential traversal</a:t>
            </a:r>
            <a:endParaRPr sz="2800">
              <a:solidFill>
                <a:schemeClr val="dk1"/>
              </a:solidFill>
              <a:latin typeface="Calibri"/>
              <a:ea typeface="Calibri"/>
              <a:cs typeface="Calibri"/>
              <a:sym typeface="Calibri"/>
            </a:endParaRPr>
          </a:p>
        </p:txBody>
      </p:sp>
      <p:grpSp>
        <p:nvGrpSpPr>
          <p:cNvPr id="760" name="Google Shape;760;p53"/>
          <p:cNvGrpSpPr/>
          <p:nvPr/>
        </p:nvGrpSpPr>
        <p:grpSpPr>
          <a:xfrm>
            <a:off x="0" y="-22510"/>
            <a:ext cx="12192000" cy="307777"/>
            <a:chOff x="0" y="-22510"/>
            <a:chExt cx="12192000" cy="307777"/>
          </a:xfrm>
        </p:grpSpPr>
        <p:sp>
          <p:nvSpPr>
            <p:cNvPr id="761" name="Google Shape;761;p53"/>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762" name="Google Shape;762;p53"/>
            <p:cNvSpPr txBox="1"/>
            <p:nvPr/>
          </p:nvSpPr>
          <p:spPr>
            <a:xfrm>
              <a:off x="188780" y="-22510"/>
              <a:ext cx="27634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Section 2  B+ Tree basics</a:t>
              </a:r>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 Tree Basics</a:t>
            </a:r>
            <a:endParaRPr/>
          </a:p>
        </p:txBody>
      </p:sp>
      <p:graphicFrame>
        <p:nvGraphicFramePr>
          <p:cNvPr id="769" name="Google Shape;769;p54"/>
          <p:cNvGraphicFramePr/>
          <p:nvPr/>
        </p:nvGraphicFramePr>
        <p:xfrm>
          <a:off x="2449285" y="2149928"/>
          <a:ext cx="3000000" cy="3000000"/>
        </p:xfrm>
        <a:graphic>
          <a:graphicData uri="http://schemas.openxmlformats.org/drawingml/2006/table">
            <a:tbl>
              <a:tblPr>
                <a:noFill/>
                <a:tableStyleId>{FF1A8D6A-5F5D-4DE5-8CDF-4A8D1DE8ED13}</a:tableStyleId>
              </a:tblPr>
              <a:tblGrid>
                <a:gridCol w="438150"/>
                <a:gridCol w="190500"/>
                <a:gridCol w="327025"/>
                <a:gridCol w="239725"/>
                <a:gridCol w="241300"/>
                <a:gridCol w="392100"/>
              </a:tblGrid>
              <a:tr h="342900">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1" i="0" lang="en-US" sz="1400" u="none" cap="none" strike="noStrike">
                          <a:solidFill>
                            <a:schemeClr val="dk1"/>
                          </a:solidFill>
                          <a:latin typeface="Book Antiqua"/>
                          <a:ea typeface="Book Antiqua"/>
                          <a:cs typeface="Book Antiqua"/>
                          <a:sym typeface="Book Antiqua"/>
                        </a:rPr>
                        <a:t>10</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1" i="0" lang="en-US" sz="1400" u="none" cap="none" strike="noStrike">
                          <a:solidFill>
                            <a:schemeClr val="dk1"/>
                          </a:solidFill>
                          <a:latin typeface="Book Antiqua"/>
                          <a:ea typeface="Book Antiqua"/>
                          <a:cs typeface="Book Antiqua"/>
                          <a:sym typeface="Book Antiqua"/>
                        </a:rPr>
                        <a:t>20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1" i="0" lang="en-US" sz="1400" u="none" cap="none" strike="noStrike">
                          <a:solidFill>
                            <a:schemeClr val="dk1"/>
                          </a:solidFill>
                          <a:latin typeface="Book Antiqua"/>
                          <a:ea typeface="Book Antiqua"/>
                          <a:cs typeface="Book Antiqua"/>
                          <a:sym typeface="Book Antiqua"/>
                        </a:rPr>
                        <a:t>30</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42900">
                <a:tc>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cxnSp>
        <p:nvCxnSpPr>
          <p:cNvPr id="770" name="Google Shape;770;p54"/>
          <p:cNvCxnSpPr/>
          <p:nvPr/>
        </p:nvCxnSpPr>
        <p:spPr>
          <a:xfrm flipH="1">
            <a:off x="3091691" y="2680758"/>
            <a:ext cx="557100" cy="1059000"/>
          </a:xfrm>
          <a:prstGeom prst="straightConnector1">
            <a:avLst/>
          </a:prstGeom>
          <a:noFill/>
          <a:ln cap="flat" cmpd="sng" w="25400">
            <a:solidFill>
              <a:schemeClr val="dk1"/>
            </a:solidFill>
            <a:prstDash val="solid"/>
            <a:miter lim="800000"/>
            <a:headEnd len="sm" w="sm" type="none"/>
            <a:tailEnd len="med" w="med" type="triangle"/>
          </a:ln>
        </p:spPr>
      </p:cxnSp>
      <p:graphicFrame>
        <p:nvGraphicFramePr>
          <p:cNvPr id="771" name="Google Shape;771;p54"/>
          <p:cNvGraphicFramePr/>
          <p:nvPr/>
        </p:nvGraphicFramePr>
        <p:xfrm>
          <a:off x="1915886" y="3739619"/>
          <a:ext cx="3000000" cy="3000000"/>
        </p:xfrm>
        <a:graphic>
          <a:graphicData uri="http://schemas.openxmlformats.org/drawingml/2006/table">
            <a:tbl>
              <a:tblPr>
                <a:noFill/>
                <a:tableStyleId>{FF1A8D6A-5F5D-4DE5-8CDF-4A8D1DE8ED13}</a:tableStyleId>
              </a:tblPr>
              <a:tblGrid>
                <a:gridCol w="328900"/>
                <a:gridCol w="272925"/>
                <a:gridCol w="272925"/>
                <a:gridCol w="272925"/>
                <a:gridCol w="328900"/>
                <a:gridCol w="272925"/>
                <a:gridCol w="272925"/>
                <a:gridCol w="328900"/>
              </a:tblGrid>
              <a:tr h="359225">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22</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25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28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29</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59225">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EAF6"/>
                    </a:solidFill>
                  </a:tcPr>
                </a:tc>
              </a:tr>
            </a:tbl>
          </a:graphicData>
        </a:graphic>
      </p:graphicFrame>
      <p:sp>
        <p:nvSpPr>
          <p:cNvPr id="772" name="Google Shape;772;p54"/>
          <p:cNvSpPr txBox="1"/>
          <p:nvPr/>
        </p:nvSpPr>
        <p:spPr>
          <a:xfrm>
            <a:off x="5836569" y="3174736"/>
            <a:ext cx="1201419" cy="369332"/>
          </a:xfrm>
          <a:prstGeom prst="rect">
            <a:avLst/>
          </a:prstGeom>
          <a:solidFill>
            <a:srgbClr val="DDEAF6"/>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Leaf</a:t>
            </a:r>
            <a:r>
              <a:rPr i="1" lang="en-US" sz="1800">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nodes</a:t>
            </a:r>
            <a:endParaRPr/>
          </a:p>
        </p:txBody>
      </p:sp>
      <p:graphicFrame>
        <p:nvGraphicFramePr>
          <p:cNvPr id="773" name="Google Shape;773;p54"/>
          <p:cNvGraphicFramePr/>
          <p:nvPr/>
        </p:nvGraphicFramePr>
        <p:xfrm>
          <a:off x="4738243" y="3728733"/>
          <a:ext cx="3000000" cy="3000000"/>
        </p:xfrm>
        <a:graphic>
          <a:graphicData uri="http://schemas.openxmlformats.org/drawingml/2006/table">
            <a:tbl>
              <a:tblPr>
                <a:noFill/>
                <a:tableStyleId>{FF1A8D6A-5F5D-4DE5-8CDF-4A8D1DE8ED13}</a:tableStyleId>
              </a:tblPr>
              <a:tblGrid>
                <a:gridCol w="328900"/>
                <a:gridCol w="272925"/>
                <a:gridCol w="272925"/>
                <a:gridCol w="272925"/>
                <a:gridCol w="328900"/>
                <a:gridCol w="272925"/>
                <a:gridCol w="272925"/>
                <a:gridCol w="328900"/>
              </a:tblGrid>
              <a:tr h="359225">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32</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34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37</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38</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59225">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EAF6"/>
                    </a:solidFill>
                  </a:tcPr>
                </a:tc>
              </a:tr>
            </a:tbl>
          </a:graphicData>
        </a:graphic>
      </p:graphicFrame>
      <p:cxnSp>
        <p:nvCxnSpPr>
          <p:cNvPr id="774" name="Google Shape;774;p54"/>
          <p:cNvCxnSpPr/>
          <p:nvPr/>
        </p:nvCxnSpPr>
        <p:spPr>
          <a:xfrm>
            <a:off x="4071258" y="2680758"/>
            <a:ext cx="1842600" cy="1047900"/>
          </a:xfrm>
          <a:prstGeom prst="straightConnector1">
            <a:avLst/>
          </a:prstGeom>
          <a:noFill/>
          <a:ln cap="flat" cmpd="sng" w="25400">
            <a:solidFill>
              <a:schemeClr val="dk1"/>
            </a:solidFill>
            <a:prstDash val="solid"/>
            <a:miter lim="800000"/>
            <a:headEnd len="sm" w="sm" type="none"/>
            <a:tailEnd len="med" w="med" type="triangle"/>
          </a:ln>
        </p:spPr>
      </p:cxnSp>
      <p:sp>
        <p:nvSpPr>
          <p:cNvPr id="775" name="Google Shape;775;p54"/>
          <p:cNvSpPr txBox="1"/>
          <p:nvPr/>
        </p:nvSpPr>
        <p:spPr>
          <a:xfrm>
            <a:off x="1716871" y="1592968"/>
            <a:ext cx="2561214" cy="369332"/>
          </a:xfrm>
          <a:prstGeom prst="rect">
            <a:avLst/>
          </a:prstGeom>
          <a:solidFill>
            <a:srgbClr val="DDEAF6"/>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Non-leaf or </a:t>
            </a:r>
            <a:r>
              <a:rPr i="1" lang="en-US" sz="1800">
                <a:solidFill>
                  <a:schemeClr val="dk1"/>
                </a:solidFill>
                <a:latin typeface="Calibri"/>
                <a:ea typeface="Calibri"/>
                <a:cs typeface="Calibri"/>
                <a:sym typeface="Calibri"/>
              </a:rPr>
              <a:t>internal </a:t>
            </a:r>
            <a:r>
              <a:rPr lang="en-US" sz="1800">
                <a:solidFill>
                  <a:schemeClr val="dk1"/>
                </a:solidFill>
                <a:latin typeface="Calibri"/>
                <a:ea typeface="Calibri"/>
                <a:cs typeface="Calibri"/>
                <a:sym typeface="Calibri"/>
              </a:rPr>
              <a:t>node</a:t>
            </a:r>
            <a:endParaRPr/>
          </a:p>
        </p:txBody>
      </p:sp>
      <p:graphicFrame>
        <p:nvGraphicFramePr>
          <p:cNvPr id="776" name="Google Shape;776;p54"/>
          <p:cNvGraphicFramePr/>
          <p:nvPr/>
        </p:nvGraphicFramePr>
        <p:xfrm>
          <a:off x="298102" y="3739619"/>
          <a:ext cx="3000000" cy="3000000"/>
        </p:xfrm>
        <a:graphic>
          <a:graphicData uri="http://schemas.openxmlformats.org/drawingml/2006/table">
            <a:tbl>
              <a:tblPr>
                <a:noFill/>
                <a:tableStyleId>{FF1A8D6A-5F5D-4DE5-8CDF-4A8D1DE8ED13}</a:tableStyleId>
              </a:tblPr>
              <a:tblGrid>
                <a:gridCol w="328900"/>
                <a:gridCol w="272925"/>
                <a:gridCol w="272925"/>
                <a:gridCol w="272925"/>
              </a:tblGrid>
              <a:tr h="359225">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12</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17</a:t>
                      </a:r>
                      <a:endParaRPr/>
                    </a:p>
                  </a:txBody>
                  <a:tcPr marT="45725" marB="45725" marR="91450" marL="91450">
                    <a:lnL cap="flat" cmpd="sng" w="127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59225">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EAF6"/>
                    </a:solidFill>
                  </a:tcPr>
                </a:tc>
              </a:tr>
            </a:tbl>
          </a:graphicData>
        </a:graphic>
      </p:graphicFrame>
      <p:cxnSp>
        <p:nvCxnSpPr>
          <p:cNvPr id="777" name="Google Shape;777;p54"/>
          <p:cNvCxnSpPr/>
          <p:nvPr/>
        </p:nvCxnSpPr>
        <p:spPr>
          <a:xfrm flipH="1">
            <a:off x="871967" y="2680758"/>
            <a:ext cx="2315100" cy="1059000"/>
          </a:xfrm>
          <a:prstGeom prst="straightConnector1">
            <a:avLst/>
          </a:prstGeom>
          <a:noFill/>
          <a:ln cap="flat" cmpd="sng" w="25400">
            <a:solidFill>
              <a:schemeClr val="dk1"/>
            </a:solidFill>
            <a:prstDash val="solid"/>
            <a:miter lim="800000"/>
            <a:headEnd len="sm" w="sm" type="none"/>
            <a:tailEnd len="med" w="med" type="triangle"/>
          </a:ln>
        </p:spPr>
      </p:cxnSp>
      <p:cxnSp>
        <p:nvCxnSpPr>
          <p:cNvPr id="778" name="Google Shape;778;p54"/>
          <p:cNvCxnSpPr/>
          <p:nvPr/>
        </p:nvCxnSpPr>
        <p:spPr>
          <a:xfrm flipH="1">
            <a:off x="-119270" y="2653921"/>
            <a:ext cx="2803778" cy="1021191"/>
          </a:xfrm>
          <a:prstGeom prst="straightConnector1">
            <a:avLst/>
          </a:prstGeom>
          <a:noFill/>
          <a:ln cap="flat" cmpd="sng" w="25400">
            <a:solidFill>
              <a:schemeClr val="dk1"/>
            </a:solidFill>
            <a:prstDash val="solid"/>
            <a:miter lim="800000"/>
            <a:headEnd len="sm" w="sm" type="none"/>
            <a:tailEnd len="med" w="med" type="triangle"/>
          </a:ln>
        </p:spPr>
      </p:cxnSp>
      <p:sp>
        <p:nvSpPr>
          <p:cNvPr id="779" name="Google Shape;779;p54"/>
          <p:cNvSpPr txBox="1"/>
          <p:nvPr/>
        </p:nvSpPr>
        <p:spPr>
          <a:xfrm>
            <a:off x="8071718" y="1543520"/>
            <a:ext cx="3704549" cy="2308324"/>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Note that the pointers at the leaf level will be to the actual data records (rows).  </a:t>
            </a:r>
            <a:endParaRPr/>
          </a:p>
          <a:p>
            <a:pPr indent="0" lvl="0" marL="0" marR="0" rtl="0" algn="l">
              <a:spcBef>
                <a:spcPts val="0"/>
              </a:spcBef>
              <a:spcAft>
                <a:spcPts val="0"/>
              </a:spcAft>
              <a:buNone/>
            </a:pPr>
            <a:r>
              <a:t/>
            </a:r>
            <a:endParaRPr i="1" sz="2400">
              <a:solidFill>
                <a:schemeClr val="dk1"/>
              </a:solidFill>
              <a:latin typeface="Calibri"/>
              <a:ea typeface="Calibri"/>
              <a:cs typeface="Calibri"/>
              <a:sym typeface="Calibri"/>
            </a:endParaRPr>
          </a:p>
          <a:p>
            <a:pPr indent="0" lvl="0" marL="0" marR="0" rtl="0" algn="l">
              <a:spcBef>
                <a:spcPts val="0"/>
              </a:spcBef>
              <a:spcAft>
                <a:spcPts val="0"/>
              </a:spcAft>
              <a:buNone/>
            </a:pPr>
            <a:r>
              <a:rPr i="1" lang="en-US" sz="2400">
                <a:solidFill>
                  <a:schemeClr val="dk1"/>
                </a:solidFill>
                <a:latin typeface="Calibri"/>
                <a:ea typeface="Calibri"/>
                <a:cs typeface="Calibri"/>
                <a:sym typeface="Calibri"/>
              </a:rPr>
              <a:t>We might truncate these for simpler display (as before)…</a:t>
            </a:r>
            <a:endParaRPr/>
          </a:p>
        </p:txBody>
      </p:sp>
      <p:cxnSp>
        <p:nvCxnSpPr>
          <p:cNvPr id="780" name="Google Shape;780;p54"/>
          <p:cNvCxnSpPr/>
          <p:nvPr/>
        </p:nvCxnSpPr>
        <p:spPr>
          <a:xfrm flipH="1" rot="10800000">
            <a:off x="4071258" y="4245430"/>
            <a:ext cx="838200" cy="1"/>
          </a:xfrm>
          <a:prstGeom prst="straightConnector1">
            <a:avLst/>
          </a:prstGeom>
          <a:noFill/>
          <a:ln cap="flat" cmpd="sng" w="25400">
            <a:solidFill>
              <a:schemeClr val="accent2"/>
            </a:solidFill>
            <a:prstDash val="solid"/>
            <a:miter lim="800000"/>
            <a:headEnd len="sm" w="sm" type="none"/>
            <a:tailEnd len="med" w="med" type="triangle"/>
          </a:ln>
        </p:spPr>
      </p:cxnSp>
      <p:cxnSp>
        <p:nvCxnSpPr>
          <p:cNvPr id="781" name="Google Shape;781;p54"/>
          <p:cNvCxnSpPr/>
          <p:nvPr/>
        </p:nvCxnSpPr>
        <p:spPr>
          <a:xfrm>
            <a:off x="1279022" y="4245429"/>
            <a:ext cx="754906" cy="1"/>
          </a:xfrm>
          <a:prstGeom prst="straightConnector1">
            <a:avLst/>
          </a:prstGeom>
          <a:noFill/>
          <a:ln cap="flat" cmpd="sng" w="25400">
            <a:solidFill>
              <a:schemeClr val="accent2"/>
            </a:solidFill>
            <a:prstDash val="solid"/>
            <a:miter lim="800000"/>
            <a:headEnd len="sm" w="sm" type="none"/>
            <a:tailEnd len="med" w="med" type="triangle"/>
          </a:ln>
        </p:spPr>
      </p:cxnSp>
      <p:cxnSp>
        <p:nvCxnSpPr>
          <p:cNvPr id="782" name="Google Shape;782;p54"/>
          <p:cNvCxnSpPr/>
          <p:nvPr/>
        </p:nvCxnSpPr>
        <p:spPr>
          <a:xfrm>
            <a:off x="0" y="4245428"/>
            <a:ext cx="462301" cy="0"/>
          </a:xfrm>
          <a:prstGeom prst="straightConnector1">
            <a:avLst/>
          </a:prstGeom>
          <a:noFill/>
          <a:ln cap="flat" cmpd="sng" w="25400">
            <a:solidFill>
              <a:schemeClr val="accent2"/>
            </a:solidFill>
            <a:prstDash val="solid"/>
            <a:miter lim="800000"/>
            <a:headEnd len="sm" w="sm" type="none"/>
            <a:tailEnd len="med" w="med" type="triangle"/>
          </a:ln>
        </p:spPr>
      </p:cxnSp>
      <p:cxnSp>
        <p:nvCxnSpPr>
          <p:cNvPr id="783" name="Google Shape;783;p54"/>
          <p:cNvCxnSpPr>
            <a:endCxn id="784" idx="0"/>
          </p:cNvCxnSpPr>
          <p:nvPr/>
        </p:nvCxnSpPr>
        <p:spPr>
          <a:xfrm flipH="1">
            <a:off x="1803365" y="4288112"/>
            <a:ext cx="306600" cy="1278600"/>
          </a:xfrm>
          <a:prstGeom prst="straightConnector1">
            <a:avLst/>
          </a:prstGeom>
          <a:noFill/>
          <a:ln cap="flat" cmpd="sng" w="25400">
            <a:solidFill>
              <a:schemeClr val="dk1"/>
            </a:solidFill>
            <a:prstDash val="solid"/>
            <a:miter lim="800000"/>
            <a:headEnd len="sm" w="sm" type="none"/>
            <a:tailEnd len="med" w="med" type="triangle"/>
          </a:ln>
        </p:spPr>
      </p:cxnSp>
      <p:sp>
        <p:nvSpPr>
          <p:cNvPr id="784" name="Google Shape;784;p54"/>
          <p:cNvSpPr txBox="1"/>
          <p:nvPr/>
        </p:nvSpPr>
        <p:spPr>
          <a:xfrm>
            <a:off x="1279022" y="5566712"/>
            <a:ext cx="1048685" cy="523220"/>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Name: John</a:t>
            </a:r>
            <a:endParaRPr/>
          </a:p>
          <a:p>
            <a:pPr indent="0" lvl="0" marL="0" marR="0" rtl="0" algn="l">
              <a:spcBef>
                <a:spcPts val="0"/>
              </a:spcBef>
              <a:spcAft>
                <a:spcPts val="0"/>
              </a:spcAft>
              <a:buNone/>
            </a:pPr>
            <a:r>
              <a:rPr lang="en-US" sz="1400">
                <a:solidFill>
                  <a:srgbClr val="C00000"/>
                </a:solidFill>
                <a:latin typeface="Calibri"/>
                <a:ea typeface="Calibri"/>
                <a:cs typeface="Calibri"/>
                <a:sym typeface="Calibri"/>
              </a:rPr>
              <a:t>Age: 21</a:t>
            </a:r>
            <a:endParaRPr/>
          </a:p>
        </p:txBody>
      </p:sp>
      <p:cxnSp>
        <p:nvCxnSpPr>
          <p:cNvPr id="785" name="Google Shape;785;p54"/>
          <p:cNvCxnSpPr>
            <a:endCxn id="786" idx="0"/>
          </p:cNvCxnSpPr>
          <p:nvPr/>
        </p:nvCxnSpPr>
        <p:spPr>
          <a:xfrm>
            <a:off x="919444" y="4252310"/>
            <a:ext cx="127200" cy="648600"/>
          </a:xfrm>
          <a:prstGeom prst="straightConnector1">
            <a:avLst/>
          </a:prstGeom>
          <a:noFill/>
          <a:ln cap="flat" cmpd="sng" w="25400">
            <a:solidFill>
              <a:schemeClr val="dk1"/>
            </a:solidFill>
            <a:prstDash val="solid"/>
            <a:miter lim="800000"/>
            <a:headEnd len="sm" w="sm" type="none"/>
            <a:tailEnd len="med" w="med" type="triangle"/>
          </a:ln>
        </p:spPr>
      </p:cxnSp>
      <p:cxnSp>
        <p:nvCxnSpPr>
          <p:cNvPr id="787" name="Google Shape;787;p54"/>
          <p:cNvCxnSpPr>
            <a:endCxn id="788" idx="0"/>
          </p:cNvCxnSpPr>
          <p:nvPr/>
        </p:nvCxnSpPr>
        <p:spPr>
          <a:xfrm>
            <a:off x="3072356" y="4270412"/>
            <a:ext cx="202500" cy="1296300"/>
          </a:xfrm>
          <a:prstGeom prst="straightConnector1">
            <a:avLst/>
          </a:prstGeom>
          <a:noFill/>
          <a:ln cap="flat" cmpd="sng" w="25400">
            <a:solidFill>
              <a:schemeClr val="dk1"/>
            </a:solidFill>
            <a:prstDash val="solid"/>
            <a:miter lim="800000"/>
            <a:headEnd len="sm" w="sm" type="none"/>
            <a:tailEnd len="med" w="med" type="triangle"/>
          </a:ln>
        </p:spPr>
      </p:cxnSp>
      <p:cxnSp>
        <p:nvCxnSpPr>
          <p:cNvPr id="789" name="Google Shape;789;p54"/>
          <p:cNvCxnSpPr>
            <a:endCxn id="790" idx="0"/>
          </p:cNvCxnSpPr>
          <p:nvPr/>
        </p:nvCxnSpPr>
        <p:spPr>
          <a:xfrm>
            <a:off x="3664702" y="4330975"/>
            <a:ext cx="411900" cy="567300"/>
          </a:xfrm>
          <a:prstGeom prst="straightConnector1">
            <a:avLst/>
          </a:prstGeom>
          <a:noFill/>
          <a:ln cap="flat" cmpd="sng" w="25400">
            <a:solidFill>
              <a:schemeClr val="dk1"/>
            </a:solidFill>
            <a:prstDash val="solid"/>
            <a:miter lim="800000"/>
            <a:headEnd len="sm" w="sm" type="none"/>
            <a:tailEnd len="med" w="med" type="triangle"/>
          </a:ln>
        </p:spPr>
      </p:cxnSp>
      <p:cxnSp>
        <p:nvCxnSpPr>
          <p:cNvPr id="791" name="Google Shape;791;p54"/>
          <p:cNvCxnSpPr>
            <a:endCxn id="792" idx="0"/>
          </p:cNvCxnSpPr>
          <p:nvPr/>
        </p:nvCxnSpPr>
        <p:spPr>
          <a:xfrm>
            <a:off x="5375724" y="4245475"/>
            <a:ext cx="137100" cy="652800"/>
          </a:xfrm>
          <a:prstGeom prst="straightConnector1">
            <a:avLst/>
          </a:prstGeom>
          <a:noFill/>
          <a:ln cap="flat" cmpd="sng" w="25400">
            <a:solidFill>
              <a:schemeClr val="dk1"/>
            </a:solidFill>
            <a:prstDash val="solid"/>
            <a:miter lim="800000"/>
            <a:headEnd len="sm" w="sm" type="none"/>
            <a:tailEnd len="med" w="med" type="triangle"/>
          </a:ln>
        </p:spPr>
      </p:cxnSp>
      <p:cxnSp>
        <p:nvCxnSpPr>
          <p:cNvPr id="793" name="Google Shape;793;p54"/>
          <p:cNvCxnSpPr/>
          <p:nvPr/>
        </p:nvCxnSpPr>
        <p:spPr>
          <a:xfrm>
            <a:off x="5942282" y="4245430"/>
            <a:ext cx="840247" cy="1059672"/>
          </a:xfrm>
          <a:prstGeom prst="straightConnector1">
            <a:avLst/>
          </a:prstGeom>
          <a:noFill/>
          <a:ln cap="flat" cmpd="sng" w="25400">
            <a:solidFill>
              <a:schemeClr val="dk1"/>
            </a:solidFill>
            <a:prstDash val="solid"/>
            <a:miter lim="800000"/>
            <a:headEnd len="sm" w="sm" type="none"/>
            <a:tailEnd len="med" w="med" type="triangle"/>
          </a:ln>
        </p:spPr>
      </p:cxnSp>
      <p:cxnSp>
        <p:nvCxnSpPr>
          <p:cNvPr id="794" name="Google Shape;794;p54"/>
          <p:cNvCxnSpPr/>
          <p:nvPr/>
        </p:nvCxnSpPr>
        <p:spPr>
          <a:xfrm>
            <a:off x="6437288" y="4252392"/>
            <a:ext cx="1508001" cy="1052710"/>
          </a:xfrm>
          <a:prstGeom prst="straightConnector1">
            <a:avLst/>
          </a:prstGeom>
          <a:noFill/>
          <a:ln cap="flat" cmpd="sng" w="25400">
            <a:solidFill>
              <a:schemeClr val="dk1"/>
            </a:solidFill>
            <a:prstDash val="solid"/>
            <a:miter lim="800000"/>
            <a:headEnd len="sm" w="sm" type="none"/>
            <a:tailEnd len="med" w="med" type="triangle"/>
          </a:ln>
        </p:spPr>
      </p:cxnSp>
      <p:sp>
        <p:nvSpPr>
          <p:cNvPr id="786" name="Google Shape;786;p54"/>
          <p:cNvSpPr txBox="1"/>
          <p:nvPr/>
        </p:nvSpPr>
        <p:spPr>
          <a:xfrm>
            <a:off x="538011" y="4900910"/>
            <a:ext cx="1017266" cy="523220"/>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Name: Jake</a:t>
            </a:r>
            <a:endParaRPr/>
          </a:p>
          <a:p>
            <a:pPr indent="0" lvl="0" marL="0" marR="0" rtl="0" algn="l">
              <a:spcBef>
                <a:spcPts val="0"/>
              </a:spcBef>
              <a:spcAft>
                <a:spcPts val="0"/>
              </a:spcAft>
              <a:buNone/>
            </a:pPr>
            <a:r>
              <a:rPr lang="en-US" sz="1400">
                <a:solidFill>
                  <a:srgbClr val="C00000"/>
                </a:solidFill>
                <a:latin typeface="Calibri"/>
                <a:ea typeface="Calibri"/>
                <a:cs typeface="Calibri"/>
                <a:sym typeface="Calibri"/>
              </a:rPr>
              <a:t>Age: 15</a:t>
            </a:r>
            <a:endParaRPr/>
          </a:p>
        </p:txBody>
      </p:sp>
      <p:sp>
        <p:nvSpPr>
          <p:cNvPr id="788" name="Google Shape;788;p54"/>
          <p:cNvSpPr txBox="1"/>
          <p:nvPr/>
        </p:nvSpPr>
        <p:spPr>
          <a:xfrm>
            <a:off x="2777764" y="5566712"/>
            <a:ext cx="994183" cy="523220"/>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Name: Bob</a:t>
            </a:r>
            <a:endParaRPr/>
          </a:p>
          <a:p>
            <a:pPr indent="0" lvl="0" marL="0" marR="0" rtl="0" algn="l">
              <a:spcBef>
                <a:spcPts val="0"/>
              </a:spcBef>
              <a:spcAft>
                <a:spcPts val="0"/>
              </a:spcAft>
              <a:buNone/>
            </a:pPr>
            <a:r>
              <a:rPr lang="en-US" sz="1400">
                <a:solidFill>
                  <a:srgbClr val="C00000"/>
                </a:solidFill>
                <a:latin typeface="Calibri"/>
                <a:ea typeface="Calibri"/>
                <a:cs typeface="Calibri"/>
                <a:sym typeface="Calibri"/>
              </a:rPr>
              <a:t>Age: 27</a:t>
            </a:r>
            <a:endParaRPr/>
          </a:p>
        </p:txBody>
      </p:sp>
      <p:sp>
        <p:nvSpPr>
          <p:cNvPr id="790" name="Google Shape;790;p54"/>
          <p:cNvSpPr txBox="1"/>
          <p:nvPr/>
        </p:nvSpPr>
        <p:spPr>
          <a:xfrm>
            <a:off x="3556267" y="4898275"/>
            <a:ext cx="1040670" cy="523220"/>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Name: Sally</a:t>
            </a:r>
            <a:endParaRPr/>
          </a:p>
          <a:p>
            <a:pPr indent="0" lvl="0" marL="0" marR="0" rtl="0" algn="l">
              <a:spcBef>
                <a:spcPts val="0"/>
              </a:spcBef>
              <a:spcAft>
                <a:spcPts val="0"/>
              </a:spcAft>
              <a:buNone/>
            </a:pPr>
            <a:r>
              <a:rPr lang="en-US" sz="1400">
                <a:solidFill>
                  <a:srgbClr val="C00000"/>
                </a:solidFill>
                <a:latin typeface="Calibri"/>
                <a:ea typeface="Calibri"/>
                <a:cs typeface="Calibri"/>
                <a:sym typeface="Calibri"/>
              </a:rPr>
              <a:t>Age: 28</a:t>
            </a:r>
            <a:endParaRPr/>
          </a:p>
        </p:txBody>
      </p:sp>
      <p:sp>
        <p:nvSpPr>
          <p:cNvPr id="792" name="Google Shape;792;p54"/>
          <p:cNvSpPr txBox="1"/>
          <p:nvPr/>
        </p:nvSpPr>
        <p:spPr>
          <a:xfrm>
            <a:off x="5026152" y="4898275"/>
            <a:ext cx="973343" cy="523220"/>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Name: Sue</a:t>
            </a:r>
            <a:endParaRPr/>
          </a:p>
          <a:p>
            <a:pPr indent="0" lvl="0" marL="0" marR="0" rtl="0" algn="l">
              <a:spcBef>
                <a:spcPts val="0"/>
              </a:spcBef>
              <a:spcAft>
                <a:spcPts val="0"/>
              </a:spcAft>
              <a:buNone/>
            </a:pPr>
            <a:r>
              <a:rPr lang="en-US" sz="1400">
                <a:solidFill>
                  <a:srgbClr val="C00000"/>
                </a:solidFill>
                <a:latin typeface="Calibri"/>
                <a:ea typeface="Calibri"/>
                <a:cs typeface="Calibri"/>
                <a:sym typeface="Calibri"/>
              </a:rPr>
              <a:t>Age: 33</a:t>
            </a:r>
            <a:endParaRPr/>
          </a:p>
        </p:txBody>
      </p:sp>
      <p:sp>
        <p:nvSpPr>
          <p:cNvPr id="795" name="Google Shape;795;p54"/>
          <p:cNvSpPr txBox="1"/>
          <p:nvPr/>
        </p:nvSpPr>
        <p:spPr>
          <a:xfrm>
            <a:off x="6246998" y="5305102"/>
            <a:ext cx="995785" cy="523220"/>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Name: Jess</a:t>
            </a:r>
            <a:endParaRPr/>
          </a:p>
          <a:p>
            <a:pPr indent="0" lvl="0" marL="0" marR="0" rtl="0" algn="l">
              <a:spcBef>
                <a:spcPts val="0"/>
              </a:spcBef>
              <a:spcAft>
                <a:spcPts val="0"/>
              </a:spcAft>
              <a:buNone/>
            </a:pPr>
            <a:r>
              <a:rPr lang="en-US" sz="1400">
                <a:solidFill>
                  <a:srgbClr val="C00000"/>
                </a:solidFill>
                <a:latin typeface="Calibri"/>
                <a:ea typeface="Calibri"/>
                <a:cs typeface="Calibri"/>
                <a:sym typeface="Calibri"/>
              </a:rPr>
              <a:t>Age: 35</a:t>
            </a:r>
            <a:endParaRPr/>
          </a:p>
        </p:txBody>
      </p:sp>
      <p:sp>
        <p:nvSpPr>
          <p:cNvPr id="796" name="Google Shape;796;p54"/>
          <p:cNvSpPr txBox="1"/>
          <p:nvPr/>
        </p:nvSpPr>
        <p:spPr>
          <a:xfrm>
            <a:off x="7409758" y="5305102"/>
            <a:ext cx="907621" cy="523220"/>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Name: Alf</a:t>
            </a:r>
            <a:endParaRPr/>
          </a:p>
          <a:p>
            <a:pPr indent="0" lvl="0" marL="0" marR="0" rtl="0" algn="l">
              <a:spcBef>
                <a:spcPts val="0"/>
              </a:spcBef>
              <a:spcAft>
                <a:spcPts val="0"/>
              </a:spcAft>
              <a:buNone/>
            </a:pPr>
            <a:r>
              <a:rPr lang="en-US" sz="1400">
                <a:solidFill>
                  <a:srgbClr val="C00000"/>
                </a:solidFill>
                <a:latin typeface="Calibri"/>
                <a:ea typeface="Calibri"/>
                <a:cs typeface="Calibri"/>
                <a:sym typeface="Calibri"/>
              </a:rPr>
              <a:t>Age: 37</a:t>
            </a:r>
            <a:endParaRPr/>
          </a:p>
        </p:txBody>
      </p:sp>
      <p:sp>
        <p:nvSpPr>
          <p:cNvPr id="797" name="Google Shape;797;p54"/>
          <p:cNvSpPr txBox="1"/>
          <p:nvPr/>
        </p:nvSpPr>
        <p:spPr>
          <a:xfrm>
            <a:off x="58463" y="5566712"/>
            <a:ext cx="949299" cy="523220"/>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Name: Joe</a:t>
            </a:r>
            <a:endParaRPr/>
          </a:p>
          <a:p>
            <a:pPr indent="0" lvl="0" marL="0" marR="0" rtl="0" algn="l">
              <a:spcBef>
                <a:spcPts val="0"/>
              </a:spcBef>
              <a:spcAft>
                <a:spcPts val="0"/>
              </a:spcAft>
              <a:buNone/>
            </a:pPr>
            <a:r>
              <a:rPr lang="en-US" sz="1400">
                <a:solidFill>
                  <a:srgbClr val="C00000"/>
                </a:solidFill>
                <a:latin typeface="Calibri"/>
                <a:ea typeface="Calibri"/>
                <a:cs typeface="Calibri"/>
                <a:sym typeface="Calibri"/>
              </a:rPr>
              <a:t>Age: 11</a:t>
            </a:r>
            <a:endParaRPr/>
          </a:p>
        </p:txBody>
      </p:sp>
      <p:cxnSp>
        <p:nvCxnSpPr>
          <p:cNvPr id="798" name="Google Shape;798;p54"/>
          <p:cNvCxnSpPr>
            <a:endCxn id="797" idx="0"/>
          </p:cNvCxnSpPr>
          <p:nvPr/>
        </p:nvCxnSpPr>
        <p:spPr>
          <a:xfrm>
            <a:off x="479713" y="4252412"/>
            <a:ext cx="53400" cy="1314300"/>
          </a:xfrm>
          <a:prstGeom prst="straightConnector1">
            <a:avLst/>
          </a:prstGeom>
          <a:noFill/>
          <a:ln cap="flat" cmpd="sng" w="25400">
            <a:solidFill>
              <a:schemeClr val="dk1"/>
            </a:solidFill>
            <a:prstDash val="solid"/>
            <a:miter lim="800000"/>
            <a:headEnd len="sm" w="sm" type="none"/>
            <a:tailEnd len="med" w="med" type="triangle"/>
          </a:ln>
        </p:spPr>
      </p:cxnSp>
      <p:sp>
        <p:nvSpPr>
          <p:cNvPr id="799" name="Google Shape;799;p54"/>
          <p:cNvSpPr txBox="1"/>
          <p:nvPr/>
        </p:nvSpPr>
        <p:spPr>
          <a:xfrm>
            <a:off x="1901644" y="4900910"/>
            <a:ext cx="1035861" cy="523220"/>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Name: Bess</a:t>
            </a:r>
            <a:endParaRPr/>
          </a:p>
          <a:p>
            <a:pPr indent="0" lvl="0" marL="0" marR="0" rtl="0" algn="l">
              <a:spcBef>
                <a:spcPts val="0"/>
              </a:spcBef>
              <a:spcAft>
                <a:spcPts val="0"/>
              </a:spcAft>
              <a:buNone/>
            </a:pPr>
            <a:r>
              <a:rPr lang="en-US" sz="1400">
                <a:solidFill>
                  <a:srgbClr val="C00000"/>
                </a:solidFill>
                <a:latin typeface="Calibri"/>
                <a:ea typeface="Calibri"/>
                <a:cs typeface="Calibri"/>
                <a:sym typeface="Calibri"/>
              </a:rPr>
              <a:t>Age: 22</a:t>
            </a:r>
            <a:endParaRPr/>
          </a:p>
        </p:txBody>
      </p:sp>
      <p:cxnSp>
        <p:nvCxnSpPr>
          <p:cNvPr id="800" name="Google Shape;800;p54"/>
          <p:cNvCxnSpPr>
            <a:endCxn id="799" idx="0"/>
          </p:cNvCxnSpPr>
          <p:nvPr/>
        </p:nvCxnSpPr>
        <p:spPr>
          <a:xfrm flipH="1">
            <a:off x="2419575" y="4270310"/>
            <a:ext cx="105600" cy="630600"/>
          </a:xfrm>
          <a:prstGeom prst="straightConnector1">
            <a:avLst/>
          </a:prstGeom>
          <a:noFill/>
          <a:ln cap="flat" cmpd="sng" w="25400">
            <a:solidFill>
              <a:schemeClr val="dk1"/>
            </a:solidFill>
            <a:prstDash val="solid"/>
            <a:miter lim="800000"/>
            <a:headEnd len="sm" w="sm" type="none"/>
            <a:tailEnd len="med" w="med" type="triangle"/>
          </a:ln>
        </p:spPr>
      </p:cxnSp>
      <p:sp>
        <p:nvSpPr>
          <p:cNvPr id="801" name="Google Shape;801;p54"/>
          <p:cNvSpPr txBox="1"/>
          <p:nvPr/>
        </p:nvSpPr>
        <p:spPr>
          <a:xfrm>
            <a:off x="4324802" y="5566712"/>
            <a:ext cx="917239" cy="523220"/>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Name: Sal</a:t>
            </a:r>
            <a:endParaRPr/>
          </a:p>
          <a:p>
            <a:pPr indent="0" lvl="0" marL="0" marR="0" rtl="0" algn="l">
              <a:spcBef>
                <a:spcPts val="0"/>
              </a:spcBef>
              <a:spcAft>
                <a:spcPts val="0"/>
              </a:spcAft>
              <a:buNone/>
            </a:pPr>
            <a:r>
              <a:rPr lang="en-US" sz="1400">
                <a:solidFill>
                  <a:srgbClr val="C00000"/>
                </a:solidFill>
                <a:latin typeface="Calibri"/>
                <a:ea typeface="Calibri"/>
                <a:cs typeface="Calibri"/>
                <a:sym typeface="Calibri"/>
              </a:rPr>
              <a:t>Age: 30</a:t>
            </a:r>
            <a:endParaRPr/>
          </a:p>
        </p:txBody>
      </p:sp>
      <p:cxnSp>
        <p:nvCxnSpPr>
          <p:cNvPr id="802" name="Google Shape;802;p54"/>
          <p:cNvCxnSpPr>
            <a:endCxn id="801" idx="0"/>
          </p:cNvCxnSpPr>
          <p:nvPr/>
        </p:nvCxnSpPr>
        <p:spPr>
          <a:xfrm flipH="1">
            <a:off x="4783422" y="4270412"/>
            <a:ext cx="142200" cy="1296300"/>
          </a:xfrm>
          <a:prstGeom prst="straightConnector1">
            <a:avLst/>
          </a:prstGeom>
          <a:noFill/>
          <a:ln cap="flat" cmpd="sng" w="25400">
            <a:solidFill>
              <a:schemeClr val="dk1"/>
            </a:solidFill>
            <a:prstDash val="solid"/>
            <a:miter lim="800000"/>
            <a:headEnd len="sm" w="sm" type="none"/>
            <a:tailEnd len="med" w="med" type="triangle"/>
          </a:ln>
        </p:spPr>
      </p:cxnSp>
      <p:grpSp>
        <p:nvGrpSpPr>
          <p:cNvPr id="803" name="Google Shape;803;p54"/>
          <p:cNvGrpSpPr/>
          <p:nvPr/>
        </p:nvGrpSpPr>
        <p:grpSpPr>
          <a:xfrm>
            <a:off x="0" y="-22510"/>
            <a:ext cx="12192000" cy="307777"/>
            <a:chOff x="0" y="-22510"/>
            <a:chExt cx="12192000" cy="307777"/>
          </a:xfrm>
        </p:grpSpPr>
        <p:sp>
          <p:nvSpPr>
            <p:cNvPr id="804" name="Google Shape;804;p54"/>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805" name="Google Shape;805;p54"/>
            <p:cNvSpPr txBox="1"/>
            <p:nvPr/>
          </p:nvSpPr>
          <p:spPr>
            <a:xfrm>
              <a:off x="188780" y="-22510"/>
              <a:ext cx="27634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Section 2  B+ Tree basics</a:t>
              </a:r>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55"/>
          <p:cNvSpPr txBox="1"/>
          <p:nvPr>
            <p:ph type="title"/>
          </p:nvPr>
        </p:nvSpPr>
        <p:spPr>
          <a:xfrm>
            <a:off x="1962539" y="2943193"/>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Some finer points of B+ Trees</a:t>
            </a:r>
            <a:endParaRPr/>
          </a:p>
        </p:txBody>
      </p:sp>
      <p:grpSp>
        <p:nvGrpSpPr>
          <p:cNvPr id="811" name="Google Shape;811;p55"/>
          <p:cNvGrpSpPr/>
          <p:nvPr/>
        </p:nvGrpSpPr>
        <p:grpSpPr>
          <a:xfrm>
            <a:off x="0" y="-22510"/>
            <a:ext cx="12192000" cy="307777"/>
            <a:chOff x="0" y="-22510"/>
            <a:chExt cx="12192000" cy="307777"/>
          </a:xfrm>
        </p:grpSpPr>
        <p:sp>
          <p:nvSpPr>
            <p:cNvPr id="812" name="Google Shape;812;p55"/>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813" name="Google Shape;813;p55"/>
            <p:cNvSpPr txBox="1"/>
            <p:nvPr/>
          </p:nvSpPr>
          <p:spPr>
            <a:xfrm>
              <a:off x="188780" y="-22510"/>
              <a:ext cx="27634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Section 2  B+ Tree basics</a:t>
              </a:r>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Searching a B+ Tree</a:t>
            </a:r>
            <a:endParaRPr/>
          </a:p>
        </p:txBody>
      </p:sp>
      <p:sp>
        <p:nvSpPr>
          <p:cNvPr id="819" name="Google Shape;819;p56"/>
          <p:cNvSpPr txBox="1"/>
          <p:nvPr>
            <p:ph idx="1" type="body"/>
          </p:nvPr>
        </p:nvSpPr>
        <p:spPr>
          <a:xfrm>
            <a:off x="838200" y="1825625"/>
            <a:ext cx="64770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Char char="•"/>
            </a:pPr>
            <a:r>
              <a:rPr lang="en-US" sz="3200"/>
              <a:t>For exact key values:</a:t>
            </a:r>
            <a:endParaRPr/>
          </a:p>
          <a:p>
            <a:pPr indent="-228600" lvl="1" marL="685800" rtl="0" algn="l">
              <a:lnSpc>
                <a:spcPct val="90000"/>
              </a:lnSpc>
              <a:spcBef>
                <a:spcPts val="500"/>
              </a:spcBef>
              <a:spcAft>
                <a:spcPts val="0"/>
              </a:spcAft>
              <a:buClr>
                <a:schemeClr val="dk1"/>
              </a:buClr>
              <a:buSzPts val="3200"/>
              <a:buChar char="•"/>
            </a:pPr>
            <a:r>
              <a:rPr lang="en-US" sz="3200"/>
              <a:t>Start at the root</a:t>
            </a:r>
            <a:endParaRPr/>
          </a:p>
          <a:p>
            <a:pPr indent="-228600" lvl="1" marL="685800" rtl="0" algn="l">
              <a:lnSpc>
                <a:spcPct val="90000"/>
              </a:lnSpc>
              <a:spcBef>
                <a:spcPts val="500"/>
              </a:spcBef>
              <a:spcAft>
                <a:spcPts val="0"/>
              </a:spcAft>
              <a:buClr>
                <a:schemeClr val="dk1"/>
              </a:buClr>
              <a:buSzPts val="3200"/>
              <a:buChar char="•"/>
            </a:pPr>
            <a:r>
              <a:rPr lang="en-US" sz="3200"/>
              <a:t>Proceed down, to the leaf</a:t>
            </a:r>
            <a:endParaRPr/>
          </a:p>
          <a:p>
            <a:pPr indent="-25400" lvl="1" marL="685800" rtl="0" algn="l">
              <a:lnSpc>
                <a:spcPct val="90000"/>
              </a:lnSpc>
              <a:spcBef>
                <a:spcPts val="500"/>
              </a:spcBef>
              <a:spcAft>
                <a:spcPts val="0"/>
              </a:spcAft>
              <a:buClr>
                <a:schemeClr val="dk1"/>
              </a:buClr>
              <a:buSzPts val="3200"/>
              <a:buNone/>
            </a:pPr>
            <a:r>
              <a:t/>
            </a:r>
            <a:endParaRPr sz="3200"/>
          </a:p>
          <a:p>
            <a:pPr indent="-228600" lvl="0" marL="228600" rtl="0" algn="l">
              <a:lnSpc>
                <a:spcPct val="90000"/>
              </a:lnSpc>
              <a:spcBef>
                <a:spcPts val="1000"/>
              </a:spcBef>
              <a:spcAft>
                <a:spcPts val="0"/>
              </a:spcAft>
              <a:buClr>
                <a:schemeClr val="dk1"/>
              </a:buClr>
              <a:buSzPts val="3200"/>
              <a:buChar char="•"/>
            </a:pPr>
            <a:r>
              <a:rPr lang="en-US" sz="3200"/>
              <a:t>For range queries:</a:t>
            </a:r>
            <a:endParaRPr/>
          </a:p>
          <a:p>
            <a:pPr indent="-228600" lvl="1" marL="685800" rtl="0" algn="l">
              <a:lnSpc>
                <a:spcPct val="90000"/>
              </a:lnSpc>
              <a:spcBef>
                <a:spcPts val="500"/>
              </a:spcBef>
              <a:spcAft>
                <a:spcPts val="0"/>
              </a:spcAft>
              <a:buClr>
                <a:schemeClr val="dk1"/>
              </a:buClr>
              <a:buSzPts val="3200"/>
              <a:buChar char="•"/>
            </a:pPr>
            <a:r>
              <a:rPr lang="en-US" sz="3200"/>
              <a:t>As above</a:t>
            </a:r>
            <a:endParaRPr/>
          </a:p>
          <a:p>
            <a:pPr indent="-228600" lvl="1" marL="685800" rtl="0" algn="l">
              <a:lnSpc>
                <a:spcPct val="90000"/>
              </a:lnSpc>
              <a:spcBef>
                <a:spcPts val="500"/>
              </a:spcBef>
              <a:spcAft>
                <a:spcPts val="0"/>
              </a:spcAft>
              <a:buClr>
                <a:schemeClr val="dk1"/>
              </a:buClr>
              <a:buSzPts val="3200"/>
              <a:buChar char="•"/>
            </a:pPr>
            <a:r>
              <a:rPr i="1" lang="en-US" sz="3200"/>
              <a:t>Then sequential traversal</a:t>
            </a:r>
            <a:endParaRPr/>
          </a:p>
        </p:txBody>
      </p:sp>
      <p:sp>
        <p:nvSpPr>
          <p:cNvPr id="820" name="Google Shape;820;p56"/>
          <p:cNvSpPr txBox="1"/>
          <p:nvPr/>
        </p:nvSpPr>
        <p:spPr>
          <a:xfrm>
            <a:off x="7706648" y="1770546"/>
            <a:ext cx="3647152" cy="1477328"/>
          </a:xfrm>
          <a:prstGeom prst="rect">
            <a:avLst/>
          </a:prstGeom>
          <a:solidFill>
            <a:schemeClr val="lt1"/>
          </a:solidFill>
          <a:ln cap="flat" cmpd="sng" w="9525">
            <a:solidFill>
              <a:schemeClr val="dk1"/>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3000">
                <a:solidFill>
                  <a:schemeClr val="accent2"/>
                </a:solidFill>
                <a:latin typeface="Arial"/>
                <a:ea typeface="Arial"/>
                <a:cs typeface="Arial"/>
                <a:sym typeface="Arial"/>
              </a:rPr>
              <a:t>SELECT</a:t>
            </a:r>
            <a:r>
              <a:rPr lang="en-US" sz="3000">
                <a:solidFill>
                  <a:srgbClr val="000000"/>
                </a:solidFill>
                <a:latin typeface="Arial"/>
                <a:ea typeface="Arial"/>
                <a:cs typeface="Arial"/>
                <a:sym typeface="Arial"/>
              </a:rPr>
              <a:t> name</a:t>
            </a:r>
            <a:endParaRPr/>
          </a:p>
          <a:p>
            <a:pPr indent="0" lvl="0" marL="0" marR="0" rtl="0" algn="l">
              <a:spcBef>
                <a:spcPts val="0"/>
              </a:spcBef>
              <a:spcAft>
                <a:spcPts val="0"/>
              </a:spcAft>
              <a:buNone/>
            </a:pPr>
            <a:r>
              <a:rPr lang="en-US" sz="3000">
                <a:solidFill>
                  <a:schemeClr val="accent2"/>
                </a:solidFill>
                <a:latin typeface="Arial"/>
                <a:ea typeface="Arial"/>
                <a:cs typeface="Arial"/>
                <a:sym typeface="Arial"/>
              </a:rPr>
              <a:t>FROM</a:t>
            </a:r>
            <a:r>
              <a:rPr lang="en-US" sz="3000">
                <a:solidFill>
                  <a:srgbClr val="000000"/>
                </a:solidFill>
                <a:latin typeface="Arial"/>
                <a:ea typeface="Arial"/>
                <a:cs typeface="Arial"/>
                <a:sym typeface="Arial"/>
              </a:rPr>
              <a:t>   people</a:t>
            </a:r>
            <a:endParaRPr/>
          </a:p>
          <a:p>
            <a:pPr indent="0" lvl="0" marL="0" marR="0" rtl="0" algn="l">
              <a:spcBef>
                <a:spcPts val="0"/>
              </a:spcBef>
              <a:spcAft>
                <a:spcPts val="0"/>
              </a:spcAft>
              <a:buNone/>
            </a:pPr>
            <a:r>
              <a:rPr lang="en-US" sz="3000">
                <a:solidFill>
                  <a:schemeClr val="accent2"/>
                </a:solidFill>
                <a:latin typeface="Arial"/>
                <a:ea typeface="Arial"/>
                <a:cs typeface="Arial"/>
                <a:sym typeface="Arial"/>
              </a:rPr>
              <a:t>WHERE</a:t>
            </a:r>
            <a:r>
              <a:rPr lang="en-US" sz="3000">
                <a:solidFill>
                  <a:srgbClr val="000000"/>
                </a:solidFill>
                <a:latin typeface="Arial"/>
                <a:ea typeface="Arial"/>
                <a:cs typeface="Arial"/>
                <a:sym typeface="Arial"/>
              </a:rPr>
              <a:t>  age = 25</a:t>
            </a:r>
            <a:endParaRPr/>
          </a:p>
        </p:txBody>
      </p:sp>
      <p:sp>
        <p:nvSpPr>
          <p:cNvPr id="821" name="Google Shape;821;p56"/>
          <p:cNvSpPr txBox="1"/>
          <p:nvPr/>
        </p:nvSpPr>
        <p:spPr>
          <a:xfrm>
            <a:off x="7706648" y="3773310"/>
            <a:ext cx="3877985" cy="1938992"/>
          </a:xfrm>
          <a:prstGeom prst="rect">
            <a:avLst/>
          </a:prstGeom>
          <a:solidFill>
            <a:schemeClr val="lt1"/>
          </a:solidFill>
          <a:ln cap="flat" cmpd="sng" w="9525">
            <a:solidFill>
              <a:schemeClr val="dk1"/>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3000">
                <a:solidFill>
                  <a:schemeClr val="accent2"/>
                </a:solidFill>
                <a:latin typeface="Arial"/>
                <a:ea typeface="Arial"/>
                <a:cs typeface="Arial"/>
                <a:sym typeface="Arial"/>
              </a:rPr>
              <a:t>SELECT</a:t>
            </a:r>
            <a:r>
              <a:rPr lang="en-US" sz="3000">
                <a:solidFill>
                  <a:srgbClr val="000000"/>
                </a:solidFill>
                <a:latin typeface="Arial"/>
                <a:ea typeface="Arial"/>
                <a:cs typeface="Arial"/>
                <a:sym typeface="Arial"/>
              </a:rPr>
              <a:t> name</a:t>
            </a:r>
            <a:endParaRPr/>
          </a:p>
          <a:p>
            <a:pPr indent="0" lvl="0" marL="0" marR="0" rtl="0" algn="l">
              <a:spcBef>
                <a:spcPts val="0"/>
              </a:spcBef>
              <a:spcAft>
                <a:spcPts val="0"/>
              </a:spcAft>
              <a:buNone/>
            </a:pPr>
            <a:r>
              <a:rPr lang="en-US" sz="3000">
                <a:solidFill>
                  <a:schemeClr val="accent2"/>
                </a:solidFill>
                <a:latin typeface="Arial"/>
                <a:ea typeface="Arial"/>
                <a:cs typeface="Arial"/>
                <a:sym typeface="Arial"/>
              </a:rPr>
              <a:t>FROM</a:t>
            </a:r>
            <a:r>
              <a:rPr lang="en-US" sz="3000">
                <a:solidFill>
                  <a:srgbClr val="000000"/>
                </a:solidFill>
                <a:latin typeface="Arial"/>
                <a:ea typeface="Arial"/>
                <a:cs typeface="Arial"/>
                <a:sym typeface="Arial"/>
              </a:rPr>
              <a:t>   people</a:t>
            </a:r>
            <a:endParaRPr/>
          </a:p>
          <a:p>
            <a:pPr indent="0" lvl="0" marL="0" marR="0" rtl="0" algn="l">
              <a:spcBef>
                <a:spcPts val="0"/>
              </a:spcBef>
              <a:spcAft>
                <a:spcPts val="0"/>
              </a:spcAft>
              <a:buNone/>
            </a:pPr>
            <a:r>
              <a:rPr lang="en-US" sz="3000">
                <a:solidFill>
                  <a:schemeClr val="accent2"/>
                </a:solidFill>
                <a:latin typeface="Arial"/>
                <a:ea typeface="Arial"/>
                <a:cs typeface="Arial"/>
                <a:sym typeface="Arial"/>
              </a:rPr>
              <a:t>WHERE</a:t>
            </a:r>
            <a:r>
              <a:rPr lang="en-US" sz="3000">
                <a:solidFill>
                  <a:srgbClr val="000000"/>
                </a:solidFill>
                <a:latin typeface="Arial"/>
                <a:ea typeface="Arial"/>
                <a:cs typeface="Arial"/>
                <a:sym typeface="Arial"/>
              </a:rPr>
              <a:t>  20 &lt;= age</a:t>
            </a:r>
            <a:endParaRPr/>
          </a:p>
          <a:p>
            <a:pPr indent="0" lvl="0" marL="0" marR="0" rtl="0" algn="l">
              <a:spcBef>
                <a:spcPts val="0"/>
              </a:spcBef>
              <a:spcAft>
                <a:spcPts val="0"/>
              </a:spcAft>
              <a:buNone/>
            </a:pPr>
            <a:r>
              <a:rPr lang="en-US" sz="3000">
                <a:solidFill>
                  <a:srgbClr val="000000"/>
                </a:solidFill>
                <a:latin typeface="Arial"/>
                <a:ea typeface="Arial"/>
                <a:cs typeface="Arial"/>
                <a:sym typeface="Arial"/>
              </a:rPr>
              <a:t>  AND  age &lt;= 30</a:t>
            </a:r>
            <a:endParaRPr/>
          </a:p>
        </p:txBody>
      </p:sp>
      <p:grpSp>
        <p:nvGrpSpPr>
          <p:cNvPr id="822" name="Google Shape;822;p56"/>
          <p:cNvGrpSpPr/>
          <p:nvPr/>
        </p:nvGrpSpPr>
        <p:grpSpPr>
          <a:xfrm>
            <a:off x="0" y="-22510"/>
            <a:ext cx="12192000" cy="307777"/>
            <a:chOff x="0" y="-22510"/>
            <a:chExt cx="12192000" cy="307777"/>
          </a:xfrm>
        </p:grpSpPr>
        <p:sp>
          <p:nvSpPr>
            <p:cNvPr id="823" name="Google Shape;823;p56"/>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824" name="Google Shape;824;p56"/>
            <p:cNvSpPr txBox="1"/>
            <p:nvPr/>
          </p:nvSpPr>
          <p:spPr>
            <a:xfrm>
              <a:off x="188780" y="-22510"/>
              <a:ext cx="27634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Section 2  B+ Tree basics</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9">
                                            <p:txEl>
                                              <p:pRg end="6" st="6"/>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p5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 Tree Exact Search Animation</a:t>
            </a:r>
            <a:endParaRPr/>
          </a:p>
        </p:txBody>
      </p:sp>
      <p:graphicFrame>
        <p:nvGraphicFramePr>
          <p:cNvPr id="830" name="Google Shape;830;p57"/>
          <p:cNvGraphicFramePr/>
          <p:nvPr/>
        </p:nvGraphicFramePr>
        <p:xfrm>
          <a:off x="6096000" y="2259013"/>
          <a:ext cx="3000000" cy="3000000"/>
        </p:xfrm>
        <a:graphic>
          <a:graphicData uri="http://schemas.openxmlformats.org/drawingml/2006/table">
            <a:tbl>
              <a:tblPr>
                <a:noFill/>
                <a:tableStyleId>{FF1A8D6A-5F5D-4DE5-8CDF-4A8D1DE8ED13}</a:tableStyleId>
              </a:tblPr>
              <a:tblGrid>
                <a:gridCol w="298450"/>
                <a:gridCol w="246075"/>
                <a:gridCol w="249225"/>
                <a:gridCol w="247650"/>
                <a:gridCol w="298450"/>
                <a:gridCol w="249250"/>
                <a:gridCol w="246050"/>
                <a:gridCol w="298450"/>
              </a:tblGrid>
              <a:tr h="342900">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0" i="0" lang="en-US" sz="1400" u="none" cap="none" strike="noStrike">
                          <a:solidFill>
                            <a:schemeClr val="dk1"/>
                          </a:solidFill>
                          <a:latin typeface="Book Antiqua"/>
                          <a:ea typeface="Book Antiqua"/>
                          <a:cs typeface="Book Antiqua"/>
                          <a:sym typeface="Book Antiqua"/>
                        </a:rPr>
                        <a:t>80</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42900">
                <a:tc>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831" name="Google Shape;831;p57"/>
          <p:cNvGraphicFramePr/>
          <p:nvPr/>
        </p:nvGraphicFramePr>
        <p:xfrm>
          <a:off x="4267200" y="3173413"/>
          <a:ext cx="3000000" cy="3000000"/>
        </p:xfrm>
        <a:graphic>
          <a:graphicData uri="http://schemas.openxmlformats.org/drawingml/2006/table">
            <a:tbl>
              <a:tblPr>
                <a:noFill/>
                <a:tableStyleId>{FF1A8D6A-5F5D-4DE5-8CDF-4A8D1DE8ED13}</a:tableStyleId>
              </a:tblPr>
              <a:tblGrid>
                <a:gridCol w="298450"/>
                <a:gridCol w="246075"/>
                <a:gridCol w="249225"/>
                <a:gridCol w="247650"/>
                <a:gridCol w="298450"/>
                <a:gridCol w="249250"/>
                <a:gridCol w="246050"/>
                <a:gridCol w="298450"/>
              </a:tblGrid>
              <a:tr h="342900">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0" i="0" lang="en-US" sz="1400" u="none" cap="none" strike="noStrike">
                          <a:solidFill>
                            <a:schemeClr val="dk1"/>
                          </a:solidFill>
                          <a:latin typeface="Book Antiqua"/>
                          <a:ea typeface="Book Antiqua"/>
                          <a:cs typeface="Book Antiqua"/>
                          <a:sym typeface="Book Antiqua"/>
                        </a:rPr>
                        <a:t>20</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0" i="0" lang="en-US" sz="1400" u="none" cap="none" strike="noStrike">
                          <a:solidFill>
                            <a:schemeClr val="dk1"/>
                          </a:solidFill>
                          <a:latin typeface="Book Antiqua"/>
                          <a:ea typeface="Book Antiqua"/>
                          <a:cs typeface="Book Antiqua"/>
                          <a:sym typeface="Book Antiqua"/>
                        </a:rPr>
                        <a:t>60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42900">
                <a:tc>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832" name="Google Shape;832;p57"/>
          <p:cNvGraphicFramePr/>
          <p:nvPr/>
        </p:nvGraphicFramePr>
        <p:xfrm>
          <a:off x="7696200" y="3173413"/>
          <a:ext cx="3000000" cy="3000000"/>
        </p:xfrm>
        <a:graphic>
          <a:graphicData uri="http://schemas.openxmlformats.org/drawingml/2006/table">
            <a:tbl>
              <a:tblPr>
                <a:noFill/>
                <a:tableStyleId>{FF1A8D6A-5F5D-4DE5-8CDF-4A8D1DE8ED13}</a:tableStyleId>
              </a:tblPr>
              <a:tblGrid>
                <a:gridCol w="298450"/>
                <a:gridCol w="246075"/>
                <a:gridCol w="249225"/>
                <a:gridCol w="247650"/>
                <a:gridCol w="298450"/>
                <a:gridCol w="249250"/>
                <a:gridCol w="246050"/>
                <a:gridCol w="298450"/>
              </a:tblGrid>
              <a:tr h="342900">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0" i="0" lang="en-US" sz="1400" u="none" cap="none" strike="noStrike">
                          <a:solidFill>
                            <a:schemeClr val="dk1"/>
                          </a:solidFill>
                          <a:latin typeface="Book Antiqua"/>
                          <a:ea typeface="Book Antiqua"/>
                          <a:cs typeface="Book Antiqua"/>
                          <a:sym typeface="Book Antiqua"/>
                        </a:rPr>
                        <a:t>100</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0" i="0" lang="en-US" sz="1400" u="none" cap="none" strike="noStrike">
                          <a:solidFill>
                            <a:schemeClr val="dk1"/>
                          </a:solidFill>
                          <a:latin typeface="Book Antiqua"/>
                          <a:ea typeface="Book Antiqua"/>
                          <a:cs typeface="Book Antiqua"/>
                          <a:sym typeface="Book Antiqua"/>
                        </a:rPr>
                        <a:t>120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0" i="0" lang="en-US" sz="1400" u="none" cap="none" strike="noStrike">
                          <a:solidFill>
                            <a:schemeClr val="dk1"/>
                          </a:solidFill>
                          <a:latin typeface="Book Antiqua"/>
                          <a:ea typeface="Book Antiqua"/>
                          <a:cs typeface="Book Antiqua"/>
                          <a:sym typeface="Book Antiqua"/>
                        </a:rPr>
                        <a:t>140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42900">
                <a:tc>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833" name="Google Shape;833;p57"/>
          <p:cNvGraphicFramePr/>
          <p:nvPr/>
        </p:nvGraphicFramePr>
        <p:xfrm>
          <a:off x="3352800" y="4621213"/>
          <a:ext cx="3000000" cy="3000000"/>
        </p:xfrm>
        <a:graphic>
          <a:graphicData uri="http://schemas.openxmlformats.org/drawingml/2006/table">
            <a:tbl>
              <a:tblPr>
                <a:noFill/>
                <a:tableStyleId>{FF1A8D6A-5F5D-4DE5-8CDF-4A8D1DE8ED13}</a:tableStyleId>
              </a:tblPr>
              <a:tblGrid>
                <a:gridCol w="223850"/>
                <a:gridCol w="185725"/>
                <a:gridCol w="185750"/>
                <a:gridCol w="185725"/>
                <a:gridCol w="223850"/>
                <a:gridCol w="185725"/>
                <a:gridCol w="185750"/>
                <a:gridCol w="223825"/>
              </a:tblGrid>
              <a:tr h="342900">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10</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15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18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42900">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EAF6"/>
                    </a:solidFill>
                  </a:tcPr>
                </a:tc>
              </a:tr>
            </a:tbl>
          </a:graphicData>
        </a:graphic>
      </p:graphicFrame>
      <p:graphicFrame>
        <p:nvGraphicFramePr>
          <p:cNvPr id="834" name="Google Shape;834;p57"/>
          <p:cNvGraphicFramePr/>
          <p:nvPr/>
        </p:nvGraphicFramePr>
        <p:xfrm>
          <a:off x="5181600" y="4621213"/>
          <a:ext cx="3000000" cy="3000000"/>
        </p:xfrm>
        <a:graphic>
          <a:graphicData uri="http://schemas.openxmlformats.org/drawingml/2006/table">
            <a:tbl>
              <a:tblPr>
                <a:noFill/>
                <a:tableStyleId>{FF1A8D6A-5F5D-4DE5-8CDF-4A8D1DE8ED13}</a:tableStyleId>
              </a:tblPr>
              <a:tblGrid>
                <a:gridCol w="223850"/>
                <a:gridCol w="185725"/>
                <a:gridCol w="185750"/>
                <a:gridCol w="185725"/>
                <a:gridCol w="223850"/>
                <a:gridCol w="185725"/>
                <a:gridCol w="185750"/>
                <a:gridCol w="223825"/>
              </a:tblGrid>
              <a:tr h="342900">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20</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30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40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50</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42900">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EAF6"/>
                    </a:solidFill>
                  </a:tcPr>
                </a:tc>
              </a:tr>
            </a:tbl>
          </a:graphicData>
        </a:graphic>
      </p:graphicFrame>
      <p:graphicFrame>
        <p:nvGraphicFramePr>
          <p:cNvPr id="835" name="Google Shape;835;p57"/>
          <p:cNvGraphicFramePr/>
          <p:nvPr/>
        </p:nvGraphicFramePr>
        <p:xfrm>
          <a:off x="6934200" y="4621213"/>
          <a:ext cx="3000000" cy="3000000"/>
        </p:xfrm>
        <a:graphic>
          <a:graphicData uri="http://schemas.openxmlformats.org/drawingml/2006/table">
            <a:tbl>
              <a:tblPr>
                <a:noFill/>
                <a:tableStyleId>{FF1A8D6A-5F5D-4DE5-8CDF-4A8D1DE8ED13}</a:tableStyleId>
              </a:tblPr>
              <a:tblGrid>
                <a:gridCol w="223850"/>
                <a:gridCol w="185725"/>
                <a:gridCol w="185750"/>
                <a:gridCol w="185725"/>
                <a:gridCol w="223850"/>
                <a:gridCol w="185725"/>
                <a:gridCol w="185750"/>
                <a:gridCol w="223825"/>
              </a:tblGrid>
              <a:tr h="342900">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60</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65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42900">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EAF6"/>
                    </a:solidFill>
                  </a:tcPr>
                </a:tc>
              </a:tr>
            </a:tbl>
          </a:graphicData>
        </a:graphic>
      </p:graphicFrame>
      <p:graphicFrame>
        <p:nvGraphicFramePr>
          <p:cNvPr id="836" name="Google Shape;836;p57"/>
          <p:cNvGraphicFramePr/>
          <p:nvPr/>
        </p:nvGraphicFramePr>
        <p:xfrm>
          <a:off x="8686800" y="4621213"/>
          <a:ext cx="3000000" cy="3000000"/>
        </p:xfrm>
        <a:graphic>
          <a:graphicData uri="http://schemas.openxmlformats.org/drawingml/2006/table">
            <a:tbl>
              <a:tblPr>
                <a:noFill/>
                <a:tableStyleId>{FF1A8D6A-5F5D-4DE5-8CDF-4A8D1DE8ED13}</a:tableStyleId>
              </a:tblPr>
              <a:tblGrid>
                <a:gridCol w="223850"/>
                <a:gridCol w="185725"/>
                <a:gridCol w="185750"/>
                <a:gridCol w="185725"/>
                <a:gridCol w="223850"/>
                <a:gridCol w="185725"/>
                <a:gridCol w="185750"/>
                <a:gridCol w="223825"/>
              </a:tblGrid>
              <a:tr h="342900">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80</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85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90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42900">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EAF6"/>
                    </a:solidFill>
                  </a:tcPr>
                </a:tc>
              </a:tr>
            </a:tbl>
          </a:graphicData>
        </a:graphic>
      </p:graphicFrame>
      <p:cxnSp>
        <p:nvCxnSpPr>
          <p:cNvPr id="837" name="Google Shape;837;p57"/>
          <p:cNvCxnSpPr/>
          <p:nvPr/>
        </p:nvCxnSpPr>
        <p:spPr>
          <a:xfrm flipH="1">
            <a:off x="4267200" y="2792413"/>
            <a:ext cx="1981200" cy="381000"/>
          </a:xfrm>
          <a:prstGeom prst="straightConnector1">
            <a:avLst/>
          </a:prstGeom>
          <a:noFill/>
          <a:ln cap="flat" cmpd="sng" w="25400">
            <a:solidFill>
              <a:schemeClr val="dk1"/>
            </a:solidFill>
            <a:prstDash val="solid"/>
            <a:round/>
            <a:headEnd len="med" w="med" type="none"/>
            <a:tailEnd len="med" w="med" type="triangle"/>
          </a:ln>
        </p:spPr>
      </p:cxnSp>
      <p:cxnSp>
        <p:nvCxnSpPr>
          <p:cNvPr id="838" name="Google Shape;838;p57"/>
          <p:cNvCxnSpPr/>
          <p:nvPr/>
        </p:nvCxnSpPr>
        <p:spPr>
          <a:xfrm>
            <a:off x="6629400" y="2792413"/>
            <a:ext cx="1066800" cy="381000"/>
          </a:xfrm>
          <a:prstGeom prst="straightConnector1">
            <a:avLst/>
          </a:prstGeom>
          <a:noFill/>
          <a:ln cap="flat" cmpd="sng" w="25400">
            <a:solidFill>
              <a:schemeClr val="dk1"/>
            </a:solidFill>
            <a:prstDash val="solid"/>
            <a:round/>
            <a:headEnd len="med" w="med" type="none"/>
            <a:tailEnd len="med" w="med" type="triangle"/>
          </a:ln>
        </p:spPr>
      </p:cxnSp>
      <p:cxnSp>
        <p:nvCxnSpPr>
          <p:cNvPr id="839" name="Google Shape;839;p57"/>
          <p:cNvCxnSpPr/>
          <p:nvPr/>
        </p:nvCxnSpPr>
        <p:spPr>
          <a:xfrm flipH="1">
            <a:off x="3352800" y="3706813"/>
            <a:ext cx="1066800" cy="914400"/>
          </a:xfrm>
          <a:prstGeom prst="straightConnector1">
            <a:avLst/>
          </a:prstGeom>
          <a:noFill/>
          <a:ln cap="flat" cmpd="sng" w="25400">
            <a:solidFill>
              <a:schemeClr val="dk1"/>
            </a:solidFill>
            <a:prstDash val="solid"/>
            <a:round/>
            <a:headEnd len="med" w="med" type="none"/>
            <a:tailEnd len="med" w="med" type="triangle"/>
          </a:ln>
        </p:spPr>
      </p:cxnSp>
      <p:cxnSp>
        <p:nvCxnSpPr>
          <p:cNvPr id="840" name="Google Shape;840;p57"/>
          <p:cNvCxnSpPr/>
          <p:nvPr/>
        </p:nvCxnSpPr>
        <p:spPr>
          <a:xfrm>
            <a:off x="4800600" y="3706813"/>
            <a:ext cx="381000" cy="914400"/>
          </a:xfrm>
          <a:prstGeom prst="straightConnector1">
            <a:avLst/>
          </a:prstGeom>
          <a:noFill/>
          <a:ln cap="flat" cmpd="sng" w="25400">
            <a:solidFill>
              <a:schemeClr val="dk1"/>
            </a:solidFill>
            <a:prstDash val="solid"/>
            <a:round/>
            <a:headEnd len="med" w="med" type="none"/>
            <a:tailEnd len="med" w="med" type="triangle"/>
          </a:ln>
        </p:spPr>
      </p:cxnSp>
      <p:cxnSp>
        <p:nvCxnSpPr>
          <p:cNvPr id="841" name="Google Shape;841;p57"/>
          <p:cNvCxnSpPr/>
          <p:nvPr/>
        </p:nvCxnSpPr>
        <p:spPr>
          <a:xfrm>
            <a:off x="5257800" y="3706813"/>
            <a:ext cx="1676400" cy="914400"/>
          </a:xfrm>
          <a:prstGeom prst="straightConnector1">
            <a:avLst/>
          </a:prstGeom>
          <a:noFill/>
          <a:ln cap="flat" cmpd="sng" w="25400">
            <a:solidFill>
              <a:schemeClr val="dk1"/>
            </a:solidFill>
            <a:prstDash val="solid"/>
            <a:round/>
            <a:headEnd len="med" w="med" type="none"/>
            <a:tailEnd len="med" w="med" type="triangle"/>
          </a:ln>
        </p:spPr>
      </p:cxnSp>
      <p:cxnSp>
        <p:nvCxnSpPr>
          <p:cNvPr id="842" name="Google Shape;842;p57"/>
          <p:cNvCxnSpPr/>
          <p:nvPr/>
        </p:nvCxnSpPr>
        <p:spPr>
          <a:xfrm>
            <a:off x="7848600" y="3706813"/>
            <a:ext cx="838200" cy="914400"/>
          </a:xfrm>
          <a:prstGeom prst="straightConnector1">
            <a:avLst/>
          </a:prstGeom>
          <a:noFill/>
          <a:ln cap="flat" cmpd="sng" w="25400">
            <a:solidFill>
              <a:schemeClr val="dk1"/>
            </a:solidFill>
            <a:prstDash val="solid"/>
            <a:round/>
            <a:headEnd len="med" w="med" type="none"/>
            <a:tailEnd len="med" w="med" type="triangle"/>
          </a:ln>
        </p:spPr>
      </p:cxnSp>
      <p:cxnSp>
        <p:nvCxnSpPr>
          <p:cNvPr id="843" name="Google Shape;843;p57"/>
          <p:cNvCxnSpPr/>
          <p:nvPr/>
        </p:nvCxnSpPr>
        <p:spPr>
          <a:xfrm>
            <a:off x="4876800" y="5154613"/>
            <a:ext cx="304800" cy="0"/>
          </a:xfrm>
          <a:prstGeom prst="straightConnector1">
            <a:avLst/>
          </a:prstGeom>
          <a:noFill/>
          <a:ln cap="flat" cmpd="sng" w="25400">
            <a:solidFill>
              <a:schemeClr val="accent2"/>
            </a:solidFill>
            <a:prstDash val="solid"/>
            <a:round/>
            <a:headEnd len="med" w="med" type="none"/>
            <a:tailEnd len="med" w="med" type="triangle"/>
          </a:ln>
        </p:spPr>
      </p:cxnSp>
      <p:cxnSp>
        <p:nvCxnSpPr>
          <p:cNvPr id="844" name="Google Shape;844;p57"/>
          <p:cNvCxnSpPr/>
          <p:nvPr/>
        </p:nvCxnSpPr>
        <p:spPr>
          <a:xfrm>
            <a:off x="6629400" y="5154613"/>
            <a:ext cx="304800" cy="0"/>
          </a:xfrm>
          <a:prstGeom prst="straightConnector1">
            <a:avLst/>
          </a:prstGeom>
          <a:noFill/>
          <a:ln cap="flat" cmpd="sng" w="25400">
            <a:solidFill>
              <a:schemeClr val="accent2"/>
            </a:solidFill>
            <a:prstDash val="solid"/>
            <a:round/>
            <a:headEnd len="med" w="med" type="none"/>
            <a:tailEnd len="med" w="med" type="triangle"/>
          </a:ln>
        </p:spPr>
      </p:cxnSp>
      <p:cxnSp>
        <p:nvCxnSpPr>
          <p:cNvPr id="845" name="Google Shape;845;p57"/>
          <p:cNvCxnSpPr/>
          <p:nvPr/>
        </p:nvCxnSpPr>
        <p:spPr>
          <a:xfrm>
            <a:off x="8458200" y="5154613"/>
            <a:ext cx="228600" cy="0"/>
          </a:xfrm>
          <a:prstGeom prst="straightConnector1">
            <a:avLst/>
          </a:prstGeom>
          <a:noFill/>
          <a:ln cap="flat" cmpd="sng" w="25400">
            <a:solidFill>
              <a:schemeClr val="accent2"/>
            </a:solidFill>
            <a:prstDash val="solid"/>
            <a:round/>
            <a:headEnd len="med" w="med" type="none"/>
            <a:tailEnd len="med" w="med" type="triangle"/>
          </a:ln>
        </p:spPr>
      </p:cxnSp>
      <p:sp>
        <p:nvSpPr>
          <p:cNvPr id="846" name="Google Shape;846;p57"/>
          <p:cNvSpPr/>
          <p:nvPr/>
        </p:nvSpPr>
        <p:spPr>
          <a:xfrm>
            <a:off x="3202527" y="5996088"/>
            <a:ext cx="367408" cy="307777"/>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10</a:t>
            </a:r>
            <a:endParaRPr/>
          </a:p>
        </p:txBody>
      </p:sp>
      <p:sp>
        <p:nvSpPr>
          <p:cNvPr id="847" name="Google Shape;847;p57"/>
          <p:cNvSpPr/>
          <p:nvPr/>
        </p:nvSpPr>
        <p:spPr>
          <a:xfrm>
            <a:off x="3888234" y="5996088"/>
            <a:ext cx="367408" cy="307777"/>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12</a:t>
            </a:r>
            <a:endParaRPr/>
          </a:p>
        </p:txBody>
      </p:sp>
      <p:sp>
        <p:nvSpPr>
          <p:cNvPr id="848" name="Google Shape;848;p57"/>
          <p:cNvSpPr/>
          <p:nvPr/>
        </p:nvSpPr>
        <p:spPr>
          <a:xfrm>
            <a:off x="4421634" y="5996088"/>
            <a:ext cx="367408" cy="307777"/>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15</a:t>
            </a:r>
            <a:endParaRPr/>
          </a:p>
        </p:txBody>
      </p:sp>
      <p:sp>
        <p:nvSpPr>
          <p:cNvPr id="849" name="Google Shape;849;p57"/>
          <p:cNvSpPr/>
          <p:nvPr/>
        </p:nvSpPr>
        <p:spPr>
          <a:xfrm>
            <a:off x="5031233" y="5996088"/>
            <a:ext cx="367408" cy="307777"/>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20</a:t>
            </a:r>
            <a:endParaRPr/>
          </a:p>
        </p:txBody>
      </p:sp>
      <p:sp>
        <p:nvSpPr>
          <p:cNvPr id="850" name="Google Shape;850;p57"/>
          <p:cNvSpPr/>
          <p:nvPr/>
        </p:nvSpPr>
        <p:spPr>
          <a:xfrm>
            <a:off x="5640834" y="5996088"/>
            <a:ext cx="367408" cy="307777"/>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28</a:t>
            </a:r>
            <a:endParaRPr/>
          </a:p>
        </p:txBody>
      </p:sp>
      <p:sp>
        <p:nvSpPr>
          <p:cNvPr id="851" name="Google Shape;851;p57"/>
          <p:cNvSpPr/>
          <p:nvPr/>
        </p:nvSpPr>
        <p:spPr>
          <a:xfrm>
            <a:off x="6098034" y="5996088"/>
            <a:ext cx="367408" cy="307777"/>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30</a:t>
            </a:r>
            <a:endParaRPr/>
          </a:p>
        </p:txBody>
      </p:sp>
      <p:sp>
        <p:nvSpPr>
          <p:cNvPr id="852" name="Google Shape;852;p57"/>
          <p:cNvSpPr/>
          <p:nvPr/>
        </p:nvSpPr>
        <p:spPr>
          <a:xfrm>
            <a:off x="6631434" y="5996088"/>
            <a:ext cx="367408" cy="307777"/>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40</a:t>
            </a:r>
            <a:endParaRPr/>
          </a:p>
        </p:txBody>
      </p:sp>
      <p:sp>
        <p:nvSpPr>
          <p:cNvPr id="853" name="Google Shape;853;p57"/>
          <p:cNvSpPr/>
          <p:nvPr/>
        </p:nvSpPr>
        <p:spPr>
          <a:xfrm>
            <a:off x="7088633" y="5996088"/>
            <a:ext cx="367408" cy="307777"/>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60</a:t>
            </a:r>
            <a:endParaRPr/>
          </a:p>
        </p:txBody>
      </p:sp>
      <p:sp>
        <p:nvSpPr>
          <p:cNvPr id="854" name="Google Shape;854;p57"/>
          <p:cNvSpPr/>
          <p:nvPr/>
        </p:nvSpPr>
        <p:spPr>
          <a:xfrm>
            <a:off x="7545834" y="5996088"/>
            <a:ext cx="367408" cy="307777"/>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63</a:t>
            </a:r>
            <a:endParaRPr/>
          </a:p>
        </p:txBody>
      </p:sp>
      <p:sp>
        <p:nvSpPr>
          <p:cNvPr id="855" name="Google Shape;855;p57"/>
          <p:cNvSpPr/>
          <p:nvPr/>
        </p:nvSpPr>
        <p:spPr>
          <a:xfrm>
            <a:off x="8003033" y="5996088"/>
            <a:ext cx="367408" cy="307777"/>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80</a:t>
            </a:r>
            <a:endParaRPr/>
          </a:p>
        </p:txBody>
      </p:sp>
      <p:sp>
        <p:nvSpPr>
          <p:cNvPr id="856" name="Google Shape;856;p57"/>
          <p:cNvSpPr/>
          <p:nvPr/>
        </p:nvSpPr>
        <p:spPr>
          <a:xfrm>
            <a:off x="8536434" y="5996088"/>
            <a:ext cx="367408" cy="307777"/>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84</a:t>
            </a:r>
            <a:endParaRPr/>
          </a:p>
        </p:txBody>
      </p:sp>
      <p:sp>
        <p:nvSpPr>
          <p:cNvPr id="857" name="Google Shape;857;p57"/>
          <p:cNvSpPr/>
          <p:nvPr/>
        </p:nvSpPr>
        <p:spPr>
          <a:xfrm>
            <a:off x="9069834" y="5996088"/>
            <a:ext cx="367408" cy="307777"/>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89</a:t>
            </a:r>
            <a:endParaRPr/>
          </a:p>
        </p:txBody>
      </p:sp>
      <p:cxnSp>
        <p:nvCxnSpPr>
          <p:cNvPr id="858" name="Google Shape;858;p57"/>
          <p:cNvCxnSpPr/>
          <p:nvPr/>
        </p:nvCxnSpPr>
        <p:spPr>
          <a:xfrm flipH="1">
            <a:off x="3352800" y="5154613"/>
            <a:ext cx="152400" cy="838200"/>
          </a:xfrm>
          <a:prstGeom prst="straightConnector1">
            <a:avLst/>
          </a:prstGeom>
          <a:noFill/>
          <a:ln cap="flat" cmpd="sng" w="25400">
            <a:solidFill>
              <a:schemeClr val="dk1"/>
            </a:solidFill>
            <a:prstDash val="solid"/>
            <a:round/>
            <a:headEnd len="med" w="med" type="none"/>
            <a:tailEnd len="med" w="med" type="triangle"/>
          </a:ln>
        </p:spPr>
      </p:cxnSp>
      <p:cxnSp>
        <p:nvCxnSpPr>
          <p:cNvPr id="859" name="Google Shape;859;p57"/>
          <p:cNvCxnSpPr/>
          <p:nvPr/>
        </p:nvCxnSpPr>
        <p:spPr>
          <a:xfrm>
            <a:off x="3810000" y="5154613"/>
            <a:ext cx="76200" cy="838200"/>
          </a:xfrm>
          <a:prstGeom prst="straightConnector1">
            <a:avLst/>
          </a:prstGeom>
          <a:noFill/>
          <a:ln cap="flat" cmpd="sng" w="25400">
            <a:solidFill>
              <a:schemeClr val="dk1"/>
            </a:solidFill>
            <a:prstDash val="solid"/>
            <a:round/>
            <a:headEnd len="med" w="med" type="none"/>
            <a:tailEnd len="med" w="med" type="triangle"/>
          </a:ln>
        </p:spPr>
      </p:cxnSp>
      <p:cxnSp>
        <p:nvCxnSpPr>
          <p:cNvPr id="860" name="Google Shape;860;p57"/>
          <p:cNvCxnSpPr/>
          <p:nvPr/>
        </p:nvCxnSpPr>
        <p:spPr>
          <a:xfrm>
            <a:off x="4191000" y="5154613"/>
            <a:ext cx="228600" cy="838200"/>
          </a:xfrm>
          <a:prstGeom prst="straightConnector1">
            <a:avLst/>
          </a:prstGeom>
          <a:noFill/>
          <a:ln cap="flat" cmpd="sng" w="25400">
            <a:solidFill>
              <a:schemeClr val="dk1"/>
            </a:solidFill>
            <a:prstDash val="solid"/>
            <a:round/>
            <a:headEnd len="med" w="med" type="none"/>
            <a:tailEnd len="med" w="med" type="triangle"/>
          </a:ln>
        </p:spPr>
      </p:cxnSp>
      <p:cxnSp>
        <p:nvCxnSpPr>
          <p:cNvPr id="861" name="Google Shape;861;p57"/>
          <p:cNvCxnSpPr/>
          <p:nvPr/>
        </p:nvCxnSpPr>
        <p:spPr>
          <a:xfrm flipH="1">
            <a:off x="5029200" y="5154613"/>
            <a:ext cx="304800" cy="838200"/>
          </a:xfrm>
          <a:prstGeom prst="straightConnector1">
            <a:avLst/>
          </a:prstGeom>
          <a:noFill/>
          <a:ln cap="flat" cmpd="sng" w="25400">
            <a:solidFill>
              <a:schemeClr val="dk1"/>
            </a:solidFill>
            <a:prstDash val="solid"/>
            <a:round/>
            <a:headEnd len="med" w="med" type="none"/>
            <a:tailEnd len="med" w="med" type="triangle"/>
          </a:ln>
        </p:spPr>
      </p:cxnSp>
      <p:cxnSp>
        <p:nvCxnSpPr>
          <p:cNvPr id="862" name="Google Shape;862;p57"/>
          <p:cNvCxnSpPr/>
          <p:nvPr/>
        </p:nvCxnSpPr>
        <p:spPr>
          <a:xfrm>
            <a:off x="5638799" y="5154613"/>
            <a:ext cx="152399" cy="838200"/>
          </a:xfrm>
          <a:prstGeom prst="straightConnector1">
            <a:avLst/>
          </a:prstGeom>
          <a:noFill/>
          <a:ln cap="flat" cmpd="sng" w="25400">
            <a:solidFill>
              <a:schemeClr val="dk1"/>
            </a:solidFill>
            <a:prstDash val="solid"/>
            <a:round/>
            <a:headEnd len="med" w="med" type="none"/>
            <a:tailEnd len="med" w="med" type="triangle"/>
          </a:ln>
        </p:spPr>
      </p:cxnSp>
      <p:cxnSp>
        <p:nvCxnSpPr>
          <p:cNvPr id="863" name="Google Shape;863;p57"/>
          <p:cNvCxnSpPr/>
          <p:nvPr/>
        </p:nvCxnSpPr>
        <p:spPr>
          <a:xfrm>
            <a:off x="5943600" y="5154613"/>
            <a:ext cx="152400" cy="838200"/>
          </a:xfrm>
          <a:prstGeom prst="straightConnector1">
            <a:avLst/>
          </a:prstGeom>
          <a:noFill/>
          <a:ln cap="flat" cmpd="sng" w="25400">
            <a:solidFill>
              <a:schemeClr val="dk1"/>
            </a:solidFill>
            <a:prstDash val="solid"/>
            <a:round/>
            <a:headEnd len="med" w="med" type="none"/>
            <a:tailEnd len="med" w="med" type="triangle"/>
          </a:ln>
        </p:spPr>
      </p:cxnSp>
      <p:cxnSp>
        <p:nvCxnSpPr>
          <p:cNvPr id="864" name="Google Shape;864;p57"/>
          <p:cNvCxnSpPr/>
          <p:nvPr/>
        </p:nvCxnSpPr>
        <p:spPr>
          <a:xfrm>
            <a:off x="6324600" y="5154613"/>
            <a:ext cx="304800" cy="838200"/>
          </a:xfrm>
          <a:prstGeom prst="straightConnector1">
            <a:avLst/>
          </a:prstGeom>
          <a:noFill/>
          <a:ln cap="flat" cmpd="sng" w="25400">
            <a:solidFill>
              <a:schemeClr val="dk1"/>
            </a:solidFill>
            <a:prstDash val="solid"/>
            <a:round/>
            <a:headEnd len="med" w="med" type="none"/>
            <a:tailEnd len="med" w="med" type="triangle"/>
          </a:ln>
        </p:spPr>
      </p:cxnSp>
      <p:cxnSp>
        <p:nvCxnSpPr>
          <p:cNvPr id="865" name="Google Shape;865;p57"/>
          <p:cNvCxnSpPr/>
          <p:nvPr/>
        </p:nvCxnSpPr>
        <p:spPr>
          <a:xfrm>
            <a:off x="7086600" y="5154613"/>
            <a:ext cx="0" cy="838200"/>
          </a:xfrm>
          <a:prstGeom prst="straightConnector1">
            <a:avLst/>
          </a:prstGeom>
          <a:noFill/>
          <a:ln cap="flat" cmpd="sng" w="25400">
            <a:solidFill>
              <a:schemeClr val="dk1"/>
            </a:solidFill>
            <a:prstDash val="solid"/>
            <a:round/>
            <a:headEnd len="med" w="med" type="none"/>
            <a:tailEnd len="med" w="med" type="triangle"/>
          </a:ln>
        </p:spPr>
      </p:cxnSp>
      <p:cxnSp>
        <p:nvCxnSpPr>
          <p:cNvPr id="866" name="Google Shape;866;p57"/>
          <p:cNvCxnSpPr/>
          <p:nvPr/>
        </p:nvCxnSpPr>
        <p:spPr>
          <a:xfrm>
            <a:off x="7315200" y="5078413"/>
            <a:ext cx="228600" cy="914400"/>
          </a:xfrm>
          <a:prstGeom prst="straightConnector1">
            <a:avLst/>
          </a:prstGeom>
          <a:noFill/>
          <a:ln cap="flat" cmpd="sng" w="25400">
            <a:solidFill>
              <a:schemeClr val="dk1"/>
            </a:solidFill>
            <a:prstDash val="solid"/>
            <a:round/>
            <a:headEnd len="med" w="med" type="none"/>
            <a:tailEnd len="med" w="med" type="triangle"/>
          </a:ln>
        </p:spPr>
      </p:cxnSp>
      <p:cxnSp>
        <p:nvCxnSpPr>
          <p:cNvPr id="867" name="Google Shape;867;p57"/>
          <p:cNvCxnSpPr/>
          <p:nvPr/>
        </p:nvCxnSpPr>
        <p:spPr>
          <a:xfrm flipH="1">
            <a:off x="8001000" y="5154613"/>
            <a:ext cx="838200" cy="838200"/>
          </a:xfrm>
          <a:prstGeom prst="straightConnector1">
            <a:avLst/>
          </a:prstGeom>
          <a:noFill/>
          <a:ln cap="flat" cmpd="sng" w="25400">
            <a:solidFill>
              <a:schemeClr val="dk1"/>
            </a:solidFill>
            <a:prstDash val="solid"/>
            <a:round/>
            <a:headEnd len="med" w="med" type="none"/>
            <a:tailEnd len="med" w="med" type="triangle"/>
          </a:ln>
        </p:spPr>
      </p:cxnSp>
      <p:cxnSp>
        <p:nvCxnSpPr>
          <p:cNvPr id="868" name="Google Shape;868;p57"/>
          <p:cNvCxnSpPr/>
          <p:nvPr/>
        </p:nvCxnSpPr>
        <p:spPr>
          <a:xfrm flipH="1">
            <a:off x="8534400" y="5154613"/>
            <a:ext cx="609600" cy="838200"/>
          </a:xfrm>
          <a:prstGeom prst="straightConnector1">
            <a:avLst/>
          </a:prstGeom>
          <a:noFill/>
          <a:ln cap="flat" cmpd="sng" w="25400">
            <a:solidFill>
              <a:schemeClr val="dk1"/>
            </a:solidFill>
            <a:prstDash val="solid"/>
            <a:round/>
            <a:headEnd len="med" w="med" type="none"/>
            <a:tailEnd len="med" w="med" type="triangle"/>
          </a:ln>
        </p:spPr>
      </p:cxnSp>
      <p:cxnSp>
        <p:nvCxnSpPr>
          <p:cNvPr id="869" name="Google Shape;869;p57"/>
          <p:cNvCxnSpPr/>
          <p:nvPr/>
        </p:nvCxnSpPr>
        <p:spPr>
          <a:xfrm flipH="1">
            <a:off x="9067800" y="5154613"/>
            <a:ext cx="457200" cy="838200"/>
          </a:xfrm>
          <a:prstGeom prst="straightConnector1">
            <a:avLst/>
          </a:prstGeom>
          <a:noFill/>
          <a:ln cap="flat" cmpd="sng" w="25400">
            <a:solidFill>
              <a:schemeClr val="dk1"/>
            </a:solidFill>
            <a:prstDash val="solid"/>
            <a:round/>
            <a:headEnd len="med" w="med" type="none"/>
            <a:tailEnd len="med" w="med" type="triangle"/>
          </a:ln>
        </p:spPr>
      </p:cxnSp>
      <p:cxnSp>
        <p:nvCxnSpPr>
          <p:cNvPr id="870" name="Google Shape;870;p57"/>
          <p:cNvCxnSpPr/>
          <p:nvPr/>
        </p:nvCxnSpPr>
        <p:spPr>
          <a:xfrm>
            <a:off x="10210800" y="5154613"/>
            <a:ext cx="304800" cy="0"/>
          </a:xfrm>
          <a:prstGeom prst="straightConnector1">
            <a:avLst/>
          </a:prstGeom>
          <a:noFill/>
          <a:ln cap="flat" cmpd="sng" w="25400">
            <a:solidFill>
              <a:schemeClr val="accent2"/>
            </a:solidFill>
            <a:prstDash val="solid"/>
            <a:round/>
            <a:headEnd len="med" w="med" type="none"/>
            <a:tailEnd len="med" w="med" type="triangle"/>
          </a:ln>
        </p:spPr>
      </p:cxnSp>
      <p:sp>
        <p:nvSpPr>
          <p:cNvPr id="871" name="Google Shape;871;p57"/>
          <p:cNvSpPr txBox="1"/>
          <p:nvPr/>
        </p:nvSpPr>
        <p:spPr>
          <a:xfrm>
            <a:off x="9067800" y="1302051"/>
            <a:ext cx="1417983" cy="523220"/>
          </a:xfrm>
          <a:prstGeom prst="rect">
            <a:avLst/>
          </a:prstGeom>
          <a:solidFill>
            <a:srgbClr val="FBE4D4"/>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alibri"/>
                <a:ea typeface="Calibri"/>
                <a:cs typeface="Calibri"/>
                <a:sym typeface="Calibri"/>
              </a:rPr>
              <a:t>K = 30? </a:t>
            </a:r>
            <a:endParaRPr/>
          </a:p>
        </p:txBody>
      </p:sp>
      <p:sp>
        <p:nvSpPr>
          <p:cNvPr id="872" name="Google Shape;872;p57"/>
          <p:cNvSpPr/>
          <p:nvPr/>
        </p:nvSpPr>
        <p:spPr>
          <a:xfrm>
            <a:off x="6096000" y="1690688"/>
            <a:ext cx="533400" cy="533400"/>
          </a:xfrm>
          <a:prstGeom prst="smileyFace">
            <a:avLst>
              <a:gd fmla="val 4653"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73" name="Google Shape;873;p57"/>
          <p:cNvSpPr txBox="1"/>
          <p:nvPr/>
        </p:nvSpPr>
        <p:spPr>
          <a:xfrm>
            <a:off x="491157" y="2081086"/>
            <a:ext cx="1441589" cy="553998"/>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3000">
                <a:solidFill>
                  <a:schemeClr val="dk1"/>
                </a:solidFill>
                <a:latin typeface="Calibri"/>
                <a:ea typeface="Calibri"/>
                <a:cs typeface="Calibri"/>
                <a:sym typeface="Calibri"/>
              </a:rPr>
              <a:t>30 &lt; 80</a:t>
            </a:r>
            <a:endParaRPr sz="3000">
              <a:solidFill>
                <a:schemeClr val="dk1"/>
              </a:solidFill>
              <a:latin typeface="Calibri"/>
              <a:ea typeface="Calibri"/>
              <a:cs typeface="Calibri"/>
              <a:sym typeface="Calibri"/>
            </a:endParaRPr>
          </a:p>
        </p:txBody>
      </p:sp>
      <p:sp>
        <p:nvSpPr>
          <p:cNvPr id="874" name="Google Shape;874;p57"/>
          <p:cNvSpPr txBox="1"/>
          <p:nvPr/>
        </p:nvSpPr>
        <p:spPr>
          <a:xfrm>
            <a:off x="491157" y="3025482"/>
            <a:ext cx="2362200" cy="553998"/>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3000">
                <a:solidFill>
                  <a:schemeClr val="dk1"/>
                </a:solidFill>
                <a:latin typeface="Calibri"/>
                <a:ea typeface="Calibri"/>
                <a:cs typeface="Calibri"/>
                <a:sym typeface="Calibri"/>
              </a:rPr>
              <a:t>30 in [20,60)</a:t>
            </a:r>
            <a:endParaRPr/>
          </a:p>
        </p:txBody>
      </p:sp>
      <p:sp>
        <p:nvSpPr>
          <p:cNvPr id="875" name="Google Shape;875;p57"/>
          <p:cNvSpPr txBox="1"/>
          <p:nvPr/>
        </p:nvSpPr>
        <p:spPr>
          <a:xfrm>
            <a:off x="491157" y="5899152"/>
            <a:ext cx="2065683" cy="553998"/>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3000">
                <a:solidFill>
                  <a:schemeClr val="dk1"/>
                </a:solidFill>
                <a:latin typeface="Calibri"/>
                <a:ea typeface="Calibri"/>
                <a:cs typeface="Calibri"/>
                <a:sym typeface="Calibri"/>
              </a:rPr>
              <a:t>To the data!</a:t>
            </a:r>
            <a:endParaRPr/>
          </a:p>
        </p:txBody>
      </p:sp>
      <p:sp>
        <p:nvSpPr>
          <p:cNvPr id="876" name="Google Shape;876;p57"/>
          <p:cNvSpPr txBox="1"/>
          <p:nvPr/>
        </p:nvSpPr>
        <p:spPr>
          <a:xfrm>
            <a:off x="9639300" y="5664705"/>
            <a:ext cx="223971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Calibri"/>
                <a:ea typeface="Calibri"/>
                <a:cs typeface="Calibri"/>
                <a:sym typeface="Calibri"/>
              </a:rPr>
              <a:t>Not all nodes pictured</a:t>
            </a:r>
            <a:endParaRPr/>
          </a:p>
        </p:txBody>
      </p:sp>
      <p:sp>
        <p:nvSpPr>
          <p:cNvPr id="877" name="Google Shape;877;p57"/>
          <p:cNvSpPr txBox="1"/>
          <p:nvPr/>
        </p:nvSpPr>
        <p:spPr>
          <a:xfrm>
            <a:off x="491157" y="4441224"/>
            <a:ext cx="2362200" cy="553998"/>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3000">
                <a:solidFill>
                  <a:schemeClr val="dk1"/>
                </a:solidFill>
                <a:latin typeface="Calibri"/>
                <a:ea typeface="Calibri"/>
                <a:cs typeface="Calibri"/>
                <a:sym typeface="Calibri"/>
              </a:rPr>
              <a:t>30 in [30,40)</a:t>
            </a:r>
            <a:endParaRPr/>
          </a:p>
        </p:txBody>
      </p:sp>
      <p:grpSp>
        <p:nvGrpSpPr>
          <p:cNvPr id="878" name="Google Shape;878;p57"/>
          <p:cNvGrpSpPr/>
          <p:nvPr/>
        </p:nvGrpSpPr>
        <p:grpSpPr>
          <a:xfrm>
            <a:off x="0" y="-22510"/>
            <a:ext cx="12192000" cy="307777"/>
            <a:chOff x="0" y="-22510"/>
            <a:chExt cx="12192000" cy="307777"/>
          </a:xfrm>
        </p:grpSpPr>
        <p:sp>
          <p:nvSpPr>
            <p:cNvPr id="879" name="Google Shape;879;p57"/>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880" name="Google Shape;880;p57"/>
            <p:cNvSpPr txBox="1"/>
            <p:nvPr/>
          </p:nvSpPr>
          <p:spPr>
            <a:xfrm>
              <a:off x="188780" y="-22510"/>
              <a:ext cx="328731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Section 2  B+ Tree design &amp; cost</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 Tree Range Search Animation</a:t>
            </a:r>
            <a:endParaRPr/>
          </a:p>
        </p:txBody>
      </p:sp>
      <p:graphicFrame>
        <p:nvGraphicFramePr>
          <p:cNvPr id="886" name="Google Shape;886;p58"/>
          <p:cNvGraphicFramePr/>
          <p:nvPr/>
        </p:nvGraphicFramePr>
        <p:xfrm>
          <a:off x="6096000" y="2259013"/>
          <a:ext cx="3000000" cy="3000000"/>
        </p:xfrm>
        <a:graphic>
          <a:graphicData uri="http://schemas.openxmlformats.org/drawingml/2006/table">
            <a:tbl>
              <a:tblPr>
                <a:noFill/>
                <a:tableStyleId>{FF1A8D6A-5F5D-4DE5-8CDF-4A8D1DE8ED13}</a:tableStyleId>
              </a:tblPr>
              <a:tblGrid>
                <a:gridCol w="298450"/>
                <a:gridCol w="246075"/>
                <a:gridCol w="249225"/>
                <a:gridCol w="247650"/>
                <a:gridCol w="298450"/>
                <a:gridCol w="249250"/>
                <a:gridCol w="246050"/>
                <a:gridCol w="298450"/>
              </a:tblGrid>
              <a:tr h="342900">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0" i="0" lang="en-US" sz="1400" u="none" cap="none" strike="noStrike">
                          <a:solidFill>
                            <a:schemeClr val="dk1"/>
                          </a:solidFill>
                          <a:latin typeface="Book Antiqua"/>
                          <a:ea typeface="Book Antiqua"/>
                          <a:cs typeface="Book Antiqua"/>
                          <a:sym typeface="Book Antiqua"/>
                        </a:rPr>
                        <a:t>80</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42900">
                <a:tc>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887" name="Google Shape;887;p58"/>
          <p:cNvGraphicFramePr/>
          <p:nvPr/>
        </p:nvGraphicFramePr>
        <p:xfrm>
          <a:off x="4267200" y="3173413"/>
          <a:ext cx="3000000" cy="3000000"/>
        </p:xfrm>
        <a:graphic>
          <a:graphicData uri="http://schemas.openxmlformats.org/drawingml/2006/table">
            <a:tbl>
              <a:tblPr>
                <a:noFill/>
                <a:tableStyleId>{FF1A8D6A-5F5D-4DE5-8CDF-4A8D1DE8ED13}</a:tableStyleId>
              </a:tblPr>
              <a:tblGrid>
                <a:gridCol w="298450"/>
                <a:gridCol w="246075"/>
                <a:gridCol w="249225"/>
                <a:gridCol w="247650"/>
                <a:gridCol w="298450"/>
                <a:gridCol w="249250"/>
                <a:gridCol w="246050"/>
                <a:gridCol w="298450"/>
              </a:tblGrid>
              <a:tr h="342900">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0" i="0" lang="en-US" sz="1400" u="none" cap="none" strike="noStrike">
                          <a:solidFill>
                            <a:schemeClr val="dk1"/>
                          </a:solidFill>
                          <a:latin typeface="Book Antiqua"/>
                          <a:ea typeface="Book Antiqua"/>
                          <a:cs typeface="Book Antiqua"/>
                          <a:sym typeface="Book Antiqua"/>
                        </a:rPr>
                        <a:t>20</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0" i="0" lang="en-US" sz="1400" u="none" cap="none" strike="noStrike">
                          <a:solidFill>
                            <a:schemeClr val="dk1"/>
                          </a:solidFill>
                          <a:latin typeface="Book Antiqua"/>
                          <a:ea typeface="Book Antiqua"/>
                          <a:cs typeface="Book Antiqua"/>
                          <a:sym typeface="Book Antiqua"/>
                        </a:rPr>
                        <a:t>60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42900">
                <a:tc>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888" name="Google Shape;888;p58"/>
          <p:cNvGraphicFramePr/>
          <p:nvPr/>
        </p:nvGraphicFramePr>
        <p:xfrm>
          <a:off x="7696200" y="3173413"/>
          <a:ext cx="3000000" cy="3000000"/>
        </p:xfrm>
        <a:graphic>
          <a:graphicData uri="http://schemas.openxmlformats.org/drawingml/2006/table">
            <a:tbl>
              <a:tblPr>
                <a:noFill/>
                <a:tableStyleId>{FF1A8D6A-5F5D-4DE5-8CDF-4A8D1DE8ED13}</a:tableStyleId>
              </a:tblPr>
              <a:tblGrid>
                <a:gridCol w="298450"/>
                <a:gridCol w="246075"/>
                <a:gridCol w="249225"/>
                <a:gridCol w="247650"/>
                <a:gridCol w="298450"/>
                <a:gridCol w="249250"/>
                <a:gridCol w="246050"/>
                <a:gridCol w="298450"/>
              </a:tblGrid>
              <a:tr h="342900">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0" i="0" lang="en-US" sz="1400" u="none" cap="none" strike="noStrike">
                          <a:solidFill>
                            <a:schemeClr val="dk1"/>
                          </a:solidFill>
                          <a:latin typeface="Book Antiqua"/>
                          <a:ea typeface="Book Antiqua"/>
                          <a:cs typeface="Book Antiqua"/>
                          <a:sym typeface="Book Antiqua"/>
                        </a:rPr>
                        <a:t>100</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0" i="0" lang="en-US" sz="1400" u="none" cap="none" strike="noStrike">
                          <a:solidFill>
                            <a:schemeClr val="dk1"/>
                          </a:solidFill>
                          <a:latin typeface="Book Antiqua"/>
                          <a:ea typeface="Book Antiqua"/>
                          <a:cs typeface="Book Antiqua"/>
                          <a:sym typeface="Book Antiqua"/>
                        </a:rPr>
                        <a:t>120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0" i="0" lang="en-US" sz="1400" u="none" cap="none" strike="noStrike">
                          <a:solidFill>
                            <a:schemeClr val="dk1"/>
                          </a:solidFill>
                          <a:latin typeface="Book Antiqua"/>
                          <a:ea typeface="Book Antiqua"/>
                          <a:cs typeface="Book Antiqua"/>
                          <a:sym typeface="Book Antiqua"/>
                        </a:rPr>
                        <a:t>140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42900">
                <a:tc>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889" name="Google Shape;889;p58"/>
          <p:cNvGraphicFramePr/>
          <p:nvPr/>
        </p:nvGraphicFramePr>
        <p:xfrm>
          <a:off x="3352800" y="4621213"/>
          <a:ext cx="3000000" cy="3000000"/>
        </p:xfrm>
        <a:graphic>
          <a:graphicData uri="http://schemas.openxmlformats.org/drawingml/2006/table">
            <a:tbl>
              <a:tblPr>
                <a:noFill/>
                <a:tableStyleId>{FF1A8D6A-5F5D-4DE5-8CDF-4A8D1DE8ED13}</a:tableStyleId>
              </a:tblPr>
              <a:tblGrid>
                <a:gridCol w="223850"/>
                <a:gridCol w="185725"/>
                <a:gridCol w="185750"/>
                <a:gridCol w="185725"/>
                <a:gridCol w="223850"/>
                <a:gridCol w="185725"/>
                <a:gridCol w="185750"/>
                <a:gridCol w="223825"/>
              </a:tblGrid>
              <a:tr h="342900">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10</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15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18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42900">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EAF6"/>
                    </a:solidFill>
                  </a:tcPr>
                </a:tc>
              </a:tr>
            </a:tbl>
          </a:graphicData>
        </a:graphic>
      </p:graphicFrame>
      <p:graphicFrame>
        <p:nvGraphicFramePr>
          <p:cNvPr id="890" name="Google Shape;890;p58"/>
          <p:cNvGraphicFramePr/>
          <p:nvPr/>
        </p:nvGraphicFramePr>
        <p:xfrm>
          <a:off x="5181600" y="4621213"/>
          <a:ext cx="3000000" cy="3000000"/>
        </p:xfrm>
        <a:graphic>
          <a:graphicData uri="http://schemas.openxmlformats.org/drawingml/2006/table">
            <a:tbl>
              <a:tblPr>
                <a:noFill/>
                <a:tableStyleId>{FF1A8D6A-5F5D-4DE5-8CDF-4A8D1DE8ED13}</a:tableStyleId>
              </a:tblPr>
              <a:tblGrid>
                <a:gridCol w="223850"/>
                <a:gridCol w="185725"/>
                <a:gridCol w="185750"/>
                <a:gridCol w="185725"/>
                <a:gridCol w="223850"/>
                <a:gridCol w="185725"/>
                <a:gridCol w="185750"/>
                <a:gridCol w="223825"/>
              </a:tblGrid>
              <a:tr h="342900">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20</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30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40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50</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42900">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EAF6"/>
                    </a:solidFill>
                  </a:tcPr>
                </a:tc>
              </a:tr>
            </a:tbl>
          </a:graphicData>
        </a:graphic>
      </p:graphicFrame>
      <p:graphicFrame>
        <p:nvGraphicFramePr>
          <p:cNvPr id="891" name="Google Shape;891;p58"/>
          <p:cNvGraphicFramePr/>
          <p:nvPr/>
        </p:nvGraphicFramePr>
        <p:xfrm>
          <a:off x="6934200" y="4621213"/>
          <a:ext cx="3000000" cy="3000000"/>
        </p:xfrm>
        <a:graphic>
          <a:graphicData uri="http://schemas.openxmlformats.org/drawingml/2006/table">
            <a:tbl>
              <a:tblPr>
                <a:noFill/>
                <a:tableStyleId>{FF1A8D6A-5F5D-4DE5-8CDF-4A8D1DE8ED13}</a:tableStyleId>
              </a:tblPr>
              <a:tblGrid>
                <a:gridCol w="223850"/>
                <a:gridCol w="185725"/>
                <a:gridCol w="185750"/>
                <a:gridCol w="185725"/>
                <a:gridCol w="223850"/>
                <a:gridCol w="185725"/>
                <a:gridCol w="185750"/>
                <a:gridCol w="223825"/>
              </a:tblGrid>
              <a:tr h="342900">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60</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65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42900">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EAF6"/>
                    </a:solidFill>
                  </a:tcPr>
                </a:tc>
              </a:tr>
            </a:tbl>
          </a:graphicData>
        </a:graphic>
      </p:graphicFrame>
      <p:graphicFrame>
        <p:nvGraphicFramePr>
          <p:cNvPr id="892" name="Google Shape;892;p58"/>
          <p:cNvGraphicFramePr/>
          <p:nvPr/>
        </p:nvGraphicFramePr>
        <p:xfrm>
          <a:off x="8686800" y="4621213"/>
          <a:ext cx="3000000" cy="3000000"/>
        </p:xfrm>
        <a:graphic>
          <a:graphicData uri="http://schemas.openxmlformats.org/drawingml/2006/table">
            <a:tbl>
              <a:tblPr>
                <a:noFill/>
                <a:tableStyleId>{FF1A8D6A-5F5D-4DE5-8CDF-4A8D1DE8ED13}</a:tableStyleId>
              </a:tblPr>
              <a:tblGrid>
                <a:gridCol w="223850"/>
                <a:gridCol w="185725"/>
                <a:gridCol w="185750"/>
                <a:gridCol w="185725"/>
                <a:gridCol w="223850"/>
                <a:gridCol w="185725"/>
                <a:gridCol w="185750"/>
                <a:gridCol w="223825"/>
              </a:tblGrid>
              <a:tr h="342900">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80</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85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90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42900">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EAF6"/>
                    </a:solidFill>
                  </a:tcPr>
                </a:tc>
              </a:tr>
            </a:tbl>
          </a:graphicData>
        </a:graphic>
      </p:graphicFrame>
      <p:cxnSp>
        <p:nvCxnSpPr>
          <p:cNvPr id="893" name="Google Shape;893;p58"/>
          <p:cNvCxnSpPr/>
          <p:nvPr/>
        </p:nvCxnSpPr>
        <p:spPr>
          <a:xfrm flipH="1">
            <a:off x="4267200" y="2792413"/>
            <a:ext cx="1981200" cy="381000"/>
          </a:xfrm>
          <a:prstGeom prst="straightConnector1">
            <a:avLst/>
          </a:prstGeom>
          <a:noFill/>
          <a:ln cap="flat" cmpd="sng" w="25400">
            <a:solidFill>
              <a:schemeClr val="dk1"/>
            </a:solidFill>
            <a:prstDash val="solid"/>
            <a:round/>
            <a:headEnd len="med" w="med" type="none"/>
            <a:tailEnd len="med" w="med" type="triangle"/>
          </a:ln>
        </p:spPr>
      </p:cxnSp>
      <p:cxnSp>
        <p:nvCxnSpPr>
          <p:cNvPr id="894" name="Google Shape;894;p58"/>
          <p:cNvCxnSpPr/>
          <p:nvPr/>
        </p:nvCxnSpPr>
        <p:spPr>
          <a:xfrm>
            <a:off x="6629400" y="2792413"/>
            <a:ext cx="1066800" cy="381000"/>
          </a:xfrm>
          <a:prstGeom prst="straightConnector1">
            <a:avLst/>
          </a:prstGeom>
          <a:noFill/>
          <a:ln cap="flat" cmpd="sng" w="25400">
            <a:solidFill>
              <a:schemeClr val="dk1"/>
            </a:solidFill>
            <a:prstDash val="solid"/>
            <a:round/>
            <a:headEnd len="med" w="med" type="none"/>
            <a:tailEnd len="med" w="med" type="triangle"/>
          </a:ln>
        </p:spPr>
      </p:cxnSp>
      <p:cxnSp>
        <p:nvCxnSpPr>
          <p:cNvPr id="895" name="Google Shape;895;p58"/>
          <p:cNvCxnSpPr/>
          <p:nvPr/>
        </p:nvCxnSpPr>
        <p:spPr>
          <a:xfrm flipH="1">
            <a:off x="3352800" y="3706813"/>
            <a:ext cx="1066800" cy="914400"/>
          </a:xfrm>
          <a:prstGeom prst="straightConnector1">
            <a:avLst/>
          </a:prstGeom>
          <a:noFill/>
          <a:ln cap="flat" cmpd="sng" w="25400">
            <a:solidFill>
              <a:schemeClr val="dk1"/>
            </a:solidFill>
            <a:prstDash val="solid"/>
            <a:round/>
            <a:headEnd len="med" w="med" type="none"/>
            <a:tailEnd len="med" w="med" type="triangle"/>
          </a:ln>
        </p:spPr>
      </p:cxnSp>
      <p:cxnSp>
        <p:nvCxnSpPr>
          <p:cNvPr id="896" name="Google Shape;896;p58"/>
          <p:cNvCxnSpPr/>
          <p:nvPr/>
        </p:nvCxnSpPr>
        <p:spPr>
          <a:xfrm>
            <a:off x="4800600" y="3706813"/>
            <a:ext cx="381000" cy="914400"/>
          </a:xfrm>
          <a:prstGeom prst="straightConnector1">
            <a:avLst/>
          </a:prstGeom>
          <a:noFill/>
          <a:ln cap="flat" cmpd="sng" w="25400">
            <a:solidFill>
              <a:schemeClr val="dk1"/>
            </a:solidFill>
            <a:prstDash val="solid"/>
            <a:round/>
            <a:headEnd len="med" w="med" type="none"/>
            <a:tailEnd len="med" w="med" type="triangle"/>
          </a:ln>
        </p:spPr>
      </p:cxnSp>
      <p:cxnSp>
        <p:nvCxnSpPr>
          <p:cNvPr id="897" name="Google Shape;897;p58"/>
          <p:cNvCxnSpPr/>
          <p:nvPr/>
        </p:nvCxnSpPr>
        <p:spPr>
          <a:xfrm>
            <a:off x="5257800" y="3706813"/>
            <a:ext cx="1676400" cy="914400"/>
          </a:xfrm>
          <a:prstGeom prst="straightConnector1">
            <a:avLst/>
          </a:prstGeom>
          <a:noFill/>
          <a:ln cap="flat" cmpd="sng" w="25400">
            <a:solidFill>
              <a:schemeClr val="dk1"/>
            </a:solidFill>
            <a:prstDash val="solid"/>
            <a:round/>
            <a:headEnd len="med" w="med" type="none"/>
            <a:tailEnd len="med" w="med" type="triangle"/>
          </a:ln>
        </p:spPr>
      </p:cxnSp>
      <p:cxnSp>
        <p:nvCxnSpPr>
          <p:cNvPr id="898" name="Google Shape;898;p58"/>
          <p:cNvCxnSpPr/>
          <p:nvPr/>
        </p:nvCxnSpPr>
        <p:spPr>
          <a:xfrm>
            <a:off x="7848600" y="3706813"/>
            <a:ext cx="838200" cy="914400"/>
          </a:xfrm>
          <a:prstGeom prst="straightConnector1">
            <a:avLst/>
          </a:prstGeom>
          <a:noFill/>
          <a:ln cap="flat" cmpd="sng" w="25400">
            <a:solidFill>
              <a:schemeClr val="dk1"/>
            </a:solidFill>
            <a:prstDash val="solid"/>
            <a:round/>
            <a:headEnd len="med" w="med" type="none"/>
            <a:tailEnd len="med" w="med" type="triangle"/>
          </a:ln>
        </p:spPr>
      </p:cxnSp>
      <p:cxnSp>
        <p:nvCxnSpPr>
          <p:cNvPr id="899" name="Google Shape;899;p58"/>
          <p:cNvCxnSpPr/>
          <p:nvPr/>
        </p:nvCxnSpPr>
        <p:spPr>
          <a:xfrm>
            <a:off x="4876800" y="5154613"/>
            <a:ext cx="304800" cy="0"/>
          </a:xfrm>
          <a:prstGeom prst="straightConnector1">
            <a:avLst/>
          </a:prstGeom>
          <a:noFill/>
          <a:ln cap="flat" cmpd="sng" w="25400">
            <a:solidFill>
              <a:schemeClr val="accent2"/>
            </a:solidFill>
            <a:prstDash val="solid"/>
            <a:round/>
            <a:headEnd len="med" w="med" type="none"/>
            <a:tailEnd len="med" w="med" type="triangle"/>
          </a:ln>
        </p:spPr>
      </p:cxnSp>
      <p:cxnSp>
        <p:nvCxnSpPr>
          <p:cNvPr id="900" name="Google Shape;900;p58"/>
          <p:cNvCxnSpPr/>
          <p:nvPr/>
        </p:nvCxnSpPr>
        <p:spPr>
          <a:xfrm>
            <a:off x="6629400" y="5154613"/>
            <a:ext cx="304800" cy="0"/>
          </a:xfrm>
          <a:prstGeom prst="straightConnector1">
            <a:avLst/>
          </a:prstGeom>
          <a:noFill/>
          <a:ln cap="flat" cmpd="sng" w="25400">
            <a:solidFill>
              <a:schemeClr val="accent2"/>
            </a:solidFill>
            <a:prstDash val="solid"/>
            <a:round/>
            <a:headEnd len="med" w="med" type="none"/>
            <a:tailEnd len="med" w="med" type="triangle"/>
          </a:ln>
        </p:spPr>
      </p:cxnSp>
      <p:cxnSp>
        <p:nvCxnSpPr>
          <p:cNvPr id="901" name="Google Shape;901;p58"/>
          <p:cNvCxnSpPr/>
          <p:nvPr/>
        </p:nvCxnSpPr>
        <p:spPr>
          <a:xfrm>
            <a:off x="8458200" y="5154613"/>
            <a:ext cx="228600" cy="0"/>
          </a:xfrm>
          <a:prstGeom prst="straightConnector1">
            <a:avLst/>
          </a:prstGeom>
          <a:noFill/>
          <a:ln cap="flat" cmpd="sng" w="25400">
            <a:solidFill>
              <a:schemeClr val="accent2"/>
            </a:solidFill>
            <a:prstDash val="solid"/>
            <a:round/>
            <a:headEnd len="med" w="med" type="none"/>
            <a:tailEnd len="med" w="med" type="triangle"/>
          </a:ln>
        </p:spPr>
      </p:cxnSp>
      <p:sp>
        <p:nvSpPr>
          <p:cNvPr id="902" name="Google Shape;902;p58"/>
          <p:cNvSpPr/>
          <p:nvPr/>
        </p:nvSpPr>
        <p:spPr>
          <a:xfrm>
            <a:off x="3189198" y="5996088"/>
            <a:ext cx="367408" cy="307777"/>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10</a:t>
            </a:r>
            <a:endParaRPr/>
          </a:p>
        </p:txBody>
      </p:sp>
      <p:sp>
        <p:nvSpPr>
          <p:cNvPr id="903" name="Google Shape;903;p58"/>
          <p:cNvSpPr/>
          <p:nvPr/>
        </p:nvSpPr>
        <p:spPr>
          <a:xfrm>
            <a:off x="3888234" y="5996088"/>
            <a:ext cx="367408" cy="307777"/>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12</a:t>
            </a:r>
            <a:endParaRPr/>
          </a:p>
        </p:txBody>
      </p:sp>
      <p:sp>
        <p:nvSpPr>
          <p:cNvPr id="904" name="Google Shape;904;p58"/>
          <p:cNvSpPr/>
          <p:nvPr/>
        </p:nvSpPr>
        <p:spPr>
          <a:xfrm>
            <a:off x="4421634" y="5996088"/>
            <a:ext cx="367408" cy="307777"/>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15</a:t>
            </a:r>
            <a:endParaRPr/>
          </a:p>
        </p:txBody>
      </p:sp>
      <p:sp>
        <p:nvSpPr>
          <p:cNvPr id="905" name="Google Shape;905;p58"/>
          <p:cNvSpPr/>
          <p:nvPr/>
        </p:nvSpPr>
        <p:spPr>
          <a:xfrm>
            <a:off x="5031233" y="5996088"/>
            <a:ext cx="367408" cy="307777"/>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20</a:t>
            </a:r>
            <a:endParaRPr/>
          </a:p>
        </p:txBody>
      </p:sp>
      <p:sp>
        <p:nvSpPr>
          <p:cNvPr id="906" name="Google Shape;906;p58"/>
          <p:cNvSpPr/>
          <p:nvPr/>
        </p:nvSpPr>
        <p:spPr>
          <a:xfrm>
            <a:off x="5640834" y="5996088"/>
            <a:ext cx="367408" cy="307777"/>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28</a:t>
            </a:r>
            <a:endParaRPr/>
          </a:p>
        </p:txBody>
      </p:sp>
      <p:sp>
        <p:nvSpPr>
          <p:cNvPr id="907" name="Google Shape;907;p58"/>
          <p:cNvSpPr/>
          <p:nvPr/>
        </p:nvSpPr>
        <p:spPr>
          <a:xfrm>
            <a:off x="6098034" y="5996088"/>
            <a:ext cx="367408" cy="307777"/>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30</a:t>
            </a:r>
            <a:endParaRPr/>
          </a:p>
        </p:txBody>
      </p:sp>
      <p:sp>
        <p:nvSpPr>
          <p:cNvPr id="908" name="Google Shape;908;p58"/>
          <p:cNvSpPr/>
          <p:nvPr/>
        </p:nvSpPr>
        <p:spPr>
          <a:xfrm>
            <a:off x="6631434" y="5996088"/>
            <a:ext cx="367408" cy="307777"/>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40</a:t>
            </a:r>
            <a:endParaRPr/>
          </a:p>
        </p:txBody>
      </p:sp>
      <p:sp>
        <p:nvSpPr>
          <p:cNvPr id="909" name="Google Shape;909;p58"/>
          <p:cNvSpPr/>
          <p:nvPr/>
        </p:nvSpPr>
        <p:spPr>
          <a:xfrm>
            <a:off x="7088634" y="5996088"/>
            <a:ext cx="367408" cy="307777"/>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59</a:t>
            </a:r>
            <a:endParaRPr/>
          </a:p>
        </p:txBody>
      </p:sp>
      <p:sp>
        <p:nvSpPr>
          <p:cNvPr id="910" name="Google Shape;910;p58"/>
          <p:cNvSpPr/>
          <p:nvPr/>
        </p:nvSpPr>
        <p:spPr>
          <a:xfrm>
            <a:off x="7545834" y="5996088"/>
            <a:ext cx="367408" cy="307777"/>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63</a:t>
            </a:r>
            <a:endParaRPr/>
          </a:p>
        </p:txBody>
      </p:sp>
      <p:sp>
        <p:nvSpPr>
          <p:cNvPr id="911" name="Google Shape;911;p58"/>
          <p:cNvSpPr/>
          <p:nvPr/>
        </p:nvSpPr>
        <p:spPr>
          <a:xfrm>
            <a:off x="8003033" y="5996088"/>
            <a:ext cx="367408" cy="307777"/>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80</a:t>
            </a:r>
            <a:endParaRPr/>
          </a:p>
        </p:txBody>
      </p:sp>
      <p:sp>
        <p:nvSpPr>
          <p:cNvPr id="912" name="Google Shape;912;p58"/>
          <p:cNvSpPr/>
          <p:nvPr/>
        </p:nvSpPr>
        <p:spPr>
          <a:xfrm>
            <a:off x="8536434" y="5996088"/>
            <a:ext cx="367408" cy="307777"/>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84</a:t>
            </a:r>
            <a:endParaRPr/>
          </a:p>
        </p:txBody>
      </p:sp>
      <p:sp>
        <p:nvSpPr>
          <p:cNvPr id="913" name="Google Shape;913;p58"/>
          <p:cNvSpPr/>
          <p:nvPr/>
        </p:nvSpPr>
        <p:spPr>
          <a:xfrm>
            <a:off x="9069834" y="5996088"/>
            <a:ext cx="367408" cy="307777"/>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89</a:t>
            </a:r>
            <a:endParaRPr/>
          </a:p>
        </p:txBody>
      </p:sp>
      <p:cxnSp>
        <p:nvCxnSpPr>
          <p:cNvPr id="914" name="Google Shape;914;p58"/>
          <p:cNvCxnSpPr/>
          <p:nvPr/>
        </p:nvCxnSpPr>
        <p:spPr>
          <a:xfrm flipH="1">
            <a:off x="3352800" y="5154613"/>
            <a:ext cx="152400" cy="838200"/>
          </a:xfrm>
          <a:prstGeom prst="straightConnector1">
            <a:avLst/>
          </a:prstGeom>
          <a:noFill/>
          <a:ln cap="flat" cmpd="sng" w="25400">
            <a:solidFill>
              <a:schemeClr val="dk1"/>
            </a:solidFill>
            <a:prstDash val="solid"/>
            <a:round/>
            <a:headEnd len="med" w="med" type="none"/>
            <a:tailEnd len="med" w="med" type="triangle"/>
          </a:ln>
        </p:spPr>
      </p:cxnSp>
      <p:cxnSp>
        <p:nvCxnSpPr>
          <p:cNvPr id="915" name="Google Shape;915;p58"/>
          <p:cNvCxnSpPr/>
          <p:nvPr/>
        </p:nvCxnSpPr>
        <p:spPr>
          <a:xfrm>
            <a:off x="3810000" y="5154613"/>
            <a:ext cx="76200" cy="838200"/>
          </a:xfrm>
          <a:prstGeom prst="straightConnector1">
            <a:avLst/>
          </a:prstGeom>
          <a:noFill/>
          <a:ln cap="flat" cmpd="sng" w="25400">
            <a:solidFill>
              <a:schemeClr val="dk1"/>
            </a:solidFill>
            <a:prstDash val="solid"/>
            <a:round/>
            <a:headEnd len="med" w="med" type="none"/>
            <a:tailEnd len="med" w="med" type="triangle"/>
          </a:ln>
        </p:spPr>
      </p:cxnSp>
      <p:cxnSp>
        <p:nvCxnSpPr>
          <p:cNvPr id="916" name="Google Shape;916;p58"/>
          <p:cNvCxnSpPr/>
          <p:nvPr/>
        </p:nvCxnSpPr>
        <p:spPr>
          <a:xfrm>
            <a:off x="4191000" y="5154613"/>
            <a:ext cx="228600" cy="838200"/>
          </a:xfrm>
          <a:prstGeom prst="straightConnector1">
            <a:avLst/>
          </a:prstGeom>
          <a:noFill/>
          <a:ln cap="flat" cmpd="sng" w="25400">
            <a:solidFill>
              <a:schemeClr val="dk1"/>
            </a:solidFill>
            <a:prstDash val="solid"/>
            <a:round/>
            <a:headEnd len="med" w="med" type="none"/>
            <a:tailEnd len="med" w="med" type="triangle"/>
          </a:ln>
        </p:spPr>
      </p:cxnSp>
      <p:cxnSp>
        <p:nvCxnSpPr>
          <p:cNvPr id="917" name="Google Shape;917;p58"/>
          <p:cNvCxnSpPr/>
          <p:nvPr/>
        </p:nvCxnSpPr>
        <p:spPr>
          <a:xfrm flipH="1">
            <a:off x="5029200" y="5154613"/>
            <a:ext cx="304800" cy="838200"/>
          </a:xfrm>
          <a:prstGeom prst="straightConnector1">
            <a:avLst/>
          </a:prstGeom>
          <a:noFill/>
          <a:ln cap="flat" cmpd="sng" w="25400">
            <a:solidFill>
              <a:schemeClr val="dk1"/>
            </a:solidFill>
            <a:prstDash val="solid"/>
            <a:round/>
            <a:headEnd len="med" w="med" type="none"/>
            <a:tailEnd len="med" w="med" type="triangle"/>
          </a:ln>
        </p:spPr>
      </p:cxnSp>
      <p:cxnSp>
        <p:nvCxnSpPr>
          <p:cNvPr id="918" name="Google Shape;918;p58"/>
          <p:cNvCxnSpPr/>
          <p:nvPr/>
        </p:nvCxnSpPr>
        <p:spPr>
          <a:xfrm>
            <a:off x="5638799" y="5154613"/>
            <a:ext cx="152399" cy="838200"/>
          </a:xfrm>
          <a:prstGeom prst="straightConnector1">
            <a:avLst/>
          </a:prstGeom>
          <a:noFill/>
          <a:ln cap="flat" cmpd="sng" w="25400">
            <a:solidFill>
              <a:schemeClr val="dk1"/>
            </a:solidFill>
            <a:prstDash val="solid"/>
            <a:round/>
            <a:headEnd len="med" w="med" type="none"/>
            <a:tailEnd len="med" w="med" type="triangle"/>
          </a:ln>
        </p:spPr>
      </p:cxnSp>
      <p:cxnSp>
        <p:nvCxnSpPr>
          <p:cNvPr id="919" name="Google Shape;919;p58"/>
          <p:cNvCxnSpPr/>
          <p:nvPr/>
        </p:nvCxnSpPr>
        <p:spPr>
          <a:xfrm>
            <a:off x="5943600" y="5154613"/>
            <a:ext cx="152400" cy="838200"/>
          </a:xfrm>
          <a:prstGeom prst="straightConnector1">
            <a:avLst/>
          </a:prstGeom>
          <a:noFill/>
          <a:ln cap="flat" cmpd="sng" w="25400">
            <a:solidFill>
              <a:schemeClr val="dk1"/>
            </a:solidFill>
            <a:prstDash val="solid"/>
            <a:round/>
            <a:headEnd len="med" w="med" type="none"/>
            <a:tailEnd len="med" w="med" type="triangle"/>
          </a:ln>
        </p:spPr>
      </p:cxnSp>
      <p:cxnSp>
        <p:nvCxnSpPr>
          <p:cNvPr id="920" name="Google Shape;920;p58"/>
          <p:cNvCxnSpPr/>
          <p:nvPr/>
        </p:nvCxnSpPr>
        <p:spPr>
          <a:xfrm>
            <a:off x="6324600" y="5154613"/>
            <a:ext cx="304800" cy="838200"/>
          </a:xfrm>
          <a:prstGeom prst="straightConnector1">
            <a:avLst/>
          </a:prstGeom>
          <a:noFill/>
          <a:ln cap="flat" cmpd="sng" w="25400">
            <a:solidFill>
              <a:schemeClr val="dk1"/>
            </a:solidFill>
            <a:prstDash val="solid"/>
            <a:round/>
            <a:headEnd len="med" w="med" type="none"/>
            <a:tailEnd len="med" w="med" type="triangle"/>
          </a:ln>
        </p:spPr>
      </p:cxnSp>
      <p:cxnSp>
        <p:nvCxnSpPr>
          <p:cNvPr id="921" name="Google Shape;921;p58"/>
          <p:cNvCxnSpPr/>
          <p:nvPr/>
        </p:nvCxnSpPr>
        <p:spPr>
          <a:xfrm>
            <a:off x="7086600" y="5154613"/>
            <a:ext cx="0" cy="838200"/>
          </a:xfrm>
          <a:prstGeom prst="straightConnector1">
            <a:avLst/>
          </a:prstGeom>
          <a:noFill/>
          <a:ln cap="flat" cmpd="sng" w="25400">
            <a:solidFill>
              <a:schemeClr val="dk1"/>
            </a:solidFill>
            <a:prstDash val="solid"/>
            <a:round/>
            <a:headEnd len="med" w="med" type="none"/>
            <a:tailEnd len="med" w="med" type="triangle"/>
          </a:ln>
        </p:spPr>
      </p:cxnSp>
      <p:cxnSp>
        <p:nvCxnSpPr>
          <p:cNvPr id="922" name="Google Shape;922;p58"/>
          <p:cNvCxnSpPr/>
          <p:nvPr/>
        </p:nvCxnSpPr>
        <p:spPr>
          <a:xfrm>
            <a:off x="7315200" y="5078413"/>
            <a:ext cx="228600" cy="914400"/>
          </a:xfrm>
          <a:prstGeom prst="straightConnector1">
            <a:avLst/>
          </a:prstGeom>
          <a:noFill/>
          <a:ln cap="flat" cmpd="sng" w="25400">
            <a:solidFill>
              <a:schemeClr val="dk1"/>
            </a:solidFill>
            <a:prstDash val="solid"/>
            <a:round/>
            <a:headEnd len="med" w="med" type="none"/>
            <a:tailEnd len="med" w="med" type="triangle"/>
          </a:ln>
        </p:spPr>
      </p:cxnSp>
      <p:cxnSp>
        <p:nvCxnSpPr>
          <p:cNvPr id="923" name="Google Shape;923;p58"/>
          <p:cNvCxnSpPr/>
          <p:nvPr/>
        </p:nvCxnSpPr>
        <p:spPr>
          <a:xfrm flipH="1">
            <a:off x="8001000" y="5154613"/>
            <a:ext cx="838200" cy="838200"/>
          </a:xfrm>
          <a:prstGeom prst="straightConnector1">
            <a:avLst/>
          </a:prstGeom>
          <a:noFill/>
          <a:ln cap="flat" cmpd="sng" w="25400">
            <a:solidFill>
              <a:schemeClr val="dk1"/>
            </a:solidFill>
            <a:prstDash val="solid"/>
            <a:round/>
            <a:headEnd len="med" w="med" type="none"/>
            <a:tailEnd len="med" w="med" type="triangle"/>
          </a:ln>
        </p:spPr>
      </p:cxnSp>
      <p:cxnSp>
        <p:nvCxnSpPr>
          <p:cNvPr id="924" name="Google Shape;924;p58"/>
          <p:cNvCxnSpPr/>
          <p:nvPr/>
        </p:nvCxnSpPr>
        <p:spPr>
          <a:xfrm flipH="1">
            <a:off x="8534400" y="5154613"/>
            <a:ext cx="609600" cy="838200"/>
          </a:xfrm>
          <a:prstGeom prst="straightConnector1">
            <a:avLst/>
          </a:prstGeom>
          <a:noFill/>
          <a:ln cap="flat" cmpd="sng" w="25400">
            <a:solidFill>
              <a:schemeClr val="dk1"/>
            </a:solidFill>
            <a:prstDash val="solid"/>
            <a:round/>
            <a:headEnd len="med" w="med" type="none"/>
            <a:tailEnd len="med" w="med" type="triangle"/>
          </a:ln>
        </p:spPr>
      </p:cxnSp>
      <p:cxnSp>
        <p:nvCxnSpPr>
          <p:cNvPr id="925" name="Google Shape;925;p58"/>
          <p:cNvCxnSpPr/>
          <p:nvPr/>
        </p:nvCxnSpPr>
        <p:spPr>
          <a:xfrm flipH="1">
            <a:off x="9067800" y="5154613"/>
            <a:ext cx="457200" cy="838200"/>
          </a:xfrm>
          <a:prstGeom prst="straightConnector1">
            <a:avLst/>
          </a:prstGeom>
          <a:noFill/>
          <a:ln cap="flat" cmpd="sng" w="25400">
            <a:solidFill>
              <a:schemeClr val="dk1"/>
            </a:solidFill>
            <a:prstDash val="solid"/>
            <a:round/>
            <a:headEnd len="med" w="med" type="none"/>
            <a:tailEnd len="med" w="med" type="triangle"/>
          </a:ln>
        </p:spPr>
      </p:cxnSp>
      <p:cxnSp>
        <p:nvCxnSpPr>
          <p:cNvPr id="926" name="Google Shape;926;p58"/>
          <p:cNvCxnSpPr/>
          <p:nvPr/>
        </p:nvCxnSpPr>
        <p:spPr>
          <a:xfrm>
            <a:off x="10210800" y="5154613"/>
            <a:ext cx="304800" cy="0"/>
          </a:xfrm>
          <a:prstGeom prst="straightConnector1">
            <a:avLst/>
          </a:prstGeom>
          <a:noFill/>
          <a:ln cap="flat" cmpd="sng" w="25400">
            <a:solidFill>
              <a:schemeClr val="accent2"/>
            </a:solidFill>
            <a:prstDash val="solid"/>
            <a:round/>
            <a:headEnd len="med" w="med" type="none"/>
            <a:tailEnd len="med" w="med" type="triangle"/>
          </a:ln>
        </p:spPr>
      </p:cxnSp>
      <p:sp>
        <p:nvSpPr>
          <p:cNvPr id="927" name="Google Shape;927;p58"/>
          <p:cNvSpPr txBox="1"/>
          <p:nvPr/>
        </p:nvSpPr>
        <p:spPr>
          <a:xfrm>
            <a:off x="9067800" y="1302051"/>
            <a:ext cx="2286000" cy="523220"/>
          </a:xfrm>
          <a:prstGeom prst="rect">
            <a:avLst/>
          </a:prstGeom>
          <a:solidFill>
            <a:srgbClr val="FBE4D4"/>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alibri"/>
                <a:ea typeface="Calibri"/>
                <a:cs typeface="Calibri"/>
                <a:sym typeface="Calibri"/>
              </a:rPr>
              <a:t>K in [30,85]? </a:t>
            </a:r>
            <a:endParaRPr sz="2800">
              <a:solidFill>
                <a:schemeClr val="dk1"/>
              </a:solidFill>
              <a:latin typeface="Calibri"/>
              <a:ea typeface="Calibri"/>
              <a:cs typeface="Calibri"/>
              <a:sym typeface="Calibri"/>
            </a:endParaRPr>
          </a:p>
        </p:txBody>
      </p:sp>
      <p:sp>
        <p:nvSpPr>
          <p:cNvPr id="928" name="Google Shape;928;p58"/>
          <p:cNvSpPr txBox="1"/>
          <p:nvPr/>
        </p:nvSpPr>
        <p:spPr>
          <a:xfrm>
            <a:off x="491157" y="2081086"/>
            <a:ext cx="1441589" cy="553998"/>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3000">
                <a:solidFill>
                  <a:schemeClr val="dk1"/>
                </a:solidFill>
                <a:latin typeface="Calibri"/>
                <a:ea typeface="Calibri"/>
                <a:cs typeface="Calibri"/>
                <a:sym typeface="Calibri"/>
              </a:rPr>
              <a:t>30 &lt; 80</a:t>
            </a:r>
            <a:endParaRPr sz="3000">
              <a:solidFill>
                <a:schemeClr val="dk1"/>
              </a:solidFill>
              <a:latin typeface="Calibri"/>
              <a:ea typeface="Calibri"/>
              <a:cs typeface="Calibri"/>
              <a:sym typeface="Calibri"/>
            </a:endParaRPr>
          </a:p>
        </p:txBody>
      </p:sp>
      <p:sp>
        <p:nvSpPr>
          <p:cNvPr id="929" name="Google Shape;929;p58"/>
          <p:cNvSpPr txBox="1"/>
          <p:nvPr/>
        </p:nvSpPr>
        <p:spPr>
          <a:xfrm>
            <a:off x="491157" y="3025482"/>
            <a:ext cx="2362200" cy="553998"/>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3000">
                <a:solidFill>
                  <a:schemeClr val="dk1"/>
                </a:solidFill>
                <a:latin typeface="Calibri"/>
                <a:ea typeface="Calibri"/>
                <a:cs typeface="Calibri"/>
                <a:sym typeface="Calibri"/>
              </a:rPr>
              <a:t>30 in [20,60)</a:t>
            </a:r>
            <a:endParaRPr/>
          </a:p>
        </p:txBody>
      </p:sp>
      <p:sp>
        <p:nvSpPr>
          <p:cNvPr id="930" name="Google Shape;930;p58"/>
          <p:cNvSpPr txBox="1"/>
          <p:nvPr/>
        </p:nvSpPr>
        <p:spPr>
          <a:xfrm>
            <a:off x="491157" y="5899152"/>
            <a:ext cx="2065683" cy="553998"/>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3000">
                <a:solidFill>
                  <a:schemeClr val="dk1"/>
                </a:solidFill>
                <a:latin typeface="Calibri"/>
                <a:ea typeface="Calibri"/>
                <a:cs typeface="Calibri"/>
                <a:sym typeface="Calibri"/>
              </a:rPr>
              <a:t>To the data!</a:t>
            </a:r>
            <a:endParaRPr/>
          </a:p>
        </p:txBody>
      </p:sp>
      <p:sp>
        <p:nvSpPr>
          <p:cNvPr id="931" name="Google Shape;931;p58"/>
          <p:cNvSpPr txBox="1"/>
          <p:nvPr/>
        </p:nvSpPr>
        <p:spPr>
          <a:xfrm>
            <a:off x="9639300" y="5664705"/>
            <a:ext cx="223971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Calibri"/>
                <a:ea typeface="Calibri"/>
                <a:cs typeface="Calibri"/>
                <a:sym typeface="Calibri"/>
              </a:rPr>
              <a:t>Not all nodes pictured</a:t>
            </a:r>
            <a:endParaRPr/>
          </a:p>
        </p:txBody>
      </p:sp>
      <p:sp>
        <p:nvSpPr>
          <p:cNvPr id="932" name="Google Shape;932;p58"/>
          <p:cNvSpPr txBox="1"/>
          <p:nvPr/>
        </p:nvSpPr>
        <p:spPr>
          <a:xfrm>
            <a:off x="491157" y="4441224"/>
            <a:ext cx="2362200" cy="553998"/>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3000">
                <a:solidFill>
                  <a:schemeClr val="dk1"/>
                </a:solidFill>
                <a:latin typeface="Calibri"/>
                <a:ea typeface="Calibri"/>
                <a:cs typeface="Calibri"/>
                <a:sym typeface="Calibri"/>
              </a:rPr>
              <a:t>30 in [30,40)</a:t>
            </a:r>
            <a:endParaRPr/>
          </a:p>
        </p:txBody>
      </p:sp>
      <p:sp>
        <p:nvSpPr>
          <p:cNvPr id="933" name="Google Shape;933;p58"/>
          <p:cNvSpPr/>
          <p:nvPr/>
        </p:nvSpPr>
        <p:spPr>
          <a:xfrm>
            <a:off x="6134100" y="1636042"/>
            <a:ext cx="533400" cy="533400"/>
          </a:xfrm>
          <a:prstGeom prst="smileyFace">
            <a:avLst>
              <a:gd fmla="val 4653" name="adj"/>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934" name="Google Shape;934;p58"/>
          <p:cNvGrpSpPr/>
          <p:nvPr/>
        </p:nvGrpSpPr>
        <p:grpSpPr>
          <a:xfrm>
            <a:off x="0" y="-22510"/>
            <a:ext cx="12192000" cy="307777"/>
            <a:chOff x="0" y="-22510"/>
            <a:chExt cx="12192000" cy="307777"/>
          </a:xfrm>
        </p:grpSpPr>
        <p:sp>
          <p:nvSpPr>
            <p:cNvPr id="935" name="Google Shape;935;p58"/>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936" name="Google Shape;936;p58"/>
            <p:cNvSpPr txBox="1"/>
            <p:nvPr/>
          </p:nvSpPr>
          <p:spPr>
            <a:xfrm>
              <a:off x="188780" y="-22510"/>
              <a:ext cx="328731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Section 2  B+ Tree design &amp; cost</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2000" fill="hold"/>
                                        <p:tgtEl>
                                          <p:spTgt spid="933"/>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sp>
        <p:nvSpPr>
          <p:cNvPr id="941" name="Google Shape;941;p5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 Tree Design</a:t>
            </a:r>
            <a:endParaRPr/>
          </a:p>
        </p:txBody>
      </p:sp>
      <p:sp>
        <p:nvSpPr>
          <p:cNvPr id="942" name="Google Shape;942;p5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How large is </a:t>
            </a:r>
            <a:r>
              <a:rPr b="1" i="1" lang="en-US"/>
              <a:t>d</a:t>
            </a:r>
            <a:r>
              <a:rPr lang="en-US"/>
              <a:t>?</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Example:</a:t>
            </a:r>
            <a:endParaRPr/>
          </a:p>
          <a:p>
            <a:pPr indent="-228600" lvl="1" marL="685800" rtl="0" algn="l">
              <a:lnSpc>
                <a:spcPct val="90000"/>
              </a:lnSpc>
              <a:spcBef>
                <a:spcPts val="500"/>
              </a:spcBef>
              <a:spcAft>
                <a:spcPts val="0"/>
              </a:spcAft>
              <a:buClr>
                <a:schemeClr val="dk1"/>
              </a:buClr>
              <a:buSzPts val="2400"/>
              <a:buChar char="•"/>
            </a:pPr>
            <a:r>
              <a:rPr lang="en-US"/>
              <a:t>Key size = 4 bytes</a:t>
            </a:r>
            <a:endParaRPr/>
          </a:p>
          <a:p>
            <a:pPr indent="-228600" lvl="1" marL="685800" rtl="0" algn="l">
              <a:lnSpc>
                <a:spcPct val="90000"/>
              </a:lnSpc>
              <a:spcBef>
                <a:spcPts val="500"/>
              </a:spcBef>
              <a:spcAft>
                <a:spcPts val="0"/>
              </a:spcAft>
              <a:buClr>
                <a:schemeClr val="dk1"/>
              </a:buClr>
              <a:buSzPts val="2400"/>
              <a:buChar char="•"/>
            </a:pPr>
            <a:r>
              <a:rPr lang="en-US"/>
              <a:t>Pointer size = 8 bytes</a:t>
            </a:r>
            <a:endParaRPr/>
          </a:p>
          <a:p>
            <a:pPr indent="-228600" lvl="1" marL="685800" rtl="0" algn="l">
              <a:lnSpc>
                <a:spcPct val="90000"/>
              </a:lnSpc>
              <a:spcBef>
                <a:spcPts val="500"/>
              </a:spcBef>
              <a:spcAft>
                <a:spcPts val="0"/>
              </a:spcAft>
              <a:buClr>
                <a:schemeClr val="dk1"/>
              </a:buClr>
              <a:buSzPts val="2400"/>
              <a:buChar char="•"/>
            </a:pPr>
            <a:r>
              <a:rPr lang="en-US"/>
              <a:t>Block size = 4096 bytes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We want each </a:t>
            </a:r>
            <a:r>
              <a:rPr i="1" lang="en-US"/>
              <a:t>node</a:t>
            </a:r>
            <a:r>
              <a:rPr lang="en-US"/>
              <a:t> to fit on a single </a:t>
            </a:r>
            <a:r>
              <a:rPr i="1" lang="en-US"/>
              <a:t>block/page</a:t>
            </a:r>
            <a:endParaRPr/>
          </a:p>
          <a:p>
            <a:pPr indent="-228600" lvl="1" marL="685800" rtl="0" algn="l">
              <a:lnSpc>
                <a:spcPct val="90000"/>
              </a:lnSpc>
              <a:spcBef>
                <a:spcPts val="500"/>
              </a:spcBef>
              <a:spcAft>
                <a:spcPts val="0"/>
              </a:spcAft>
              <a:buClr>
                <a:schemeClr val="dk1"/>
              </a:buClr>
              <a:buSzPts val="2400"/>
              <a:buChar char="•"/>
            </a:pPr>
            <a:r>
              <a:rPr lang="en-US"/>
              <a:t>2d x 4  + (2d+1) x 8  &lt;=  4096 🡪 </a:t>
            </a:r>
            <a:r>
              <a:rPr b="1" i="1" lang="en-US"/>
              <a:t>d &lt;= 170</a:t>
            </a:r>
            <a:endParaRPr b="1" i="1"/>
          </a:p>
        </p:txBody>
      </p:sp>
      <p:sp>
        <p:nvSpPr>
          <p:cNvPr id="943" name="Google Shape;943;p59"/>
          <p:cNvSpPr txBox="1"/>
          <p:nvPr/>
        </p:nvSpPr>
        <p:spPr>
          <a:xfrm>
            <a:off x="8046318" y="2610320"/>
            <a:ext cx="3704549" cy="1200329"/>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NB: Oracle allows 64K = 2^16 byte blocks</a:t>
            </a:r>
            <a:endParaRPr i="1" sz="2400">
              <a:solidFill>
                <a:schemeClr val="dk1"/>
              </a:solidFill>
              <a:latin typeface="Calibri"/>
              <a:ea typeface="Calibri"/>
              <a:cs typeface="Calibri"/>
              <a:sym typeface="Calibri"/>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 d &lt;= 2730</a:t>
            </a:r>
            <a:endParaRPr sz="2400">
              <a:solidFill>
                <a:schemeClr val="dk1"/>
              </a:solidFill>
              <a:latin typeface="Calibri"/>
              <a:ea typeface="Calibri"/>
              <a:cs typeface="Calibri"/>
              <a:sym typeface="Calibri"/>
            </a:endParaRPr>
          </a:p>
        </p:txBody>
      </p:sp>
      <p:grpSp>
        <p:nvGrpSpPr>
          <p:cNvPr id="944" name="Google Shape;944;p59"/>
          <p:cNvGrpSpPr/>
          <p:nvPr/>
        </p:nvGrpSpPr>
        <p:grpSpPr>
          <a:xfrm>
            <a:off x="0" y="-22510"/>
            <a:ext cx="12192000" cy="307777"/>
            <a:chOff x="0" y="-22510"/>
            <a:chExt cx="12192000" cy="307777"/>
          </a:xfrm>
        </p:grpSpPr>
        <p:sp>
          <p:nvSpPr>
            <p:cNvPr id="945" name="Google Shape;945;p59"/>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946" name="Google Shape;946;p59"/>
            <p:cNvSpPr txBox="1"/>
            <p:nvPr/>
          </p:nvSpPr>
          <p:spPr>
            <a:xfrm>
              <a:off x="188780" y="-22510"/>
              <a:ext cx="328731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Section 2  B+ Tree design &amp; cost</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 Tree: High Fanout = Smaller &amp; Lower IO</a:t>
            </a:r>
            <a:endParaRPr/>
          </a:p>
        </p:txBody>
      </p:sp>
      <p:sp>
        <p:nvSpPr>
          <p:cNvPr id="952" name="Google Shape;952;p60"/>
          <p:cNvSpPr txBox="1"/>
          <p:nvPr>
            <p:ph idx="1" type="body"/>
          </p:nvPr>
        </p:nvSpPr>
        <p:spPr>
          <a:xfrm>
            <a:off x="838200" y="1825625"/>
            <a:ext cx="73152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As compared to e.g. binary search trees, B+ Trees have </a:t>
            </a:r>
            <a:r>
              <a:rPr b="1" lang="en-US"/>
              <a:t>high</a:t>
            </a:r>
            <a:r>
              <a:rPr lang="en-US"/>
              <a:t> </a:t>
            </a:r>
            <a:r>
              <a:rPr b="1" i="1" lang="en-US"/>
              <a:t>fanout </a:t>
            </a:r>
            <a:r>
              <a:rPr lang="en-US"/>
              <a:t>(</a:t>
            </a:r>
            <a:r>
              <a:rPr b="1" i="1" lang="en-US"/>
              <a:t>between d+1 and 2d+1</a:t>
            </a:r>
            <a:r>
              <a:rPr lang="en-US"/>
              <a:t>)</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This means that the </a:t>
            </a:r>
            <a:r>
              <a:rPr b="1" lang="en-US"/>
              <a:t>depth of the tree is small </a:t>
            </a:r>
            <a:r>
              <a:rPr lang="en-US"/>
              <a:t>🡪 getting to any element requires very few IO operations!</a:t>
            </a:r>
            <a:endParaRPr/>
          </a:p>
          <a:p>
            <a:pPr indent="-228600" lvl="1" marL="685800" rtl="0" algn="l">
              <a:lnSpc>
                <a:spcPct val="90000"/>
              </a:lnSpc>
              <a:spcBef>
                <a:spcPts val="500"/>
              </a:spcBef>
              <a:spcAft>
                <a:spcPts val="0"/>
              </a:spcAft>
              <a:buClr>
                <a:schemeClr val="dk1"/>
              </a:buClr>
              <a:buSzPct val="100000"/>
              <a:buChar char="•"/>
            </a:pPr>
            <a:r>
              <a:rPr lang="en-US"/>
              <a:t>Also can often store most or all of the B+ Tree in main memory!</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A TiB = 2</a:t>
            </a:r>
            <a:r>
              <a:rPr baseline="30000" lang="en-US"/>
              <a:t>40</a:t>
            </a:r>
            <a:r>
              <a:rPr lang="en-US"/>
              <a:t> Bytes.  What is the height of a B+ Tree (with fill-factor = 1) that indexes it (with 64K pages)?</a:t>
            </a:r>
            <a:endParaRPr/>
          </a:p>
          <a:p>
            <a:pPr indent="-228600" lvl="1" marL="685800" rtl="0" algn="l">
              <a:lnSpc>
                <a:spcPct val="90000"/>
              </a:lnSpc>
              <a:spcBef>
                <a:spcPts val="500"/>
              </a:spcBef>
              <a:spcAft>
                <a:spcPts val="0"/>
              </a:spcAft>
              <a:buClr>
                <a:schemeClr val="dk1"/>
              </a:buClr>
              <a:buSzPct val="100000"/>
              <a:buChar char="•"/>
            </a:pPr>
            <a:r>
              <a:rPr lang="en-US"/>
              <a:t>(2*2730 + 1)</a:t>
            </a:r>
            <a:r>
              <a:rPr baseline="30000" lang="en-US"/>
              <a:t>h</a:t>
            </a:r>
            <a:r>
              <a:rPr lang="en-US"/>
              <a:t> = 2</a:t>
            </a:r>
            <a:r>
              <a:rPr baseline="30000" lang="en-US"/>
              <a:t>40</a:t>
            </a:r>
            <a:r>
              <a:rPr lang="en-US"/>
              <a:t> 🡪 </a:t>
            </a:r>
            <a:r>
              <a:rPr b="1" i="1" lang="en-US"/>
              <a:t>h = 4 </a:t>
            </a:r>
            <a:endParaRPr b="1" i="1"/>
          </a:p>
          <a:p>
            <a:pPr indent="-87630" lvl="1" marL="685800" rtl="0" algn="l">
              <a:lnSpc>
                <a:spcPct val="90000"/>
              </a:lnSpc>
              <a:spcBef>
                <a:spcPts val="500"/>
              </a:spcBef>
              <a:spcAft>
                <a:spcPts val="0"/>
              </a:spcAft>
              <a:buClr>
                <a:schemeClr val="dk1"/>
              </a:buClr>
              <a:buSzPct val="100000"/>
              <a:buNone/>
            </a:pPr>
            <a:r>
              <a:t/>
            </a:r>
            <a:endParaRPr b="1" i="1"/>
          </a:p>
        </p:txBody>
      </p:sp>
      <p:sp>
        <p:nvSpPr>
          <p:cNvPr id="953" name="Google Shape;953;p60"/>
          <p:cNvSpPr txBox="1"/>
          <p:nvPr/>
        </p:nvSpPr>
        <p:spPr>
          <a:xfrm>
            <a:off x="7848600" y="1425378"/>
            <a:ext cx="4207067" cy="3046988"/>
          </a:xfrm>
          <a:prstGeom prst="rect">
            <a:avLst/>
          </a:prstGeom>
          <a:solidFill>
            <a:srgbClr val="FBE4D4"/>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The </a:t>
            </a:r>
            <a:r>
              <a:rPr b="1" lang="en-US" sz="2400" u="sng">
                <a:solidFill>
                  <a:schemeClr val="dk1"/>
                </a:solidFill>
                <a:latin typeface="Calibri"/>
                <a:ea typeface="Calibri"/>
                <a:cs typeface="Calibri"/>
                <a:sym typeface="Calibri"/>
              </a:rPr>
              <a:t>fanout</a:t>
            </a:r>
            <a:r>
              <a:rPr lang="en-US" sz="2400">
                <a:solidFill>
                  <a:schemeClr val="dk1"/>
                </a:solidFill>
                <a:latin typeface="Calibri"/>
                <a:ea typeface="Calibri"/>
                <a:cs typeface="Calibri"/>
                <a:sym typeface="Calibri"/>
              </a:rPr>
              <a:t> is defined as the number of pointers to child nodes coming out of a node</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b="1" i="1" lang="en-US" sz="2400">
                <a:solidFill>
                  <a:schemeClr val="dk1"/>
                </a:solidFill>
                <a:latin typeface="Calibri"/>
                <a:ea typeface="Calibri"/>
                <a:cs typeface="Calibri"/>
                <a:sym typeface="Calibri"/>
              </a:rPr>
              <a:t>Note that fanout is dynamic- we’ll often assume it’s constant just to come up with approximate eqns!</a:t>
            </a:r>
            <a:endParaRPr/>
          </a:p>
        </p:txBody>
      </p:sp>
      <p:sp>
        <p:nvSpPr>
          <p:cNvPr id="954" name="Google Shape;954;p60"/>
          <p:cNvSpPr txBox="1"/>
          <p:nvPr/>
        </p:nvSpPr>
        <p:spPr>
          <a:xfrm>
            <a:off x="8046317" y="4607303"/>
            <a:ext cx="3704549" cy="1569660"/>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The known universe contains ~10</a:t>
            </a:r>
            <a:r>
              <a:rPr baseline="30000" lang="en-US" sz="2400">
                <a:solidFill>
                  <a:schemeClr val="dk1"/>
                </a:solidFill>
                <a:latin typeface="Calibri"/>
                <a:ea typeface="Calibri"/>
                <a:cs typeface="Calibri"/>
                <a:sym typeface="Calibri"/>
              </a:rPr>
              <a:t>80</a:t>
            </a:r>
            <a:r>
              <a:rPr lang="en-US" sz="2400">
                <a:solidFill>
                  <a:schemeClr val="dk1"/>
                </a:solidFill>
                <a:latin typeface="Calibri"/>
                <a:ea typeface="Calibri"/>
                <a:cs typeface="Calibri"/>
                <a:sym typeface="Calibri"/>
              </a:rPr>
              <a:t> particles… what is the height of a B+ Tree that indexes these?</a:t>
            </a:r>
            <a:endParaRPr sz="2400">
              <a:solidFill>
                <a:schemeClr val="dk1"/>
              </a:solidFill>
              <a:latin typeface="Calibri"/>
              <a:ea typeface="Calibri"/>
              <a:cs typeface="Calibri"/>
              <a:sym typeface="Calibri"/>
            </a:endParaRPr>
          </a:p>
        </p:txBody>
      </p:sp>
      <p:grpSp>
        <p:nvGrpSpPr>
          <p:cNvPr id="955" name="Google Shape;955;p60"/>
          <p:cNvGrpSpPr/>
          <p:nvPr/>
        </p:nvGrpSpPr>
        <p:grpSpPr>
          <a:xfrm>
            <a:off x="0" y="-22510"/>
            <a:ext cx="12192000" cy="307777"/>
            <a:chOff x="0" y="-22510"/>
            <a:chExt cx="12192000" cy="307777"/>
          </a:xfrm>
        </p:grpSpPr>
        <p:sp>
          <p:nvSpPr>
            <p:cNvPr id="956" name="Google Shape;956;p60"/>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957" name="Google Shape;957;p60"/>
            <p:cNvSpPr txBox="1"/>
            <p:nvPr/>
          </p:nvSpPr>
          <p:spPr>
            <a:xfrm>
              <a:off x="188780" y="-22510"/>
              <a:ext cx="328731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Section 2  B+ Tree design &amp; cost</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2">
                                            <p:txEl>
                                              <p:pRg end="7" st="7"/>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61"/>
          <p:cNvSpPr/>
          <p:nvPr/>
        </p:nvSpPr>
        <p:spPr>
          <a:xfrm>
            <a:off x="2209800" y="6248400"/>
            <a:ext cx="1905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3" name="Google Shape;963;p61"/>
          <p:cNvSpPr/>
          <p:nvPr/>
        </p:nvSpPr>
        <p:spPr>
          <a:xfrm>
            <a:off x="4648200" y="6248400"/>
            <a:ext cx="289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4" name="Google Shape;964;p61"/>
          <p:cNvSpPr txBox="1"/>
          <p:nvPr>
            <p:ph type="title"/>
          </p:nvPr>
        </p:nvSpPr>
        <p:spPr>
          <a:xfrm>
            <a:off x="850900" y="611208"/>
            <a:ext cx="7772400" cy="1143000"/>
          </a:xfrm>
          <a:prstGeom prst="rect">
            <a:avLst/>
          </a:prstGeom>
          <a:noFill/>
          <a:ln>
            <a:noFill/>
          </a:ln>
        </p:spPr>
        <p:txBody>
          <a:bodyPr anchorCtr="0" anchor="ctr" bIns="46025" lIns="92075" spcFirstLastPara="1" rIns="92075" wrap="square" tIns="46025">
            <a:normAutofit/>
          </a:bodyPr>
          <a:lstStyle/>
          <a:p>
            <a:pPr indent="0" lvl="0" marL="0" rtl="0" algn="l">
              <a:lnSpc>
                <a:spcPct val="90000"/>
              </a:lnSpc>
              <a:spcBef>
                <a:spcPts val="0"/>
              </a:spcBef>
              <a:spcAft>
                <a:spcPts val="0"/>
              </a:spcAft>
              <a:buClr>
                <a:schemeClr val="dk1"/>
              </a:buClr>
              <a:buSzPts val="4400"/>
              <a:buFont typeface="Calibri"/>
              <a:buNone/>
            </a:pPr>
            <a:r>
              <a:rPr lang="en-US"/>
              <a:t>B+ Trees in Practice</a:t>
            </a:r>
            <a:endParaRPr/>
          </a:p>
        </p:txBody>
      </p:sp>
      <p:sp>
        <p:nvSpPr>
          <p:cNvPr id="965" name="Google Shape;965;p61"/>
          <p:cNvSpPr txBox="1"/>
          <p:nvPr>
            <p:ph idx="1" type="body"/>
          </p:nvPr>
        </p:nvSpPr>
        <p:spPr>
          <a:xfrm>
            <a:off x="850900" y="1866900"/>
            <a:ext cx="10502900" cy="4686300"/>
          </a:xfrm>
          <a:prstGeom prst="rect">
            <a:avLst/>
          </a:prstGeom>
          <a:noFill/>
          <a:ln>
            <a:noFill/>
          </a:ln>
        </p:spPr>
        <p:txBody>
          <a:bodyPr anchorCtr="0" anchor="t" bIns="46025" lIns="92075" spcFirstLastPara="1" rIns="92075" wrap="square" tIns="46025">
            <a:normAutofit lnSpcReduction="10000"/>
          </a:bodyPr>
          <a:lstStyle/>
          <a:p>
            <a:pPr indent="-228600" lvl="0" marL="228600" rtl="0" algn="l">
              <a:lnSpc>
                <a:spcPct val="90000"/>
              </a:lnSpc>
              <a:spcBef>
                <a:spcPts val="0"/>
              </a:spcBef>
              <a:spcAft>
                <a:spcPts val="0"/>
              </a:spcAft>
              <a:buClr>
                <a:schemeClr val="dk1"/>
              </a:buClr>
              <a:buSzPts val="2800"/>
              <a:buChar char="•"/>
            </a:pPr>
            <a:r>
              <a:rPr lang="en-US"/>
              <a:t>Typical order: d=100.  Typical fill-factor: 67%.</a:t>
            </a:r>
            <a:endParaRPr/>
          </a:p>
          <a:p>
            <a:pPr indent="-228600" lvl="1" marL="685800" rtl="0" algn="l">
              <a:lnSpc>
                <a:spcPct val="90000"/>
              </a:lnSpc>
              <a:spcBef>
                <a:spcPts val="500"/>
              </a:spcBef>
              <a:spcAft>
                <a:spcPts val="0"/>
              </a:spcAft>
              <a:buClr>
                <a:schemeClr val="dk1"/>
              </a:buClr>
              <a:buSzPts val="2400"/>
              <a:buChar char="•"/>
            </a:pPr>
            <a:r>
              <a:rPr lang="en-US"/>
              <a:t>average fanout = 133</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Typical capacities:</a:t>
            </a:r>
            <a:endParaRPr/>
          </a:p>
          <a:p>
            <a:pPr indent="-228600" lvl="1" marL="685800" rtl="0" algn="l">
              <a:lnSpc>
                <a:spcPct val="90000"/>
              </a:lnSpc>
              <a:spcBef>
                <a:spcPts val="500"/>
              </a:spcBef>
              <a:spcAft>
                <a:spcPts val="0"/>
              </a:spcAft>
              <a:buClr>
                <a:schemeClr val="dk1"/>
              </a:buClr>
              <a:buSzPts val="2400"/>
              <a:buChar char="•"/>
            </a:pPr>
            <a:r>
              <a:rPr lang="en-US"/>
              <a:t>Height 4: 133</a:t>
            </a:r>
            <a:r>
              <a:rPr baseline="30000" lang="en-US"/>
              <a:t>4</a:t>
            </a:r>
            <a:r>
              <a:rPr lang="en-US"/>
              <a:t> = 312,900,700 records</a:t>
            </a:r>
            <a:endParaRPr/>
          </a:p>
          <a:p>
            <a:pPr indent="-228600" lvl="1" marL="685800" rtl="0" algn="l">
              <a:lnSpc>
                <a:spcPct val="90000"/>
              </a:lnSpc>
              <a:spcBef>
                <a:spcPts val="500"/>
              </a:spcBef>
              <a:spcAft>
                <a:spcPts val="0"/>
              </a:spcAft>
              <a:buClr>
                <a:schemeClr val="dk1"/>
              </a:buClr>
              <a:buSzPts val="2400"/>
              <a:buChar char="•"/>
            </a:pPr>
            <a:r>
              <a:rPr lang="en-US"/>
              <a:t>Height 3: 133</a:t>
            </a:r>
            <a:r>
              <a:rPr baseline="30000" lang="en-US"/>
              <a:t>3</a:t>
            </a:r>
            <a:r>
              <a:rPr lang="en-US"/>
              <a:t> =     2,352,637 records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Top levels of tree sit </a:t>
            </a:r>
            <a:r>
              <a:rPr i="1" lang="en-US"/>
              <a:t>in the buffer pool</a:t>
            </a:r>
            <a:r>
              <a:rPr lang="en-US"/>
              <a:t>:</a:t>
            </a:r>
            <a:endParaRPr/>
          </a:p>
          <a:p>
            <a:pPr indent="-228600" lvl="1" marL="685800" rtl="0" algn="l">
              <a:lnSpc>
                <a:spcPct val="90000"/>
              </a:lnSpc>
              <a:spcBef>
                <a:spcPts val="500"/>
              </a:spcBef>
              <a:spcAft>
                <a:spcPts val="0"/>
              </a:spcAft>
              <a:buClr>
                <a:schemeClr val="dk1"/>
              </a:buClr>
              <a:buSzPts val="2400"/>
              <a:buChar char="•"/>
            </a:pPr>
            <a:r>
              <a:rPr lang="en-US"/>
              <a:t>Level 1 =           1 page  =     8 Kbytes</a:t>
            </a:r>
            <a:endParaRPr/>
          </a:p>
          <a:p>
            <a:pPr indent="-228600" lvl="1" marL="685800" rtl="0" algn="l">
              <a:lnSpc>
                <a:spcPct val="90000"/>
              </a:lnSpc>
              <a:spcBef>
                <a:spcPts val="500"/>
              </a:spcBef>
              <a:spcAft>
                <a:spcPts val="0"/>
              </a:spcAft>
              <a:buClr>
                <a:schemeClr val="dk1"/>
              </a:buClr>
              <a:buSzPts val="2400"/>
              <a:buChar char="•"/>
            </a:pPr>
            <a:r>
              <a:rPr lang="en-US"/>
              <a:t>Level 2 =      133 pages =     1 Mbyte</a:t>
            </a:r>
            <a:endParaRPr/>
          </a:p>
          <a:p>
            <a:pPr indent="-228600" lvl="1" marL="685800" rtl="0" algn="l">
              <a:lnSpc>
                <a:spcPct val="90000"/>
              </a:lnSpc>
              <a:spcBef>
                <a:spcPts val="500"/>
              </a:spcBef>
              <a:spcAft>
                <a:spcPts val="0"/>
              </a:spcAft>
              <a:buClr>
                <a:schemeClr val="dk1"/>
              </a:buClr>
              <a:buSzPts val="2400"/>
              <a:buChar char="•"/>
            </a:pPr>
            <a:r>
              <a:rPr lang="en-US"/>
              <a:t>Level 3 = 17,689 pages = 133 MBytes    </a:t>
            </a:r>
            <a:r>
              <a:rPr lang="en-US" sz="2000"/>
              <a:t>  </a:t>
            </a:r>
            <a:endParaRPr/>
          </a:p>
        </p:txBody>
      </p:sp>
      <p:sp>
        <p:nvSpPr>
          <p:cNvPr id="966" name="Google Shape;966;p61"/>
          <p:cNvSpPr txBox="1"/>
          <p:nvPr/>
        </p:nvSpPr>
        <p:spPr>
          <a:xfrm>
            <a:off x="7327900" y="5294293"/>
            <a:ext cx="2590800" cy="954107"/>
          </a:xfrm>
          <a:prstGeom prst="rect">
            <a:avLst/>
          </a:prstGeom>
          <a:solidFill>
            <a:srgbClr val="E1EFD8"/>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alibri"/>
                <a:ea typeface="Calibri"/>
                <a:cs typeface="Calibri"/>
                <a:sym typeface="Calibri"/>
              </a:rPr>
              <a:t>Typically, only pay for one IO!</a:t>
            </a:r>
            <a:endParaRPr/>
          </a:p>
        </p:txBody>
      </p:sp>
      <p:sp>
        <p:nvSpPr>
          <p:cNvPr id="967" name="Google Shape;967;p61"/>
          <p:cNvSpPr txBox="1"/>
          <p:nvPr/>
        </p:nvSpPr>
        <p:spPr>
          <a:xfrm>
            <a:off x="8293100" y="1892300"/>
            <a:ext cx="3505200" cy="1938992"/>
          </a:xfrm>
          <a:prstGeom prst="rect">
            <a:avLst/>
          </a:prstGeom>
          <a:solidFill>
            <a:srgbClr val="DDEAF6"/>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u="sng">
                <a:solidFill>
                  <a:schemeClr val="dk1"/>
                </a:solidFill>
                <a:latin typeface="Calibri"/>
                <a:ea typeface="Calibri"/>
                <a:cs typeface="Calibri"/>
                <a:sym typeface="Calibri"/>
              </a:rPr>
              <a:t>Fill-factor</a:t>
            </a:r>
            <a:r>
              <a:rPr lang="en-US" sz="2400">
                <a:solidFill>
                  <a:schemeClr val="dk1"/>
                </a:solidFill>
                <a:latin typeface="Calibri"/>
                <a:ea typeface="Calibri"/>
                <a:cs typeface="Calibri"/>
                <a:sym typeface="Calibri"/>
              </a:rPr>
              <a:t> is the percent of available slots in the B+ Tree that are filled; is usually &lt; 1 to leave slack for (quicker) insertions</a:t>
            </a:r>
            <a:endParaRPr/>
          </a:p>
        </p:txBody>
      </p:sp>
      <p:grpSp>
        <p:nvGrpSpPr>
          <p:cNvPr id="968" name="Google Shape;968;p61"/>
          <p:cNvGrpSpPr/>
          <p:nvPr/>
        </p:nvGrpSpPr>
        <p:grpSpPr>
          <a:xfrm>
            <a:off x="0" y="-22510"/>
            <a:ext cx="12192000" cy="307777"/>
            <a:chOff x="0" y="-22510"/>
            <a:chExt cx="12192000" cy="307777"/>
          </a:xfrm>
        </p:grpSpPr>
        <p:sp>
          <p:nvSpPr>
            <p:cNvPr id="969" name="Google Shape;969;p61"/>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970" name="Google Shape;970;p61"/>
            <p:cNvSpPr txBox="1"/>
            <p:nvPr/>
          </p:nvSpPr>
          <p:spPr>
            <a:xfrm>
              <a:off x="188780" y="-22510"/>
              <a:ext cx="328731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Section 2  B+ Tree design &amp; cost</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5">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5">
                                            <p:txEl>
                                              <p:pRg end="10" st="10"/>
                                            </p:txEl>
                                          </p:spTgt>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967"/>
                                        </p:tgtEl>
                                        <p:attrNameLst>
                                          <p:attrName>style.visibility</p:attrName>
                                        </p:attrNameLst>
                                      </p:cBhvr>
                                      <p:to>
                                        <p:strVal val="visible"/>
                                      </p:to>
                                    </p:set>
                                    <p:animEffect filter="fade" transition="in">
                                      <p:cBhvr>
                                        <p:cTn dur="500"/>
                                        <p:tgtEl>
                                          <p:spTgt spid="9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6"/>
                                        </p:tgtEl>
                                        <p:attrNameLst>
                                          <p:attrName>style.visibility</p:attrName>
                                        </p:attrNameLst>
                                      </p:cBhvr>
                                      <p:to>
                                        <p:strVal val="visible"/>
                                      </p:to>
                                    </p:set>
                                    <p:animEffect filter="fade" transition="in">
                                      <p:cBhvr>
                                        <p:cTn dur="500"/>
                                        <p:tgtEl>
                                          <p:spTgt spid="9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62"/>
          <p:cNvSpPr/>
          <p:nvPr/>
        </p:nvSpPr>
        <p:spPr>
          <a:xfrm>
            <a:off x="2209800" y="6248400"/>
            <a:ext cx="1905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6" name="Google Shape;976;p62"/>
          <p:cNvSpPr/>
          <p:nvPr/>
        </p:nvSpPr>
        <p:spPr>
          <a:xfrm>
            <a:off x="4648200" y="6248400"/>
            <a:ext cx="289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7" name="Google Shape;977;p62"/>
          <p:cNvSpPr txBox="1"/>
          <p:nvPr>
            <p:ph type="title"/>
          </p:nvPr>
        </p:nvSpPr>
        <p:spPr>
          <a:xfrm>
            <a:off x="850900" y="611208"/>
            <a:ext cx="7772400" cy="1143000"/>
          </a:xfrm>
          <a:prstGeom prst="rect">
            <a:avLst/>
          </a:prstGeom>
          <a:noFill/>
          <a:ln>
            <a:noFill/>
          </a:ln>
        </p:spPr>
        <p:txBody>
          <a:bodyPr anchorCtr="0" anchor="ctr" bIns="46025" lIns="92075" spcFirstLastPara="1" rIns="92075" wrap="square" tIns="46025">
            <a:normAutofit/>
          </a:bodyPr>
          <a:lstStyle/>
          <a:p>
            <a:pPr indent="0" lvl="0" marL="0" rtl="0" algn="l">
              <a:lnSpc>
                <a:spcPct val="90000"/>
              </a:lnSpc>
              <a:spcBef>
                <a:spcPts val="0"/>
              </a:spcBef>
              <a:spcAft>
                <a:spcPts val="0"/>
              </a:spcAft>
              <a:buClr>
                <a:schemeClr val="dk1"/>
              </a:buClr>
              <a:buSzPts val="4400"/>
              <a:buFont typeface="Calibri"/>
              <a:buNone/>
            </a:pPr>
            <a:r>
              <a:rPr lang="en-US"/>
              <a:t>Simple Cost Model for Search</a:t>
            </a:r>
            <a:endParaRPr/>
          </a:p>
        </p:txBody>
      </p:sp>
      <p:sp>
        <p:nvSpPr>
          <p:cNvPr id="978" name="Google Shape;978;p62"/>
          <p:cNvSpPr txBox="1"/>
          <p:nvPr>
            <p:ph idx="1" type="body"/>
          </p:nvPr>
        </p:nvSpPr>
        <p:spPr>
          <a:xfrm>
            <a:off x="850900" y="1866900"/>
            <a:ext cx="10820400" cy="4660900"/>
          </a:xfrm>
          <a:prstGeom prst="rect">
            <a:avLst/>
          </a:prstGeom>
          <a:noFill/>
          <a:ln>
            <a:noFill/>
          </a:ln>
        </p:spPr>
        <p:txBody>
          <a:bodyPr anchorCtr="0" anchor="t" bIns="46025" lIns="92075" spcFirstLastPara="1" rIns="92075" wrap="square" tIns="46025">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Let:</a:t>
            </a:r>
            <a:endParaRPr/>
          </a:p>
          <a:p>
            <a:pPr indent="-228600" lvl="1" marL="685800" rtl="0" algn="l">
              <a:lnSpc>
                <a:spcPct val="90000"/>
              </a:lnSpc>
              <a:spcBef>
                <a:spcPts val="500"/>
              </a:spcBef>
              <a:spcAft>
                <a:spcPts val="0"/>
              </a:spcAft>
              <a:buClr>
                <a:schemeClr val="dk1"/>
              </a:buClr>
              <a:buSzPct val="100000"/>
              <a:buChar char="•"/>
            </a:pPr>
            <a:r>
              <a:rPr b="1" i="1" lang="en-US"/>
              <a:t>f</a:t>
            </a:r>
            <a:r>
              <a:rPr lang="en-US"/>
              <a:t> = fanout, which is </a:t>
            </a:r>
            <a:r>
              <a:rPr b="1" lang="en-US"/>
              <a:t>in [d+1, 2d+1] </a:t>
            </a:r>
            <a:r>
              <a:rPr b="1" i="1" lang="en-US"/>
              <a:t>(we’ll assume it’s constant for our cost model…)</a:t>
            </a:r>
            <a:endParaRPr/>
          </a:p>
          <a:p>
            <a:pPr indent="-228600" lvl="1" marL="685800" rtl="0" algn="l">
              <a:lnSpc>
                <a:spcPct val="90000"/>
              </a:lnSpc>
              <a:spcBef>
                <a:spcPts val="500"/>
              </a:spcBef>
              <a:spcAft>
                <a:spcPts val="0"/>
              </a:spcAft>
              <a:buClr>
                <a:schemeClr val="dk1"/>
              </a:buClr>
              <a:buSzPct val="100000"/>
              <a:buChar char="•"/>
            </a:pPr>
            <a:r>
              <a:rPr b="1" i="1" lang="en-US"/>
              <a:t>N</a:t>
            </a:r>
            <a:r>
              <a:rPr lang="en-US"/>
              <a:t> = the total number of </a:t>
            </a:r>
            <a:r>
              <a:rPr i="1" lang="en-US"/>
              <a:t>pages </a:t>
            </a:r>
            <a:r>
              <a:rPr lang="en-US"/>
              <a:t>we need to index</a:t>
            </a:r>
            <a:endParaRPr/>
          </a:p>
          <a:p>
            <a:pPr indent="-228600" lvl="1" marL="685800" rtl="0" algn="l">
              <a:lnSpc>
                <a:spcPct val="90000"/>
              </a:lnSpc>
              <a:spcBef>
                <a:spcPts val="500"/>
              </a:spcBef>
              <a:spcAft>
                <a:spcPts val="0"/>
              </a:spcAft>
              <a:buClr>
                <a:schemeClr val="dk1"/>
              </a:buClr>
              <a:buSzPct val="100000"/>
              <a:buChar char="•"/>
            </a:pPr>
            <a:r>
              <a:rPr b="1" i="1" lang="en-US"/>
              <a:t>F</a:t>
            </a:r>
            <a:r>
              <a:rPr lang="en-US"/>
              <a:t> = fill-factor (usually ~= 2/3)</a:t>
            </a:r>
            <a:endParaRPr/>
          </a:p>
          <a:p>
            <a:pPr indent="-87630" lvl="1" marL="685800" rtl="0" algn="l">
              <a:lnSpc>
                <a:spcPct val="90000"/>
              </a:lnSpc>
              <a:spcBef>
                <a:spcPts val="5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Our B+ Tree needs to have room to index </a:t>
            </a:r>
            <a:r>
              <a:rPr b="1" i="1" lang="en-US"/>
              <a:t>N / F </a:t>
            </a:r>
            <a:r>
              <a:rPr lang="en-US"/>
              <a:t>pages!</a:t>
            </a:r>
            <a:endParaRPr/>
          </a:p>
          <a:p>
            <a:pPr indent="-228600" lvl="1" marL="685800" rtl="0" algn="l">
              <a:lnSpc>
                <a:spcPct val="90000"/>
              </a:lnSpc>
              <a:spcBef>
                <a:spcPts val="500"/>
              </a:spcBef>
              <a:spcAft>
                <a:spcPts val="0"/>
              </a:spcAft>
              <a:buClr>
                <a:schemeClr val="dk1"/>
              </a:buClr>
              <a:buSzPct val="100000"/>
              <a:buChar char="•"/>
            </a:pPr>
            <a:r>
              <a:rPr lang="en-US"/>
              <a:t>We have the fill factor in order to leave some open slots for faster insertions</a:t>
            </a:r>
            <a:endParaRPr/>
          </a:p>
          <a:p>
            <a:pPr indent="-87630" lvl="1" marL="685800" rtl="0" algn="l">
              <a:lnSpc>
                <a:spcPct val="90000"/>
              </a:lnSpc>
              <a:spcBef>
                <a:spcPts val="5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What height (</a:t>
            </a:r>
            <a:r>
              <a:rPr i="1" lang="en-US"/>
              <a:t>h</a:t>
            </a:r>
            <a:r>
              <a:rPr lang="en-US"/>
              <a:t>) does our B+ Tree need to be?</a:t>
            </a:r>
            <a:endParaRPr/>
          </a:p>
          <a:p>
            <a:pPr indent="-228600" lvl="1" marL="685800" rtl="0" algn="l">
              <a:lnSpc>
                <a:spcPct val="90000"/>
              </a:lnSpc>
              <a:spcBef>
                <a:spcPts val="500"/>
              </a:spcBef>
              <a:spcAft>
                <a:spcPts val="0"/>
              </a:spcAft>
              <a:buClr>
                <a:schemeClr val="dk1"/>
              </a:buClr>
              <a:buSzPct val="100000"/>
              <a:buChar char="•"/>
            </a:pPr>
            <a:r>
              <a:rPr lang="en-US"/>
              <a:t>h=1 🡪 Just the root node- room to index f pages</a:t>
            </a:r>
            <a:endParaRPr/>
          </a:p>
          <a:p>
            <a:pPr indent="-228600" lvl="1" marL="685800" rtl="0" algn="l">
              <a:lnSpc>
                <a:spcPct val="90000"/>
              </a:lnSpc>
              <a:spcBef>
                <a:spcPts val="500"/>
              </a:spcBef>
              <a:spcAft>
                <a:spcPts val="0"/>
              </a:spcAft>
              <a:buClr>
                <a:schemeClr val="dk1"/>
              </a:buClr>
              <a:buSzPct val="100000"/>
              <a:buChar char="•"/>
            </a:pPr>
            <a:r>
              <a:rPr lang="en-US"/>
              <a:t>h=2 🡪 f leaf nodes- room to index f</a:t>
            </a:r>
            <a:r>
              <a:rPr baseline="30000" lang="en-US"/>
              <a:t>2</a:t>
            </a:r>
            <a:r>
              <a:rPr lang="en-US"/>
              <a:t> pages</a:t>
            </a:r>
            <a:endParaRPr/>
          </a:p>
          <a:p>
            <a:pPr indent="-228600" lvl="1" marL="685800" rtl="0" algn="l">
              <a:lnSpc>
                <a:spcPct val="90000"/>
              </a:lnSpc>
              <a:spcBef>
                <a:spcPts val="500"/>
              </a:spcBef>
              <a:spcAft>
                <a:spcPts val="0"/>
              </a:spcAft>
              <a:buClr>
                <a:schemeClr val="dk1"/>
              </a:buClr>
              <a:buSzPct val="100000"/>
              <a:buChar char="•"/>
            </a:pPr>
            <a:r>
              <a:rPr lang="en-US"/>
              <a:t>h=3 🡪 f</a:t>
            </a:r>
            <a:r>
              <a:rPr baseline="30000" lang="en-US"/>
              <a:t>2</a:t>
            </a:r>
            <a:r>
              <a:rPr lang="en-US"/>
              <a:t> leaf nodes- room to index f</a:t>
            </a:r>
            <a:r>
              <a:rPr baseline="30000" lang="en-US"/>
              <a:t>3 </a:t>
            </a:r>
            <a:r>
              <a:rPr lang="en-US"/>
              <a:t>pages</a:t>
            </a:r>
            <a:endParaRPr/>
          </a:p>
          <a:p>
            <a:pPr indent="-228600" lvl="1" marL="685800" rtl="0" algn="l">
              <a:lnSpc>
                <a:spcPct val="90000"/>
              </a:lnSpc>
              <a:spcBef>
                <a:spcPts val="500"/>
              </a:spcBef>
              <a:spcAft>
                <a:spcPts val="0"/>
              </a:spcAft>
              <a:buClr>
                <a:schemeClr val="dk1"/>
              </a:buClr>
              <a:buSzPct val="100000"/>
              <a:buChar char="•"/>
            </a:pPr>
            <a:r>
              <a:rPr lang="en-US"/>
              <a:t>…</a:t>
            </a:r>
            <a:endParaRPr/>
          </a:p>
          <a:p>
            <a:pPr indent="-228600" lvl="1" marL="685800" rtl="0" algn="l">
              <a:lnSpc>
                <a:spcPct val="90000"/>
              </a:lnSpc>
              <a:spcBef>
                <a:spcPts val="500"/>
              </a:spcBef>
              <a:spcAft>
                <a:spcPts val="0"/>
              </a:spcAft>
              <a:buClr>
                <a:schemeClr val="dk1"/>
              </a:buClr>
              <a:buSzPct val="100000"/>
              <a:buChar char="•"/>
            </a:pPr>
            <a:r>
              <a:rPr lang="en-US"/>
              <a:t>h 🡪 f</a:t>
            </a:r>
            <a:r>
              <a:rPr baseline="30000" lang="en-US"/>
              <a:t>h-1</a:t>
            </a:r>
            <a:r>
              <a:rPr lang="en-US"/>
              <a:t> leaf nodes- room to index f</a:t>
            </a:r>
            <a:r>
              <a:rPr baseline="30000" lang="en-US"/>
              <a:t>h</a:t>
            </a:r>
            <a:r>
              <a:rPr lang="en-US"/>
              <a:t> pages!</a:t>
            </a:r>
            <a:endParaRPr baseline="30000"/>
          </a:p>
          <a:p>
            <a:pPr indent="0" lvl="0" marL="0" rtl="0" algn="l">
              <a:lnSpc>
                <a:spcPct val="90000"/>
              </a:lnSpc>
              <a:spcBef>
                <a:spcPts val="1000"/>
              </a:spcBef>
              <a:spcAft>
                <a:spcPts val="0"/>
              </a:spcAft>
              <a:buClr>
                <a:schemeClr val="dk1"/>
              </a:buClr>
              <a:buSzPct val="100000"/>
              <a:buNone/>
            </a:pPr>
            <a:r>
              <a:t/>
            </a:r>
            <a:endParaRPr/>
          </a:p>
        </p:txBody>
      </p:sp>
      <p:sp>
        <p:nvSpPr>
          <p:cNvPr id="979" name="Google Shape;979;p62"/>
          <p:cNvSpPr/>
          <p:nvPr/>
        </p:nvSpPr>
        <p:spPr>
          <a:xfrm>
            <a:off x="7943850" y="5083466"/>
            <a:ext cx="3511550" cy="1164934"/>
          </a:xfrm>
          <a:prstGeom prst="rect">
            <a:avLst/>
          </a:prstGeom>
          <a:noFill/>
          <a:ln>
            <a:noFill/>
          </a:ln>
          <a:effectLst>
            <a:outerShdw blurRad="50800" rotWithShape="0" algn="tl" dir="2700000" dist="12700">
              <a:srgbClr val="000000">
                <a:alpha val="4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grpSp>
        <p:nvGrpSpPr>
          <p:cNvPr id="980" name="Google Shape;980;p62"/>
          <p:cNvGrpSpPr/>
          <p:nvPr/>
        </p:nvGrpSpPr>
        <p:grpSpPr>
          <a:xfrm>
            <a:off x="0" y="-22510"/>
            <a:ext cx="12192000" cy="307777"/>
            <a:chOff x="0" y="-22510"/>
            <a:chExt cx="12192000" cy="307777"/>
          </a:xfrm>
        </p:grpSpPr>
        <p:sp>
          <p:nvSpPr>
            <p:cNvPr id="981" name="Google Shape;981;p62"/>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982" name="Google Shape;982;p62"/>
            <p:cNvSpPr txBox="1"/>
            <p:nvPr/>
          </p:nvSpPr>
          <p:spPr>
            <a:xfrm>
              <a:off x="188780" y="-22510"/>
              <a:ext cx="328731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Section 2  B+ Tree design &amp; cost</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8">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8">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8">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8">
                                            <p:txEl>
                                              <p:pRg end="14" st="1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63"/>
          <p:cNvSpPr/>
          <p:nvPr/>
        </p:nvSpPr>
        <p:spPr>
          <a:xfrm>
            <a:off x="2209800" y="6248400"/>
            <a:ext cx="1905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8" name="Google Shape;988;p63"/>
          <p:cNvSpPr/>
          <p:nvPr/>
        </p:nvSpPr>
        <p:spPr>
          <a:xfrm>
            <a:off x="4648200" y="6248400"/>
            <a:ext cx="289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9" name="Google Shape;989;p63"/>
          <p:cNvSpPr txBox="1"/>
          <p:nvPr>
            <p:ph type="title"/>
          </p:nvPr>
        </p:nvSpPr>
        <p:spPr>
          <a:xfrm>
            <a:off x="850900" y="611208"/>
            <a:ext cx="7772400" cy="1143000"/>
          </a:xfrm>
          <a:prstGeom prst="rect">
            <a:avLst/>
          </a:prstGeom>
          <a:noFill/>
          <a:ln>
            <a:noFill/>
          </a:ln>
        </p:spPr>
        <p:txBody>
          <a:bodyPr anchorCtr="0" anchor="ctr" bIns="46025" lIns="92075" spcFirstLastPara="1" rIns="92075" wrap="square" tIns="46025">
            <a:normAutofit/>
          </a:bodyPr>
          <a:lstStyle/>
          <a:p>
            <a:pPr indent="0" lvl="0" marL="0" rtl="0" algn="l">
              <a:lnSpc>
                <a:spcPct val="90000"/>
              </a:lnSpc>
              <a:spcBef>
                <a:spcPts val="0"/>
              </a:spcBef>
              <a:spcAft>
                <a:spcPts val="0"/>
              </a:spcAft>
              <a:buClr>
                <a:schemeClr val="dk1"/>
              </a:buClr>
              <a:buSzPts val="4400"/>
              <a:buFont typeface="Calibri"/>
              <a:buNone/>
            </a:pPr>
            <a:r>
              <a:rPr lang="en-US"/>
              <a:t>Simple Cost Model for Search</a:t>
            </a:r>
            <a:endParaRPr/>
          </a:p>
        </p:txBody>
      </p:sp>
      <p:sp>
        <p:nvSpPr>
          <p:cNvPr id="990" name="Google Shape;990;p63"/>
          <p:cNvSpPr txBox="1"/>
          <p:nvPr>
            <p:ph idx="1" type="body"/>
          </p:nvPr>
        </p:nvSpPr>
        <p:spPr>
          <a:xfrm>
            <a:off x="850900" y="1866900"/>
            <a:ext cx="10820400" cy="39624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US"/>
              <a:t> </a:t>
            </a:r>
            <a:endParaRPr/>
          </a:p>
        </p:txBody>
      </p:sp>
      <p:sp>
        <p:nvSpPr>
          <p:cNvPr id="991" name="Google Shape;991;p63"/>
          <p:cNvSpPr/>
          <p:nvPr/>
        </p:nvSpPr>
        <p:spPr>
          <a:xfrm>
            <a:off x="7810659" y="4045081"/>
            <a:ext cx="4161011" cy="1613519"/>
          </a:xfrm>
          <a:prstGeom prst="rect">
            <a:avLst/>
          </a:prstGeom>
          <a:noFill/>
          <a:ln>
            <a:noFill/>
          </a:ln>
          <a:effectLst>
            <a:outerShdw blurRad="50800" rotWithShape="0" algn="tl" dir="2700000" dist="12700">
              <a:srgbClr val="000000">
                <a:alpha val="4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grpSp>
        <p:nvGrpSpPr>
          <p:cNvPr id="992" name="Google Shape;992;p63"/>
          <p:cNvGrpSpPr/>
          <p:nvPr/>
        </p:nvGrpSpPr>
        <p:grpSpPr>
          <a:xfrm>
            <a:off x="0" y="-22510"/>
            <a:ext cx="12192000" cy="307777"/>
            <a:chOff x="0" y="-22510"/>
            <a:chExt cx="12192000" cy="307777"/>
          </a:xfrm>
        </p:grpSpPr>
        <p:sp>
          <p:nvSpPr>
            <p:cNvPr id="993" name="Google Shape;993;p63"/>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994" name="Google Shape;994;p63"/>
            <p:cNvSpPr txBox="1"/>
            <p:nvPr/>
          </p:nvSpPr>
          <p:spPr>
            <a:xfrm>
              <a:off x="188780" y="-22510"/>
              <a:ext cx="328731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Section 2  B+ Tree design &amp; cost</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0">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sp>
        <p:nvSpPr>
          <p:cNvPr id="999" name="Google Shape;999;p64"/>
          <p:cNvSpPr/>
          <p:nvPr/>
        </p:nvSpPr>
        <p:spPr>
          <a:xfrm>
            <a:off x="2209800" y="6248400"/>
            <a:ext cx="1905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0" name="Google Shape;1000;p64"/>
          <p:cNvSpPr/>
          <p:nvPr/>
        </p:nvSpPr>
        <p:spPr>
          <a:xfrm>
            <a:off x="4648200" y="6248400"/>
            <a:ext cx="289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1" name="Google Shape;1001;p64"/>
          <p:cNvSpPr txBox="1"/>
          <p:nvPr>
            <p:ph type="title"/>
          </p:nvPr>
        </p:nvSpPr>
        <p:spPr>
          <a:xfrm>
            <a:off x="850900" y="611208"/>
            <a:ext cx="7772400" cy="1143000"/>
          </a:xfrm>
          <a:prstGeom prst="rect">
            <a:avLst/>
          </a:prstGeom>
          <a:noFill/>
          <a:ln>
            <a:noFill/>
          </a:ln>
        </p:spPr>
        <p:txBody>
          <a:bodyPr anchorCtr="0" anchor="ctr" bIns="46025" lIns="92075" spcFirstLastPara="1" rIns="92075" wrap="square" tIns="46025">
            <a:normAutofit/>
          </a:bodyPr>
          <a:lstStyle/>
          <a:p>
            <a:pPr indent="0" lvl="0" marL="0" rtl="0" algn="l">
              <a:lnSpc>
                <a:spcPct val="90000"/>
              </a:lnSpc>
              <a:spcBef>
                <a:spcPts val="0"/>
              </a:spcBef>
              <a:spcAft>
                <a:spcPts val="0"/>
              </a:spcAft>
              <a:buClr>
                <a:schemeClr val="dk1"/>
              </a:buClr>
              <a:buSzPts val="4400"/>
              <a:buFont typeface="Calibri"/>
              <a:buNone/>
            </a:pPr>
            <a:r>
              <a:rPr lang="en-US"/>
              <a:t>Simple Cost Model for Search</a:t>
            </a:r>
            <a:endParaRPr/>
          </a:p>
        </p:txBody>
      </p:sp>
      <p:sp>
        <p:nvSpPr>
          <p:cNvPr id="1002" name="Google Shape;1002;p64"/>
          <p:cNvSpPr txBox="1"/>
          <p:nvPr>
            <p:ph idx="1" type="body"/>
          </p:nvPr>
        </p:nvSpPr>
        <p:spPr>
          <a:xfrm>
            <a:off x="850900" y="1866900"/>
            <a:ext cx="10820400" cy="2552700"/>
          </a:xfrm>
          <a:prstGeom prst="rect">
            <a:avLst/>
          </a:prstGeom>
          <a:noFill/>
          <a:ln>
            <a:noFill/>
          </a:ln>
        </p:spPr>
        <p:txBody>
          <a:bodyPr anchorCtr="0" anchor="t" bIns="46025" lIns="92075" spcFirstLastPara="1" rIns="92075" wrap="square" tIns="46025">
            <a:normAutofit/>
          </a:bodyPr>
          <a:lstStyle/>
          <a:p>
            <a:pPr indent="-228600" lvl="0" marL="228600" rtl="0" algn="l">
              <a:lnSpc>
                <a:spcPct val="90000"/>
              </a:lnSpc>
              <a:spcBef>
                <a:spcPts val="0"/>
              </a:spcBef>
              <a:spcAft>
                <a:spcPts val="0"/>
              </a:spcAft>
              <a:buClr>
                <a:schemeClr val="dk1"/>
              </a:buClr>
              <a:buSzPts val="2800"/>
              <a:buChar char="•"/>
            </a:pPr>
            <a:r>
              <a:rPr lang="en-US"/>
              <a:t>To do range search, we just follow the horizontal pointers</a:t>
            </a:r>
            <a:endParaRPr/>
          </a:p>
          <a:p>
            <a:pPr indent="-50800" lvl="0" marL="228600" rtl="0" algn="l">
              <a:lnSpc>
                <a:spcPct val="90000"/>
              </a:lnSpc>
              <a:spcBef>
                <a:spcPts val="1000"/>
              </a:spcBef>
              <a:spcAft>
                <a:spcPts val="0"/>
              </a:spcAft>
              <a:buClr>
                <a:schemeClr val="dk1"/>
              </a:buClr>
              <a:buSzPts val="2800"/>
              <a:buNone/>
            </a:pPr>
            <a:r>
              <a:t/>
            </a:r>
            <a:endParaRPr>
              <a:solidFill>
                <a:schemeClr val="accent6"/>
              </a:solidFill>
            </a:endParaRPr>
          </a:p>
          <a:p>
            <a:pPr indent="-228600" lvl="0" marL="228600" rtl="0" algn="l">
              <a:lnSpc>
                <a:spcPct val="90000"/>
              </a:lnSpc>
              <a:spcBef>
                <a:spcPts val="1000"/>
              </a:spcBef>
              <a:spcAft>
                <a:spcPts val="0"/>
              </a:spcAft>
              <a:buClr>
                <a:schemeClr val="dk1"/>
              </a:buClr>
              <a:buSzPts val="2800"/>
              <a:buChar char="•"/>
            </a:pPr>
            <a:r>
              <a:rPr lang="en-US"/>
              <a:t>The IO cost is that of loading additional leaf nodes we need to access + the IO cost of loading each </a:t>
            </a:r>
            <a:r>
              <a:rPr b="1" i="1" lang="en-US"/>
              <a:t>page</a:t>
            </a:r>
            <a:r>
              <a:rPr lang="en-US"/>
              <a:t> of the results- we phrase this as “Cost(OUT)”</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003" name="Google Shape;1003;p64"/>
          <p:cNvSpPr/>
          <p:nvPr/>
        </p:nvSpPr>
        <p:spPr>
          <a:xfrm>
            <a:off x="4180594" y="4527240"/>
            <a:ext cx="5690917" cy="1613519"/>
          </a:xfrm>
          <a:prstGeom prst="rect">
            <a:avLst/>
          </a:prstGeom>
          <a:noFill/>
          <a:ln>
            <a:noFill/>
          </a:ln>
          <a:effectLst>
            <a:outerShdw blurRad="50800" rotWithShape="0" algn="tl" dir="2700000" dist="12700">
              <a:srgbClr val="000000">
                <a:alpha val="4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grpSp>
        <p:nvGrpSpPr>
          <p:cNvPr id="1004" name="Google Shape;1004;p64"/>
          <p:cNvGrpSpPr/>
          <p:nvPr/>
        </p:nvGrpSpPr>
        <p:grpSpPr>
          <a:xfrm>
            <a:off x="0" y="-22510"/>
            <a:ext cx="12192000" cy="307777"/>
            <a:chOff x="0" y="-22510"/>
            <a:chExt cx="12192000" cy="307777"/>
          </a:xfrm>
        </p:grpSpPr>
        <p:sp>
          <p:nvSpPr>
            <p:cNvPr id="1005" name="Google Shape;1005;p64"/>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006" name="Google Shape;1006;p64"/>
            <p:cNvSpPr txBox="1"/>
            <p:nvPr/>
          </p:nvSpPr>
          <p:spPr>
            <a:xfrm>
              <a:off x="188780" y="-22510"/>
              <a:ext cx="328731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Section 2  B+ Tree design &amp; cost</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2">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p65"/>
          <p:cNvSpPr/>
          <p:nvPr/>
        </p:nvSpPr>
        <p:spPr>
          <a:xfrm>
            <a:off x="2209800" y="6248400"/>
            <a:ext cx="1905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2" name="Google Shape;1012;p65"/>
          <p:cNvSpPr/>
          <p:nvPr/>
        </p:nvSpPr>
        <p:spPr>
          <a:xfrm>
            <a:off x="4648200" y="6248400"/>
            <a:ext cx="289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3" name="Google Shape;1013;p65"/>
          <p:cNvSpPr txBox="1"/>
          <p:nvPr>
            <p:ph type="title"/>
          </p:nvPr>
        </p:nvSpPr>
        <p:spPr>
          <a:xfrm>
            <a:off x="850900" y="611208"/>
            <a:ext cx="7772400" cy="1143000"/>
          </a:xfrm>
          <a:prstGeom prst="rect">
            <a:avLst/>
          </a:prstGeom>
          <a:noFill/>
          <a:ln>
            <a:noFill/>
          </a:ln>
        </p:spPr>
        <p:txBody>
          <a:bodyPr anchorCtr="0" anchor="ctr" bIns="46025" lIns="92075" spcFirstLastPara="1" rIns="92075" wrap="square" tIns="46025">
            <a:normAutofit/>
          </a:bodyPr>
          <a:lstStyle/>
          <a:p>
            <a:pPr indent="0" lvl="0" marL="0" rtl="0" algn="l">
              <a:lnSpc>
                <a:spcPct val="90000"/>
              </a:lnSpc>
              <a:spcBef>
                <a:spcPts val="0"/>
              </a:spcBef>
              <a:spcAft>
                <a:spcPts val="0"/>
              </a:spcAft>
              <a:buClr>
                <a:schemeClr val="dk1"/>
              </a:buClr>
              <a:buSzPts val="4400"/>
              <a:buFont typeface="Calibri"/>
              <a:buNone/>
            </a:pPr>
            <a:r>
              <a:rPr lang="en-US"/>
              <a:t>Fast Insertions &amp; Self-Balancing</a:t>
            </a:r>
            <a:endParaRPr/>
          </a:p>
        </p:txBody>
      </p:sp>
      <p:sp>
        <p:nvSpPr>
          <p:cNvPr id="1014" name="Google Shape;1014;p65"/>
          <p:cNvSpPr txBox="1"/>
          <p:nvPr>
            <p:ph idx="1" type="body"/>
          </p:nvPr>
        </p:nvSpPr>
        <p:spPr>
          <a:xfrm>
            <a:off x="850900" y="1866900"/>
            <a:ext cx="10502900" cy="3733800"/>
          </a:xfrm>
          <a:prstGeom prst="rect">
            <a:avLst/>
          </a:prstGeom>
          <a:noFill/>
          <a:ln>
            <a:noFill/>
          </a:ln>
        </p:spPr>
        <p:txBody>
          <a:bodyPr anchorCtr="0" anchor="t" bIns="46025" lIns="92075" spcFirstLastPara="1" rIns="92075" wrap="square" tIns="46025">
            <a:normAutofit/>
          </a:bodyPr>
          <a:lstStyle/>
          <a:p>
            <a:pPr indent="-228600" lvl="0" marL="228600" rtl="0" algn="l">
              <a:lnSpc>
                <a:spcPct val="90000"/>
              </a:lnSpc>
              <a:spcBef>
                <a:spcPts val="0"/>
              </a:spcBef>
              <a:spcAft>
                <a:spcPts val="0"/>
              </a:spcAft>
              <a:buClr>
                <a:schemeClr val="dk1"/>
              </a:buClr>
              <a:buSzPts val="2800"/>
              <a:buChar char="•"/>
            </a:pPr>
            <a:r>
              <a:rPr lang="en-US"/>
              <a:t>We won’t go into specifics of B+ Tree insertion algorithm, but has several attractive qualities:</a:t>
            </a:r>
            <a:endParaRPr/>
          </a:p>
          <a:p>
            <a:pPr indent="-50800" lvl="0" marL="228600" rtl="0" algn="l">
              <a:lnSpc>
                <a:spcPct val="90000"/>
              </a:lnSpc>
              <a:spcBef>
                <a:spcPts val="1000"/>
              </a:spcBef>
              <a:spcAft>
                <a:spcPts val="0"/>
              </a:spcAft>
              <a:buClr>
                <a:schemeClr val="dk1"/>
              </a:buClr>
              <a:buSzPts val="2800"/>
              <a:buNone/>
            </a:pPr>
            <a:r>
              <a:t/>
            </a:r>
            <a:endParaRPr/>
          </a:p>
          <a:p>
            <a:pPr indent="-228600" lvl="1" marL="685800" rtl="0" algn="l">
              <a:lnSpc>
                <a:spcPct val="90000"/>
              </a:lnSpc>
              <a:spcBef>
                <a:spcPts val="500"/>
              </a:spcBef>
              <a:spcAft>
                <a:spcPts val="0"/>
              </a:spcAft>
              <a:buClr>
                <a:schemeClr val="dk1"/>
              </a:buClr>
              <a:buSzPts val="2400"/>
              <a:buChar char="•"/>
            </a:pPr>
            <a:r>
              <a:rPr b="1" lang="en-US"/>
              <a:t>~ Same cost as exact search</a:t>
            </a:r>
            <a:endParaRPr/>
          </a:p>
          <a:p>
            <a:pPr indent="-76200" lvl="1" marL="685800" rtl="0" algn="l">
              <a:lnSpc>
                <a:spcPct val="90000"/>
              </a:lnSpc>
              <a:spcBef>
                <a:spcPts val="500"/>
              </a:spcBef>
              <a:spcAft>
                <a:spcPts val="0"/>
              </a:spcAft>
              <a:buClr>
                <a:schemeClr val="dk1"/>
              </a:buClr>
              <a:buSzPts val="2400"/>
              <a:buNone/>
            </a:pPr>
            <a:r>
              <a:t/>
            </a:r>
            <a:endParaRPr b="1"/>
          </a:p>
          <a:p>
            <a:pPr indent="-228600" lvl="1" marL="685800" rtl="0" algn="l">
              <a:lnSpc>
                <a:spcPct val="90000"/>
              </a:lnSpc>
              <a:spcBef>
                <a:spcPts val="500"/>
              </a:spcBef>
              <a:spcAft>
                <a:spcPts val="0"/>
              </a:spcAft>
              <a:buClr>
                <a:schemeClr val="dk1"/>
              </a:buClr>
              <a:buSzPts val="2400"/>
              <a:buChar char="•"/>
            </a:pPr>
            <a:r>
              <a:rPr b="1" i="1" lang="en-US"/>
              <a:t>Self-balancing: </a:t>
            </a:r>
            <a:r>
              <a:rPr lang="en-US"/>
              <a:t>B+ Tree remains </a:t>
            </a:r>
            <a:r>
              <a:rPr b="1" lang="en-US"/>
              <a:t>balanced </a:t>
            </a:r>
            <a:r>
              <a:rPr lang="en-US"/>
              <a:t>(with respect to height) even after insert</a:t>
            </a:r>
            <a:endParaRPr i="1"/>
          </a:p>
          <a:p>
            <a:pPr indent="-76200" lvl="1" marL="685800" rtl="0" algn="l">
              <a:lnSpc>
                <a:spcPct val="90000"/>
              </a:lnSpc>
              <a:spcBef>
                <a:spcPts val="500"/>
              </a:spcBef>
              <a:spcAft>
                <a:spcPts val="0"/>
              </a:spcAft>
              <a:buClr>
                <a:schemeClr val="dk1"/>
              </a:buClr>
              <a:buSzPts val="2400"/>
              <a:buNone/>
            </a:pPr>
            <a:r>
              <a:t/>
            </a:r>
            <a:endParaRPr/>
          </a:p>
        </p:txBody>
      </p:sp>
      <p:sp>
        <p:nvSpPr>
          <p:cNvPr id="1015" name="Google Shape;1015;p65"/>
          <p:cNvSpPr txBox="1"/>
          <p:nvPr/>
        </p:nvSpPr>
        <p:spPr>
          <a:xfrm>
            <a:off x="1486429" y="5130105"/>
            <a:ext cx="9231842" cy="1384995"/>
          </a:xfrm>
          <a:prstGeom prst="rect">
            <a:avLst/>
          </a:prstGeom>
          <a:solidFill>
            <a:srgbClr val="E1EFD8"/>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alibri"/>
                <a:ea typeface="Calibri"/>
                <a:cs typeface="Calibri"/>
                <a:sym typeface="Calibri"/>
              </a:rPr>
              <a:t>B+ Trees also (relatively) fast for single insertions!</a:t>
            </a:r>
            <a:endParaRPr/>
          </a:p>
          <a:p>
            <a:pPr indent="0" lvl="0" marL="0" marR="0" rtl="0" algn="ctr">
              <a:spcBef>
                <a:spcPts val="0"/>
              </a:spcBef>
              <a:spcAft>
                <a:spcPts val="0"/>
              </a:spcAft>
              <a:buNone/>
            </a:pPr>
            <a:r>
              <a:rPr i="1" lang="en-US" sz="2800">
                <a:solidFill>
                  <a:schemeClr val="dk1"/>
                </a:solidFill>
                <a:latin typeface="Calibri"/>
                <a:ea typeface="Calibri"/>
                <a:cs typeface="Calibri"/>
                <a:sym typeface="Calibri"/>
              </a:rPr>
              <a:t>However, can become bottleneck if many insertions (if fill-factor slack is used up…)</a:t>
            </a:r>
            <a:endParaRPr/>
          </a:p>
        </p:txBody>
      </p:sp>
      <p:grpSp>
        <p:nvGrpSpPr>
          <p:cNvPr id="1016" name="Google Shape;1016;p65"/>
          <p:cNvGrpSpPr/>
          <p:nvPr/>
        </p:nvGrpSpPr>
        <p:grpSpPr>
          <a:xfrm>
            <a:off x="0" y="-22510"/>
            <a:ext cx="12192000" cy="307777"/>
            <a:chOff x="0" y="-22510"/>
            <a:chExt cx="12192000" cy="307777"/>
          </a:xfrm>
        </p:grpSpPr>
        <p:sp>
          <p:nvSpPr>
            <p:cNvPr id="1017" name="Google Shape;1017;p65"/>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018" name="Google Shape;1018;p65"/>
            <p:cNvSpPr txBox="1"/>
            <p:nvPr/>
          </p:nvSpPr>
          <p:spPr>
            <a:xfrm>
              <a:off x="188780" y="-22510"/>
              <a:ext cx="328731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Section 2  B+ Tree design &amp; cost</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5"/>
                                        </p:tgtEl>
                                        <p:attrNameLst>
                                          <p:attrName>style.visibility</p:attrName>
                                        </p:attrNameLst>
                                      </p:cBhvr>
                                      <p:to>
                                        <p:strVal val="visible"/>
                                      </p:to>
                                    </p:set>
                                    <p:animEffect filter="fade" transition="in">
                                      <p:cBhvr>
                                        <p:cTn dur="500"/>
                                        <p:tgtEl>
                                          <p:spTgt spid="10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66"/>
          <p:cNvSpPr/>
          <p:nvPr/>
        </p:nvSpPr>
        <p:spPr>
          <a:xfrm>
            <a:off x="2209800" y="6248400"/>
            <a:ext cx="1905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8" name="Google Shape;1028;p66"/>
          <p:cNvSpPr/>
          <p:nvPr/>
        </p:nvSpPr>
        <p:spPr>
          <a:xfrm>
            <a:off x="4648200" y="6248400"/>
            <a:ext cx="289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9" name="Google Shape;1029;p6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Clustered Indexes</a:t>
            </a:r>
            <a:endParaRPr/>
          </a:p>
        </p:txBody>
      </p:sp>
      <p:sp>
        <p:nvSpPr>
          <p:cNvPr id="1030" name="Google Shape;1030;p66"/>
          <p:cNvSpPr/>
          <p:nvPr/>
        </p:nvSpPr>
        <p:spPr>
          <a:xfrm>
            <a:off x="1743618" y="2767281"/>
            <a:ext cx="8670150" cy="193899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4000">
                <a:solidFill>
                  <a:schemeClr val="dk1"/>
                </a:solidFill>
                <a:latin typeface="Calibri"/>
                <a:ea typeface="Calibri"/>
                <a:cs typeface="Calibri"/>
                <a:sym typeface="Calibri"/>
              </a:rPr>
              <a:t>An index is </a:t>
            </a:r>
            <a:r>
              <a:rPr b="1" i="1" lang="en-US" sz="4000" u="sng">
                <a:solidFill>
                  <a:schemeClr val="dk1"/>
                </a:solidFill>
                <a:latin typeface="Calibri"/>
                <a:ea typeface="Calibri"/>
                <a:cs typeface="Calibri"/>
                <a:sym typeface="Calibri"/>
              </a:rPr>
              <a:t>clustered</a:t>
            </a:r>
            <a:r>
              <a:rPr lang="en-US" sz="4000">
                <a:solidFill>
                  <a:schemeClr val="dk1"/>
                </a:solidFill>
                <a:latin typeface="Calibri"/>
                <a:ea typeface="Calibri"/>
                <a:cs typeface="Calibri"/>
                <a:sym typeface="Calibri"/>
              </a:rPr>
              <a:t> if the underlying data is ordered in the same way as the index’s data entries.</a:t>
            </a:r>
            <a:endParaRPr/>
          </a:p>
        </p:txBody>
      </p:sp>
      <p:grpSp>
        <p:nvGrpSpPr>
          <p:cNvPr id="1031" name="Google Shape;1031;p66"/>
          <p:cNvGrpSpPr/>
          <p:nvPr/>
        </p:nvGrpSpPr>
        <p:grpSpPr>
          <a:xfrm>
            <a:off x="0" y="-22510"/>
            <a:ext cx="12192000" cy="307777"/>
            <a:chOff x="0" y="-22510"/>
            <a:chExt cx="12192000" cy="307777"/>
          </a:xfrm>
        </p:grpSpPr>
        <p:sp>
          <p:nvSpPr>
            <p:cNvPr id="1032" name="Google Shape;1032;p66"/>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033" name="Google Shape;1033;p66"/>
            <p:cNvSpPr txBox="1"/>
            <p:nvPr/>
          </p:nvSpPr>
          <p:spPr>
            <a:xfrm>
              <a:off x="188780" y="-22510"/>
              <a:ext cx="299889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Section 2  Clustered Indexes</a:t>
              </a:r>
              <a:endParaRPr/>
            </a:p>
          </p:txBody>
        </p:sp>
      </p:grpSp>
    </p:spTree>
  </p:cSld>
  <p:clrMapOvr>
    <a:masterClrMapping/>
  </p:clrMapOvr>
  <p:transition>
    <p:fade thruBlk="1"/>
  </p:transition>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p6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Clustered vs. Unclustered Index</a:t>
            </a:r>
            <a:endParaRPr/>
          </a:p>
        </p:txBody>
      </p:sp>
      <p:graphicFrame>
        <p:nvGraphicFramePr>
          <p:cNvPr id="1039" name="Google Shape;1039;p67"/>
          <p:cNvGraphicFramePr/>
          <p:nvPr/>
        </p:nvGraphicFramePr>
        <p:xfrm>
          <a:off x="2239669" y="1982175"/>
          <a:ext cx="3000000" cy="3000000"/>
        </p:xfrm>
        <a:graphic>
          <a:graphicData uri="http://schemas.openxmlformats.org/drawingml/2006/table">
            <a:tbl>
              <a:tblPr>
                <a:noFill/>
                <a:tableStyleId>{FF1A8D6A-5F5D-4DE5-8CDF-4A8D1DE8ED13}</a:tableStyleId>
              </a:tblPr>
              <a:tblGrid>
                <a:gridCol w="587575"/>
                <a:gridCol w="572650"/>
              </a:tblGrid>
              <a:tr h="342900">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1" i="0" lang="en-US" sz="1400" u="none" cap="none" strike="noStrike">
                          <a:solidFill>
                            <a:schemeClr val="dk1"/>
                          </a:solidFill>
                          <a:latin typeface="Book Antiqua"/>
                          <a:ea typeface="Book Antiqua"/>
                          <a:cs typeface="Book Antiqua"/>
                          <a:sym typeface="Book Antiqua"/>
                        </a:rPr>
                        <a:t>30</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42900">
                <a:tc>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cxnSp>
        <p:nvCxnSpPr>
          <p:cNvPr id="1040" name="Google Shape;1040;p67"/>
          <p:cNvCxnSpPr/>
          <p:nvPr/>
        </p:nvCxnSpPr>
        <p:spPr>
          <a:xfrm flipH="1">
            <a:off x="1758552" y="2478279"/>
            <a:ext cx="854700" cy="893100"/>
          </a:xfrm>
          <a:prstGeom prst="straightConnector1">
            <a:avLst/>
          </a:prstGeom>
          <a:noFill/>
          <a:ln cap="flat" cmpd="sng" w="25400">
            <a:solidFill>
              <a:schemeClr val="dk1"/>
            </a:solidFill>
            <a:prstDash val="solid"/>
            <a:miter lim="800000"/>
            <a:headEnd len="sm" w="sm" type="none"/>
            <a:tailEnd len="med" w="med" type="triangle"/>
          </a:ln>
        </p:spPr>
      </p:cxnSp>
      <p:graphicFrame>
        <p:nvGraphicFramePr>
          <p:cNvPr id="1041" name="Google Shape;1041;p67"/>
          <p:cNvGraphicFramePr/>
          <p:nvPr/>
        </p:nvGraphicFramePr>
        <p:xfrm>
          <a:off x="903697" y="3371319"/>
          <a:ext cx="3000000" cy="3000000"/>
        </p:xfrm>
        <a:graphic>
          <a:graphicData uri="http://schemas.openxmlformats.org/drawingml/2006/table">
            <a:tbl>
              <a:tblPr>
                <a:noFill/>
                <a:tableStyleId>{FF1A8D6A-5F5D-4DE5-8CDF-4A8D1DE8ED13}</a:tableStyleId>
              </a:tblPr>
              <a:tblGrid>
                <a:gridCol w="239125"/>
                <a:gridCol w="198425"/>
                <a:gridCol w="198425"/>
                <a:gridCol w="198425"/>
                <a:gridCol w="239125"/>
                <a:gridCol w="198425"/>
                <a:gridCol w="198425"/>
                <a:gridCol w="239125"/>
              </a:tblGrid>
              <a:tr h="359225">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22</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25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28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29</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59225">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EAF6"/>
                    </a:solidFill>
                  </a:tcPr>
                </a:tc>
              </a:tr>
            </a:tbl>
          </a:graphicData>
        </a:graphic>
      </p:graphicFrame>
      <p:graphicFrame>
        <p:nvGraphicFramePr>
          <p:cNvPr id="1042" name="Google Shape;1042;p67"/>
          <p:cNvGraphicFramePr/>
          <p:nvPr/>
        </p:nvGraphicFramePr>
        <p:xfrm>
          <a:off x="3029482" y="3360433"/>
          <a:ext cx="3000000" cy="3000000"/>
        </p:xfrm>
        <a:graphic>
          <a:graphicData uri="http://schemas.openxmlformats.org/drawingml/2006/table">
            <a:tbl>
              <a:tblPr>
                <a:noFill/>
                <a:tableStyleId>{FF1A8D6A-5F5D-4DE5-8CDF-4A8D1DE8ED13}</a:tableStyleId>
              </a:tblPr>
              <a:tblGrid>
                <a:gridCol w="240400"/>
                <a:gridCol w="199475"/>
                <a:gridCol w="199475"/>
                <a:gridCol w="199475"/>
                <a:gridCol w="240400"/>
                <a:gridCol w="199475"/>
                <a:gridCol w="199475"/>
                <a:gridCol w="240400"/>
              </a:tblGrid>
              <a:tr h="359225">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32</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34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37</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38</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59225">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EAF6"/>
                    </a:solidFill>
                  </a:tcPr>
                </a:tc>
              </a:tr>
            </a:tbl>
          </a:graphicData>
        </a:graphic>
      </p:graphicFrame>
      <p:cxnSp>
        <p:nvCxnSpPr>
          <p:cNvPr id="1043" name="Google Shape;1043;p67"/>
          <p:cNvCxnSpPr/>
          <p:nvPr/>
        </p:nvCxnSpPr>
        <p:spPr>
          <a:xfrm>
            <a:off x="3094447" y="2478279"/>
            <a:ext cx="794400" cy="882300"/>
          </a:xfrm>
          <a:prstGeom prst="straightConnector1">
            <a:avLst/>
          </a:prstGeom>
          <a:noFill/>
          <a:ln cap="flat" cmpd="sng" w="25400">
            <a:solidFill>
              <a:schemeClr val="dk1"/>
            </a:solidFill>
            <a:prstDash val="solid"/>
            <a:miter lim="800000"/>
            <a:headEnd len="sm" w="sm" type="none"/>
            <a:tailEnd len="med" w="med" type="triangle"/>
          </a:ln>
        </p:spPr>
      </p:cxnSp>
      <p:cxnSp>
        <p:nvCxnSpPr>
          <p:cNvPr id="1044" name="Google Shape;1044;p67"/>
          <p:cNvCxnSpPr>
            <a:endCxn id="1045" idx="0"/>
          </p:cNvCxnSpPr>
          <p:nvPr/>
        </p:nvCxnSpPr>
        <p:spPr>
          <a:xfrm flipH="1">
            <a:off x="827883" y="3888532"/>
            <a:ext cx="176100" cy="640800"/>
          </a:xfrm>
          <a:prstGeom prst="straightConnector1">
            <a:avLst/>
          </a:prstGeom>
          <a:noFill/>
          <a:ln cap="flat" cmpd="sng" w="25400">
            <a:solidFill>
              <a:schemeClr val="dk1"/>
            </a:solidFill>
            <a:prstDash val="solid"/>
            <a:miter lim="800000"/>
            <a:headEnd len="sm" w="sm" type="none"/>
            <a:tailEnd len="med" w="med" type="triangle"/>
          </a:ln>
        </p:spPr>
      </p:cxnSp>
      <p:sp>
        <p:nvSpPr>
          <p:cNvPr id="1045" name="Google Shape;1045;p67"/>
          <p:cNvSpPr txBox="1"/>
          <p:nvPr/>
        </p:nvSpPr>
        <p:spPr>
          <a:xfrm>
            <a:off x="618531" y="4529332"/>
            <a:ext cx="418704" cy="369332"/>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19</a:t>
            </a:r>
            <a:endParaRPr/>
          </a:p>
        </p:txBody>
      </p:sp>
      <p:cxnSp>
        <p:nvCxnSpPr>
          <p:cNvPr id="1046" name="Google Shape;1046;p67"/>
          <p:cNvCxnSpPr>
            <a:endCxn id="1047" idx="0"/>
          </p:cNvCxnSpPr>
          <p:nvPr/>
        </p:nvCxnSpPr>
        <p:spPr>
          <a:xfrm>
            <a:off x="1337492" y="3896932"/>
            <a:ext cx="58200" cy="632400"/>
          </a:xfrm>
          <a:prstGeom prst="straightConnector1">
            <a:avLst/>
          </a:prstGeom>
          <a:noFill/>
          <a:ln cap="flat" cmpd="sng" w="25400">
            <a:solidFill>
              <a:schemeClr val="dk1"/>
            </a:solidFill>
            <a:prstDash val="solid"/>
            <a:miter lim="800000"/>
            <a:headEnd len="sm" w="sm" type="none"/>
            <a:tailEnd len="med" w="med" type="triangle"/>
          </a:ln>
        </p:spPr>
      </p:cxnSp>
      <p:sp>
        <p:nvSpPr>
          <p:cNvPr id="1047" name="Google Shape;1047;p67"/>
          <p:cNvSpPr txBox="1"/>
          <p:nvPr/>
        </p:nvSpPr>
        <p:spPr>
          <a:xfrm>
            <a:off x="1186340" y="4529332"/>
            <a:ext cx="418704" cy="369332"/>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22</a:t>
            </a:r>
            <a:endParaRPr/>
          </a:p>
        </p:txBody>
      </p:sp>
      <p:cxnSp>
        <p:nvCxnSpPr>
          <p:cNvPr id="1048" name="Google Shape;1048;p67"/>
          <p:cNvCxnSpPr>
            <a:endCxn id="1049" idx="0"/>
          </p:cNvCxnSpPr>
          <p:nvPr/>
        </p:nvCxnSpPr>
        <p:spPr>
          <a:xfrm>
            <a:off x="1765801" y="3896764"/>
            <a:ext cx="197700" cy="640800"/>
          </a:xfrm>
          <a:prstGeom prst="straightConnector1">
            <a:avLst/>
          </a:prstGeom>
          <a:noFill/>
          <a:ln cap="flat" cmpd="sng" w="25400">
            <a:solidFill>
              <a:schemeClr val="dk1"/>
            </a:solidFill>
            <a:prstDash val="solid"/>
            <a:miter lim="800000"/>
            <a:headEnd len="sm" w="sm" type="none"/>
            <a:tailEnd len="med" w="med" type="triangle"/>
          </a:ln>
        </p:spPr>
      </p:cxnSp>
      <p:sp>
        <p:nvSpPr>
          <p:cNvPr id="1049" name="Google Shape;1049;p67"/>
          <p:cNvSpPr txBox="1"/>
          <p:nvPr/>
        </p:nvSpPr>
        <p:spPr>
          <a:xfrm>
            <a:off x="1754149" y="4537564"/>
            <a:ext cx="418704" cy="369332"/>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27</a:t>
            </a:r>
            <a:endParaRPr/>
          </a:p>
        </p:txBody>
      </p:sp>
      <p:cxnSp>
        <p:nvCxnSpPr>
          <p:cNvPr id="1050" name="Google Shape;1050;p67"/>
          <p:cNvCxnSpPr>
            <a:endCxn id="1051" idx="0"/>
          </p:cNvCxnSpPr>
          <p:nvPr/>
        </p:nvCxnSpPr>
        <p:spPr>
          <a:xfrm>
            <a:off x="2178810" y="3896695"/>
            <a:ext cx="352500" cy="639600"/>
          </a:xfrm>
          <a:prstGeom prst="straightConnector1">
            <a:avLst/>
          </a:prstGeom>
          <a:noFill/>
          <a:ln cap="flat" cmpd="sng" w="25400">
            <a:solidFill>
              <a:schemeClr val="dk1"/>
            </a:solidFill>
            <a:prstDash val="solid"/>
            <a:miter lim="800000"/>
            <a:headEnd len="sm" w="sm" type="none"/>
            <a:tailEnd len="med" w="med" type="triangle"/>
          </a:ln>
        </p:spPr>
      </p:cxnSp>
      <p:sp>
        <p:nvSpPr>
          <p:cNvPr id="1051" name="Google Shape;1051;p67"/>
          <p:cNvSpPr txBox="1"/>
          <p:nvPr/>
        </p:nvSpPr>
        <p:spPr>
          <a:xfrm>
            <a:off x="2321958" y="4536295"/>
            <a:ext cx="418704" cy="369332"/>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28</a:t>
            </a:r>
            <a:endParaRPr/>
          </a:p>
        </p:txBody>
      </p:sp>
      <p:cxnSp>
        <p:nvCxnSpPr>
          <p:cNvPr id="1052" name="Google Shape;1052;p67"/>
          <p:cNvCxnSpPr>
            <a:endCxn id="1053" idx="0"/>
          </p:cNvCxnSpPr>
          <p:nvPr/>
        </p:nvCxnSpPr>
        <p:spPr>
          <a:xfrm flipH="1">
            <a:off x="3099119" y="3984295"/>
            <a:ext cx="69600" cy="552000"/>
          </a:xfrm>
          <a:prstGeom prst="straightConnector1">
            <a:avLst/>
          </a:prstGeom>
          <a:noFill/>
          <a:ln cap="flat" cmpd="sng" w="25400">
            <a:solidFill>
              <a:schemeClr val="dk1"/>
            </a:solidFill>
            <a:prstDash val="solid"/>
            <a:miter lim="800000"/>
            <a:headEnd len="sm" w="sm" type="none"/>
            <a:tailEnd len="med" w="med" type="triangle"/>
          </a:ln>
        </p:spPr>
      </p:cxnSp>
      <p:sp>
        <p:nvSpPr>
          <p:cNvPr id="1053" name="Google Shape;1053;p67"/>
          <p:cNvSpPr txBox="1"/>
          <p:nvPr/>
        </p:nvSpPr>
        <p:spPr>
          <a:xfrm>
            <a:off x="2889767" y="4536295"/>
            <a:ext cx="418704" cy="369332"/>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30</a:t>
            </a:r>
            <a:endParaRPr/>
          </a:p>
        </p:txBody>
      </p:sp>
      <p:cxnSp>
        <p:nvCxnSpPr>
          <p:cNvPr id="1054" name="Google Shape;1054;p67"/>
          <p:cNvCxnSpPr>
            <a:endCxn id="1055" idx="0"/>
          </p:cNvCxnSpPr>
          <p:nvPr/>
        </p:nvCxnSpPr>
        <p:spPr>
          <a:xfrm>
            <a:off x="3478228" y="3895795"/>
            <a:ext cx="188700" cy="640500"/>
          </a:xfrm>
          <a:prstGeom prst="straightConnector1">
            <a:avLst/>
          </a:prstGeom>
          <a:noFill/>
          <a:ln cap="flat" cmpd="sng" w="25400">
            <a:solidFill>
              <a:schemeClr val="dk1"/>
            </a:solidFill>
            <a:prstDash val="solid"/>
            <a:miter lim="800000"/>
            <a:headEnd len="sm" w="sm" type="none"/>
            <a:tailEnd len="med" w="med" type="triangle"/>
          </a:ln>
        </p:spPr>
      </p:cxnSp>
      <p:sp>
        <p:nvSpPr>
          <p:cNvPr id="1055" name="Google Shape;1055;p67"/>
          <p:cNvSpPr txBox="1"/>
          <p:nvPr/>
        </p:nvSpPr>
        <p:spPr>
          <a:xfrm>
            <a:off x="3457576" y="4536295"/>
            <a:ext cx="418704" cy="369332"/>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33</a:t>
            </a:r>
            <a:endParaRPr/>
          </a:p>
        </p:txBody>
      </p:sp>
      <p:cxnSp>
        <p:nvCxnSpPr>
          <p:cNvPr id="1056" name="Google Shape;1056;p67"/>
          <p:cNvCxnSpPr>
            <a:endCxn id="1057" idx="0"/>
          </p:cNvCxnSpPr>
          <p:nvPr/>
        </p:nvCxnSpPr>
        <p:spPr>
          <a:xfrm>
            <a:off x="3884337" y="3895795"/>
            <a:ext cx="350400" cy="640500"/>
          </a:xfrm>
          <a:prstGeom prst="straightConnector1">
            <a:avLst/>
          </a:prstGeom>
          <a:noFill/>
          <a:ln cap="flat" cmpd="sng" w="25400">
            <a:solidFill>
              <a:schemeClr val="dk1"/>
            </a:solidFill>
            <a:prstDash val="solid"/>
            <a:miter lim="800000"/>
            <a:headEnd len="sm" w="sm" type="none"/>
            <a:tailEnd len="med" w="med" type="triangle"/>
          </a:ln>
        </p:spPr>
      </p:cxnSp>
      <p:sp>
        <p:nvSpPr>
          <p:cNvPr id="1057" name="Google Shape;1057;p67"/>
          <p:cNvSpPr txBox="1"/>
          <p:nvPr/>
        </p:nvSpPr>
        <p:spPr>
          <a:xfrm>
            <a:off x="4025385" y="4536295"/>
            <a:ext cx="418704" cy="369332"/>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35</a:t>
            </a:r>
            <a:endParaRPr/>
          </a:p>
        </p:txBody>
      </p:sp>
      <p:cxnSp>
        <p:nvCxnSpPr>
          <p:cNvPr id="1058" name="Google Shape;1058;p67"/>
          <p:cNvCxnSpPr>
            <a:endCxn id="1059" idx="0"/>
          </p:cNvCxnSpPr>
          <p:nvPr/>
        </p:nvCxnSpPr>
        <p:spPr>
          <a:xfrm>
            <a:off x="4242745" y="3887932"/>
            <a:ext cx="559800" cy="641400"/>
          </a:xfrm>
          <a:prstGeom prst="straightConnector1">
            <a:avLst/>
          </a:prstGeom>
          <a:noFill/>
          <a:ln cap="flat" cmpd="sng" w="25400">
            <a:solidFill>
              <a:schemeClr val="dk1"/>
            </a:solidFill>
            <a:prstDash val="solid"/>
            <a:miter lim="800000"/>
            <a:headEnd len="sm" w="sm" type="none"/>
            <a:tailEnd len="med" w="med" type="triangle"/>
          </a:ln>
        </p:spPr>
      </p:cxnSp>
      <p:sp>
        <p:nvSpPr>
          <p:cNvPr id="1059" name="Google Shape;1059;p67"/>
          <p:cNvSpPr txBox="1"/>
          <p:nvPr/>
        </p:nvSpPr>
        <p:spPr>
          <a:xfrm>
            <a:off x="4593193" y="4529332"/>
            <a:ext cx="418704" cy="369332"/>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37</a:t>
            </a:r>
            <a:endParaRPr/>
          </a:p>
        </p:txBody>
      </p:sp>
      <p:cxnSp>
        <p:nvCxnSpPr>
          <p:cNvPr id="1060" name="Google Shape;1060;p67"/>
          <p:cNvCxnSpPr/>
          <p:nvPr/>
        </p:nvCxnSpPr>
        <p:spPr>
          <a:xfrm flipH="1" rot="10800000">
            <a:off x="2447323" y="3888538"/>
            <a:ext cx="764586" cy="2"/>
          </a:xfrm>
          <a:prstGeom prst="straightConnector1">
            <a:avLst/>
          </a:prstGeom>
          <a:noFill/>
          <a:ln cap="flat" cmpd="sng" w="25400">
            <a:solidFill>
              <a:schemeClr val="accent2"/>
            </a:solidFill>
            <a:prstDash val="solid"/>
            <a:miter lim="800000"/>
            <a:headEnd len="sm" w="sm" type="none"/>
            <a:tailEnd len="med" w="med" type="triangle"/>
          </a:ln>
        </p:spPr>
      </p:cxnSp>
      <p:graphicFrame>
        <p:nvGraphicFramePr>
          <p:cNvPr id="1061" name="Google Shape;1061;p67"/>
          <p:cNvGraphicFramePr/>
          <p:nvPr/>
        </p:nvGraphicFramePr>
        <p:xfrm>
          <a:off x="8610782" y="1982175"/>
          <a:ext cx="3000000" cy="3000000"/>
        </p:xfrm>
        <a:graphic>
          <a:graphicData uri="http://schemas.openxmlformats.org/drawingml/2006/table">
            <a:tbl>
              <a:tblPr>
                <a:noFill/>
                <a:tableStyleId>{FF1A8D6A-5F5D-4DE5-8CDF-4A8D1DE8ED13}</a:tableStyleId>
              </a:tblPr>
              <a:tblGrid>
                <a:gridCol w="587575"/>
                <a:gridCol w="572650"/>
              </a:tblGrid>
              <a:tr h="342900">
                <a:tc gridSpan="2">
                  <a:txBody>
                    <a:bodyPr/>
                    <a:lstStyle/>
                    <a:p>
                      <a:pPr indent="0" lvl="0" marL="0" marR="0" rtl="0" algn="ctr">
                        <a:lnSpc>
                          <a:spcPct val="100000"/>
                        </a:lnSpc>
                        <a:spcBef>
                          <a:spcPts val="0"/>
                        </a:spcBef>
                        <a:spcAft>
                          <a:spcPts val="0"/>
                        </a:spcAft>
                        <a:buClr>
                          <a:schemeClr val="dk1"/>
                        </a:buClr>
                        <a:buSzPts val="1050"/>
                        <a:buFont typeface="Noto Sans Symbols"/>
                        <a:buNone/>
                      </a:pPr>
                      <a:r>
                        <a:rPr b="1" i="0" lang="en-US" sz="1400" u="none" cap="none" strike="noStrike">
                          <a:solidFill>
                            <a:schemeClr val="dk1"/>
                          </a:solidFill>
                          <a:latin typeface="Book Antiqua"/>
                          <a:ea typeface="Book Antiqua"/>
                          <a:cs typeface="Book Antiqua"/>
                          <a:sym typeface="Book Antiqua"/>
                        </a:rPr>
                        <a:t>30</a:t>
                      </a:r>
                      <a:endParaRPr/>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42900">
                <a:tc>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050"/>
                        <a:buFont typeface="Noto Sans Symbols"/>
                        <a:buNone/>
                      </a:pPr>
                      <a:r>
                        <a:t/>
                      </a:r>
                      <a:endParaRPr b="0" i="0" sz="14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cxnSp>
        <p:nvCxnSpPr>
          <p:cNvPr id="1062" name="Google Shape;1062;p67"/>
          <p:cNvCxnSpPr/>
          <p:nvPr/>
        </p:nvCxnSpPr>
        <p:spPr>
          <a:xfrm flipH="1">
            <a:off x="8129665" y="2478279"/>
            <a:ext cx="854700" cy="893100"/>
          </a:xfrm>
          <a:prstGeom prst="straightConnector1">
            <a:avLst/>
          </a:prstGeom>
          <a:noFill/>
          <a:ln cap="flat" cmpd="sng" w="25400">
            <a:solidFill>
              <a:schemeClr val="dk1"/>
            </a:solidFill>
            <a:prstDash val="solid"/>
            <a:miter lim="800000"/>
            <a:headEnd len="sm" w="sm" type="none"/>
            <a:tailEnd len="med" w="med" type="triangle"/>
          </a:ln>
        </p:spPr>
      </p:cxnSp>
      <p:graphicFrame>
        <p:nvGraphicFramePr>
          <p:cNvPr id="1063" name="Google Shape;1063;p67"/>
          <p:cNvGraphicFramePr/>
          <p:nvPr/>
        </p:nvGraphicFramePr>
        <p:xfrm>
          <a:off x="7274810" y="3371319"/>
          <a:ext cx="3000000" cy="3000000"/>
        </p:xfrm>
        <a:graphic>
          <a:graphicData uri="http://schemas.openxmlformats.org/drawingml/2006/table">
            <a:tbl>
              <a:tblPr>
                <a:noFill/>
                <a:tableStyleId>{FF1A8D6A-5F5D-4DE5-8CDF-4A8D1DE8ED13}</a:tableStyleId>
              </a:tblPr>
              <a:tblGrid>
                <a:gridCol w="239125"/>
                <a:gridCol w="198425"/>
                <a:gridCol w="198425"/>
                <a:gridCol w="198425"/>
                <a:gridCol w="239125"/>
                <a:gridCol w="198425"/>
                <a:gridCol w="198425"/>
                <a:gridCol w="239125"/>
              </a:tblGrid>
              <a:tr h="359225">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22</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25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28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29</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59225">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EAF6"/>
                    </a:solidFill>
                  </a:tcPr>
                </a:tc>
              </a:tr>
            </a:tbl>
          </a:graphicData>
        </a:graphic>
      </p:graphicFrame>
      <p:graphicFrame>
        <p:nvGraphicFramePr>
          <p:cNvPr id="1064" name="Google Shape;1064;p67"/>
          <p:cNvGraphicFramePr/>
          <p:nvPr/>
        </p:nvGraphicFramePr>
        <p:xfrm>
          <a:off x="9400595" y="3360433"/>
          <a:ext cx="3000000" cy="3000000"/>
        </p:xfrm>
        <a:graphic>
          <a:graphicData uri="http://schemas.openxmlformats.org/drawingml/2006/table">
            <a:tbl>
              <a:tblPr>
                <a:noFill/>
                <a:tableStyleId>{FF1A8D6A-5F5D-4DE5-8CDF-4A8D1DE8ED13}</a:tableStyleId>
              </a:tblPr>
              <a:tblGrid>
                <a:gridCol w="240400"/>
                <a:gridCol w="199475"/>
                <a:gridCol w="199475"/>
                <a:gridCol w="199475"/>
                <a:gridCol w="240400"/>
                <a:gridCol w="199475"/>
                <a:gridCol w="199475"/>
                <a:gridCol w="240400"/>
              </a:tblGrid>
              <a:tr h="359225">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32</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34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37</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rPr b="0" i="0" lang="en-US" sz="1200" u="none" cap="none" strike="noStrike">
                          <a:solidFill>
                            <a:schemeClr val="dk1"/>
                          </a:solidFill>
                          <a:latin typeface="Book Antiqua"/>
                          <a:ea typeface="Book Antiqua"/>
                          <a:cs typeface="Book Antiqua"/>
                          <a:sym typeface="Book Antiqua"/>
                        </a:rPr>
                        <a:t>38</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59225">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900"/>
                        <a:buFont typeface="Noto Sans Symbols"/>
                        <a:buNone/>
                      </a:pPr>
                      <a:r>
                        <a:t/>
                      </a:r>
                      <a:endParaRPr b="0" i="0" sz="1200" u="none" cap="none" strike="noStrike">
                        <a:solidFill>
                          <a:schemeClr val="dk1"/>
                        </a:solidFill>
                        <a:latin typeface="Book Antiqua"/>
                        <a:ea typeface="Book Antiqua"/>
                        <a:cs typeface="Book Antiqua"/>
                        <a:sym typeface="Book Antiqu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DDEAF6"/>
                    </a:solidFill>
                  </a:tcPr>
                </a:tc>
              </a:tr>
            </a:tbl>
          </a:graphicData>
        </a:graphic>
      </p:graphicFrame>
      <p:cxnSp>
        <p:nvCxnSpPr>
          <p:cNvPr id="1065" name="Google Shape;1065;p67"/>
          <p:cNvCxnSpPr>
            <a:endCxn id="1066" idx="0"/>
          </p:cNvCxnSpPr>
          <p:nvPr/>
        </p:nvCxnSpPr>
        <p:spPr>
          <a:xfrm>
            <a:off x="8112314" y="3920164"/>
            <a:ext cx="222300" cy="617400"/>
          </a:xfrm>
          <a:prstGeom prst="straightConnector1">
            <a:avLst/>
          </a:prstGeom>
          <a:noFill/>
          <a:ln cap="flat" cmpd="sng" w="25400">
            <a:solidFill>
              <a:srgbClr val="FF0000"/>
            </a:solidFill>
            <a:prstDash val="solid"/>
            <a:miter lim="800000"/>
            <a:headEnd len="sm" w="sm" type="none"/>
            <a:tailEnd len="med" w="med" type="triangle"/>
          </a:ln>
        </p:spPr>
      </p:cxnSp>
      <p:sp>
        <p:nvSpPr>
          <p:cNvPr id="1067" name="Google Shape;1067;p67"/>
          <p:cNvSpPr txBox="1"/>
          <p:nvPr/>
        </p:nvSpPr>
        <p:spPr>
          <a:xfrm>
            <a:off x="6989644" y="4529332"/>
            <a:ext cx="418704" cy="369332"/>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19</a:t>
            </a:r>
            <a:endParaRPr/>
          </a:p>
        </p:txBody>
      </p:sp>
      <p:cxnSp>
        <p:nvCxnSpPr>
          <p:cNvPr id="1068" name="Google Shape;1068;p67"/>
          <p:cNvCxnSpPr>
            <a:endCxn id="1069" idx="0"/>
          </p:cNvCxnSpPr>
          <p:nvPr/>
        </p:nvCxnSpPr>
        <p:spPr>
          <a:xfrm flipH="1">
            <a:off x="9455520" y="3920307"/>
            <a:ext cx="1225800" cy="607800"/>
          </a:xfrm>
          <a:prstGeom prst="straightConnector1">
            <a:avLst/>
          </a:prstGeom>
          <a:noFill/>
          <a:ln cap="flat" cmpd="sng" w="25400">
            <a:solidFill>
              <a:srgbClr val="FF0000"/>
            </a:solidFill>
            <a:prstDash val="solid"/>
            <a:miter lim="800000"/>
            <a:headEnd len="sm" w="sm" type="none"/>
            <a:tailEnd len="med" w="med" type="triangle"/>
          </a:ln>
        </p:spPr>
      </p:cxnSp>
      <p:sp>
        <p:nvSpPr>
          <p:cNvPr id="1070" name="Google Shape;1070;p67"/>
          <p:cNvSpPr txBox="1"/>
          <p:nvPr/>
        </p:nvSpPr>
        <p:spPr>
          <a:xfrm>
            <a:off x="8701051" y="4529332"/>
            <a:ext cx="418704" cy="369332"/>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22</a:t>
            </a:r>
            <a:endParaRPr/>
          </a:p>
        </p:txBody>
      </p:sp>
      <p:cxnSp>
        <p:nvCxnSpPr>
          <p:cNvPr id="1071" name="Google Shape;1071;p67"/>
          <p:cNvCxnSpPr>
            <a:endCxn id="1067" idx="0"/>
          </p:cNvCxnSpPr>
          <p:nvPr/>
        </p:nvCxnSpPr>
        <p:spPr>
          <a:xfrm flipH="1">
            <a:off x="7198996" y="3903532"/>
            <a:ext cx="187800" cy="625800"/>
          </a:xfrm>
          <a:prstGeom prst="straightConnector1">
            <a:avLst/>
          </a:prstGeom>
          <a:noFill/>
          <a:ln cap="flat" cmpd="sng" w="25400">
            <a:solidFill>
              <a:srgbClr val="FF0000"/>
            </a:solidFill>
            <a:prstDash val="solid"/>
            <a:miter lim="800000"/>
            <a:headEnd len="sm" w="sm" type="none"/>
            <a:tailEnd len="med" w="med" type="triangle"/>
          </a:ln>
        </p:spPr>
      </p:cxnSp>
      <p:sp>
        <p:nvSpPr>
          <p:cNvPr id="1066" name="Google Shape;1066;p67"/>
          <p:cNvSpPr txBox="1"/>
          <p:nvPr/>
        </p:nvSpPr>
        <p:spPr>
          <a:xfrm>
            <a:off x="8125262" y="4537564"/>
            <a:ext cx="418704" cy="369332"/>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27</a:t>
            </a:r>
            <a:endParaRPr/>
          </a:p>
        </p:txBody>
      </p:sp>
      <p:cxnSp>
        <p:nvCxnSpPr>
          <p:cNvPr id="1072" name="Google Shape;1072;p67"/>
          <p:cNvCxnSpPr>
            <a:endCxn id="1073" idx="0"/>
          </p:cNvCxnSpPr>
          <p:nvPr/>
        </p:nvCxnSpPr>
        <p:spPr>
          <a:xfrm>
            <a:off x="8549953" y="3896680"/>
            <a:ext cx="1459200" cy="645300"/>
          </a:xfrm>
          <a:prstGeom prst="straightConnector1">
            <a:avLst/>
          </a:prstGeom>
          <a:noFill/>
          <a:ln cap="flat" cmpd="sng" w="25400">
            <a:solidFill>
              <a:srgbClr val="FF0000"/>
            </a:solidFill>
            <a:prstDash val="solid"/>
            <a:miter lim="800000"/>
            <a:headEnd len="sm" w="sm" type="none"/>
            <a:tailEnd len="med" w="med" type="triangle"/>
          </a:ln>
        </p:spPr>
      </p:cxnSp>
      <p:sp>
        <p:nvSpPr>
          <p:cNvPr id="1073" name="Google Shape;1073;p67"/>
          <p:cNvSpPr txBox="1"/>
          <p:nvPr/>
        </p:nvSpPr>
        <p:spPr>
          <a:xfrm>
            <a:off x="9799801" y="4541980"/>
            <a:ext cx="418704" cy="369332"/>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28</a:t>
            </a:r>
            <a:endParaRPr/>
          </a:p>
        </p:txBody>
      </p:sp>
      <p:cxnSp>
        <p:nvCxnSpPr>
          <p:cNvPr id="1074" name="Google Shape;1074;p67"/>
          <p:cNvCxnSpPr>
            <a:endCxn id="1070" idx="0"/>
          </p:cNvCxnSpPr>
          <p:nvPr/>
        </p:nvCxnSpPr>
        <p:spPr>
          <a:xfrm>
            <a:off x="7697203" y="3920032"/>
            <a:ext cx="1213200" cy="609300"/>
          </a:xfrm>
          <a:prstGeom prst="straightConnector1">
            <a:avLst/>
          </a:prstGeom>
          <a:noFill/>
          <a:ln cap="flat" cmpd="sng" w="25400">
            <a:solidFill>
              <a:srgbClr val="FF0000"/>
            </a:solidFill>
            <a:prstDash val="solid"/>
            <a:miter lim="800000"/>
            <a:headEnd len="sm" w="sm" type="none"/>
            <a:tailEnd len="med" w="med" type="triangle"/>
          </a:ln>
        </p:spPr>
      </p:cxnSp>
      <p:sp>
        <p:nvSpPr>
          <p:cNvPr id="1075" name="Google Shape;1075;p67"/>
          <p:cNvSpPr txBox="1"/>
          <p:nvPr/>
        </p:nvSpPr>
        <p:spPr>
          <a:xfrm>
            <a:off x="10935096" y="4536295"/>
            <a:ext cx="418704" cy="369332"/>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30</a:t>
            </a:r>
            <a:endParaRPr/>
          </a:p>
        </p:txBody>
      </p:sp>
      <p:cxnSp>
        <p:nvCxnSpPr>
          <p:cNvPr id="1076" name="Google Shape;1076;p67"/>
          <p:cNvCxnSpPr>
            <a:endCxn id="1077" idx="0"/>
          </p:cNvCxnSpPr>
          <p:nvPr/>
        </p:nvCxnSpPr>
        <p:spPr>
          <a:xfrm flipH="1">
            <a:off x="7737917" y="3895732"/>
            <a:ext cx="2111400" cy="633600"/>
          </a:xfrm>
          <a:prstGeom prst="straightConnector1">
            <a:avLst/>
          </a:prstGeom>
          <a:noFill/>
          <a:ln cap="flat" cmpd="sng" w="25400">
            <a:solidFill>
              <a:srgbClr val="FF0000"/>
            </a:solidFill>
            <a:prstDash val="solid"/>
            <a:miter lim="800000"/>
            <a:headEnd len="sm" w="sm" type="none"/>
            <a:tailEnd len="med" w="med" type="triangle"/>
          </a:ln>
        </p:spPr>
      </p:cxnSp>
      <p:sp>
        <p:nvSpPr>
          <p:cNvPr id="1077" name="Google Shape;1077;p67"/>
          <p:cNvSpPr txBox="1"/>
          <p:nvPr/>
        </p:nvSpPr>
        <p:spPr>
          <a:xfrm>
            <a:off x="7528565" y="4529332"/>
            <a:ext cx="418704" cy="369332"/>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33</a:t>
            </a:r>
            <a:endParaRPr/>
          </a:p>
        </p:txBody>
      </p:sp>
      <p:cxnSp>
        <p:nvCxnSpPr>
          <p:cNvPr id="1078" name="Google Shape;1078;p67"/>
          <p:cNvCxnSpPr/>
          <p:nvPr/>
        </p:nvCxnSpPr>
        <p:spPr>
          <a:xfrm>
            <a:off x="10255373" y="3895856"/>
            <a:ext cx="350477" cy="640439"/>
          </a:xfrm>
          <a:prstGeom prst="straightConnector1">
            <a:avLst/>
          </a:prstGeom>
          <a:noFill/>
          <a:ln cap="flat" cmpd="sng" w="25400">
            <a:solidFill>
              <a:srgbClr val="FF0000"/>
            </a:solidFill>
            <a:prstDash val="solid"/>
            <a:miter lim="800000"/>
            <a:headEnd len="sm" w="sm" type="none"/>
            <a:tailEnd len="med" w="med" type="triangle"/>
          </a:ln>
        </p:spPr>
      </p:cxnSp>
      <p:sp>
        <p:nvSpPr>
          <p:cNvPr id="1079" name="Google Shape;1079;p67"/>
          <p:cNvSpPr txBox="1"/>
          <p:nvPr/>
        </p:nvSpPr>
        <p:spPr>
          <a:xfrm>
            <a:off x="10396498" y="4536295"/>
            <a:ext cx="418704" cy="369332"/>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35</a:t>
            </a:r>
            <a:endParaRPr/>
          </a:p>
        </p:txBody>
      </p:sp>
      <p:cxnSp>
        <p:nvCxnSpPr>
          <p:cNvPr id="1080" name="Google Shape;1080;p67"/>
          <p:cNvCxnSpPr/>
          <p:nvPr/>
        </p:nvCxnSpPr>
        <p:spPr>
          <a:xfrm>
            <a:off x="9564187" y="3920167"/>
            <a:ext cx="1609471" cy="609165"/>
          </a:xfrm>
          <a:prstGeom prst="straightConnector1">
            <a:avLst/>
          </a:prstGeom>
          <a:noFill/>
          <a:ln cap="flat" cmpd="sng" w="25400">
            <a:solidFill>
              <a:srgbClr val="FF0000"/>
            </a:solidFill>
            <a:prstDash val="solid"/>
            <a:miter lim="800000"/>
            <a:headEnd len="sm" w="sm" type="none"/>
            <a:tailEnd len="med" w="med" type="triangle"/>
          </a:ln>
        </p:spPr>
      </p:cxnSp>
      <p:sp>
        <p:nvSpPr>
          <p:cNvPr id="1069" name="Google Shape;1069;p67"/>
          <p:cNvSpPr txBox="1"/>
          <p:nvPr/>
        </p:nvSpPr>
        <p:spPr>
          <a:xfrm>
            <a:off x="9246168" y="4528107"/>
            <a:ext cx="418704" cy="369332"/>
          </a:xfrm>
          <a:prstGeom prst="rect">
            <a:avLst/>
          </a:prstGeom>
          <a:solidFill>
            <a:srgbClr val="EDEDED"/>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37</a:t>
            </a:r>
            <a:endParaRPr/>
          </a:p>
        </p:txBody>
      </p:sp>
      <p:cxnSp>
        <p:nvCxnSpPr>
          <p:cNvPr id="1081" name="Google Shape;1081;p67"/>
          <p:cNvCxnSpPr/>
          <p:nvPr/>
        </p:nvCxnSpPr>
        <p:spPr>
          <a:xfrm flipH="1" rot="10800000">
            <a:off x="8818436" y="3888538"/>
            <a:ext cx="764586" cy="2"/>
          </a:xfrm>
          <a:prstGeom prst="straightConnector1">
            <a:avLst/>
          </a:prstGeom>
          <a:noFill/>
          <a:ln cap="flat" cmpd="sng" w="25400">
            <a:solidFill>
              <a:schemeClr val="accent2"/>
            </a:solidFill>
            <a:prstDash val="solid"/>
            <a:miter lim="800000"/>
            <a:headEnd len="sm" w="sm" type="none"/>
            <a:tailEnd len="med" w="med" type="triangle"/>
          </a:ln>
        </p:spPr>
      </p:cxnSp>
      <p:cxnSp>
        <p:nvCxnSpPr>
          <p:cNvPr id="1082" name="Google Shape;1082;p67"/>
          <p:cNvCxnSpPr/>
          <p:nvPr/>
        </p:nvCxnSpPr>
        <p:spPr>
          <a:xfrm>
            <a:off x="9424174" y="2478279"/>
            <a:ext cx="794331" cy="882154"/>
          </a:xfrm>
          <a:prstGeom prst="straightConnector1">
            <a:avLst/>
          </a:prstGeom>
          <a:noFill/>
          <a:ln cap="flat" cmpd="sng" w="25400">
            <a:solidFill>
              <a:schemeClr val="dk1"/>
            </a:solidFill>
            <a:prstDash val="solid"/>
            <a:miter lim="800000"/>
            <a:headEnd len="sm" w="sm" type="none"/>
            <a:tailEnd len="med" w="med" type="triangle"/>
          </a:ln>
        </p:spPr>
      </p:cxnSp>
      <p:sp>
        <p:nvSpPr>
          <p:cNvPr id="1083" name="Google Shape;1083;p67"/>
          <p:cNvSpPr txBox="1"/>
          <p:nvPr/>
        </p:nvSpPr>
        <p:spPr>
          <a:xfrm>
            <a:off x="1893054" y="5363031"/>
            <a:ext cx="1873123" cy="523220"/>
          </a:xfrm>
          <a:prstGeom prst="rect">
            <a:avLst/>
          </a:prstGeom>
          <a:solidFill>
            <a:srgbClr val="E1EFD8"/>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alibri"/>
                <a:ea typeface="Calibri"/>
                <a:cs typeface="Calibri"/>
                <a:sym typeface="Calibri"/>
              </a:rPr>
              <a:t>Clustered</a:t>
            </a:r>
            <a:endParaRPr sz="2800">
              <a:solidFill>
                <a:schemeClr val="dk1"/>
              </a:solidFill>
              <a:latin typeface="Calibri"/>
              <a:ea typeface="Calibri"/>
              <a:cs typeface="Calibri"/>
              <a:sym typeface="Calibri"/>
            </a:endParaRPr>
          </a:p>
        </p:txBody>
      </p:sp>
      <p:sp>
        <p:nvSpPr>
          <p:cNvPr id="1084" name="Google Shape;1084;p67"/>
          <p:cNvSpPr txBox="1"/>
          <p:nvPr/>
        </p:nvSpPr>
        <p:spPr>
          <a:xfrm>
            <a:off x="8190366" y="5363031"/>
            <a:ext cx="2001046" cy="523220"/>
          </a:xfrm>
          <a:prstGeom prst="rect">
            <a:avLst/>
          </a:prstGeom>
          <a:solidFill>
            <a:srgbClr val="FBE4D4"/>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alibri"/>
                <a:ea typeface="Calibri"/>
                <a:cs typeface="Calibri"/>
                <a:sym typeface="Calibri"/>
              </a:rPr>
              <a:t>Unclustered</a:t>
            </a:r>
            <a:endParaRPr sz="2800">
              <a:solidFill>
                <a:schemeClr val="dk1"/>
              </a:solidFill>
              <a:latin typeface="Calibri"/>
              <a:ea typeface="Calibri"/>
              <a:cs typeface="Calibri"/>
              <a:sym typeface="Calibri"/>
            </a:endParaRPr>
          </a:p>
        </p:txBody>
      </p:sp>
      <p:cxnSp>
        <p:nvCxnSpPr>
          <p:cNvPr id="1085" name="Google Shape;1085;p67"/>
          <p:cNvCxnSpPr/>
          <p:nvPr/>
        </p:nvCxnSpPr>
        <p:spPr>
          <a:xfrm>
            <a:off x="29210" y="4260336"/>
            <a:ext cx="12192000" cy="0"/>
          </a:xfrm>
          <a:prstGeom prst="straightConnector1">
            <a:avLst/>
          </a:prstGeom>
          <a:noFill/>
          <a:ln cap="flat" cmpd="sng" w="9525">
            <a:solidFill>
              <a:schemeClr val="accent1"/>
            </a:solidFill>
            <a:prstDash val="dot"/>
            <a:miter lim="800000"/>
            <a:headEnd len="sm" w="sm" type="none"/>
            <a:tailEnd len="sm" w="sm" type="none"/>
          </a:ln>
        </p:spPr>
      </p:cxnSp>
      <p:sp>
        <p:nvSpPr>
          <p:cNvPr id="1086" name="Google Shape;1086;p67"/>
          <p:cNvSpPr txBox="1"/>
          <p:nvPr/>
        </p:nvSpPr>
        <p:spPr>
          <a:xfrm>
            <a:off x="5108615" y="2729419"/>
            <a:ext cx="1801134"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Index Entries</a:t>
            </a:r>
            <a:endParaRPr/>
          </a:p>
        </p:txBody>
      </p:sp>
      <p:sp>
        <p:nvSpPr>
          <p:cNvPr id="1087" name="Google Shape;1087;p67"/>
          <p:cNvSpPr txBox="1"/>
          <p:nvPr/>
        </p:nvSpPr>
        <p:spPr>
          <a:xfrm>
            <a:off x="5106201" y="4897439"/>
            <a:ext cx="1802994"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Data Records</a:t>
            </a:r>
            <a:endParaRPr/>
          </a:p>
        </p:txBody>
      </p:sp>
      <p:grpSp>
        <p:nvGrpSpPr>
          <p:cNvPr id="1088" name="Google Shape;1088;p67"/>
          <p:cNvGrpSpPr/>
          <p:nvPr/>
        </p:nvGrpSpPr>
        <p:grpSpPr>
          <a:xfrm>
            <a:off x="0" y="-22510"/>
            <a:ext cx="12192000" cy="307777"/>
            <a:chOff x="0" y="-22510"/>
            <a:chExt cx="12192000" cy="307777"/>
          </a:xfrm>
        </p:grpSpPr>
        <p:sp>
          <p:nvSpPr>
            <p:cNvPr id="1089" name="Google Shape;1089;p67"/>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090" name="Google Shape;1090;p67"/>
            <p:cNvSpPr txBox="1"/>
            <p:nvPr/>
          </p:nvSpPr>
          <p:spPr>
            <a:xfrm>
              <a:off x="188780" y="-22510"/>
              <a:ext cx="299889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Section 2  Clustered Indexes</a:t>
              </a:r>
              <a:endParaRPr/>
            </a:p>
          </p:txBody>
        </p:sp>
      </p:gr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sp>
        <p:nvSpPr>
          <p:cNvPr id="1095" name="Google Shape;1095;p68"/>
          <p:cNvSpPr/>
          <p:nvPr/>
        </p:nvSpPr>
        <p:spPr>
          <a:xfrm>
            <a:off x="2209800" y="6248400"/>
            <a:ext cx="1905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6" name="Google Shape;1096;p68"/>
          <p:cNvSpPr/>
          <p:nvPr/>
        </p:nvSpPr>
        <p:spPr>
          <a:xfrm>
            <a:off x="4648200" y="6248400"/>
            <a:ext cx="289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7" name="Google Shape;1097;p68"/>
          <p:cNvSpPr txBox="1"/>
          <p:nvPr>
            <p:ph type="title"/>
          </p:nvPr>
        </p:nvSpPr>
        <p:spPr>
          <a:xfrm>
            <a:off x="850900" y="611208"/>
            <a:ext cx="7772400" cy="1143000"/>
          </a:xfrm>
          <a:prstGeom prst="rect">
            <a:avLst/>
          </a:prstGeom>
          <a:noFill/>
          <a:ln>
            <a:noFill/>
          </a:ln>
        </p:spPr>
        <p:txBody>
          <a:bodyPr anchorCtr="0" anchor="ctr" bIns="46025" lIns="92075" spcFirstLastPara="1" rIns="92075" wrap="square" tIns="46025">
            <a:normAutofit/>
          </a:bodyPr>
          <a:lstStyle/>
          <a:p>
            <a:pPr indent="0" lvl="0" marL="0" rtl="0" algn="l">
              <a:lnSpc>
                <a:spcPct val="90000"/>
              </a:lnSpc>
              <a:spcBef>
                <a:spcPts val="0"/>
              </a:spcBef>
              <a:spcAft>
                <a:spcPts val="0"/>
              </a:spcAft>
              <a:buClr>
                <a:schemeClr val="dk1"/>
              </a:buClr>
              <a:buSzPts val="4400"/>
              <a:buFont typeface="Calibri"/>
              <a:buNone/>
            </a:pPr>
            <a:r>
              <a:rPr lang="en-US"/>
              <a:t>Clustered vs. Unclustered Index</a:t>
            </a:r>
            <a:endParaRPr/>
          </a:p>
        </p:txBody>
      </p:sp>
      <p:sp>
        <p:nvSpPr>
          <p:cNvPr id="1098" name="Google Shape;1098;p68"/>
          <p:cNvSpPr txBox="1"/>
          <p:nvPr>
            <p:ph idx="1" type="body"/>
          </p:nvPr>
        </p:nvSpPr>
        <p:spPr>
          <a:xfrm>
            <a:off x="850900" y="1866900"/>
            <a:ext cx="10502900" cy="4597400"/>
          </a:xfrm>
          <a:prstGeom prst="rect">
            <a:avLst/>
          </a:prstGeom>
          <a:noFill/>
          <a:ln>
            <a:noFill/>
          </a:ln>
        </p:spPr>
        <p:txBody>
          <a:bodyPr anchorCtr="0" anchor="t" bIns="46025" lIns="92075" spcFirstLastPara="1" rIns="92075" wrap="square" tIns="46025">
            <a:normAutofit/>
          </a:bodyPr>
          <a:lstStyle/>
          <a:p>
            <a:pPr indent="-228600" lvl="0" marL="228600" rtl="0" algn="l">
              <a:lnSpc>
                <a:spcPct val="90000"/>
              </a:lnSpc>
              <a:spcBef>
                <a:spcPts val="0"/>
              </a:spcBef>
              <a:spcAft>
                <a:spcPts val="0"/>
              </a:spcAft>
              <a:buClr>
                <a:schemeClr val="dk1"/>
              </a:buClr>
              <a:buSzPts val="2800"/>
              <a:buChar char="•"/>
            </a:pPr>
            <a:r>
              <a:rPr lang="en-US"/>
              <a:t>Recall that for a disk with block access, </a:t>
            </a:r>
            <a:r>
              <a:rPr b="1" lang="en-US"/>
              <a:t>sequential IO is much faster than random IO</a:t>
            </a:r>
            <a:endParaRPr/>
          </a:p>
          <a:p>
            <a:pPr indent="-50800" lvl="0" marL="228600" rtl="0" algn="l">
              <a:lnSpc>
                <a:spcPct val="90000"/>
              </a:lnSpc>
              <a:spcBef>
                <a:spcPts val="1000"/>
              </a:spcBef>
              <a:spcAft>
                <a:spcPts val="0"/>
              </a:spcAft>
              <a:buClr>
                <a:schemeClr val="dk1"/>
              </a:buClr>
              <a:buSzPts val="2800"/>
              <a:buNone/>
            </a:pPr>
            <a:r>
              <a:t/>
            </a:r>
            <a:endParaRPr>
              <a:solidFill>
                <a:srgbClr val="C00000"/>
              </a:solidFill>
            </a:endParaRPr>
          </a:p>
          <a:p>
            <a:pPr indent="-228600" lvl="0" marL="228600" rtl="0" algn="l">
              <a:lnSpc>
                <a:spcPct val="90000"/>
              </a:lnSpc>
              <a:spcBef>
                <a:spcPts val="1000"/>
              </a:spcBef>
              <a:spcAft>
                <a:spcPts val="0"/>
              </a:spcAft>
              <a:buClr>
                <a:schemeClr val="dk1"/>
              </a:buClr>
              <a:buSzPts val="2800"/>
              <a:buChar char="•"/>
            </a:pPr>
            <a:r>
              <a:rPr lang="en-US"/>
              <a:t>For exact search, no difference between clustered / unclustered</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For range search over R values: difference between </a:t>
            </a:r>
            <a:r>
              <a:rPr b="1" lang="en-US"/>
              <a:t>1 random IO + R sequential IO</a:t>
            </a:r>
            <a:r>
              <a:rPr lang="en-US"/>
              <a:t>, and </a:t>
            </a:r>
            <a:r>
              <a:rPr b="1" lang="en-US"/>
              <a:t>R random IO</a:t>
            </a:r>
            <a:r>
              <a:rPr lang="en-US"/>
              <a:t>:</a:t>
            </a:r>
            <a:endParaRPr/>
          </a:p>
          <a:p>
            <a:pPr indent="-228600" lvl="1" marL="685800" rtl="0" algn="l">
              <a:lnSpc>
                <a:spcPct val="90000"/>
              </a:lnSpc>
              <a:spcBef>
                <a:spcPts val="500"/>
              </a:spcBef>
              <a:spcAft>
                <a:spcPts val="0"/>
              </a:spcAft>
              <a:buClr>
                <a:schemeClr val="dk1"/>
              </a:buClr>
              <a:buSzPts val="2400"/>
              <a:buChar char="•"/>
            </a:pPr>
            <a:r>
              <a:rPr lang="en-US"/>
              <a:t>A random IO costs ~ 10ms (sequential much much faster)</a:t>
            </a:r>
            <a:endParaRPr/>
          </a:p>
          <a:p>
            <a:pPr indent="-228600" lvl="1" marL="685800" rtl="0" algn="l">
              <a:lnSpc>
                <a:spcPct val="90000"/>
              </a:lnSpc>
              <a:spcBef>
                <a:spcPts val="500"/>
              </a:spcBef>
              <a:spcAft>
                <a:spcPts val="0"/>
              </a:spcAft>
              <a:buClr>
                <a:schemeClr val="dk1"/>
              </a:buClr>
              <a:buSzPts val="2400"/>
              <a:buChar char="•"/>
            </a:pPr>
            <a:r>
              <a:rPr lang="en-US"/>
              <a:t>For R = 100,000 records- </a:t>
            </a:r>
            <a:r>
              <a:rPr b="1" lang="en-US"/>
              <a:t>difference between ~10ms and ~17min!</a:t>
            </a:r>
            <a:endParaRPr/>
          </a:p>
        </p:txBody>
      </p:sp>
      <p:grpSp>
        <p:nvGrpSpPr>
          <p:cNvPr id="1099" name="Google Shape;1099;p68"/>
          <p:cNvGrpSpPr/>
          <p:nvPr/>
        </p:nvGrpSpPr>
        <p:grpSpPr>
          <a:xfrm>
            <a:off x="0" y="-22510"/>
            <a:ext cx="12192000" cy="307777"/>
            <a:chOff x="0" y="-22510"/>
            <a:chExt cx="12192000" cy="307777"/>
          </a:xfrm>
        </p:grpSpPr>
        <p:sp>
          <p:nvSpPr>
            <p:cNvPr id="1100" name="Google Shape;1100;p68"/>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101" name="Google Shape;1101;p68"/>
            <p:cNvSpPr txBox="1"/>
            <p:nvPr/>
          </p:nvSpPr>
          <p:spPr>
            <a:xfrm>
              <a:off x="188780" y="-22510"/>
              <a:ext cx="299889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Section 2  Clustered Indexes</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8">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5" name="Shape 1105"/>
        <p:cNvGrpSpPr/>
        <p:nvPr/>
      </p:nvGrpSpPr>
      <p:grpSpPr>
        <a:xfrm>
          <a:off x="0" y="0"/>
          <a:ext cx="0" cy="0"/>
          <a:chOff x="0" y="0"/>
          <a:chExt cx="0" cy="0"/>
        </a:xfrm>
      </p:grpSpPr>
      <p:sp>
        <p:nvSpPr>
          <p:cNvPr id="1106" name="Google Shape;1106;p69"/>
          <p:cNvSpPr/>
          <p:nvPr/>
        </p:nvSpPr>
        <p:spPr>
          <a:xfrm>
            <a:off x="2209800" y="6248400"/>
            <a:ext cx="1905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7" name="Google Shape;1107;p69"/>
          <p:cNvSpPr/>
          <p:nvPr/>
        </p:nvSpPr>
        <p:spPr>
          <a:xfrm>
            <a:off x="4648200" y="6248400"/>
            <a:ext cx="289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8" name="Google Shape;1108;p69"/>
          <p:cNvSpPr txBox="1"/>
          <p:nvPr>
            <p:ph type="title"/>
          </p:nvPr>
        </p:nvSpPr>
        <p:spPr>
          <a:xfrm>
            <a:off x="850900" y="611208"/>
            <a:ext cx="7772400" cy="1143000"/>
          </a:xfrm>
          <a:prstGeom prst="rect">
            <a:avLst/>
          </a:prstGeom>
          <a:noFill/>
          <a:ln>
            <a:noFill/>
          </a:ln>
        </p:spPr>
        <p:txBody>
          <a:bodyPr anchorCtr="0" anchor="ctr" bIns="46025" lIns="92075" spcFirstLastPara="1" rIns="92075" wrap="square" tIns="46025">
            <a:normAutofit/>
          </a:bodyPr>
          <a:lstStyle/>
          <a:p>
            <a:pPr indent="0" lvl="0" marL="0" rtl="0" algn="l">
              <a:lnSpc>
                <a:spcPct val="90000"/>
              </a:lnSpc>
              <a:spcBef>
                <a:spcPts val="0"/>
              </a:spcBef>
              <a:spcAft>
                <a:spcPts val="0"/>
              </a:spcAft>
              <a:buClr>
                <a:schemeClr val="dk1"/>
              </a:buClr>
              <a:buSzPts val="4400"/>
              <a:buFont typeface="Calibri"/>
              <a:buNone/>
            </a:pPr>
            <a:r>
              <a:rPr lang="en-US"/>
              <a:t>Summary</a:t>
            </a:r>
            <a:endParaRPr i="1"/>
          </a:p>
        </p:txBody>
      </p:sp>
      <p:sp>
        <p:nvSpPr>
          <p:cNvPr id="1109" name="Google Shape;1109;p69"/>
          <p:cNvSpPr txBox="1"/>
          <p:nvPr>
            <p:ph idx="1" type="body"/>
          </p:nvPr>
        </p:nvSpPr>
        <p:spPr>
          <a:xfrm>
            <a:off x="850900" y="1866900"/>
            <a:ext cx="10502900" cy="4483100"/>
          </a:xfrm>
          <a:prstGeom prst="rect">
            <a:avLst/>
          </a:prstGeom>
          <a:noFill/>
          <a:ln>
            <a:noFill/>
          </a:ln>
        </p:spPr>
        <p:txBody>
          <a:bodyPr anchorCtr="0" anchor="t" bIns="46025" lIns="92075" spcFirstLastPara="1" rIns="92075" wrap="square" tIns="46025">
            <a:normAutofit/>
          </a:bodyPr>
          <a:lstStyle/>
          <a:p>
            <a:pPr indent="-228600" lvl="0" marL="228600" rtl="0" algn="l">
              <a:lnSpc>
                <a:spcPct val="90000"/>
              </a:lnSpc>
              <a:spcBef>
                <a:spcPts val="0"/>
              </a:spcBef>
              <a:spcAft>
                <a:spcPts val="0"/>
              </a:spcAft>
              <a:buClr>
                <a:schemeClr val="dk1"/>
              </a:buClr>
              <a:buSzPts val="2800"/>
              <a:buChar char="•"/>
            </a:pPr>
            <a:r>
              <a:rPr lang="en-US"/>
              <a:t>We covered an algorithm + some optimizations for sorting larger-than-memory files efficiently</a:t>
            </a:r>
            <a:endParaRPr/>
          </a:p>
          <a:p>
            <a:pPr indent="-228600" lvl="1" marL="685800" rtl="0" algn="l">
              <a:lnSpc>
                <a:spcPct val="90000"/>
              </a:lnSpc>
              <a:spcBef>
                <a:spcPts val="500"/>
              </a:spcBef>
              <a:spcAft>
                <a:spcPts val="0"/>
              </a:spcAft>
              <a:buClr>
                <a:schemeClr val="dk1"/>
              </a:buClr>
              <a:buSzPts val="2400"/>
              <a:buChar char="•"/>
            </a:pPr>
            <a:r>
              <a:rPr lang="en-US"/>
              <a:t>An </a:t>
            </a:r>
            <a:r>
              <a:rPr b="1" i="1" lang="en-US"/>
              <a:t>IO aware</a:t>
            </a:r>
            <a:r>
              <a:rPr lang="en-US"/>
              <a:t> algorithm!</a:t>
            </a:r>
            <a:endParaRPr/>
          </a:p>
          <a:p>
            <a:pPr indent="-76200" lvl="1" marL="685800" rtl="0" algn="l">
              <a:lnSpc>
                <a:spcPct val="90000"/>
              </a:lnSpc>
              <a:spcBef>
                <a:spcPts val="500"/>
              </a:spcBef>
              <a:spcAft>
                <a:spcPts val="0"/>
              </a:spcAft>
              <a:buClr>
                <a:schemeClr val="dk1"/>
              </a:buClr>
              <a:buSzPts val="2400"/>
              <a:buNone/>
            </a:pPr>
            <a:r>
              <a:t/>
            </a:r>
            <a:endParaRPr/>
          </a:p>
          <a:p>
            <a:pPr indent="-228600" lvl="0" marL="228600" rtl="0" algn="l">
              <a:lnSpc>
                <a:spcPct val="90000"/>
              </a:lnSpc>
              <a:spcBef>
                <a:spcPts val="1000"/>
              </a:spcBef>
              <a:spcAft>
                <a:spcPts val="0"/>
              </a:spcAft>
              <a:buClr>
                <a:schemeClr val="dk1"/>
              </a:buClr>
              <a:buSzPts val="2800"/>
              <a:buChar char="•"/>
            </a:pPr>
            <a:r>
              <a:rPr lang="en-US"/>
              <a:t>We create </a:t>
            </a:r>
            <a:r>
              <a:rPr b="1" lang="en-US"/>
              <a:t>indexes</a:t>
            </a:r>
            <a:r>
              <a:rPr lang="en-US"/>
              <a:t> over tables in order to support </a:t>
            </a:r>
            <a:r>
              <a:rPr b="1" i="1" lang="en-US"/>
              <a:t>fast (exact and range) search</a:t>
            </a:r>
            <a:r>
              <a:rPr lang="en-US"/>
              <a:t> and </a:t>
            </a:r>
            <a:r>
              <a:rPr b="1" i="1" lang="en-US"/>
              <a:t>insertion</a:t>
            </a:r>
            <a:r>
              <a:rPr lang="en-US"/>
              <a:t> over </a:t>
            </a:r>
            <a:r>
              <a:rPr b="1" i="1" lang="en-US"/>
              <a:t>multiple search keys</a:t>
            </a:r>
            <a:endParaRPr/>
          </a:p>
          <a:p>
            <a:pPr indent="-50800" lvl="0" marL="228600" rtl="0" algn="l">
              <a:lnSpc>
                <a:spcPct val="90000"/>
              </a:lnSpc>
              <a:spcBef>
                <a:spcPts val="1000"/>
              </a:spcBef>
              <a:spcAft>
                <a:spcPts val="0"/>
              </a:spcAft>
              <a:buClr>
                <a:schemeClr val="dk1"/>
              </a:buClr>
              <a:buSzPts val="2800"/>
              <a:buNone/>
            </a:pPr>
            <a:r>
              <a:t/>
            </a:r>
            <a:endParaRPr b="1" i="1"/>
          </a:p>
          <a:p>
            <a:pPr indent="-228600" lvl="0" marL="228600" rtl="0" algn="l">
              <a:lnSpc>
                <a:spcPct val="90000"/>
              </a:lnSpc>
              <a:spcBef>
                <a:spcPts val="1000"/>
              </a:spcBef>
              <a:spcAft>
                <a:spcPts val="0"/>
              </a:spcAft>
              <a:buClr>
                <a:schemeClr val="dk1"/>
              </a:buClr>
              <a:buSzPts val="2800"/>
              <a:buChar char="•"/>
            </a:pPr>
            <a:r>
              <a:rPr b="1" lang="en-US"/>
              <a:t>B+ Trees </a:t>
            </a:r>
            <a:r>
              <a:rPr lang="en-US"/>
              <a:t>are one index data structure which support very fast exact and range search &amp; insertion via </a:t>
            </a:r>
            <a:r>
              <a:rPr b="1" i="1" lang="en-US"/>
              <a:t>high fanout</a:t>
            </a:r>
            <a:endParaRPr b="1" i="1"/>
          </a:p>
          <a:p>
            <a:pPr indent="-228600" lvl="1" marL="685800" rtl="0" algn="l">
              <a:lnSpc>
                <a:spcPct val="90000"/>
              </a:lnSpc>
              <a:spcBef>
                <a:spcPts val="500"/>
              </a:spcBef>
              <a:spcAft>
                <a:spcPts val="0"/>
              </a:spcAft>
              <a:buClr>
                <a:schemeClr val="dk1"/>
              </a:buClr>
              <a:buSzPts val="2400"/>
              <a:buChar char="•"/>
            </a:pPr>
            <a:r>
              <a:rPr b="1" i="1" lang="en-US"/>
              <a:t>Clustered vs. unclustered</a:t>
            </a:r>
            <a:r>
              <a:rPr lang="en-US"/>
              <a:t> makes a big difference for range queries too</a:t>
            </a:r>
            <a:endParaRPr/>
          </a:p>
        </p:txBody>
      </p:sp>
      <p:grpSp>
        <p:nvGrpSpPr>
          <p:cNvPr id="1110" name="Google Shape;1110;p69"/>
          <p:cNvGrpSpPr/>
          <p:nvPr/>
        </p:nvGrpSpPr>
        <p:grpSpPr>
          <a:xfrm>
            <a:off x="0" y="-22510"/>
            <a:ext cx="12192000" cy="307777"/>
            <a:chOff x="0" y="-22510"/>
            <a:chExt cx="12192000" cy="307777"/>
          </a:xfrm>
        </p:grpSpPr>
        <p:sp>
          <p:nvSpPr>
            <p:cNvPr id="1111" name="Google Shape;1111;p69"/>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112" name="Google Shape;1112;p69"/>
            <p:cNvSpPr txBox="1"/>
            <p:nvPr/>
          </p:nvSpPr>
          <p:spPr>
            <a:xfrm>
              <a:off x="188780" y="-22510"/>
              <a:ext cx="299889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Lecture 13  Section 2  Clustered Indexes</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9">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p7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lang="en-US"/>
              <a:t>2. External Merge Algorithm</a:t>
            </a:r>
            <a:endParaRPr/>
          </a:p>
        </p:txBody>
      </p:sp>
      <p:sp>
        <p:nvSpPr>
          <p:cNvPr id="1118" name="Google Shape;1118;p7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1119" name="Google Shape;1119;p70"/>
          <p:cNvGrpSpPr/>
          <p:nvPr/>
        </p:nvGrpSpPr>
        <p:grpSpPr>
          <a:xfrm>
            <a:off x="0" y="-22510"/>
            <a:ext cx="12192000" cy="307777"/>
            <a:chOff x="0" y="-22510"/>
            <a:chExt cx="12192000" cy="307777"/>
          </a:xfrm>
        </p:grpSpPr>
        <p:sp>
          <p:nvSpPr>
            <p:cNvPr id="1120" name="Google Shape;1120;p70"/>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121" name="Google Shape;1121;p70"/>
            <p:cNvSpPr txBox="1"/>
            <p:nvPr/>
          </p:nvSpPr>
          <p:spPr>
            <a:xfrm>
              <a:off x="188780" y="-22510"/>
              <a:ext cx="83869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Section 2</a:t>
              </a:r>
              <a:endParaRPr/>
            </a:p>
          </p:txBody>
        </p:sp>
      </p:gr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sp>
        <p:nvSpPr>
          <p:cNvPr id="1126" name="Google Shape;1126;p71"/>
          <p:cNvSpPr txBox="1"/>
          <p:nvPr>
            <p:ph type="title"/>
          </p:nvPr>
        </p:nvSpPr>
        <p:spPr>
          <a:xfrm>
            <a:off x="838200" y="6572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Challenge: Merging Big Files with Small Memory</a:t>
            </a:r>
            <a:endParaRPr/>
          </a:p>
        </p:txBody>
      </p:sp>
      <p:sp>
        <p:nvSpPr>
          <p:cNvPr id="1127" name="Google Shape;1127;p71"/>
          <p:cNvSpPr txBox="1"/>
          <p:nvPr>
            <p:ph idx="1" type="body"/>
          </p:nvPr>
        </p:nvSpPr>
        <p:spPr>
          <a:xfrm>
            <a:off x="838200" y="2476500"/>
            <a:ext cx="10515600" cy="21590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3600"/>
              <a:buChar char="•"/>
            </a:pPr>
            <a:r>
              <a:rPr lang="en-US" sz="3600"/>
              <a:t>How do we </a:t>
            </a:r>
            <a:r>
              <a:rPr i="1" lang="en-US" sz="3600"/>
              <a:t>efficiently </a:t>
            </a:r>
            <a:r>
              <a:rPr lang="en-US" sz="3600"/>
              <a:t>merge two sorted files when both are much larger than our main memory buffer?</a:t>
            </a:r>
            <a:endParaRPr/>
          </a:p>
          <a:p>
            <a:pPr indent="0" lvl="0" marL="228600" rtl="0" algn="l">
              <a:lnSpc>
                <a:spcPct val="90000"/>
              </a:lnSpc>
              <a:spcBef>
                <a:spcPts val="1000"/>
              </a:spcBef>
              <a:spcAft>
                <a:spcPts val="0"/>
              </a:spcAft>
              <a:buClr>
                <a:schemeClr val="dk1"/>
              </a:buClr>
              <a:buSzPts val="3600"/>
              <a:buNone/>
            </a:pPr>
            <a:r>
              <a:t/>
            </a:r>
            <a:endParaRPr sz="3600"/>
          </a:p>
          <a:p>
            <a:pPr indent="-228600" lvl="0" marL="228600" rtl="0" algn="l">
              <a:lnSpc>
                <a:spcPct val="90000"/>
              </a:lnSpc>
              <a:spcBef>
                <a:spcPts val="1000"/>
              </a:spcBef>
              <a:spcAft>
                <a:spcPts val="0"/>
              </a:spcAft>
              <a:buClr>
                <a:schemeClr val="dk1"/>
              </a:buClr>
              <a:buSzPts val="3600"/>
              <a:buChar char="•"/>
            </a:pPr>
            <a:r>
              <a:rPr b="1" lang="en-US" sz="3600"/>
              <a:t>Key point: </a:t>
            </a:r>
            <a:r>
              <a:rPr lang="en-US" sz="3600"/>
              <a:t>Disk IO (R/W) dominates the algorithm cost</a:t>
            </a:r>
            <a:endParaRPr b="1" sz="3600"/>
          </a:p>
        </p:txBody>
      </p:sp>
      <p:grpSp>
        <p:nvGrpSpPr>
          <p:cNvPr id="1128" name="Google Shape;1128;p71"/>
          <p:cNvGrpSpPr/>
          <p:nvPr/>
        </p:nvGrpSpPr>
        <p:grpSpPr>
          <a:xfrm>
            <a:off x="0" y="-22510"/>
            <a:ext cx="12192000" cy="307777"/>
            <a:chOff x="0" y="-22510"/>
            <a:chExt cx="12192000" cy="307777"/>
          </a:xfrm>
        </p:grpSpPr>
        <p:sp>
          <p:nvSpPr>
            <p:cNvPr id="1129" name="Google Shape;1129;p71"/>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130" name="Google Shape;1130;p71"/>
            <p:cNvSpPr txBox="1"/>
            <p:nvPr/>
          </p:nvSpPr>
          <p:spPr>
            <a:xfrm>
              <a:off x="188780" y="-22510"/>
              <a:ext cx="201241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Section 2  External merge</a:t>
              </a:r>
              <a:endParaRPr/>
            </a:p>
          </p:txBody>
        </p:sp>
      </p:grpSp>
      <p:sp>
        <p:nvSpPr>
          <p:cNvPr id="1131" name="Google Shape;1131;p71"/>
          <p:cNvSpPr txBox="1"/>
          <p:nvPr/>
        </p:nvSpPr>
        <p:spPr>
          <a:xfrm>
            <a:off x="1204452" y="5807821"/>
            <a:ext cx="9783096" cy="584775"/>
          </a:xfrm>
          <a:prstGeom prst="rect">
            <a:avLst/>
          </a:prstGeom>
          <a:solidFill>
            <a:srgbClr val="E1EFD8"/>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rgbClr val="000000"/>
                </a:solidFill>
                <a:latin typeface="Calibri"/>
                <a:ea typeface="Calibri"/>
                <a:cs typeface="Calibri"/>
                <a:sym typeface="Calibri"/>
              </a:rPr>
              <a:t>Our first example of an </a:t>
            </a:r>
            <a:r>
              <a:rPr b="1" lang="en-US" sz="3200">
                <a:solidFill>
                  <a:srgbClr val="000000"/>
                </a:solidFill>
                <a:latin typeface="Calibri"/>
                <a:ea typeface="Calibri"/>
                <a:cs typeface="Calibri"/>
                <a:sym typeface="Calibri"/>
              </a:rPr>
              <a:t>“IO aware”</a:t>
            </a:r>
            <a:r>
              <a:rPr lang="en-US" sz="3200">
                <a:solidFill>
                  <a:srgbClr val="000000"/>
                </a:solidFill>
                <a:latin typeface="Calibri"/>
                <a:ea typeface="Calibri"/>
                <a:cs typeface="Calibri"/>
                <a:sym typeface="Calibri"/>
              </a:rPr>
              <a:t> algorithm / cost model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5" name="Shape 1135"/>
        <p:cNvGrpSpPr/>
        <p:nvPr/>
      </p:nvGrpSpPr>
      <p:grpSpPr>
        <a:xfrm>
          <a:off x="0" y="0"/>
          <a:ext cx="0" cy="0"/>
          <a:chOff x="0" y="0"/>
          <a:chExt cx="0" cy="0"/>
        </a:xfrm>
      </p:grpSpPr>
      <p:sp>
        <p:nvSpPr>
          <p:cNvPr id="1136" name="Google Shape;1136;p7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External Merge Algorithm</a:t>
            </a:r>
            <a:endParaRPr/>
          </a:p>
        </p:txBody>
      </p:sp>
      <p:sp>
        <p:nvSpPr>
          <p:cNvPr id="1137" name="Google Shape;1137;p7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Input</a:t>
            </a:r>
            <a:r>
              <a:rPr lang="en-US"/>
              <a:t>: 2 sorted lists of length M and N</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b="1" lang="en-US"/>
              <a:t>Output:</a:t>
            </a:r>
            <a:r>
              <a:rPr lang="en-US"/>
              <a:t> 1 sorted list of length M + N</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b="1" lang="en-US"/>
              <a:t>Required: </a:t>
            </a:r>
            <a:r>
              <a:rPr lang="en-US"/>
              <a:t>At least 3 Buffer Pages</a:t>
            </a:r>
            <a:endParaRPr b="1"/>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b="1" lang="en-US"/>
              <a:t>IOs</a:t>
            </a:r>
            <a:r>
              <a:rPr lang="en-US"/>
              <a:t>: 2(M+N)</a:t>
            </a:r>
            <a:endParaRPr/>
          </a:p>
        </p:txBody>
      </p:sp>
      <p:grpSp>
        <p:nvGrpSpPr>
          <p:cNvPr id="1138" name="Google Shape;1138;p72"/>
          <p:cNvGrpSpPr/>
          <p:nvPr/>
        </p:nvGrpSpPr>
        <p:grpSpPr>
          <a:xfrm>
            <a:off x="0" y="-22510"/>
            <a:ext cx="12192000" cy="307777"/>
            <a:chOff x="0" y="-22510"/>
            <a:chExt cx="12192000" cy="307777"/>
          </a:xfrm>
        </p:grpSpPr>
        <p:sp>
          <p:nvSpPr>
            <p:cNvPr id="1139" name="Google Shape;1139;p72"/>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140" name="Google Shape;1140;p72"/>
            <p:cNvSpPr txBox="1"/>
            <p:nvPr/>
          </p:nvSpPr>
          <p:spPr>
            <a:xfrm>
              <a:off x="188780" y="-22510"/>
              <a:ext cx="201241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Section 2  External merge</a:t>
              </a:r>
              <a:endParaRPr/>
            </a:p>
          </p:txBody>
        </p:sp>
      </p:gr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4" name="Shape 1144"/>
        <p:cNvGrpSpPr/>
        <p:nvPr/>
      </p:nvGrpSpPr>
      <p:grpSpPr>
        <a:xfrm>
          <a:off x="0" y="0"/>
          <a:ext cx="0" cy="0"/>
          <a:chOff x="0" y="0"/>
          <a:chExt cx="0" cy="0"/>
        </a:xfrm>
      </p:grpSpPr>
      <p:sp>
        <p:nvSpPr>
          <p:cNvPr id="1145" name="Google Shape;1145;p7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Key (Simple) Idea</a:t>
            </a:r>
            <a:endParaRPr/>
          </a:p>
        </p:txBody>
      </p:sp>
      <p:sp>
        <p:nvSpPr>
          <p:cNvPr id="1146" name="Google Shape;1146;p73"/>
          <p:cNvSpPr txBox="1"/>
          <p:nvPr>
            <p:ph idx="1" type="body"/>
          </p:nvPr>
        </p:nvSpPr>
        <p:spPr>
          <a:xfrm>
            <a:off x="838200" y="1582737"/>
            <a:ext cx="10515600" cy="91043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800"/>
              <a:buNone/>
            </a:pPr>
            <a:r>
              <a:rPr lang="en-US"/>
              <a:t>To find an element that is no larger than all elements in two lists, one only needs to compare minimum elements from each list.</a:t>
            </a:r>
            <a:endParaRPr/>
          </a:p>
        </p:txBody>
      </p:sp>
      <p:grpSp>
        <p:nvGrpSpPr>
          <p:cNvPr id="1147" name="Google Shape;1147;p73"/>
          <p:cNvGrpSpPr/>
          <p:nvPr/>
        </p:nvGrpSpPr>
        <p:grpSpPr>
          <a:xfrm>
            <a:off x="0" y="-22510"/>
            <a:ext cx="12192000" cy="307777"/>
            <a:chOff x="0" y="-22510"/>
            <a:chExt cx="12192000" cy="307777"/>
          </a:xfrm>
        </p:grpSpPr>
        <p:sp>
          <p:nvSpPr>
            <p:cNvPr id="1148" name="Google Shape;1148;p73"/>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149" name="Google Shape;1149;p73"/>
            <p:cNvSpPr txBox="1"/>
            <p:nvPr/>
          </p:nvSpPr>
          <p:spPr>
            <a:xfrm>
              <a:off x="188780" y="-22510"/>
              <a:ext cx="201241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Section 2  External merge</a:t>
              </a:r>
              <a:endParaRPr/>
            </a:p>
          </p:txBody>
        </p:sp>
      </p:grpSp>
      <p:sp>
        <p:nvSpPr>
          <p:cNvPr id="1150" name="Google Shape;1150;p73"/>
          <p:cNvSpPr txBox="1"/>
          <p:nvPr/>
        </p:nvSpPr>
        <p:spPr>
          <a:xfrm>
            <a:off x="3084167" y="2908300"/>
            <a:ext cx="6023665" cy="3339825"/>
          </a:xfrm>
          <a:prstGeom prst="rect">
            <a:avLst/>
          </a:prstGeom>
          <a:noFill/>
          <a:ln>
            <a:noFill/>
          </a:ln>
          <a:effectLst>
            <a:outerShdw blurRad="50800" rotWithShape="0" algn="tl" dir="2700000" dist="38100">
              <a:srgbClr val="000000">
                <a:alpha val="42745"/>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4" name="Shape 1154"/>
        <p:cNvGrpSpPr/>
        <p:nvPr/>
      </p:nvGrpSpPr>
      <p:grpSpPr>
        <a:xfrm>
          <a:off x="0" y="0"/>
          <a:ext cx="0" cy="0"/>
          <a:chOff x="0" y="0"/>
          <a:chExt cx="0" cy="0"/>
        </a:xfrm>
      </p:grpSpPr>
      <p:sp>
        <p:nvSpPr>
          <p:cNvPr id="1155" name="Google Shape;1155;p7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External Merge Algorithm</a:t>
            </a:r>
            <a:endParaRPr/>
          </a:p>
        </p:txBody>
      </p:sp>
      <p:sp>
        <p:nvSpPr>
          <p:cNvPr id="1156" name="Google Shape;1156;p74"/>
          <p:cNvSpPr/>
          <p:nvPr/>
        </p:nvSpPr>
        <p:spPr>
          <a:xfrm>
            <a:off x="2600324" y="1793054"/>
            <a:ext cx="3457575" cy="4190049"/>
          </a:xfrm>
          <a:prstGeom prst="can">
            <a:avLst>
              <a:gd fmla="val 13065"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1157" name="Google Shape;1157;p74"/>
          <p:cNvSpPr/>
          <p:nvPr/>
        </p:nvSpPr>
        <p:spPr>
          <a:xfrm>
            <a:off x="2699249" y="2544333"/>
            <a:ext cx="3296832" cy="583324"/>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8" name="Google Shape;1158;p74"/>
          <p:cNvSpPr txBox="1"/>
          <p:nvPr/>
        </p:nvSpPr>
        <p:spPr>
          <a:xfrm>
            <a:off x="3874097" y="2635940"/>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7,11</a:t>
            </a:r>
            <a:endParaRPr/>
          </a:p>
        </p:txBody>
      </p:sp>
      <p:sp>
        <p:nvSpPr>
          <p:cNvPr id="1159" name="Google Shape;1159;p74"/>
          <p:cNvSpPr txBox="1"/>
          <p:nvPr/>
        </p:nvSpPr>
        <p:spPr>
          <a:xfrm>
            <a:off x="4903242" y="2635940"/>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20,31</a:t>
            </a:r>
            <a:endParaRPr/>
          </a:p>
        </p:txBody>
      </p:sp>
      <p:sp>
        <p:nvSpPr>
          <p:cNvPr id="1160" name="Google Shape;1160;p74"/>
          <p:cNvSpPr/>
          <p:nvPr/>
        </p:nvSpPr>
        <p:spPr>
          <a:xfrm>
            <a:off x="2699248" y="3270133"/>
            <a:ext cx="3296833" cy="583324"/>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1" name="Google Shape;1161;p74"/>
          <p:cNvSpPr txBox="1"/>
          <p:nvPr/>
        </p:nvSpPr>
        <p:spPr>
          <a:xfrm>
            <a:off x="3874072" y="3361740"/>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23,24</a:t>
            </a:r>
            <a:endParaRPr/>
          </a:p>
        </p:txBody>
      </p:sp>
      <p:sp>
        <p:nvSpPr>
          <p:cNvPr id="1162" name="Google Shape;1162;p74"/>
          <p:cNvSpPr txBox="1"/>
          <p:nvPr/>
        </p:nvSpPr>
        <p:spPr>
          <a:xfrm>
            <a:off x="4903217" y="3361740"/>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25,30</a:t>
            </a:r>
            <a:endParaRPr/>
          </a:p>
        </p:txBody>
      </p:sp>
      <p:sp>
        <p:nvSpPr>
          <p:cNvPr id="1163" name="Google Shape;1163;p74"/>
          <p:cNvSpPr/>
          <p:nvPr/>
        </p:nvSpPr>
        <p:spPr>
          <a:xfrm>
            <a:off x="2680694" y="4221466"/>
            <a:ext cx="3296833" cy="1109069"/>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4" name="Google Shape;1164;p74"/>
          <p:cNvSpPr txBox="1"/>
          <p:nvPr/>
        </p:nvSpPr>
        <p:spPr>
          <a:xfrm>
            <a:off x="601056" y="2653008"/>
            <a:ext cx="183548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Input:</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Two sorted files</a:t>
            </a:r>
            <a:endParaRPr/>
          </a:p>
        </p:txBody>
      </p:sp>
      <p:sp>
        <p:nvSpPr>
          <p:cNvPr id="1165" name="Google Shape;1165;p74"/>
          <p:cNvSpPr txBox="1"/>
          <p:nvPr/>
        </p:nvSpPr>
        <p:spPr>
          <a:xfrm>
            <a:off x="601056" y="4130206"/>
            <a:ext cx="183548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Output:</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One </a:t>
            </a:r>
            <a:r>
              <a:rPr i="1" lang="en-US" sz="2400">
                <a:solidFill>
                  <a:schemeClr val="dk1"/>
                </a:solidFill>
                <a:latin typeface="Calibri"/>
                <a:ea typeface="Calibri"/>
                <a:cs typeface="Calibri"/>
                <a:sym typeface="Calibri"/>
              </a:rPr>
              <a:t>merged</a:t>
            </a:r>
            <a:r>
              <a:rPr lang="en-US" sz="2400">
                <a:solidFill>
                  <a:schemeClr val="dk1"/>
                </a:solidFill>
                <a:latin typeface="Calibri"/>
                <a:ea typeface="Calibri"/>
                <a:cs typeface="Calibri"/>
                <a:sym typeface="Calibri"/>
              </a:rPr>
              <a:t> sorted file</a:t>
            </a:r>
            <a:endParaRPr/>
          </a:p>
        </p:txBody>
      </p:sp>
      <p:sp>
        <p:nvSpPr>
          <p:cNvPr id="1166" name="Google Shape;1166;p74"/>
          <p:cNvSpPr txBox="1"/>
          <p:nvPr/>
        </p:nvSpPr>
        <p:spPr>
          <a:xfrm>
            <a:off x="3886022" y="6085469"/>
            <a:ext cx="88617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Disk</a:t>
            </a:r>
            <a:endParaRPr sz="3200">
              <a:solidFill>
                <a:schemeClr val="dk1"/>
              </a:solidFill>
              <a:latin typeface="Calibri"/>
              <a:ea typeface="Calibri"/>
              <a:cs typeface="Calibri"/>
              <a:sym typeface="Calibri"/>
            </a:endParaRPr>
          </a:p>
        </p:txBody>
      </p:sp>
      <p:grpSp>
        <p:nvGrpSpPr>
          <p:cNvPr id="1167" name="Google Shape;1167;p74"/>
          <p:cNvGrpSpPr/>
          <p:nvPr/>
        </p:nvGrpSpPr>
        <p:grpSpPr>
          <a:xfrm>
            <a:off x="7474137" y="1397064"/>
            <a:ext cx="4259923" cy="2456273"/>
            <a:chOff x="7403799" y="1406844"/>
            <a:chExt cx="4259923" cy="2456273"/>
          </a:xfrm>
        </p:grpSpPr>
        <p:grpSp>
          <p:nvGrpSpPr>
            <p:cNvPr id="1168" name="Google Shape;1168;p74"/>
            <p:cNvGrpSpPr/>
            <p:nvPr/>
          </p:nvGrpSpPr>
          <p:grpSpPr>
            <a:xfrm>
              <a:off x="7403799" y="1406844"/>
              <a:ext cx="4259923" cy="2456273"/>
              <a:chOff x="7466322" y="1027906"/>
              <a:chExt cx="4259923" cy="2456273"/>
            </a:xfrm>
          </p:grpSpPr>
          <p:sp>
            <p:nvSpPr>
              <p:cNvPr id="1169" name="Google Shape;1169;p74"/>
              <p:cNvSpPr/>
              <p:nvPr/>
            </p:nvSpPr>
            <p:spPr>
              <a:xfrm>
                <a:off x="7466322" y="1027906"/>
                <a:ext cx="4252691" cy="2440508"/>
              </a:xfrm>
              <a:prstGeom prst="rect">
                <a:avLst/>
              </a:prstGeom>
              <a:solidFill>
                <a:srgbClr val="FFF2CC"/>
              </a:solidFill>
              <a:ln cap="flat" cmpd="sng" w="9525">
                <a:solidFill>
                  <a:srgbClr val="7F7F7F"/>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0">
                  <a:solidFill>
                    <a:schemeClr val="dk1"/>
                  </a:solidFill>
                  <a:latin typeface="Calibri"/>
                  <a:ea typeface="Calibri"/>
                  <a:cs typeface="Calibri"/>
                  <a:sym typeface="Calibri"/>
                </a:endParaRPr>
              </a:p>
            </p:txBody>
          </p:sp>
          <p:sp>
            <p:nvSpPr>
              <p:cNvPr id="1170" name="Google Shape;1170;p74"/>
              <p:cNvSpPr/>
              <p:nvPr/>
            </p:nvSpPr>
            <p:spPr>
              <a:xfrm>
                <a:off x="7769912" y="1969081"/>
                <a:ext cx="3956333" cy="1515098"/>
              </a:xfrm>
              <a:prstGeom prst="rect">
                <a:avLst/>
              </a:prstGeom>
              <a:solidFill>
                <a:srgbClr val="B3C6E7"/>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1171" name="Google Shape;1171;p74"/>
              <p:cNvSpPr txBox="1"/>
              <p:nvPr/>
            </p:nvSpPr>
            <p:spPr>
              <a:xfrm>
                <a:off x="7624243" y="1210562"/>
                <a:ext cx="196842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Main Memory</a:t>
                </a:r>
                <a:endParaRPr/>
              </a:p>
            </p:txBody>
          </p:sp>
          <p:sp>
            <p:nvSpPr>
              <p:cNvPr id="1172" name="Google Shape;1172;p74"/>
              <p:cNvSpPr txBox="1"/>
              <p:nvPr/>
            </p:nvSpPr>
            <p:spPr>
              <a:xfrm>
                <a:off x="7836450" y="1989610"/>
                <a:ext cx="95359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Buffer</a:t>
                </a:r>
                <a:endParaRPr/>
              </a:p>
            </p:txBody>
          </p:sp>
        </p:grpSp>
        <p:sp>
          <p:nvSpPr>
            <p:cNvPr id="1173" name="Google Shape;1173;p74"/>
            <p:cNvSpPr/>
            <p:nvPr/>
          </p:nvSpPr>
          <p:spPr>
            <a:xfrm>
              <a:off x="7843740"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74" name="Google Shape;1174;p74"/>
            <p:cNvSpPr/>
            <p:nvPr/>
          </p:nvSpPr>
          <p:spPr>
            <a:xfrm>
              <a:off x="9055124"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75" name="Google Shape;1175;p74"/>
            <p:cNvSpPr/>
            <p:nvPr/>
          </p:nvSpPr>
          <p:spPr>
            <a:xfrm>
              <a:off x="10266508"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176" name="Google Shape;1176;p74"/>
          <p:cNvSpPr/>
          <p:nvPr/>
        </p:nvSpPr>
        <p:spPr>
          <a:xfrm>
            <a:off x="6244417" y="3067170"/>
            <a:ext cx="1461477"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77" name="Google Shape;1177;p74"/>
          <p:cNvSpPr/>
          <p:nvPr/>
        </p:nvSpPr>
        <p:spPr>
          <a:xfrm rot="9359953">
            <a:off x="6093202" y="4265976"/>
            <a:ext cx="1767818"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78" name="Google Shape;1178;p74"/>
          <p:cNvSpPr txBox="1"/>
          <p:nvPr/>
        </p:nvSpPr>
        <p:spPr>
          <a:xfrm>
            <a:off x="2844928" y="2635940"/>
            <a:ext cx="954106"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1,5</a:t>
            </a:r>
            <a:endParaRPr/>
          </a:p>
        </p:txBody>
      </p:sp>
      <p:sp>
        <p:nvSpPr>
          <p:cNvPr id="1179" name="Google Shape;1179;p74"/>
          <p:cNvSpPr txBox="1"/>
          <p:nvPr/>
        </p:nvSpPr>
        <p:spPr>
          <a:xfrm>
            <a:off x="2844927" y="3361740"/>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2,22</a:t>
            </a:r>
            <a:endParaRPr/>
          </a:p>
        </p:txBody>
      </p:sp>
      <p:sp>
        <p:nvSpPr>
          <p:cNvPr id="1180" name="Google Shape;1180;p74"/>
          <p:cNvSpPr txBox="1"/>
          <p:nvPr/>
        </p:nvSpPr>
        <p:spPr>
          <a:xfrm>
            <a:off x="2216639" y="2672604"/>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1</a:t>
            </a:r>
            <a:endParaRPr/>
          </a:p>
        </p:txBody>
      </p:sp>
      <p:sp>
        <p:nvSpPr>
          <p:cNvPr id="1181" name="Google Shape;1181;p74"/>
          <p:cNvSpPr txBox="1"/>
          <p:nvPr/>
        </p:nvSpPr>
        <p:spPr>
          <a:xfrm>
            <a:off x="2216226" y="3361740"/>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2</a:t>
            </a:r>
            <a:endParaRPr/>
          </a:p>
        </p:txBody>
      </p:sp>
      <p:grpSp>
        <p:nvGrpSpPr>
          <p:cNvPr id="1182" name="Google Shape;1182;p74"/>
          <p:cNvGrpSpPr/>
          <p:nvPr/>
        </p:nvGrpSpPr>
        <p:grpSpPr>
          <a:xfrm>
            <a:off x="0" y="-22510"/>
            <a:ext cx="12192000" cy="307777"/>
            <a:chOff x="0" y="-22510"/>
            <a:chExt cx="12192000" cy="307777"/>
          </a:xfrm>
        </p:grpSpPr>
        <p:sp>
          <p:nvSpPr>
            <p:cNvPr id="1183" name="Google Shape;1183;p74"/>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184" name="Google Shape;1184;p74"/>
            <p:cNvSpPr txBox="1"/>
            <p:nvPr/>
          </p:nvSpPr>
          <p:spPr>
            <a:xfrm>
              <a:off x="188780" y="-22510"/>
              <a:ext cx="201241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Section 2  External merge</a:t>
              </a:r>
              <a:endParaRPr/>
            </a:p>
          </p:txBody>
        </p:sp>
      </p:gr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sp>
        <p:nvSpPr>
          <p:cNvPr id="1189" name="Google Shape;1189;p7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External Merge Algorithm</a:t>
            </a:r>
            <a:endParaRPr/>
          </a:p>
        </p:txBody>
      </p:sp>
      <p:sp>
        <p:nvSpPr>
          <p:cNvPr id="1190" name="Google Shape;1190;p75"/>
          <p:cNvSpPr/>
          <p:nvPr/>
        </p:nvSpPr>
        <p:spPr>
          <a:xfrm>
            <a:off x="2600324" y="1793054"/>
            <a:ext cx="3457575" cy="4190049"/>
          </a:xfrm>
          <a:prstGeom prst="can">
            <a:avLst>
              <a:gd fmla="val 13065"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1191" name="Google Shape;1191;p75"/>
          <p:cNvSpPr/>
          <p:nvPr/>
        </p:nvSpPr>
        <p:spPr>
          <a:xfrm>
            <a:off x="2699249" y="2544333"/>
            <a:ext cx="3296832" cy="583324"/>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92" name="Google Shape;1192;p75"/>
          <p:cNvSpPr txBox="1"/>
          <p:nvPr/>
        </p:nvSpPr>
        <p:spPr>
          <a:xfrm>
            <a:off x="3874097" y="2635940"/>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7,11</a:t>
            </a:r>
            <a:endParaRPr sz="2000">
              <a:solidFill>
                <a:srgbClr val="FFC000"/>
              </a:solidFill>
              <a:latin typeface="Arial"/>
              <a:ea typeface="Arial"/>
              <a:cs typeface="Arial"/>
              <a:sym typeface="Arial"/>
            </a:endParaRPr>
          </a:p>
        </p:txBody>
      </p:sp>
      <p:sp>
        <p:nvSpPr>
          <p:cNvPr id="1193" name="Google Shape;1193;p75"/>
          <p:cNvSpPr txBox="1"/>
          <p:nvPr/>
        </p:nvSpPr>
        <p:spPr>
          <a:xfrm>
            <a:off x="4903242" y="2635940"/>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20,31</a:t>
            </a:r>
            <a:endParaRPr/>
          </a:p>
        </p:txBody>
      </p:sp>
      <p:sp>
        <p:nvSpPr>
          <p:cNvPr id="1194" name="Google Shape;1194;p75"/>
          <p:cNvSpPr/>
          <p:nvPr/>
        </p:nvSpPr>
        <p:spPr>
          <a:xfrm>
            <a:off x="2699248" y="3270133"/>
            <a:ext cx="3296833" cy="583324"/>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95" name="Google Shape;1195;p75"/>
          <p:cNvSpPr txBox="1"/>
          <p:nvPr/>
        </p:nvSpPr>
        <p:spPr>
          <a:xfrm>
            <a:off x="3874072" y="3361740"/>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23,24</a:t>
            </a:r>
            <a:endParaRPr/>
          </a:p>
        </p:txBody>
      </p:sp>
      <p:sp>
        <p:nvSpPr>
          <p:cNvPr id="1196" name="Google Shape;1196;p75"/>
          <p:cNvSpPr txBox="1"/>
          <p:nvPr/>
        </p:nvSpPr>
        <p:spPr>
          <a:xfrm>
            <a:off x="4903217" y="3361740"/>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25,30</a:t>
            </a:r>
            <a:endParaRPr/>
          </a:p>
        </p:txBody>
      </p:sp>
      <p:sp>
        <p:nvSpPr>
          <p:cNvPr id="1197" name="Google Shape;1197;p75"/>
          <p:cNvSpPr/>
          <p:nvPr/>
        </p:nvSpPr>
        <p:spPr>
          <a:xfrm>
            <a:off x="2680694" y="4221466"/>
            <a:ext cx="3296833" cy="1109069"/>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98" name="Google Shape;1198;p75"/>
          <p:cNvSpPr txBox="1"/>
          <p:nvPr/>
        </p:nvSpPr>
        <p:spPr>
          <a:xfrm>
            <a:off x="3886022" y="6085469"/>
            <a:ext cx="88617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Disk</a:t>
            </a:r>
            <a:endParaRPr sz="3200">
              <a:solidFill>
                <a:schemeClr val="dk1"/>
              </a:solidFill>
              <a:latin typeface="Calibri"/>
              <a:ea typeface="Calibri"/>
              <a:cs typeface="Calibri"/>
              <a:sym typeface="Calibri"/>
            </a:endParaRPr>
          </a:p>
        </p:txBody>
      </p:sp>
      <p:grpSp>
        <p:nvGrpSpPr>
          <p:cNvPr id="1199" name="Google Shape;1199;p75"/>
          <p:cNvGrpSpPr/>
          <p:nvPr/>
        </p:nvGrpSpPr>
        <p:grpSpPr>
          <a:xfrm>
            <a:off x="7474137" y="1397064"/>
            <a:ext cx="4259923" cy="2456273"/>
            <a:chOff x="7403799" y="1406844"/>
            <a:chExt cx="4259923" cy="2456273"/>
          </a:xfrm>
        </p:grpSpPr>
        <p:grpSp>
          <p:nvGrpSpPr>
            <p:cNvPr id="1200" name="Google Shape;1200;p75"/>
            <p:cNvGrpSpPr/>
            <p:nvPr/>
          </p:nvGrpSpPr>
          <p:grpSpPr>
            <a:xfrm>
              <a:off x="7403799" y="1406844"/>
              <a:ext cx="4259923" cy="2456273"/>
              <a:chOff x="7466322" y="1027906"/>
              <a:chExt cx="4259923" cy="2456273"/>
            </a:xfrm>
          </p:grpSpPr>
          <p:sp>
            <p:nvSpPr>
              <p:cNvPr id="1201" name="Google Shape;1201;p75"/>
              <p:cNvSpPr/>
              <p:nvPr/>
            </p:nvSpPr>
            <p:spPr>
              <a:xfrm>
                <a:off x="7466322" y="1027906"/>
                <a:ext cx="4252691" cy="2440508"/>
              </a:xfrm>
              <a:prstGeom prst="rect">
                <a:avLst/>
              </a:prstGeom>
              <a:solidFill>
                <a:srgbClr val="FFF2CC"/>
              </a:solidFill>
              <a:ln cap="flat" cmpd="sng" w="9525">
                <a:solidFill>
                  <a:srgbClr val="7F7F7F"/>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0">
                  <a:solidFill>
                    <a:schemeClr val="dk1"/>
                  </a:solidFill>
                  <a:latin typeface="Calibri"/>
                  <a:ea typeface="Calibri"/>
                  <a:cs typeface="Calibri"/>
                  <a:sym typeface="Calibri"/>
                </a:endParaRPr>
              </a:p>
            </p:txBody>
          </p:sp>
          <p:sp>
            <p:nvSpPr>
              <p:cNvPr id="1202" name="Google Shape;1202;p75"/>
              <p:cNvSpPr/>
              <p:nvPr/>
            </p:nvSpPr>
            <p:spPr>
              <a:xfrm>
                <a:off x="7769912" y="1969081"/>
                <a:ext cx="3956333" cy="1515098"/>
              </a:xfrm>
              <a:prstGeom prst="rect">
                <a:avLst/>
              </a:prstGeom>
              <a:solidFill>
                <a:srgbClr val="B3C6E7"/>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1203" name="Google Shape;1203;p75"/>
              <p:cNvSpPr txBox="1"/>
              <p:nvPr/>
            </p:nvSpPr>
            <p:spPr>
              <a:xfrm>
                <a:off x="7624243" y="1210562"/>
                <a:ext cx="196842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Main Memory</a:t>
                </a:r>
                <a:endParaRPr/>
              </a:p>
            </p:txBody>
          </p:sp>
          <p:sp>
            <p:nvSpPr>
              <p:cNvPr id="1204" name="Google Shape;1204;p75"/>
              <p:cNvSpPr txBox="1"/>
              <p:nvPr/>
            </p:nvSpPr>
            <p:spPr>
              <a:xfrm>
                <a:off x="7836450" y="1989610"/>
                <a:ext cx="95359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Buffer</a:t>
                </a:r>
                <a:endParaRPr/>
              </a:p>
            </p:txBody>
          </p:sp>
        </p:grpSp>
        <p:sp>
          <p:nvSpPr>
            <p:cNvPr id="1205" name="Google Shape;1205;p75"/>
            <p:cNvSpPr/>
            <p:nvPr/>
          </p:nvSpPr>
          <p:spPr>
            <a:xfrm>
              <a:off x="7843740"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06" name="Google Shape;1206;p75"/>
            <p:cNvSpPr/>
            <p:nvPr/>
          </p:nvSpPr>
          <p:spPr>
            <a:xfrm>
              <a:off x="9055124"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07" name="Google Shape;1207;p75"/>
            <p:cNvSpPr/>
            <p:nvPr/>
          </p:nvSpPr>
          <p:spPr>
            <a:xfrm>
              <a:off x="10266508"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208" name="Google Shape;1208;p75"/>
          <p:cNvSpPr/>
          <p:nvPr/>
        </p:nvSpPr>
        <p:spPr>
          <a:xfrm>
            <a:off x="6244417" y="3067170"/>
            <a:ext cx="1461477"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09" name="Google Shape;1209;p75"/>
          <p:cNvSpPr/>
          <p:nvPr/>
        </p:nvSpPr>
        <p:spPr>
          <a:xfrm rot="9359953">
            <a:off x="6093202" y="4265976"/>
            <a:ext cx="1767818"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10" name="Google Shape;1210;p75"/>
          <p:cNvSpPr txBox="1"/>
          <p:nvPr/>
        </p:nvSpPr>
        <p:spPr>
          <a:xfrm>
            <a:off x="8000660" y="3088228"/>
            <a:ext cx="954106"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1,5</a:t>
            </a:r>
            <a:endParaRPr/>
          </a:p>
        </p:txBody>
      </p:sp>
      <p:sp>
        <p:nvSpPr>
          <p:cNvPr id="1211" name="Google Shape;1211;p75"/>
          <p:cNvSpPr txBox="1"/>
          <p:nvPr/>
        </p:nvSpPr>
        <p:spPr>
          <a:xfrm>
            <a:off x="9212043" y="3088228"/>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2,22</a:t>
            </a:r>
            <a:endParaRPr/>
          </a:p>
        </p:txBody>
      </p:sp>
      <p:sp>
        <p:nvSpPr>
          <p:cNvPr id="1212" name="Google Shape;1212;p75"/>
          <p:cNvSpPr txBox="1"/>
          <p:nvPr/>
        </p:nvSpPr>
        <p:spPr>
          <a:xfrm>
            <a:off x="601056" y="2653008"/>
            <a:ext cx="183548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Input:</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Two sorted files</a:t>
            </a:r>
            <a:endParaRPr/>
          </a:p>
        </p:txBody>
      </p:sp>
      <p:sp>
        <p:nvSpPr>
          <p:cNvPr id="1213" name="Google Shape;1213;p75"/>
          <p:cNvSpPr txBox="1"/>
          <p:nvPr/>
        </p:nvSpPr>
        <p:spPr>
          <a:xfrm>
            <a:off x="601056" y="4130206"/>
            <a:ext cx="183548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Output:</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One </a:t>
            </a:r>
            <a:r>
              <a:rPr i="1" lang="en-US" sz="2400">
                <a:solidFill>
                  <a:schemeClr val="dk1"/>
                </a:solidFill>
                <a:latin typeface="Calibri"/>
                <a:ea typeface="Calibri"/>
                <a:cs typeface="Calibri"/>
                <a:sym typeface="Calibri"/>
              </a:rPr>
              <a:t>merged</a:t>
            </a:r>
            <a:r>
              <a:rPr lang="en-US" sz="2400">
                <a:solidFill>
                  <a:schemeClr val="dk1"/>
                </a:solidFill>
                <a:latin typeface="Calibri"/>
                <a:ea typeface="Calibri"/>
                <a:cs typeface="Calibri"/>
                <a:sym typeface="Calibri"/>
              </a:rPr>
              <a:t> sorted file</a:t>
            </a:r>
            <a:endParaRPr/>
          </a:p>
        </p:txBody>
      </p:sp>
      <p:sp>
        <p:nvSpPr>
          <p:cNvPr id="1214" name="Google Shape;1214;p75"/>
          <p:cNvSpPr txBox="1"/>
          <p:nvPr/>
        </p:nvSpPr>
        <p:spPr>
          <a:xfrm>
            <a:off x="2216639" y="2672604"/>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1</a:t>
            </a:r>
            <a:endParaRPr/>
          </a:p>
        </p:txBody>
      </p:sp>
      <p:sp>
        <p:nvSpPr>
          <p:cNvPr id="1215" name="Google Shape;1215;p75"/>
          <p:cNvSpPr txBox="1"/>
          <p:nvPr/>
        </p:nvSpPr>
        <p:spPr>
          <a:xfrm>
            <a:off x="2216226" y="3361740"/>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2</a:t>
            </a:r>
            <a:endParaRPr/>
          </a:p>
        </p:txBody>
      </p:sp>
      <p:grpSp>
        <p:nvGrpSpPr>
          <p:cNvPr id="1216" name="Google Shape;1216;p75"/>
          <p:cNvGrpSpPr/>
          <p:nvPr/>
        </p:nvGrpSpPr>
        <p:grpSpPr>
          <a:xfrm>
            <a:off x="0" y="-22510"/>
            <a:ext cx="12192000" cy="307777"/>
            <a:chOff x="0" y="-22510"/>
            <a:chExt cx="12192000" cy="307777"/>
          </a:xfrm>
        </p:grpSpPr>
        <p:sp>
          <p:nvSpPr>
            <p:cNvPr id="1217" name="Google Shape;1217;p75"/>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218" name="Google Shape;1218;p75"/>
            <p:cNvSpPr txBox="1"/>
            <p:nvPr/>
          </p:nvSpPr>
          <p:spPr>
            <a:xfrm>
              <a:off x="188780" y="-22510"/>
              <a:ext cx="201241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Section 2  External merge</a:t>
              </a:r>
              <a:endParaRPr/>
            </a:p>
          </p:txBody>
        </p:sp>
      </p:gr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p7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External Merge Algorithm</a:t>
            </a:r>
            <a:endParaRPr/>
          </a:p>
        </p:txBody>
      </p:sp>
      <p:sp>
        <p:nvSpPr>
          <p:cNvPr id="1224" name="Google Shape;1224;p76"/>
          <p:cNvSpPr/>
          <p:nvPr/>
        </p:nvSpPr>
        <p:spPr>
          <a:xfrm>
            <a:off x="2600324" y="1793054"/>
            <a:ext cx="3457575" cy="4190049"/>
          </a:xfrm>
          <a:prstGeom prst="can">
            <a:avLst>
              <a:gd fmla="val 13065"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1225" name="Google Shape;1225;p76"/>
          <p:cNvSpPr/>
          <p:nvPr/>
        </p:nvSpPr>
        <p:spPr>
          <a:xfrm>
            <a:off x="2699249" y="2544333"/>
            <a:ext cx="3296832" cy="583324"/>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26" name="Google Shape;1226;p76"/>
          <p:cNvSpPr txBox="1"/>
          <p:nvPr/>
        </p:nvSpPr>
        <p:spPr>
          <a:xfrm>
            <a:off x="3874097" y="2635940"/>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7,11</a:t>
            </a:r>
            <a:endParaRPr sz="2000">
              <a:solidFill>
                <a:srgbClr val="FFC000"/>
              </a:solidFill>
              <a:latin typeface="Arial"/>
              <a:ea typeface="Arial"/>
              <a:cs typeface="Arial"/>
              <a:sym typeface="Arial"/>
            </a:endParaRPr>
          </a:p>
        </p:txBody>
      </p:sp>
      <p:sp>
        <p:nvSpPr>
          <p:cNvPr id="1227" name="Google Shape;1227;p76"/>
          <p:cNvSpPr txBox="1"/>
          <p:nvPr/>
        </p:nvSpPr>
        <p:spPr>
          <a:xfrm>
            <a:off x="4903242" y="2635940"/>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20,31</a:t>
            </a:r>
            <a:endParaRPr/>
          </a:p>
        </p:txBody>
      </p:sp>
      <p:sp>
        <p:nvSpPr>
          <p:cNvPr id="1228" name="Google Shape;1228;p76"/>
          <p:cNvSpPr/>
          <p:nvPr/>
        </p:nvSpPr>
        <p:spPr>
          <a:xfrm>
            <a:off x="2699248" y="3270133"/>
            <a:ext cx="3296833" cy="583324"/>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29" name="Google Shape;1229;p76"/>
          <p:cNvSpPr txBox="1"/>
          <p:nvPr/>
        </p:nvSpPr>
        <p:spPr>
          <a:xfrm>
            <a:off x="3874072" y="3361740"/>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23,24</a:t>
            </a:r>
            <a:endParaRPr/>
          </a:p>
        </p:txBody>
      </p:sp>
      <p:sp>
        <p:nvSpPr>
          <p:cNvPr id="1230" name="Google Shape;1230;p76"/>
          <p:cNvSpPr txBox="1"/>
          <p:nvPr/>
        </p:nvSpPr>
        <p:spPr>
          <a:xfrm>
            <a:off x="4903217" y="3361740"/>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25,30</a:t>
            </a:r>
            <a:endParaRPr/>
          </a:p>
        </p:txBody>
      </p:sp>
      <p:sp>
        <p:nvSpPr>
          <p:cNvPr id="1231" name="Google Shape;1231;p76"/>
          <p:cNvSpPr/>
          <p:nvPr/>
        </p:nvSpPr>
        <p:spPr>
          <a:xfrm>
            <a:off x="2680694" y="4221466"/>
            <a:ext cx="3296833" cy="1109069"/>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32" name="Google Shape;1232;p76"/>
          <p:cNvSpPr txBox="1"/>
          <p:nvPr/>
        </p:nvSpPr>
        <p:spPr>
          <a:xfrm>
            <a:off x="3886022" y="6085469"/>
            <a:ext cx="88617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Disk</a:t>
            </a:r>
            <a:endParaRPr sz="3200">
              <a:solidFill>
                <a:schemeClr val="dk1"/>
              </a:solidFill>
              <a:latin typeface="Calibri"/>
              <a:ea typeface="Calibri"/>
              <a:cs typeface="Calibri"/>
              <a:sym typeface="Calibri"/>
            </a:endParaRPr>
          </a:p>
        </p:txBody>
      </p:sp>
      <p:grpSp>
        <p:nvGrpSpPr>
          <p:cNvPr id="1233" name="Google Shape;1233;p76"/>
          <p:cNvGrpSpPr/>
          <p:nvPr/>
        </p:nvGrpSpPr>
        <p:grpSpPr>
          <a:xfrm>
            <a:off x="7474137" y="1397064"/>
            <a:ext cx="4259923" cy="2456273"/>
            <a:chOff x="7403799" y="1406844"/>
            <a:chExt cx="4259923" cy="2456273"/>
          </a:xfrm>
        </p:grpSpPr>
        <p:grpSp>
          <p:nvGrpSpPr>
            <p:cNvPr id="1234" name="Google Shape;1234;p76"/>
            <p:cNvGrpSpPr/>
            <p:nvPr/>
          </p:nvGrpSpPr>
          <p:grpSpPr>
            <a:xfrm>
              <a:off x="7403799" y="1406844"/>
              <a:ext cx="4259923" cy="2456273"/>
              <a:chOff x="7466322" y="1027906"/>
              <a:chExt cx="4259923" cy="2456273"/>
            </a:xfrm>
          </p:grpSpPr>
          <p:sp>
            <p:nvSpPr>
              <p:cNvPr id="1235" name="Google Shape;1235;p76"/>
              <p:cNvSpPr/>
              <p:nvPr/>
            </p:nvSpPr>
            <p:spPr>
              <a:xfrm>
                <a:off x="7466322" y="1027906"/>
                <a:ext cx="4252691" cy="2440508"/>
              </a:xfrm>
              <a:prstGeom prst="rect">
                <a:avLst/>
              </a:prstGeom>
              <a:solidFill>
                <a:srgbClr val="FFF2CC"/>
              </a:solidFill>
              <a:ln cap="flat" cmpd="sng" w="9525">
                <a:solidFill>
                  <a:srgbClr val="7F7F7F"/>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0">
                  <a:solidFill>
                    <a:schemeClr val="dk1"/>
                  </a:solidFill>
                  <a:latin typeface="Calibri"/>
                  <a:ea typeface="Calibri"/>
                  <a:cs typeface="Calibri"/>
                  <a:sym typeface="Calibri"/>
                </a:endParaRPr>
              </a:p>
            </p:txBody>
          </p:sp>
          <p:sp>
            <p:nvSpPr>
              <p:cNvPr id="1236" name="Google Shape;1236;p76"/>
              <p:cNvSpPr/>
              <p:nvPr/>
            </p:nvSpPr>
            <p:spPr>
              <a:xfrm>
                <a:off x="7769912" y="1969081"/>
                <a:ext cx="3956333" cy="1515098"/>
              </a:xfrm>
              <a:prstGeom prst="rect">
                <a:avLst/>
              </a:prstGeom>
              <a:solidFill>
                <a:srgbClr val="B3C6E7"/>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1237" name="Google Shape;1237;p76"/>
              <p:cNvSpPr txBox="1"/>
              <p:nvPr/>
            </p:nvSpPr>
            <p:spPr>
              <a:xfrm>
                <a:off x="7624243" y="1210562"/>
                <a:ext cx="196842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Main Memory</a:t>
                </a:r>
                <a:endParaRPr/>
              </a:p>
            </p:txBody>
          </p:sp>
          <p:sp>
            <p:nvSpPr>
              <p:cNvPr id="1238" name="Google Shape;1238;p76"/>
              <p:cNvSpPr txBox="1"/>
              <p:nvPr/>
            </p:nvSpPr>
            <p:spPr>
              <a:xfrm>
                <a:off x="7836450" y="1989610"/>
                <a:ext cx="95359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Buffer</a:t>
                </a:r>
                <a:endParaRPr/>
              </a:p>
            </p:txBody>
          </p:sp>
        </p:grpSp>
        <p:sp>
          <p:nvSpPr>
            <p:cNvPr id="1239" name="Google Shape;1239;p76"/>
            <p:cNvSpPr/>
            <p:nvPr/>
          </p:nvSpPr>
          <p:spPr>
            <a:xfrm>
              <a:off x="7843740"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40" name="Google Shape;1240;p76"/>
            <p:cNvSpPr/>
            <p:nvPr/>
          </p:nvSpPr>
          <p:spPr>
            <a:xfrm>
              <a:off x="9055124"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41" name="Google Shape;1241;p76"/>
            <p:cNvSpPr/>
            <p:nvPr/>
          </p:nvSpPr>
          <p:spPr>
            <a:xfrm>
              <a:off x="10266508"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242" name="Google Shape;1242;p76"/>
          <p:cNvSpPr/>
          <p:nvPr/>
        </p:nvSpPr>
        <p:spPr>
          <a:xfrm>
            <a:off x="6244417" y="3067170"/>
            <a:ext cx="1461477"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43" name="Google Shape;1243;p76"/>
          <p:cNvSpPr/>
          <p:nvPr/>
        </p:nvSpPr>
        <p:spPr>
          <a:xfrm rot="9359953">
            <a:off x="6093202" y="4265976"/>
            <a:ext cx="1767818"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44" name="Google Shape;1244;p76"/>
          <p:cNvSpPr txBox="1"/>
          <p:nvPr/>
        </p:nvSpPr>
        <p:spPr>
          <a:xfrm>
            <a:off x="8000660" y="3088228"/>
            <a:ext cx="954106"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5</a:t>
            </a:r>
            <a:endParaRPr/>
          </a:p>
        </p:txBody>
      </p:sp>
      <p:sp>
        <p:nvSpPr>
          <p:cNvPr id="1245" name="Google Shape;1245;p76"/>
          <p:cNvSpPr txBox="1"/>
          <p:nvPr/>
        </p:nvSpPr>
        <p:spPr>
          <a:xfrm>
            <a:off x="9212043" y="3088228"/>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22</a:t>
            </a:r>
            <a:endParaRPr/>
          </a:p>
        </p:txBody>
      </p:sp>
      <p:sp>
        <p:nvSpPr>
          <p:cNvPr id="1246" name="Google Shape;1246;p76"/>
          <p:cNvSpPr txBox="1"/>
          <p:nvPr/>
        </p:nvSpPr>
        <p:spPr>
          <a:xfrm>
            <a:off x="10428344" y="3088228"/>
            <a:ext cx="954106"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1,2</a:t>
            </a:r>
            <a:endParaRPr/>
          </a:p>
        </p:txBody>
      </p:sp>
      <p:sp>
        <p:nvSpPr>
          <p:cNvPr id="1247" name="Google Shape;1247;p76"/>
          <p:cNvSpPr txBox="1"/>
          <p:nvPr/>
        </p:nvSpPr>
        <p:spPr>
          <a:xfrm>
            <a:off x="601056" y="2653008"/>
            <a:ext cx="183548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Input:</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Two sorted files</a:t>
            </a:r>
            <a:endParaRPr/>
          </a:p>
        </p:txBody>
      </p:sp>
      <p:sp>
        <p:nvSpPr>
          <p:cNvPr id="1248" name="Google Shape;1248;p76"/>
          <p:cNvSpPr txBox="1"/>
          <p:nvPr/>
        </p:nvSpPr>
        <p:spPr>
          <a:xfrm>
            <a:off x="601056" y="4130206"/>
            <a:ext cx="183548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Output:</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One </a:t>
            </a:r>
            <a:r>
              <a:rPr i="1" lang="en-US" sz="2400">
                <a:solidFill>
                  <a:schemeClr val="dk1"/>
                </a:solidFill>
                <a:latin typeface="Calibri"/>
                <a:ea typeface="Calibri"/>
                <a:cs typeface="Calibri"/>
                <a:sym typeface="Calibri"/>
              </a:rPr>
              <a:t>merged</a:t>
            </a:r>
            <a:r>
              <a:rPr lang="en-US" sz="2400">
                <a:solidFill>
                  <a:schemeClr val="dk1"/>
                </a:solidFill>
                <a:latin typeface="Calibri"/>
                <a:ea typeface="Calibri"/>
                <a:cs typeface="Calibri"/>
                <a:sym typeface="Calibri"/>
              </a:rPr>
              <a:t> sorted file</a:t>
            </a:r>
            <a:endParaRPr/>
          </a:p>
        </p:txBody>
      </p:sp>
      <p:sp>
        <p:nvSpPr>
          <p:cNvPr id="1249" name="Google Shape;1249;p76"/>
          <p:cNvSpPr txBox="1"/>
          <p:nvPr/>
        </p:nvSpPr>
        <p:spPr>
          <a:xfrm>
            <a:off x="2216639" y="2672604"/>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1</a:t>
            </a:r>
            <a:endParaRPr/>
          </a:p>
        </p:txBody>
      </p:sp>
      <p:sp>
        <p:nvSpPr>
          <p:cNvPr id="1250" name="Google Shape;1250;p76"/>
          <p:cNvSpPr txBox="1"/>
          <p:nvPr/>
        </p:nvSpPr>
        <p:spPr>
          <a:xfrm>
            <a:off x="2216226" y="3361740"/>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2</a:t>
            </a:r>
            <a:endParaRPr/>
          </a:p>
        </p:txBody>
      </p:sp>
      <p:grpSp>
        <p:nvGrpSpPr>
          <p:cNvPr id="1251" name="Google Shape;1251;p76"/>
          <p:cNvGrpSpPr/>
          <p:nvPr/>
        </p:nvGrpSpPr>
        <p:grpSpPr>
          <a:xfrm>
            <a:off x="0" y="-22510"/>
            <a:ext cx="12192000" cy="307777"/>
            <a:chOff x="0" y="-22510"/>
            <a:chExt cx="12192000" cy="307777"/>
          </a:xfrm>
        </p:grpSpPr>
        <p:sp>
          <p:nvSpPr>
            <p:cNvPr id="1252" name="Google Shape;1252;p76"/>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253" name="Google Shape;1253;p76"/>
            <p:cNvSpPr txBox="1"/>
            <p:nvPr/>
          </p:nvSpPr>
          <p:spPr>
            <a:xfrm>
              <a:off x="188780" y="-22510"/>
              <a:ext cx="201241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Section 2  External merge</a:t>
              </a:r>
              <a:endParaRPr/>
            </a:p>
          </p:txBody>
        </p:sp>
      </p:gr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p7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External Merge Algorithm</a:t>
            </a:r>
            <a:endParaRPr/>
          </a:p>
        </p:txBody>
      </p:sp>
      <p:sp>
        <p:nvSpPr>
          <p:cNvPr id="1259" name="Google Shape;1259;p77"/>
          <p:cNvSpPr/>
          <p:nvPr/>
        </p:nvSpPr>
        <p:spPr>
          <a:xfrm>
            <a:off x="2600324" y="1793054"/>
            <a:ext cx="3457575" cy="4190049"/>
          </a:xfrm>
          <a:prstGeom prst="can">
            <a:avLst>
              <a:gd fmla="val 13065"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1260" name="Google Shape;1260;p77"/>
          <p:cNvSpPr/>
          <p:nvPr/>
        </p:nvSpPr>
        <p:spPr>
          <a:xfrm>
            <a:off x="2699249" y="2544333"/>
            <a:ext cx="3296832" cy="583324"/>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1" name="Google Shape;1261;p77"/>
          <p:cNvSpPr txBox="1"/>
          <p:nvPr/>
        </p:nvSpPr>
        <p:spPr>
          <a:xfrm>
            <a:off x="3874097" y="2635940"/>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7,11</a:t>
            </a:r>
            <a:endParaRPr sz="2000">
              <a:solidFill>
                <a:srgbClr val="FFC000"/>
              </a:solidFill>
              <a:latin typeface="Arial"/>
              <a:ea typeface="Arial"/>
              <a:cs typeface="Arial"/>
              <a:sym typeface="Arial"/>
            </a:endParaRPr>
          </a:p>
        </p:txBody>
      </p:sp>
      <p:sp>
        <p:nvSpPr>
          <p:cNvPr id="1262" name="Google Shape;1262;p77"/>
          <p:cNvSpPr txBox="1"/>
          <p:nvPr/>
        </p:nvSpPr>
        <p:spPr>
          <a:xfrm>
            <a:off x="4903242" y="2635940"/>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20,31</a:t>
            </a:r>
            <a:endParaRPr/>
          </a:p>
        </p:txBody>
      </p:sp>
      <p:sp>
        <p:nvSpPr>
          <p:cNvPr id="1263" name="Google Shape;1263;p77"/>
          <p:cNvSpPr/>
          <p:nvPr/>
        </p:nvSpPr>
        <p:spPr>
          <a:xfrm>
            <a:off x="2699248" y="3270133"/>
            <a:ext cx="3296833" cy="583324"/>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4" name="Google Shape;1264;p77"/>
          <p:cNvSpPr txBox="1"/>
          <p:nvPr/>
        </p:nvSpPr>
        <p:spPr>
          <a:xfrm>
            <a:off x="3874072" y="3361740"/>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23,24</a:t>
            </a:r>
            <a:endParaRPr/>
          </a:p>
        </p:txBody>
      </p:sp>
      <p:sp>
        <p:nvSpPr>
          <p:cNvPr id="1265" name="Google Shape;1265;p77"/>
          <p:cNvSpPr txBox="1"/>
          <p:nvPr/>
        </p:nvSpPr>
        <p:spPr>
          <a:xfrm>
            <a:off x="4903217" y="3361740"/>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25,30</a:t>
            </a:r>
            <a:endParaRPr/>
          </a:p>
        </p:txBody>
      </p:sp>
      <p:sp>
        <p:nvSpPr>
          <p:cNvPr id="1266" name="Google Shape;1266;p77"/>
          <p:cNvSpPr/>
          <p:nvPr/>
        </p:nvSpPr>
        <p:spPr>
          <a:xfrm>
            <a:off x="2680694" y="4221466"/>
            <a:ext cx="3296833" cy="1109069"/>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7" name="Google Shape;1267;p77"/>
          <p:cNvSpPr txBox="1"/>
          <p:nvPr/>
        </p:nvSpPr>
        <p:spPr>
          <a:xfrm>
            <a:off x="3886022" y="6085469"/>
            <a:ext cx="88617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Disk</a:t>
            </a:r>
            <a:endParaRPr sz="3200">
              <a:solidFill>
                <a:schemeClr val="dk1"/>
              </a:solidFill>
              <a:latin typeface="Calibri"/>
              <a:ea typeface="Calibri"/>
              <a:cs typeface="Calibri"/>
              <a:sym typeface="Calibri"/>
            </a:endParaRPr>
          </a:p>
        </p:txBody>
      </p:sp>
      <p:grpSp>
        <p:nvGrpSpPr>
          <p:cNvPr id="1268" name="Google Shape;1268;p77"/>
          <p:cNvGrpSpPr/>
          <p:nvPr/>
        </p:nvGrpSpPr>
        <p:grpSpPr>
          <a:xfrm>
            <a:off x="7474137" y="1397064"/>
            <a:ext cx="4259923" cy="2456273"/>
            <a:chOff x="7403799" y="1406844"/>
            <a:chExt cx="4259923" cy="2456273"/>
          </a:xfrm>
        </p:grpSpPr>
        <p:grpSp>
          <p:nvGrpSpPr>
            <p:cNvPr id="1269" name="Google Shape;1269;p77"/>
            <p:cNvGrpSpPr/>
            <p:nvPr/>
          </p:nvGrpSpPr>
          <p:grpSpPr>
            <a:xfrm>
              <a:off x="7403799" y="1406844"/>
              <a:ext cx="4259923" cy="2456273"/>
              <a:chOff x="7466322" y="1027906"/>
              <a:chExt cx="4259923" cy="2456273"/>
            </a:xfrm>
          </p:grpSpPr>
          <p:sp>
            <p:nvSpPr>
              <p:cNvPr id="1270" name="Google Shape;1270;p77"/>
              <p:cNvSpPr/>
              <p:nvPr/>
            </p:nvSpPr>
            <p:spPr>
              <a:xfrm>
                <a:off x="7466322" y="1027906"/>
                <a:ext cx="4252691" cy="2440508"/>
              </a:xfrm>
              <a:prstGeom prst="rect">
                <a:avLst/>
              </a:prstGeom>
              <a:solidFill>
                <a:srgbClr val="FFF2CC"/>
              </a:solidFill>
              <a:ln cap="flat" cmpd="sng" w="9525">
                <a:solidFill>
                  <a:srgbClr val="7F7F7F"/>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0">
                  <a:solidFill>
                    <a:schemeClr val="dk1"/>
                  </a:solidFill>
                  <a:latin typeface="Calibri"/>
                  <a:ea typeface="Calibri"/>
                  <a:cs typeface="Calibri"/>
                  <a:sym typeface="Calibri"/>
                </a:endParaRPr>
              </a:p>
            </p:txBody>
          </p:sp>
          <p:sp>
            <p:nvSpPr>
              <p:cNvPr id="1271" name="Google Shape;1271;p77"/>
              <p:cNvSpPr/>
              <p:nvPr/>
            </p:nvSpPr>
            <p:spPr>
              <a:xfrm>
                <a:off x="7769912" y="1969081"/>
                <a:ext cx="3956333" cy="1515098"/>
              </a:xfrm>
              <a:prstGeom prst="rect">
                <a:avLst/>
              </a:prstGeom>
              <a:solidFill>
                <a:srgbClr val="B3C6E7"/>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1272" name="Google Shape;1272;p77"/>
              <p:cNvSpPr txBox="1"/>
              <p:nvPr/>
            </p:nvSpPr>
            <p:spPr>
              <a:xfrm>
                <a:off x="7624243" y="1210562"/>
                <a:ext cx="196842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Main Memory</a:t>
                </a:r>
                <a:endParaRPr/>
              </a:p>
            </p:txBody>
          </p:sp>
          <p:sp>
            <p:nvSpPr>
              <p:cNvPr id="1273" name="Google Shape;1273;p77"/>
              <p:cNvSpPr txBox="1"/>
              <p:nvPr/>
            </p:nvSpPr>
            <p:spPr>
              <a:xfrm>
                <a:off x="7836450" y="1989610"/>
                <a:ext cx="95359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Buffer</a:t>
                </a:r>
                <a:endParaRPr/>
              </a:p>
            </p:txBody>
          </p:sp>
        </p:grpSp>
        <p:sp>
          <p:nvSpPr>
            <p:cNvPr id="1274" name="Google Shape;1274;p77"/>
            <p:cNvSpPr/>
            <p:nvPr/>
          </p:nvSpPr>
          <p:spPr>
            <a:xfrm>
              <a:off x="7843740"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75" name="Google Shape;1275;p77"/>
            <p:cNvSpPr/>
            <p:nvPr/>
          </p:nvSpPr>
          <p:spPr>
            <a:xfrm>
              <a:off x="9055124"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76" name="Google Shape;1276;p77"/>
            <p:cNvSpPr/>
            <p:nvPr/>
          </p:nvSpPr>
          <p:spPr>
            <a:xfrm>
              <a:off x="10266508"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277" name="Google Shape;1277;p77"/>
          <p:cNvSpPr/>
          <p:nvPr/>
        </p:nvSpPr>
        <p:spPr>
          <a:xfrm>
            <a:off x="6244417" y="3067170"/>
            <a:ext cx="1461477"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78" name="Google Shape;1278;p77"/>
          <p:cNvSpPr/>
          <p:nvPr/>
        </p:nvSpPr>
        <p:spPr>
          <a:xfrm rot="9359953">
            <a:off x="6093202" y="4265976"/>
            <a:ext cx="1767818"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79" name="Google Shape;1279;p77"/>
          <p:cNvSpPr txBox="1"/>
          <p:nvPr/>
        </p:nvSpPr>
        <p:spPr>
          <a:xfrm>
            <a:off x="8000660" y="3088228"/>
            <a:ext cx="954106"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5</a:t>
            </a:r>
            <a:endParaRPr/>
          </a:p>
        </p:txBody>
      </p:sp>
      <p:sp>
        <p:nvSpPr>
          <p:cNvPr id="1280" name="Google Shape;1280;p77"/>
          <p:cNvSpPr txBox="1"/>
          <p:nvPr/>
        </p:nvSpPr>
        <p:spPr>
          <a:xfrm>
            <a:off x="9212043" y="3088228"/>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22</a:t>
            </a:r>
            <a:endParaRPr/>
          </a:p>
        </p:txBody>
      </p:sp>
      <p:sp>
        <p:nvSpPr>
          <p:cNvPr id="1281" name="Google Shape;1281;p77"/>
          <p:cNvSpPr txBox="1"/>
          <p:nvPr/>
        </p:nvSpPr>
        <p:spPr>
          <a:xfrm>
            <a:off x="2804161" y="4305052"/>
            <a:ext cx="954106"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1,2</a:t>
            </a:r>
            <a:endParaRPr/>
          </a:p>
        </p:txBody>
      </p:sp>
      <p:sp>
        <p:nvSpPr>
          <p:cNvPr id="1282" name="Google Shape;1282;p77"/>
          <p:cNvSpPr txBox="1"/>
          <p:nvPr/>
        </p:nvSpPr>
        <p:spPr>
          <a:xfrm>
            <a:off x="601056" y="2653008"/>
            <a:ext cx="183548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Input:</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Two sorted files</a:t>
            </a:r>
            <a:endParaRPr/>
          </a:p>
        </p:txBody>
      </p:sp>
      <p:sp>
        <p:nvSpPr>
          <p:cNvPr id="1283" name="Google Shape;1283;p77"/>
          <p:cNvSpPr txBox="1"/>
          <p:nvPr/>
        </p:nvSpPr>
        <p:spPr>
          <a:xfrm>
            <a:off x="601056" y="4130206"/>
            <a:ext cx="183548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Output:</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One </a:t>
            </a:r>
            <a:r>
              <a:rPr i="1" lang="en-US" sz="2400">
                <a:solidFill>
                  <a:schemeClr val="dk1"/>
                </a:solidFill>
                <a:latin typeface="Calibri"/>
                <a:ea typeface="Calibri"/>
                <a:cs typeface="Calibri"/>
                <a:sym typeface="Calibri"/>
              </a:rPr>
              <a:t>merged</a:t>
            </a:r>
            <a:r>
              <a:rPr lang="en-US" sz="2400">
                <a:solidFill>
                  <a:schemeClr val="dk1"/>
                </a:solidFill>
                <a:latin typeface="Calibri"/>
                <a:ea typeface="Calibri"/>
                <a:cs typeface="Calibri"/>
                <a:sym typeface="Calibri"/>
              </a:rPr>
              <a:t> sorted file</a:t>
            </a:r>
            <a:endParaRPr/>
          </a:p>
        </p:txBody>
      </p:sp>
      <p:sp>
        <p:nvSpPr>
          <p:cNvPr id="1284" name="Google Shape;1284;p77"/>
          <p:cNvSpPr txBox="1"/>
          <p:nvPr/>
        </p:nvSpPr>
        <p:spPr>
          <a:xfrm>
            <a:off x="2216639" y="2672604"/>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1</a:t>
            </a:r>
            <a:endParaRPr/>
          </a:p>
        </p:txBody>
      </p:sp>
      <p:sp>
        <p:nvSpPr>
          <p:cNvPr id="1285" name="Google Shape;1285;p77"/>
          <p:cNvSpPr txBox="1"/>
          <p:nvPr/>
        </p:nvSpPr>
        <p:spPr>
          <a:xfrm>
            <a:off x="2216226" y="3361740"/>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2</a:t>
            </a:r>
            <a:endParaRPr/>
          </a:p>
        </p:txBody>
      </p:sp>
      <p:grpSp>
        <p:nvGrpSpPr>
          <p:cNvPr id="1286" name="Google Shape;1286;p77"/>
          <p:cNvGrpSpPr/>
          <p:nvPr/>
        </p:nvGrpSpPr>
        <p:grpSpPr>
          <a:xfrm>
            <a:off x="0" y="-22510"/>
            <a:ext cx="12192000" cy="307777"/>
            <a:chOff x="0" y="-22510"/>
            <a:chExt cx="12192000" cy="307777"/>
          </a:xfrm>
        </p:grpSpPr>
        <p:sp>
          <p:nvSpPr>
            <p:cNvPr id="1287" name="Google Shape;1287;p77"/>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288" name="Google Shape;1288;p77"/>
            <p:cNvSpPr txBox="1"/>
            <p:nvPr/>
          </p:nvSpPr>
          <p:spPr>
            <a:xfrm>
              <a:off x="188780" y="-22510"/>
              <a:ext cx="201241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Section 2  External merge</a:t>
              </a:r>
              <a:endParaRPr/>
            </a:p>
          </p:txBody>
        </p:sp>
      </p:gr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sp>
        <p:nvSpPr>
          <p:cNvPr id="1293" name="Google Shape;1293;p7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External Merge Algorithm</a:t>
            </a:r>
            <a:endParaRPr/>
          </a:p>
        </p:txBody>
      </p:sp>
      <p:sp>
        <p:nvSpPr>
          <p:cNvPr id="1294" name="Google Shape;1294;p78"/>
          <p:cNvSpPr/>
          <p:nvPr/>
        </p:nvSpPr>
        <p:spPr>
          <a:xfrm>
            <a:off x="2600324" y="1793054"/>
            <a:ext cx="3457575" cy="4190049"/>
          </a:xfrm>
          <a:prstGeom prst="can">
            <a:avLst>
              <a:gd fmla="val 13065"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1295" name="Google Shape;1295;p78"/>
          <p:cNvSpPr/>
          <p:nvPr/>
        </p:nvSpPr>
        <p:spPr>
          <a:xfrm>
            <a:off x="2699249" y="2544333"/>
            <a:ext cx="3296832" cy="583324"/>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96" name="Google Shape;1296;p78"/>
          <p:cNvSpPr txBox="1"/>
          <p:nvPr/>
        </p:nvSpPr>
        <p:spPr>
          <a:xfrm>
            <a:off x="4903242" y="2635940"/>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20,31</a:t>
            </a:r>
            <a:endParaRPr/>
          </a:p>
        </p:txBody>
      </p:sp>
      <p:sp>
        <p:nvSpPr>
          <p:cNvPr id="1297" name="Google Shape;1297;p78"/>
          <p:cNvSpPr/>
          <p:nvPr/>
        </p:nvSpPr>
        <p:spPr>
          <a:xfrm>
            <a:off x="2699248" y="3270133"/>
            <a:ext cx="3296833" cy="583324"/>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98" name="Google Shape;1298;p78"/>
          <p:cNvSpPr txBox="1"/>
          <p:nvPr/>
        </p:nvSpPr>
        <p:spPr>
          <a:xfrm>
            <a:off x="3874072" y="3361740"/>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23,24</a:t>
            </a:r>
            <a:endParaRPr/>
          </a:p>
        </p:txBody>
      </p:sp>
      <p:sp>
        <p:nvSpPr>
          <p:cNvPr id="1299" name="Google Shape;1299;p78"/>
          <p:cNvSpPr txBox="1"/>
          <p:nvPr/>
        </p:nvSpPr>
        <p:spPr>
          <a:xfrm>
            <a:off x="4903217" y="3361740"/>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25,30</a:t>
            </a:r>
            <a:endParaRPr/>
          </a:p>
        </p:txBody>
      </p:sp>
      <p:sp>
        <p:nvSpPr>
          <p:cNvPr id="1300" name="Google Shape;1300;p78"/>
          <p:cNvSpPr/>
          <p:nvPr/>
        </p:nvSpPr>
        <p:spPr>
          <a:xfrm>
            <a:off x="2680694" y="4221466"/>
            <a:ext cx="3296833" cy="1109069"/>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1" name="Google Shape;1301;p78"/>
          <p:cNvSpPr txBox="1"/>
          <p:nvPr/>
        </p:nvSpPr>
        <p:spPr>
          <a:xfrm>
            <a:off x="3886022" y="6085469"/>
            <a:ext cx="88617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Disk</a:t>
            </a:r>
            <a:endParaRPr sz="3200">
              <a:solidFill>
                <a:schemeClr val="dk1"/>
              </a:solidFill>
              <a:latin typeface="Calibri"/>
              <a:ea typeface="Calibri"/>
              <a:cs typeface="Calibri"/>
              <a:sym typeface="Calibri"/>
            </a:endParaRPr>
          </a:p>
        </p:txBody>
      </p:sp>
      <p:grpSp>
        <p:nvGrpSpPr>
          <p:cNvPr id="1302" name="Google Shape;1302;p78"/>
          <p:cNvGrpSpPr/>
          <p:nvPr/>
        </p:nvGrpSpPr>
        <p:grpSpPr>
          <a:xfrm>
            <a:off x="7474137" y="1397064"/>
            <a:ext cx="4259923" cy="2456273"/>
            <a:chOff x="7403799" y="1406844"/>
            <a:chExt cx="4259923" cy="2456273"/>
          </a:xfrm>
        </p:grpSpPr>
        <p:grpSp>
          <p:nvGrpSpPr>
            <p:cNvPr id="1303" name="Google Shape;1303;p78"/>
            <p:cNvGrpSpPr/>
            <p:nvPr/>
          </p:nvGrpSpPr>
          <p:grpSpPr>
            <a:xfrm>
              <a:off x="7403799" y="1406844"/>
              <a:ext cx="4259923" cy="2456273"/>
              <a:chOff x="7466322" y="1027906"/>
              <a:chExt cx="4259923" cy="2456273"/>
            </a:xfrm>
          </p:grpSpPr>
          <p:sp>
            <p:nvSpPr>
              <p:cNvPr id="1304" name="Google Shape;1304;p78"/>
              <p:cNvSpPr/>
              <p:nvPr/>
            </p:nvSpPr>
            <p:spPr>
              <a:xfrm>
                <a:off x="7466322" y="1027906"/>
                <a:ext cx="4252691" cy="2440508"/>
              </a:xfrm>
              <a:prstGeom prst="rect">
                <a:avLst/>
              </a:prstGeom>
              <a:solidFill>
                <a:srgbClr val="FFF2CC"/>
              </a:solidFill>
              <a:ln cap="flat" cmpd="sng" w="9525">
                <a:solidFill>
                  <a:srgbClr val="7F7F7F"/>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0">
                  <a:solidFill>
                    <a:schemeClr val="dk1"/>
                  </a:solidFill>
                  <a:latin typeface="Calibri"/>
                  <a:ea typeface="Calibri"/>
                  <a:cs typeface="Calibri"/>
                  <a:sym typeface="Calibri"/>
                </a:endParaRPr>
              </a:p>
            </p:txBody>
          </p:sp>
          <p:sp>
            <p:nvSpPr>
              <p:cNvPr id="1305" name="Google Shape;1305;p78"/>
              <p:cNvSpPr/>
              <p:nvPr/>
            </p:nvSpPr>
            <p:spPr>
              <a:xfrm>
                <a:off x="7769912" y="1969081"/>
                <a:ext cx="3956333" cy="1515098"/>
              </a:xfrm>
              <a:prstGeom prst="rect">
                <a:avLst/>
              </a:prstGeom>
              <a:solidFill>
                <a:srgbClr val="B3C6E7"/>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1306" name="Google Shape;1306;p78"/>
              <p:cNvSpPr txBox="1"/>
              <p:nvPr/>
            </p:nvSpPr>
            <p:spPr>
              <a:xfrm>
                <a:off x="7624243" y="1210562"/>
                <a:ext cx="196842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Main Memory</a:t>
                </a:r>
                <a:endParaRPr/>
              </a:p>
            </p:txBody>
          </p:sp>
          <p:sp>
            <p:nvSpPr>
              <p:cNvPr id="1307" name="Google Shape;1307;p78"/>
              <p:cNvSpPr txBox="1"/>
              <p:nvPr/>
            </p:nvSpPr>
            <p:spPr>
              <a:xfrm>
                <a:off x="7836450" y="1989610"/>
                <a:ext cx="95359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Buffer</a:t>
                </a:r>
                <a:endParaRPr/>
              </a:p>
            </p:txBody>
          </p:sp>
        </p:grpSp>
        <p:sp>
          <p:nvSpPr>
            <p:cNvPr id="1308" name="Google Shape;1308;p78"/>
            <p:cNvSpPr/>
            <p:nvPr/>
          </p:nvSpPr>
          <p:spPr>
            <a:xfrm>
              <a:off x="7843740"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9" name="Google Shape;1309;p78"/>
            <p:cNvSpPr/>
            <p:nvPr/>
          </p:nvSpPr>
          <p:spPr>
            <a:xfrm>
              <a:off x="9055124"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10" name="Google Shape;1310;p78"/>
            <p:cNvSpPr/>
            <p:nvPr/>
          </p:nvSpPr>
          <p:spPr>
            <a:xfrm>
              <a:off x="10266508"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311" name="Google Shape;1311;p78"/>
          <p:cNvSpPr/>
          <p:nvPr/>
        </p:nvSpPr>
        <p:spPr>
          <a:xfrm>
            <a:off x="6244417" y="3067170"/>
            <a:ext cx="1461477"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12" name="Google Shape;1312;p78"/>
          <p:cNvSpPr/>
          <p:nvPr/>
        </p:nvSpPr>
        <p:spPr>
          <a:xfrm rot="9359953">
            <a:off x="6093202" y="4265976"/>
            <a:ext cx="1767818"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13" name="Google Shape;1313;p78"/>
          <p:cNvSpPr txBox="1"/>
          <p:nvPr/>
        </p:nvSpPr>
        <p:spPr>
          <a:xfrm>
            <a:off x="10423428" y="3095788"/>
            <a:ext cx="954106"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5</a:t>
            </a:r>
            <a:endParaRPr/>
          </a:p>
        </p:txBody>
      </p:sp>
      <p:sp>
        <p:nvSpPr>
          <p:cNvPr id="1314" name="Google Shape;1314;p78"/>
          <p:cNvSpPr txBox="1"/>
          <p:nvPr/>
        </p:nvSpPr>
        <p:spPr>
          <a:xfrm>
            <a:off x="9212043" y="3088228"/>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22</a:t>
            </a:r>
            <a:endParaRPr/>
          </a:p>
        </p:txBody>
      </p:sp>
      <p:sp>
        <p:nvSpPr>
          <p:cNvPr id="1315" name="Google Shape;1315;p78"/>
          <p:cNvSpPr txBox="1"/>
          <p:nvPr/>
        </p:nvSpPr>
        <p:spPr>
          <a:xfrm>
            <a:off x="2804161" y="4305052"/>
            <a:ext cx="954106"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1,2</a:t>
            </a:r>
            <a:endParaRPr/>
          </a:p>
        </p:txBody>
      </p:sp>
      <p:sp>
        <p:nvSpPr>
          <p:cNvPr id="1316" name="Google Shape;1316;p78"/>
          <p:cNvSpPr txBox="1"/>
          <p:nvPr/>
        </p:nvSpPr>
        <p:spPr>
          <a:xfrm>
            <a:off x="7343335" y="4705162"/>
            <a:ext cx="4528234" cy="1384995"/>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This is all the algorithm “sees”… Which file to load a page from next?</a:t>
            </a:r>
            <a:endParaRPr b="1" sz="2800">
              <a:solidFill>
                <a:schemeClr val="dk1"/>
              </a:solidFill>
              <a:latin typeface="Calibri"/>
              <a:ea typeface="Calibri"/>
              <a:cs typeface="Calibri"/>
              <a:sym typeface="Calibri"/>
            </a:endParaRPr>
          </a:p>
        </p:txBody>
      </p:sp>
      <p:sp>
        <p:nvSpPr>
          <p:cNvPr id="1317" name="Google Shape;1317;p78"/>
          <p:cNvSpPr txBox="1"/>
          <p:nvPr/>
        </p:nvSpPr>
        <p:spPr>
          <a:xfrm>
            <a:off x="601056" y="2653008"/>
            <a:ext cx="183548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Input:</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Two sorted files</a:t>
            </a:r>
            <a:endParaRPr/>
          </a:p>
        </p:txBody>
      </p:sp>
      <p:sp>
        <p:nvSpPr>
          <p:cNvPr id="1318" name="Google Shape;1318;p78"/>
          <p:cNvSpPr txBox="1"/>
          <p:nvPr/>
        </p:nvSpPr>
        <p:spPr>
          <a:xfrm>
            <a:off x="601056" y="4130206"/>
            <a:ext cx="183548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Output:</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One </a:t>
            </a:r>
            <a:r>
              <a:rPr i="1" lang="en-US" sz="2400">
                <a:solidFill>
                  <a:schemeClr val="dk1"/>
                </a:solidFill>
                <a:latin typeface="Calibri"/>
                <a:ea typeface="Calibri"/>
                <a:cs typeface="Calibri"/>
                <a:sym typeface="Calibri"/>
              </a:rPr>
              <a:t>merged</a:t>
            </a:r>
            <a:r>
              <a:rPr lang="en-US" sz="2400">
                <a:solidFill>
                  <a:schemeClr val="dk1"/>
                </a:solidFill>
                <a:latin typeface="Calibri"/>
                <a:ea typeface="Calibri"/>
                <a:cs typeface="Calibri"/>
                <a:sym typeface="Calibri"/>
              </a:rPr>
              <a:t> sorted file</a:t>
            </a:r>
            <a:endParaRPr/>
          </a:p>
        </p:txBody>
      </p:sp>
      <p:sp>
        <p:nvSpPr>
          <p:cNvPr id="1319" name="Google Shape;1319;p78"/>
          <p:cNvSpPr txBox="1"/>
          <p:nvPr/>
        </p:nvSpPr>
        <p:spPr>
          <a:xfrm>
            <a:off x="2216639" y="2672604"/>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1</a:t>
            </a:r>
            <a:endParaRPr/>
          </a:p>
        </p:txBody>
      </p:sp>
      <p:sp>
        <p:nvSpPr>
          <p:cNvPr id="1320" name="Google Shape;1320;p78"/>
          <p:cNvSpPr txBox="1"/>
          <p:nvPr/>
        </p:nvSpPr>
        <p:spPr>
          <a:xfrm>
            <a:off x="2216226" y="3361740"/>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2</a:t>
            </a:r>
            <a:endParaRPr/>
          </a:p>
        </p:txBody>
      </p:sp>
      <p:sp>
        <p:nvSpPr>
          <p:cNvPr id="1321" name="Google Shape;1321;p78"/>
          <p:cNvSpPr txBox="1"/>
          <p:nvPr/>
        </p:nvSpPr>
        <p:spPr>
          <a:xfrm>
            <a:off x="3874097" y="2635940"/>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7,11</a:t>
            </a:r>
            <a:endParaRPr sz="2000">
              <a:solidFill>
                <a:srgbClr val="FFC000"/>
              </a:solidFill>
              <a:latin typeface="Arial"/>
              <a:ea typeface="Arial"/>
              <a:cs typeface="Arial"/>
              <a:sym typeface="Arial"/>
            </a:endParaRPr>
          </a:p>
        </p:txBody>
      </p:sp>
      <p:sp>
        <p:nvSpPr>
          <p:cNvPr id="1322" name="Google Shape;1322;p78"/>
          <p:cNvSpPr/>
          <p:nvPr/>
        </p:nvSpPr>
        <p:spPr>
          <a:xfrm>
            <a:off x="2699249" y="2543414"/>
            <a:ext cx="3296832" cy="583324"/>
          </a:xfrm>
          <a:prstGeom prst="roundRect">
            <a:avLst>
              <a:gd fmla="val 16667" name="adj"/>
            </a:avLst>
          </a:prstGeom>
          <a:solidFill>
            <a:srgbClr val="D5DBE5">
              <a:alpha val="92941"/>
            </a:srgbClr>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23" name="Google Shape;1323;p78"/>
          <p:cNvSpPr/>
          <p:nvPr/>
        </p:nvSpPr>
        <p:spPr>
          <a:xfrm>
            <a:off x="2711158" y="3270013"/>
            <a:ext cx="3296832" cy="583324"/>
          </a:xfrm>
          <a:prstGeom prst="roundRect">
            <a:avLst>
              <a:gd fmla="val 16667" name="adj"/>
            </a:avLst>
          </a:prstGeom>
          <a:solidFill>
            <a:srgbClr val="D5DBE5">
              <a:alpha val="92941"/>
            </a:srgbClr>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324" name="Google Shape;1324;p78"/>
          <p:cNvGrpSpPr/>
          <p:nvPr/>
        </p:nvGrpSpPr>
        <p:grpSpPr>
          <a:xfrm>
            <a:off x="0" y="-22510"/>
            <a:ext cx="12192000" cy="307777"/>
            <a:chOff x="0" y="-22510"/>
            <a:chExt cx="12192000" cy="307777"/>
          </a:xfrm>
        </p:grpSpPr>
        <p:sp>
          <p:nvSpPr>
            <p:cNvPr id="1325" name="Google Shape;1325;p78"/>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326" name="Google Shape;1326;p78"/>
            <p:cNvSpPr txBox="1"/>
            <p:nvPr/>
          </p:nvSpPr>
          <p:spPr>
            <a:xfrm>
              <a:off x="188780" y="-22510"/>
              <a:ext cx="201241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Section 2  External merge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322"/>
                                        </p:tgtEl>
                                        <p:attrNameLst>
                                          <p:attrName>style.visibility</p:attrName>
                                        </p:attrNameLst>
                                      </p:cBhvr>
                                      <p:to>
                                        <p:strVal val="visible"/>
                                      </p:to>
                                    </p:set>
                                    <p:animEffect filter="fade" transition="in">
                                      <p:cBhvr>
                                        <p:cTn dur="500"/>
                                        <p:tgtEl>
                                          <p:spTgt spid="1322"/>
                                        </p:tgtEl>
                                      </p:cBhvr>
                                    </p:animEffect>
                                  </p:childTnLst>
                                </p:cTn>
                              </p:par>
                              <p:par>
                                <p:cTn fill="hold" nodeType="withEffect" presetClass="entr" presetID="10" presetSubtype="0">
                                  <p:stCondLst>
                                    <p:cond delay="0"/>
                                  </p:stCondLst>
                                  <p:childTnLst>
                                    <p:set>
                                      <p:cBhvr>
                                        <p:cTn dur="1" fill="hold">
                                          <p:stCondLst>
                                            <p:cond delay="0"/>
                                          </p:stCondLst>
                                        </p:cTn>
                                        <p:tgtEl>
                                          <p:spTgt spid="1323"/>
                                        </p:tgtEl>
                                        <p:attrNameLst>
                                          <p:attrName>style.visibility</p:attrName>
                                        </p:attrNameLst>
                                      </p:cBhvr>
                                      <p:to>
                                        <p:strVal val="visible"/>
                                      </p:to>
                                    </p:set>
                                    <p:animEffect filter="fade" transition="in">
                                      <p:cBhvr>
                                        <p:cTn dur="500"/>
                                        <p:tgtEl>
                                          <p:spTgt spid="1323"/>
                                        </p:tgtEl>
                                      </p:cBhvr>
                                    </p:animEffect>
                                  </p:childTnLst>
                                </p:cTn>
                              </p:par>
                              <p:par>
                                <p:cTn fill="hold" nodeType="withEffect" presetClass="entr" presetID="1" presetSubtype="0">
                                  <p:stCondLst>
                                    <p:cond delay="0"/>
                                  </p:stCondLst>
                                  <p:childTnLst>
                                    <p:set>
                                      <p:cBhvr>
                                        <p:cTn dur="1" fill="hold">
                                          <p:stCondLst>
                                            <p:cond delay="0"/>
                                          </p:stCondLst>
                                        </p:cTn>
                                        <p:tgtEl>
                                          <p:spTgt spid="13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0" name="Shape 1330"/>
        <p:cNvGrpSpPr/>
        <p:nvPr/>
      </p:nvGrpSpPr>
      <p:grpSpPr>
        <a:xfrm>
          <a:off x="0" y="0"/>
          <a:ext cx="0" cy="0"/>
          <a:chOff x="0" y="0"/>
          <a:chExt cx="0" cy="0"/>
        </a:xfrm>
      </p:grpSpPr>
      <p:sp>
        <p:nvSpPr>
          <p:cNvPr id="1331" name="Google Shape;1331;p7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External Merge Algorithm</a:t>
            </a:r>
            <a:endParaRPr/>
          </a:p>
        </p:txBody>
      </p:sp>
      <p:sp>
        <p:nvSpPr>
          <p:cNvPr id="1332" name="Google Shape;1332;p79"/>
          <p:cNvSpPr/>
          <p:nvPr/>
        </p:nvSpPr>
        <p:spPr>
          <a:xfrm>
            <a:off x="2600324" y="1793054"/>
            <a:ext cx="3457575" cy="4190049"/>
          </a:xfrm>
          <a:prstGeom prst="can">
            <a:avLst>
              <a:gd fmla="val 13065"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1333" name="Google Shape;1333;p79"/>
          <p:cNvSpPr/>
          <p:nvPr/>
        </p:nvSpPr>
        <p:spPr>
          <a:xfrm>
            <a:off x="2699249" y="2544333"/>
            <a:ext cx="3296832" cy="583324"/>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34" name="Google Shape;1334;p79"/>
          <p:cNvSpPr txBox="1"/>
          <p:nvPr/>
        </p:nvSpPr>
        <p:spPr>
          <a:xfrm>
            <a:off x="4903242" y="2635940"/>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20,31</a:t>
            </a:r>
            <a:endParaRPr/>
          </a:p>
        </p:txBody>
      </p:sp>
      <p:sp>
        <p:nvSpPr>
          <p:cNvPr id="1335" name="Google Shape;1335;p79"/>
          <p:cNvSpPr/>
          <p:nvPr/>
        </p:nvSpPr>
        <p:spPr>
          <a:xfrm>
            <a:off x="2699248" y="3270133"/>
            <a:ext cx="3296833" cy="583324"/>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36" name="Google Shape;1336;p79"/>
          <p:cNvSpPr txBox="1"/>
          <p:nvPr/>
        </p:nvSpPr>
        <p:spPr>
          <a:xfrm>
            <a:off x="3874072" y="3361740"/>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23,24</a:t>
            </a:r>
            <a:endParaRPr/>
          </a:p>
        </p:txBody>
      </p:sp>
      <p:sp>
        <p:nvSpPr>
          <p:cNvPr id="1337" name="Google Shape;1337;p79"/>
          <p:cNvSpPr txBox="1"/>
          <p:nvPr/>
        </p:nvSpPr>
        <p:spPr>
          <a:xfrm>
            <a:off x="4903217" y="3361740"/>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25,30</a:t>
            </a:r>
            <a:endParaRPr/>
          </a:p>
        </p:txBody>
      </p:sp>
      <p:sp>
        <p:nvSpPr>
          <p:cNvPr id="1338" name="Google Shape;1338;p79"/>
          <p:cNvSpPr/>
          <p:nvPr/>
        </p:nvSpPr>
        <p:spPr>
          <a:xfrm>
            <a:off x="2680694" y="4221466"/>
            <a:ext cx="3296833" cy="1109069"/>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39" name="Google Shape;1339;p79"/>
          <p:cNvSpPr txBox="1"/>
          <p:nvPr/>
        </p:nvSpPr>
        <p:spPr>
          <a:xfrm>
            <a:off x="3886022" y="6085469"/>
            <a:ext cx="88617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Disk</a:t>
            </a:r>
            <a:endParaRPr sz="3200">
              <a:solidFill>
                <a:schemeClr val="dk1"/>
              </a:solidFill>
              <a:latin typeface="Calibri"/>
              <a:ea typeface="Calibri"/>
              <a:cs typeface="Calibri"/>
              <a:sym typeface="Calibri"/>
            </a:endParaRPr>
          </a:p>
        </p:txBody>
      </p:sp>
      <p:grpSp>
        <p:nvGrpSpPr>
          <p:cNvPr id="1340" name="Google Shape;1340;p79"/>
          <p:cNvGrpSpPr/>
          <p:nvPr/>
        </p:nvGrpSpPr>
        <p:grpSpPr>
          <a:xfrm>
            <a:off x="7474137" y="1397064"/>
            <a:ext cx="4259923" cy="2456273"/>
            <a:chOff x="7403799" y="1406844"/>
            <a:chExt cx="4259923" cy="2456273"/>
          </a:xfrm>
        </p:grpSpPr>
        <p:grpSp>
          <p:nvGrpSpPr>
            <p:cNvPr id="1341" name="Google Shape;1341;p79"/>
            <p:cNvGrpSpPr/>
            <p:nvPr/>
          </p:nvGrpSpPr>
          <p:grpSpPr>
            <a:xfrm>
              <a:off x="7403799" y="1406844"/>
              <a:ext cx="4259923" cy="2456273"/>
              <a:chOff x="7466322" y="1027906"/>
              <a:chExt cx="4259923" cy="2456273"/>
            </a:xfrm>
          </p:grpSpPr>
          <p:sp>
            <p:nvSpPr>
              <p:cNvPr id="1342" name="Google Shape;1342;p79"/>
              <p:cNvSpPr/>
              <p:nvPr/>
            </p:nvSpPr>
            <p:spPr>
              <a:xfrm>
                <a:off x="7466322" y="1027906"/>
                <a:ext cx="4252691" cy="2440508"/>
              </a:xfrm>
              <a:prstGeom prst="rect">
                <a:avLst/>
              </a:prstGeom>
              <a:solidFill>
                <a:srgbClr val="FFF2CC"/>
              </a:solidFill>
              <a:ln cap="flat" cmpd="sng" w="9525">
                <a:solidFill>
                  <a:srgbClr val="7F7F7F"/>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0">
                  <a:solidFill>
                    <a:schemeClr val="dk1"/>
                  </a:solidFill>
                  <a:latin typeface="Calibri"/>
                  <a:ea typeface="Calibri"/>
                  <a:cs typeface="Calibri"/>
                  <a:sym typeface="Calibri"/>
                </a:endParaRPr>
              </a:p>
            </p:txBody>
          </p:sp>
          <p:sp>
            <p:nvSpPr>
              <p:cNvPr id="1343" name="Google Shape;1343;p79"/>
              <p:cNvSpPr/>
              <p:nvPr/>
            </p:nvSpPr>
            <p:spPr>
              <a:xfrm>
                <a:off x="7769912" y="1969081"/>
                <a:ext cx="3956333" cy="1515098"/>
              </a:xfrm>
              <a:prstGeom prst="rect">
                <a:avLst/>
              </a:prstGeom>
              <a:solidFill>
                <a:srgbClr val="B3C6E7"/>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1344" name="Google Shape;1344;p79"/>
              <p:cNvSpPr txBox="1"/>
              <p:nvPr/>
            </p:nvSpPr>
            <p:spPr>
              <a:xfrm>
                <a:off x="7624243" y="1210562"/>
                <a:ext cx="196842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Main Memory</a:t>
                </a:r>
                <a:endParaRPr/>
              </a:p>
            </p:txBody>
          </p:sp>
          <p:sp>
            <p:nvSpPr>
              <p:cNvPr id="1345" name="Google Shape;1345;p79"/>
              <p:cNvSpPr txBox="1"/>
              <p:nvPr/>
            </p:nvSpPr>
            <p:spPr>
              <a:xfrm>
                <a:off x="7836450" y="1989610"/>
                <a:ext cx="95359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Buffer</a:t>
                </a:r>
                <a:endParaRPr/>
              </a:p>
            </p:txBody>
          </p:sp>
        </p:grpSp>
        <p:sp>
          <p:nvSpPr>
            <p:cNvPr id="1346" name="Google Shape;1346;p79"/>
            <p:cNvSpPr/>
            <p:nvPr/>
          </p:nvSpPr>
          <p:spPr>
            <a:xfrm>
              <a:off x="7843740"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47" name="Google Shape;1347;p79"/>
            <p:cNvSpPr/>
            <p:nvPr/>
          </p:nvSpPr>
          <p:spPr>
            <a:xfrm>
              <a:off x="9055124"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48" name="Google Shape;1348;p79"/>
            <p:cNvSpPr/>
            <p:nvPr/>
          </p:nvSpPr>
          <p:spPr>
            <a:xfrm>
              <a:off x="10266508"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349" name="Google Shape;1349;p79"/>
          <p:cNvSpPr/>
          <p:nvPr/>
        </p:nvSpPr>
        <p:spPr>
          <a:xfrm>
            <a:off x="6244417" y="3067170"/>
            <a:ext cx="1461477"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50" name="Google Shape;1350;p79"/>
          <p:cNvSpPr/>
          <p:nvPr/>
        </p:nvSpPr>
        <p:spPr>
          <a:xfrm rot="9359953">
            <a:off x="6093202" y="4265976"/>
            <a:ext cx="1767818"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51" name="Google Shape;1351;p79"/>
          <p:cNvSpPr txBox="1"/>
          <p:nvPr/>
        </p:nvSpPr>
        <p:spPr>
          <a:xfrm>
            <a:off x="10423428" y="3095788"/>
            <a:ext cx="954106"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5</a:t>
            </a:r>
            <a:endParaRPr/>
          </a:p>
        </p:txBody>
      </p:sp>
      <p:sp>
        <p:nvSpPr>
          <p:cNvPr id="1352" name="Google Shape;1352;p79"/>
          <p:cNvSpPr txBox="1"/>
          <p:nvPr/>
        </p:nvSpPr>
        <p:spPr>
          <a:xfrm>
            <a:off x="9212043" y="3088228"/>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22</a:t>
            </a:r>
            <a:endParaRPr/>
          </a:p>
        </p:txBody>
      </p:sp>
      <p:sp>
        <p:nvSpPr>
          <p:cNvPr id="1353" name="Google Shape;1353;p79"/>
          <p:cNvSpPr txBox="1"/>
          <p:nvPr/>
        </p:nvSpPr>
        <p:spPr>
          <a:xfrm>
            <a:off x="2804161" y="4305052"/>
            <a:ext cx="954106"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1,2</a:t>
            </a:r>
            <a:endParaRPr/>
          </a:p>
        </p:txBody>
      </p:sp>
      <p:sp>
        <p:nvSpPr>
          <p:cNvPr id="1354" name="Google Shape;1354;p79"/>
          <p:cNvSpPr txBox="1"/>
          <p:nvPr/>
        </p:nvSpPr>
        <p:spPr>
          <a:xfrm>
            <a:off x="7343335" y="4705162"/>
            <a:ext cx="4528234" cy="1384995"/>
          </a:xfrm>
          <a:prstGeom prst="rect">
            <a:avLst/>
          </a:prstGeom>
          <a:noFill/>
          <a:ln>
            <a:noFill/>
          </a:ln>
          <a:effectLst>
            <a:outerShdw blurRad="50800" rotWithShape="0" algn="tl" dir="2700000" dist="12700">
              <a:srgbClr val="000000">
                <a:alpha val="4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1355" name="Google Shape;1355;p79"/>
          <p:cNvSpPr txBox="1"/>
          <p:nvPr/>
        </p:nvSpPr>
        <p:spPr>
          <a:xfrm>
            <a:off x="601056" y="2653008"/>
            <a:ext cx="183548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Input:</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Two sorted files</a:t>
            </a:r>
            <a:endParaRPr/>
          </a:p>
        </p:txBody>
      </p:sp>
      <p:sp>
        <p:nvSpPr>
          <p:cNvPr id="1356" name="Google Shape;1356;p79"/>
          <p:cNvSpPr txBox="1"/>
          <p:nvPr/>
        </p:nvSpPr>
        <p:spPr>
          <a:xfrm>
            <a:off x="601056" y="4130206"/>
            <a:ext cx="183548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Output:</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One </a:t>
            </a:r>
            <a:r>
              <a:rPr i="1" lang="en-US" sz="2400">
                <a:solidFill>
                  <a:schemeClr val="dk1"/>
                </a:solidFill>
                <a:latin typeface="Calibri"/>
                <a:ea typeface="Calibri"/>
                <a:cs typeface="Calibri"/>
                <a:sym typeface="Calibri"/>
              </a:rPr>
              <a:t>merged</a:t>
            </a:r>
            <a:r>
              <a:rPr lang="en-US" sz="2400">
                <a:solidFill>
                  <a:schemeClr val="dk1"/>
                </a:solidFill>
                <a:latin typeface="Calibri"/>
                <a:ea typeface="Calibri"/>
                <a:cs typeface="Calibri"/>
                <a:sym typeface="Calibri"/>
              </a:rPr>
              <a:t> sorted file</a:t>
            </a:r>
            <a:endParaRPr/>
          </a:p>
        </p:txBody>
      </p:sp>
      <p:sp>
        <p:nvSpPr>
          <p:cNvPr id="1357" name="Google Shape;1357;p79"/>
          <p:cNvSpPr txBox="1"/>
          <p:nvPr/>
        </p:nvSpPr>
        <p:spPr>
          <a:xfrm>
            <a:off x="2216639" y="2672604"/>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1</a:t>
            </a:r>
            <a:endParaRPr/>
          </a:p>
        </p:txBody>
      </p:sp>
      <p:sp>
        <p:nvSpPr>
          <p:cNvPr id="1358" name="Google Shape;1358;p79"/>
          <p:cNvSpPr txBox="1"/>
          <p:nvPr/>
        </p:nvSpPr>
        <p:spPr>
          <a:xfrm>
            <a:off x="2216226" y="3361740"/>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2</a:t>
            </a:r>
            <a:endParaRPr/>
          </a:p>
        </p:txBody>
      </p:sp>
      <p:sp>
        <p:nvSpPr>
          <p:cNvPr id="1359" name="Google Shape;1359;p79"/>
          <p:cNvSpPr txBox="1"/>
          <p:nvPr/>
        </p:nvSpPr>
        <p:spPr>
          <a:xfrm>
            <a:off x="3874097" y="2635940"/>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7,11</a:t>
            </a:r>
            <a:endParaRPr sz="2000">
              <a:solidFill>
                <a:srgbClr val="FFC000"/>
              </a:solidFill>
              <a:latin typeface="Arial"/>
              <a:ea typeface="Arial"/>
              <a:cs typeface="Arial"/>
              <a:sym typeface="Arial"/>
            </a:endParaRPr>
          </a:p>
        </p:txBody>
      </p:sp>
      <p:sp>
        <p:nvSpPr>
          <p:cNvPr id="1360" name="Google Shape;1360;p79"/>
          <p:cNvSpPr/>
          <p:nvPr/>
        </p:nvSpPr>
        <p:spPr>
          <a:xfrm>
            <a:off x="2711158" y="3267352"/>
            <a:ext cx="3296832" cy="583324"/>
          </a:xfrm>
          <a:prstGeom prst="roundRect">
            <a:avLst>
              <a:gd fmla="val 16667" name="adj"/>
            </a:avLst>
          </a:prstGeom>
          <a:solidFill>
            <a:srgbClr val="D5DBE5">
              <a:alpha val="92941"/>
            </a:srgbClr>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1" name="Google Shape;1361;p79"/>
          <p:cNvSpPr/>
          <p:nvPr/>
        </p:nvSpPr>
        <p:spPr>
          <a:xfrm>
            <a:off x="2711158" y="2550179"/>
            <a:ext cx="3296832" cy="583324"/>
          </a:xfrm>
          <a:prstGeom prst="roundRect">
            <a:avLst>
              <a:gd fmla="val 16667" name="adj"/>
            </a:avLst>
          </a:prstGeom>
          <a:solidFill>
            <a:srgbClr val="D5DBE5">
              <a:alpha val="92941"/>
            </a:srgbClr>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362" name="Google Shape;1362;p79"/>
          <p:cNvGrpSpPr/>
          <p:nvPr/>
        </p:nvGrpSpPr>
        <p:grpSpPr>
          <a:xfrm>
            <a:off x="0" y="-22510"/>
            <a:ext cx="12192000" cy="307777"/>
            <a:chOff x="0" y="-22510"/>
            <a:chExt cx="12192000" cy="307777"/>
          </a:xfrm>
        </p:grpSpPr>
        <p:sp>
          <p:nvSpPr>
            <p:cNvPr id="1363" name="Google Shape;1363;p79"/>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364" name="Google Shape;1364;p79"/>
            <p:cNvSpPr txBox="1"/>
            <p:nvPr/>
          </p:nvSpPr>
          <p:spPr>
            <a:xfrm>
              <a:off x="188780" y="-22510"/>
              <a:ext cx="201241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Section 2  External merge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360"/>
                                        </p:tgtEl>
                                      </p:cBhvr>
                                    </p:animEffect>
                                    <p:set>
                                      <p:cBhvr>
                                        <p:cTn dur="1" fill="hold">
                                          <p:stCondLst>
                                            <p:cond delay="500"/>
                                          </p:stCondLst>
                                        </p:cTn>
                                        <p:tgtEl>
                                          <p:spTgt spid="136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361"/>
                                        </p:tgtEl>
                                      </p:cBhvr>
                                    </p:animEffect>
                                    <p:set>
                                      <p:cBhvr>
                                        <p:cTn dur="1" fill="hold">
                                          <p:stCondLst>
                                            <p:cond delay="500"/>
                                          </p:stCondLst>
                                        </p:cTn>
                                        <p:tgtEl>
                                          <p:spTgt spid="136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8" name="Shape 1368"/>
        <p:cNvGrpSpPr/>
        <p:nvPr/>
      </p:nvGrpSpPr>
      <p:grpSpPr>
        <a:xfrm>
          <a:off x="0" y="0"/>
          <a:ext cx="0" cy="0"/>
          <a:chOff x="0" y="0"/>
          <a:chExt cx="0" cy="0"/>
        </a:xfrm>
      </p:grpSpPr>
      <p:sp>
        <p:nvSpPr>
          <p:cNvPr id="1369" name="Google Shape;1369;p8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External Merge Algorithm</a:t>
            </a:r>
            <a:endParaRPr/>
          </a:p>
        </p:txBody>
      </p:sp>
      <p:sp>
        <p:nvSpPr>
          <p:cNvPr id="1370" name="Google Shape;1370;p80"/>
          <p:cNvSpPr/>
          <p:nvPr/>
        </p:nvSpPr>
        <p:spPr>
          <a:xfrm>
            <a:off x="2600324" y="1793054"/>
            <a:ext cx="3457575" cy="4190049"/>
          </a:xfrm>
          <a:prstGeom prst="can">
            <a:avLst>
              <a:gd fmla="val 13065"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1371" name="Google Shape;1371;p80"/>
          <p:cNvSpPr/>
          <p:nvPr/>
        </p:nvSpPr>
        <p:spPr>
          <a:xfrm>
            <a:off x="2699249" y="2544333"/>
            <a:ext cx="3296832" cy="583324"/>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72" name="Google Shape;1372;p80"/>
          <p:cNvSpPr txBox="1"/>
          <p:nvPr/>
        </p:nvSpPr>
        <p:spPr>
          <a:xfrm>
            <a:off x="4903242" y="2635940"/>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20,31</a:t>
            </a:r>
            <a:endParaRPr/>
          </a:p>
        </p:txBody>
      </p:sp>
      <p:sp>
        <p:nvSpPr>
          <p:cNvPr id="1373" name="Google Shape;1373;p80"/>
          <p:cNvSpPr/>
          <p:nvPr/>
        </p:nvSpPr>
        <p:spPr>
          <a:xfrm>
            <a:off x="2699248" y="3270133"/>
            <a:ext cx="3296833" cy="583324"/>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74" name="Google Shape;1374;p80"/>
          <p:cNvSpPr txBox="1"/>
          <p:nvPr/>
        </p:nvSpPr>
        <p:spPr>
          <a:xfrm>
            <a:off x="3874072" y="3361740"/>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23,24</a:t>
            </a:r>
            <a:endParaRPr/>
          </a:p>
        </p:txBody>
      </p:sp>
      <p:sp>
        <p:nvSpPr>
          <p:cNvPr id="1375" name="Google Shape;1375;p80"/>
          <p:cNvSpPr txBox="1"/>
          <p:nvPr/>
        </p:nvSpPr>
        <p:spPr>
          <a:xfrm>
            <a:off x="4903217" y="3361740"/>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25,30</a:t>
            </a:r>
            <a:endParaRPr/>
          </a:p>
        </p:txBody>
      </p:sp>
      <p:sp>
        <p:nvSpPr>
          <p:cNvPr id="1376" name="Google Shape;1376;p80"/>
          <p:cNvSpPr/>
          <p:nvPr/>
        </p:nvSpPr>
        <p:spPr>
          <a:xfrm>
            <a:off x="2680694" y="4221466"/>
            <a:ext cx="3296833" cy="1109069"/>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77" name="Google Shape;1377;p80"/>
          <p:cNvSpPr txBox="1"/>
          <p:nvPr/>
        </p:nvSpPr>
        <p:spPr>
          <a:xfrm>
            <a:off x="3886022" y="6085469"/>
            <a:ext cx="88617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Disk</a:t>
            </a:r>
            <a:endParaRPr sz="3200">
              <a:solidFill>
                <a:schemeClr val="dk1"/>
              </a:solidFill>
              <a:latin typeface="Calibri"/>
              <a:ea typeface="Calibri"/>
              <a:cs typeface="Calibri"/>
              <a:sym typeface="Calibri"/>
            </a:endParaRPr>
          </a:p>
        </p:txBody>
      </p:sp>
      <p:grpSp>
        <p:nvGrpSpPr>
          <p:cNvPr id="1378" name="Google Shape;1378;p80"/>
          <p:cNvGrpSpPr/>
          <p:nvPr/>
        </p:nvGrpSpPr>
        <p:grpSpPr>
          <a:xfrm>
            <a:off x="7474137" y="1397064"/>
            <a:ext cx="4259923" cy="2456273"/>
            <a:chOff x="7403799" y="1406844"/>
            <a:chExt cx="4259923" cy="2456273"/>
          </a:xfrm>
        </p:grpSpPr>
        <p:grpSp>
          <p:nvGrpSpPr>
            <p:cNvPr id="1379" name="Google Shape;1379;p80"/>
            <p:cNvGrpSpPr/>
            <p:nvPr/>
          </p:nvGrpSpPr>
          <p:grpSpPr>
            <a:xfrm>
              <a:off x="7403799" y="1406844"/>
              <a:ext cx="4259923" cy="2456273"/>
              <a:chOff x="7466322" y="1027906"/>
              <a:chExt cx="4259923" cy="2456273"/>
            </a:xfrm>
          </p:grpSpPr>
          <p:sp>
            <p:nvSpPr>
              <p:cNvPr id="1380" name="Google Shape;1380;p80"/>
              <p:cNvSpPr/>
              <p:nvPr/>
            </p:nvSpPr>
            <p:spPr>
              <a:xfrm>
                <a:off x="7466322" y="1027906"/>
                <a:ext cx="4252691" cy="2440508"/>
              </a:xfrm>
              <a:prstGeom prst="rect">
                <a:avLst/>
              </a:prstGeom>
              <a:solidFill>
                <a:srgbClr val="FFF2CC"/>
              </a:solidFill>
              <a:ln cap="flat" cmpd="sng" w="9525">
                <a:solidFill>
                  <a:srgbClr val="7F7F7F"/>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0">
                  <a:solidFill>
                    <a:schemeClr val="dk1"/>
                  </a:solidFill>
                  <a:latin typeface="Calibri"/>
                  <a:ea typeface="Calibri"/>
                  <a:cs typeface="Calibri"/>
                  <a:sym typeface="Calibri"/>
                </a:endParaRPr>
              </a:p>
            </p:txBody>
          </p:sp>
          <p:sp>
            <p:nvSpPr>
              <p:cNvPr id="1381" name="Google Shape;1381;p80"/>
              <p:cNvSpPr/>
              <p:nvPr/>
            </p:nvSpPr>
            <p:spPr>
              <a:xfrm>
                <a:off x="7769912" y="1969081"/>
                <a:ext cx="3956333" cy="1515098"/>
              </a:xfrm>
              <a:prstGeom prst="rect">
                <a:avLst/>
              </a:prstGeom>
              <a:solidFill>
                <a:srgbClr val="B3C6E7"/>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1382" name="Google Shape;1382;p80"/>
              <p:cNvSpPr txBox="1"/>
              <p:nvPr/>
            </p:nvSpPr>
            <p:spPr>
              <a:xfrm>
                <a:off x="7624243" y="1210562"/>
                <a:ext cx="196842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Main Memory</a:t>
                </a:r>
                <a:endParaRPr/>
              </a:p>
            </p:txBody>
          </p:sp>
          <p:sp>
            <p:nvSpPr>
              <p:cNvPr id="1383" name="Google Shape;1383;p80"/>
              <p:cNvSpPr txBox="1"/>
              <p:nvPr/>
            </p:nvSpPr>
            <p:spPr>
              <a:xfrm>
                <a:off x="7836450" y="1989610"/>
                <a:ext cx="95359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Buffer</a:t>
                </a:r>
                <a:endParaRPr/>
              </a:p>
            </p:txBody>
          </p:sp>
        </p:grpSp>
        <p:sp>
          <p:nvSpPr>
            <p:cNvPr id="1384" name="Google Shape;1384;p80"/>
            <p:cNvSpPr/>
            <p:nvPr/>
          </p:nvSpPr>
          <p:spPr>
            <a:xfrm>
              <a:off x="7843740"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85" name="Google Shape;1385;p80"/>
            <p:cNvSpPr/>
            <p:nvPr/>
          </p:nvSpPr>
          <p:spPr>
            <a:xfrm>
              <a:off x="9055124"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86" name="Google Shape;1386;p80"/>
            <p:cNvSpPr/>
            <p:nvPr/>
          </p:nvSpPr>
          <p:spPr>
            <a:xfrm>
              <a:off x="10266508"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387" name="Google Shape;1387;p80"/>
          <p:cNvSpPr/>
          <p:nvPr/>
        </p:nvSpPr>
        <p:spPr>
          <a:xfrm>
            <a:off x="6244417" y="3067170"/>
            <a:ext cx="1461477"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88" name="Google Shape;1388;p80"/>
          <p:cNvSpPr/>
          <p:nvPr/>
        </p:nvSpPr>
        <p:spPr>
          <a:xfrm rot="9359953">
            <a:off x="6093202" y="4265976"/>
            <a:ext cx="1767818"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89" name="Google Shape;1389;p80"/>
          <p:cNvSpPr txBox="1"/>
          <p:nvPr/>
        </p:nvSpPr>
        <p:spPr>
          <a:xfrm>
            <a:off x="10423428" y="3095788"/>
            <a:ext cx="954106"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5</a:t>
            </a:r>
            <a:endParaRPr/>
          </a:p>
        </p:txBody>
      </p:sp>
      <p:sp>
        <p:nvSpPr>
          <p:cNvPr id="1390" name="Google Shape;1390;p80"/>
          <p:cNvSpPr txBox="1"/>
          <p:nvPr/>
        </p:nvSpPr>
        <p:spPr>
          <a:xfrm>
            <a:off x="9212043" y="3088228"/>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22</a:t>
            </a:r>
            <a:endParaRPr/>
          </a:p>
        </p:txBody>
      </p:sp>
      <p:sp>
        <p:nvSpPr>
          <p:cNvPr id="1391" name="Google Shape;1391;p80"/>
          <p:cNvSpPr txBox="1"/>
          <p:nvPr/>
        </p:nvSpPr>
        <p:spPr>
          <a:xfrm>
            <a:off x="2804161" y="4305052"/>
            <a:ext cx="954106"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1,2</a:t>
            </a:r>
            <a:endParaRPr/>
          </a:p>
        </p:txBody>
      </p:sp>
      <p:sp>
        <p:nvSpPr>
          <p:cNvPr id="1392" name="Google Shape;1392;p80"/>
          <p:cNvSpPr txBox="1"/>
          <p:nvPr/>
        </p:nvSpPr>
        <p:spPr>
          <a:xfrm>
            <a:off x="601056" y="2653008"/>
            <a:ext cx="183548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Input:</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Two sorted files</a:t>
            </a:r>
            <a:endParaRPr/>
          </a:p>
        </p:txBody>
      </p:sp>
      <p:sp>
        <p:nvSpPr>
          <p:cNvPr id="1393" name="Google Shape;1393;p80"/>
          <p:cNvSpPr txBox="1"/>
          <p:nvPr/>
        </p:nvSpPr>
        <p:spPr>
          <a:xfrm>
            <a:off x="601056" y="4130206"/>
            <a:ext cx="183548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Output:</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One </a:t>
            </a:r>
            <a:r>
              <a:rPr i="1" lang="en-US" sz="2400">
                <a:solidFill>
                  <a:schemeClr val="dk1"/>
                </a:solidFill>
                <a:latin typeface="Calibri"/>
                <a:ea typeface="Calibri"/>
                <a:cs typeface="Calibri"/>
                <a:sym typeface="Calibri"/>
              </a:rPr>
              <a:t>merged</a:t>
            </a:r>
            <a:r>
              <a:rPr lang="en-US" sz="2400">
                <a:solidFill>
                  <a:schemeClr val="dk1"/>
                </a:solidFill>
                <a:latin typeface="Calibri"/>
                <a:ea typeface="Calibri"/>
                <a:cs typeface="Calibri"/>
                <a:sym typeface="Calibri"/>
              </a:rPr>
              <a:t> sorted file</a:t>
            </a:r>
            <a:endParaRPr/>
          </a:p>
        </p:txBody>
      </p:sp>
      <p:sp>
        <p:nvSpPr>
          <p:cNvPr id="1394" name="Google Shape;1394;p80"/>
          <p:cNvSpPr txBox="1"/>
          <p:nvPr/>
        </p:nvSpPr>
        <p:spPr>
          <a:xfrm>
            <a:off x="2216639" y="2672604"/>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1</a:t>
            </a:r>
            <a:endParaRPr/>
          </a:p>
        </p:txBody>
      </p:sp>
      <p:sp>
        <p:nvSpPr>
          <p:cNvPr id="1395" name="Google Shape;1395;p80"/>
          <p:cNvSpPr txBox="1"/>
          <p:nvPr/>
        </p:nvSpPr>
        <p:spPr>
          <a:xfrm>
            <a:off x="2216226" y="3361740"/>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2</a:t>
            </a:r>
            <a:endParaRPr/>
          </a:p>
        </p:txBody>
      </p:sp>
      <p:sp>
        <p:nvSpPr>
          <p:cNvPr id="1396" name="Google Shape;1396;p80"/>
          <p:cNvSpPr txBox="1"/>
          <p:nvPr/>
        </p:nvSpPr>
        <p:spPr>
          <a:xfrm>
            <a:off x="8000672" y="3095788"/>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7,11</a:t>
            </a:r>
            <a:endParaRPr sz="2000">
              <a:solidFill>
                <a:srgbClr val="FFC000"/>
              </a:solidFill>
              <a:latin typeface="Arial"/>
              <a:ea typeface="Arial"/>
              <a:cs typeface="Arial"/>
              <a:sym typeface="Arial"/>
            </a:endParaRPr>
          </a:p>
        </p:txBody>
      </p:sp>
      <p:grpSp>
        <p:nvGrpSpPr>
          <p:cNvPr id="1397" name="Google Shape;1397;p80"/>
          <p:cNvGrpSpPr/>
          <p:nvPr/>
        </p:nvGrpSpPr>
        <p:grpSpPr>
          <a:xfrm>
            <a:off x="0" y="-22510"/>
            <a:ext cx="12192000" cy="307777"/>
            <a:chOff x="0" y="-22510"/>
            <a:chExt cx="12192000" cy="307777"/>
          </a:xfrm>
        </p:grpSpPr>
        <p:sp>
          <p:nvSpPr>
            <p:cNvPr id="1398" name="Google Shape;1398;p80"/>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399" name="Google Shape;1399;p80"/>
            <p:cNvSpPr txBox="1"/>
            <p:nvPr/>
          </p:nvSpPr>
          <p:spPr>
            <a:xfrm>
              <a:off x="188780" y="-22510"/>
              <a:ext cx="201241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Section 2  External merge</a:t>
              </a:r>
              <a:endParaRPr/>
            </a:p>
          </p:txBody>
        </p:sp>
      </p:gr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3" name="Shape 1403"/>
        <p:cNvGrpSpPr/>
        <p:nvPr/>
      </p:nvGrpSpPr>
      <p:grpSpPr>
        <a:xfrm>
          <a:off x="0" y="0"/>
          <a:ext cx="0" cy="0"/>
          <a:chOff x="0" y="0"/>
          <a:chExt cx="0" cy="0"/>
        </a:xfrm>
      </p:grpSpPr>
      <p:sp>
        <p:nvSpPr>
          <p:cNvPr id="1404" name="Google Shape;1404;p8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External Merge Algorithm</a:t>
            </a:r>
            <a:endParaRPr/>
          </a:p>
        </p:txBody>
      </p:sp>
      <p:sp>
        <p:nvSpPr>
          <p:cNvPr id="1405" name="Google Shape;1405;p81"/>
          <p:cNvSpPr/>
          <p:nvPr/>
        </p:nvSpPr>
        <p:spPr>
          <a:xfrm>
            <a:off x="2600324" y="1793054"/>
            <a:ext cx="3457575" cy="4190049"/>
          </a:xfrm>
          <a:prstGeom prst="can">
            <a:avLst>
              <a:gd fmla="val 13065"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1406" name="Google Shape;1406;p81"/>
          <p:cNvSpPr/>
          <p:nvPr/>
        </p:nvSpPr>
        <p:spPr>
          <a:xfrm>
            <a:off x="2699249" y="2544333"/>
            <a:ext cx="3296832" cy="583324"/>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07" name="Google Shape;1407;p81"/>
          <p:cNvSpPr txBox="1"/>
          <p:nvPr/>
        </p:nvSpPr>
        <p:spPr>
          <a:xfrm>
            <a:off x="4903242" y="2635940"/>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20,31</a:t>
            </a:r>
            <a:endParaRPr/>
          </a:p>
        </p:txBody>
      </p:sp>
      <p:sp>
        <p:nvSpPr>
          <p:cNvPr id="1408" name="Google Shape;1408;p81"/>
          <p:cNvSpPr/>
          <p:nvPr/>
        </p:nvSpPr>
        <p:spPr>
          <a:xfrm>
            <a:off x="2699248" y="3270133"/>
            <a:ext cx="3296833" cy="583324"/>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09" name="Google Shape;1409;p81"/>
          <p:cNvSpPr txBox="1"/>
          <p:nvPr/>
        </p:nvSpPr>
        <p:spPr>
          <a:xfrm>
            <a:off x="3874072" y="3361740"/>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23,24</a:t>
            </a:r>
            <a:endParaRPr/>
          </a:p>
        </p:txBody>
      </p:sp>
      <p:sp>
        <p:nvSpPr>
          <p:cNvPr id="1410" name="Google Shape;1410;p81"/>
          <p:cNvSpPr txBox="1"/>
          <p:nvPr/>
        </p:nvSpPr>
        <p:spPr>
          <a:xfrm>
            <a:off x="4903217" y="3361740"/>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25,30</a:t>
            </a:r>
            <a:endParaRPr/>
          </a:p>
        </p:txBody>
      </p:sp>
      <p:sp>
        <p:nvSpPr>
          <p:cNvPr id="1411" name="Google Shape;1411;p81"/>
          <p:cNvSpPr/>
          <p:nvPr/>
        </p:nvSpPr>
        <p:spPr>
          <a:xfrm>
            <a:off x="2680694" y="4221466"/>
            <a:ext cx="3296833" cy="1109069"/>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2" name="Google Shape;1412;p81"/>
          <p:cNvSpPr txBox="1"/>
          <p:nvPr/>
        </p:nvSpPr>
        <p:spPr>
          <a:xfrm>
            <a:off x="3886022" y="6085469"/>
            <a:ext cx="88617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Disk</a:t>
            </a:r>
            <a:endParaRPr sz="3200">
              <a:solidFill>
                <a:schemeClr val="dk1"/>
              </a:solidFill>
              <a:latin typeface="Calibri"/>
              <a:ea typeface="Calibri"/>
              <a:cs typeface="Calibri"/>
              <a:sym typeface="Calibri"/>
            </a:endParaRPr>
          </a:p>
        </p:txBody>
      </p:sp>
      <p:grpSp>
        <p:nvGrpSpPr>
          <p:cNvPr id="1413" name="Google Shape;1413;p81"/>
          <p:cNvGrpSpPr/>
          <p:nvPr/>
        </p:nvGrpSpPr>
        <p:grpSpPr>
          <a:xfrm>
            <a:off x="7474137" y="1397064"/>
            <a:ext cx="4259923" cy="2456273"/>
            <a:chOff x="7403799" y="1406844"/>
            <a:chExt cx="4259923" cy="2456273"/>
          </a:xfrm>
        </p:grpSpPr>
        <p:grpSp>
          <p:nvGrpSpPr>
            <p:cNvPr id="1414" name="Google Shape;1414;p81"/>
            <p:cNvGrpSpPr/>
            <p:nvPr/>
          </p:nvGrpSpPr>
          <p:grpSpPr>
            <a:xfrm>
              <a:off x="7403799" y="1406844"/>
              <a:ext cx="4259923" cy="2456273"/>
              <a:chOff x="7466322" y="1027906"/>
              <a:chExt cx="4259923" cy="2456273"/>
            </a:xfrm>
          </p:grpSpPr>
          <p:sp>
            <p:nvSpPr>
              <p:cNvPr id="1415" name="Google Shape;1415;p81"/>
              <p:cNvSpPr/>
              <p:nvPr/>
            </p:nvSpPr>
            <p:spPr>
              <a:xfrm>
                <a:off x="7466322" y="1027906"/>
                <a:ext cx="4252691" cy="2440508"/>
              </a:xfrm>
              <a:prstGeom prst="rect">
                <a:avLst/>
              </a:prstGeom>
              <a:solidFill>
                <a:srgbClr val="FFF2CC"/>
              </a:solidFill>
              <a:ln cap="flat" cmpd="sng" w="9525">
                <a:solidFill>
                  <a:srgbClr val="7F7F7F"/>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0">
                  <a:solidFill>
                    <a:schemeClr val="dk1"/>
                  </a:solidFill>
                  <a:latin typeface="Calibri"/>
                  <a:ea typeface="Calibri"/>
                  <a:cs typeface="Calibri"/>
                  <a:sym typeface="Calibri"/>
                </a:endParaRPr>
              </a:p>
            </p:txBody>
          </p:sp>
          <p:sp>
            <p:nvSpPr>
              <p:cNvPr id="1416" name="Google Shape;1416;p81"/>
              <p:cNvSpPr/>
              <p:nvPr/>
            </p:nvSpPr>
            <p:spPr>
              <a:xfrm>
                <a:off x="7769912" y="1969081"/>
                <a:ext cx="3956333" cy="1515098"/>
              </a:xfrm>
              <a:prstGeom prst="rect">
                <a:avLst/>
              </a:prstGeom>
              <a:solidFill>
                <a:srgbClr val="B3C6E7"/>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1417" name="Google Shape;1417;p81"/>
              <p:cNvSpPr txBox="1"/>
              <p:nvPr/>
            </p:nvSpPr>
            <p:spPr>
              <a:xfrm>
                <a:off x="7624243" y="1210562"/>
                <a:ext cx="196842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Main Memory</a:t>
                </a:r>
                <a:endParaRPr/>
              </a:p>
            </p:txBody>
          </p:sp>
          <p:sp>
            <p:nvSpPr>
              <p:cNvPr id="1418" name="Google Shape;1418;p81"/>
              <p:cNvSpPr txBox="1"/>
              <p:nvPr/>
            </p:nvSpPr>
            <p:spPr>
              <a:xfrm>
                <a:off x="7836450" y="1989610"/>
                <a:ext cx="95359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Buffer</a:t>
                </a:r>
                <a:endParaRPr/>
              </a:p>
            </p:txBody>
          </p:sp>
        </p:grpSp>
        <p:sp>
          <p:nvSpPr>
            <p:cNvPr id="1419" name="Google Shape;1419;p81"/>
            <p:cNvSpPr/>
            <p:nvPr/>
          </p:nvSpPr>
          <p:spPr>
            <a:xfrm>
              <a:off x="7843740"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20" name="Google Shape;1420;p81"/>
            <p:cNvSpPr/>
            <p:nvPr/>
          </p:nvSpPr>
          <p:spPr>
            <a:xfrm>
              <a:off x="9055124"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21" name="Google Shape;1421;p81"/>
            <p:cNvSpPr/>
            <p:nvPr/>
          </p:nvSpPr>
          <p:spPr>
            <a:xfrm>
              <a:off x="10266508"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422" name="Google Shape;1422;p81"/>
          <p:cNvSpPr/>
          <p:nvPr/>
        </p:nvSpPr>
        <p:spPr>
          <a:xfrm>
            <a:off x="6244417" y="3067170"/>
            <a:ext cx="1461477"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23" name="Google Shape;1423;p81"/>
          <p:cNvSpPr/>
          <p:nvPr/>
        </p:nvSpPr>
        <p:spPr>
          <a:xfrm rot="9359953">
            <a:off x="6093202" y="4265976"/>
            <a:ext cx="1767818"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24" name="Google Shape;1424;p81"/>
          <p:cNvSpPr txBox="1"/>
          <p:nvPr/>
        </p:nvSpPr>
        <p:spPr>
          <a:xfrm>
            <a:off x="10423428" y="3095788"/>
            <a:ext cx="954106"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5,7</a:t>
            </a:r>
            <a:endParaRPr sz="2000">
              <a:solidFill>
                <a:srgbClr val="FFC000"/>
              </a:solidFill>
              <a:latin typeface="Arial"/>
              <a:ea typeface="Arial"/>
              <a:cs typeface="Arial"/>
              <a:sym typeface="Arial"/>
            </a:endParaRPr>
          </a:p>
        </p:txBody>
      </p:sp>
      <p:sp>
        <p:nvSpPr>
          <p:cNvPr id="1425" name="Google Shape;1425;p81"/>
          <p:cNvSpPr txBox="1"/>
          <p:nvPr/>
        </p:nvSpPr>
        <p:spPr>
          <a:xfrm>
            <a:off x="9212043" y="3088228"/>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22</a:t>
            </a:r>
            <a:endParaRPr/>
          </a:p>
        </p:txBody>
      </p:sp>
      <p:sp>
        <p:nvSpPr>
          <p:cNvPr id="1426" name="Google Shape;1426;p81"/>
          <p:cNvSpPr txBox="1"/>
          <p:nvPr/>
        </p:nvSpPr>
        <p:spPr>
          <a:xfrm>
            <a:off x="2804161" y="4305052"/>
            <a:ext cx="954106"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1,2</a:t>
            </a:r>
            <a:endParaRPr/>
          </a:p>
        </p:txBody>
      </p:sp>
      <p:sp>
        <p:nvSpPr>
          <p:cNvPr id="1427" name="Google Shape;1427;p81"/>
          <p:cNvSpPr txBox="1"/>
          <p:nvPr/>
        </p:nvSpPr>
        <p:spPr>
          <a:xfrm>
            <a:off x="601056" y="2653008"/>
            <a:ext cx="183548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Input:</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Two sorted files</a:t>
            </a:r>
            <a:endParaRPr/>
          </a:p>
        </p:txBody>
      </p:sp>
      <p:sp>
        <p:nvSpPr>
          <p:cNvPr id="1428" name="Google Shape;1428;p81"/>
          <p:cNvSpPr txBox="1"/>
          <p:nvPr/>
        </p:nvSpPr>
        <p:spPr>
          <a:xfrm>
            <a:off x="601056" y="4130206"/>
            <a:ext cx="183548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Output:</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One </a:t>
            </a:r>
            <a:r>
              <a:rPr i="1" lang="en-US" sz="2400">
                <a:solidFill>
                  <a:schemeClr val="dk1"/>
                </a:solidFill>
                <a:latin typeface="Calibri"/>
                <a:ea typeface="Calibri"/>
                <a:cs typeface="Calibri"/>
                <a:sym typeface="Calibri"/>
              </a:rPr>
              <a:t>merged</a:t>
            </a:r>
            <a:r>
              <a:rPr lang="en-US" sz="2400">
                <a:solidFill>
                  <a:schemeClr val="dk1"/>
                </a:solidFill>
                <a:latin typeface="Calibri"/>
                <a:ea typeface="Calibri"/>
                <a:cs typeface="Calibri"/>
                <a:sym typeface="Calibri"/>
              </a:rPr>
              <a:t> sorted file</a:t>
            </a:r>
            <a:endParaRPr/>
          </a:p>
        </p:txBody>
      </p:sp>
      <p:sp>
        <p:nvSpPr>
          <p:cNvPr id="1429" name="Google Shape;1429;p81"/>
          <p:cNvSpPr txBox="1"/>
          <p:nvPr/>
        </p:nvSpPr>
        <p:spPr>
          <a:xfrm>
            <a:off x="2216639" y="2672604"/>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1</a:t>
            </a:r>
            <a:endParaRPr/>
          </a:p>
        </p:txBody>
      </p:sp>
      <p:sp>
        <p:nvSpPr>
          <p:cNvPr id="1430" name="Google Shape;1430;p81"/>
          <p:cNvSpPr txBox="1"/>
          <p:nvPr/>
        </p:nvSpPr>
        <p:spPr>
          <a:xfrm>
            <a:off x="2216226" y="3361740"/>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2</a:t>
            </a:r>
            <a:endParaRPr/>
          </a:p>
        </p:txBody>
      </p:sp>
      <p:sp>
        <p:nvSpPr>
          <p:cNvPr id="1431" name="Google Shape;1431;p81"/>
          <p:cNvSpPr txBox="1"/>
          <p:nvPr/>
        </p:nvSpPr>
        <p:spPr>
          <a:xfrm>
            <a:off x="8000672" y="3095788"/>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11</a:t>
            </a:r>
            <a:endParaRPr/>
          </a:p>
        </p:txBody>
      </p:sp>
      <p:grpSp>
        <p:nvGrpSpPr>
          <p:cNvPr id="1432" name="Google Shape;1432;p81"/>
          <p:cNvGrpSpPr/>
          <p:nvPr/>
        </p:nvGrpSpPr>
        <p:grpSpPr>
          <a:xfrm>
            <a:off x="0" y="-22510"/>
            <a:ext cx="12192000" cy="307777"/>
            <a:chOff x="0" y="-22510"/>
            <a:chExt cx="12192000" cy="307777"/>
          </a:xfrm>
        </p:grpSpPr>
        <p:sp>
          <p:nvSpPr>
            <p:cNvPr id="1433" name="Google Shape;1433;p81"/>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434" name="Google Shape;1434;p81"/>
            <p:cNvSpPr txBox="1"/>
            <p:nvPr/>
          </p:nvSpPr>
          <p:spPr>
            <a:xfrm>
              <a:off x="188780" y="-22510"/>
              <a:ext cx="201241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Section 2  External merge</a:t>
              </a:r>
              <a:endParaRPr/>
            </a:p>
          </p:txBody>
        </p:sp>
      </p:gr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8" name="Shape 1438"/>
        <p:cNvGrpSpPr/>
        <p:nvPr/>
      </p:nvGrpSpPr>
      <p:grpSpPr>
        <a:xfrm>
          <a:off x="0" y="0"/>
          <a:ext cx="0" cy="0"/>
          <a:chOff x="0" y="0"/>
          <a:chExt cx="0" cy="0"/>
        </a:xfrm>
      </p:grpSpPr>
      <p:sp>
        <p:nvSpPr>
          <p:cNvPr id="1439" name="Google Shape;1439;p8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External Merge Algorithm</a:t>
            </a:r>
            <a:endParaRPr/>
          </a:p>
        </p:txBody>
      </p:sp>
      <p:sp>
        <p:nvSpPr>
          <p:cNvPr id="1440" name="Google Shape;1440;p82"/>
          <p:cNvSpPr/>
          <p:nvPr/>
        </p:nvSpPr>
        <p:spPr>
          <a:xfrm>
            <a:off x="2600324" y="1793054"/>
            <a:ext cx="3457575" cy="4190049"/>
          </a:xfrm>
          <a:prstGeom prst="can">
            <a:avLst>
              <a:gd fmla="val 13065"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1441" name="Google Shape;1441;p82"/>
          <p:cNvSpPr/>
          <p:nvPr/>
        </p:nvSpPr>
        <p:spPr>
          <a:xfrm>
            <a:off x="2699249" y="2544333"/>
            <a:ext cx="3296832" cy="583324"/>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42" name="Google Shape;1442;p82"/>
          <p:cNvSpPr txBox="1"/>
          <p:nvPr/>
        </p:nvSpPr>
        <p:spPr>
          <a:xfrm>
            <a:off x="4903242" y="2635940"/>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20,31</a:t>
            </a:r>
            <a:endParaRPr/>
          </a:p>
        </p:txBody>
      </p:sp>
      <p:sp>
        <p:nvSpPr>
          <p:cNvPr id="1443" name="Google Shape;1443;p82"/>
          <p:cNvSpPr/>
          <p:nvPr/>
        </p:nvSpPr>
        <p:spPr>
          <a:xfrm>
            <a:off x="2699248" y="3270133"/>
            <a:ext cx="3296833" cy="583324"/>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44" name="Google Shape;1444;p82"/>
          <p:cNvSpPr txBox="1"/>
          <p:nvPr/>
        </p:nvSpPr>
        <p:spPr>
          <a:xfrm>
            <a:off x="3874072" y="3361740"/>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23,24</a:t>
            </a:r>
            <a:endParaRPr/>
          </a:p>
        </p:txBody>
      </p:sp>
      <p:sp>
        <p:nvSpPr>
          <p:cNvPr id="1445" name="Google Shape;1445;p82"/>
          <p:cNvSpPr txBox="1"/>
          <p:nvPr/>
        </p:nvSpPr>
        <p:spPr>
          <a:xfrm>
            <a:off x="4903217" y="3361740"/>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25,30</a:t>
            </a:r>
            <a:endParaRPr/>
          </a:p>
        </p:txBody>
      </p:sp>
      <p:sp>
        <p:nvSpPr>
          <p:cNvPr id="1446" name="Google Shape;1446;p82"/>
          <p:cNvSpPr/>
          <p:nvPr/>
        </p:nvSpPr>
        <p:spPr>
          <a:xfrm>
            <a:off x="2680694" y="4221466"/>
            <a:ext cx="3296833" cy="1109069"/>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47" name="Google Shape;1447;p82"/>
          <p:cNvSpPr txBox="1"/>
          <p:nvPr/>
        </p:nvSpPr>
        <p:spPr>
          <a:xfrm>
            <a:off x="3886022" y="6085469"/>
            <a:ext cx="88617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Disk</a:t>
            </a:r>
            <a:endParaRPr sz="3200">
              <a:solidFill>
                <a:schemeClr val="dk1"/>
              </a:solidFill>
              <a:latin typeface="Calibri"/>
              <a:ea typeface="Calibri"/>
              <a:cs typeface="Calibri"/>
              <a:sym typeface="Calibri"/>
            </a:endParaRPr>
          </a:p>
        </p:txBody>
      </p:sp>
      <p:grpSp>
        <p:nvGrpSpPr>
          <p:cNvPr id="1448" name="Google Shape;1448;p82"/>
          <p:cNvGrpSpPr/>
          <p:nvPr/>
        </p:nvGrpSpPr>
        <p:grpSpPr>
          <a:xfrm>
            <a:off x="7474137" y="1397064"/>
            <a:ext cx="4259923" cy="2456273"/>
            <a:chOff x="7403799" y="1406844"/>
            <a:chExt cx="4259923" cy="2456273"/>
          </a:xfrm>
        </p:grpSpPr>
        <p:grpSp>
          <p:nvGrpSpPr>
            <p:cNvPr id="1449" name="Google Shape;1449;p82"/>
            <p:cNvGrpSpPr/>
            <p:nvPr/>
          </p:nvGrpSpPr>
          <p:grpSpPr>
            <a:xfrm>
              <a:off x="7403799" y="1406844"/>
              <a:ext cx="4259923" cy="2456273"/>
              <a:chOff x="7466322" y="1027906"/>
              <a:chExt cx="4259923" cy="2456273"/>
            </a:xfrm>
          </p:grpSpPr>
          <p:sp>
            <p:nvSpPr>
              <p:cNvPr id="1450" name="Google Shape;1450;p82"/>
              <p:cNvSpPr/>
              <p:nvPr/>
            </p:nvSpPr>
            <p:spPr>
              <a:xfrm>
                <a:off x="7466322" y="1027906"/>
                <a:ext cx="4252691" cy="2440508"/>
              </a:xfrm>
              <a:prstGeom prst="rect">
                <a:avLst/>
              </a:prstGeom>
              <a:solidFill>
                <a:srgbClr val="FFF2CC"/>
              </a:solidFill>
              <a:ln cap="flat" cmpd="sng" w="9525">
                <a:solidFill>
                  <a:srgbClr val="7F7F7F"/>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0">
                  <a:solidFill>
                    <a:schemeClr val="dk1"/>
                  </a:solidFill>
                  <a:latin typeface="Calibri"/>
                  <a:ea typeface="Calibri"/>
                  <a:cs typeface="Calibri"/>
                  <a:sym typeface="Calibri"/>
                </a:endParaRPr>
              </a:p>
            </p:txBody>
          </p:sp>
          <p:sp>
            <p:nvSpPr>
              <p:cNvPr id="1451" name="Google Shape;1451;p82"/>
              <p:cNvSpPr/>
              <p:nvPr/>
            </p:nvSpPr>
            <p:spPr>
              <a:xfrm>
                <a:off x="7769912" y="1969081"/>
                <a:ext cx="3956333" cy="1515098"/>
              </a:xfrm>
              <a:prstGeom prst="rect">
                <a:avLst/>
              </a:prstGeom>
              <a:solidFill>
                <a:srgbClr val="B3C6E7"/>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1452" name="Google Shape;1452;p82"/>
              <p:cNvSpPr txBox="1"/>
              <p:nvPr/>
            </p:nvSpPr>
            <p:spPr>
              <a:xfrm>
                <a:off x="7624243" y="1210562"/>
                <a:ext cx="196842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Main Memory</a:t>
                </a:r>
                <a:endParaRPr/>
              </a:p>
            </p:txBody>
          </p:sp>
          <p:sp>
            <p:nvSpPr>
              <p:cNvPr id="1453" name="Google Shape;1453;p82"/>
              <p:cNvSpPr txBox="1"/>
              <p:nvPr/>
            </p:nvSpPr>
            <p:spPr>
              <a:xfrm>
                <a:off x="7836450" y="1989610"/>
                <a:ext cx="95359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Buffer</a:t>
                </a:r>
                <a:endParaRPr/>
              </a:p>
            </p:txBody>
          </p:sp>
        </p:grpSp>
        <p:sp>
          <p:nvSpPr>
            <p:cNvPr id="1454" name="Google Shape;1454;p82"/>
            <p:cNvSpPr/>
            <p:nvPr/>
          </p:nvSpPr>
          <p:spPr>
            <a:xfrm>
              <a:off x="7843740"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5" name="Google Shape;1455;p82"/>
            <p:cNvSpPr/>
            <p:nvPr/>
          </p:nvSpPr>
          <p:spPr>
            <a:xfrm>
              <a:off x="9055124"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6" name="Google Shape;1456;p82"/>
            <p:cNvSpPr/>
            <p:nvPr/>
          </p:nvSpPr>
          <p:spPr>
            <a:xfrm>
              <a:off x="10266508"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457" name="Google Shape;1457;p82"/>
          <p:cNvSpPr/>
          <p:nvPr/>
        </p:nvSpPr>
        <p:spPr>
          <a:xfrm>
            <a:off x="6244417" y="3067170"/>
            <a:ext cx="1461477"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58" name="Google Shape;1458;p82"/>
          <p:cNvSpPr/>
          <p:nvPr/>
        </p:nvSpPr>
        <p:spPr>
          <a:xfrm rot="9359953">
            <a:off x="6093202" y="4265976"/>
            <a:ext cx="1767818"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59" name="Google Shape;1459;p82"/>
          <p:cNvSpPr txBox="1"/>
          <p:nvPr/>
        </p:nvSpPr>
        <p:spPr>
          <a:xfrm>
            <a:off x="3852057" y="4318115"/>
            <a:ext cx="954106"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5,7</a:t>
            </a:r>
            <a:endParaRPr sz="2000">
              <a:solidFill>
                <a:srgbClr val="FFC000"/>
              </a:solidFill>
              <a:latin typeface="Arial"/>
              <a:ea typeface="Arial"/>
              <a:cs typeface="Arial"/>
              <a:sym typeface="Arial"/>
            </a:endParaRPr>
          </a:p>
        </p:txBody>
      </p:sp>
      <p:sp>
        <p:nvSpPr>
          <p:cNvPr id="1460" name="Google Shape;1460;p82"/>
          <p:cNvSpPr txBox="1"/>
          <p:nvPr/>
        </p:nvSpPr>
        <p:spPr>
          <a:xfrm>
            <a:off x="9212043" y="3088228"/>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22</a:t>
            </a:r>
            <a:endParaRPr/>
          </a:p>
        </p:txBody>
      </p:sp>
      <p:sp>
        <p:nvSpPr>
          <p:cNvPr id="1461" name="Google Shape;1461;p82"/>
          <p:cNvSpPr txBox="1"/>
          <p:nvPr/>
        </p:nvSpPr>
        <p:spPr>
          <a:xfrm>
            <a:off x="2804161" y="4305052"/>
            <a:ext cx="954106"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1,2</a:t>
            </a:r>
            <a:endParaRPr/>
          </a:p>
        </p:txBody>
      </p:sp>
      <p:sp>
        <p:nvSpPr>
          <p:cNvPr id="1462" name="Google Shape;1462;p82"/>
          <p:cNvSpPr txBox="1"/>
          <p:nvPr/>
        </p:nvSpPr>
        <p:spPr>
          <a:xfrm>
            <a:off x="601056" y="2653008"/>
            <a:ext cx="183548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Input:</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Two sorted files</a:t>
            </a:r>
            <a:endParaRPr/>
          </a:p>
        </p:txBody>
      </p:sp>
      <p:sp>
        <p:nvSpPr>
          <p:cNvPr id="1463" name="Google Shape;1463;p82"/>
          <p:cNvSpPr txBox="1"/>
          <p:nvPr/>
        </p:nvSpPr>
        <p:spPr>
          <a:xfrm>
            <a:off x="601056" y="4130206"/>
            <a:ext cx="183548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Output:</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One </a:t>
            </a:r>
            <a:r>
              <a:rPr i="1" lang="en-US" sz="2400">
                <a:solidFill>
                  <a:schemeClr val="dk1"/>
                </a:solidFill>
                <a:latin typeface="Calibri"/>
                <a:ea typeface="Calibri"/>
                <a:cs typeface="Calibri"/>
                <a:sym typeface="Calibri"/>
              </a:rPr>
              <a:t>merged</a:t>
            </a:r>
            <a:r>
              <a:rPr lang="en-US" sz="2400">
                <a:solidFill>
                  <a:schemeClr val="dk1"/>
                </a:solidFill>
                <a:latin typeface="Calibri"/>
                <a:ea typeface="Calibri"/>
                <a:cs typeface="Calibri"/>
                <a:sym typeface="Calibri"/>
              </a:rPr>
              <a:t> sorted file</a:t>
            </a:r>
            <a:endParaRPr/>
          </a:p>
        </p:txBody>
      </p:sp>
      <p:sp>
        <p:nvSpPr>
          <p:cNvPr id="1464" name="Google Shape;1464;p82"/>
          <p:cNvSpPr txBox="1"/>
          <p:nvPr/>
        </p:nvSpPr>
        <p:spPr>
          <a:xfrm>
            <a:off x="2216639" y="2672604"/>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1</a:t>
            </a:r>
            <a:endParaRPr/>
          </a:p>
        </p:txBody>
      </p:sp>
      <p:sp>
        <p:nvSpPr>
          <p:cNvPr id="1465" name="Google Shape;1465;p82"/>
          <p:cNvSpPr txBox="1"/>
          <p:nvPr/>
        </p:nvSpPr>
        <p:spPr>
          <a:xfrm>
            <a:off x="2216226" y="3361740"/>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2</a:t>
            </a:r>
            <a:endParaRPr/>
          </a:p>
        </p:txBody>
      </p:sp>
      <p:sp>
        <p:nvSpPr>
          <p:cNvPr id="1466" name="Google Shape;1466;p82"/>
          <p:cNvSpPr txBox="1"/>
          <p:nvPr/>
        </p:nvSpPr>
        <p:spPr>
          <a:xfrm>
            <a:off x="8000672" y="3095788"/>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11</a:t>
            </a:r>
            <a:endParaRPr/>
          </a:p>
        </p:txBody>
      </p:sp>
      <p:grpSp>
        <p:nvGrpSpPr>
          <p:cNvPr id="1467" name="Google Shape;1467;p82"/>
          <p:cNvGrpSpPr/>
          <p:nvPr/>
        </p:nvGrpSpPr>
        <p:grpSpPr>
          <a:xfrm>
            <a:off x="0" y="-22510"/>
            <a:ext cx="12192000" cy="307777"/>
            <a:chOff x="0" y="-22510"/>
            <a:chExt cx="12192000" cy="307777"/>
          </a:xfrm>
        </p:grpSpPr>
        <p:sp>
          <p:nvSpPr>
            <p:cNvPr id="1468" name="Google Shape;1468;p82"/>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469" name="Google Shape;1469;p82"/>
            <p:cNvSpPr txBox="1"/>
            <p:nvPr/>
          </p:nvSpPr>
          <p:spPr>
            <a:xfrm>
              <a:off x="188780" y="-22510"/>
              <a:ext cx="201241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Section 2  External merge</a:t>
              </a:r>
              <a:endParaRPr/>
            </a:p>
          </p:txBody>
        </p:sp>
      </p:gr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3" name="Shape 1473"/>
        <p:cNvGrpSpPr/>
        <p:nvPr/>
      </p:nvGrpSpPr>
      <p:grpSpPr>
        <a:xfrm>
          <a:off x="0" y="0"/>
          <a:ext cx="0" cy="0"/>
          <a:chOff x="0" y="0"/>
          <a:chExt cx="0" cy="0"/>
        </a:xfrm>
      </p:grpSpPr>
      <p:sp>
        <p:nvSpPr>
          <p:cNvPr id="1474" name="Google Shape;1474;p8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External Merge Algorithm</a:t>
            </a:r>
            <a:endParaRPr/>
          </a:p>
        </p:txBody>
      </p:sp>
      <p:sp>
        <p:nvSpPr>
          <p:cNvPr id="1475" name="Google Shape;1475;p83"/>
          <p:cNvSpPr/>
          <p:nvPr/>
        </p:nvSpPr>
        <p:spPr>
          <a:xfrm>
            <a:off x="2600324" y="1793054"/>
            <a:ext cx="3457575" cy="4190049"/>
          </a:xfrm>
          <a:prstGeom prst="can">
            <a:avLst>
              <a:gd fmla="val 13065"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1476" name="Google Shape;1476;p83"/>
          <p:cNvSpPr/>
          <p:nvPr/>
        </p:nvSpPr>
        <p:spPr>
          <a:xfrm>
            <a:off x="2699249" y="2544333"/>
            <a:ext cx="3296832" cy="583324"/>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7" name="Google Shape;1477;p83"/>
          <p:cNvSpPr/>
          <p:nvPr/>
        </p:nvSpPr>
        <p:spPr>
          <a:xfrm>
            <a:off x="2699248" y="3270133"/>
            <a:ext cx="3296833" cy="583324"/>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8" name="Google Shape;1478;p83"/>
          <p:cNvSpPr txBox="1"/>
          <p:nvPr/>
        </p:nvSpPr>
        <p:spPr>
          <a:xfrm>
            <a:off x="3874072" y="3361740"/>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23,24</a:t>
            </a:r>
            <a:endParaRPr/>
          </a:p>
        </p:txBody>
      </p:sp>
      <p:sp>
        <p:nvSpPr>
          <p:cNvPr id="1479" name="Google Shape;1479;p83"/>
          <p:cNvSpPr txBox="1"/>
          <p:nvPr/>
        </p:nvSpPr>
        <p:spPr>
          <a:xfrm>
            <a:off x="4903217" y="3361740"/>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25,30</a:t>
            </a:r>
            <a:endParaRPr/>
          </a:p>
        </p:txBody>
      </p:sp>
      <p:sp>
        <p:nvSpPr>
          <p:cNvPr id="1480" name="Google Shape;1480;p83"/>
          <p:cNvSpPr/>
          <p:nvPr/>
        </p:nvSpPr>
        <p:spPr>
          <a:xfrm>
            <a:off x="2680694" y="4221466"/>
            <a:ext cx="3296833" cy="1109069"/>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1" name="Google Shape;1481;p83"/>
          <p:cNvSpPr txBox="1"/>
          <p:nvPr/>
        </p:nvSpPr>
        <p:spPr>
          <a:xfrm>
            <a:off x="3886022" y="6085469"/>
            <a:ext cx="88617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Disk</a:t>
            </a:r>
            <a:endParaRPr sz="3200">
              <a:solidFill>
                <a:schemeClr val="dk1"/>
              </a:solidFill>
              <a:latin typeface="Calibri"/>
              <a:ea typeface="Calibri"/>
              <a:cs typeface="Calibri"/>
              <a:sym typeface="Calibri"/>
            </a:endParaRPr>
          </a:p>
        </p:txBody>
      </p:sp>
      <p:grpSp>
        <p:nvGrpSpPr>
          <p:cNvPr id="1482" name="Google Shape;1482;p83"/>
          <p:cNvGrpSpPr/>
          <p:nvPr/>
        </p:nvGrpSpPr>
        <p:grpSpPr>
          <a:xfrm>
            <a:off x="7474137" y="1397064"/>
            <a:ext cx="4259923" cy="2456273"/>
            <a:chOff x="7403799" y="1406844"/>
            <a:chExt cx="4259923" cy="2456273"/>
          </a:xfrm>
        </p:grpSpPr>
        <p:grpSp>
          <p:nvGrpSpPr>
            <p:cNvPr id="1483" name="Google Shape;1483;p83"/>
            <p:cNvGrpSpPr/>
            <p:nvPr/>
          </p:nvGrpSpPr>
          <p:grpSpPr>
            <a:xfrm>
              <a:off x="7403799" y="1406844"/>
              <a:ext cx="4259923" cy="2456273"/>
              <a:chOff x="7466322" y="1027906"/>
              <a:chExt cx="4259923" cy="2456273"/>
            </a:xfrm>
          </p:grpSpPr>
          <p:sp>
            <p:nvSpPr>
              <p:cNvPr id="1484" name="Google Shape;1484;p83"/>
              <p:cNvSpPr/>
              <p:nvPr/>
            </p:nvSpPr>
            <p:spPr>
              <a:xfrm>
                <a:off x="7466322" y="1027906"/>
                <a:ext cx="4252691" cy="2440508"/>
              </a:xfrm>
              <a:prstGeom prst="rect">
                <a:avLst/>
              </a:prstGeom>
              <a:solidFill>
                <a:srgbClr val="FFF2CC"/>
              </a:solidFill>
              <a:ln cap="flat" cmpd="sng" w="9525">
                <a:solidFill>
                  <a:srgbClr val="7F7F7F"/>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0">
                  <a:solidFill>
                    <a:schemeClr val="dk1"/>
                  </a:solidFill>
                  <a:latin typeface="Calibri"/>
                  <a:ea typeface="Calibri"/>
                  <a:cs typeface="Calibri"/>
                  <a:sym typeface="Calibri"/>
                </a:endParaRPr>
              </a:p>
            </p:txBody>
          </p:sp>
          <p:sp>
            <p:nvSpPr>
              <p:cNvPr id="1485" name="Google Shape;1485;p83"/>
              <p:cNvSpPr/>
              <p:nvPr/>
            </p:nvSpPr>
            <p:spPr>
              <a:xfrm>
                <a:off x="7769912" y="1969081"/>
                <a:ext cx="3956333" cy="1515098"/>
              </a:xfrm>
              <a:prstGeom prst="rect">
                <a:avLst/>
              </a:prstGeom>
              <a:solidFill>
                <a:srgbClr val="B3C6E7"/>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1486" name="Google Shape;1486;p83"/>
              <p:cNvSpPr txBox="1"/>
              <p:nvPr/>
            </p:nvSpPr>
            <p:spPr>
              <a:xfrm>
                <a:off x="7624243" y="1210562"/>
                <a:ext cx="196842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Main Memory</a:t>
                </a:r>
                <a:endParaRPr/>
              </a:p>
            </p:txBody>
          </p:sp>
          <p:sp>
            <p:nvSpPr>
              <p:cNvPr id="1487" name="Google Shape;1487;p83"/>
              <p:cNvSpPr txBox="1"/>
              <p:nvPr/>
            </p:nvSpPr>
            <p:spPr>
              <a:xfrm>
                <a:off x="7836450" y="1989610"/>
                <a:ext cx="95359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Buffer</a:t>
                </a:r>
                <a:endParaRPr/>
              </a:p>
            </p:txBody>
          </p:sp>
        </p:grpSp>
        <p:sp>
          <p:nvSpPr>
            <p:cNvPr id="1488" name="Google Shape;1488;p83"/>
            <p:cNvSpPr/>
            <p:nvPr/>
          </p:nvSpPr>
          <p:spPr>
            <a:xfrm>
              <a:off x="7843740"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9" name="Google Shape;1489;p83"/>
            <p:cNvSpPr/>
            <p:nvPr/>
          </p:nvSpPr>
          <p:spPr>
            <a:xfrm>
              <a:off x="9055124"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90" name="Google Shape;1490;p83"/>
            <p:cNvSpPr/>
            <p:nvPr/>
          </p:nvSpPr>
          <p:spPr>
            <a:xfrm>
              <a:off x="10266508"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491" name="Google Shape;1491;p83"/>
          <p:cNvSpPr/>
          <p:nvPr/>
        </p:nvSpPr>
        <p:spPr>
          <a:xfrm>
            <a:off x="6244417" y="3067170"/>
            <a:ext cx="1461477"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92" name="Google Shape;1492;p83"/>
          <p:cNvSpPr/>
          <p:nvPr/>
        </p:nvSpPr>
        <p:spPr>
          <a:xfrm rot="9359953">
            <a:off x="6093202" y="4265976"/>
            <a:ext cx="1767818"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93" name="Google Shape;1493;p83"/>
          <p:cNvSpPr txBox="1"/>
          <p:nvPr/>
        </p:nvSpPr>
        <p:spPr>
          <a:xfrm>
            <a:off x="3852057" y="4318115"/>
            <a:ext cx="954106"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5,7</a:t>
            </a:r>
            <a:endParaRPr sz="2000">
              <a:solidFill>
                <a:srgbClr val="FFC000"/>
              </a:solidFill>
              <a:latin typeface="Arial"/>
              <a:ea typeface="Arial"/>
              <a:cs typeface="Arial"/>
              <a:sym typeface="Arial"/>
            </a:endParaRPr>
          </a:p>
        </p:txBody>
      </p:sp>
      <p:sp>
        <p:nvSpPr>
          <p:cNvPr id="1494" name="Google Shape;1494;p83"/>
          <p:cNvSpPr txBox="1"/>
          <p:nvPr/>
        </p:nvSpPr>
        <p:spPr>
          <a:xfrm>
            <a:off x="9212043" y="3088228"/>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22</a:t>
            </a:r>
            <a:endParaRPr/>
          </a:p>
        </p:txBody>
      </p:sp>
      <p:sp>
        <p:nvSpPr>
          <p:cNvPr id="1495" name="Google Shape;1495;p83"/>
          <p:cNvSpPr txBox="1"/>
          <p:nvPr/>
        </p:nvSpPr>
        <p:spPr>
          <a:xfrm>
            <a:off x="2804161" y="4305052"/>
            <a:ext cx="954106"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1,2</a:t>
            </a:r>
            <a:endParaRPr/>
          </a:p>
        </p:txBody>
      </p:sp>
      <p:sp>
        <p:nvSpPr>
          <p:cNvPr id="1496" name="Google Shape;1496;p83"/>
          <p:cNvSpPr txBox="1"/>
          <p:nvPr/>
        </p:nvSpPr>
        <p:spPr>
          <a:xfrm>
            <a:off x="601056" y="2653008"/>
            <a:ext cx="183548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Input:</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Two sorted files</a:t>
            </a:r>
            <a:endParaRPr/>
          </a:p>
        </p:txBody>
      </p:sp>
      <p:sp>
        <p:nvSpPr>
          <p:cNvPr id="1497" name="Google Shape;1497;p83"/>
          <p:cNvSpPr txBox="1"/>
          <p:nvPr/>
        </p:nvSpPr>
        <p:spPr>
          <a:xfrm>
            <a:off x="601056" y="4130206"/>
            <a:ext cx="183548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Output:</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One </a:t>
            </a:r>
            <a:r>
              <a:rPr i="1" lang="en-US" sz="2400">
                <a:solidFill>
                  <a:schemeClr val="dk1"/>
                </a:solidFill>
                <a:latin typeface="Calibri"/>
                <a:ea typeface="Calibri"/>
                <a:cs typeface="Calibri"/>
                <a:sym typeface="Calibri"/>
              </a:rPr>
              <a:t>merged</a:t>
            </a:r>
            <a:r>
              <a:rPr lang="en-US" sz="2400">
                <a:solidFill>
                  <a:schemeClr val="dk1"/>
                </a:solidFill>
                <a:latin typeface="Calibri"/>
                <a:ea typeface="Calibri"/>
                <a:cs typeface="Calibri"/>
                <a:sym typeface="Calibri"/>
              </a:rPr>
              <a:t> sorted file</a:t>
            </a:r>
            <a:endParaRPr/>
          </a:p>
        </p:txBody>
      </p:sp>
      <p:sp>
        <p:nvSpPr>
          <p:cNvPr id="1498" name="Google Shape;1498;p83"/>
          <p:cNvSpPr txBox="1"/>
          <p:nvPr/>
        </p:nvSpPr>
        <p:spPr>
          <a:xfrm>
            <a:off x="2216639" y="2672604"/>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1</a:t>
            </a:r>
            <a:endParaRPr/>
          </a:p>
        </p:txBody>
      </p:sp>
      <p:sp>
        <p:nvSpPr>
          <p:cNvPr id="1499" name="Google Shape;1499;p83"/>
          <p:cNvSpPr txBox="1"/>
          <p:nvPr/>
        </p:nvSpPr>
        <p:spPr>
          <a:xfrm>
            <a:off x="2216226" y="3361740"/>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2</a:t>
            </a:r>
            <a:endParaRPr/>
          </a:p>
        </p:txBody>
      </p:sp>
      <p:sp>
        <p:nvSpPr>
          <p:cNvPr id="1500" name="Google Shape;1500;p83"/>
          <p:cNvSpPr txBox="1"/>
          <p:nvPr/>
        </p:nvSpPr>
        <p:spPr>
          <a:xfrm>
            <a:off x="10434293" y="3088228"/>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11</a:t>
            </a:r>
            <a:endParaRPr/>
          </a:p>
        </p:txBody>
      </p:sp>
      <p:sp>
        <p:nvSpPr>
          <p:cNvPr id="1501" name="Google Shape;1501;p83"/>
          <p:cNvSpPr txBox="1"/>
          <p:nvPr/>
        </p:nvSpPr>
        <p:spPr>
          <a:xfrm>
            <a:off x="4903242" y="2635940"/>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20,31</a:t>
            </a:r>
            <a:endParaRPr/>
          </a:p>
        </p:txBody>
      </p:sp>
      <p:sp>
        <p:nvSpPr>
          <p:cNvPr id="1502" name="Google Shape;1502;p83"/>
          <p:cNvSpPr txBox="1"/>
          <p:nvPr/>
        </p:nvSpPr>
        <p:spPr>
          <a:xfrm>
            <a:off x="7571991" y="4938321"/>
            <a:ext cx="3106941"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800">
                <a:solidFill>
                  <a:schemeClr val="dk1"/>
                </a:solidFill>
                <a:latin typeface="Calibri"/>
                <a:ea typeface="Calibri"/>
                <a:cs typeface="Calibri"/>
                <a:sym typeface="Calibri"/>
              </a:rPr>
              <a:t>And so on…</a:t>
            </a:r>
            <a:endParaRPr/>
          </a:p>
        </p:txBody>
      </p:sp>
      <p:sp>
        <p:nvSpPr>
          <p:cNvPr id="1503" name="Google Shape;1503;p83"/>
          <p:cNvSpPr txBox="1"/>
          <p:nvPr/>
        </p:nvSpPr>
        <p:spPr>
          <a:xfrm>
            <a:off x="8616270" y="5854636"/>
            <a:ext cx="2993511" cy="523220"/>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See IPython demo!</a:t>
            </a:r>
            <a:endParaRPr b="1" sz="2800">
              <a:solidFill>
                <a:schemeClr val="dk1"/>
              </a:solidFill>
              <a:latin typeface="Calibri"/>
              <a:ea typeface="Calibri"/>
              <a:cs typeface="Calibri"/>
              <a:sym typeface="Calibri"/>
            </a:endParaRPr>
          </a:p>
        </p:txBody>
      </p:sp>
      <p:grpSp>
        <p:nvGrpSpPr>
          <p:cNvPr id="1504" name="Google Shape;1504;p83"/>
          <p:cNvGrpSpPr/>
          <p:nvPr/>
        </p:nvGrpSpPr>
        <p:grpSpPr>
          <a:xfrm>
            <a:off x="0" y="-22510"/>
            <a:ext cx="12192000" cy="307777"/>
            <a:chOff x="0" y="-22510"/>
            <a:chExt cx="12192000" cy="307777"/>
          </a:xfrm>
        </p:grpSpPr>
        <p:sp>
          <p:nvSpPr>
            <p:cNvPr id="1505" name="Google Shape;1505;p83"/>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506" name="Google Shape;1506;p83"/>
            <p:cNvSpPr txBox="1"/>
            <p:nvPr/>
          </p:nvSpPr>
          <p:spPr>
            <a:xfrm>
              <a:off x="188780" y="-22510"/>
              <a:ext cx="201241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Section 2  External merge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0" name="Shape 1510"/>
        <p:cNvGrpSpPr/>
        <p:nvPr/>
      </p:nvGrpSpPr>
      <p:grpSpPr>
        <a:xfrm>
          <a:off x="0" y="0"/>
          <a:ext cx="0" cy="0"/>
          <a:chOff x="0" y="0"/>
          <a:chExt cx="0" cy="0"/>
        </a:xfrm>
      </p:grpSpPr>
      <p:sp>
        <p:nvSpPr>
          <p:cNvPr id="1511" name="Google Shape;1511;p84"/>
          <p:cNvSpPr txBox="1"/>
          <p:nvPr>
            <p:ph type="title"/>
          </p:nvPr>
        </p:nvSpPr>
        <p:spPr>
          <a:xfrm>
            <a:off x="1981200" y="250210"/>
            <a:ext cx="8229600" cy="23365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We can merge lists of </a:t>
            </a:r>
            <a:r>
              <a:rPr b="1" lang="en-US"/>
              <a:t>arbitrary </a:t>
            </a:r>
            <a:br>
              <a:rPr b="1" lang="en-US"/>
            </a:br>
            <a:r>
              <a:rPr b="1" lang="en-US"/>
              <a:t>length </a:t>
            </a:r>
            <a:r>
              <a:rPr lang="en-US"/>
              <a:t>with </a:t>
            </a:r>
            <a:r>
              <a:rPr i="1" lang="en-US"/>
              <a:t>only</a:t>
            </a:r>
            <a:r>
              <a:rPr lang="en-US"/>
              <a:t> 3 buffer pages.</a:t>
            </a:r>
            <a:endParaRPr/>
          </a:p>
        </p:txBody>
      </p:sp>
      <p:sp>
        <p:nvSpPr>
          <p:cNvPr id="1512" name="Google Shape;1512;p84"/>
          <p:cNvSpPr/>
          <p:nvPr/>
        </p:nvSpPr>
        <p:spPr>
          <a:xfrm>
            <a:off x="2170081" y="2836995"/>
            <a:ext cx="7851838" cy="1938992"/>
          </a:xfrm>
          <a:prstGeom prst="rect">
            <a:avLst/>
          </a:prstGeom>
          <a:solidFill>
            <a:srgbClr val="DDEAF6"/>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noAutofit/>
          </a:bodyPr>
          <a:lstStyle/>
          <a:p>
            <a:pPr indent="0" lvl="0" marL="0" marR="0" rtl="0" algn="ctr">
              <a:spcBef>
                <a:spcPts val="0"/>
              </a:spcBef>
              <a:spcAft>
                <a:spcPts val="0"/>
              </a:spcAft>
              <a:buNone/>
            </a:pPr>
            <a:r>
              <a:rPr lang="en-US" sz="4000">
                <a:solidFill>
                  <a:srgbClr val="000000"/>
                </a:solidFill>
                <a:latin typeface="Calibri"/>
                <a:ea typeface="Calibri"/>
                <a:cs typeface="Calibri"/>
                <a:sym typeface="Calibri"/>
              </a:rPr>
              <a:t>If lists of size M and N, then</a:t>
            </a:r>
            <a:endParaRPr/>
          </a:p>
          <a:p>
            <a:pPr indent="0" lvl="0" marL="0" marR="0" rtl="0" algn="ctr">
              <a:spcBef>
                <a:spcPts val="0"/>
              </a:spcBef>
              <a:spcAft>
                <a:spcPts val="0"/>
              </a:spcAft>
              <a:buNone/>
            </a:pPr>
            <a:r>
              <a:rPr b="1" lang="en-US" sz="4000">
                <a:solidFill>
                  <a:srgbClr val="000000"/>
                </a:solidFill>
                <a:latin typeface="Calibri"/>
                <a:ea typeface="Calibri"/>
                <a:cs typeface="Calibri"/>
                <a:sym typeface="Calibri"/>
              </a:rPr>
              <a:t>Cost:</a:t>
            </a:r>
            <a:r>
              <a:rPr lang="en-US" sz="4000">
                <a:solidFill>
                  <a:srgbClr val="000000"/>
                </a:solidFill>
                <a:latin typeface="Calibri"/>
                <a:ea typeface="Calibri"/>
                <a:cs typeface="Calibri"/>
                <a:sym typeface="Calibri"/>
              </a:rPr>
              <a:t> 2(M+N) IOs</a:t>
            </a:r>
            <a:endParaRPr/>
          </a:p>
          <a:p>
            <a:pPr indent="0" lvl="0" marL="0" marR="0" rtl="0" algn="ctr">
              <a:spcBef>
                <a:spcPts val="0"/>
              </a:spcBef>
              <a:spcAft>
                <a:spcPts val="0"/>
              </a:spcAft>
              <a:buNone/>
            </a:pPr>
            <a:r>
              <a:rPr lang="en-US" sz="4000">
                <a:solidFill>
                  <a:srgbClr val="000000"/>
                </a:solidFill>
                <a:latin typeface="Calibri"/>
                <a:ea typeface="Calibri"/>
                <a:cs typeface="Calibri"/>
                <a:sym typeface="Calibri"/>
              </a:rPr>
              <a:t>Each page is read once, written once</a:t>
            </a:r>
            <a:endParaRPr/>
          </a:p>
        </p:txBody>
      </p:sp>
      <p:sp>
        <p:nvSpPr>
          <p:cNvPr id="1513" name="Google Shape;1513;p84"/>
          <p:cNvSpPr/>
          <p:nvPr/>
        </p:nvSpPr>
        <p:spPr>
          <a:xfrm>
            <a:off x="964164" y="5660803"/>
            <a:ext cx="10263673" cy="707886"/>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4000">
                <a:solidFill>
                  <a:srgbClr val="000000"/>
                </a:solidFill>
                <a:latin typeface="Calibri"/>
                <a:ea typeface="Calibri"/>
                <a:cs typeface="Calibri"/>
                <a:sym typeface="Calibri"/>
              </a:rPr>
              <a:t>With B+1 buffer pages, can merge B lists. How?</a:t>
            </a:r>
            <a:endParaRPr/>
          </a:p>
        </p:txBody>
      </p:sp>
      <p:grpSp>
        <p:nvGrpSpPr>
          <p:cNvPr id="1514" name="Google Shape;1514;p84"/>
          <p:cNvGrpSpPr/>
          <p:nvPr/>
        </p:nvGrpSpPr>
        <p:grpSpPr>
          <a:xfrm>
            <a:off x="0" y="-22510"/>
            <a:ext cx="12192000" cy="307777"/>
            <a:chOff x="0" y="-22510"/>
            <a:chExt cx="12192000" cy="307777"/>
          </a:xfrm>
        </p:grpSpPr>
        <p:sp>
          <p:nvSpPr>
            <p:cNvPr id="1515" name="Google Shape;1515;p84"/>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516" name="Google Shape;1516;p84"/>
            <p:cNvSpPr txBox="1"/>
            <p:nvPr/>
          </p:nvSpPr>
          <p:spPr>
            <a:xfrm>
              <a:off x="188780" y="-22510"/>
              <a:ext cx="202363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Section 2  External Merge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4" name="Shape 1524"/>
        <p:cNvGrpSpPr/>
        <p:nvPr/>
      </p:nvGrpSpPr>
      <p:grpSpPr>
        <a:xfrm>
          <a:off x="0" y="0"/>
          <a:ext cx="0" cy="0"/>
          <a:chOff x="0" y="0"/>
          <a:chExt cx="0" cy="0"/>
        </a:xfrm>
      </p:grpSpPr>
      <p:sp>
        <p:nvSpPr>
          <p:cNvPr id="1525" name="Google Shape;1525;p85"/>
          <p:cNvSpPr/>
          <p:nvPr/>
        </p:nvSpPr>
        <p:spPr>
          <a:xfrm>
            <a:off x="2209800" y="6248400"/>
            <a:ext cx="1905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26" name="Google Shape;1526;p85"/>
          <p:cNvSpPr/>
          <p:nvPr/>
        </p:nvSpPr>
        <p:spPr>
          <a:xfrm>
            <a:off x="4648200" y="6248400"/>
            <a:ext cx="289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27" name="Google Shape;1527;p8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Recap: External Merge Algorithm</a:t>
            </a:r>
            <a:endParaRPr/>
          </a:p>
        </p:txBody>
      </p:sp>
      <p:sp>
        <p:nvSpPr>
          <p:cNvPr id="1528" name="Google Shape;1528;p85"/>
          <p:cNvSpPr txBox="1"/>
          <p:nvPr>
            <p:ph idx="1" type="body"/>
          </p:nvPr>
        </p:nvSpPr>
        <p:spPr>
          <a:xfrm>
            <a:off x="838199" y="1828800"/>
            <a:ext cx="11077575" cy="44958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Char char="•"/>
            </a:pPr>
            <a:r>
              <a:rPr lang="en-US" sz="3200"/>
              <a:t>Suppose we want to merge two </a:t>
            </a:r>
            <a:r>
              <a:rPr b="1" lang="en-US" sz="3200"/>
              <a:t>sorted</a:t>
            </a:r>
            <a:r>
              <a:rPr lang="en-US" sz="3200"/>
              <a:t> files both much larger than main memory (i.e. the buffer)</a:t>
            </a:r>
            <a:endParaRPr/>
          </a:p>
          <a:p>
            <a:pPr indent="-25400" lvl="0" marL="228600" rtl="0" algn="l">
              <a:lnSpc>
                <a:spcPct val="90000"/>
              </a:lnSpc>
              <a:spcBef>
                <a:spcPts val="1000"/>
              </a:spcBef>
              <a:spcAft>
                <a:spcPts val="0"/>
              </a:spcAft>
              <a:buClr>
                <a:schemeClr val="dk1"/>
              </a:buClr>
              <a:buSzPts val="3200"/>
              <a:buNone/>
            </a:pPr>
            <a:r>
              <a:t/>
            </a:r>
            <a:endParaRPr sz="3200"/>
          </a:p>
          <a:p>
            <a:pPr indent="-228600" lvl="0" marL="228600" rtl="0" algn="l">
              <a:lnSpc>
                <a:spcPct val="90000"/>
              </a:lnSpc>
              <a:spcBef>
                <a:spcPts val="1000"/>
              </a:spcBef>
              <a:spcAft>
                <a:spcPts val="0"/>
              </a:spcAft>
              <a:buClr>
                <a:schemeClr val="dk1"/>
              </a:buClr>
              <a:buSzPts val="3200"/>
              <a:buChar char="•"/>
            </a:pPr>
            <a:r>
              <a:rPr lang="en-US" sz="3200"/>
              <a:t>We can use the </a:t>
            </a:r>
            <a:r>
              <a:rPr b="1" lang="en-US" sz="3200"/>
              <a:t>external merge algorithm</a:t>
            </a:r>
            <a:r>
              <a:rPr lang="en-US" sz="3200"/>
              <a:t> to merge files of </a:t>
            </a:r>
            <a:r>
              <a:rPr b="1" i="1" lang="en-US" sz="3200"/>
              <a:t>arbitrary length</a:t>
            </a:r>
            <a:r>
              <a:rPr lang="en-US" sz="3200"/>
              <a:t> in </a:t>
            </a:r>
            <a:r>
              <a:rPr b="1" lang="en-US" sz="3200"/>
              <a:t>2*(N+M) IO </a:t>
            </a:r>
            <a:r>
              <a:rPr lang="en-US" sz="3200"/>
              <a:t>operations with only </a:t>
            </a:r>
            <a:r>
              <a:rPr b="1" lang="en-US" sz="3200"/>
              <a:t>3 buffer pages</a:t>
            </a:r>
            <a:r>
              <a:rPr lang="en-US" sz="3200"/>
              <a:t>!</a:t>
            </a:r>
            <a:endParaRPr/>
          </a:p>
        </p:txBody>
      </p:sp>
      <p:sp>
        <p:nvSpPr>
          <p:cNvPr id="1529" name="Google Shape;1529;p85"/>
          <p:cNvSpPr txBox="1"/>
          <p:nvPr/>
        </p:nvSpPr>
        <p:spPr>
          <a:xfrm>
            <a:off x="2540987" y="5247382"/>
            <a:ext cx="7110026" cy="1077218"/>
          </a:xfrm>
          <a:prstGeom prst="rect">
            <a:avLst/>
          </a:prstGeom>
          <a:solidFill>
            <a:srgbClr val="E1EFD8"/>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rgbClr val="000000"/>
                </a:solidFill>
                <a:latin typeface="Calibri"/>
                <a:ea typeface="Calibri"/>
                <a:cs typeface="Calibri"/>
                <a:sym typeface="Calibri"/>
              </a:rPr>
              <a:t>Our first example of an “IO aware” algorithm / cost model</a:t>
            </a:r>
            <a:endParaRPr/>
          </a:p>
        </p:txBody>
      </p:sp>
      <p:grpSp>
        <p:nvGrpSpPr>
          <p:cNvPr id="1530" name="Google Shape;1530;p85"/>
          <p:cNvGrpSpPr/>
          <p:nvPr/>
        </p:nvGrpSpPr>
        <p:grpSpPr>
          <a:xfrm>
            <a:off x="0" y="-22510"/>
            <a:ext cx="12192000" cy="307777"/>
            <a:chOff x="0" y="-22510"/>
            <a:chExt cx="12192000" cy="307777"/>
          </a:xfrm>
        </p:grpSpPr>
        <p:sp>
          <p:nvSpPr>
            <p:cNvPr id="1531" name="Google Shape;1531;p85"/>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532" name="Google Shape;1532;p85"/>
            <p:cNvSpPr txBox="1"/>
            <p:nvPr/>
          </p:nvSpPr>
          <p:spPr>
            <a:xfrm>
              <a:off x="188780" y="-22510"/>
              <a:ext cx="202363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Section 2  External Merge</a:t>
              </a:r>
              <a:endParaRPr/>
            </a:p>
          </p:txBody>
        </p:sp>
      </p:grpSp>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6" name="Shape 1536"/>
        <p:cNvGrpSpPr/>
        <p:nvPr/>
      </p:nvGrpSpPr>
      <p:grpSpPr>
        <a:xfrm>
          <a:off x="0" y="0"/>
          <a:ext cx="0" cy="0"/>
          <a:chOff x="0" y="0"/>
          <a:chExt cx="0" cy="0"/>
        </a:xfrm>
      </p:grpSpPr>
      <p:sp>
        <p:nvSpPr>
          <p:cNvPr id="1537" name="Google Shape;1537;p8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lang="en-US"/>
              <a:t>3. External Merge Sort</a:t>
            </a:r>
            <a:endParaRPr/>
          </a:p>
        </p:txBody>
      </p:sp>
      <p:sp>
        <p:nvSpPr>
          <p:cNvPr id="1538" name="Google Shape;1538;p8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1539" name="Google Shape;1539;p86"/>
          <p:cNvGrpSpPr/>
          <p:nvPr/>
        </p:nvGrpSpPr>
        <p:grpSpPr>
          <a:xfrm>
            <a:off x="0" y="-22510"/>
            <a:ext cx="12192000" cy="307777"/>
            <a:chOff x="0" y="-22510"/>
            <a:chExt cx="12192000" cy="307777"/>
          </a:xfrm>
        </p:grpSpPr>
        <p:sp>
          <p:nvSpPr>
            <p:cNvPr id="1540" name="Google Shape;1540;p86"/>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541" name="Google Shape;1541;p86"/>
            <p:cNvSpPr txBox="1"/>
            <p:nvPr/>
          </p:nvSpPr>
          <p:spPr>
            <a:xfrm>
              <a:off x="188780" y="-22510"/>
              <a:ext cx="18473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i="1" sz="1400">
                <a:solidFill>
                  <a:srgbClr val="595959"/>
                </a:solidFill>
                <a:latin typeface="Calibri"/>
                <a:ea typeface="Calibri"/>
                <a:cs typeface="Calibri"/>
                <a:sym typeface="Calibri"/>
              </a:endParaRPr>
            </a:p>
          </p:txBody>
        </p:sp>
      </p:gr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9" name="Shape 1549"/>
        <p:cNvGrpSpPr/>
        <p:nvPr/>
      </p:nvGrpSpPr>
      <p:grpSpPr>
        <a:xfrm>
          <a:off x="0" y="0"/>
          <a:ext cx="0" cy="0"/>
          <a:chOff x="0" y="0"/>
          <a:chExt cx="0" cy="0"/>
        </a:xfrm>
      </p:grpSpPr>
      <p:sp>
        <p:nvSpPr>
          <p:cNvPr id="1550" name="Google Shape;1550;p87"/>
          <p:cNvSpPr/>
          <p:nvPr/>
        </p:nvSpPr>
        <p:spPr>
          <a:xfrm>
            <a:off x="2209800" y="6248400"/>
            <a:ext cx="1905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51" name="Google Shape;1551;p87"/>
          <p:cNvSpPr/>
          <p:nvPr/>
        </p:nvSpPr>
        <p:spPr>
          <a:xfrm>
            <a:off x="4648200" y="6248400"/>
            <a:ext cx="2895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52" name="Google Shape;1552;p8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Why are Sort Algorithms Important?</a:t>
            </a:r>
            <a:endParaRPr/>
          </a:p>
        </p:txBody>
      </p:sp>
      <p:sp>
        <p:nvSpPr>
          <p:cNvPr id="1553" name="Google Shape;1553;p87"/>
          <p:cNvSpPr txBox="1"/>
          <p:nvPr>
            <p:ph idx="1" type="body"/>
          </p:nvPr>
        </p:nvSpPr>
        <p:spPr>
          <a:xfrm>
            <a:off x="838200" y="1828800"/>
            <a:ext cx="10515600" cy="44958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Char char="•"/>
            </a:pPr>
            <a:r>
              <a:rPr lang="en-US" sz="3200"/>
              <a:t>Data requested from DB in sorted order is </a:t>
            </a:r>
            <a:r>
              <a:rPr b="1" lang="en-US" sz="3200"/>
              <a:t>extremely common</a:t>
            </a:r>
            <a:endParaRPr sz="3200"/>
          </a:p>
          <a:p>
            <a:pPr indent="-228600" lvl="1" marL="685800" rtl="0" algn="l">
              <a:lnSpc>
                <a:spcPct val="90000"/>
              </a:lnSpc>
              <a:spcBef>
                <a:spcPts val="500"/>
              </a:spcBef>
              <a:spcAft>
                <a:spcPts val="0"/>
              </a:spcAft>
              <a:buClr>
                <a:schemeClr val="dk1"/>
              </a:buClr>
              <a:buSzPts val="2100"/>
              <a:buChar char="•"/>
            </a:pPr>
            <a:r>
              <a:rPr lang="en-US" sz="2800"/>
              <a:t>e.g., find students in increasing GPA</a:t>
            </a:r>
            <a:r>
              <a:rPr i="1" lang="en-US" sz="2800"/>
              <a:t> </a:t>
            </a:r>
            <a:r>
              <a:rPr lang="en-US" sz="2800"/>
              <a:t>order</a:t>
            </a:r>
            <a:endParaRPr/>
          </a:p>
          <a:p>
            <a:pPr indent="0" lvl="0" marL="0" rtl="0" algn="l">
              <a:lnSpc>
                <a:spcPct val="90000"/>
              </a:lnSpc>
              <a:spcBef>
                <a:spcPts val="1000"/>
              </a:spcBef>
              <a:spcAft>
                <a:spcPts val="0"/>
              </a:spcAft>
              <a:buClr>
                <a:schemeClr val="dk1"/>
              </a:buClr>
              <a:buSzPts val="3200"/>
              <a:buNone/>
            </a:pPr>
            <a:r>
              <a:t/>
            </a:r>
            <a:endParaRPr sz="3200"/>
          </a:p>
          <a:p>
            <a:pPr indent="-228600" lvl="0" marL="228600" rtl="0" algn="l">
              <a:lnSpc>
                <a:spcPct val="90000"/>
              </a:lnSpc>
              <a:spcBef>
                <a:spcPts val="1000"/>
              </a:spcBef>
              <a:spcAft>
                <a:spcPts val="0"/>
              </a:spcAft>
              <a:buClr>
                <a:schemeClr val="dk1"/>
              </a:buClr>
              <a:buSzPts val="3200"/>
              <a:buChar char="•"/>
            </a:pPr>
            <a:r>
              <a:rPr b="1" lang="en-US" sz="3200"/>
              <a:t>Why not just use quicksort in main memory??</a:t>
            </a:r>
            <a:endParaRPr/>
          </a:p>
          <a:p>
            <a:pPr indent="-228600" lvl="1" marL="685800" rtl="0" algn="l">
              <a:lnSpc>
                <a:spcPct val="90000"/>
              </a:lnSpc>
              <a:spcBef>
                <a:spcPts val="500"/>
              </a:spcBef>
              <a:spcAft>
                <a:spcPts val="0"/>
              </a:spcAft>
              <a:buClr>
                <a:schemeClr val="dk1"/>
              </a:buClr>
              <a:buSzPts val="2800"/>
              <a:buChar char="•"/>
            </a:pPr>
            <a:r>
              <a:rPr lang="en-US" sz="2800"/>
              <a:t>What about if we need to sort 1TB of data with 1GB of RAM…</a:t>
            </a:r>
            <a:endParaRPr/>
          </a:p>
        </p:txBody>
      </p:sp>
      <p:sp>
        <p:nvSpPr>
          <p:cNvPr id="1554" name="Google Shape;1554;p87"/>
          <p:cNvSpPr txBox="1"/>
          <p:nvPr/>
        </p:nvSpPr>
        <p:spPr>
          <a:xfrm>
            <a:off x="2540987" y="5525513"/>
            <a:ext cx="7110026" cy="584775"/>
          </a:xfrm>
          <a:prstGeom prst="rect">
            <a:avLst/>
          </a:prstGeom>
          <a:solidFill>
            <a:srgbClr val="E1EFD8"/>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rgbClr val="000000"/>
                </a:solidFill>
                <a:latin typeface="Calibri"/>
                <a:ea typeface="Calibri"/>
                <a:cs typeface="Calibri"/>
                <a:sym typeface="Calibri"/>
              </a:rPr>
              <a:t>A classic problem in computer science!</a:t>
            </a:r>
            <a:endParaRPr/>
          </a:p>
        </p:txBody>
      </p:sp>
      <p:grpSp>
        <p:nvGrpSpPr>
          <p:cNvPr id="1555" name="Google Shape;1555;p87"/>
          <p:cNvGrpSpPr/>
          <p:nvPr/>
        </p:nvGrpSpPr>
        <p:grpSpPr>
          <a:xfrm>
            <a:off x="0" y="-22510"/>
            <a:ext cx="12192000" cy="307777"/>
            <a:chOff x="0" y="-22510"/>
            <a:chExt cx="12192000" cy="307777"/>
          </a:xfrm>
        </p:grpSpPr>
        <p:sp>
          <p:nvSpPr>
            <p:cNvPr id="1556" name="Google Shape;1556;p87"/>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557" name="Google Shape;1557;p87"/>
            <p:cNvSpPr txBox="1"/>
            <p:nvPr/>
          </p:nvSpPr>
          <p:spPr>
            <a:xfrm>
              <a:off x="188780" y="-22510"/>
              <a:ext cx="170142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  External Merge Sort</a:t>
              </a:r>
              <a:endParaRPr/>
            </a:p>
          </p:txBody>
        </p:sp>
      </p:grpSp>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1" name="Shape 1561"/>
        <p:cNvGrpSpPr/>
        <p:nvPr/>
      </p:nvGrpSpPr>
      <p:grpSpPr>
        <a:xfrm>
          <a:off x="0" y="0"/>
          <a:ext cx="0" cy="0"/>
          <a:chOff x="0" y="0"/>
          <a:chExt cx="0" cy="0"/>
        </a:xfrm>
      </p:grpSpPr>
      <p:sp>
        <p:nvSpPr>
          <p:cNvPr id="1562" name="Google Shape;1562;p8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More reasons to sort…</a:t>
            </a:r>
            <a:endParaRPr/>
          </a:p>
        </p:txBody>
      </p:sp>
      <p:sp>
        <p:nvSpPr>
          <p:cNvPr id="1563" name="Google Shape;1563;p88"/>
          <p:cNvSpPr txBox="1"/>
          <p:nvPr>
            <p:ph idx="1" type="body"/>
          </p:nvPr>
        </p:nvSpPr>
        <p:spPr>
          <a:xfrm>
            <a:off x="838200" y="1825625"/>
            <a:ext cx="8083731"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Char char="•"/>
            </a:pPr>
            <a:r>
              <a:rPr lang="en-US" sz="3200"/>
              <a:t>Sorting useful for eliminating </a:t>
            </a:r>
            <a:r>
              <a:rPr i="1" lang="en-US" sz="3200"/>
              <a:t>duplicate copies </a:t>
            </a:r>
            <a:r>
              <a:rPr lang="en-US" sz="3200"/>
              <a:t>in a collection of records (Why?)</a:t>
            </a:r>
            <a:endParaRPr/>
          </a:p>
          <a:p>
            <a:pPr indent="-25400" lvl="0" marL="228600" rtl="0" algn="l">
              <a:lnSpc>
                <a:spcPct val="90000"/>
              </a:lnSpc>
              <a:spcBef>
                <a:spcPts val="1000"/>
              </a:spcBef>
              <a:spcAft>
                <a:spcPts val="0"/>
              </a:spcAft>
              <a:buClr>
                <a:schemeClr val="dk1"/>
              </a:buClr>
              <a:buSzPts val="3200"/>
              <a:buNone/>
            </a:pPr>
            <a:r>
              <a:t/>
            </a:r>
            <a:endParaRPr sz="3200"/>
          </a:p>
          <a:p>
            <a:pPr indent="-228600" lvl="0" marL="228600" rtl="0" algn="l">
              <a:lnSpc>
                <a:spcPct val="90000"/>
              </a:lnSpc>
              <a:spcBef>
                <a:spcPts val="1000"/>
              </a:spcBef>
              <a:spcAft>
                <a:spcPts val="0"/>
              </a:spcAft>
              <a:buClr>
                <a:schemeClr val="dk1"/>
              </a:buClr>
              <a:buSzPts val="3200"/>
              <a:buChar char="•"/>
            </a:pPr>
            <a:r>
              <a:rPr lang="en-US" sz="3200"/>
              <a:t>Sorting is first step in </a:t>
            </a:r>
            <a:r>
              <a:rPr i="1" lang="en-US" sz="3200"/>
              <a:t>bulk loading </a:t>
            </a:r>
            <a:r>
              <a:rPr lang="en-US" sz="3200"/>
              <a:t>B+ tree index.</a:t>
            </a:r>
            <a:endParaRPr/>
          </a:p>
          <a:p>
            <a:pPr indent="0" lvl="0" marL="0" rtl="0" algn="l">
              <a:lnSpc>
                <a:spcPct val="90000"/>
              </a:lnSpc>
              <a:spcBef>
                <a:spcPts val="1000"/>
              </a:spcBef>
              <a:spcAft>
                <a:spcPts val="0"/>
              </a:spcAft>
              <a:buClr>
                <a:schemeClr val="dk1"/>
              </a:buClr>
              <a:buSzPts val="3200"/>
              <a:buNone/>
            </a:pPr>
            <a:r>
              <a:t/>
            </a:r>
            <a:endParaRPr sz="3200"/>
          </a:p>
          <a:p>
            <a:pPr indent="-25400" lvl="0" marL="228600" rtl="0" algn="l">
              <a:lnSpc>
                <a:spcPct val="90000"/>
              </a:lnSpc>
              <a:spcBef>
                <a:spcPts val="1000"/>
              </a:spcBef>
              <a:spcAft>
                <a:spcPts val="0"/>
              </a:spcAft>
              <a:buClr>
                <a:schemeClr val="dk1"/>
              </a:buClr>
              <a:buSzPts val="3200"/>
              <a:buNone/>
            </a:pPr>
            <a:r>
              <a:t/>
            </a:r>
            <a:endParaRPr i="1" sz="3200"/>
          </a:p>
          <a:p>
            <a:pPr indent="-228600" lvl="0" marL="228600" rtl="0" algn="l">
              <a:lnSpc>
                <a:spcPct val="90000"/>
              </a:lnSpc>
              <a:spcBef>
                <a:spcPts val="1000"/>
              </a:spcBef>
              <a:spcAft>
                <a:spcPts val="0"/>
              </a:spcAft>
              <a:buClr>
                <a:schemeClr val="dk1"/>
              </a:buClr>
              <a:buSzPts val="3200"/>
              <a:buChar char="•"/>
            </a:pPr>
            <a:r>
              <a:rPr i="1" lang="en-US" sz="3200"/>
              <a:t>Sort-merge</a:t>
            </a:r>
            <a:r>
              <a:rPr lang="en-US" sz="3200"/>
              <a:t> join algorithm involves sorting</a:t>
            </a:r>
            <a:endParaRPr/>
          </a:p>
        </p:txBody>
      </p:sp>
      <p:sp>
        <p:nvSpPr>
          <p:cNvPr id="1564" name="Google Shape;1564;p88"/>
          <p:cNvSpPr txBox="1"/>
          <p:nvPr/>
        </p:nvSpPr>
        <p:spPr>
          <a:xfrm>
            <a:off x="8921931" y="4472493"/>
            <a:ext cx="2736407" cy="584775"/>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i="1" lang="en-US" sz="3200">
                <a:solidFill>
                  <a:srgbClr val="000000"/>
                </a:solidFill>
                <a:latin typeface="Calibri"/>
                <a:ea typeface="Calibri"/>
                <a:cs typeface="Calibri"/>
                <a:sym typeface="Calibri"/>
              </a:rPr>
              <a:t>Next lectures</a:t>
            </a:r>
            <a:endParaRPr/>
          </a:p>
        </p:txBody>
      </p:sp>
      <p:grpSp>
        <p:nvGrpSpPr>
          <p:cNvPr id="1565" name="Google Shape;1565;p88"/>
          <p:cNvGrpSpPr/>
          <p:nvPr/>
        </p:nvGrpSpPr>
        <p:grpSpPr>
          <a:xfrm>
            <a:off x="0" y="-22510"/>
            <a:ext cx="12192000" cy="307777"/>
            <a:chOff x="0" y="-22510"/>
            <a:chExt cx="12192000" cy="307777"/>
          </a:xfrm>
        </p:grpSpPr>
        <p:sp>
          <p:nvSpPr>
            <p:cNvPr id="1566" name="Google Shape;1566;p88"/>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567" name="Google Shape;1567;p88"/>
            <p:cNvSpPr txBox="1"/>
            <p:nvPr/>
          </p:nvSpPr>
          <p:spPr>
            <a:xfrm>
              <a:off x="188780" y="-22510"/>
              <a:ext cx="170142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  External Merge Sort</a:t>
              </a:r>
              <a:endParaRPr/>
            </a:p>
          </p:txBody>
        </p:sp>
      </p:grpSp>
      <p:sp>
        <p:nvSpPr>
          <p:cNvPr id="1568" name="Google Shape;1568;p88"/>
          <p:cNvSpPr/>
          <p:nvPr/>
        </p:nvSpPr>
        <p:spPr>
          <a:xfrm>
            <a:off x="8229600" y="3352800"/>
            <a:ext cx="501445" cy="2824163"/>
          </a:xfrm>
          <a:prstGeom prst="rightBrace">
            <a:avLst>
              <a:gd fmla="val 8333" name="adj1"/>
              <a:gd fmla="val 50000" name="adj2"/>
            </a:avLst>
          </a:prstGeom>
          <a:noFill/>
          <a:ln cap="flat" cmpd="sng" w="254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2" name="Shape 1572"/>
        <p:cNvGrpSpPr/>
        <p:nvPr/>
      </p:nvGrpSpPr>
      <p:grpSpPr>
        <a:xfrm>
          <a:off x="0" y="0"/>
          <a:ext cx="0" cy="0"/>
          <a:chOff x="0" y="0"/>
          <a:chExt cx="0" cy="0"/>
        </a:xfrm>
      </p:grpSpPr>
      <p:sp>
        <p:nvSpPr>
          <p:cNvPr id="1573" name="Google Shape;1573;p8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Do people care?</a:t>
            </a:r>
            <a:endParaRPr/>
          </a:p>
        </p:txBody>
      </p:sp>
      <p:pic>
        <p:nvPicPr>
          <p:cNvPr id="1574" name="Google Shape;1574;p89"/>
          <p:cNvPicPr preferRelativeResize="0"/>
          <p:nvPr/>
        </p:nvPicPr>
        <p:blipFill rotWithShape="1">
          <a:blip r:embed="rId3">
            <a:alphaModFix/>
          </a:blip>
          <a:srcRect b="0" l="0" r="0" t="0"/>
          <a:stretch/>
        </p:blipFill>
        <p:spPr>
          <a:xfrm>
            <a:off x="5023601" y="2391087"/>
            <a:ext cx="2032000" cy="3403600"/>
          </a:xfrm>
          <a:prstGeom prst="rect">
            <a:avLst/>
          </a:prstGeom>
          <a:noFill/>
          <a:ln>
            <a:noFill/>
          </a:ln>
        </p:spPr>
      </p:pic>
      <p:sp>
        <p:nvSpPr>
          <p:cNvPr id="1575" name="Google Shape;1575;p89"/>
          <p:cNvSpPr txBox="1"/>
          <p:nvPr/>
        </p:nvSpPr>
        <p:spPr>
          <a:xfrm>
            <a:off x="3561743" y="6126163"/>
            <a:ext cx="4784265" cy="523220"/>
          </a:xfrm>
          <a:prstGeom prst="rect">
            <a:avLst/>
          </a:prstGeom>
          <a:solidFill>
            <a:srgbClr val="DDEAF6"/>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rgbClr val="000000"/>
                </a:solidFill>
                <a:latin typeface="Calibri"/>
                <a:ea typeface="Calibri"/>
                <a:cs typeface="Calibri"/>
                <a:sym typeface="Calibri"/>
              </a:rPr>
              <a:t>Sort benchmark bears his name</a:t>
            </a:r>
            <a:endParaRPr/>
          </a:p>
        </p:txBody>
      </p:sp>
      <p:sp>
        <p:nvSpPr>
          <p:cNvPr id="1576" name="Google Shape;1576;p89"/>
          <p:cNvSpPr txBox="1"/>
          <p:nvPr/>
        </p:nvSpPr>
        <p:spPr>
          <a:xfrm>
            <a:off x="2809876" y="1417639"/>
            <a:ext cx="6365874" cy="138499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u="sng">
                <a:solidFill>
                  <a:schemeClr val="hlink"/>
                </a:solidFill>
                <a:latin typeface="Calibri"/>
                <a:ea typeface="Calibri"/>
                <a:cs typeface="Calibri"/>
                <a:sym typeface="Calibri"/>
                <a:hlinkClick r:id="rId4"/>
              </a:rPr>
              <a:t>http://sortbenchmark.org</a:t>
            </a:r>
            <a:endParaRPr sz="2800">
              <a:solidFill>
                <a:srgbClr val="000000"/>
              </a:solidFill>
              <a:latin typeface="Calibri"/>
              <a:ea typeface="Calibri"/>
              <a:cs typeface="Calibri"/>
              <a:sym typeface="Calibri"/>
            </a:endParaRPr>
          </a:p>
          <a:p>
            <a:pPr indent="0" lvl="0" marL="0" marR="0" rtl="0" algn="ctr">
              <a:spcBef>
                <a:spcPts val="0"/>
              </a:spcBef>
              <a:spcAft>
                <a:spcPts val="0"/>
              </a:spcAft>
              <a:buNone/>
            </a:pPr>
            <a:r>
              <a:t/>
            </a:r>
            <a:endParaRPr sz="2800">
              <a:solidFill>
                <a:srgbClr val="000000"/>
              </a:solidFill>
              <a:latin typeface="Calibri"/>
              <a:ea typeface="Calibri"/>
              <a:cs typeface="Calibri"/>
              <a:sym typeface="Calibri"/>
            </a:endParaRPr>
          </a:p>
          <a:p>
            <a:pPr indent="0" lvl="0" marL="0" marR="0" rtl="0" algn="ctr">
              <a:spcBef>
                <a:spcPts val="0"/>
              </a:spcBef>
              <a:spcAft>
                <a:spcPts val="0"/>
              </a:spcAft>
              <a:buNone/>
            </a:pPr>
            <a:r>
              <a:t/>
            </a:r>
            <a:endParaRPr sz="2800">
              <a:solidFill>
                <a:srgbClr val="000000"/>
              </a:solidFill>
              <a:latin typeface="Calibri"/>
              <a:ea typeface="Calibri"/>
              <a:cs typeface="Calibri"/>
              <a:sym typeface="Calibri"/>
            </a:endParaRPr>
          </a:p>
        </p:txBody>
      </p:sp>
      <p:grpSp>
        <p:nvGrpSpPr>
          <p:cNvPr id="1577" name="Google Shape;1577;p89"/>
          <p:cNvGrpSpPr/>
          <p:nvPr/>
        </p:nvGrpSpPr>
        <p:grpSpPr>
          <a:xfrm>
            <a:off x="0" y="-22510"/>
            <a:ext cx="12192000" cy="307777"/>
            <a:chOff x="0" y="-22510"/>
            <a:chExt cx="12192000" cy="307777"/>
          </a:xfrm>
        </p:grpSpPr>
        <p:sp>
          <p:nvSpPr>
            <p:cNvPr id="1578" name="Google Shape;1578;p89"/>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579" name="Google Shape;1579;p89"/>
            <p:cNvSpPr txBox="1"/>
            <p:nvPr/>
          </p:nvSpPr>
          <p:spPr>
            <a:xfrm>
              <a:off x="188780" y="-22510"/>
              <a:ext cx="170142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  External Merge Sort</a:t>
              </a:r>
              <a:endParaRPr/>
            </a:p>
          </p:txBody>
        </p:sp>
      </p:gr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3" name="Shape 1583"/>
        <p:cNvGrpSpPr/>
        <p:nvPr/>
      </p:nvGrpSpPr>
      <p:grpSpPr>
        <a:xfrm>
          <a:off x="0" y="0"/>
          <a:ext cx="0" cy="0"/>
          <a:chOff x="0" y="0"/>
          <a:chExt cx="0" cy="0"/>
        </a:xfrm>
      </p:grpSpPr>
      <p:sp>
        <p:nvSpPr>
          <p:cNvPr id="1584" name="Google Shape;1584;p9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So how do we sort big files?</a:t>
            </a:r>
            <a:endParaRPr/>
          </a:p>
        </p:txBody>
      </p:sp>
      <p:sp>
        <p:nvSpPr>
          <p:cNvPr id="1585" name="Google Shape;1585;p9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chemeClr val="dk1"/>
              </a:buClr>
              <a:buSzPts val="2800"/>
              <a:buFont typeface="Calibri"/>
              <a:buAutoNum type="arabicPeriod"/>
            </a:pPr>
            <a:r>
              <a:rPr lang="en-US"/>
              <a:t>Split into chunks small enough to </a:t>
            </a:r>
            <a:r>
              <a:rPr b="1" lang="en-US"/>
              <a:t>sort in memory </a:t>
            </a:r>
            <a:r>
              <a:rPr b="1" i="1" lang="en-US"/>
              <a:t>(“runs”)</a:t>
            </a:r>
            <a:endParaRPr/>
          </a:p>
          <a:p>
            <a:pPr indent="-336550" lvl="0" marL="514350" rtl="0" algn="l">
              <a:lnSpc>
                <a:spcPct val="90000"/>
              </a:lnSpc>
              <a:spcBef>
                <a:spcPts val="1000"/>
              </a:spcBef>
              <a:spcAft>
                <a:spcPts val="0"/>
              </a:spcAft>
              <a:buClr>
                <a:schemeClr val="dk1"/>
              </a:buClr>
              <a:buSzPts val="2800"/>
              <a:buFont typeface="Calibri"/>
              <a:buNone/>
            </a:pPr>
            <a:r>
              <a:t/>
            </a:r>
            <a:endParaRPr/>
          </a:p>
          <a:p>
            <a:pPr indent="-514350" lvl="0" marL="514350" rtl="0" algn="l">
              <a:lnSpc>
                <a:spcPct val="90000"/>
              </a:lnSpc>
              <a:spcBef>
                <a:spcPts val="1000"/>
              </a:spcBef>
              <a:spcAft>
                <a:spcPts val="0"/>
              </a:spcAft>
              <a:buClr>
                <a:schemeClr val="dk1"/>
              </a:buClr>
              <a:buSzPts val="2800"/>
              <a:buFont typeface="Calibri"/>
              <a:buAutoNum type="arabicPeriod"/>
            </a:pPr>
            <a:r>
              <a:rPr b="1" lang="en-US"/>
              <a:t>Merge</a:t>
            </a:r>
            <a:r>
              <a:rPr lang="en-US"/>
              <a:t> pairs (or groups) of runs </a:t>
            </a:r>
            <a:r>
              <a:rPr b="1" i="1" lang="en-US"/>
              <a:t>using the external merge algorithm</a:t>
            </a:r>
            <a:endParaRPr/>
          </a:p>
          <a:p>
            <a:pPr indent="-336550" lvl="0" marL="514350" rtl="0" algn="l">
              <a:lnSpc>
                <a:spcPct val="90000"/>
              </a:lnSpc>
              <a:spcBef>
                <a:spcPts val="1000"/>
              </a:spcBef>
              <a:spcAft>
                <a:spcPts val="0"/>
              </a:spcAft>
              <a:buClr>
                <a:schemeClr val="dk1"/>
              </a:buClr>
              <a:buSzPts val="2800"/>
              <a:buFont typeface="Calibri"/>
              <a:buNone/>
            </a:pPr>
            <a:r>
              <a:t/>
            </a:r>
            <a:endParaRPr b="1" i="1"/>
          </a:p>
          <a:p>
            <a:pPr indent="-514350" lvl="0" marL="514350" rtl="0" algn="l">
              <a:lnSpc>
                <a:spcPct val="90000"/>
              </a:lnSpc>
              <a:spcBef>
                <a:spcPts val="1000"/>
              </a:spcBef>
              <a:spcAft>
                <a:spcPts val="0"/>
              </a:spcAft>
              <a:buClr>
                <a:schemeClr val="dk1"/>
              </a:buClr>
              <a:buSzPts val="2800"/>
              <a:buFont typeface="Calibri"/>
              <a:buAutoNum type="arabicPeriod"/>
            </a:pPr>
            <a:r>
              <a:rPr b="1" lang="en-US"/>
              <a:t>Keep merging</a:t>
            </a:r>
            <a:r>
              <a:rPr lang="en-US"/>
              <a:t> the resulting runs </a:t>
            </a:r>
            <a:r>
              <a:rPr b="1" i="1" lang="en-US"/>
              <a:t>(each time = a “pass”) </a:t>
            </a:r>
            <a:r>
              <a:rPr lang="en-US"/>
              <a:t>until left with one sorted file!</a:t>
            </a:r>
            <a:endParaRPr b="1" i="1"/>
          </a:p>
          <a:p>
            <a:pPr indent="0" lvl="0" marL="0" rtl="0" algn="l">
              <a:lnSpc>
                <a:spcPct val="90000"/>
              </a:lnSpc>
              <a:spcBef>
                <a:spcPts val="1000"/>
              </a:spcBef>
              <a:spcAft>
                <a:spcPts val="0"/>
              </a:spcAft>
              <a:buClr>
                <a:schemeClr val="dk1"/>
              </a:buClr>
              <a:buSzPts val="2800"/>
              <a:buNone/>
            </a:pPr>
            <a:r>
              <a:t/>
            </a:r>
            <a:endParaRPr/>
          </a:p>
        </p:txBody>
      </p:sp>
      <p:grpSp>
        <p:nvGrpSpPr>
          <p:cNvPr id="1586" name="Google Shape;1586;p90"/>
          <p:cNvGrpSpPr/>
          <p:nvPr/>
        </p:nvGrpSpPr>
        <p:grpSpPr>
          <a:xfrm>
            <a:off x="0" y="-22510"/>
            <a:ext cx="12192000" cy="307777"/>
            <a:chOff x="0" y="-22510"/>
            <a:chExt cx="12192000" cy="307777"/>
          </a:xfrm>
        </p:grpSpPr>
        <p:sp>
          <p:nvSpPr>
            <p:cNvPr id="1587" name="Google Shape;1587;p90"/>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588" name="Google Shape;1588;p90"/>
            <p:cNvSpPr txBox="1"/>
            <p:nvPr/>
          </p:nvSpPr>
          <p:spPr>
            <a:xfrm>
              <a:off x="188780" y="-22510"/>
              <a:ext cx="170142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  External Merge Sort</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5">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2" name="Shape 1592"/>
        <p:cNvGrpSpPr/>
        <p:nvPr/>
      </p:nvGrpSpPr>
      <p:grpSpPr>
        <a:xfrm>
          <a:off x="0" y="0"/>
          <a:ext cx="0" cy="0"/>
          <a:chOff x="0" y="0"/>
          <a:chExt cx="0" cy="0"/>
        </a:xfrm>
      </p:grpSpPr>
      <p:sp>
        <p:nvSpPr>
          <p:cNvPr id="1593" name="Google Shape;1593;p91"/>
          <p:cNvSpPr/>
          <p:nvPr/>
        </p:nvSpPr>
        <p:spPr>
          <a:xfrm>
            <a:off x="2600324" y="2086678"/>
            <a:ext cx="3457575" cy="2556877"/>
          </a:xfrm>
          <a:prstGeom prst="can">
            <a:avLst>
              <a:gd fmla="val 13065"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1594" name="Google Shape;1594;p9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External Merge Sort Algorithm</a:t>
            </a:r>
            <a:endParaRPr/>
          </a:p>
        </p:txBody>
      </p:sp>
      <p:sp>
        <p:nvSpPr>
          <p:cNvPr id="1595" name="Google Shape;1595;p91"/>
          <p:cNvSpPr/>
          <p:nvPr/>
        </p:nvSpPr>
        <p:spPr>
          <a:xfrm>
            <a:off x="2699249" y="2851021"/>
            <a:ext cx="3296832" cy="1295940"/>
          </a:xfrm>
          <a:prstGeom prst="roundRect">
            <a:avLst>
              <a:gd fmla="val 16667" name="adj"/>
            </a:avLst>
          </a:prstGeom>
          <a:solidFill>
            <a:srgbClr val="FBE4D4"/>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96" name="Google Shape;1596;p91"/>
          <p:cNvSpPr txBox="1"/>
          <p:nvPr/>
        </p:nvSpPr>
        <p:spPr>
          <a:xfrm>
            <a:off x="3874072" y="3655364"/>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27,24</a:t>
            </a:r>
            <a:endParaRPr/>
          </a:p>
        </p:txBody>
      </p:sp>
      <p:sp>
        <p:nvSpPr>
          <p:cNvPr id="1597" name="Google Shape;1597;p91"/>
          <p:cNvSpPr txBox="1"/>
          <p:nvPr/>
        </p:nvSpPr>
        <p:spPr>
          <a:xfrm>
            <a:off x="4903217" y="3655364"/>
            <a:ext cx="95413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3,1</a:t>
            </a:r>
            <a:endParaRPr/>
          </a:p>
        </p:txBody>
      </p:sp>
      <p:sp>
        <p:nvSpPr>
          <p:cNvPr id="1598" name="Google Shape;1598;p91"/>
          <p:cNvSpPr txBox="1"/>
          <p:nvPr/>
        </p:nvSpPr>
        <p:spPr>
          <a:xfrm>
            <a:off x="182898" y="1734844"/>
            <a:ext cx="2295585"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Example:</a:t>
            </a:r>
            <a:endParaRPr/>
          </a:p>
          <a:p>
            <a:pPr indent="-342900" lvl="0" marL="342900" marR="0" rtl="0" algn="l">
              <a:spcBef>
                <a:spcPts val="0"/>
              </a:spcBef>
              <a:spcAft>
                <a:spcPts val="0"/>
              </a:spcAft>
              <a:buClr>
                <a:schemeClr val="dk1"/>
              </a:buClr>
              <a:buSzPts val="2400"/>
              <a:buFont typeface="Arial"/>
              <a:buChar char="•"/>
            </a:pPr>
            <a:r>
              <a:rPr b="1" lang="en-US" sz="2400">
                <a:solidFill>
                  <a:schemeClr val="dk1"/>
                </a:solidFill>
                <a:latin typeface="Calibri"/>
                <a:ea typeface="Calibri"/>
                <a:cs typeface="Calibri"/>
                <a:sym typeface="Calibri"/>
              </a:rPr>
              <a:t>3 Buffer pages</a:t>
            </a:r>
            <a:endParaRPr/>
          </a:p>
          <a:p>
            <a:pPr indent="-342900" lvl="0" marL="342900" marR="0" rtl="0" algn="l">
              <a:spcBef>
                <a:spcPts val="0"/>
              </a:spcBef>
              <a:spcAft>
                <a:spcPts val="0"/>
              </a:spcAft>
              <a:buClr>
                <a:schemeClr val="dk1"/>
              </a:buClr>
              <a:buSzPts val="2400"/>
              <a:buFont typeface="Arial"/>
              <a:buChar char="•"/>
            </a:pPr>
            <a:r>
              <a:rPr b="1" lang="en-US" sz="2400">
                <a:solidFill>
                  <a:schemeClr val="dk1"/>
                </a:solidFill>
                <a:latin typeface="Calibri"/>
                <a:ea typeface="Calibri"/>
                <a:cs typeface="Calibri"/>
                <a:sym typeface="Calibri"/>
              </a:rPr>
              <a:t>6-page file</a:t>
            </a:r>
            <a:endParaRPr/>
          </a:p>
        </p:txBody>
      </p:sp>
      <p:sp>
        <p:nvSpPr>
          <p:cNvPr id="1599" name="Google Shape;1599;p91"/>
          <p:cNvSpPr txBox="1"/>
          <p:nvPr/>
        </p:nvSpPr>
        <p:spPr>
          <a:xfrm>
            <a:off x="3799034" y="1691924"/>
            <a:ext cx="88617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Disk</a:t>
            </a:r>
            <a:endParaRPr sz="3200">
              <a:solidFill>
                <a:schemeClr val="dk1"/>
              </a:solidFill>
              <a:latin typeface="Calibri"/>
              <a:ea typeface="Calibri"/>
              <a:cs typeface="Calibri"/>
              <a:sym typeface="Calibri"/>
            </a:endParaRPr>
          </a:p>
        </p:txBody>
      </p:sp>
      <p:grpSp>
        <p:nvGrpSpPr>
          <p:cNvPr id="1600" name="Google Shape;1600;p91"/>
          <p:cNvGrpSpPr/>
          <p:nvPr/>
        </p:nvGrpSpPr>
        <p:grpSpPr>
          <a:xfrm>
            <a:off x="7474137" y="1690688"/>
            <a:ext cx="4259923" cy="2456273"/>
            <a:chOff x="7403799" y="1406844"/>
            <a:chExt cx="4259923" cy="2456273"/>
          </a:xfrm>
        </p:grpSpPr>
        <p:grpSp>
          <p:nvGrpSpPr>
            <p:cNvPr id="1601" name="Google Shape;1601;p91"/>
            <p:cNvGrpSpPr/>
            <p:nvPr/>
          </p:nvGrpSpPr>
          <p:grpSpPr>
            <a:xfrm>
              <a:off x="7403799" y="1406844"/>
              <a:ext cx="4259923" cy="2456273"/>
              <a:chOff x="7466322" y="1027906"/>
              <a:chExt cx="4259923" cy="2456273"/>
            </a:xfrm>
          </p:grpSpPr>
          <p:sp>
            <p:nvSpPr>
              <p:cNvPr id="1602" name="Google Shape;1602;p91"/>
              <p:cNvSpPr/>
              <p:nvPr/>
            </p:nvSpPr>
            <p:spPr>
              <a:xfrm>
                <a:off x="7466322" y="1027906"/>
                <a:ext cx="4252691" cy="2440508"/>
              </a:xfrm>
              <a:prstGeom prst="rect">
                <a:avLst/>
              </a:prstGeom>
              <a:solidFill>
                <a:srgbClr val="FFF2CC"/>
              </a:solidFill>
              <a:ln cap="flat" cmpd="sng" w="9525">
                <a:solidFill>
                  <a:srgbClr val="7F7F7F"/>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0">
                  <a:solidFill>
                    <a:schemeClr val="dk1"/>
                  </a:solidFill>
                  <a:latin typeface="Calibri"/>
                  <a:ea typeface="Calibri"/>
                  <a:cs typeface="Calibri"/>
                  <a:sym typeface="Calibri"/>
                </a:endParaRPr>
              </a:p>
            </p:txBody>
          </p:sp>
          <p:sp>
            <p:nvSpPr>
              <p:cNvPr id="1603" name="Google Shape;1603;p91"/>
              <p:cNvSpPr/>
              <p:nvPr/>
            </p:nvSpPr>
            <p:spPr>
              <a:xfrm>
                <a:off x="7769912" y="1969081"/>
                <a:ext cx="3956333" cy="1515098"/>
              </a:xfrm>
              <a:prstGeom prst="rect">
                <a:avLst/>
              </a:prstGeom>
              <a:solidFill>
                <a:srgbClr val="B3C6E7"/>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1604" name="Google Shape;1604;p91"/>
              <p:cNvSpPr txBox="1"/>
              <p:nvPr/>
            </p:nvSpPr>
            <p:spPr>
              <a:xfrm>
                <a:off x="7624243" y="1210562"/>
                <a:ext cx="196842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Main Memory</a:t>
                </a:r>
                <a:endParaRPr/>
              </a:p>
            </p:txBody>
          </p:sp>
          <p:sp>
            <p:nvSpPr>
              <p:cNvPr id="1605" name="Google Shape;1605;p91"/>
              <p:cNvSpPr txBox="1"/>
              <p:nvPr/>
            </p:nvSpPr>
            <p:spPr>
              <a:xfrm>
                <a:off x="7836450" y="1989610"/>
                <a:ext cx="95359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Buffer</a:t>
                </a:r>
                <a:endParaRPr/>
              </a:p>
            </p:txBody>
          </p:sp>
        </p:grpSp>
        <p:sp>
          <p:nvSpPr>
            <p:cNvPr id="1606" name="Google Shape;1606;p91"/>
            <p:cNvSpPr/>
            <p:nvPr/>
          </p:nvSpPr>
          <p:spPr>
            <a:xfrm>
              <a:off x="7843740"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07" name="Google Shape;1607;p91"/>
            <p:cNvSpPr/>
            <p:nvPr/>
          </p:nvSpPr>
          <p:spPr>
            <a:xfrm>
              <a:off x="9055124"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08" name="Google Shape;1608;p91"/>
            <p:cNvSpPr/>
            <p:nvPr/>
          </p:nvSpPr>
          <p:spPr>
            <a:xfrm>
              <a:off x="10266508"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609" name="Google Shape;1609;p91"/>
          <p:cNvSpPr/>
          <p:nvPr/>
        </p:nvSpPr>
        <p:spPr>
          <a:xfrm>
            <a:off x="6187074" y="3205895"/>
            <a:ext cx="1461477"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10" name="Google Shape;1610;p91"/>
          <p:cNvSpPr/>
          <p:nvPr/>
        </p:nvSpPr>
        <p:spPr>
          <a:xfrm rot="10800000">
            <a:off x="6187073" y="3657050"/>
            <a:ext cx="1461478"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11" name="Google Shape;1611;p91"/>
          <p:cNvSpPr txBox="1"/>
          <p:nvPr/>
        </p:nvSpPr>
        <p:spPr>
          <a:xfrm>
            <a:off x="2844927" y="3655364"/>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18,22</a:t>
            </a:r>
            <a:endParaRPr/>
          </a:p>
        </p:txBody>
      </p:sp>
      <p:sp>
        <p:nvSpPr>
          <p:cNvPr id="1612" name="Google Shape;1612;p91"/>
          <p:cNvSpPr txBox="1"/>
          <p:nvPr/>
        </p:nvSpPr>
        <p:spPr>
          <a:xfrm>
            <a:off x="2216639" y="3314325"/>
            <a:ext cx="29046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endParaRPr b="1" baseline="-25000" sz="1800">
              <a:solidFill>
                <a:schemeClr val="dk1"/>
              </a:solidFill>
              <a:latin typeface="Calibri"/>
              <a:ea typeface="Calibri"/>
              <a:cs typeface="Calibri"/>
              <a:sym typeface="Calibri"/>
            </a:endParaRPr>
          </a:p>
        </p:txBody>
      </p:sp>
      <p:grpSp>
        <p:nvGrpSpPr>
          <p:cNvPr id="1613" name="Google Shape;1613;p91"/>
          <p:cNvGrpSpPr/>
          <p:nvPr/>
        </p:nvGrpSpPr>
        <p:grpSpPr>
          <a:xfrm>
            <a:off x="2844928" y="2929564"/>
            <a:ext cx="3012421" cy="400110"/>
            <a:chOff x="2844928" y="2635940"/>
            <a:chExt cx="3012421" cy="400110"/>
          </a:xfrm>
        </p:grpSpPr>
        <p:sp>
          <p:nvSpPr>
            <p:cNvPr id="1614" name="Google Shape;1614;p91"/>
            <p:cNvSpPr txBox="1"/>
            <p:nvPr/>
          </p:nvSpPr>
          <p:spPr>
            <a:xfrm>
              <a:off x="3874097" y="2635940"/>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33,12</a:t>
              </a:r>
              <a:endParaRPr/>
            </a:p>
          </p:txBody>
        </p:sp>
        <p:sp>
          <p:nvSpPr>
            <p:cNvPr id="1615" name="Google Shape;1615;p91"/>
            <p:cNvSpPr txBox="1"/>
            <p:nvPr/>
          </p:nvSpPr>
          <p:spPr>
            <a:xfrm>
              <a:off x="4903242" y="2635940"/>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55,31</a:t>
              </a:r>
              <a:endParaRPr/>
            </a:p>
          </p:txBody>
        </p:sp>
        <p:sp>
          <p:nvSpPr>
            <p:cNvPr id="1616" name="Google Shape;1616;p91"/>
            <p:cNvSpPr txBox="1"/>
            <p:nvPr/>
          </p:nvSpPr>
          <p:spPr>
            <a:xfrm>
              <a:off x="2844928" y="2635940"/>
              <a:ext cx="954106"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44,10</a:t>
              </a:r>
              <a:endParaRPr/>
            </a:p>
          </p:txBody>
        </p:sp>
      </p:grpSp>
      <p:sp>
        <p:nvSpPr>
          <p:cNvPr id="1617" name="Google Shape;1617;p91"/>
          <p:cNvSpPr txBox="1"/>
          <p:nvPr>
            <p:ph idx="1" type="body"/>
          </p:nvPr>
        </p:nvSpPr>
        <p:spPr>
          <a:xfrm>
            <a:off x="1218460" y="5217877"/>
            <a:ext cx="10515600" cy="541450"/>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chemeClr val="dk1"/>
              </a:buClr>
              <a:buSzPts val="3200"/>
              <a:buFont typeface="Calibri"/>
              <a:buAutoNum type="arabicPeriod"/>
            </a:pPr>
            <a:r>
              <a:rPr lang="en-US" sz="3200"/>
              <a:t>Split into chunks small enough to </a:t>
            </a:r>
            <a:r>
              <a:rPr b="1" lang="en-US" sz="3200"/>
              <a:t>sort in memory</a:t>
            </a:r>
            <a:endParaRPr b="1" sz="3200"/>
          </a:p>
        </p:txBody>
      </p:sp>
      <p:sp>
        <p:nvSpPr>
          <p:cNvPr id="1618" name="Google Shape;1618;p91"/>
          <p:cNvSpPr txBox="1"/>
          <p:nvPr/>
        </p:nvSpPr>
        <p:spPr>
          <a:xfrm>
            <a:off x="182898" y="3603573"/>
            <a:ext cx="1631615" cy="830997"/>
          </a:xfrm>
          <a:prstGeom prst="rect">
            <a:avLst/>
          </a:prstGeom>
          <a:solidFill>
            <a:srgbClr val="FBE4D4"/>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Orange file = unsorted</a:t>
            </a:r>
            <a:endParaRPr/>
          </a:p>
        </p:txBody>
      </p:sp>
      <p:grpSp>
        <p:nvGrpSpPr>
          <p:cNvPr id="1619" name="Google Shape;1619;p91"/>
          <p:cNvGrpSpPr/>
          <p:nvPr/>
        </p:nvGrpSpPr>
        <p:grpSpPr>
          <a:xfrm>
            <a:off x="0" y="-22510"/>
            <a:ext cx="12192000" cy="307777"/>
            <a:chOff x="0" y="-22510"/>
            <a:chExt cx="12192000" cy="307777"/>
          </a:xfrm>
        </p:grpSpPr>
        <p:sp>
          <p:nvSpPr>
            <p:cNvPr id="1620" name="Google Shape;1620;p91"/>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621" name="Google Shape;1621;p91"/>
            <p:cNvSpPr txBox="1"/>
            <p:nvPr/>
          </p:nvSpPr>
          <p:spPr>
            <a:xfrm>
              <a:off x="188780" y="-22510"/>
              <a:ext cx="170142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  External Merge Sort</a:t>
              </a:r>
              <a:endParaRPr/>
            </a:p>
          </p:txBody>
        </p:sp>
      </p:gr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5" name="Shape 1625"/>
        <p:cNvGrpSpPr/>
        <p:nvPr/>
      </p:nvGrpSpPr>
      <p:grpSpPr>
        <a:xfrm>
          <a:off x="0" y="0"/>
          <a:ext cx="0" cy="0"/>
          <a:chOff x="0" y="0"/>
          <a:chExt cx="0" cy="0"/>
        </a:xfrm>
      </p:grpSpPr>
      <p:sp>
        <p:nvSpPr>
          <p:cNvPr id="1626" name="Google Shape;1626;p92"/>
          <p:cNvSpPr/>
          <p:nvPr/>
        </p:nvSpPr>
        <p:spPr>
          <a:xfrm>
            <a:off x="2600324" y="2086678"/>
            <a:ext cx="3457575" cy="2556877"/>
          </a:xfrm>
          <a:prstGeom prst="can">
            <a:avLst>
              <a:gd fmla="val 13065"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1627" name="Google Shape;1627;p92"/>
          <p:cNvSpPr/>
          <p:nvPr/>
        </p:nvSpPr>
        <p:spPr>
          <a:xfrm>
            <a:off x="2697350" y="3567917"/>
            <a:ext cx="3296832" cy="525020"/>
          </a:xfrm>
          <a:prstGeom prst="roundRect">
            <a:avLst>
              <a:gd fmla="val 16667" name="adj"/>
            </a:avLst>
          </a:prstGeom>
          <a:solidFill>
            <a:srgbClr val="FBE4D4"/>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28" name="Google Shape;1628;p9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External Merge Sort Algorithm</a:t>
            </a:r>
            <a:endParaRPr/>
          </a:p>
        </p:txBody>
      </p:sp>
      <p:sp>
        <p:nvSpPr>
          <p:cNvPr id="1629" name="Google Shape;1629;p92"/>
          <p:cNvSpPr/>
          <p:nvPr/>
        </p:nvSpPr>
        <p:spPr>
          <a:xfrm>
            <a:off x="2699249" y="2851021"/>
            <a:ext cx="3296832" cy="525020"/>
          </a:xfrm>
          <a:prstGeom prst="roundRect">
            <a:avLst>
              <a:gd fmla="val 16667" name="adj"/>
            </a:avLst>
          </a:prstGeom>
          <a:solidFill>
            <a:srgbClr val="FBE4D4"/>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30" name="Google Shape;1630;p92"/>
          <p:cNvSpPr txBox="1"/>
          <p:nvPr/>
        </p:nvSpPr>
        <p:spPr>
          <a:xfrm>
            <a:off x="3874072" y="3655364"/>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27,24</a:t>
            </a:r>
            <a:endParaRPr/>
          </a:p>
        </p:txBody>
      </p:sp>
      <p:sp>
        <p:nvSpPr>
          <p:cNvPr id="1631" name="Google Shape;1631;p92"/>
          <p:cNvSpPr txBox="1"/>
          <p:nvPr/>
        </p:nvSpPr>
        <p:spPr>
          <a:xfrm>
            <a:off x="4903217" y="3655364"/>
            <a:ext cx="95413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3,1</a:t>
            </a:r>
            <a:endParaRPr/>
          </a:p>
        </p:txBody>
      </p:sp>
      <p:sp>
        <p:nvSpPr>
          <p:cNvPr id="1632" name="Google Shape;1632;p92"/>
          <p:cNvSpPr txBox="1"/>
          <p:nvPr/>
        </p:nvSpPr>
        <p:spPr>
          <a:xfrm>
            <a:off x="3799034" y="1691924"/>
            <a:ext cx="88617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Disk</a:t>
            </a:r>
            <a:endParaRPr sz="3200">
              <a:solidFill>
                <a:schemeClr val="dk1"/>
              </a:solidFill>
              <a:latin typeface="Calibri"/>
              <a:ea typeface="Calibri"/>
              <a:cs typeface="Calibri"/>
              <a:sym typeface="Calibri"/>
            </a:endParaRPr>
          </a:p>
        </p:txBody>
      </p:sp>
      <p:grpSp>
        <p:nvGrpSpPr>
          <p:cNvPr id="1633" name="Google Shape;1633;p92"/>
          <p:cNvGrpSpPr/>
          <p:nvPr/>
        </p:nvGrpSpPr>
        <p:grpSpPr>
          <a:xfrm>
            <a:off x="7474137" y="1690688"/>
            <a:ext cx="4259923" cy="2456273"/>
            <a:chOff x="7403799" y="1406844"/>
            <a:chExt cx="4259923" cy="2456273"/>
          </a:xfrm>
        </p:grpSpPr>
        <p:grpSp>
          <p:nvGrpSpPr>
            <p:cNvPr id="1634" name="Google Shape;1634;p92"/>
            <p:cNvGrpSpPr/>
            <p:nvPr/>
          </p:nvGrpSpPr>
          <p:grpSpPr>
            <a:xfrm>
              <a:off x="7403799" y="1406844"/>
              <a:ext cx="4259923" cy="2456273"/>
              <a:chOff x="7466322" y="1027906"/>
              <a:chExt cx="4259923" cy="2456273"/>
            </a:xfrm>
          </p:grpSpPr>
          <p:sp>
            <p:nvSpPr>
              <p:cNvPr id="1635" name="Google Shape;1635;p92"/>
              <p:cNvSpPr/>
              <p:nvPr/>
            </p:nvSpPr>
            <p:spPr>
              <a:xfrm>
                <a:off x="7466322" y="1027906"/>
                <a:ext cx="4252691" cy="2440508"/>
              </a:xfrm>
              <a:prstGeom prst="rect">
                <a:avLst/>
              </a:prstGeom>
              <a:solidFill>
                <a:srgbClr val="FFF2CC"/>
              </a:solidFill>
              <a:ln cap="flat" cmpd="sng" w="9525">
                <a:solidFill>
                  <a:srgbClr val="7F7F7F"/>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0">
                  <a:solidFill>
                    <a:schemeClr val="dk1"/>
                  </a:solidFill>
                  <a:latin typeface="Calibri"/>
                  <a:ea typeface="Calibri"/>
                  <a:cs typeface="Calibri"/>
                  <a:sym typeface="Calibri"/>
                </a:endParaRPr>
              </a:p>
            </p:txBody>
          </p:sp>
          <p:sp>
            <p:nvSpPr>
              <p:cNvPr id="1636" name="Google Shape;1636;p92"/>
              <p:cNvSpPr/>
              <p:nvPr/>
            </p:nvSpPr>
            <p:spPr>
              <a:xfrm>
                <a:off x="7769912" y="1969081"/>
                <a:ext cx="3956333" cy="1515098"/>
              </a:xfrm>
              <a:prstGeom prst="rect">
                <a:avLst/>
              </a:prstGeom>
              <a:solidFill>
                <a:srgbClr val="B3C6E7"/>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1637" name="Google Shape;1637;p92"/>
              <p:cNvSpPr txBox="1"/>
              <p:nvPr/>
            </p:nvSpPr>
            <p:spPr>
              <a:xfrm>
                <a:off x="7624243" y="1210562"/>
                <a:ext cx="196842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Main Memory</a:t>
                </a:r>
                <a:endParaRPr/>
              </a:p>
            </p:txBody>
          </p:sp>
          <p:sp>
            <p:nvSpPr>
              <p:cNvPr id="1638" name="Google Shape;1638;p92"/>
              <p:cNvSpPr txBox="1"/>
              <p:nvPr/>
            </p:nvSpPr>
            <p:spPr>
              <a:xfrm>
                <a:off x="7836450" y="1989610"/>
                <a:ext cx="95359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Buffer</a:t>
                </a:r>
                <a:endParaRPr/>
              </a:p>
            </p:txBody>
          </p:sp>
        </p:grpSp>
        <p:sp>
          <p:nvSpPr>
            <p:cNvPr id="1639" name="Google Shape;1639;p92"/>
            <p:cNvSpPr/>
            <p:nvPr/>
          </p:nvSpPr>
          <p:spPr>
            <a:xfrm>
              <a:off x="7843740"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40" name="Google Shape;1640;p92"/>
            <p:cNvSpPr/>
            <p:nvPr/>
          </p:nvSpPr>
          <p:spPr>
            <a:xfrm>
              <a:off x="9055124"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41" name="Google Shape;1641;p92"/>
            <p:cNvSpPr/>
            <p:nvPr/>
          </p:nvSpPr>
          <p:spPr>
            <a:xfrm>
              <a:off x="10266508"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642" name="Google Shape;1642;p92"/>
          <p:cNvSpPr/>
          <p:nvPr/>
        </p:nvSpPr>
        <p:spPr>
          <a:xfrm>
            <a:off x="6187074" y="3205895"/>
            <a:ext cx="1461477"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43" name="Google Shape;1643;p92"/>
          <p:cNvSpPr/>
          <p:nvPr/>
        </p:nvSpPr>
        <p:spPr>
          <a:xfrm rot="10800000">
            <a:off x="6187073" y="3657050"/>
            <a:ext cx="1461478"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44" name="Google Shape;1644;p92"/>
          <p:cNvSpPr txBox="1"/>
          <p:nvPr/>
        </p:nvSpPr>
        <p:spPr>
          <a:xfrm>
            <a:off x="2844927" y="3655364"/>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18,22</a:t>
            </a:r>
            <a:endParaRPr/>
          </a:p>
        </p:txBody>
      </p:sp>
      <p:sp>
        <p:nvSpPr>
          <p:cNvPr id="1645" name="Google Shape;1645;p92"/>
          <p:cNvSpPr txBox="1"/>
          <p:nvPr/>
        </p:nvSpPr>
        <p:spPr>
          <a:xfrm>
            <a:off x="2216639" y="2966228"/>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1</a:t>
            </a:r>
            <a:endParaRPr/>
          </a:p>
        </p:txBody>
      </p:sp>
      <p:sp>
        <p:nvSpPr>
          <p:cNvPr id="1646" name="Google Shape;1646;p92"/>
          <p:cNvSpPr txBox="1"/>
          <p:nvPr/>
        </p:nvSpPr>
        <p:spPr>
          <a:xfrm>
            <a:off x="2216226" y="3655364"/>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2</a:t>
            </a:r>
            <a:endParaRPr/>
          </a:p>
        </p:txBody>
      </p:sp>
      <p:grpSp>
        <p:nvGrpSpPr>
          <p:cNvPr id="1647" name="Google Shape;1647;p92"/>
          <p:cNvGrpSpPr/>
          <p:nvPr/>
        </p:nvGrpSpPr>
        <p:grpSpPr>
          <a:xfrm>
            <a:off x="2844928" y="2929564"/>
            <a:ext cx="3012421" cy="400110"/>
            <a:chOff x="2844928" y="2635940"/>
            <a:chExt cx="3012421" cy="400110"/>
          </a:xfrm>
        </p:grpSpPr>
        <p:sp>
          <p:nvSpPr>
            <p:cNvPr id="1648" name="Google Shape;1648;p92"/>
            <p:cNvSpPr txBox="1"/>
            <p:nvPr/>
          </p:nvSpPr>
          <p:spPr>
            <a:xfrm>
              <a:off x="3874097" y="2635940"/>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33,12</a:t>
              </a:r>
              <a:endParaRPr/>
            </a:p>
          </p:txBody>
        </p:sp>
        <p:sp>
          <p:nvSpPr>
            <p:cNvPr id="1649" name="Google Shape;1649;p92"/>
            <p:cNvSpPr txBox="1"/>
            <p:nvPr/>
          </p:nvSpPr>
          <p:spPr>
            <a:xfrm>
              <a:off x="4903242" y="2635940"/>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55,31</a:t>
              </a:r>
              <a:endParaRPr/>
            </a:p>
          </p:txBody>
        </p:sp>
        <p:sp>
          <p:nvSpPr>
            <p:cNvPr id="1650" name="Google Shape;1650;p92"/>
            <p:cNvSpPr txBox="1"/>
            <p:nvPr/>
          </p:nvSpPr>
          <p:spPr>
            <a:xfrm>
              <a:off x="2844928" y="2635940"/>
              <a:ext cx="954106"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44,10</a:t>
              </a:r>
              <a:endParaRPr/>
            </a:p>
          </p:txBody>
        </p:sp>
      </p:grpSp>
      <p:sp>
        <p:nvSpPr>
          <p:cNvPr id="1651" name="Google Shape;1651;p92"/>
          <p:cNvSpPr txBox="1"/>
          <p:nvPr>
            <p:ph idx="1" type="body"/>
          </p:nvPr>
        </p:nvSpPr>
        <p:spPr>
          <a:xfrm>
            <a:off x="1218460" y="5217877"/>
            <a:ext cx="10515600" cy="541450"/>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chemeClr val="dk1"/>
              </a:buClr>
              <a:buSzPts val="3200"/>
              <a:buFont typeface="Calibri"/>
              <a:buAutoNum type="arabicPeriod"/>
            </a:pPr>
            <a:r>
              <a:rPr lang="en-US" sz="3200"/>
              <a:t>Split into chunks small enough to </a:t>
            </a:r>
            <a:r>
              <a:rPr b="1" lang="en-US" sz="3200"/>
              <a:t>sort in memory</a:t>
            </a:r>
            <a:endParaRPr b="1" sz="3200"/>
          </a:p>
        </p:txBody>
      </p:sp>
      <p:sp>
        <p:nvSpPr>
          <p:cNvPr id="1652" name="Google Shape;1652;p92"/>
          <p:cNvSpPr txBox="1"/>
          <p:nvPr/>
        </p:nvSpPr>
        <p:spPr>
          <a:xfrm>
            <a:off x="182898" y="1734844"/>
            <a:ext cx="2295585"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Example:</a:t>
            </a:r>
            <a:endParaRPr/>
          </a:p>
          <a:p>
            <a:pPr indent="-342900" lvl="0" marL="342900" marR="0" rtl="0" algn="l">
              <a:spcBef>
                <a:spcPts val="0"/>
              </a:spcBef>
              <a:spcAft>
                <a:spcPts val="0"/>
              </a:spcAft>
              <a:buClr>
                <a:schemeClr val="dk1"/>
              </a:buClr>
              <a:buSzPts val="2400"/>
              <a:buFont typeface="Arial"/>
              <a:buChar char="•"/>
            </a:pPr>
            <a:r>
              <a:rPr b="1" lang="en-US" sz="2400">
                <a:solidFill>
                  <a:schemeClr val="dk1"/>
                </a:solidFill>
                <a:latin typeface="Calibri"/>
                <a:ea typeface="Calibri"/>
                <a:cs typeface="Calibri"/>
                <a:sym typeface="Calibri"/>
              </a:rPr>
              <a:t>3 Buffer pages</a:t>
            </a:r>
            <a:endParaRPr/>
          </a:p>
          <a:p>
            <a:pPr indent="-342900" lvl="0" marL="342900" marR="0" rtl="0" algn="l">
              <a:spcBef>
                <a:spcPts val="0"/>
              </a:spcBef>
              <a:spcAft>
                <a:spcPts val="0"/>
              </a:spcAft>
              <a:buClr>
                <a:schemeClr val="dk1"/>
              </a:buClr>
              <a:buSzPts val="2400"/>
              <a:buFont typeface="Arial"/>
              <a:buChar char="•"/>
            </a:pPr>
            <a:r>
              <a:rPr b="1" lang="en-US" sz="2400">
                <a:solidFill>
                  <a:schemeClr val="dk1"/>
                </a:solidFill>
                <a:latin typeface="Calibri"/>
                <a:ea typeface="Calibri"/>
                <a:cs typeface="Calibri"/>
                <a:sym typeface="Calibri"/>
              </a:rPr>
              <a:t>6-page file</a:t>
            </a:r>
            <a:endParaRPr/>
          </a:p>
        </p:txBody>
      </p:sp>
      <p:sp>
        <p:nvSpPr>
          <p:cNvPr id="1653" name="Google Shape;1653;p92"/>
          <p:cNvSpPr txBox="1"/>
          <p:nvPr/>
        </p:nvSpPr>
        <p:spPr>
          <a:xfrm>
            <a:off x="182898" y="3603573"/>
            <a:ext cx="1631615" cy="830997"/>
          </a:xfrm>
          <a:prstGeom prst="rect">
            <a:avLst/>
          </a:prstGeom>
          <a:solidFill>
            <a:srgbClr val="FBE4D4"/>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Orange file = unsorted</a:t>
            </a:r>
            <a:endParaRPr/>
          </a:p>
        </p:txBody>
      </p:sp>
      <p:grpSp>
        <p:nvGrpSpPr>
          <p:cNvPr id="1654" name="Google Shape;1654;p92"/>
          <p:cNvGrpSpPr/>
          <p:nvPr/>
        </p:nvGrpSpPr>
        <p:grpSpPr>
          <a:xfrm>
            <a:off x="0" y="-22510"/>
            <a:ext cx="12192000" cy="307777"/>
            <a:chOff x="0" y="-22510"/>
            <a:chExt cx="12192000" cy="307777"/>
          </a:xfrm>
        </p:grpSpPr>
        <p:sp>
          <p:nvSpPr>
            <p:cNvPr id="1655" name="Google Shape;1655;p92"/>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656" name="Google Shape;1656;p92"/>
            <p:cNvSpPr txBox="1"/>
            <p:nvPr/>
          </p:nvSpPr>
          <p:spPr>
            <a:xfrm>
              <a:off x="188780" y="-22510"/>
              <a:ext cx="170142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  External Merge Sort</a:t>
              </a:r>
              <a:endParaRPr/>
            </a:p>
          </p:txBody>
        </p:sp>
      </p:gr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0" name="Shape 1660"/>
        <p:cNvGrpSpPr/>
        <p:nvPr/>
      </p:nvGrpSpPr>
      <p:grpSpPr>
        <a:xfrm>
          <a:off x="0" y="0"/>
          <a:ext cx="0" cy="0"/>
          <a:chOff x="0" y="0"/>
          <a:chExt cx="0" cy="0"/>
        </a:xfrm>
      </p:grpSpPr>
      <p:sp>
        <p:nvSpPr>
          <p:cNvPr id="1661" name="Google Shape;1661;p93"/>
          <p:cNvSpPr/>
          <p:nvPr/>
        </p:nvSpPr>
        <p:spPr>
          <a:xfrm>
            <a:off x="2600324" y="2086678"/>
            <a:ext cx="3457575" cy="2556877"/>
          </a:xfrm>
          <a:prstGeom prst="can">
            <a:avLst>
              <a:gd fmla="val 13065"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1662" name="Google Shape;1662;p93"/>
          <p:cNvSpPr/>
          <p:nvPr/>
        </p:nvSpPr>
        <p:spPr>
          <a:xfrm>
            <a:off x="2697350" y="3567917"/>
            <a:ext cx="3296832" cy="525020"/>
          </a:xfrm>
          <a:prstGeom prst="roundRect">
            <a:avLst>
              <a:gd fmla="val 16667" name="adj"/>
            </a:avLst>
          </a:prstGeom>
          <a:solidFill>
            <a:srgbClr val="FBE4D4"/>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63" name="Google Shape;1663;p9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External Merge Sort Algorithm</a:t>
            </a:r>
            <a:endParaRPr/>
          </a:p>
        </p:txBody>
      </p:sp>
      <p:sp>
        <p:nvSpPr>
          <p:cNvPr id="1664" name="Google Shape;1664;p93"/>
          <p:cNvSpPr/>
          <p:nvPr/>
        </p:nvSpPr>
        <p:spPr>
          <a:xfrm>
            <a:off x="2699249" y="2851021"/>
            <a:ext cx="3296832" cy="525020"/>
          </a:xfrm>
          <a:prstGeom prst="roundRect">
            <a:avLst>
              <a:gd fmla="val 16667" name="adj"/>
            </a:avLst>
          </a:prstGeom>
          <a:solidFill>
            <a:srgbClr val="FBE4D4"/>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65" name="Google Shape;1665;p93"/>
          <p:cNvSpPr txBox="1"/>
          <p:nvPr/>
        </p:nvSpPr>
        <p:spPr>
          <a:xfrm>
            <a:off x="3874072" y="3655364"/>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27,24</a:t>
            </a:r>
            <a:endParaRPr/>
          </a:p>
        </p:txBody>
      </p:sp>
      <p:sp>
        <p:nvSpPr>
          <p:cNvPr id="1666" name="Google Shape;1666;p93"/>
          <p:cNvSpPr txBox="1"/>
          <p:nvPr/>
        </p:nvSpPr>
        <p:spPr>
          <a:xfrm>
            <a:off x="4903217" y="3655364"/>
            <a:ext cx="95413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3,1</a:t>
            </a:r>
            <a:endParaRPr/>
          </a:p>
        </p:txBody>
      </p:sp>
      <p:sp>
        <p:nvSpPr>
          <p:cNvPr id="1667" name="Google Shape;1667;p93"/>
          <p:cNvSpPr txBox="1"/>
          <p:nvPr/>
        </p:nvSpPr>
        <p:spPr>
          <a:xfrm>
            <a:off x="3799034" y="1691924"/>
            <a:ext cx="88617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Disk</a:t>
            </a:r>
            <a:endParaRPr sz="3200">
              <a:solidFill>
                <a:schemeClr val="dk1"/>
              </a:solidFill>
              <a:latin typeface="Calibri"/>
              <a:ea typeface="Calibri"/>
              <a:cs typeface="Calibri"/>
              <a:sym typeface="Calibri"/>
            </a:endParaRPr>
          </a:p>
        </p:txBody>
      </p:sp>
      <p:grpSp>
        <p:nvGrpSpPr>
          <p:cNvPr id="1668" name="Google Shape;1668;p93"/>
          <p:cNvGrpSpPr/>
          <p:nvPr/>
        </p:nvGrpSpPr>
        <p:grpSpPr>
          <a:xfrm>
            <a:off x="7474137" y="1690688"/>
            <a:ext cx="4259923" cy="2456273"/>
            <a:chOff x="7403799" y="1406844"/>
            <a:chExt cx="4259923" cy="2456273"/>
          </a:xfrm>
        </p:grpSpPr>
        <p:grpSp>
          <p:nvGrpSpPr>
            <p:cNvPr id="1669" name="Google Shape;1669;p93"/>
            <p:cNvGrpSpPr/>
            <p:nvPr/>
          </p:nvGrpSpPr>
          <p:grpSpPr>
            <a:xfrm>
              <a:off x="7403799" y="1406844"/>
              <a:ext cx="4259923" cy="2456273"/>
              <a:chOff x="7466322" y="1027906"/>
              <a:chExt cx="4259923" cy="2456273"/>
            </a:xfrm>
          </p:grpSpPr>
          <p:sp>
            <p:nvSpPr>
              <p:cNvPr id="1670" name="Google Shape;1670;p93"/>
              <p:cNvSpPr/>
              <p:nvPr/>
            </p:nvSpPr>
            <p:spPr>
              <a:xfrm>
                <a:off x="7466322" y="1027906"/>
                <a:ext cx="4252691" cy="2440508"/>
              </a:xfrm>
              <a:prstGeom prst="rect">
                <a:avLst/>
              </a:prstGeom>
              <a:solidFill>
                <a:srgbClr val="FFF2CC"/>
              </a:solidFill>
              <a:ln cap="flat" cmpd="sng" w="9525">
                <a:solidFill>
                  <a:srgbClr val="7F7F7F"/>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0">
                  <a:solidFill>
                    <a:schemeClr val="dk1"/>
                  </a:solidFill>
                  <a:latin typeface="Calibri"/>
                  <a:ea typeface="Calibri"/>
                  <a:cs typeface="Calibri"/>
                  <a:sym typeface="Calibri"/>
                </a:endParaRPr>
              </a:p>
            </p:txBody>
          </p:sp>
          <p:sp>
            <p:nvSpPr>
              <p:cNvPr id="1671" name="Google Shape;1671;p93"/>
              <p:cNvSpPr/>
              <p:nvPr/>
            </p:nvSpPr>
            <p:spPr>
              <a:xfrm>
                <a:off x="7769912" y="1969081"/>
                <a:ext cx="3956333" cy="1515098"/>
              </a:xfrm>
              <a:prstGeom prst="rect">
                <a:avLst/>
              </a:prstGeom>
              <a:solidFill>
                <a:srgbClr val="B3C6E7"/>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1672" name="Google Shape;1672;p93"/>
              <p:cNvSpPr txBox="1"/>
              <p:nvPr/>
            </p:nvSpPr>
            <p:spPr>
              <a:xfrm>
                <a:off x="7624243" y="1210562"/>
                <a:ext cx="196842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Main Memory</a:t>
                </a:r>
                <a:endParaRPr/>
              </a:p>
            </p:txBody>
          </p:sp>
          <p:sp>
            <p:nvSpPr>
              <p:cNvPr id="1673" name="Google Shape;1673;p93"/>
              <p:cNvSpPr txBox="1"/>
              <p:nvPr/>
            </p:nvSpPr>
            <p:spPr>
              <a:xfrm>
                <a:off x="7836450" y="1989610"/>
                <a:ext cx="95359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Buffer</a:t>
                </a:r>
                <a:endParaRPr/>
              </a:p>
            </p:txBody>
          </p:sp>
        </p:grpSp>
        <p:sp>
          <p:nvSpPr>
            <p:cNvPr id="1674" name="Google Shape;1674;p93"/>
            <p:cNvSpPr/>
            <p:nvPr/>
          </p:nvSpPr>
          <p:spPr>
            <a:xfrm>
              <a:off x="7843740"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75" name="Google Shape;1675;p93"/>
            <p:cNvSpPr/>
            <p:nvPr/>
          </p:nvSpPr>
          <p:spPr>
            <a:xfrm>
              <a:off x="9055124"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76" name="Google Shape;1676;p93"/>
            <p:cNvSpPr/>
            <p:nvPr/>
          </p:nvSpPr>
          <p:spPr>
            <a:xfrm>
              <a:off x="10266508"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677" name="Google Shape;1677;p93"/>
          <p:cNvSpPr/>
          <p:nvPr/>
        </p:nvSpPr>
        <p:spPr>
          <a:xfrm>
            <a:off x="6187074" y="3205895"/>
            <a:ext cx="1461477"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78" name="Google Shape;1678;p93"/>
          <p:cNvSpPr/>
          <p:nvPr/>
        </p:nvSpPr>
        <p:spPr>
          <a:xfrm rot="10800000">
            <a:off x="6187073" y="3657050"/>
            <a:ext cx="1461478"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79" name="Google Shape;1679;p93"/>
          <p:cNvSpPr txBox="1"/>
          <p:nvPr/>
        </p:nvSpPr>
        <p:spPr>
          <a:xfrm>
            <a:off x="2844927" y="3655364"/>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18,22</a:t>
            </a:r>
            <a:endParaRPr/>
          </a:p>
        </p:txBody>
      </p:sp>
      <p:sp>
        <p:nvSpPr>
          <p:cNvPr id="1680" name="Google Shape;1680;p93"/>
          <p:cNvSpPr txBox="1"/>
          <p:nvPr/>
        </p:nvSpPr>
        <p:spPr>
          <a:xfrm>
            <a:off x="2216639" y="2966228"/>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1</a:t>
            </a:r>
            <a:endParaRPr/>
          </a:p>
        </p:txBody>
      </p:sp>
      <p:sp>
        <p:nvSpPr>
          <p:cNvPr id="1681" name="Google Shape;1681;p93"/>
          <p:cNvSpPr txBox="1"/>
          <p:nvPr/>
        </p:nvSpPr>
        <p:spPr>
          <a:xfrm>
            <a:off x="2216226" y="3655364"/>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2</a:t>
            </a:r>
            <a:endParaRPr/>
          </a:p>
        </p:txBody>
      </p:sp>
      <p:sp>
        <p:nvSpPr>
          <p:cNvPr id="1682" name="Google Shape;1682;p93"/>
          <p:cNvSpPr txBox="1"/>
          <p:nvPr/>
        </p:nvSpPr>
        <p:spPr>
          <a:xfrm>
            <a:off x="9230969" y="3386906"/>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33,12</a:t>
            </a:r>
            <a:endParaRPr/>
          </a:p>
        </p:txBody>
      </p:sp>
      <p:sp>
        <p:nvSpPr>
          <p:cNvPr id="1683" name="Google Shape;1683;p93"/>
          <p:cNvSpPr txBox="1"/>
          <p:nvPr/>
        </p:nvSpPr>
        <p:spPr>
          <a:xfrm>
            <a:off x="10434256" y="3398602"/>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55,31</a:t>
            </a:r>
            <a:endParaRPr/>
          </a:p>
        </p:txBody>
      </p:sp>
      <p:sp>
        <p:nvSpPr>
          <p:cNvPr id="1684" name="Google Shape;1684;p93"/>
          <p:cNvSpPr txBox="1"/>
          <p:nvPr/>
        </p:nvSpPr>
        <p:spPr>
          <a:xfrm>
            <a:off x="8010634" y="3386906"/>
            <a:ext cx="954106"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44,10</a:t>
            </a:r>
            <a:endParaRPr/>
          </a:p>
        </p:txBody>
      </p:sp>
      <p:sp>
        <p:nvSpPr>
          <p:cNvPr id="1685" name="Google Shape;1685;p93"/>
          <p:cNvSpPr txBox="1"/>
          <p:nvPr>
            <p:ph idx="1" type="body"/>
          </p:nvPr>
        </p:nvSpPr>
        <p:spPr>
          <a:xfrm>
            <a:off x="1218460" y="5217877"/>
            <a:ext cx="10515600" cy="541450"/>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chemeClr val="dk1"/>
              </a:buClr>
              <a:buSzPts val="3200"/>
              <a:buFont typeface="Calibri"/>
              <a:buAutoNum type="arabicPeriod"/>
            </a:pPr>
            <a:r>
              <a:rPr lang="en-US" sz="3200"/>
              <a:t>Split into chunks small enough to </a:t>
            </a:r>
            <a:r>
              <a:rPr b="1" lang="en-US" sz="3200"/>
              <a:t>sort in memory</a:t>
            </a:r>
            <a:endParaRPr b="1" sz="3200"/>
          </a:p>
        </p:txBody>
      </p:sp>
      <p:sp>
        <p:nvSpPr>
          <p:cNvPr id="1686" name="Google Shape;1686;p93"/>
          <p:cNvSpPr txBox="1"/>
          <p:nvPr/>
        </p:nvSpPr>
        <p:spPr>
          <a:xfrm>
            <a:off x="182898" y="1734844"/>
            <a:ext cx="2295585"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Example:</a:t>
            </a:r>
            <a:endParaRPr/>
          </a:p>
          <a:p>
            <a:pPr indent="-342900" lvl="0" marL="342900" marR="0" rtl="0" algn="l">
              <a:spcBef>
                <a:spcPts val="0"/>
              </a:spcBef>
              <a:spcAft>
                <a:spcPts val="0"/>
              </a:spcAft>
              <a:buClr>
                <a:schemeClr val="dk1"/>
              </a:buClr>
              <a:buSzPts val="2400"/>
              <a:buFont typeface="Arial"/>
              <a:buChar char="•"/>
            </a:pPr>
            <a:r>
              <a:rPr b="1" lang="en-US" sz="2400">
                <a:solidFill>
                  <a:schemeClr val="dk1"/>
                </a:solidFill>
                <a:latin typeface="Calibri"/>
                <a:ea typeface="Calibri"/>
                <a:cs typeface="Calibri"/>
                <a:sym typeface="Calibri"/>
              </a:rPr>
              <a:t>3 Buffer pages</a:t>
            </a:r>
            <a:endParaRPr/>
          </a:p>
          <a:p>
            <a:pPr indent="-342900" lvl="0" marL="342900" marR="0" rtl="0" algn="l">
              <a:spcBef>
                <a:spcPts val="0"/>
              </a:spcBef>
              <a:spcAft>
                <a:spcPts val="0"/>
              </a:spcAft>
              <a:buClr>
                <a:schemeClr val="dk1"/>
              </a:buClr>
              <a:buSzPts val="2400"/>
              <a:buFont typeface="Arial"/>
              <a:buChar char="•"/>
            </a:pPr>
            <a:r>
              <a:rPr b="1" lang="en-US" sz="2400">
                <a:solidFill>
                  <a:schemeClr val="dk1"/>
                </a:solidFill>
                <a:latin typeface="Calibri"/>
                <a:ea typeface="Calibri"/>
                <a:cs typeface="Calibri"/>
                <a:sym typeface="Calibri"/>
              </a:rPr>
              <a:t>6-page file</a:t>
            </a:r>
            <a:endParaRPr/>
          </a:p>
        </p:txBody>
      </p:sp>
      <p:sp>
        <p:nvSpPr>
          <p:cNvPr id="1687" name="Google Shape;1687;p93"/>
          <p:cNvSpPr txBox="1"/>
          <p:nvPr/>
        </p:nvSpPr>
        <p:spPr>
          <a:xfrm>
            <a:off x="182898" y="3603573"/>
            <a:ext cx="1631615" cy="830997"/>
          </a:xfrm>
          <a:prstGeom prst="rect">
            <a:avLst/>
          </a:prstGeom>
          <a:solidFill>
            <a:srgbClr val="FBE4D4"/>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Orange file = unsorted</a:t>
            </a:r>
            <a:endParaRPr/>
          </a:p>
        </p:txBody>
      </p:sp>
      <p:grpSp>
        <p:nvGrpSpPr>
          <p:cNvPr id="1688" name="Google Shape;1688;p93"/>
          <p:cNvGrpSpPr/>
          <p:nvPr/>
        </p:nvGrpSpPr>
        <p:grpSpPr>
          <a:xfrm>
            <a:off x="0" y="-22510"/>
            <a:ext cx="12192000" cy="307777"/>
            <a:chOff x="0" y="-22510"/>
            <a:chExt cx="12192000" cy="307777"/>
          </a:xfrm>
        </p:grpSpPr>
        <p:sp>
          <p:nvSpPr>
            <p:cNvPr id="1689" name="Google Shape;1689;p93"/>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690" name="Google Shape;1690;p93"/>
            <p:cNvSpPr txBox="1"/>
            <p:nvPr/>
          </p:nvSpPr>
          <p:spPr>
            <a:xfrm>
              <a:off x="188780" y="-22510"/>
              <a:ext cx="170142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  External Merge Sort</a:t>
              </a:r>
              <a:endParaRPr/>
            </a:p>
          </p:txBody>
        </p:sp>
      </p:gr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4" name="Shape 1694"/>
        <p:cNvGrpSpPr/>
        <p:nvPr/>
      </p:nvGrpSpPr>
      <p:grpSpPr>
        <a:xfrm>
          <a:off x="0" y="0"/>
          <a:ext cx="0" cy="0"/>
          <a:chOff x="0" y="0"/>
          <a:chExt cx="0" cy="0"/>
        </a:xfrm>
      </p:grpSpPr>
      <p:sp>
        <p:nvSpPr>
          <p:cNvPr id="1695" name="Google Shape;1695;p94"/>
          <p:cNvSpPr/>
          <p:nvPr/>
        </p:nvSpPr>
        <p:spPr>
          <a:xfrm>
            <a:off x="2600324" y="2086678"/>
            <a:ext cx="3457575" cy="2556877"/>
          </a:xfrm>
          <a:prstGeom prst="can">
            <a:avLst>
              <a:gd fmla="val 13065"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1696" name="Google Shape;1696;p94"/>
          <p:cNvSpPr/>
          <p:nvPr/>
        </p:nvSpPr>
        <p:spPr>
          <a:xfrm>
            <a:off x="2697350" y="3567917"/>
            <a:ext cx="3296832" cy="525020"/>
          </a:xfrm>
          <a:prstGeom prst="roundRect">
            <a:avLst>
              <a:gd fmla="val 16667" name="adj"/>
            </a:avLst>
          </a:prstGeom>
          <a:solidFill>
            <a:srgbClr val="FBE4D4"/>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97" name="Google Shape;1697;p9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External Merge Sort Algorithm</a:t>
            </a:r>
            <a:endParaRPr/>
          </a:p>
        </p:txBody>
      </p:sp>
      <p:sp>
        <p:nvSpPr>
          <p:cNvPr id="1698" name="Google Shape;1698;p94"/>
          <p:cNvSpPr/>
          <p:nvPr/>
        </p:nvSpPr>
        <p:spPr>
          <a:xfrm>
            <a:off x="2699249" y="2851021"/>
            <a:ext cx="3296832" cy="525020"/>
          </a:xfrm>
          <a:prstGeom prst="roundRect">
            <a:avLst>
              <a:gd fmla="val 16667" name="adj"/>
            </a:avLst>
          </a:prstGeom>
          <a:solidFill>
            <a:srgbClr val="FBE4D4"/>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99" name="Google Shape;1699;p94"/>
          <p:cNvSpPr txBox="1"/>
          <p:nvPr/>
        </p:nvSpPr>
        <p:spPr>
          <a:xfrm>
            <a:off x="3874072" y="3655364"/>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27,24</a:t>
            </a:r>
            <a:endParaRPr/>
          </a:p>
        </p:txBody>
      </p:sp>
      <p:sp>
        <p:nvSpPr>
          <p:cNvPr id="1700" name="Google Shape;1700;p94"/>
          <p:cNvSpPr txBox="1"/>
          <p:nvPr/>
        </p:nvSpPr>
        <p:spPr>
          <a:xfrm>
            <a:off x="4903217" y="3655364"/>
            <a:ext cx="95413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3,1</a:t>
            </a:r>
            <a:endParaRPr/>
          </a:p>
        </p:txBody>
      </p:sp>
      <p:sp>
        <p:nvSpPr>
          <p:cNvPr id="1701" name="Google Shape;1701;p94"/>
          <p:cNvSpPr txBox="1"/>
          <p:nvPr/>
        </p:nvSpPr>
        <p:spPr>
          <a:xfrm>
            <a:off x="3799034" y="1691924"/>
            <a:ext cx="88617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Disk</a:t>
            </a:r>
            <a:endParaRPr sz="3200">
              <a:solidFill>
                <a:schemeClr val="dk1"/>
              </a:solidFill>
              <a:latin typeface="Calibri"/>
              <a:ea typeface="Calibri"/>
              <a:cs typeface="Calibri"/>
              <a:sym typeface="Calibri"/>
            </a:endParaRPr>
          </a:p>
        </p:txBody>
      </p:sp>
      <p:grpSp>
        <p:nvGrpSpPr>
          <p:cNvPr id="1702" name="Google Shape;1702;p94"/>
          <p:cNvGrpSpPr/>
          <p:nvPr/>
        </p:nvGrpSpPr>
        <p:grpSpPr>
          <a:xfrm>
            <a:off x="7474137" y="1690688"/>
            <a:ext cx="4259923" cy="2456273"/>
            <a:chOff x="7403799" y="1406844"/>
            <a:chExt cx="4259923" cy="2456273"/>
          </a:xfrm>
        </p:grpSpPr>
        <p:grpSp>
          <p:nvGrpSpPr>
            <p:cNvPr id="1703" name="Google Shape;1703;p94"/>
            <p:cNvGrpSpPr/>
            <p:nvPr/>
          </p:nvGrpSpPr>
          <p:grpSpPr>
            <a:xfrm>
              <a:off x="7403799" y="1406844"/>
              <a:ext cx="4259923" cy="2456273"/>
              <a:chOff x="7466322" y="1027906"/>
              <a:chExt cx="4259923" cy="2456273"/>
            </a:xfrm>
          </p:grpSpPr>
          <p:sp>
            <p:nvSpPr>
              <p:cNvPr id="1704" name="Google Shape;1704;p94"/>
              <p:cNvSpPr/>
              <p:nvPr/>
            </p:nvSpPr>
            <p:spPr>
              <a:xfrm>
                <a:off x="7466322" y="1027906"/>
                <a:ext cx="4252691" cy="2440508"/>
              </a:xfrm>
              <a:prstGeom prst="rect">
                <a:avLst/>
              </a:prstGeom>
              <a:solidFill>
                <a:srgbClr val="FFF2CC"/>
              </a:solidFill>
              <a:ln cap="flat" cmpd="sng" w="9525">
                <a:solidFill>
                  <a:srgbClr val="7F7F7F"/>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0">
                  <a:solidFill>
                    <a:schemeClr val="dk1"/>
                  </a:solidFill>
                  <a:latin typeface="Calibri"/>
                  <a:ea typeface="Calibri"/>
                  <a:cs typeface="Calibri"/>
                  <a:sym typeface="Calibri"/>
                </a:endParaRPr>
              </a:p>
            </p:txBody>
          </p:sp>
          <p:sp>
            <p:nvSpPr>
              <p:cNvPr id="1705" name="Google Shape;1705;p94"/>
              <p:cNvSpPr/>
              <p:nvPr/>
            </p:nvSpPr>
            <p:spPr>
              <a:xfrm>
                <a:off x="7769912" y="1969081"/>
                <a:ext cx="3956333" cy="1515098"/>
              </a:xfrm>
              <a:prstGeom prst="rect">
                <a:avLst/>
              </a:prstGeom>
              <a:solidFill>
                <a:srgbClr val="B3C6E7"/>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1706" name="Google Shape;1706;p94"/>
              <p:cNvSpPr txBox="1"/>
              <p:nvPr/>
            </p:nvSpPr>
            <p:spPr>
              <a:xfrm>
                <a:off x="7624243" y="1210562"/>
                <a:ext cx="196842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Main Memory</a:t>
                </a:r>
                <a:endParaRPr/>
              </a:p>
            </p:txBody>
          </p:sp>
          <p:sp>
            <p:nvSpPr>
              <p:cNvPr id="1707" name="Google Shape;1707;p94"/>
              <p:cNvSpPr txBox="1"/>
              <p:nvPr/>
            </p:nvSpPr>
            <p:spPr>
              <a:xfrm>
                <a:off x="7836450" y="1989610"/>
                <a:ext cx="95359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Buffer</a:t>
                </a:r>
                <a:endParaRPr/>
              </a:p>
            </p:txBody>
          </p:sp>
        </p:grpSp>
        <p:sp>
          <p:nvSpPr>
            <p:cNvPr id="1708" name="Google Shape;1708;p94"/>
            <p:cNvSpPr/>
            <p:nvPr/>
          </p:nvSpPr>
          <p:spPr>
            <a:xfrm>
              <a:off x="7843740"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09" name="Google Shape;1709;p94"/>
            <p:cNvSpPr/>
            <p:nvPr/>
          </p:nvSpPr>
          <p:spPr>
            <a:xfrm>
              <a:off x="9055124"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10" name="Google Shape;1710;p94"/>
            <p:cNvSpPr/>
            <p:nvPr/>
          </p:nvSpPr>
          <p:spPr>
            <a:xfrm>
              <a:off x="10266508"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711" name="Google Shape;1711;p94"/>
          <p:cNvSpPr/>
          <p:nvPr/>
        </p:nvSpPr>
        <p:spPr>
          <a:xfrm>
            <a:off x="6187074" y="3205895"/>
            <a:ext cx="1461477"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12" name="Google Shape;1712;p94"/>
          <p:cNvSpPr/>
          <p:nvPr/>
        </p:nvSpPr>
        <p:spPr>
          <a:xfrm rot="10800000">
            <a:off x="6187073" y="3657050"/>
            <a:ext cx="1461478"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13" name="Google Shape;1713;p94"/>
          <p:cNvSpPr txBox="1"/>
          <p:nvPr/>
        </p:nvSpPr>
        <p:spPr>
          <a:xfrm>
            <a:off x="2844927" y="3655364"/>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18,22</a:t>
            </a:r>
            <a:endParaRPr/>
          </a:p>
        </p:txBody>
      </p:sp>
      <p:sp>
        <p:nvSpPr>
          <p:cNvPr id="1714" name="Google Shape;1714;p94"/>
          <p:cNvSpPr txBox="1"/>
          <p:nvPr/>
        </p:nvSpPr>
        <p:spPr>
          <a:xfrm>
            <a:off x="2216639" y="2966228"/>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1</a:t>
            </a:r>
            <a:endParaRPr/>
          </a:p>
        </p:txBody>
      </p:sp>
      <p:sp>
        <p:nvSpPr>
          <p:cNvPr id="1715" name="Google Shape;1715;p94"/>
          <p:cNvSpPr txBox="1"/>
          <p:nvPr/>
        </p:nvSpPr>
        <p:spPr>
          <a:xfrm>
            <a:off x="2216226" y="3655364"/>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2</a:t>
            </a:r>
            <a:endParaRPr/>
          </a:p>
        </p:txBody>
      </p:sp>
      <p:sp>
        <p:nvSpPr>
          <p:cNvPr id="1716" name="Google Shape;1716;p94"/>
          <p:cNvSpPr txBox="1"/>
          <p:nvPr/>
        </p:nvSpPr>
        <p:spPr>
          <a:xfrm>
            <a:off x="9230969" y="3386906"/>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31,33</a:t>
            </a:r>
            <a:endParaRPr/>
          </a:p>
        </p:txBody>
      </p:sp>
      <p:sp>
        <p:nvSpPr>
          <p:cNvPr id="1717" name="Google Shape;1717;p94"/>
          <p:cNvSpPr txBox="1"/>
          <p:nvPr/>
        </p:nvSpPr>
        <p:spPr>
          <a:xfrm>
            <a:off x="10434256" y="3398602"/>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44,55</a:t>
            </a:r>
            <a:endParaRPr/>
          </a:p>
        </p:txBody>
      </p:sp>
      <p:sp>
        <p:nvSpPr>
          <p:cNvPr id="1718" name="Google Shape;1718;p94"/>
          <p:cNvSpPr txBox="1"/>
          <p:nvPr/>
        </p:nvSpPr>
        <p:spPr>
          <a:xfrm>
            <a:off x="8010634" y="3386906"/>
            <a:ext cx="954106"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10,12</a:t>
            </a:r>
            <a:endParaRPr/>
          </a:p>
        </p:txBody>
      </p:sp>
      <p:sp>
        <p:nvSpPr>
          <p:cNvPr id="1719" name="Google Shape;1719;p94"/>
          <p:cNvSpPr txBox="1"/>
          <p:nvPr/>
        </p:nvSpPr>
        <p:spPr>
          <a:xfrm>
            <a:off x="182898" y="1734844"/>
            <a:ext cx="2295585"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Example:</a:t>
            </a:r>
            <a:endParaRPr/>
          </a:p>
          <a:p>
            <a:pPr indent="-342900" lvl="0" marL="342900" marR="0" rtl="0" algn="l">
              <a:spcBef>
                <a:spcPts val="0"/>
              </a:spcBef>
              <a:spcAft>
                <a:spcPts val="0"/>
              </a:spcAft>
              <a:buClr>
                <a:schemeClr val="dk1"/>
              </a:buClr>
              <a:buSzPts val="2400"/>
              <a:buFont typeface="Arial"/>
              <a:buChar char="•"/>
            </a:pPr>
            <a:r>
              <a:rPr b="1" lang="en-US" sz="2400">
                <a:solidFill>
                  <a:schemeClr val="dk1"/>
                </a:solidFill>
                <a:latin typeface="Calibri"/>
                <a:ea typeface="Calibri"/>
                <a:cs typeface="Calibri"/>
                <a:sym typeface="Calibri"/>
              </a:rPr>
              <a:t>3 Buffer pages</a:t>
            </a:r>
            <a:endParaRPr/>
          </a:p>
          <a:p>
            <a:pPr indent="-342900" lvl="0" marL="342900" marR="0" rtl="0" algn="l">
              <a:spcBef>
                <a:spcPts val="0"/>
              </a:spcBef>
              <a:spcAft>
                <a:spcPts val="0"/>
              </a:spcAft>
              <a:buClr>
                <a:schemeClr val="dk1"/>
              </a:buClr>
              <a:buSzPts val="2400"/>
              <a:buFont typeface="Arial"/>
              <a:buChar char="•"/>
            </a:pPr>
            <a:r>
              <a:rPr b="1" lang="en-US" sz="2400">
                <a:solidFill>
                  <a:schemeClr val="dk1"/>
                </a:solidFill>
                <a:latin typeface="Calibri"/>
                <a:ea typeface="Calibri"/>
                <a:cs typeface="Calibri"/>
                <a:sym typeface="Calibri"/>
              </a:rPr>
              <a:t>6-page file</a:t>
            </a:r>
            <a:endParaRPr/>
          </a:p>
        </p:txBody>
      </p:sp>
      <p:sp>
        <p:nvSpPr>
          <p:cNvPr id="1720" name="Google Shape;1720;p94"/>
          <p:cNvSpPr txBox="1"/>
          <p:nvPr>
            <p:ph idx="1" type="body"/>
          </p:nvPr>
        </p:nvSpPr>
        <p:spPr>
          <a:xfrm>
            <a:off x="1218460" y="5217877"/>
            <a:ext cx="10515600" cy="541450"/>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chemeClr val="dk1"/>
              </a:buClr>
              <a:buSzPts val="3200"/>
              <a:buFont typeface="Calibri"/>
              <a:buAutoNum type="arabicPeriod"/>
            </a:pPr>
            <a:r>
              <a:rPr lang="en-US" sz="3200"/>
              <a:t>Split into chunks small enough to </a:t>
            </a:r>
            <a:r>
              <a:rPr b="1" lang="en-US" sz="3200"/>
              <a:t>sort in memory</a:t>
            </a:r>
            <a:endParaRPr b="1" sz="3200"/>
          </a:p>
        </p:txBody>
      </p:sp>
      <p:sp>
        <p:nvSpPr>
          <p:cNvPr id="1721" name="Google Shape;1721;p94"/>
          <p:cNvSpPr txBox="1"/>
          <p:nvPr/>
        </p:nvSpPr>
        <p:spPr>
          <a:xfrm>
            <a:off x="182898" y="3603573"/>
            <a:ext cx="1631615" cy="830997"/>
          </a:xfrm>
          <a:prstGeom prst="rect">
            <a:avLst/>
          </a:prstGeom>
          <a:solidFill>
            <a:srgbClr val="FBE4D4"/>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Orange file = unsorted</a:t>
            </a:r>
            <a:endParaRPr/>
          </a:p>
        </p:txBody>
      </p:sp>
      <p:grpSp>
        <p:nvGrpSpPr>
          <p:cNvPr id="1722" name="Google Shape;1722;p94"/>
          <p:cNvGrpSpPr/>
          <p:nvPr/>
        </p:nvGrpSpPr>
        <p:grpSpPr>
          <a:xfrm>
            <a:off x="0" y="-22510"/>
            <a:ext cx="12192000" cy="307777"/>
            <a:chOff x="0" y="-22510"/>
            <a:chExt cx="12192000" cy="307777"/>
          </a:xfrm>
        </p:grpSpPr>
        <p:sp>
          <p:nvSpPr>
            <p:cNvPr id="1723" name="Google Shape;1723;p94"/>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724" name="Google Shape;1724;p94"/>
            <p:cNvSpPr txBox="1"/>
            <p:nvPr/>
          </p:nvSpPr>
          <p:spPr>
            <a:xfrm>
              <a:off x="188780" y="-22510"/>
              <a:ext cx="170142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  External Merge Sort</a:t>
              </a:r>
              <a:endParaRPr/>
            </a:p>
          </p:txBody>
        </p:sp>
      </p:gr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8" name="Shape 1728"/>
        <p:cNvGrpSpPr/>
        <p:nvPr/>
      </p:nvGrpSpPr>
      <p:grpSpPr>
        <a:xfrm>
          <a:off x="0" y="0"/>
          <a:ext cx="0" cy="0"/>
          <a:chOff x="0" y="0"/>
          <a:chExt cx="0" cy="0"/>
        </a:xfrm>
      </p:grpSpPr>
      <p:sp>
        <p:nvSpPr>
          <p:cNvPr id="1729" name="Google Shape;1729;p95"/>
          <p:cNvSpPr/>
          <p:nvPr/>
        </p:nvSpPr>
        <p:spPr>
          <a:xfrm>
            <a:off x="2600324" y="2086678"/>
            <a:ext cx="3457575" cy="2556877"/>
          </a:xfrm>
          <a:prstGeom prst="can">
            <a:avLst>
              <a:gd fmla="val 13065"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1730" name="Google Shape;1730;p95"/>
          <p:cNvSpPr/>
          <p:nvPr/>
        </p:nvSpPr>
        <p:spPr>
          <a:xfrm>
            <a:off x="2697350" y="3567917"/>
            <a:ext cx="3296832" cy="525020"/>
          </a:xfrm>
          <a:prstGeom prst="roundRect">
            <a:avLst>
              <a:gd fmla="val 16667" name="adj"/>
            </a:avLst>
          </a:prstGeom>
          <a:solidFill>
            <a:srgbClr val="FBE4D4"/>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31" name="Google Shape;1731;p9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External Merge Sort Algorithm</a:t>
            </a:r>
            <a:endParaRPr/>
          </a:p>
        </p:txBody>
      </p:sp>
      <p:sp>
        <p:nvSpPr>
          <p:cNvPr id="1732" name="Google Shape;1732;p95"/>
          <p:cNvSpPr/>
          <p:nvPr/>
        </p:nvSpPr>
        <p:spPr>
          <a:xfrm>
            <a:off x="2699249" y="2851021"/>
            <a:ext cx="3296832" cy="525020"/>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33" name="Google Shape;1733;p95"/>
          <p:cNvSpPr txBox="1"/>
          <p:nvPr/>
        </p:nvSpPr>
        <p:spPr>
          <a:xfrm>
            <a:off x="3799034" y="1691924"/>
            <a:ext cx="88617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Disk</a:t>
            </a:r>
            <a:endParaRPr sz="3200">
              <a:solidFill>
                <a:schemeClr val="dk1"/>
              </a:solidFill>
              <a:latin typeface="Calibri"/>
              <a:ea typeface="Calibri"/>
              <a:cs typeface="Calibri"/>
              <a:sym typeface="Calibri"/>
            </a:endParaRPr>
          </a:p>
        </p:txBody>
      </p:sp>
      <p:grpSp>
        <p:nvGrpSpPr>
          <p:cNvPr id="1734" name="Google Shape;1734;p95"/>
          <p:cNvGrpSpPr/>
          <p:nvPr/>
        </p:nvGrpSpPr>
        <p:grpSpPr>
          <a:xfrm>
            <a:off x="7474137" y="1690688"/>
            <a:ext cx="4259923" cy="2456273"/>
            <a:chOff x="7403799" y="1406844"/>
            <a:chExt cx="4259923" cy="2456273"/>
          </a:xfrm>
        </p:grpSpPr>
        <p:grpSp>
          <p:nvGrpSpPr>
            <p:cNvPr id="1735" name="Google Shape;1735;p95"/>
            <p:cNvGrpSpPr/>
            <p:nvPr/>
          </p:nvGrpSpPr>
          <p:grpSpPr>
            <a:xfrm>
              <a:off x="7403799" y="1406844"/>
              <a:ext cx="4259923" cy="2456273"/>
              <a:chOff x="7466322" y="1027906"/>
              <a:chExt cx="4259923" cy="2456273"/>
            </a:xfrm>
          </p:grpSpPr>
          <p:sp>
            <p:nvSpPr>
              <p:cNvPr id="1736" name="Google Shape;1736;p95"/>
              <p:cNvSpPr/>
              <p:nvPr/>
            </p:nvSpPr>
            <p:spPr>
              <a:xfrm>
                <a:off x="7466322" y="1027906"/>
                <a:ext cx="4252691" cy="2440508"/>
              </a:xfrm>
              <a:prstGeom prst="rect">
                <a:avLst/>
              </a:prstGeom>
              <a:solidFill>
                <a:srgbClr val="FFF2CC"/>
              </a:solidFill>
              <a:ln cap="flat" cmpd="sng" w="9525">
                <a:solidFill>
                  <a:srgbClr val="7F7F7F"/>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0">
                  <a:solidFill>
                    <a:schemeClr val="dk1"/>
                  </a:solidFill>
                  <a:latin typeface="Calibri"/>
                  <a:ea typeface="Calibri"/>
                  <a:cs typeface="Calibri"/>
                  <a:sym typeface="Calibri"/>
                </a:endParaRPr>
              </a:p>
            </p:txBody>
          </p:sp>
          <p:sp>
            <p:nvSpPr>
              <p:cNvPr id="1737" name="Google Shape;1737;p95"/>
              <p:cNvSpPr/>
              <p:nvPr/>
            </p:nvSpPr>
            <p:spPr>
              <a:xfrm>
                <a:off x="7769912" y="1969081"/>
                <a:ext cx="3956333" cy="1515098"/>
              </a:xfrm>
              <a:prstGeom prst="rect">
                <a:avLst/>
              </a:prstGeom>
              <a:solidFill>
                <a:srgbClr val="B3C6E7"/>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1738" name="Google Shape;1738;p95"/>
              <p:cNvSpPr txBox="1"/>
              <p:nvPr/>
            </p:nvSpPr>
            <p:spPr>
              <a:xfrm>
                <a:off x="7624243" y="1210562"/>
                <a:ext cx="196842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Main Memory</a:t>
                </a:r>
                <a:endParaRPr/>
              </a:p>
            </p:txBody>
          </p:sp>
          <p:sp>
            <p:nvSpPr>
              <p:cNvPr id="1739" name="Google Shape;1739;p95"/>
              <p:cNvSpPr txBox="1"/>
              <p:nvPr/>
            </p:nvSpPr>
            <p:spPr>
              <a:xfrm>
                <a:off x="7836450" y="1989610"/>
                <a:ext cx="95359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Buffer</a:t>
                </a:r>
                <a:endParaRPr/>
              </a:p>
            </p:txBody>
          </p:sp>
        </p:grpSp>
        <p:sp>
          <p:nvSpPr>
            <p:cNvPr id="1740" name="Google Shape;1740;p95"/>
            <p:cNvSpPr/>
            <p:nvPr/>
          </p:nvSpPr>
          <p:spPr>
            <a:xfrm>
              <a:off x="7843740"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41" name="Google Shape;1741;p95"/>
            <p:cNvSpPr/>
            <p:nvPr/>
          </p:nvSpPr>
          <p:spPr>
            <a:xfrm>
              <a:off x="9055124"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42" name="Google Shape;1742;p95"/>
            <p:cNvSpPr/>
            <p:nvPr/>
          </p:nvSpPr>
          <p:spPr>
            <a:xfrm>
              <a:off x="10266508"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743" name="Google Shape;1743;p95"/>
          <p:cNvSpPr/>
          <p:nvPr/>
        </p:nvSpPr>
        <p:spPr>
          <a:xfrm>
            <a:off x="6187074" y="3205895"/>
            <a:ext cx="1461477"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44" name="Google Shape;1744;p95"/>
          <p:cNvSpPr/>
          <p:nvPr/>
        </p:nvSpPr>
        <p:spPr>
          <a:xfrm rot="10800000">
            <a:off x="6187073" y="3657050"/>
            <a:ext cx="1461478"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45" name="Google Shape;1745;p95"/>
          <p:cNvSpPr txBox="1"/>
          <p:nvPr/>
        </p:nvSpPr>
        <p:spPr>
          <a:xfrm>
            <a:off x="2216639" y="2966228"/>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1</a:t>
            </a:r>
            <a:endParaRPr/>
          </a:p>
        </p:txBody>
      </p:sp>
      <p:sp>
        <p:nvSpPr>
          <p:cNvPr id="1746" name="Google Shape;1746;p95"/>
          <p:cNvSpPr txBox="1"/>
          <p:nvPr/>
        </p:nvSpPr>
        <p:spPr>
          <a:xfrm>
            <a:off x="2216226" y="3655364"/>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2</a:t>
            </a:r>
            <a:endParaRPr/>
          </a:p>
        </p:txBody>
      </p:sp>
      <p:grpSp>
        <p:nvGrpSpPr>
          <p:cNvPr id="1747" name="Google Shape;1747;p95"/>
          <p:cNvGrpSpPr/>
          <p:nvPr/>
        </p:nvGrpSpPr>
        <p:grpSpPr>
          <a:xfrm>
            <a:off x="2844928" y="2929564"/>
            <a:ext cx="3012421" cy="400110"/>
            <a:chOff x="2844928" y="2635940"/>
            <a:chExt cx="3012421" cy="400110"/>
          </a:xfrm>
        </p:grpSpPr>
        <p:sp>
          <p:nvSpPr>
            <p:cNvPr id="1748" name="Google Shape;1748;p95"/>
            <p:cNvSpPr txBox="1"/>
            <p:nvPr/>
          </p:nvSpPr>
          <p:spPr>
            <a:xfrm>
              <a:off x="3874097" y="2635940"/>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31,33</a:t>
              </a:r>
              <a:endParaRPr/>
            </a:p>
          </p:txBody>
        </p:sp>
        <p:sp>
          <p:nvSpPr>
            <p:cNvPr id="1749" name="Google Shape;1749;p95"/>
            <p:cNvSpPr txBox="1"/>
            <p:nvPr/>
          </p:nvSpPr>
          <p:spPr>
            <a:xfrm>
              <a:off x="4903242" y="2635940"/>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44,55</a:t>
              </a:r>
              <a:endParaRPr/>
            </a:p>
          </p:txBody>
        </p:sp>
        <p:sp>
          <p:nvSpPr>
            <p:cNvPr id="1750" name="Google Shape;1750;p95"/>
            <p:cNvSpPr txBox="1"/>
            <p:nvPr/>
          </p:nvSpPr>
          <p:spPr>
            <a:xfrm>
              <a:off x="2844928" y="2635940"/>
              <a:ext cx="954106"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10,12</a:t>
              </a:r>
              <a:endParaRPr/>
            </a:p>
          </p:txBody>
        </p:sp>
      </p:grpSp>
      <p:sp>
        <p:nvSpPr>
          <p:cNvPr id="1751" name="Google Shape;1751;p95"/>
          <p:cNvSpPr txBox="1"/>
          <p:nvPr/>
        </p:nvSpPr>
        <p:spPr>
          <a:xfrm>
            <a:off x="7914078" y="4502340"/>
            <a:ext cx="253813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And similarly for F</a:t>
            </a:r>
            <a:r>
              <a:rPr baseline="-25000" lang="en-US" sz="2400">
                <a:solidFill>
                  <a:schemeClr val="dk1"/>
                </a:solidFill>
                <a:latin typeface="Calibri"/>
                <a:ea typeface="Calibri"/>
                <a:cs typeface="Calibri"/>
                <a:sym typeface="Calibri"/>
              </a:rPr>
              <a:t>2</a:t>
            </a:r>
            <a:endParaRPr/>
          </a:p>
        </p:txBody>
      </p:sp>
      <p:sp>
        <p:nvSpPr>
          <p:cNvPr id="1752" name="Google Shape;1752;p95"/>
          <p:cNvSpPr txBox="1"/>
          <p:nvPr/>
        </p:nvSpPr>
        <p:spPr>
          <a:xfrm>
            <a:off x="3874072" y="3655364"/>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27,24</a:t>
            </a:r>
            <a:endParaRPr/>
          </a:p>
        </p:txBody>
      </p:sp>
      <p:sp>
        <p:nvSpPr>
          <p:cNvPr id="1753" name="Google Shape;1753;p95"/>
          <p:cNvSpPr txBox="1"/>
          <p:nvPr/>
        </p:nvSpPr>
        <p:spPr>
          <a:xfrm>
            <a:off x="4903217" y="3655364"/>
            <a:ext cx="95413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3,1</a:t>
            </a:r>
            <a:endParaRPr/>
          </a:p>
        </p:txBody>
      </p:sp>
      <p:sp>
        <p:nvSpPr>
          <p:cNvPr id="1754" name="Google Shape;1754;p95"/>
          <p:cNvSpPr txBox="1"/>
          <p:nvPr/>
        </p:nvSpPr>
        <p:spPr>
          <a:xfrm>
            <a:off x="2844927" y="3655364"/>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18,22</a:t>
            </a:r>
            <a:endParaRPr/>
          </a:p>
        </p:txBody>
      </p:sp>
      <p:sp>
        <p:nvSpPr>
          <p:cNvPr id="1755" name="Google Shape;1755;p95"/>
          <p:cNvSpPr txBox="1"/>
          <p:nvPr/>
        </p:nvSpPr>
        <p:spPr>
          <a:xfrm>
            <a:off x="9212043" y="3388014"/>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18,22</a:t>
            </a:r>
            <a:endParaRPr/>
          </a:p>
        </p:txBody>
      </p:sp>
      <p:sp>
        <p:nvSpPr>
          <p:cNvPr id="1756" name="Google Shape;1756;p95"/>
          <p:cNvSpPr txBox="1"/>
          <p:nvPr/>
        </p:nvSpPr>
        <p:spPr>
          <a:xfrm>
            <a:off x="10426986" y="3399792"/>
            <a:ext cx="95413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24,27</a:t>
            </a:r>
            <a:endParaRPr/>
          </a:p>
        </p:txBody>
      </p:sp>
      <p:sp>
        <p:nvSpPr>
          <p:cNvPr id="1757" name="Google Shape;1757;p95"/>
          <p:cNvSpPr txBox="1"/>
          <p:nvPr/>
        </p:nvSpPr>
        <p:spPr>
          <a:xfrm>
            <a:off x="8004877" y="3386906"/>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1,3</a:t>
            </a:r>
            <a:endParaRPr/>
          </a:p>
        </p:txBody>
      </p:sp>
      <p:sp>
        <p:nvSpPr>
          <p:cNvPr id="1758" name="Google Shape;1758;p95"/>
          <p:cNvSpPr txBox="1"/>
          <p:nvPr/>
        </p:nvSpPr>
        <p:spPr>
          <a:xfrm>
            <a:off x="1218460" y="5217877"/>
            <a:ext cx="10515600" cy="541450"/>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90000"/>
              </a:lnSpc>
              <a:spcBef>
                <a:spcPts val="0"/>
              </a:spcBef>
              <a:spcAft>
                <a:spcPts val="0"/>
              </a:spcAft>
              <a:buClr>
                <a:schemeClr val="dk1"/>
              </a:buClr>
              <a:buSzPts val="3200"/>
              <a:buFont typeface="Calibri"/>
              <a:buAutoNum type="arabicPeriod"/>
            </a:pPr>
            <a:r>
              <a:rPr lang="en-US" sz="3200">
                <a:solidFill>
                  <a:schemeClr val="dk1"/>
                </a:solidFill>
                <a:latin typeface="Calibri"/>
                <a:ea typeface="Calibri"/>
                <a:cs typeface="Calibri"/>
                <a:sym typeface="Calibri"/>
              </a:rPr>
              <a:t>Split into chunks small enough to </a:t>
            </a:r>
            <a:r>
              <a:rPr b="1" lang="en-US" sz="3200">
                <a:solidFill>
                  <a:schemeClr val="dk1"/>
                </a:solidFill>
                <a:latin typeface="Calibri"/>
                <a:ea typeface="Calibri"/>
                <a:cs typeface="Calibri"/>
                <a:sym typeface="Calibri"/>
              </a:rPr>
              <a:t>sort in memory</a:t>
            </a:r>
            <a:endParaRPr b="1" sz="3200">
              <a:solidFill>
                <a:schemeClr val="dk1"/>
              </a:solidFill>
              <a:latin typeface="Calibri"/>
              <a:ea typeface="Calibri"/>
              <a:cs typeface="Calibri"/>
              <a:sym typeface="Calibri"/>
            </a:endParaRPr>
          </a:p>
        </p:txBody>
      </p:sp>
      <p:sp>
        <p:nvSpPr>
          <p:cNvPr id="1759" name="Google Shape;1759;p95"/>
          <p:cNvSpPr txBox="1"/>
          <p:nvPr/>
        </p:nvSpPr>
        <p:spPr>
          <a:xfrm>
            <a:off x="182898" y="1734844"/>
            <a:ext cx="2295585"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Example:</a:t>
            </a:r>
            <a:endParaRPr/>
          </a:p>
          <a:p>
            <a:pPr indent="-342900" lvl="0" marL="342900" marR="0" rtl="0" algn="l">
              <a:spcBef>
                <a:spcPts val="0"/>
              </a:spcBef>
              <a:spcAft>
                <a:spcPts val="0"/>
              </a:spcAft>
              <a:buClr>
                <a:schemeClr val="dk1"/>
              </a:buClr>
              <a:buSzPts val="2400"/>
              <a:buFont typeface="Arial"/>
              <a:buChar char="•"/>
            </a:pPr>
            <a:r>
              <a:rPr b="1" lang="en-US" sz="2400">
                <a:solidFill>
                  <a:schemeClr val="dk1"/>
                </a:solidFill>
                <a:latin typeface="Calibri"/>
                <a:ea typeface="Calibri"/>
                <a:cs typeface="Calibri"/>
                <a:sym typeface="Calibri"/>
              </a:rPr>
              <a:t>3 Buffer pages</a:t>
            </a:r>
            <a:endParaRPr/>
          </a:p>
          <a:p>
            <a:pPr indent="-342900" lvl="0" marL="342900" marR="0" rtl="0" algn="l">
              <a:spcBef>
                <a:spcPts val="0"/>
              </a:spcBef>
              <a:spcAft>
                <a:spcPts val="0"/>
              </a:spcAft>
              <a:buClr>
                <a:schemeClr val="dk1"/>
              </a:buClr>
              <a:buSzPts val="2400"/>
              <a:buFont typeface="Arial"/>
              <a:buChar char="•"/>
            </a:pPr>
            <a:r>
              <a:rPr b="1" lang="en-US" sz="2400">
                <a:solidFill>
                  <a:schemeClr val="dk1"/>
                </a:solidFill>
                <a:latin typeface="Calibri"/>
                <a:ea typeface="Calibri"/>
                <a:cs typeface="Calibri"/>
                <a:sym typeface="Calibri"/>
              </a:rPr>
              <a:t>6-page file</a:t>
            </a:r>
            <a:endParaRPr/>
          </a:p>
        </p:txBody>
      </p:sp>
      <p:sp>
        <p:nvSpPr>
          <p:cNvPr id="1760" name="Google Shape;1760;p95"/>
          <p:cNvSpPr txBox="1"/>
          <p:nvPr/>
        </p:nvSpPr>
        <p:spPr>
          <a:xfrm>
            <a:off x="260590" y="3175092"/>
            <a:ext cx="1631615" cy="1200329"/>
          </a:xfrm>
          <a:prstGeom prst="rect">
            <a:avLst/>
          </a:prstGeom>
          <a:solidFill>
            <a:srgbClr val="DDEAF6"/>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Each sorted file is a called a </a:t>
            </a:r>
            <a:r>
              <a:rPr b="1" i="1" lang="en-US" sz="2400">
                <a:solidFill>
                  <a:schemeClr val="dk1"/>
                </a:solidFill>
                <a:latin typeface="Calibri"/>
                <a:ea typeface="Calibri"/>
                <a:cs typeface="Calibri"/>
                <a:sym typeface="Calibri"/>
              </a:rPr>
              <a:t>run</a:t>
            </a:r>
            <a:endParaRPr i="1" sz="2400">
              <a:solidFill>
                <a:schemeClr val="dk1"/>
              </a:solidFill>
              <a:latin typeface="Calibri"/>
              <a:ea typeface="Calibri"/>
              <a:cs typeface="Calibri"/>
              <a:sym typeface="Calibri"/>
            </a:endParaRPr>
          </a:p>
        </p:txBody>
      </p:sp>
      <p:grpSp>
        <p:nvGrpSpPr>
          <p:cNvPr id="1761" name="Google Shape;1761;p95"/>
          <p:cNvGrpSpPr/>
          <p:nvPr/>
        </p:nvGrpSpPr>
        <p:grpSpPr>
          <a:xfrm>
            <a:off x="0" y="-22510"/>
            <a:ext cx="12192000" cy="307777"/>
            <a:chOff x="0" y="-22510"/>
            <a:chExt cx="12192000" cy="307777"/>
          </a:xfrm>
        </p:grpSpPr>
        <p:sp>
          <p:nvSpPr>
            <p:cNvPr id="1762" name="Google Shape;1762;p95"/>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763" name="Google Shape;1763;p95"/>
            <p:cNvSpPr txBox="1"/>
            <p:nvPr/>
          </p:nvSpPr>
          <p:spPr>
            <a:xfrm>
              <a:off x="188780" y="-22510"/>
              <a:ext cx="170142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  External Merge Sort</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754"/>
                                        </p:tgtEl>
                                      </p:cBhvr>
                                    </p:animEffect>
                                    <p:set>
                                      <p:cBhvr>
                                        <p:cTn dur="1" fill="hold">
                                          <p:stCondLst>
                                            <p:cond delay="500"/>
                                          </p:stCondLst>
                                        </p:cTn>
                                        <p:tgtEl>
                                          <p:spTgt spid="175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752"/>
                                        </p:tgtEl>
                                      </p:cBhvr>
                                    </p:animEffect>
                                    <p:set>
                                      <p:cBhvr>
                                        <p:cTn dur="1" fill="hold">
                                          <p:stCondLst>
                                            <p:cond delay="500"/>
                                          </p:stCondLst>
                                        </p:cTn>
                                        <p:tgtEl>
                                          <p:spTgt spid="175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753"/>
                                        </p:tgtEl>
                                      </p:cBhvr>
                                    </p:animEffect>
                                    <p:set>
                                      <p:cBhvr>
                                        <p:cTn dur="1" fill="hold">
                                          <p:stCondLst>
                                            <p:cond delay="500"/>
                                          </p:stCondLst>
                                        </p:cTn>
                                        <p:tgtEl>
                                          <p:spTgt spid="175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7"/>
                                        </p:tgtEl>
                                        <p:attrNameLst>
                                          <p:attrName>style.visibility</p:attrName>
                                        </p:attrNameLst>
                                      </p:cBhvr>
                                      <p:to>
                                        <p:strVal val="visible"/>
                                      </p:to>
                                    </p:set>
                                    <p:animEffect filter="fade" transition="in">
                                      <p:cBhvr>
                                        <p:cTn dur="500"/>
                                        <p:tgtEl>
                                          <p:spTgt spid="1757"/>
                                        </p:tgtEl>
                                      </p:cBhvr>
                                    </p:animEffect>
                                  </p:childTnLst>
                                </p:cTn>
                              </p:par>
                              <p:par>
                                <p:cTn fill="hold" nodeType="withEffect" presetClass="entr" presetID="10" presetSubtype="0">
                                  <p:stCondLst>
                                    <p:cond delay="0"/>
                                  </p:stCondLst>
                                  <p:childTnLst>
                                    <p:set>
                                      <p:cBhvr>
                                        <p:cTn dur="1" fill="hold">
                                          <p:stCondLst>
                                            <p:cond delay="0"/>
                                          </p:stCondLst>
                                        </p:cTn>
                                        <p:tgtEl>
                                          <p:spTgt spid="1755"/>
                                        </p:tgtEl>
                                        <p:attrNameLst>
                                          <p:attrName>style.visibility</p:attrName>
                                        </p:attrNameLst>
                                      </p:cBhvr>
                                      <p:to>
                                        <p:strVal val="visible"/>
                                      </p:to>
                                    </p:set>
                                    <p:animEffect filter="fade" transition="in">
                                      <p:cBhvr>
                                        <p:cTn dur="500"/>
                                        <p:tgtEl>
                                          <p:spTgt spid="1755"/>
                                        </p:tgtEl>
                                      </p:cBhvr>
                                    </p:animEffect>
                                  </p:childTnLst>
                                </p:cTn>
                              </p:par>
                              <p:par>
                                <p:cTn fill="hold" nodeType="withEffect" presetClass="entr" presetID="10" presetSubtype="0">
                                  <p:stCondLst>
                                    <p:cond delay="0"/>
                                  </p:stCondLst>
                                  <p:childTnLst>
                                    <p:set>
                                      <p:cBhvr>
                                        <p:cTn dur="1" fill="hold">
                                          <p:stCondLst>
                                            <p:cond delay="0"/>
                                          </p:stCondLst>
                                        </p:cTn>
                                        <p:tgtEl>
                                          <p:spTgt spid="1756"/>
                                        </p:tgtEl>
                                        <p:attrNameLst>
                                          <p:attrName>style.visibility</p:attrName>
                                        </p:attrNameLst>
                                      </p:cBhvr>
                                      <p:to>
                                        <p:strVal val="visible"/>
                                      </p:to>
                                    </p:set>
                                    <p:animEffect filter="fade" transition="in">
                                      <p:cBhvr>
                                        <p:cTn dur="500"/>
                                        <p:tgtEl>
                                          <p:spTgt spid="17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7" name="Shape 1767"/>
        <p:cNvGrpSpPr/>
        <p:nvPr/>
      </p:nvGrpSpPr>
      <p:grpSpPr>
        <a:xfrm>
          <a:off x="0" y="0"/>
          <a:ext cx="0" cy="0"/>
          <a:chOff x="0" y="0"/>
          <a:chExt cx="0" cy="0"/>
        </a:xfrm>
      </p:grpSpPr>
      <p:sp>
        <p:nvSpPr>
          <p:cNvPr id="1768" name="Google Shape;1768;p96"/>
          <p:cNvSpPr/>
          <p:nvPr/>
        </p:nvSpPr>
        <p:spPr>
          <a:xfrm>
            <a:off x="2600324" y="2086678"/>
            <a:ext cx="3457575" cy="2556877"/>
          </a:xfrm>
          <a:prstGeom prst="can">
            <a:avLst>
              <a:gd fmla="val 13065"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1769" name="Google Shape;1769;p96"/>
          <p:cNvSpPr/>
          <p:nvPr/>
        </p:nvSpPr>
        <p:spPr>
          <a:xfrm>
            <a:off x="2697350" y="3567917"/>
            <a:ext cx="3296832" cy="525020"/>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70" name="Google Shape;1770;p9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External Merge Sort Algorithm</a:t>
            </a:r>
            <a:endParaRPr/>
          </a:p>
        </p:txBody>
      </p:sp>
      <p:sp>
        <p:nvSpPr>
          <p:cNvPr id="1771" name="Google Shape;1771;p96"/>
          <p:cNvSpPr/>
          <p:nvPr/>
        </p:nvSpPr>
        <p:spPr>
          <a:xfrm>
            <a:off x="2699249" y="2851021"/>
            <a:ext cx="3296832" cy="525020"/>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72" name="Google Shape;1772;p96"/>
          <p:cNvSpPr txBox="1"/>
          <p:nvPr/>
        </p:nvSpPr>
        <p:spPr>
          <a:xfrm>
            <a:off x="3799034" y="1691924"/>
            <a:ext cx="88617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Disk</a:t>
            </a:r>
            <a:endParaRPr sz="3200">
              <a:solidFill>
                <a:schemeClr val="dk1"/>
              </a:solidFill>
              <a:latin typeface="Calibri"/>
              <a:ea typeface="Calibri"/>
              <a:cs typeface="Calibri"/>
              <a:sym typeface="Calibri"/>
            </a:endParaRPr>
          </a:p>
        </p:txBody>
      </p:sp>
      <p:grpSp>
        <p:nvGrpSpPr>
          <p:cNvPr id="1773" name="Google Shape;1773;p96"/>
          <p:cNvGrpSpPr/>
          <p:nvPr/>
        </p:nvGrpSpPr>
        <p:grpSpPr>
          <a:xfrm>
            <a:off x="7474137" y="1690688"/>
            <a:ext cx="4259923" cy="2456273"/>
            <a:chOff x="7403799" y="1406844"/>
            <a:chExt cx="4259923" cy="2456273"/>
          </a:xfrm>
        </p:grpSpPr>
        <p:grpSp>
          <p:nvGrpSpPr>
            <p:cNvPr id="1774" name="Google Shape;1774;p96"/>
            <p:cNvGrpSpPr/>
            <p:nvPr/>
          </p:nvGrpSpPr>
          <p:grpSpPr>
            <a:xfrm>
              <a:off x="7403799" y="1406844"/>
              <a:ext cx="4259923" cy="2456273"/>
              <a:chOff x="7466322" y="1027906"/>
              <a:chExt cx="4259923" cy="2456273"/>
            </a:xfrm>
          </p:grpSpPr>
          <p:sp>
            <p:nvSpPr>
              <p:cNvPr id="1775" name="Google Shape;1775;p96"/>
              <p:cNvSpPr/>
              <p:nvPr/>
            </p:nvSpPr>
            <p:spPr>
              <a:xfrm>
                <a:off x="7466322" y="1027906"/>
                <a:ext cx="4252691" cy="2440508"/>
              </a:xfrm>
              <a:prstGeom prst="rect">
                <a:avLst/>
              </a:prstGeom>
              <a:solidFill>
                <a:srgbClr val="FFF2CC"/>
              </a:solidFill>
              <a:ln cap="flat" cmpd="sng" w="9525">
                <a:solidFill>
                  <a:srgbClr val="7F7F7F"/>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0">
                  <a:solidFill>
                    <a:schemeClr val="dk1"/>
                  </a:solidFill>
                  <a:latin typeface="Calibri"/>
                  <a:ea typeface="Calibri"/>
                  <a:cs typeface="Calibri"/>
                  <a:sym typeface="Calibri"/>
                </a:endParaRPr>
              </a:p>
            </p:txBody>
          </p:sp>
          <p:sp>
            <p:nvSpPr>
              <p:cNvPr id="1776" name="Google Shape;1776;p96"/>
              <p:cNvSpPr/>
              <p:nvPr/>
            </p:nvSpPr>
            <p:spPr>
              <a:xfrm>
                <a:off x="7769912" y="1969081"/>
                <a:ext cx="3956333" cy="1515098"/>
              </a:xfrm>
              <a:prstGeom prst="rect">
                <a:avLst/>
              </a:prstGeom>
              <a:solidFill>
                <a:srgbClr val="B3C6E7"/>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1777" name="Google Shape;1777;p96"/>
              <p:cNvSpPr txBox="1"/>
              <p:nvPr/>
            </p:nvSpPr>
            <p:spPr>
              <a:xfrm>
                <a:off x="7624243" y="1210562"/>
                <a:ext cx="196842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Main Memory</a:t>
                </a:r>
                <a:endParaRPr/>
              </a:p>
            </p:txBody>
          </p:sp>
          <p:sp>
            <p:nvSpPr>
              <p:cNvPr id="1778" name="Google Shape;1778;p96"/>
              <p:cNvSpPr txBox="1"/>
              <p:nvPr/>
            </p:nvSpPr>
            <p:spPr>
              <a:xfrm>
                <a:off x="7836450" y="1989610"/>
                <a:ext cx="95359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Buffer</a:t>
                </a:r>
                <a:endParaRPr/>
              </a:p>
            </p:txBody>
          </p:sp>
        </p:grpSp>
        <p:sp>
          <p:nvSpPr>
            <p:cNvPr id="1779" name="Google Shape;1779;p96"/>
            <p:cNvSpPr/>
            <p:nvPr/>
          </p:nvSpPr>
          <p:spPr>
            <a:xfrm>
              <a:off x="7843740"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80" name="Google Shape;1780;p96"/>
            <p:cNvSpPr/>
            <p:nvPr/>
          </p:nvSpPr>
          <p:spPr>
            <a:xfrm>
              <a:off x="9055124"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81" name="Google Shape;1781;p96"/>
            <p:cNvSpPr/>
            <p:nvPr/>
          </p:nvSpPr>
          <p:spPr>
            <a:xfrm>
              <a:off x="10266508"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782" name="Google Shape;1782;p96"/>
          <p:cNvSpPr/>
          <p:nvPr/>
        </p:nvSpPr>
        <p:spPr>
          <a:xfrm>
            <a:off x="6187074" y="3205895"/>
            <a:ext cx="1461477"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83" name="Google Shape;1783;p96"/>
          <p:cNvSpPr/>
          <p:nvPr/>
        </p:nvSpPr>
        <p:spPr>
          <a:xfrm rot="10800000">
            <a:off x="6187073" y="3657050"/>
            <a:ext cx="1461478"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84" name="Google Shape;1784;p96"/>
          <p:cNvSpPr txBox="1"/>
          <p:nvPr/>
        </p:nvSpPr>
        <p:spPr>
          <a:xfrm>
            <a:off x="2216639" y="2966228"/>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1</a:t>
            </a:r>
            <a:endParaRPr/>
          </a:p>
        </p:txBody>
      </p:sp>
      <p:sp>
        <p:nvSpPr>
          <p:cNvPr id="1785" name="Google Shape;1785;p96"/>
          <p:cNvSpPr txBox="1"/>
          <p:nvPr/>
        </p:nvSpPr>
        <p:spPr>
          <a:xfrm>
            <a:off x="2216226" y="3655364"/>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2</a:t>
            </a:r>
            <a:endParaRPr/>
          </a:p>
        </p:txBody>
      </p:sp>
      <p:sp>
        <p:nvSpPr>
          <p:cNvPr id="1786" name="Google Shape;1786;p96"/>
          <p:cNvSpPr txBox="1"/>
          <p:nvPr>
            <p:ph idx="1" type="body"/>
          </p:nvPr>
        </p:nvSpPr>
        <p:spPr>
          <a:xfrm>
            <a:off x="1218460" y="5214528"/>
            <a:ext cx="10515600" cy="5414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None/>
            </a:pPr>
            <a:r>
              <a:rPr lang="en-US" sz="3200"/>
              <a:t>2.  Now just run the </a:t>
            </a:r>
            <a:r>
              <a:rPr b="1" lang="en-US" sz="3200"/>
              <a:t>external merge</a:t>
            </a:r>
            <a:r>
              <a:rPr lang="en-US" sz="3200"/>
              <a:t> algorithm &amp; we’re done!</a:t>
            </a:r>
            <a:endParaRPr b="1" sz="3200"/>
          </a:p>
        </p:txBody>
      </p:sp>
      <p:grpSp>
        <p:nvGrpSpPr>
          <p:cNvPr id="1787" name="Google Shape;1787;p96"/>
          <p:cNvGrpSpPr/>
          <p:nvPr/>
        </p:nvGrpSpPr>
        <p:grpSpPr>
          <a:xfrm>
            <a:off x="2844928" y="2929564"/>
            <a:ext cx="3012421" cy="400110"/>
            <a:chOff x="2844928" y="2635940"/>
            <a:chExt cx="3012421" cy="400110"/>
          </a:xfrm>
        </p:grpSpPr>
        <p:sp>
          <p:nvSpPr>
            <p:cNvPr id="1788" name="Google Shape;1788;p96"/>
            <p:cNvSpPr txBox="1"/>
            <p:nvPr/>
          </p:nvSpPr>
          <p:spPr>
            <a:xfrm>
              <a:off x="3874097" y="2635940"/>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31,33</a:t>
              </a:r>
              <a:endParaRPr/>
            </a:p>
          </p:txBody>
        </p:sp>
        <p:sp>
          <p:nvSpPr>
            <p:cNvPr id="1789" name="Google Shape;1789;p96"/>
            <p:cNvSpPr txBox="1"/>
            <p:nvPr/>
          </p:nvSpPr>
          <p:spPr>
            <a:xfrm>
              <a:off x="4903242" y="2635940"/>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44,55</a:t>
              </a:r>
              <a:endParaRPr/>
            </a:p>
          </p:txBody>
        </p:sp>
        <p:sp>
          <p:nvSpPr>
            <p:cNvPr id="1790" name="Google Shape;1790;p96"/>
            <p:cNvSpPr txBox="1"/>
            <p:nvPr/>
          </p:nvSpPr>
          <p:spPr>
            <a:xfrm>
              <a:off x="2844928" y="2635940"/>
              <a:ext cx="954106"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10,12</a:t>
              </a:r>
              <a:endParaRPr/>
            </a:p>
          </p:txBody>
        </p:sp>
      </p:grpSp>
      <p:sp>
        <p:nvSpPr>
          <p:cNvPr id="1791" name="Google Shape;1791;p96"/>
          <p:cNvSpPr txBox="1"/>
          <p:nvPr/>
        </p:nvSpPr>
        <p:spPr>
          <a:xfrm>
            <a:off x="3874072" y="3655364"/>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18,22</a:t>
            </a:r>
            <a:endParaRPr/>
          </a:p>
        </p:txBody>
      </p:sp>
      <p:sp>
        <p:nvSpPr>
          <p:cNvPr id="1792" name="Google Shape;1792;p96"/>
          <p:cNvSpPr txBox="1"/>
          <p:nvPr/>
        </p:nvSpPr>
        <p:spPr>
          <a:xfrm>
            <a:off x="4903217" y="3655364"/>
            <a:ext cx="95413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24,27</a:t>
            </a:r>
            <a:endParaRPr/>
          </a:p>
        </p:txBody>
      </p:sp>
      <p:sp>
        <p:nvSpPr>
          <p:cNvPr id="1793" name="Google Shape;1793;p96"/>
          <p:cNvSpPr txBox="1"/>
          <p:nvPr/>
        </p:nvSpPr>
        <p:spPr>
          <a:xfrm>
            <a:off x="2844927" y="3655364"/>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1,3</a:t>
            </a:r>
            <a:endParaRPr/>
          </a:p>
        </p:txBody>
      </p:sp>
      <p:sp>
        <p:nvSpPr>
          <p:cNvPr id="1794" name="Google Shape;1794;p96"/>
          <p:cNvSpPr txBox="1"/>
          <p:nvPr/>
        </p:nvSpPr>
        <p:spPr>
          <a:xfrm>
            <a:off x="182898" y="1734844"/>
            <a:ext cx="2295585"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Example:</a:t>
            </a:r>
            <a:endParaRPr/>
          </a:p>
          <a:p>
            <a:pPr indent="-342900" lvl="0" marL="342900" marR="0" rtl="0" algn="l">
              <a:spcBef>
                <a:spcPts val="0"/>
              </a:spcBef>
              <a:spcAft>
                <a:spcPts val="0"/>
              </a:spcAft>
              <a:buClr>
                <a:schemeClr val="dk1"/>
              </a:buClr>
              <a:buSzPts val="2400"/>
              <a:buFont typeface="Arial"/>
              <a:buChar char="•"/>
            </a:pPr>
            <a:r>
              <a:rPr b="1" lang="en-US" sz="2400">
                <a:solidFill>
                  <a:schemeClr val="dk1"/>
                </a:solidFill>
                <a:latin typeface="Calibri"/>
                <a:ea typeface="Calibri"/>
                <a:cs typeface="Calibri"/>
                <a:sym typeface="Calibri"/>
              </a:rPr>
              <a:t>3 Buffer pages</a:t>
            </a:r>
            <a:endParaRPr/>
          </a:p>
          <a:p>
            <a:pPr indent="-342900" lvl="0" marL="342900" marR="0" rtl="0" algn="l">
              <a:spcBef>
                <a:spcPts val="0"/>
              </a:spcBef>
              <a:spcAft>
                <a:spcPts val="0"/>
              </a:spcAft>
              <a:buClr>
                <a:schemeClr val="dk1"/>
              </a:buClr>
              <a:buSzPts val="2400"/>
              <a:buFont typeface="Arial"/>
              <a:buChar char="•"/>
            </a:pPr>
            <a:r>
              <a:rPr b="1" lang="en-US" sz="2400">
                <a:solidFill>
                  <a:schemeClr val="dk1"/>
                </a:solidFill>
                <a:latin typeface="Calibri"/>
                <a:ea typeface="Calibri"/>
                <a:cs typeface="Calibri"/>
                <a:sym typeface="Calibri"/>
              </a:rPr>
              <a:t>6-page file</a:t>
            </a:r>
            <a:endParaRPr/>
          </a:p>
        </p:txBody>
      </p:sp>
      <p:grpSp>
        <p:nvGrpSpPr>
          <p:cNvPr id="1795" name="Google Shape;1795;p96"/>
          <p:cNvGrpSpPr/>
          <p:nvPr/>
        </p:nvGrpSpPr>
        <p:grpSpPr>
          <a:xfrm>
            <a:off x="0" y="-22510"/>
            <a:ext cx="12192000" cy="307777"/>
            <a:chOff x="0" y="-22510"/>
            <a:chExt cx="12192000" cy="307777"/>
          </a:xfrm>
        </p:grpSpPr>
        <p:sp>
          <p:nvSpPr>
            <p:cNvPr id="1796" name="Google Shape;1796;p96"/>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797" name="Google Shape;1797;p96"/>
            <p:cNvSpPr txBox="1"/>
            <p:nvPr/>
          </p:nvSpPr>
          <p:spPr>
            <a:xfrm>
              <a:off x="188780" y="-22510"/>
              <a:ext cx="170142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  External Merge Sort</a:t>
              </a:r>
              <a:endParaRPr/>
            </a:p>
          </p:txBody>
        </p:sp>
      </p:gr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1" name="Shape 1801"/>
        <p:cNvGrpSpPr/>
        <p:nvPr/>
      </p:nvGrpSpPr>
      <p:grpSpPr>
        <a:xfrm>
          <a:off x="0" y="0"/>
          <a:ext cx="0" cy="0"/>
          <a:chOff x="0" y="0"/>
          <a:chExt cx="0" cy="0"/>
        </a:xfrm>
      </p:grpSpPr>
      <p:sp>
        <p:nvSpPr>
          <p:cNvPr id="1802" name="Google Shape;1802;p9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Calculating IO Cost</a:t>
            </a:r>
            <a:endParaRPr/>
          </a:p>
        </p:txBody>
      </p:sp>
      <p:sp>
        <p:nvSpPr>
          <p:cNvPr id="1803" name="Google Shape;1803;p9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lang="en-US"/>
              <a:t>For 3 buffer pages, 6 page file:</a:t>
            </a:r>
            <a:endParaRPr/>
          </a:p>
          <a:p>
            <a:pPr indent="-336550" lvl="0" marL="514350" rtl="0" algn="l">
              <a:lnSpc>
                <a:spcPct val="90000"/>
              </a:lnSpc>
              <a:spcBef>
                <a:spcPts val="1000"/>
              </a:spcBef>
              <a:spcAft>
                <a:spcPts val="0"/>
              </a:spcAft>
              <a:buClr>
                <a:schemeClr val="dk1"/>
              </a:buClr>
              <a:buSzPts val="2800"/>
              <a:buFont typeface="Calibri"/>
              <a:buNone/>
            </a:pPr>
            <a:r>
              <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Split into </a:t>
            </a:r>
            <a:r>
              <a:rPr b="1" lang="en-US" u="sng"/>
              <a:t>two 3-page files</a:t>
            </a:r>
            <a:r>
              <a:rPr lang="en-US"/>
              <a:t> and </a:t>
            </a:r>
            <a:r>
              <a:rPr b="1" lang="en-US"/>
              <a:t>sort in memory </a:t>
            </a:r>
            <a:endParaRPr/>
          </a:p>
          <a:p>
            <a:pPr indent="-514350" lvl="1" marL="971550" rtl="0" algn="l">
              <a:lnSpc>
                <a:spcPct val="90000"/>
              </a:lnSpc>
              <a:spcBef>
                <a:spcPts val="500"/>
              </a:spcBef>
              <a:spcAft>
                <a:spcPts val="0"/>
              </a:spcAft>
              <a:buClr>
                <a:schemeClr val="dk1"/>
              </a:buClr>
              <a:buSzPts val="2400"/>
              <a:buFont typeface="Calibri"/>
              <a:buAutoNum type="arabicPeriod"/>
            </a:pPr>
            <a:r>
              <a:rPr b="1" lang="en-US"/>
              <a:t>= 1 R + 1 W for each page = 2*(3 + 3) = 12 IO operations</a:t>
            </a:r>
            <a:endParaRPr/>
          </a:p>
          <a:p>
            <a:pPr indent="-336550" lvl="0" marL="514350" rtl="0" algn="l">
              <a:lnSpc>
                <a:spcPct val="90000"/>
              </a:lnSpc>
              <a:spcBef>
                <a:spcPts val="1000"/>
              </a:spcBef>
              <a:spcAft>
                <a:spcPts val="0"/>
              </a:spcAft>
              <a:buClr>
                <a:schemeClr val="dk1"/>
              </a:buClr>
              <a:buSzPts val="2800"/>
              <a:buFont typeface="Calibri"/>
              <a:buNone/>
            </a:pPr>
            <a:r>
              <a:t/>
            </a:r>
            <a:endParaRPr/>
          </a:p>
          <a:p>
            <a:pPr indent="-514350" lvl="0" marL="514350" rtl="0" algn="l">
              <a:lnSpc>
                <a:spcPct val="90000"/>
              </a:lnSpc>
              <a:spcBef>
                <a:spcPts val="1000"/>
              </a:spcBef>
              <a:spcAft>
                <a:spcPts val="0"/>
              </a:spcAft>
              <a:buClr>
                <a:schemeClr val="dk1"/>
              </a:buClr>
              <a:buSzPts val="2800"/>
              <a:buFont typeface="Calibri"/>
              <a:buAutoNum type="arabicPeriod"/>
            </a:pPr>
            <a:r>
              <a:rPr b="1" lang="en-US"/>
              <a:t>Merge</a:t>
            </a:r>
            <a:r>
              <a:rPr lang="en-US"/>
              <a:t> each pair of sorted chunks </a:t>
            </a:r>
            <a:r>
              <a:rPr b="1" i="1" lang="en-US"/>
              <a:t>using the external merge algorithm </a:t>
            </a:r>
            <a:endParaRPr/>
          </a:p>
          <a:p>
            <a:pPr indent="-514350" lvl="1" marL="971550" rtl="0" algn="l">
              <a:lnSpc>
                <a:spcPct val="90000"/>
              </a:lnSpc>
              <a:spcBef>
                <a:spcPts val="500"/>
              </a:spcBef>
              <a:spcAft>
                <a:spcPts val="0"/>
              </a:spcAft>
              <a:buClr>
                <a:schemeClr val="dk1"/>
              </a:buClr>
              <a:buSzPts val="2400"/>
              <a:buFont typeface="Calibri"/>
              <a:buAutoNum type="arabicPeriod"/>
            </a:pPr>
            <a:r>
              <a:rPr b="1" lang="en-US"/>
              <a:t>= 2*(3 + 3) = 12 IO operations</a:t>
            </a:r>
            <a:endParaRPr/>
          </a:p>
          <a:p>
            <a:pPr indent="-361950" lvl="1" marL="971550" rtl="0" algn="l">
              <a:lnSpc>
                <a:spcPct val="90000"/>
              </a:lnSpc>
              <a:spcBef>
                <a:spcPts val="500"/>
              </a:spcBef>
              <a:spcAft>
                <a:spcPts val="0"/>
              </a:spcAft>
              <a:buClr>
                <a:schemeClr val="dk1"/>
              </a:buClr>
              <a:buSzPts val="2400"/>
              <a:buFont typeface="Calibri"/>
              <a:buNone/>
            </a:pPr>
            <a:r>
              <a:t/>
            </a:r>
            <a:endParaRPr b="1"/>
          </a:p>
          <a:p>
            <a:pPr indent="-514350" lvl="0" marL="514350" rtl="0" algn="l">
              <a:lnSpc>
                <a:spcPct val="90000"/>
              </a:lnSpc>
              <a:spcBef>
                <a:spcPts val="1000"/>
              </a:spcBef>
              <a:spcAft>
                <a:spcPts val="0"/>
              </a:spcAft>
              <a:buClr>
                <a:schemeClr val="dk1"/>
              </a:buClr>
              <a:buSzPts val="2800"/>
              <a:buFont typeface="Calibri"/>
              <a:buAutoNum type="arabicPeriod"/>
            </a:pPr>
            <a:r>
              <a:rPr b="1" lang="en-US"/>
              <a:t>Total cost = 24 IO</a:t>
            </a:r>
            <a:endParaRPr/>
          </a:p>
          <a:p>
            <a:pPr indent="0" lvl="0" marL="0" rtl="0" algn="l">
              <a:lnSpc>
                <a:spcPct val="90000"/>
              </a:lnSpc>
              <a:spcBef>
                <a:spcPts val="1000"/>
              </a:spcBef>
              <a:spcAft>
                <a:spcPts val="0"/>
              </a:spcAft>
              <a:buClr>
                <a:schemeClr val="dk1"/>
              </a:buClr>
              <a:buSzPts val="2800"/>
              <a:buNone/>
            </a:pPr>
            <a:r>
              <a:t/>
            </a:r>
            <a:endParaRPr b="1" i="1"/>
          </a:p>
        </p:txBody>
      </p:sp>
      <p:grpSp>
        <p:nvGrpSpPr>
          <p:cNvPr id="1804" name="Google Shape;1804;p97"/>
          <p:cNvGrpSpPr/>
          <p:nvPr/>
        </p:nvGrpSpPr>
        <p:grpSpPr>
          <a:xfrm>
            <a:off x="0" y="-22510"/>
            <a:ext cx="12192000" cy="307777"/>
            <a:chOff x="0" y="-22510"/>
            <a:chExt cx="12192000" cy="307777"/>
          </a:xfrm>
        </p:grpSpPr>
        <p:sp>
          <p:nvSpPr>
            <p:cNvPr id="1805" name="Google Shape;1805;p97"/>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806" name="Google Shape;1806;p97"/>
            <p:cNvSpPr txBox="1"/>
            <p:nvPr/>
          </p:nvSpPr>
          <p:spPr>
            <a:xfrm>
              <a:off x="188780" y="-22510"/>
              <a:ext cx="170142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  External Merge Sort</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3">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0" name="Shape 1810"/>
        <p:cNvGrpSpPr/>
        <p:nvPr/>
      </p:nvGrpSpPr>
      <p:grpSpPr>
        <a:xfrm>
          <a:off x="0" y="0"/>
          <a:ext cx="0" cy="0"/>
          <a:chOff x="0" y="0"/>
          <a:chExt cx="0" cy="0"/>
        </a:xfrm>
      </p:grpSpPr>
      <p:sp>
        <p:nvSpPr>
          <p:cNvPr id="1811" name="Google Shape;1811;p9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Running External Merge Sort on Larger Files</a:t>
            </a:r>
            <a:endParaRPr/>
          </a:p>
        </p:txBody>
      </p:sp>
      <p:sp>
        <p:nvSpPr>
          <p:cNvPr id="1812" name="Google Shape;1812;p98"/>
          <p:cNvSpPr/>
          <p:nvPr/>
        </p:nvSpPr>
        <p:spPr>
          <a:xfrm>
            <a:off x="436783" y="2085749"/>
            <a:ext cx="2232468" cy="4162852"/>
          </a:xfrm>
          <a:prstGeom prst="can">
            <a:avLst>
              <a:gd fmla="val 9229"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1813" name="Google Shape;1813;p98"/>
          <p:cNvSpPr/>
          <p:nvPr/>
        </p:nvSpPr>
        <p:spPr>
          <a:xfrm>
            <a:off x="500657" y="2470975"/>
            <a:ext cx="2128680" cy="3699480"/>
          </a:xfrm>
          <a:prstGeom prst="roundRect">
            <a:avLst>
              <a:gd fmla="val 16667" name="adj"/>
            </a:avLst>
          </a:prstGeom>
          <a:solidFill>
            <a:srgbClr val="FBE4D4"/>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14" name="Google Shape;1814;p98"/>
          <p:cNvSpPr txBox="1"/>
          <p:nvPr/>
        </p:nvSpPr>
        <p:spPr>
          <a:xfrm>
            <a:off x="1093923" y="1793054"/>
            <a:ext cx="91818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Disk</a:t>
            </a:r>
            <a:endParaRPr/>
          </a:p>
        </p:txBody>
      </p:sp>
      <p:grpSp>
        <p:nvGrpSpPr>
          <p:cNvPr id="1815" name="Google Shape;1815;p98"/>
          <p:cNvGrpSpPr/>
          <p:nvPr/>
        </p:nvGrpSpPr>
        <p:grpSpPr>
          <a:xfrm>
            <a:off x="594718" y="2629977"/>
            <a:ext cx="1945043" cy="261610"/>
            <a:chOff x="2844928" y="2635940"/>
            <a:chExt cx="3012421" cy="405173"/>
          </a:xfrm>
        </p:grpSpPr>
        <p:sp>
          <p:nvSpPr>
            <p:cNvPr id="1816" name="Google Shape;1816;p98"/>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31,33</a:t>
              </a:r>
              <a:endParaRPr/>
            </a:p>
          </p:txBody>
        </p:sp>
        <p:sp>
          <p:nvSpPr>
            <p:cNvPr id="1817" name="Google Shape;1817;p98"/>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44,55</a:t>
              </a:r>
              <a:endParaRPr/>
            </a:p>
          </p:txBody>
        </p:sp>
        <p:sp>
          <p:nvSpPr>
            <p:cNvPr id="1818" name="Google Shape;1818;p98"/>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10,12</a:t>
              </a:r>
              <a:endParaRPr/>
            </a:p>
          </p:txBody>
        </p:sp>
      </p:grpSp>
      <p:sp>
        <p:nvSpPr>
          <p:cNvPr id="1819" name="Google Shape;1819;p98"/>
          <p:cNvSpPr txBox="1"/>
          <p:nvPr/>
        </p:nvSpPr>
        <p:spPr>
          <a:xfrm>
            <a:off x="1262498" y="3098608"/>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18,43</a:t>
            </a:r>
            <a:endParaRPr/>
          </a:p>
        </p:txBody>
      </p:sp>
      <p:sp>
        <p:nvSpPr>
          <p:cNvPr id="1820" name="Google Shape;1820;p98"/>
          <p:cNvSpPr txBox="1"/>
          <p:nvPr/>
        </p:nvSpPr>
        <p:spPr>
          <a:xfrm>
            <a:off x="1923702" y="3098608"/>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24,27</a:t>
            </a:r>
            <a:endParaRPr/>
          </a:p>
        </p:txBody>
      </p:sp>
      <p:sp>
        <p:nvSpPr>
          <p:cNvPr id="1821" name="Google Shape;1821;p98"/>
          <p:cNvSpPr txBox="1"/>
          <p:nvPr/>
        </p:nvSpPr>
        <p:spPr>
          <a:xfrm>
            <a:off x="594717" y="3098608"/>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45,38</a:t>
            </a:r>
            <a:endParaRPr/>
          </a:p>
        </p:txBody>
      </p:sp>
      <p:sp>
        <p:nvSpPr>
          <p:cNvPr id="1822" name="Google Shape;1822;p98"/>
          <p:cNvSpPr txBox="1"/>
          <p:nvPr/>
        </p:nvSpPr>
        <p:spPr>
          <a:xfrm>
            <a:off x="9251940" y="1597070"/>
            <a:ext cx="2586398" cy="1569660"/>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Assume we still only have </a:t>
            </a:r>
            <a:r>
              <a:rPr i="1" lang="en-US" sz="2400">
                <a:solidFill>
                  <a:schemeClr val="dk1"/>
                </a:solidFill>
                <a:latin typeface="Calibri"/>
                <a:ea typeface="Calibri"/>
                <a:cs typeface="Calibri"/>
                <a:sym typeface="Calibri"/>
              </a:rPr>
              <a:t>3</a:t>
            </a:r>
            <a:r>
              <a:rPr lang="en-US" sz="2400">
                <a:solidFill>
                  <a:schemeClr val="dk1"/>
                </a:solidFill>
                <a:latin typeface="Calibri"/>
                <a:ea typeface="Calibri"/>
                <a:cs typeface="Calibri"/>
                <a:sym typeface="Calibri"/>
              </a:rPr>
              <a:t> buffer pages </a:t>
            </a:r>
            <a:r>
              <a:rPr i="1" lang="en-US" sz="2400">
                <a:solidFill>
                  <a:schemeClr val="dk1"/>
                </a:solidFill>
                <a:latin typeface="Calibri"/>
                <a:ea typeface="Calibri"/>
                <a:cs typeface="Calibri"/>
                <a:sym typeface="Calibri"/>
              </a:rPr>
              <a:t>(Buffer not pictured)</a:t>
            </a:r>
            <a:endParaRPr/>
          </a:p>
        </p:txBody>
      </p:sp>
      <p:grpSp>
        <p:nvGrpSpPr>
          <p:cNvPr id="1823" name="Google Shape;1823;p98"/>
          <p:cNvGrpSpPr/>
          <p:nvPr/>
        </p:nvGrpSpPr>
        <p:grpSpPr>
          <a:xfrm>
            <a:off x="594718" y="3528831"/>
            <a:ext cx="1945043" cy="261610"/>
            <a:chOff x="2844928" y="2635940"/>
            <a:chExt cx="3012421" cy="405173"/>
          </a:xfrm>
        </p:grpSpPr>
        <p:sp>
          <p:nvSpPr>
            <p:cNvPr id="1824" name="Google Shape;1824;p98"/>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31,33</a:t>
              </a:r>
              <a:endParaRPr/>
            </a:p>
          </p:txBody>
        </p:sp>
        <p:sp>
          <p:nvSpPr>
            <p:cNvPr id="1825" name="Google Shape;1825;p98"/>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47,55</a:t>
              </a:r>
              <a:endParaRPr/>
            </a:p>
          </p:txBody>
        </p:sp>
        <p:sp>
          <p:nvSpPr>
            <p:cNvPr id="1826" name="Google Shape;1826;p98"/>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10,12</a:t>
              </a:r>
              <a:endParaRPr/>
            </a:p>
          </p:txBody>
        </p:sp>
      </p:grpSp>
      <p:sp>
        <p:nvSpPr>
          <p:cNvPr id="1827" name="Google Shape;1827;p98"/>
          <p:cNvSpPr txBox="1"/>
          <p:nvPr/>
        </p:nvSpPr>
        <p:spPr>
          <a:xfrm>
            <a:off x="1262499" y="3997462"/>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18,22</a:t>
            </a:r>
            <a:endParaRPr/>
          </a:p>
        </p:txBody>
      </p:sp>
      <p:sp>
        <p:nvSpPr>
          <p:cNvPr id="1828" name="Google Shape;1828;p98"/>
          <p:cNvSpPr txBox="1"/>
          <p:nvPr/>
        </p:nvSpPr>
        <p:spPr>
          <a:xfrm>
            <a:off x="1923702" y="3997462"/>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23,20</a:t>
            </a:r>
            <a:endParaRPr/>
          </a:p>
        </p:txBody>
      </p:sp>
      <p:sp>
        <p:nvSpPr>
          <p:cNvPr id="1829" name="Google Shape;1829;p98"/>
          <p:cNvSpPr txBox="1"/>
          <p:nvPr/>
        </p:nvSpPr>
        <p:spPr>
          <a:xfrm>
            <a:off x="594717" y="3997462"/>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41,3</a:t>
            </a:r>
            <a:endParaRPr/>
          </a:p>
        </p:txBody>
      </p:sp>
      <p:grpSp>
        <p:nvGrpSpPr>
          <p:cNvPr id="1830" name="Google Shape;1830;p98"/>
          <p:cNvGrpSpPr/>
          <p:nvPr/>
        </p:nvGrpSpPr>
        <p:grpSpPr>
          <a:xfrm>
            <a:off x="591445" y="4421815"/>
            <a:ext cx="1945043" cy="261610"/>
            <a:chOff x="2844928" y="2635940"/>
            <a:chExt cx="3012421" cy="405173"/>
          </a:xfrm>
        </p:grpSpPr>
        <p:sp>
          <p:nvSpPr>
            <p:cNvPr id="1831" name="Google Shape;1831;p98"/>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31,33</a:t>
              </a:r>
              <a:endParaRPr/>
            </a:p>
          </p:txBody>
        </p:sp>
        <p:sp>
          <p:nvSpPr>
            <p:cNvPr id="1832" name="Google Shape;1832;p98"/>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39,55</a:t>
              </a:r>
              <a:endParaRPr/>
            </a:p>
          </p:txBody>
        </p:sp>
        <p:sp>
          <p:nvSpPr>
            <p:cNvPr id="1833" name="Google Shape;1833;p98"/>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42,46</a:t>
              </a:r>
              <a:endParaRPr/>
            </a:p>
          </p:txBody>
        </p:sp>
      </p:grpSp>
      <p:sp>
        <p:nvSpPr>
          <p:cNvPr id="1834" name="Google Shape;1834;p98"/>
          <p:cNvSpPr txBox="1"/>
          <p:nvPr/>
        </p:nvSpPr>
        <p:spPr>
          <a:xfrm>
            <a:off x="1259226" y="4890446"/>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18,23</a:t>
            </a:r>
            <a:endParaRPr/>
          </a:p>
        </p:txBody>
      </p:sp>
      <p:sp>
        <p:nvSpPr>
          <p:cNvPr id="1835" name="Google Shape;1835;p98"/>
          <p:cNvSpPr txBox="1"/>
          <p:nvPr/>
        </p:nvSpPr>
        <p:spPr>
          <a:xfrm>
            <a:off x="1920429" y="4890446"/>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24,27</a:t>
            </a:r>
            <a:endParaRPr/>
          </a:p>
        </p:txBody>
      </p:sp>
      <p:sp>
        <p:nvSpPr>
          <p:cNvPr id="1836" name="Google Shape;1836;p98"/>
          <p:cNvSpPr txBox="1"/>
          <p:nvPr/>
        </p:nvSpPr>
        <p:spPr>
          <a:xfrm>
            <a:off x="591444" y="4890446"/>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1,3</a:t>
            </a:r>
            <a:endParaRPr/>
          </a:p>
        </p:txBody>
      </p:sp>
      <p:grpSp>
        <p:nvGrpSpPr>
          <p:cNvPr id="1837" name="Google Shape;1837;p98"/>
          <p:cNvGrpSpPr/>
          <p:nvPr/>
        </p:nvGrpSpPr>
        <p:grpSpPr>
          <a:xfrm>
            <a:off x="588172" y="5325261"/>
            <a:ext cx="1945043" cy="261610"/>
            <a:chOff x="2844928" y="2635940"/>
            <a:chExt cx="3012421" cy="405173"/>
          </a:xfrm>
        </p:grpSpPr>
        <p:sp>
          <p:nvSpPr>
            <p:cNvPr id="1838" name="Google Shape;1838;p98"/>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48,33</a:t>
              </a:r>
              <a:endParaRPr/>
            </a:p>
          </p:txBody>
        </p:sp>
        <p:sp>
          <p:nvSpPr>
            <p:cNvPr id="1839" name="Google Shape;1839;p98"/>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44,40</a:t>
              </a:r>
              <a:endParaRPr/>
            </a:p>
          </p:txBody>
        </p:sp>
        <p:sp>
          <p:nvSpPr>
            <p:cNvPr id="1840" name="Google Shape;1840;p98"/>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10,12</a:t>
              </a:r>
              <a:endParaRPr/>
            </a:p>
          </p:txBody>
        </p:sp>
      </p:grpSp>
      <p:sp>
        <p:nvSpPr>
          <p:cNvPr id="1841" name="Google Shape;1841;p98"/>
          <p:cNvSpPr txBox="1"/>
          <p:nvPr/>
        </p:nvSpPr>
        <p:spPr>
          <a:xfrm>
            <a:off x="1255953" y="5793892"/>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18,22</a:t>
            </a:r>
            <a:endParaRPr/>
          </a:p>
        </p:txBody>
      </p:sp>
      <p:sp>
        <p:nvSpPr>
          <p:cNvPr id="1842" name="Google Shape;1842;p98"/>
          <p:cNvSpPr txBox="1"/>
          <p:nvPr/>
        </p:nvSpPr>
        <p:spPr>
          <a:xfrm>
            <a:off x="1917156" y="5793892"/>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24,27</a:t>
            </a:r>
            <a:endParaRPr/>
          </a:p>
        </p:txBody>
      </p:sp>
      <p:sp>
        <p:nvSpPr>
          <p:cNvPr id="1843" name="Google Shape;1843;p98"/>
          <p:cNvSpPr txBox="1"/>
          <p:nvPr/>
        </p:nvSpPr>
        <p:spPr>
          <a:xfrm>
            <a:off x="588171" y="5793892"/>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16,31</a:t>
            </a:r>
            <a:endParaRPr/>
          </a:p>
        </p:txBody>
      </p:sp>
      <p:grpSp>
        <p:nvGrpSpPr>
          <p:cNvPr id="1844" name="Google Shape;1844;p98"/>
          <p:cNvGrpSpPr/>
          <p:nvPr/>
        </p:nvGrpSpPr>
        <p:grpSpPr>
          <a:xfrm>
            <a:off x="0" y="-22510"/>
            <a:ext cx="12192000" cy="307777"/>
            <a:chOff x="0" y="-22510"/>
            <a:chExt cx="12192000" cy="307777"/>
          </a:xfrm>
        </p:grpSpPr>
        <p:sp>
          <p:nvSpPr>
            <p:cNvPr id="1845" name="Google Shape;1845;p98"/>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846" name="Google Shape;1846;p98"/>
            <p:cNvSpPr txBox="1"/>
            <p:nvPr/>
          </p:nvSpPr>
          <p:spPr>
            <a:xfrm>
              <a:off x="188780" y="-22510"/>
              <a:ext cx="258147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  External Merge Sort: Larger files</a:t>
              </a:r>
              <a:endParaRPr/>
            </a:p>
          </p:txBody>
        </p:sp>
      </p:gr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0" name="Shape 1850"/>
        <p:cNvGrpSpPr/>
        <p:nvPr/>
      </p:nvGrpSpPr>
      <p:grpSpPr>
        <a:xfrm>
          <a:off x="0" y="0"/>
          <a:ext cx="0" cy="0"/>
          <a:chOff x="0" y="0"/>
          <a:chExt cx="0" cy="0"/>
        </a:xfrm>
      </p:grpSpPr>
      <p:sp>
        <p:nvSpPr>
          <p:cNvPr id="1851" name="Google Shape;1851;p9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Running External Merge Sort on Larger Files</a:t>
            </a:r>
            <a:endParaRPr/>
          </a:p>
        </p:txBody>
      </p:sp>
      <p:sp>
        <p:nvSpPr>
          <p:cNvPr id="1852" name="Google Shape;1852;p99"/>
          <p:cNvSpPr/>
          <p:nvPr/>
        </p:nvSpPr>
        <p:spPr>
          <a:xfrm>
            <a:off x="436783" y="2085749"/>
            <a:ext cx="2232468" cy="4162852"/>
          </a:xfrm>
          <a:prstGeom prst="can">
            <a:avLst>
              <a:gd fmla="val 9229"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1853" name="Google Shape;1853;p99"/>
          <p:cNvSpPr/>
          <p:nvPr/>
        </p:nvSpPr>
        <p:spPr>
          <a:xfrm>
            <a:off x="499430" y="3042146"/>
            <a:ext cx="2128680" cy="338992"/>
          </a:xfrm>
          <a:prstGeom prst="roundRect">
            <a:avLst>
              <a:gd fmla="val 16667" name="adj"/>
            </a:avLst>
          </a:prstGeom>
          <a:solidFill>
            <a:srgbClr val="FBE4D4"/>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54" name="Google Shape;1854;p99"/>
          <p:cNvSpPr/>
          <p:nvPr/>
        </p:nvSpPr>
        <p:spPr>
          <a:xfrm>
            <a:off x="500657" y="2579264"/>
            <a:ext cx="2128680" cy="338992"/>
          </a:xfrm>
          <a:prstGeom prst="roundRect">
            <a:avLst>
              <a:gd fmla="val 16667" name="adj"/>
            </a:avLst>
          </a:prstGeom>
          <a:solidFill>
            <a:srgbClr val="FBE4D4"/>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55" name="Google Shape;1855;p99"/>
          <p:cNvSpPr txBox="1"/>
          <p:nvPr/>
        </p:nvSpPr>
        <p:spPr>
          <a:xfrm>
            <a:off x="1093923" y="1793054"/>
            <a:ext cx="91818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Disk</a:t>
            </a:r>
            <a:endParaRPr/>
          </a:p>
        </p:txBody>
      </p:sp>
      <p:grpSp>
        <p:nvGrpSpPr>
          <p:cNvPr id="1856" name="Google Shape;1856;p99"/>
          <p:cNvGrpSpPr/>
          <p:nvPr/>
        </p:nvGrpSpPr>
        <p:grpSpPr>
          <a:xfrm>
            <a:off x="594718" y="2629977"/>
            <a:ext cx="1945043" cy="261610"/>
            <a:chOff x="2844928" y="2635940"/>
            <a:chExt cx="3012421" cy="405173"/>
          </a:xfrm>
        </p:grpSpPr>
        <p:sp>
          <p:nvSpPr>
            <p:cNvPr id="1857" name="Google Shape;1857;p99"/>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31,33</a:t>
              </a:r>
              <a:endParaRPr/>
            </a:p>
          </p:txBody>
        </p:sp>
        <p:sp>
          <p:nvSpPr>
            <p:cNvPr id="1858" name="Google Shape;1858;p99"/>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44,55</a:t>
              </a:r>
              <a:endParaRPr/>
            </a:p>
          </p:txBody>
        </p:sp>
        <p:sp>
          <p:nvSpPr>
            <p:cNvPr id="1859" name="Google Shape;1859;p99"/>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10,12</a:t>
              </a:r>
              <a:endParaRPr/>
            </a:p>
          </p:txBody>
        </p:sp>
      </p:grpSp>
      <p:sp>
        <p:nvSpPr>
          <p:cNvPr id="1860" name="Google Shape;1860;p99"/>
          <p:cNvSpPr txBox="1"/>
          <p:nvPr/>
        </p:nvSpPr>
        <p:spPr>
          <a:xfrm>
            <a:off x="1262498" y="3098608"/>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18,43</a:t>
            </a:r>
            <a:endParaRPr/>
          </a:p>
        </p:txBody>
      </p:sp>
      <p:sp>
        <p:nvSpPr>
          <p:cNvPr id="1861" name="Google Shape;1861;p99"/>
          <p:cNvSpPr txBox="1"/>
          <p:nvPr/>
        </p:nvSpPr>
        <p:spPr>
          <a:xfrm>
            <a:off x="1923702" y="3098608"/>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24,27</a:t>
            </a:r>
            <a:endParaRPr/>
          </a:p>
        </p:txBody>
      </p:sp>
      <p:sp>
        <p:nvSpPr>
          <p:cNvPr id="1862" name="Google Shape;1862;p99"/>
          <p:cNvSpPr txBox="1"/>
          <p:nvPr/>
        </p:nvSpPr>
        <p:spPr>
          <a:xfrm>
            <a:off x="594717" y="3098608"/>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45,38</a:t>
            </a:r>
            <a:endParaRPr/>
          </a:p>
        </p:txBody>
      </p:sp>
      <p:sp>
        <p:nvSpPr>
          <p:cNvPr id="1863" name="Google Shape;1863;p99"/>
          <p:cNvSpPr/>
          <p:nvPr/>
        </p:nvSpPr>
        <p:spPr>
          <a:xfrm>
            <a:off x="499430" y="3941000"/>
            <a:ext cx="2128680" cy="338992"/>
          </a:xfrm>
          <a:prstGeom prst="roundRect">
            <a:avLst>
              <a:gd fmla="val 16667" name="adj"/>
            </a:avLst>
          </a:prstGeom>
          <a:solidFill>
            <a:srgbClr val="FBE4D4"/>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64" name="Google Shape;1864;p99"/>
          <p:cNvSpPr/>
          <p:nvPr/>
        </p:nvSpPr>
        <p:spPr>
          <a:xfrm>
            <a:off x="500657" y="3478118"/>
            <a:ext cx="2128680" cy="338992"/>
          </a:xfrm>
          <a:prstGeom prst="roundRect">
            <a:avLst>
              <a:gd fmla="val 16667" name="adj"/>
            </a:avLst>
          </a:prstGeom>
          <a:solidFill>
            <a:srgbClr val="FBE4D4"/>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865" name="Google Shape;1865;p99"/>
          <p:cNvGrpSpPr/>
          <p:nvPr/>
        </p:nvGrpSpPr>
        <p:grpSpPr>
          <a:xfrm>
            <a:off x="594718" y="3528831"/>
            <a:ext cx="1945043" cy="261610"/>
            <a:chOff x="2844928" y="2635940"/>
            <a:chExt cx="3012421" cy="405173"/>
          </a:xfrm>
        </p:grpSpPr>
        <p:sp>
          <p:nvSpPr>
            <p:cNvPr id="1866" name="Google Shape;1866;p99"/>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31,33</a:t>
              </a:r>
              <a:endParaRPr/>
            </a:p>
          </p:txBody>
        </p:sp>
        <p:sp>
          <p:nvSpPr>
            <p:cNvPr id="1867" name="Google Shape;1867;p99"/>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47,55</a:t>
              </a:r>
              <a:endParaRPr/>
            </a:p>
          </p:txBody>
        </p:sp>
        <p:sp>
          <p:nvSpPr>
            <p:cNvPr id="1868" name="Google Shape;1868;p99"/>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10,12</a:t>
              </a:r>
              <a:endParaRPr/>
            </a:p>
          </p:txBody>
        </p:sp>
      </p:grpSp>
      <p:sp>
        <p:nvSpPr>
          <p:cNvPr id="1869" name="Google Shape;1869;p99"/>
          <p:cNvSpPr txBox="1"/>
          <p:nvPr/>
        </p:nvSpPr>
        <p:spPr>
          <a:xfrm>
            <a:off x="1262499" y="3997462"/>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18,22</a:t>
            </a:r>
            <a:endParaRPr/>
          </a:p>
        </p:txBody>
      </p:sp>
      <p:sp>
        <p:nvSpPr>
          <p:cNvPr id="1870" name="Google Shape;1870;p99"/>
          <p:cNvSpPr txBox="1"/>
          <p:nvPr/>
        </p:nvSpPr>
        <p:spPr>
          <a:xfrm>
            <a:off x="1923702" y="3997462"/>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23,20</a:t>
            </a:r>
            <a:endParaRPr/>
          </a:p>
        </p:txBody>
      </p:sp>
      <p:sp>
        <p:nvSpPr>
          <p:cNvPr id="1871" name="Google Shape;1871;p99"/>
          <p:cNvSpPr txBox="1"/>
          <p:nvPr/>
        </p:nvSpPr>
        <p:spPr>
          <a:xfrm>
            <a:off x="594717" y="3997462"/>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41,3</a:t>
            </a:r>
            <a:endParaRPr/>
          </a:p>
        </p:txBody>
      </p:sp>
      <p:sp>
        <p:nvSpPr>
          <p:cNvPr id="1872" name="Google Shape;1872;p99"/>
          <p:cNvSpPr/>
          <p:nvPr/>
        </p:nvSpPr>
        <p:spPr>
          <a:xfrm>
            <a:off x="496157" y="4833984"/>
            <a:ext cx="2128680" cy="338992"/>
          </a:xfrm>
          <a:prstGeom prst="roundRect">
            <a:avLst>
              <a:gd fmla="val 16667" name="adj"/>
            </a:avLst>
          </a:prstGeom>
          <a:solidFill>
            <a:srgbClr val="FBE4D4"/>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73" name="Google Shape;1873;p99"/>
          <p:cNvSpPr/>
          <p:nvPr/>
        </p:nvSpPr>
        <p:spPr>
          <a:xfrm>
            <a:off x="497384" y="4371102"/>
            <a:ext cx="2128680" cy="338992"/>
          </a:xfrm>
          <a:prstGeom prst="roundRect">
            <a:avLst>
              <a:gd fmla="val 16667" name="adj"/>
            </a:avLst>
          </a:prstGeom>
          <a:solidFill>
            <a:srgbClr val="FBE4D4"/>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874" name="Google Shape;1874;p99"/>
          <p:cNvGrpSpPr/>
          <p:nvPr/>
        </p:nvGrpSpPr>
        <p:grpSpPr>
          <a:xfrm>
            <a:off x="591445" y="4421815"/>
            <a:ext cx="1945043" cy="261610"/>
            <a:chOff x="2844928" y="2635940"/>
            <a:chExt cx="3012421" cy="405173"/>
          </a:xfrm>
        </p:grpSpPr>
        <p:sp>
          <p:nvSpPr>
            <p:cNvPr id="1875" name="Google Shape;1875;p99"/>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31,33</a:t>
              </a:r>
              <a:endParaRPr/>
            </a:p>
          </p:txBody>
        </p:sp>
        <p:sp>
          <p:nvSpPr>
            <p:cNvPr id="1876" name="Google Shape;1876;p99"/>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39,55</a:t>
              </a:r>
              <a:endParaRPr/>
            </a:p>
          </p:txBody>
        </p:sp>
        <p:sp>
          <p:nvSpPr>
            <p:cNvPr id="1877" name="Google Shape;1877;p99"/>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42,46</a:t>
              </a:r>
              <a:endParaRPr/>
            </a:p>
          </p:txBody>
        </p:sp>
      </p:grpSp>
      <p:sp>
        <p:nvSpPr>
          <p:cNvPr id="1878" name="Google Shape;1878;p99"/>
          <p:cNvSpPr txBox="1"/>
          <p:nvPr/>
        </p:nvSpPr>
        <p:spPr>
          <a:xfrm>
            <a:off x="1259226" y="4890446"/>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18,23</a:t>
            </a:r>
            <a:endParaRPr/>
          </a:p>
        </p:txBody>
      </p:sp>
      <p:sp>
        <p:nvSpPr>
          <p:cNvPr id="1879" name="Google Shape;1879;p99"/>
          <p:cNvSpPr txBox="1"/>
          <p:nvPr/>
        </p:nvSpPr>
        <p:spPr>
          <a:xfrm>
            <a:off x="1920429" y="4890446"/>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24,27</a:t>
            </a:r>
            <a:endParaRPr/>
          </a:p>
        </p:txBody>
      </p:sp>
      <p:sp>
        <p:nvSpPr>
          <p:cNvPr id="1880" name="Google Shape;1880;p99"/>
          <p:cNvSpPr txBox="1"/>
          <p:nvPr/>
        </p:nvSpPr>
        <p:spPr>
          <a:xfrm>
            <a:off x="591444" y="4890446"/>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1,3</a:t>
            </a:r>
            <a:endParaRPr/>
          </a:p>
        </p:txBody>
      </p:sp>
      <p:sp>
        <p:nvSpPr>
          <p:cNvPr id="1881" name="Google Shape;1881;p99"/>
          <p:cNvSpPr/>
          <p:nvPr/>
        </p:nvSpPr>
        <p:spPr>
          <a:xfrm>
            <a:off x="492884" y="5737430"/>
            <a:ext cx="2128680" cy="338992"/>
          </a:xfrm>
          <a:prstGeom prst="roundRect">
            <a:avLst>
              <a:gd fmla="val 16667" name="adj"/>
            </a:avLst>
          </a:prstGeom>
          <a:solidFill>
            <a:srgbClr val="FBE4D4"/>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82" name="Google Shape;1882;p99"/>
          <p:cNvSpPr/>
          <p:nvPr/>
        </p:nvSpPr>
        <p:spPr>
          <a:xfrm>
            <a:off x="494111" y="5274548"/>
            <a:ext cx="2128680" cy="338992"/>
          </a:xfrm>
          <a:prstGeom prst="roundRect">
            <a:avLst>
              <a:gd fmla="val 16667" name="adj"/>
            </a:avLst>
          </a:prstGeom>
          <a:solidFill>
            <a:srgbClr val="FBE4D4"/>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883" name="Google Shape;1883;p99"/>
          <p:cNvGrpSpPr/>
          <p:nvPr/>
        </p:nvGrpSpPr>
        <p:grpSpPr>
          <a:xfrm>
            <a:off x="588172" y="5325261"/>
            <a:ext cx="1945043" cy="261610"/>
            <a:chOff x="2844928" y="2635940"/>
            <a:chExt cx="3012421" cy="405173"/>
          </a:xfrm>
        </p:grpSpPr>
        <p:sp>
          <p:nvSpPr>
            <p:cNvPr id="1884" name="Google Shape;1884;p99"/>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48,33</a:t>
              </a:r>
              <a:endParaRPr/>
            </a:p>
          </p:txBody>
        </p:sp>
        <p:sp>
          <p:nvSpPr>
            <p:cNvPr id="1885" name="Google Shape;1885;p99"/>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44,40</a:t>
              </a:r>
              <a:endParaRPr/>
            </a:p>
          </p:txBody>
        </p:sp>
        <p:sp>
          <p:nvSpPr>
            <p:cNvPr id="1886" name="Google Shape;1886;p99"/>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10,12</a:t>
              </a:r>
              <a:endParaRPr/>
            </a:p>
          </p:txBody>
        </p:sp>
      </p:grpSp>
      <p:sp>
        <p:nvSpPr>
          <p:cNvPr id="1887" name="Google Shape;1887;p99"/>
          <p:cNvSpPr txBox="1"/>
          <p:nvPr/>
        </p:nvSpPr>
        <p:spPr>
          <a:xfrm>
            <a:off x="1255953" y="5793892"/>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18,22</a:t>
            </a:r>
            <a:endParaRPr/>
          </a:p>
        </p:txBody>
      </p:sp>
      <p:sp>
        <p:nvSpPr>
          <p:cNvPr id="1888" name="Google Shape;1888;p99"/>
          <p:cNvSpPr txBox="1"/>
          <p:nvPr/>
        </p:nvSpPr>
        <p:spPr>
          <a:xfrm>
            <a:off x="1917156" y="5793892"/>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24,27</a:t>
            </a:r>
            <a:endParaRPr/>
          </a:p>
        </p:txBody>
      </p:sp>
      <p:sp>
        <p:nvSpPr>
          <p:cNvPr id="1889" name="Google Shape;1889;p99"/>
          <p:cNvSpPr txBox="1"/>
          <p:nvPr/>
        </p:nvSpPr>
        <p:spPr>
          <a:xfrm>
            <a:off x="588171" y="5793892"/>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16,31</a:t>
            </a:r>
            <a:endParaRPr/>
          </a:p>
        </p:txBody>
      </p:sp>
      <p:sp>
        <p:nvSpPr>
          <p:cNvPr id="1890" name="Google Shape;1890;p99"/>
          <p:cNvSpPr txBox="1"/>
          <p:nvPr/>
        </p:nvSpPr>
        <p:spPr>
          <a:xfrm>
            <a:off x="3238791" y="2198748"/>
            <a:ext cx="4983829"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1. Split into files small enough to sort in buffer…</a:t>
            </a:r>
            <a:endParaRPr/>
          </a:p>
        </p:txBody>
      </p:sp>
      <p:sp>
        <p:nvSpPr>
          <p:cNvPr id="1891" name="Google Shape;1891;p99"/>
          <p:cNvSpPr txBox="1"/>
          <p:nvPr/>
        </p:nvSpPr>
        <p:spPr>
          <a:xfrm>
            <a:off x="9251940" y="1597070"/>
            <a:ext cx="2586398" cy="1569660"/>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Assume we still only have </a:t>
            </a:r>
            <a:r>
              <a:rPr i="1" lang="en-US" sz="2400">
                <a:solidFill>
                  <a:schemeClr val="dk1"/>
                </a:solidFill>
                <a:latin typeface="Calibri"/>
                <a:ea typeface="Calibri"/>
                <a:cs typeface="Calibri"/>
                <a:sym typeface="Calibri"/>
              </a:rPr>
              <a:t>3</a:t>
            </a:r>
            <a:r>
              <a:rPr lang="en-US" sz="2400">
                <a:solidFill>
                  <a:schemeClr val="dk1"/>
                </a:solidFill>
                <a:latin typeface="Calibri"/>
                <a:ea typeface="Calibri"/>
                <a:cs typeface="Calibri"/>
                <a:sym typeface="Calibri"/>
              </a:rPr>
              <a:t> buffer pages </a:t>
            </a:r>
            <a:r>
              <a:rPr i="1" lang="en-US" sz="2400">
                <a:solidFill>
                  <a:schemeClr val="dk1"/>
                </a:solidFill>
                <a:latin typeface="Calibri"/>
                <a:ea typeface="Calibri"/>
                <a:cs typeface="Calibri"/>
                <a:sym typeface="Calibri"/>
              </a:rPr>
              <a:t>(Buffer not pictured)</a:t>
            </a:r>
            <a:endParaRPr/>
          </a:p>
        </p:txBody>
      </p:sp>
      <p:grpSp>
        <p:nvGrpSpPr>
          <p:cNvPr id="1892" name="Google Shape;1892;p99"/>
          <p:cNvGrpSpPr/>
          <p:nvPr/>
        </p:nvGrpSpPr>
        <p:grpSpPr>
          <a:xfrm>
            <a:off x="0" y="-22510"/>
            <a:ext cx="12192000" cy="307777"/>
            <a:chOff x="0" y="-22510"/>
            <a:chExt cx="12192000" cy="307777"/>
          </a:xfrm>
        </p:grpSpPr>
        <p:sp>
          <p:nvSpPr>
            <p:cNvPr id="1893" name="Google Shape;1893;p99"/>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894" name="Google Shape;1894;p99"/>
            <p:cNvSpPr txBox="1"/>
            <p:nvPr/>
          </p:nvSpPr>
          <p:spPr>
            <a:xfrm>
              <a:off x="188780" y="-22510"/>
              <a:ext cx="258147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  External Merge Sort: Larger files</a:t>
              </a:r>
              <a:endParaRPr/>
            </a:p>
          </p:txBody>
        </p:sp>
      </p:gr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8" name="Shape 1898"/>
        <p:cNvGrpSpPr/>
        <p:nvPr/>
      </p:nvGrpSpPr>
      <p:grpSpPr>
        <a:xfrm>
          <a:off x="0" y="0"/>
          <a:ext cx="0" cy="0"/>
          <a:chOff x="0" y="0"/>
          <a:chExt cx="0" cy="0"/>
        </a:xfrm>
      </p:grpSpPr>
      <p:sp>
        <p:nvSpPr>
          <p:cNvPr id="1899" name="Google Shape;1899;p10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Running External Merge Sort on Larger Files</a:t>
            </a:r>
            <a:endParaRPr/>
          </a:p>
        </p:txBody>
      </p:sp>
      <p:sp>
        <p:nvSpPr>
          <p:cNvPr id="1900" name="Google Shape;1900;p100"/>
          <p:cNvSpPr/>
          <p:nvPr/>
        </p:nvSpPr>
        <p:spPr>
          <a:xfrm>
            <a:off x="436783" y="2085749"/>
            <a:ext cx="2232468" cy="4162852"/>
          </a:xfrm>
          <a:prstGeom prst="can">
            <a:avLst>
              <a:gd fmla="val 9229"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1901" name="Google Shape;1901;p100"/>
          <p:cNvSpPr/>
          <p:nvPr/>
        </p:nvSpPr>
        <p:spPr>
          <a:xfrm>
            <a:off x="499430" y="3042146"/>
            <a:ext cx="2128680" cy="33899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02" name="Google Shape;1902;p100"/>
          <p:cNvSpPr/>
          <p:nvPr/>
        </p:nvSpPr>
        <p:spPr>
          <a:xfrm>
            <a:off x="500657" y="2579264"/>
            <a:ext cx="2128680" cy="33899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03" name="Google Shape;1903;p100"/>
          <p:cNvSpPr txBox="1"/>
          <p:nvPr/>
        </p:nvSpPr>
        <p:spPr>
          <a:xfrm>
            <a:off x="1093923" y="1793054"/>
            <a:ext cx="91818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Disk</a:t>
            </a:r>
            <a:endParaRPr/>
          </a:p>
        </p:txBody>
      </p:sp>
      <p:grpSp>
        <p:nvGrpSpPr>
          <p:cNvPr id="1904" name="Google Shape;1904;p100"/>
          <p:cNvGrpSpPr/>
          <p:nvPr/>
        </p:nvGrpSpPr>
        <p:grpSpPr>
          <a:xfrm>
            <a:off x="594718" y="2629977"/>
            <a:ext cx="1945043" cy="261610"/>
            <a:chOff x="2844928" y="2635940"/>
            <a:chExt cx="3012421" cy="405173"/>
          </a:xfrm>
        </p:grpSpPr>
        <p:sp>
          <p:nvSpPr>
            <p:cNvPr id="1905" name="Google Shape;1905;p100"/>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31,33</a:t>
              </a:r>
              <a:endParaRPr/>
            </a:p>
          </p:txBody>
        </p:sp>
        <p:sp>
          <p:nvSpPr>
            <p:cNvPr id="1906" name="Google Shape;1906;p100"/>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44,55</a:t>
              </a:r>
              <a:endParaRPr/>
            </a:p>
          </p:txBody>
        </p:sp>
        <p:sp>
          <p:nvSpPr>
            <p:cNvPr id="1907" name="Google Shape;1907;p100"/>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10,12</a:t>
              </a:r>
              <a:endParaRPr/>
            </a:p>
          </p:txBody>
        </p:sp>
      </p:grpSp>
      <p:sp>
        <p:nvSpPr>
          <p:cNvPr id="1908" name="Google Shape;1908;p100"/>
          <p:cNvSpPr txBox="1"/>
          <p:nvPr/>
        </p:nvSpPr>
        <p:spPr>
          <a:xfrm>
            <a:off x="1262495" y="3098608"/>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27,38</a:t>
            </a:r>
            <a:endParaRPr/>
          </a:p>
        </p:txBody>
      </p:sp>
      <p:sp>
        <p:nvSpPr>
          <p:cNvPr id="1909" name="Google Shape;1909;p100"/>
          <p:cNvSpPr txBox="1"/>
          <p:nvPr/>
        </p:nvSpPr>
        <p:spPr>
          <a:xfrm>
            <a:off x="1923702" y="3098608"/>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43,45</a:t>
            </a:r>
            <a:endParaRPr/>
          </a:p>
        </p:txBody>
      </p:sp>
      <p:sp>
        <p:nvSpPr>
          <p:cNvPr id="1910" name="Google Shape;1910;p100"/>
          <p:cNvSpPr txBox="1"/>
          <p:nvPr/>
        </p:nvSpPr>
        <p:spPr>
          <a:xfrm>
            <a:off x="594717" y="3098608"/>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18,24</a:t>
            </a:r>
            <a:endParaRPr/>
          </a:p>
        </p:txBody>
      </p:sp>
      <p:sp>
        <p:nvSpPr>
          <p:cNvPr id="1911" name="Google Shape;1911;p100"/>
          <p:cNvSpPr/>
          <p:nvPr/>
        </p:nvSpPr>
        <p:spPr>
          <a:xfrm>
            <a:off x="499430" y="3941000"/>
            <a:ext cx="2128680" cy="33899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12" name="Google Shape;1912;p100"/>
          <p:cNvSpPr/>
          <p:nvPr/>
        </p:nvSpPr>
        <p:spPr>
          <a:xfrm>
            <a:off x="500657" y="3478118"/>
            <a:ext cx="2128680" cy="33899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913" name="Google Shape;1913;p100"/>
          <p:cNvGrpSpPr/>
          <p:nvPr/>
        </p:nvGrpSpPr>
        <p:grpSpPr>
          <a:xfrm>
            <a:off x="594718" y="3528831"/>
            <a:ext cx="1945043" cy="261610"/>
            <a:chOff x="2844928" y="2635940"/>
            <a:chExt cx="3012421" cy="405173"/>
          </a:xfrm>
        </p:grpSpPr>
        <p:sp>
          <p:nvSpPr>
            <p:cNvPr id="1914" name="Google Shape;1914;p100"/>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31,33</a:t>
              </a:r>
              <a:endParaRPr/>
            </a:p>
          </p:txBody>
        </p:sp>
        <p:sp>
          <p:nvSpPr>
            <p:cNvPr id="1915" name="Google Shape;1915;p100"/>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47,55</a:t>
              </a:r>
              <a:endParaRPr/>
            </a:p>
          </p:txBody>
        </p:sp>
        <p:sp>
          <p:nvSpPr>
            <p:cNvPr id="1916" name="Google Shape;1916;p100"/>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10,12</a:t>
              </a:r>
              <a:endParaRPr/>
            </a:p>
          </p:txBody>
        </p:sp>
      </p:grpSp>
      <p:sp>
        <p:nvSpPr>
          <p:cNvPr id="1917" name="Google Shape;1917;p100"/>
          <p:cNvSpPr txBox="1"/>
          <p:nvPr/>
        </p:nvSpPr>
        <p:spPr>
          <a:xfrm>
            <a:off x="1262496" y="3997462"/>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20,22</a:t>
            </a:r>
            <a:endParaRPr/>
          </a:p>
        </p:txBody>
      </p:sp>
      <p:sp>
        <p:nvSpPr>
          <p:cNvPr id="1918" name="Google Shape;1918;p100"/>
          <p:cNvSpPr txBox="1"/>
          <p:nvPr/>
        </p:nvSpPr>
        <p:spPr>
          <a:xfrm>
            <a:off x="1923702" y="3997462"/>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23,41</a:t>
            </a:r>
            <a:endParaRPr/>
          </a:p>
        </p:txBody>
      </p:sp>
      <p:sp>
        <p:nvSpPr>
          <p:cNvPr id="1919" name="Google Shape;1919;p100"/>
          <p:cNvSpPr txBox="1"/>
          <p:nvPr/>
        </p:nvSpPr>
        <p:spPr>
          <a:xfrm>
            <a:off x="594717" y="3997462"/>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3,18</a:t>
            </a:r>
            <a:endParaRPr/>
          </a:p>
        </p:txBody>
      </p:sp>
      <p:sp>
        <p:nvSpPr>
          <p:cNvPr id="1920" name="Google Shape;1920;p100"/>
          <p:cNvSpPr/>
          <p:nvPr/>
        </p:nvSpPr>
        <p:spPr>
          <a:xfrm>
            <a:off x="496157" y="4833984"/>
            <a:ext cx="2128680" cy="33899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21" name="Google Shape;1921;p100"/>
          <p:cNvSpPr/>
          <p:nvPr/>
        </p:nvSpPr>
        <p:spPr>
          <a:xfrm>
            <a:off x="497384" y="4371102"/>
            <a:ext cx="2128680" cy="33899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922" name="Google Shape;1922;p100"/>
          <p:cNvGrpSpPr/>
          <p:nvPr/>
        </p:nvGrpSpPr>
        <p:grpSpPr>
          <a:xfrm>
            <a:off x="591445" y="4421815"/>
            <a:ext cx="1945043" cy="261610"/>
            <a:chOff x="2844928" y="2635940"/>
            <a:chExt cx="3012421" cy="405173"/>
          </a:xfrm>
        </p:grpSpPr>
        <p:sp>
          <p:nvSpPr>
            <p:cNvPr id="1923" name="Google Shape;1923;p100"/>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39,42</a:t>
              </a:r>
              <a:endParaRPr/>
            </a:p>
          </p:txBody>
        </p:sp>
        <p:sp>
          <p:nvSpPr>
            <p:cNvPr id="1924" name="Google Shape;1924;p100"/>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46,55</a:t>
              </a:r>
              <a:endParaRPr/>
            </a:p>
          </p:txBody>
        </p:sp>
        <p:sp>
          <p:nvSpPr>
            <p:cNvPr id="1925" name="Google Shape;1925;p100"/>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31,33</a:t>
              </a:r>
              <a:endParaRPr/>
            </a:p>
          </p:txBody>
        </p:sp>
      </p:grpSp>
      <p:sp>
        <p:nvSpPr>
          <p:cNvPr id="1926" name="Google Shape;1926;p100"/>
          <p:cNvSpPr txBox="1"/>
          <p:nvPr/>
        </p:nvSpPr>
        <p:spPr>
          <a:xfrm>
            <a:off x="1259226" y="4890446"/>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18,23</a:t>
            </a:r>
            <a:endParaRPr/>
          </a:p>
        </p:txBody>
      </p:sp>
      <p:sp>
        <p:nvSpPr>
          <p:cNvPr id="1927" name="Google Shape;1927;p100"/>
          <p:cNvSpPr txBox="1"/>
          <p:nvPr/>
        </p:nvSpPr>
        <p:spPr>
          <a:xfrm>
            <a:off x="1920429" y="4890446"/>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24,27</a:t>
            </a:r>
            <a:endParaRPr/>
          </a:p>
        </p:txBody>
      </p:sp>
      <p:sp>
        <p:nvSpPr>
          <p:cNvPr id="1928" name="Google Shape;1928;p100"/>
          <p:cNvSpPr txBox="1"/>
          <p:nvPr/>
        </p:nvSpPr>
        <p:spPr>
          <a:xfrm>
            <a:off x="591444" y="4890446"/>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1,3</a:t>
            </a:r>
            <a:endParaRPr/>
          </a:p>
        </p:txBody>
      </p:sp>
      <p:sp>
        <p:nvSpPr>
          <p:cNvPr id="1929" name="Google Shape;1929;p100"/>
          <p:cNvSpPr/>
          <p:nvPr/>
        </p:nvSpPr>
        <p:spPr>
          <a:xfrm>
            <a:off x="492884" y="5737430"/>
            <a:ext cx="2128680" cy="33899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30" name="Google Shape;1930;p100"/>
          <p:cNvSpPr/>
          <p:nvPr/>
        </p:nvSpPr>
        <p:spPr>
          <a:xfrm>
            <a:off x="494111" y="5274548"/>
            <a:ext cx="2128680" cy="33899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931" name="Google Shape;1931;p100"/>
          <p:cNvGrpSpPr/>
          <p:nvPr/>
        </p:nvGrpSpPr>
        <p:grpSpPr>
          <a:xfrm>
            <a:off x="588172" y="5325261"/>
            <a:ext cx="1945043" cy="261610"/>
            <a:chOff x="2844928" y="2635940"/>
            <a:chExt cx="3012421" cy="405173"/>
          </a:xfrm>
        </p:grpSpPr>
        <p:sp>
          <p:nvSpPr>
            <p:cNvPr id="1932" name="Google Shape;1932;p100"/>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33,40</a:t>
              </a:r>
              <a:endParaRPr/>
            </a:p>
          </p:txBody>
        </p:sp>
        <p:sp>
          <p:nvSpPr>
            <p:cNvPr id="1933" name="Google Shape;1933;p100"/>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44,48</a:t>
              </a:r>
              <a:endParaRPr/>
            </a:p>
          </p:txBody>
        </p:sp>
        <p:sp>
          <p:nvSpPr>
            <p:cNvPr id="1934" name="Google Shape;1934;p100"/>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10,12</a:t>
              </a:r>
              <a:endParaRPr/>
            </a:p>
          </p:txBody>
        </p:sp>
      </p:grpSp>
      <p:sp>
        <p:nvSpPr>
          <p:cNvPr id="1935" name="Google Shape;1935;p100"/>
          <p:cNvSpPr txBox="1"/>
          <p:nvPr/>
        </p:nvSpPr>
        <p:spPr>
          <a:xfrm>
            <a:off x="1255952" y="5793892"/>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22,24</a:t>
            </a:r>
            <a:endParaRPr/>
          </a:p>
        </p:txBody>
      </p:sp>
      <p:sp>
        <p:nvSpPr>
          <p:cNvPr id="1936" name="Google Shape;1936;p100"/>
          <p:cNvSpPr txBox="1"/>
          <p:nvPr/>
        </p:nvSpPr>
        <p:spPr>
          <a:xfrm>
            <a:off x="1917156" y="5793892"/>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27,31</a:t>
            </a:r>
            <a:endParaRPr/>
          </a:p>
        </p:txBody>
      </p:sp>
      <p:sp>
        <p:nvSpPr>
          <p:cNvPr id="1937" name="Google Shape;1937;p100"/>
          <p:cNvSpPr txBox="1"/>
          <p:nvPr/>
        </p:nvSpPr>
        <p:spPr>
          <a:xfrm>
            <a:off x="588171" y="5793892"/>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16,18</a:t>
            </a:r>
            <a:endParaRPr/>
          </a:p>
        </p:txBody>
      </p:sp>
      <p:sp>
        <p:nvSpPr>
          <p:cNvPr id="1938" name="Google Shape;1938;p100"/>
          <p:cNvSpPr txBox="1"/>
          <p:nvPr/>
        </p:nvSpPr>
        <p:spPr>
          <a:xfrm>
            <a:off x="3238791" y="2198748"/>
            <a:ext cx="4983829"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1. Split into files small enough to sort in buffer… and sort</a:t>
            </a:r>
            <a:endParaRPr/>
          </a:p>
        </p:txBody>
      </p:sp>
      <p:sp>
        <p:nvSpPr>
          <p:cNvPr id="1939" name="Google Shape;1939;p100"/>
          <p:cNvSpPr txBox="1"/>
          <p:nvPr/>
        </p:nvSpPr>
        <p:spPr>
          <a:xfrm>
            <a:off x="9251940" y="1597070"/>
            <a:ext cx="2586398" cy="1569660"/>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Assume we still only have </a:t>
            </a:r>
            <a:r>
              <a:rPr i="1" lang="en-US" sz="2400">
                <a:solidFill>
                  <a:schemeClr val="dk1"/>
                </a:solidFill>
                <a:latin typeface="Calibri"/>
                <a:ea typeface="Calibri"/>
                <a:cs typeface="Calibri"/>
                <a:sym typeface="Calibri"/>
              </a:rPr>
              <a:t>3</a:t>
            </a:r>
            <a:r>
              <a:rPr lang="en-US" sz="2400">
                <a:solidFill>
                  <a:schemeClr val="dk1"/>
                </a:solidFill>
                <a:latin typeface="Calibri"/>
                <a:ea typeface="Calibri"/>
                <a:cs typeface="Calibri"/>
                <a:sym typeface="Calibri"/>
              </a:rPr>
              <a:t> buffer pages </a:t>
            </a:r>
            <a:r>
              <a:rPr i="1" lang="en-US" sz="2400">
                <a:solidFill>
                  <a:schemeClr val="dk1"/>
                </a:solidFill>
                <a:latin typeface="Calibri"/>
                <a:ea typeface="Calibri"/>
                <a:cs typeface="Calibri"/>
                <a:sym typeface="Calibri"/>
              </a:rPr>
              <a:t>(Buffer not pictured)</a:t>
            </a:r>
            <a:endParaRPr/>
          </a:p>
        </p:txBody>
      </p:sp>
      <p:sp>
        <p:nvSpPr>
          <p:cNvPr id="1940" name="Google Shape;1940;p100"/>
          <p:cNvSpPr/>
          <p:nvPr/>
        </p:nvSpPr>
        <p:spPr>
          <a:xfrm>
            <a:off x="389763" y="5687677"/>
            <a:ext cx="2354926" cy="462882"/>
          </a:xfrm>
          <a:prstGeom prst="roundRect">
            <a:avLst>
              <a:gd fmla="val 16667" name="adj"/>
            </a:avLst>
          </a:prstGeom>
          <a:solidFill>
            <a:schemeClr val="accent2">
              <a:alpha val="35686"/>
            </a:schemeClr>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41" name="Google Shape;1941;p100"/>
          <p:cNvSpPr txBox="1"/>
          <p:nvPr/>
        </p:nvSpPr>
        <p:spPr>
          <a:xfrm>
            <a:off x="3144307" y="5491427"/>
            <a:ext cx="2586398" cy="830997"/>
          </a:xfrm>
          <a:prstGeom prst="rect">
            <a:avLst/>
          </a:prstGeom>
          <a:solidFill>
            <a:srgbClr val="DDEAF6"/>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Call each of these sorted files a </a:t>
            </a:r>
            <a:r>
              <a:rPr b="1" i="1" lang="en-US" sz="2400">
                <a:solidFill>
                  <a:schemeClr val="dk1"/>
                </a:solidFill>
                <a:latin typeface="Calibri"/>
                <a:ea typeface="Calibri"/>
                <a:cs typeface="Calibri"/>
                <a:sym typeface="Calibri"/>
              </a:rPr>
              <a:t>run</a:t>
            </a:r>
            <a:endParaRPr i="1" sz="2400">
              <a:solidFill>
                <a:schemeClr val="dk1"/>
              </a:solidFill>
              <a:latin typeface="Calibri"/>
              <a:ea typeface="Calibri"/>
              <a:cs typeface="Calibri"/>
              <a:sym typeface="Calibri"/>
            </a:endParaRPr>
          </a:p>
        </p:txBody>
      </p:sp>
      <p:grpSp>
        <p:nvGrpSpPr>
          <p:cNvPr id="1942" name="Google Shape;1942;p100"/>
          <p:cNvGrpSpPr/>
          <p:nvPr/>
        </p:nvGrpSpPr>
        <p:grpSpPr>
          <a:xfrm>
            <a:off x="0" y="-22510"/>
            <a:ext cx="12192000" cy="307777"/>
            <a:chOff x="0" y="-22510"/>
            <a:chExt cx="12192000" cy="307777"/>
          </a:xfrm>
        </p:grpSpPr>
        <p:sp>
          <p:nvSpPr>
            <p:cNvPr id="1943" name="Google Shape;1943;p100"/>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1944" name="Google Shape;1944;p100"/>
            <p:cNvSpPr txBox="1"/>
            <p:nvPr/>
          </p:nvSpPr>
          <p:spPr>
            <a:xfrm>
              <a:off x="188780" y="-22510"/>
              <a:ext cx="258147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  External Merge Sort: Larger files</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8" name="Shape 1948"/>
        <p:cNvGrpSpPr/>
        <p:nvPr/>
      </p:nvGrpSpPr>
      <p:grpSpPr>
        <a:xfrm>
          <a:off x="0" y="0"/>
          <a:ext cx="0" cy="0"/>
          <a:chOff x="0" y="0"/>
          <a:chExt cx="0" cy="0"/>
        </a:xfrm>
      </p:grpSpPr>
      <p:sp>
        <p:nvSpPr>
          <p:cNvPr id="1949" name="Google Shape;1949;p10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Running External Merge Sort on Larger Files</a:t>
            </a:r>
            <a:endParaRPr/>
          </a:p>
        </p:txBody>
      </p:sp>
      <p:sp>
        <p:nvSpPr>
          <p:cNvPr id="1950" name="Google Shape;1950;p101"/>
          <p:cNvSpPr/>
          <p:nvPr/>
        </p:nvSpPr>
        <p:spPr>
          <a:xfrm>
            <a:off x="436783" y="2085749"/>
            <a:ext cx="2232468" cy="4162852"/>
          </a:xfrm>
          <a:prstGeom prst="can">
            <a:avLst>
              <a:gd fmla="val 9229"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1951" name="Google Shape;1951;p101"/>
          <p:cNvSpPr/>
          <p:nvPr/>
        </p:nvSpPr>
        <p:spPr>
          <a:xfrm>
            <a:off x="499430" y="3042146"/>
            <a:ext cx="2128680" cy="33899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52" name="Google Shape;1952;p101"/>
          <p:cNvSpPr/>
          <p:nvPr/>
        </p:nvSpPr>
        <p:spPr>
          <a:xfrm>
            <a:off x="500657" y="2579264"/>
            <a:ext cx="2128680" cy="33899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53" name="Google Shape;1953;p101"/>
          <p:cNvSpPr txBox="1"/>
          <p:nvPr/>
        </p:nvSpPr>
        <p:spPr>
          <a:xfrm>
            <a:off x="1093923" y="1793054"/>
            <a:ext cx="91818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Disk</a:t>
            </a:r>
            <a:endParaRPr/>
          </a:p>
        </p:txBody>
      </p:sp>
      <p:grpSp>
        <p:nvGrpSpPr>
          <p:cNvPr id="1954" name="Google Shape;1954;p101"/>
          <p:cNvGrpSpPr/>
          <p:nvPr/>
        </p:nvGrpSpPr>
        <p:grpSpPr>
          <a:xfrm>
            <a:off x="594718" y="2629977"/>
            <a:ext cx="1945043" cy="261610"/>
            <a:chOff x="2844928" y="2635940"/>
            <a:chExt cx="3012421" cy="405173"/>
          </a:xfrm>
        </p:grpSpPr>
        <p:sp>
          <p:nvSpPr>
            <p:cNvPr id="1955" name="Google Shape;1955;p101"/>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31,33</a:t>
              </a:r>
              <a:endParaRPr/>
            </a:p>
          </p:txBody>
        </p:sp>
        <p:sp>
          <p:nvSpPr>
            <p:cNvPr id="1956" name="Google Shape;1956;p101"/>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44,55</a:t>
              </a:r>
              <a:endParaRPr/>
            </a:p>
          </p:txBody>
        </p:sp>
        <p:sp>
          <p:nvSpPr>
            <p:cNvPr id="1957" name="Google Shape;1957;p101"/>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10,12</a:t>
              </a:r>
              <a:endParaRPr/>
            </a:p>
          </p:txBody>
        </p:sp>
      </p:grpSp>
      <p:sp>
        <p:nvSpPr>
          <p:cNvPr id="1958" name="Google Shape;1958;p101"/>
          <p:cNvSpPr txBox="1"/>
          <p:nvPr/>
        </p:nvSpPr>
        <p:spPr>
          <a:xfrm>
            <a:off x="1262495" y="3098608"/>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27,38</a:t>
            </a:r>
            <a:endParaRPr/>
          </a:p>
        </p:txBody>
      </p:sp>
      <p:sp>
        <p:nvSpPr>
          <p:cNvPr id="1959" name="Google Shape;1959;p101"/>
          <p:cNvSpPr txBox="1"/>
          <p:nvPr/>
        </p:nvSpPr>
        <p:spPr>
          <a:xfrm>
            <a:off x="1923702" y="3098608"/>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43,45</a:t>
            </a:r>
            <a:endParaRPr/>
          </a:p>
        </p:txBody>
      </p:sp>
      <p:sp>
        <p:nvSpPr>
          <p:cNvPr id="1960" name="Google Shape;1960;p101"/>
          <p:cNvSpPr txBox="1"/>
          <p:nvPr/>
        </p:nvSpPr>
        <p:spPr>
          <a:xfrm>
            <a:off x="594717" y="3098608"/>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18,24</a:t>
            </a:r>
            <a:endParaRPr/>
          </a:p>
        </p:txBody>
      </p:sp>
      <p:sp>
        <p:nvSpPr>
          <p:cNvPr id="1961" name="Google Shape;1961;p101"/>
          <p:cNvSpPr/>
          <p:nvPr/>
        </p:nvSpPr>
        <p:spPr>
          <a:xfrm>
            <a:off x="499430" y="3941000"/>
            <a:ext cx="2128680" cy="33899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62" name="Google Shape;1962;p101"/>
          <p:cNvSpPr/>
          <p:nvPr/>
        </p:nvSpPr>
        <p:spPr>
          <a:xfrm>
            <a:off x="500657" y="3478118"/>
            <a:ext cx="2128680" cy="33899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963" name="Google Shape;1963;p101"/>
          <p:cNvGrpSpPr/>
          <p:nvPr/>
        </p:nvGrpSpPr>
        <p:grpSpPr>
          <a:xfrm>
            <a:off x="594718" y="3528831"/>
            <a:ext cx="1945043" cy="261610"/>
            <a:chOff x="2844928" y="2635940"/>
            <a:chExt cx="3012421" cy="405173"/>
          </a:xfrm>
        </p:grpSpPr>
        <p:sp>
          <p:nvSpPr>
            <p:cNvPr id="1964" name="Google Shape;1964;p101"/>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31,33</a:t>
              </a:r>
              <a:endParaRPr/>
            </a:p>
          </p:txBody>
        </p:sp>
        <p:sp>
          <p:nvSpPr>
            <p:cNvPr id="1965" name="Google Shape;1965;p101"/>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47,55</a:t>
              </a:r>
              <a:endParaRPr/>
            </a:p>
          </p:txBody>
        </p:sp>
        <p:sp>
          <p:nvSpPr>
            <p:cNvPr id="1966" name="Google Shape;1966;p101"/>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10,12</a:t>
              </a:r>
              <a:endParaRPr/>
            </a:p>
          </p:txBody>
        </p:sp>
      </p:grpSp>
      <p:sp>
        <p:nvSpPr>
          <p:cNvPr id="1967" name="Google Shape;1967;p101"/>
          <p:cNvSpPr txBox="1"/>
          <p:nvPr/>
        </p:nvSpPr>
        <p:spPr>
          <a:xfrm>
            <a:off x="1262496" y="3997462"/>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20,22</a:t>
            </a:r>
            <a:endParaRPr/>
          </a:p>
        </p:txBody>
      </p:sp>
      <p:sp>
        <p:nvSpPr>
          <p:cNvPr id="1968" name="Google Shape;1968;p101"/>
          <p:cNvSpPr txBox="1"/>
          <p:nvPr/>
        </p:nvSpPr>
        <p:spPr>
          <a:xfrm>
            <a:off x="1923702" y="3997462"/>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23,41</a:t>
            </a:r>
            <a:endParaRPr/>
          </a:p>
        </p:txBody>
      </p:sp>
      <p:sp>
        <p:nvSpPr>
          <p:cNvPr id="1969" name="Google Shape;1969;p101"/>
          <p:cNvSpPr txBox="1"/>
          <p:nvPr/>
        </p:nvSpPr>
        <p:spPr>
          <a:xfrm>
            <a:off x="594717" y="3997462"/>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3,18</a:t>
            </a:r>
            <a:endParaRPr/>
          </a:p>
        </p:txBody>
      </p:sp>
      <p:sp>
        <p:nvSpPr>
          <p:cNvPr id="1970" name="Google Shape;1970;p101"/>
          <p:cNvSpPr/>
          <p:nvPr/>
        </p:nvSpPr>
        <p:spPr>
          <a:xfrm>
            <a:off x="496157" y="4833984"/>
            <a:ext cx="2128680" cy="33899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71" name="Google Shape;1971;p101"/>
          <p:cNvSpPr/>
          <p:nvPr/>
        </p:nvSpPr>
        <p:spPr>
          <a:xfrm>
            <a:off x="497384" y="4371102"/>
            <a:ext cx="2128680" cy="33899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972" name="Google Shape;1972;p101"/>
          <p:cNvGrpSpPr/>
          <p:nvPr/>
        </p:nvGrpSpPr>
        <p:grpSpPr>
          <a:xfrm>
            <a:off x="591445" y="4421815"/>
            <a:ext cx="1945043" cy="261610"/>
            <a:chOff x="2844928" y="2635940"/>
            <a:chExt cx="3012421" cy="405173"/>
          </a:xfrm>
        </p:grpSpPr>
        <p:sp>
          <p:nvSpPr>
            <p:cNvPr id="1973" name="Google Shape;1973;p101"/>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39,42</a:t>
              </a:r>
              <a:endParaRPr/>
            </a:p>
          </p:txBody>
        </p:sp>
        <p:sp>
          <p:nvSpPr>
            <p:cNvPr id="1974" name="Google Shape;1974;p101"/>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46,55</a:t>
              </a:r>
              <a:endParaRPr/>
            </a:p>
          </p:txBody>
        </p:sp>
        <p:sp>
          <p:nvSpPr>
            <p:cNvPr id="1975" name="Google Shape;1975;p101"/>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31,33</a:t>
              </a:r>
              <a:endParaRPr/>
            </a:p>
          </p:txBody>
        </p:sp>
      </p:grpSp>
      <p:sp>
        <p:nvSpPr>
          <p:cNvPr id="1976" name="Google Shape;1976;p101"/>
          <p:cNvSpPr txBox="1"/>
          <p:nvPr/>
        </p:nvSpPr>
        <p:spPr>
          <a:xfrm>
            <a:off x="1259226" y="4890446"/>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18,23</a:t>
            </a:r>
            <a:endParaRPr/>
          </a:p>
        </p:txBody>
      </p:sp>
      <p:sp>
        <p:nvSpPr>
          <p:cNvPr id="1977" name="Google Shape;1977;p101"/>
          <p:cNvSpPr txBox="1"/>
          <p:nvPr/>
        </p:nvSpPr>
        <p:spPr>
          <a:xfrm>
            <a:off x="1920429" y="4890446"/>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24,27</a:t>
            </a:r>
            <a:endParaRPr/>
          </a:p>
        </p:txBody>
      </p:sp>
      <p:sp>
        <p:nvSpPr>
          <p:cNvPr id="1978" name="Google Shape;1978;p101"/>
          <p:cNvSpPr txBox="1"/>
          <p:nvPr/>
        </p:nvSpPr>
        <p:spPr>
          <a:xfrm>
            <a:off x="591444" y="4890446"/>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1,3</a:t>
            </a:r>
            <a:endParaRPr/>
          </a:p>
        </p:txBody>
      </p:sp>
      <p:sp>
        <p:nvSpPr>
          <p:cNvPr id="1979" name="Google Shape;1979;p101"/>
          <p:cNvSpPr/>
          <p:nvPr/>
        </p:nvSpPr>
        <p:spPr>
          <a:xfrm>
            <a:off x="492884" y="5737430"/>
            <a:ext cx="2128680" cy="33899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80" name="Google Shape;1980;p101"/>
          <p:cNvSpPr/>
          <p:nvPr/>
        </p:nvSpPr>
        <p:spPr>
          <a:xfrm>
            <a:off x="494111" y="5274548"/>
            <a:ext cx="2128680" cy="33899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981" name="Google Shape;1981;p101"/>
          <p:cNvGrpSpPr/>
          <p:nvPr/>
        </p:nvGrpSpPr>
        <p:grpSpPr>
          <a:xfrm>
            <a:off x="588172" y="5325261"/>
            <a:ext cx="1945043" cy="261610"/>
            <a:chOff x="2844928" y="2635940"/>
            <a:chExt cx="3012421" cy="405173"/>
          </a:xfrm>
        </p:grpSpPr>
        <p:sp>
          <p:nvSpPr>
            <p:cNvPr id="1982" name="Google Shape;1982;p101"/>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33,40</a:t>
              </a:r>
              <a:endParaRPr/>
            </a:p>
          </p:txBody>
        </p:sp>
        <p:sp>
          <p:nvSpPr>
            <p:cNvPr id="1983" name="Google Shape;1983;p101"/>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44,48</a:t>
              </a:r>
              <a:endParaRPr/>
            </a:p>
          </p:txBody>
        </p:sp>
        <p:sp>
          <p:nvSpPr>
            <p:cNvPr id="1984" name="Google Shape;1984;p101"/>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10,12</a:t>
              </a:r>
              <a:endParaRPr/>
            </a:p>
          </p:txBody>
        </p:sp>
      </p:grpSp>
      <p:sp>
        <p:nvSpPr>
          <p:cNvPr id="1985" name="Google Shape;1985;p101"/>
          <p:cNvSpPr txBox="1"/>
          <p:nvPr/>
        </p:nvSpPr>
        <p:spPr>
          <a:xfrm>
            <a:off x="1255952" y="5793892"/>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22,24</a:t>
            </a:r>
            <a:endParaRPr/>
          </a:p>
        </p:txBody>
      </p:sp>
      <p:sp>
        <p:nvSpPr>
          <p:cNvPr id="1986" name="Google Shape;1986;p101"/>
          <p:cNvSpPr txBox="1"/>
          <p:nvPr/>
        </p:nvSpPr>
        <p:spPr>
          <a:xfrm>
            <a:off x="1917156" y="5793892"/>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27,31</a:t>
            </a:r>
            <a:endParaRPr/>
          </a:p>
        </p:txBody>
      </p:sp>
      <p:sp>
        <p:nvSpPr>
          <p:cNvPr id="1987" name="Google Shape;1987;p101"/>
          <p:cNvSpPr txBox="1"/>
          <p:nvPr/>
        </p:nvSpPr>
        <p:spPr>
          <a:xfrm>
            <a:off x="588171" y="5793892"/>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16,18</a:t>
            </a:r>
            <a:endParaRPr/>
          </a:p>
        </p:txBody>
      </p:sp>
      <p:sp>
        <p:nvSpPr>
          <p:cNvPr id="1988" name="Google Shape;1988;p101"/>
          <p:cNvSpPr txBox="1"/>
          <p:nvPr/>
        </p:nvSpPr>
        <p:spPr>
          <a:xfrm>
            <a:off x="8874100" y="3360218"/>
            <a:ext cx="2601271" cy="224676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2. Now merge pairs of (sorted) files… </a:t>
            </a:r>
            <a:r>
              <a:rPr b="1" lang="en-US" sz="2800">
                <a:solidFill>
                  <a:schemeClr val="dk1"/>
                </a:solidFill>
                <a:latin typeface="Calibri"/>
                <a:ea typeface="Calibri"/>
                <a:cs typeface="Calibri"/>
                <a:sym typeface="Calibri"/>
              </a:rPr>
              <a:t>the resulting files will be sorted!</a:t>
            </a:r>
            <a:endParaRPr/>
          </a:p>
        </p:txBody>
      </p:sp>
      <p:sp>
        <p:nvSpPr>
          <p:cNvPr id="1989" name="Google Shape;1989;p101"/>
          <p:cNvSpPr/>
          <p:nvPr/>
        </p:nvSpPr>
        <p:spPr>
          <a:xfrm>
            <a:off x="3375999" y="2063241"/>
            <a:ext cx="2232468" cy="4162852"/>
          </a:xfrm>
          <a:prstGeom prst="can">
            <a:avLst>
              <a:gd fmla="val 9229"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1990" name="Google Shape;1990;p101"/>
          <p:cNvSpPr/>
          <p:nvPr/>
        </p:nvSpPr>
        <p:spPr>
          <a:xfrm>
            <a:off x="3439873" y="2556756"/>
            <a:ext cx="2128680" cy="82438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91" name="Google Shape;1991;p101"/>
          <p:cNvSpPr txBox="1"/>
          <p:nvPr/>
        </p:nvSpPr>
        <p:spPr>
          <a:xfrm>
            <a:off x="4033139" y="1770546"/>
            <a:ext cx="91818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Disk</a:t>
            </a:r>
            <a:endParaRPr/>
          </a:p>
        </p:txBody>
      </p:sp>
      <p:grpSp>
        <p:nvGrpSpPr>
          <p:cNvPr id="1992" name="Google Shape;1992;p101"/>
          <p:cNvGrpSpPr/>
          <p:nvPr/>
        </p:nvGrpSpPr>
        <p:grpSpPr>
          <a:xfrm>
            <a:off x="3533934" y="2607469"/>
            <a:ext cx="1945043" cy="261610"/>
            <a:chOff x="2844928" y="2635940"/>
            <a:chExt cx="3012421" cy="405173"/>
          </a:xfrm>
        </p:grpSpPr>
        <p:sp>
          <p:nvSpPr>
            <p:cNvPr id="1993" name="Google Shape;1993;p101"/>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18,24</a:t>
              </a:r>
              <a:endParaRPr/>
            </a:p>
          </p:txBody>
        </p:sp>
        <p:sp>
          <p:nvSpPr>
            <p:cNvPr id="1994" name="Google Shape;1994;p101"/>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27,31</a:t>
              </a:r>
              <a:endParaRPr/>
            </a:p>
          </p:txBody>
        </p:sp>
        <p:sp>
          <p:nvSpPr>
            <p:cNvPr id="1995" name="Google Shape;1995;p101"/>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10,12</a:t>
              </a:r>
              <a:endParaRPr/>
            </a:p>
          </p:txBody>
        </p:sp>
      </p:grpSp>
      <p:sp>
        <p:nvSpPr>
          <p:cNvPr id="1996" name="Google Shape;1996;p101"/>
          <p:cNvSpPr txBox="1"/>
          <p:nvPr/>
        </p:nvSpPr>
        <p:spPr>
          <a:xfrm>
            <a:off x="4201711" y="3076100"/>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43,44</a:t>
            </a:r>
            <a:endParaRPr/>
          </a:p>
        </p:txBody>
      </p:sp>
      <p:sp>
        <p:nvSpPr>
          <p:cNvPr id="1997" name="Google Shape;1997;p101"/>
          <p:cNvSpPr txBox="1"/>
          <p:nvPr/>
        </p:nvSpPr>
        <p:spPr>
          <a:xfrm>
            <a:off x="4862918" y="3076100"/>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45,55</a:t>
            </a:r>
            <a:endParaRPr/>
          </a:p>
        </p:txBody>
      </p:sp>
      <p:sp>
        <p:nvSpPr>
          <p:cNvPr id="1998" name="Google Shape;1998;p101"/>
          <p:cNvSpPr txBox="1"/>
          <p:nvPr/>
        </p:nvSpPr>
        <p:spPr>
          <a:xfrm>
            <a:off x="3533933" y="3076100"/>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33,38</a:t>
            </a:r>
            <a:endParaRPr/>
          </a:p>
        </p:txBody>
      </p:sp>
      <p:sp>
        <p:nvSpPr>
          <p:cNvPr id="1999" name="Google Shape;1999;p101"/>
          <p:cNvSpPr/>
          <p:nvPr/>
        </p:nvSpPr>
        <p:spPr>
          <a:xfrm>
            <a:off x="3439873" y="3455609"/>
            <a:ext cx="2128680" cy="819807"/>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000" name="Google Shape;2000;p101"/>
          <p:cNvGrpSpPr/>
          <p:nvPr/>
        </p:nvGrpSpPr>
        <p:grpSpPr>
          <a:xfrm>
            <a:off x="3533934" y="3506323"/>
            <a:ext cx="1945043" cy="261610"/>
            <a:chOff x="2844928" y="2635940"/>
            <a:chExt cx="3012421" cy="405173"/>
          </a:xfrm>
        </p:grpSpPr>
        <p:sp>
          <p:nvSpPr>
            <p:cNvPr id="2001" name="Google Shape;2001;p101"/>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12,18</a:t>
              </a:r>
              <a:endParaRPr/>
            </a:p>
          </p:txBody>
        </p:sp>
        <p:sp>
          <p:nvSpPr>
            <p:cNvPr id="2002" name="Google Shape;2002;p101"/>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20,22</a:t>
              </a:r>
              <a:endParaRPr/>
            </a:p>
          </p:txBody>
        </p:sp>
        <p:sp>
          <p:nvSpPr>
            <p:cNvPr id="2003" name="Google Shape;2003;p101"/>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3,10</a:t>
              </a:r>
              <a:endParaRPr/>
            </a:p>
          </p:txBody>
        </p:sp>
      </p:grpSp>
      <p:sp>
        <p:nvSpPr>
          <p:cNvPr id="2004" name="Google Shape;2004;p101"/>
          <p:cNvSpPr txBox="1"/>
          <p:nvPr/>
        </p:nvSpPr>
        <p:spPr>
          <a:xfrm>
            <a:off x="4201712" y="3974954"/>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33,41</a:t>
            </a:r>
            <a:endParaRPr/>
          </a:p>
        </p:txBody>
      </p:sp>
      <p:sp>
        <p:nvSpPr>
          <p:cNvPr id="2005" name="Google Shape;2005;p101"/>
          <p:cNvSpPr txBox="1"/>
          <p:nvPr/>
        </p:nvSpPr>
        <p:spPr>
          <a:xfrm>
            <a:off x="4862918" y="3974954"/>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47,55</a:t>
            </a:r>
            <a:endParaRPr/>
          </a:p>
        </p:txBody>
      </p:sp>
      <p:sp>
        <p:nvSpPr>
          <p:cNvPr id="2006" name="Google Shape;2006;p101"/>
          <p:cNvSpPr txBox="1"/>
          <p:nvPr/>
        </p:nvSpPr>
        <p:spPr>
          <a:xfrm>
            <a:off x="3533933" y="3974954"/>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23,31</a:t>
            </a:r>
            <a:endParaRPr/>
          </a:p>
        </p:txBody>
      </p:sp>
      <p:sp>
        <p:nvSpPr>
          <p:cNvPr id="2007" name="Google Shape;2007;p101"/>
          <p:cNvSpPr/>
          <p:nvPr/>
        </p:nvSpPr>
        <p:spPr>
          <a:xfrm>
            <a:off x="3436600" y="4348594"/>
            <a:ext cx="2128680" cy="82438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008" name="Google Shape;2008;p101"/>
          <p:cNvGrpSpPr/>
          <p:nvPr/>
        </p:nvGrpSpPr>
        <p:grpSpPr>
          <a:xfrm>
            <a:off x="3530661" y="4399307"/>
            <a:ext cx="1945043" cy="261610"/>
            <a:chOff x="2844928" y="2635940"/>
            <a:chExt cx="3012421" cy="405173"/>
          </a:xfrm>
        </p:grpSpPr>
        <p:sp>
          <p:nvSpPr>
            <p:cNvPr id="2009" name="Google Shape;2009;p101"/>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18,23</a:t>
              </a:r>
              <a:endParaRPr/>
            </a:p>
          </p:txBody>
        </p:sp>
        <p:sp>
          <p:nvSpPr>
            <p:cNvPr id="2010" name="Google Shape;2010;p101"/>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24,27</a:t>
              </a:r>
              <a:endParaRPr/>
            </a:p>
          </p:txBody>
        </p:sp>
        <p:sp>
          <p:nvSpPr>
            <p:cNvPr id="2011" name="Google Shape;2011;p101"/>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1,3</a:t>
              </a:r>
              <a:endParaRPr/>
            </a:p>
          </p:txBody>
        </p:sp>
      </p:grpSp>
      <p:sp>
        <p:nvSpPr>
          <p:cNvPr id="2012" name="Google Shape;2012;p101"/>
          <p:cNvSpPr txBox="1"/>
          <p:nvPr/>
        </p:nvSpPr>
        <p:spPr>
          <a:xfrm>
            <a:off x="4198442" y="4867938"/>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39,42</a:t>
            </a:r>
            <a:endParaRPr/>
          </a:p>
        </p:txBody>
      </p:sp>
      <p:sp>
        <p:nvSpPr>
          <p:cNvPr id="2013" name="Google Shape;2013;p101"/>
          <p:cNvSpPr txBox="1"/>
          <p:nvPr/>
        </p:nvSpPr>
        <p:spPr>
          <a:xfrm>
            <a:off x="4859645" y="4867938"/>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46,55</a:t>
            </a:r>
            <a:endParaRPr/>
          </a:p>
        </p:txBody>
      </p:sp>
      <p:sp>
        <p:nvSpPr>
          <p:cNvPr id="2014" name="Google Shape;2014;p101"/>
          <p:cNvSpPr txBox="1"/>
          <p:nvPr/>
        </p:nvSpPr>
        <p:spPr>
          <a:xfrm>
            <a:off x="3530660" y="4867938"/>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31,33</a:t>
            </a:r>
            <a:endParaRPr/>
          </a:p>
        </p:txBody>
      </p:sp>
      <p:sp>
        <p:nvSpPr>
          <p:cNvPr id="2015" name="Google Shape;2015;p101"/>
          <p:cNvSpPr/>
          <p:nvPr/>
        </p:nvSpPr>
        <p:spPr>
          <a:xfrm>
            <a:off x="3433327" y="5252040"/>
            <a:ext cx="2128680" cy="80124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016" name="Google Shape;2016;p101"/>
          <p:cNvGrpSpPr/>
          <p:nvPr/>
        </p:nvGrpSpPr>
        <p:grpSpPr>
          <a:xfrm>
            <a:off x="3527388" y="5302753"/>
            <a:ext cx="1945043" cy="261610"/>
            <a:chOff x="2844928" y="2635940"/>
            <a:chExt cx="3012421" cy="405173"/>
          </a:xfrm>
        </p:grpSpPr>
        <p:sp>
          <p:nvSpPr>
            <p:cNvPr id="2017" name="Google Shape;2017;p101"/>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16,18</a:t>
              </a:r>
              <a:endParaRPr/>
            </a:p>
          </p:txBody>
        </p:sp>
        <p:sp>
          <p:nvSpPr>
            <p:cNvPr id="2018" name="Google Shape;2018;p101"/>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22,24</a:t>
              </a:r>
              <a:endParaRPr/>
            </a:p>
          </p:txBody>
        </p:sp>
        <p:sp>
          <p:nvSpPr>
            <p:cNvPr id="2019" name="Google Shape;2019;p101"/>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10,12</a:t>
              </a:r>
              <a:endParaRPr/>
            </a:p>
          </p:txBody>
        </p:sp>
      </p:grpSp>
      <p:sp>
        <p:nvSpPr>
          <p:cNvPr id="2020" name="Google Shape;2020;p101"/>
          <p:cNvSpPr txBox="1"/>
          <p:nvPr/>
        </p:nvSpPr>
        <p:spPr>
          <a:xfrm>
            <a:off x="4195168" y="5771384"/>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33,40</a:t>
            </a:r>
            <a:endParaRPr/>
          </a:p>
        </p:txBody>
      </p:sp>
      <p:sp>
        <p:nvSpPr>
          <p:cNvPr id="2021" name="Google Shape;2021;p101"/>
          <p:cNvSpPr txBox="1"/>
          <p:nvPr/>
        </p:nvSpPr>
        <p:spPr>
          <a:xfrm>
            <a:off x="4856372" y="5771384"/>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44,48</a:t>
            </a:r>
            <a:endParaRPr/>
          </a:p>
        </p:txBody>
      </p:sp>
      <p:sp>
        <p:nvSpPr>
          <p:cNvPr id="2022" name="Google Shape;2022;p101"/>
          <p:cNvSpPr txBox="1"/>
          <p:nvPr/>
        </p:nvSpPr>
        <p:spPr>
          <a:xfrm>
            <a:off x="3527387" y="5771384"/>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27,31</a:t>
            </a:r>
            <a:endParaRPr/>
          </a:p>
        </p:txBody>
      </p:sp>
      <p:sp>
        <p:nvSpPr>
          <p:cNvPr id="2023" name="Google Shape;2023;p101"/>
          <p:cNvSpPr/>
          <p:nvPr/>
        </p:nvSpPr>
        <p:spPr>
          <a:xfrm>
            <a:off x="2763311" y="3941001"/>
            <a:ext cx="516532" cy="458306"/>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24" name="Google Shape;2024;p101"/>
          <p:cNvSpPr txBox="1"/>
          <p:nvPr/>
        </p:nvSpPr>
        <p:spPr>
          <a:xfrm>
            <a:off x="9251940" y="1597070"/>
            <a:ext cx="2586398" cy="1569660"/>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Assume we still only have </a:t>
            </a:r>
            <a:r>
              <a:rPr i="1" lang="en-US" sz="2400">
                <a:solidFill>
                  <a:schemeClr val="dk1"/>
                </a:solidFill>
                <a:latin typeface="Calibri"/>
                <a:ea typeface="Calibri"/>
                <a:cs typeface="Calibri"/>
                <a:sym typeface="Calibri"/>
              </a:rPr>
              <a:t>3</a:t>
            </a:r>
            <a:r>
              <a:rPr lang="en-US" sz="2400">
                <a:solidFill>
                  <a:schemeClr val="dk1"/>
                </a:solidFill>
                <a:latin typeface="Calibri"/>
                <a:ea typeface="Calibri"/>
                <a:cs typeface="Calibri"/>
                <a:sym typeface="Calibri"/>
              </a:rPr>
              <a:t> buffer pages </a:t>
            </a:r>
            <a:r>
              <a:rPr i="1" lang="en-US" sz="2400">
                <a:solidFill>
                  <a:schemeClr val="dk1"/>
                </a:solidFill>
                <a:latin typeface="Calibri"/>
                <a:ea typeface="Calibri"/>
                <a:cs typeface="Calibri"/>
                <a:sym typeface="Calibri"/>
              </a:rPr>
              <a:t>(Buffer not pictured)</a:t>
            </a:r>
            <a:endParaRPr/>
          </a:p>
        </p:txBody>
      </p:sp>
      <p:grpSp>
        <p:nvGrpSpPr>
          <p:cNvPr id="2025" name="Google Shape;2025;p101"/>
          <p:cNvGrpSpPr/>
          <p:nvPr/>
        </p:nvGrpSpPr>
        <p:grpSpPr>
          <a:xfrm>
            <a:off x="0" y="-22510"/>
            <a:ext cx="12192000" cy="307777"/>
            <a:chOff x="0" y="-22510"/>
            <a:chExt cx="12192000" cy="307777"/>
          </a:xfrm>
        </p:grpSpPr>
        <p:sp>
          <p:nvSpPr>
            <p:cNvPr id="2026" name="Google Shape;2026;p101"/>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2027" name="Google Shape;2027;p101"/>
            <p:cNvSpPr txBox="1"/>
            <p:nvPr/>
          </p:nvSpPr>
          <p:spPr>
            <a:xfrm>
              <a:off x="188780" y="-22510"/>
              <a:ext cx="258147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  External Merge Sort: Larger files</a:t>
              </a:r>
              <a:endParaRPr/>
            </a:p>
          </p:txBody>
        </p:sp>
      </p:gr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1" name="Shape 2031"/>
        <p:cNvGrpSpPr/>
        <p:nvPr/>
      </p:nvGrpSpPr>
      <p:grpSpPr>
        <a:xfrm>
          <a:off x="0" y="0"/>
          <a:ext cx="0" cy="0"/>
          <a:chOff x="0" y="0"/>
          <a:chExt cx="0" cy="0"/>
        </a:xfrm>
      </p:grpSpPr>
      <p:sp>
        <p:nvSpPr>
          <p:cNvPr id="2032" name="Google Shape;2032;p10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Running External Merge Sort on Larger Files</a:t>
            </a:r>
            <a:endParaRPr/>
          </a:p>
        </p:txBody>
      </p:sp>
      <p:sp>
        <p:nvSpPr>
          <p:cNvPr id="2033" name="Google Shape;2033;p102"/>
          <p:cNvSpPr/>
          <p:nvPr/>
        </p:nvSpPr>
        <p:spPr>
          <a:xfrm>
            <a:off x="436783" y="2085749"/>
            <a:ext cx="2232468" cy="4162852"/>
          </a:xfrm>
          <a:prstGeom prst="can">
            <a:avLst>
              <a:gd fmla="val 9229"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2034" name="Google Shape;2034;p102"/>
          <p:cNvSpPr/>
          <p:nvPr/>
        </p:nvSpPr>
        <p:spPr>
          <a:xfrm>
            <a:off x="499430" y="3042146"/>
            <a:ext cx="2128680" cy="33899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35" name="Google Shape;2035;p102"/>
          <p:cNvSpPr/>
          <p:nvPr/>
        </p:nvSpPr>
        <p:spPr>
          <a:xfrm>
            <a:off x="500657" y="2579264"/>
            <a:ext cx="2128680" cy="33899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36" name="Google Shape;2036;p102"/>
          <p:cNvSpPr txBox="1"/>
          <p:nvPr/>
        </p:nvSpPr>
        <p:spPr>
          <a:xfrm>
            <a:off x="1093923" y="1793054"/>
            <a:ext cx="91818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Disk</a:t>
            </a:r>
            <a:endParaRPr/>
          </a:p>
        </p:txBody>
      </p:sp>
      <p:grpSp>
        <p:nvGrpSpPr>
          <p:cNvPr id="2037" name="Google Shape;2037;p102"/>
          <p:cNvGrpSpPr/>
          <p:nvPr/>
        </p:nvGrpSpPr>
        <p:grpSpPr>
          <a:xfrm>
            <a:off x="594718" y="2629977"/>
            <a:ext cx="1945043" cy="261610"/>
            <a:chOff x="2844928" y="2635940"/>
            <a:chExt cx="3012421" cy="405173"/>
          </a:xfrm>
        </p:grpSpPr>
        <p:sp>
          <p:nvSpPr>
            <p:cNvPr id="2038" name="Google Shape;2038;p102"/>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31,33</a:t>
              </a:r>
              <a:endParaRPr/>
            </a:p>
          </p:txBody>
        </p:sp>
        <p:sp>
          <p:nvSpPr>
            <p:cNvPr id="2039" name="Google Shape;2039;p102"/>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44,55</a:t>
              </a:r>
              <a:endParaRPr/>
            </a:p>
          </p:txBody>
        </p:sp>
        <p:sp>
          <p:nvSpPr>
            <p:cNvPr id="2040" name="Google Shape;2040;p102"/>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10,12</a:t>
              </a:r>
              <a:endParaRPr/>
            </a:p>
          </p:txBody>
        </p:sp>
      </p:grpSp>
      <p:sp>
        <p:nvSpPr>
          <p:cNvPr id="2041" name="Google Shape;2041;p102"/>
          <p:cNvSpPr txBox="1"/>
          <p:nvPr/>
        </p:nvSpPr>
        <p:spPr>
          <a:xfrm>
            <a:off x="1262495" y="3098608"/>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27,38</a:t>
            </a:r>
            <a:endParaRPr/>
          </a:p>
        </p:txBody>
      </p:sp>
      <p:sp>
        <p:nvSpPr>
          <p:cNvPr id="2042" name="Google Shape;2042;p102"/>
          <p:cNvSpPr txBox="1"/>
          <p:nvPr/>
        </p:nvSpPr>
        <p:spPr>
          <a:xfrm>
            <a:off x="1923702" y="3098608"/>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43,45</a:t>
            </a:r>
            <a:endParaRPr/>
          </a:p>
        </p:txBody>
      </p:sp>
      <p:sp>
        <p:nvSpPr>
          <p:cNvPr id="2043" name="Google Shape;2043;p102"/>
          <p:cNvSpPr txBox="1"/>
          <p:nvPr/>
        </p:nvSpPr>
        <p:spPr>
          <a:xfrm>
            <a:off x="594717" y="3098608"/>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18,24</a:t>
            </a:r>
            <a:endParaRPr/>
          </a:p>
        </p:txBody>
      </p:sp>
      <p:sp>
        <p:nvSpPr>
          <p:cNvPr id="2044" name="Google Shape;2044;p102"/>
          <p:cNvSpPr/>
          <p:nvPr/>
        </p:nvSpPr>
        <p:spPr>
          <a:xfrm>
            <a:off x="499430" y="3941000"/>
            <a:ext cx="2128680" cy="33899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45" name="Google Shape;2045;p102"/>
          <p:cNvSpPr/>
          <p:nvPr/>
        </p:nvSpPr>
        <p:spPr>
          <a:xfrm>
            <a:off x="500657" y="3478118"/>
            <a:ext cx="2128680" cy="33899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046" name="Google Shape;2046;p102"/>
          <p:cNvGrpSpPr/>
          <p:nvPr/>
        </p:nvGrpSpPr>
        <p:grpSpPr>
          <a:xfrm>
            <a:off x="594718" y="3528831"/>
            <a:ext cx="1945043" cy="261610"/>
            <a:chOff x="2844928" y="2635940"/>
            <a:chExt cx="3012421" cy="405173"/>
          </a:xfrm>
        </p:grpSpPr>
        <p:sp>
          <p:nvSpPr>
            <p:cNvPr id="2047" name="Google Shape;2047;p102"/>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31,33</a:t>
              </a:r>
              <a:endParaRPr/>
            </a:p>
          </p:txBody>
        </p:sp>
        <p:sp>
          <p:nvSpPr>
            <p:cNvPr id="2048" name="Google Shape;2048;p102"/>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47,55</a:t>
              </a:r>
              <a:endParaRPr/>
            </a:p>
          </p:txBody>
        </p:sp>
        <p:sp>
          <p:nvSpPr>
            <p:cNvPr id="2049" name="Google Shape;2049;p102"/>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10,12</a:t>
              </a:r>
              <a:endParaRPr/>
            </a:p>
          </p:txBody>
        </p:sp>
      </p:grpSp>
      <p:sp>
        <p:nvSpPr>
          <p:cNvPr id="2050" name="Google Shape;2050;p102"/>
          <p:cNvSpPr txBox="1"/>
          <p:nvPr/>
        </p:nvSpPr>
        <p:spPr>
          <a:xfrm>
            <a:off x="1262496" y="3997462"/>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20,22</a:t>
            </a:r>
            <a:endParaRPr/>
          </a:p>
        </p:txBody>
      </p:sp>
      <p:sp>
        <p:nvSpPr>
          <p:cNvPr id="2051" name="Google Shape;2051;p102"/>
          <p:cNvSpPr txBox="1"/>
          <p:nvPr/>
        </p:nvSpPr>
        <p:spPr>
          <a:xfrm>
            <a:off x="1923702" y="3997462"/>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23,41</a:t>
            </a:r>
            <a:endParaRPr/>
          </a:p>
        </p:txBody>
      </p:sp>
      <p:sp>
        <p:nvSpPr>
          <p:cNvPr id="2052" name="Google Shape;2052;p102"/>
          <p:cNvSpPr txBox="1"/>
          <p:nvPr/>
        </p:nvSpPr>
        <p:spPr>
          <a:xfrm>
            <a:off x="594717" y="3997462"/>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3,18</a:t>
            </a:r>
            <a:endParaRPr/>
          </a:p>
        </p:txBody>
      </p:sp>
      <p:sp>
        <p:nvSpPr>
          <p:cNvPr id="2053" name="Google Shape;2053;p102"/>
          <p:cNvSpPr/>
          <p:nvPr/>
        </p:nvSpPr>
        <p:spPr>
          <a:xfrm>
            <a:off x="496157" y="4833984"/>
            <a:ext cx="2128680" cy="33899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54" name="Google Shape;2054;p102"/>
          <p:cNvSpPr/>
          <p:nvPr/>
        </p:nvSpPr>
        <p:spPr>
          <a:xfrm>
            <a:off x="497384" y="4371102"/>
            <a:ext cx="2128680" cy="33899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055" name="Google Shape;2055;p102"/>
          <p:cNvGrpSpPr/>
          <p:nvPr/>
        </p:nvGrpSpPr>
        <p:grpSpPr>
          <a:xfrm>
            <a:off x="591445" y="4421815"/>
            <a:ext cx="1945043" cy="261610"/>
            <a:chOff x="2844928" y="2635940"/>
            <a:chExt cx="3012421" cy="405173"/>
          </a:xfrm>
        </p:grpSpPr>
        <p:sp>
          <p:nvSpPr>
            <p:cNvPr id="2056" name="Google Shape;2056;p102"/>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39,42</a:t>
              </a:r>
              <a:endParaRPr/>
            </a:p>
          </p:txBody>
        </p:sp>
        <p:sp>
          <p:nvSpPr>
            <p:cNvPr id="2057" name="Google Shape;2057;p102"/>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46,55</a:t>
              </a:r>
              <a:endParaRPr/>
            </a:p>
          </p:txBody>
        </p:sp>
        <p:sp>
          <p:nvSpPr>
            <p:cNvPr id="2058" name="Google Shape;2058;p102"/>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31,33</a:t>
              </a:r>
              <a:endParaRPr/>
            </a:p>
          </p:txBody>
        </p:sp>
      </p:grpSp>
      <p:sp>
        <p:nvSpPr>
          <p:cNvPr id="2059" name="Google Shape;2059;p102"/>
          <p:cNvSpPr txBox="1"/>
          <p:nvPr/>
        </p:nvSpPr>
        <p:spPr>
          <a:xfrm>
            <a:off x="1259226" y="4890446"/>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18,23</a:t>
            </a:r>
            <a:endParaRPr/>
          </a:p>
        </p:txBody>
      </p:sp>
      <p:sp>
        <p:nvSpPr>
          <p:cNvPr id="2060" name="Google Shape;2060;p102"/>
          <p:cNvSpPr txBox="1"/>
          <p:nvPr/>
        </p:nvSpPr>
        <p:spPr>
          <a:xfrm>
            <a:off x="1920429" y="4890446"/>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24,27</a:t>
            </a:r>
            <a:endParaRPr/>
          </a:p>
        </p:txBody>
      </p:sp>
      <p:sp>
        <p:nvSpPr>
          <p:cNvPr id="2061" name="Google Shape;2061;p102"/>
          <p:cNvSpPr txBox="1"/>
          <p:nvPr/>
        </p:nvSpPr>
        <p:spPr>
          <a:xfrm>
            <a:off x="591444" y="4890446"/>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1,3</a:t>
            </a:r>
            <a:endParaRPr/>
          </a:p>
        </p:txBody>
      </p:sp>
      <p:sp>
        <p:nvSpPr>
          <p:cNvPr id="2062" name="Google Shape;2062;p102"/>
          <p:cNvSpPr/>
          <p:nvPr/>
        </p:nvSpPr>
        <p:spPr>
          <a:xfrm>
            <a:off x="492884" y="5737430"/>
            <a:ext cx="2128680" cy="33899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63" name="Google Shape;2063;p102"/>
          <p:cNvSpPr/>
          <p:nvPr/>
        </p:nvSpPr>
        <p:spPr>
          <a:xfrm>
            <a:off x="494111" y="5274548"/>
            <a:ext cx="2128680" cy="33899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064" name="Google Shape;2064;p102"/>
          <p:cNvGrpSpPr/>
          <p:nvPr/>
        </p:nvGrpSpPr>
        <p:grpSpPr>
          <a:xfrm>
            <a:off x="588172" y="5325261"/>
            <a:ext cx="1945043" cy="261610"/>
            <a:chOff x="2844928" y="2635940"/>
            <a:chExt cx="3012421" cy="405173"/>
          </a:xfrm>
        </p:grpSpPr>
        <p:sp>
          <p:nvSpPr>
            <p:cNvPr id="2065" name="Google Shape;2065;p102"/>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33,40</a:t>
              </a:r>
              <a:endParaRPr/>
            </a:p>
          </p:txBody>
        </p:sp>
        <p:sp>
          <p:nvSpPr>
            <p:cNvPr id="2066" name="Google Shape;2066;p102"/>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44,48</a:t>
              </a:r>
              <a:endParaRPr/>
            </a:p>
          </p:txBody>
        </p:sp>
        <p:sp>
          <p:nvSpPr>
            <p:cNvPr id="2067" name="Google Shape;2067;p102"/>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10,12</a:t>
              </a:r>
              <a:endParaRPr/>
            </a:p>
          </p:txBody>
        </p:sp>
      </p:grpSp>
      <p:sp>
        <p:nvSpPr>
          <p:cNvPr id="2068" name="Google Shape;2068;p102"/>
          <p:cNvSpPr txBox="1"/>
          <p:nvPr/>
        </p:nvSpPr>
        <p:spPr>
          <a:xfrm>
            <a:off x="1255952" y="5793892"/>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22,24</a:t>
            </a:r>
            <a:endParaRPr/>
          </a:p>
        </p:txBody>
      </p:sp>
      <p:sp>
        <p:nvSpPr>
          <p:cNvPr id="2069" name="Google Shape;2069;p102"/>
          <p:cNvSpPr txBox="1"/>
          <p:nvPr/>
        </p:nvSpPr>
        <p:spPr>
          <a:xfrm>
            <a:off x="1917156" y="5793892"/>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27,31</a:t>
            </a:r>
            <a:endParaRPr/>
          </a:p>
        </p:txBody>
      </p:sp>
      <p:sp>
        <p:nvSpPr>
          <p:cNvPr id="2070" name="Google Shape;2070;p102"/>
          <p:cNvSpPr txBox="1"/>
          <p:nvPr/>
        </p:nvSpPr>
        <p:spPr>
          <a:xfrm>
            <a:off x="588171" y="5793892"/>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16,18</a:t>
            </a:r>
            <a:endParaRPr/>
          </a:p>
        </p:txBody>
      </p:sp>
      <p:sp>
        <p:nvSpPr>
          <p:cNvPr id="2071" name="Google Shape;2071;p102"/>
          <p:cNvSpPr txBox="1"/>
          <p:nvPr/>
        </p:nvSpPr>
        <p:spPr>
          <a:xfrm>
            <a:off x="9027664" y="3790659"/>
            <a:ext cx="260127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3. And repeat…</a:t>
            </a:r>
            <a:endParaRPr b="1" sz="2800">
              <a:solidFill>
                <a:schemeClr val="dk1"/>
              </a:solidFill>
              <a:latin typeface="Calibri"/>
              <a:ea typeface="Calibri"/>
              <a:cs typeface="Calibri"/>
              <a:sym typeface="Calibri"/>
            </a:endParaRPr>
          </a:p>
        </p:txBody>
      </p:sp>
      <p:sp>
        <p:nvSpPr>
          <p:cNvPr id="2072" name="Google Shape;2072;p102"/>
          <p:cNvSpPr/>
          <p:nvPr/>
        </p:nvSpPr>
        <p:spPr>
          <a:xfrm>
            <a:off x="3375999" y="2063241"/>
            <a:ext cx="2232468" cy="4162852"/>
          </a:xfrm>
          <a:prstGeom prst="can">
            <a:avLst>
              <a:gd fmla="val 9229"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2073" name="Google Shape;2073;p102"/>
          <p:cNvSpPr/>
          <p:nvPr/>
        </p:nvSpPr>
        <p:spPr>
          <a:xfrm>
            <a:off x="3439873" y="2556756"/>
            <a:ext cx="2128680" cy="82438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74" name="Google Shape;2074;p102"/>
          <p:cNvSpPr txBox="1"/>
          <p:nvPr/>
        </p:nvSpPr>
        <p:spPr>
          <a:xfrm>
            <a:off x="4033139" y="1770546"/>
            <a:ext cx="91818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Disk</a:t>
            </a:r>
            <a:endParaRPr/>
          </a:p>
        </p:txBody>
      </p:sp>
      <p:grpSp>
        <p:nvGrpSpPr>
          <p:cNvPr id="2075" name="Google Shape;2075;p102"/>
          <p:cNvGrpSpPr/>
          <p:nvPr/>
        </p:nvGrpSpPr>
        <p:grpSpPr>
          <a:xfrm>
            <a:off x="3533934" y="2607469"/>
            <a:ext cx="1945043" cy="261610"/>
            <a:chOff x="2844928" y="2635940"/>
            <a:chExt cx="3012421" cy="405173"/>
          </a:xfrm>
        </p:grpSpPr>
        <p:sp>
          <p:nvSpPr>
            <p:cNvPr id="2076" name="Google Shape;2076;p102"/>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18,24</a:t>
              </a:r>
              <a:endParaRPr/>
            </a:p>
          </p:txBody>
        </p:sp>
        <p:sp>
          <p:nvSpPr>
            <p:cNvPr id="2077" name="Google Shape;2077;p102"/>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27,31</a:t>
              </a:r>
              <a:endParaRPr/>
            </a:p>
          </p:txBody>
        </p:sp>
        <p:sp>
          <p:nvSpPr>
            <p:cNvPr id="2078" name="Google Shape;2078;p102"/>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10,12</a:t>
              </a:r>
              <a:endParaRPr/>
            </a:p>
          </p:txBody>
        </p:sp>
      </p:grpSp>
      <p:sp>
        <p:nvSpPr>
          <p:cNvPr id="2079" name="Google Shape;2079;p102"/>
          <p:cNvSpPr txBox="1"/>
          <p:nvPr/>
        </p:nvSpPr>
        <p:spPr>
          <a:xfrm>
            <a:off x="4201711" y="3076100"/>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43,44</a:t>
            </a:r>
            <a:endParaRPr/>
          </a:p>
        </p:txBody>
      </p:sp>
      <p:sp>
        <p:nvSpPr>
          <p:cNvPr id="2080" name="Google Shape;2080;p102"/>
          <p:cNvSpPr txBox="1"/>
          <p:nvPr/>
        </p:nvSpPr>
        <p:spPr>
          <a:xfrm>
            <a:off x="4862918" y="3076100"/>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45,55</a:t>
            </a:r>
            <a:endParaRPr/>
          </a:p>
        </p:txBody>
      </p:sp>
      <p:sp>
        <p:nvSpPr>
          <p:cNvPr id="2081" name="Google Shape;2081;p102"/>
          <p:cNvSpPr txBox="1"/>
          <p:nvPr/>
        </p:nvSpPr>
        <p:spPr>
          <a:xfrm>
            <a:off x="3533933" y="3076100"/>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33,38</a:t>
            </a:r>
            <a:endParaRPr/>
          </a:p>
        </p:txBody>
      </p:sp>
      <p:sp>
        <p:nvSpPr>
          <p:cNvPr id="2082" name="Google Shape;2082;p102"/>
          <p:cNvSpPr/>
          <p:nvPr/>
        </p:nvSpPr>
        <p:spPr>
          <a:xfrm>
            <a:off x="3439873" y="3455609"/>
            <a:ext cx="2128680" cy="819807"/>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083" name="Google Shape;2083;p102"/>
          <p:cNvGrpSpPr/>
          <p:nvPr/>
        </p:nvGrpSpPr>
        <p:grpSpPr>
          <a:xfrm>
            <a:off x="3533934" y="3506323"/>
            <a:ext cx="1945043" cy="261610"/>
            <a:chOff x="2844928" y="2635940"/>
            <a:chExt cx="3012421" cy="405173"/>
          </a:xfrm>
        </p:grpSpPr>
        <p:sp>
          <p:nvSpPr>
            <p:cNvPr id="2084" name="Google Shape;2084;p102"/>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12,18</a:t>
              </a:r>
              <a:endParaRPr/>
            </a:p>
          </p:txBody>
        </p:sp>
        <p:sp>
          <p:nvSpPr>
            <p:cNvPr id="2085" name="Google Shape;2085;p102"/>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20,22</a:t>
              </a:r>
              <a:endParaRPr/>
            </a:p>
          </p:txBody>
        </p:sp>
        <p:sp>
          <p:nvSpPr>
            <p:cNvPr id="2086" name="Google Shape;2086;p102"/>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3,10</a:t>
              </a:r>
              <a:endParaRPr/>
            </a:p>
          </p:txBody>
        </p:sp>
      </p:grpSp>
      <p:sp>
        <p:nvSpPr>
          <p:cNvPr id="2087" name="Google Shape;2087;p102"/>
          <p:cNvSpPr txBox="1"/>
          <p:nvPr/>
        </p:nvSpPr>
        <p:spPr>
          <a:xfrm>
            <a:off x="4201712" y="3974954"/>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33,41</a:t>
            </a:r>
            <a:endParaRPr/>
          </a:p>
        </p:txBody>
      </p:sp>
      <p:sp>
        <p:nvSpPr>
          <p:cNvPr id="2088" name="Google Shape;2088;p102"/>
          <p:cNvSpPr txBox="1"/>
          <p:nvPr/>
        </p:nvSpPr>
        <p:spPr>
          <a:xfrm>
            <a:off x="4862918" y="3974954"/>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47,55</a:t>
            </a:r>
            <a:endParaRPr/>
          </a:p>
        </p:txBody>
      </p:sp>
      <p:sp>
        <p:nvSpPr>
          <p:cNvPr id="2089" name="Google Shape;2089;p102"/>
          <p:cNvSpPr txBox="1"/>
          <p:nvPr/>
        </p:nvSpPr>
        <p:spPr>
          <a:xfrm>
            <a:off x="3533933" y="3974954"/>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23,31</a:t>
            </a:r>
            <a:endParaRPr/>
          </a:p>
        </p:txBody>
      </p:sp>
      <p:sp>
        <p:nvSpPr>
          <p:cNvPr id="2090" name="Google Shape;2090;p102"/>
          <p:cNvSpPr/>
          <p:nvPr/>
        </p:nvSpPr>
        <p:spPr>
          <a:xfrm>
            <a:off x="3436600" y="4348594"/>
            <a:ext cx="2128680" cy="82438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091" name="Google Shape;2091;p102"/>
          <p:cNvGrpSpPr/>
          <p:nvPr/>
        </p:nvGrpSpPr>
        <p:grpSpPr>
          <a:xfrm>
            <a:off x="3530661" y="4399307"/>
            <a:ext cx="1945043" cy="261610"/>
            <a:chOff x="2844928" y="2635940"/>
            <a:chExt cx="3012421" cy="405173"/>
          </a:xfrm>
        </p:grpSpPr>
        <p:sp>
          <p:nvSpPr>
            <p:cNvPr id="2092" name="Google Shape;2092;p102"/>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18,23</a:t>
              </a:r>
              <a:endParaRPr/>
            </a:p>
          </p:txBody>
        </p:sp>
        <p:sp>
          <p:nvSpPr>
            <p:cNvPr id="2093" name="Google Shape;2093;p102"/>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24,27</a:t>
              </a:r>
              <a:endParaRPr/>
            </a:p>
          </p:txBody>
        </p:sp>
        <p:sp>
          <p:nvSpPr>
            <p:cNvPr id="2094" name="Google Shape;2094;p102"/>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1,3</a:t>
              </a:r>
              <a:endParaRPr/>
            </a:p>
          </p:txBody>
        </p:sp>
      </p:grpSp>
      <p:sp>
        <p:nvSpPr>
          <p:cNvPr id="2095" name="Google Shape;2095;p102"/>
          <p:cNvSpPr txBox="1"/>
          <p:nvPr/>
        </p:nvSpPr>
        <p:spPr>
          <a:xfrm>
            <a:off x="4198442" y="4867938"/>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39,42</a:t>
            </a:r>
            <a:endParaRPr/>
          </a:p>
        </p:txBody>
      </p:sp>
      <p:sp>
        <p:nvSpPr>
          <p:cNvPr id="2096" name="Google Shape;2096;p102"/>
          <p:cNvSpPr txBox="1"/>
          <p:nvPr/>
        </p:nvSpPr>
        <p:spPr>
          <a:xfrm>
            <a:off x="4859645" y="4867938"/>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46,55</a:t>
            </a:r>
            <a:endParaRPr/>
          </a:p>
        </p:txBody>
      </p:sp>
      <p:sp>
        <p:nvSpPr>
          <p:cNvPr id="2097" name="Google Shape;2097;p102"/>
          <p:cNvSpPr txBox="1"/>
          <p:nvPr/>
        </p:nvSpPr>
        <p:spPr>
          <a:xfrm>
            <a:off x="3530660" y="4867938"/>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31,33</a:t>
            </a:r>
            <a:endParaRPr/>
          </a:p>
        </p:txBody>
      </p:sp>
      <p:sp>
        <p:nvSpPr>
          <p:cNvPr id="2098" name="Google Shape;2098;p102"/>
          <p:cNvSpPr/>
          <p:nvPr/>
        </p:nvSpPr>
        <p:spPr>
          <a:xfrm>
            <a:off x="3433327" y="5252040"/>
            <a:ext cx="2128680" cy="80124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099" name="Google Shape;2099;p102"/>
          <p:cNvGrpSpPr/>
          <p:nvPr/>
        </p:nvGrpSpPr>
        <p:grpSpPr>
          <a:xfrm>
            <a:off x="3527388" y="5302753"/>
            <a:ext cx="1945043" cy="261610"/>
            <a:chOff x="2844928" y="2635940"/>
            <a:chExt cx="3012421" cy="405173"/>
          </a:xfrm>
        </p:grpSpPr>
        <p:sp>
          <p:nvSpPr>
            <p:cNvPr id="2100" name="Google Shape;2100;p102"/>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16,18</a:t>
              </a:r>
              <a:endParaRPr/>
            </a:p>
          </p:txBody>
        </p:sp>
        <p:sp>
          <p:nvSpPr>
            <p:cNvPr id="2101" name="Google Shape;2101;p102"/>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22,24</a:t>
              </a:r>
              <a:endParaRPr/>
            </a:p>
          </p:txBody>
        </p:sp>
        <p:sp>
          <p:nvSpPr>
            <p:cNvPr id="2102" name="Google Shape;2102;p102"/>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10,12</a:t>
              </a:r>
              <a:endParaRPr/>
            </a:p>
          </p:txBody>
        </p:sp>
      </p:grpSp>
      <p:sp>
        <p:nvSpPr>
          <p:cNvPr id="2103" name="Google Shape;2103;p102"/>
          <p:cNvSpPr txBox="1"/>
          <p:nvPr/>
        </p:nvSpPr>
        <p:spPr>
          <a:xfrm>
            <a:off x="4195168" y="5771384"/>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33,40</a:t>
            </a:r>
            <a:endParaRPr/>
          </a:p>
        </p:txBody>
      </p:sp>
      <p:sp>
        <p:nvSpPr>
          <p:cNvPr id="2104" name="Google Shape;2104;p102"/>
          <p:cNvSpPr txBox="1"/>
          <p:nvPr/>
        </p:nvSpPr>
        <p:spPr>
          <a:xfrm>
            <a:off x="4856372" y="5771384"/>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44,48</a:t>
            </a:r>
            <a:endParaRPr/>
          </a:p>
        </p:txBody>
      </p:sp>
      <p:sp>
        <p:nvSpPr>
          <p:cNvPr id="2105" name="Google Shape;2105;p102"/>
          <p:cNvSpPr txBox="1"/>
          <p:nvPr/>
        </p:nvSpPr>
        <p:spPr>
          <a:xfrm>
            <a:off x="3527387" y="5771384"/>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27,31</a:t>
            </a:r>
            <a:endParaRPr/>
          </a:p>
        </p:txBody>
      </p:sp>
      <p:sp>
        <p:nvSpPr>
          <p:cNvPr id="2106" name="Google Shape;2106;p102"/>
          <p:cNvSpPr/>
          <p:nvPr/>
        </p:nvSpPr>
        <p:spPr>
          <a:xfrm>
            <a:off x="2763311" y="3941001"/>
            <a:ext cx="516532" cy="458306"/>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07" name="Google Shape;2107;p102"/>
          <p:cNvSpPr/>
          <p:nvPr/>
        </p:nvSpPr>
        <p:spPr>
          <a:xfrm>
            <a:off x="6299374" y="2085749"/>
            <a:ext cx="2232468" cy="4162852"/>
          </a:xfrm>
          <a:prstGeom prst="can">
            <a:avLst>
              <a:gd fmla="val 9229"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2108" name="Google Shape;2108;p102"/>
          <p:cNvSpPr/>
          <p:nvPr/>
        </p:nvSpPr>
        <p:spPr>
          <a:xfrm>
            <a:off x="6363248" y="2579264"/>
            <a:ext cx="2128680" cy="1712774"/>
          </a:xfrm>
          <a:prstGeom prst="roundRect">
            <a:avLst>
              <a:gd fmla="val 5061"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09" name="Google Shape;2109;p102"/>
          <p:cNvSpPr txBox="1"/>
          <p:nvPr/>
        </p:nvSpPr>
        <p:spPr>
          <a:xfrm>
            <a:off x="6956514" y="1793054"/>
            <a:ext cx="91818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Disk</a:t>
            </a:r>
            <a:endParaRPr/>
          </a:p>
        </p:txBody>
      </p:sp>
      <p:grpSp>
        <p:nvGrpSpPr>
          <p:cNvPr id="2110" name="Google Shape;2110;p102"/>
          <p:cNvGrpSpPr/>
          <p:nvPr/>
        </p:nvGrpSpPr>
        <p:grpSpPr>
          <a:xfrm>
            <a:off x="6457309" y="2629977"/>
            <a:ext cx="1945043" cy="261610"/>
            <a:chOff x="2844928" y="2635940"/>
            <a:chExt cx="3012421" cy="405173"/>
          </a:xfrm>
        </p:grpSpPr>
        <p:sp>
          <p:nvSpPr>
            <p:cNvPr id="2111" name="Google Shape;2111;p102"/>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10,12</a:t>
              </a:r>
              <a:endParaRPr/>
            </a:p>
          </p:txBody>
        </p:sp>
        <p:sp>
          <p:nvSpPr>
            <p:cNvPr id="2112" name="Google Shape;2112;p102"/>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12,18</a:t>
              </a:r>
              <a:endParaRPr/>
            </a:p>
          </p:txBody>
        </p:sp>
        <p:sp>
          <p:nvSpPr>
            <p:cNvPr id="2113" name="Google Shape;2113;p102"/>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3,10</a:t>
              </a:r>
              <a:endParaRPr/>
            </a:p>
          </p:txBody>
        </p:sp>
      </p:grpSp>
      <p:sp>
        <p:nvSpPr>
          <p:cNvPr id="2114" name="Google Shape;2114;p102"/>
          <p:cNvSpPr txBox="1"/>
          <p:nvPr/>
        </p:nvSpPr>
        <p:spPr>
          <a:xfrm>
            <a:off x="7125086" y="3098608"/>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22,23</a:t>
            </a:r>
            <a:endParaRPr/>
          </a:p>
        </p:txBody>
      </p:sp>
      <p:sp>
        <p:nvSpPr>
          <p:cNvPr id="2115" name="Google Shape;2115;p102"/>
          <p:cNvSpPr txBox="1"/>
          <p:nvPr/>
        </p:nvSpPr>
        <p:spPr>
          <a:xfrm>
            <a:off x="7786293" y="3098608"/>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24,27</a:t>
            </a:r>
            <a:endParaRPr/>
          </a:p>
        </p:txBody>
      </p:sp>
      <p:sp>
        <p:nvSpPr>
          <p:cNvPr id="2116" name="Google Shape;2116;p102"/>
          <p:cNvSpPr txBox="1"/>
          <p:nvPr/>
        </p:nvSpPr>
        <p:spPr>
          <a:xfrm>
            <a:off x="6457308" y="3098608"/>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18,20</a:t>
            </a:r>
            <a:endParaRPr/>
          </a:p>
        </p:txBody>
      </p:sp>
      <p:grpSp>
        <p:nvGrpSpPr>
          <p:cNvPr id="2117" name="Google Shape;2117;p102"/>
          <p:cNvGrpSpPr/>
          <p:nvPr/>
        </p:nvGrpSpPr>
        <p:grpSpPr>
          <a:xfrm>
            <a:off x="6457309" y="3528831"/>
            <a:ext cx="1945043" cy="261610"/>
            <a:chOff x="2844928" y="2635940"/>
            <a:chExt cx="3012421" cy="405173"/>
          </a:xfrm>
        </p:grpSpPr>
        <p:sp>
          <p:nvSpPr>
            <p:cNvPr id="2118" name="Google Shape;2118;p102"/>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33,33</a:t>
              </a:r>
              <a:endParaRPr/>
            </a:p>
          </p:txBody>
        </p:sp>
        <p:sp>
          <p:nvSpPr>
            <p:cNvPr id="2119" name="Google Shape;2119;p102"/>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38,41</a:t>
              </a:r>
              <a:endParaRPr/>
            </a:p>
          </p:txBody>
        </p:sp>
        <p:sp>
          <p:nvSpPr>
            <p:cNvPr id="2120" name="Google Shape;2120;p102"/>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31,31</a:t>
              </a:r>
              <a:endParaRPr/>
            </a:p>
          </p:txBody>
        </p:sp>
      </p:grpSp>
      <p:sp>
        <p:nvSpPr>
          <p:cNvPr id="2121" name="Google Shape;2121;p102"/>
          <p:cNvSpPr txBox="1"/>
          <p:nvPr/>
        </p:nvSpPr>
        <p:spPr>
          <a:xfrm>
            <a:off x="7125087" y="3997462"/>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45,47</a:t>
            </a:r>
            <a:endParaRPr/>
          </a:p>
        </p:txBody>
      </p:sp>
      <p:sp>
        <p:nvSpPr>
          <p:cNvPr id="2122" name="Google Shape;2122;p102"/>
          <p:cNvSpPr txBox="1"/>
          <p:nvPr/>
        </p:nvSpPr>
        <p:spPr>
          <a:xfrm>
            <a:off x="7786293" y="3997462"/>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55,55</a:t>
            </a:r>
            <a:endParaRPr/>
          </a:p>
        </p:txBody>
      </p:sp>
      <p:sp>
        <p:nvSpPr>
          <p:cNvPr id="2123" name="Google Shape;2123;p102"/>
          <p:cNvSpPr txBox="1"/>
          <p:nvPr/>
        </p:nvSpPr>
        <p:spPr>
          <a:xfrm>
            <a:off x="6457308" y="3997462"/>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43,44</a:t>
            </a:r>
            <a:endParaRPr/>
          </a:p>
        </p:txBody>
      </p:sp>
      <p:sp>
        <p:nvSpPr>
          <p:cNvPr id="2124" name="Google Shape;2124;p102"/>
          <p:cNvSpPr/>
          <p:nvPr/>
        </p:nvSpPr>
        <p:spPr>
          <a:xfrm>
            <a:off x="6359975" y="4371101"/>
            <a:ext cx="2128680" cy="1785393"/>
          </a:xfrm>
          <a:prstGeom prst="roundRect">
            <a:avLst>
              <a:gd fmla="val 4642"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125" name="Google Shape;2125;p102"/>
          <p:cNvGrpSpPr/>
          <p:nvPr/>
        </p:nvGrpSpPr>
        <p:grpSpPr>
          <a:xfrm>
            <a:off x="6454036" y="4421815"/>
            <a:ext cx="1945043" cy="261610"/>
            <a:chOff x="2844928" y="2635940"/>
            <a:chExt cx="3012421" cy="405173"/>
          </a:xfrm>
        </p:grpSpPr>
        <p:sp>
          <p:nvSpPr>
            <p:cNvPr id="2126" name="Google Shape;2126;p102"/>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10,12</a:t>
              </a:r>
              <a:endParaRPr/>
            </a:p>
          </p:txBody>
        </p:sp>
        <p:sp>
          <p:nvSpPr>
            <p:cNvPr id="2127" name="Google Shape;2127;p102"/>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16,18</a:t>
              </a:r>
              <a:endParaRPr/>
            </a:p>
          </p:txBody>
        </p:sp>
        <p:sp>
          <p:nvSpPr>
            <p:cNvPr id="2128" name="Google Shape;2128;p102"/>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1,3</a:t>
              </a:r>
              <a:endParaRPr/>
            </a:p>
          </p:txBody>
        </p:sp>
      </p:grpSp>
      <p:sp>
        <p:nvSpPr>
          <p:cNvPr id="2129" name="Google Shape;2129;p102"/>
          <p:cNvSpPr txBox="1"/>
          <p:nvPr/>
        </p:nvSpPr>
        <p:spPr>
          <a:xfrm>
            <a:off x="7121817" y="4890446"/>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23,24</a:t>
            </a:r>
            <a:endParaRPr/>
          </a:p>
        </p:txBody>
      </p:sp>
      <p:sp>
        <p:nvSpPr>
          <p:cNvPr id="2130" name="Google Shape;2130;p102"/>
          <p:cNvSpPr txBox="1"/>
          <p:nvPr/>
        </p:nvSpPr>
        <p:spPr>
          <a:xfrm>
            <a:off x="7783020" y="4890446"/>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24,27</a:t>
            </a:r>
            <a:endParaRPr/>
          </a:p>
        </p:txBody>
      </p:sp>
      <p:sp>
        <p:nvSpPr>
          <p:cNvPr id="2131" name="Google Shape;2131;p102"/>
          <p:cNvSpPr txBox="1"/>
          <p:nvPr/>
        </p:nvSpPr>
        <p:spPr>
          <a:xfrm>
            <a:off x="6454035" y="4890446"/>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18,22</a:t>
            </a:r>
            <a:endParaRPr/>
          </a:p>
        </p:txBody>
      </p:sp>
      <p:grpSp>
        <p:nvGrpSpPr>
          <p:cNvPr id="2132" name="Google Shape;2132;p102"/>
          <p:cNvGrpSpPr/>
          <p:nvPr/>
        </p:nvGrpSpPr>
        <p:grpSpPr>
          <a:xfrm>
            <a:off x="6450763" y="5325261"/>
            <a:ext cx="1945043" cy="261610"/>
            <a:chOff x="2844928" y="2635940"/>
            <a:chExt cx="3012421" cy="405173"/>
          </a:xfrm>
        </p:grpSpPr>
        <p:sp>
          <p:nvSpPr>
            <p:cNvPr id="2133" name="Google Shape;2133;p102"/>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31,33</a:t>
              </a:r>
              <a:endParaRPr/>
            </a:p>
          </p:txBody>
        </p:sp>
        <p:sp>
          <p:nvSpPr>
            <p:cNvPr id="2134" name="Google Shape;2134;p102"/>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33,39</a:t>
              </a:r>
              <a:endParaRPr/>
            </a:p>
          </p:txBody>
        </p:sp>
        <p:sp>
          <p:nvSpPr>
            <p:cNvPr id="2135" name="Google Shape;2135;p102"/>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27,31</a:t>
              </a:r>
              <a:endParaRPr/>
            </a:p>
          </p:txBody>
        </p:sp>
      </p:grpSp>
      <p:sp>
        <p:nvSpPr>
          <p:cNvPr id="2136" name="Google Shape;2136;p102"/>
          <p:cNvSpPr txBox="1"/>
          <p:nvPr/>
        </p:nvSpPr>
        <p:spPr>
          <a:xfrm>
            <a:off x="7118543" y="5793892"/>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44,46</a:t>
            </a:r>
            <a:endParaRPr/>
          </a:p>
        </p:txBody>
      </p:sp>
      <p:sp>
        <p:nvSpPr>
          <p:cNvPr id="2137" name="Google Shape;2137;p102"/>
          <p:cNvSpPr txBox="1"/>
          <p:nvPr/>
        </p:nvSpPr>
        <p:spPr>
          <a:xfrm>
            <a:off x="7779747" y="5793892"/>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48,55</a:t>
            </a:r>
            <a:endParaRPr/>
          </a:p>
        </p:txBody>
      </p:sp>
      <p:sp>
        <p:nvSpPr>
          <p:cNvPr id="2138" name="Google Shape;2138;p102"/>
          <p:cNvSpPr txBox="1"/>
          <p:nvPr/>
        </p:nvSpPr>
        <p:spPr>
          <a:xfrm>
            <a:off x="6450762" y="5793892"/>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40,42</a:t>
            </a:r>
            <a:endParaRPr/>
          </a:p>
        </p:txBody>
      </p:sp>
      <p:sp>
        <p:nvSpPr>
          <p:cNvPr id="2139" name="Google Shape;2139;p102"/>
          <p:cNvSpPr/>
          <p:nvPr/>
        </p:nvSpPr>
        <p:spPr>
          <a:xfrm>
            <a:off x="5686686" y="3963509"/>
            <a:ext cx="516532" cy="458306"/>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40" name="Google Shape;2140;p102"/>
          <p:cNvSpPr txBox="1"/>
          <p:nvPr/>
        </p:nvSpPr>
        <p:spPr>
          <a:xfrm>
            <a:off x="9251940" y="1597070"/>
            <a:ext cx="2586398" cy="1569660"/>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Assume we still only have </a:t>
            </a:r>
            <a:r>
              <a:rPr i="1" lang="en-US" sz="2400">
                <a:solidFill>
                  <a:schemeClr val="dk1"/>
                </a:solidFill>
                <a:latin typeface="Calibri"/>
                <a:ea typeface="Calibri"/>
                <a:cs typeface="Calibri"/>
                <a:sym typeface="Calibri"/>
              </a:rPr>
              <a:t>3</a:t>
            </a:r>
            <a:r>
              <a:rPr lang="en-US" sz="2400">
                <a:solidFill>
                  <a:schemeClr val="dk1"/>
                </a:solidFill>
                <a:latin typeface="Calibri"/>
                <a:ea typeface="Calibri"/>
                <a:cs typeface="Calibri"/>
                <a:sym typeface="Calibri"/>
              </a:rPr>
              <a:t> buffer pages </a:t>
            </a:r>
            <a:r>
              <a:rPr i="1" lang="en-US" sz="2400">
                <a:solidFill>
                  <a:schemeClr val="dk1"/>
                </a:solidFill>
                <a:latin typeface="Calibri"/>
                <a:ea typeface="Calibri"/>
                <a:cs typeface="Calibri"/>
                <a:sym typeface="Calibri"/>
              </a:rPr>
              <a:t>(Buffer not pictured)</a:t>
            </a:r>
            <a:endParaRPr/>
          </a:p>
        </p:txBody>
      </p:sp>
      <p:sp>
        <p:nvSpPr>
          <p:cNvPr id="2141" name="Google Shape;2141;p102"/>
          <p:cNvSpPr txBox="1"/>
          <p:nvPr/>
        </p:nvSpPr>
        <p:spPr>
          <a:xfrm>
            <a:off x="9027664" y="5127240"/>
            <a:ext cx="2586398" cy="830997"/>
          </a:xfrm>
          <a:prstGeom prst="rect">
            <a:avLst/>
          </a:prstGeom>
          <a:solidFill>
            <a:srgbClr val="DDEAF6"/>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Call each of these steps a </a:t>
            </a:r>
            <a:r>
              <a:rPr b="1" i="1" lang="en-US" sz="2400">
                <a:solidFill>
                  <a:schemeClr val="dk1"/>
                </a:solidFill>
                <a:latin typeface="Calibri"/>
                <a:ea typeface="Calibri"/>
                <a:cs typeface="Calibri"/>
                <a:sym typeface="Calibri"/>
              </a:rPr>
              <a:t>pass</a:t>
            </a:r>
            <a:endParaRPr i="1" sz="2400">
              <a:solidFill>
                <a:schemeClr val="dk1"/>
              </a:solidFill>
              <a:latin typeface="Calibri"/>
              <a:ea typeface="Calibri"/>
              <a:cs typeface="Calibri"/>
              <a:sym typeface="Calibri"/>
            </a:endParaRPr>
          </a:p>
        </p:txBody>
      </p:sp>
      <p:grpSp>
        <p:nvGrpSpPr>
          <p:cNvPr id="2142" name="Google Shape;2142;p102"/>
          <p:cNvGrpSpPr/>
          <p:nvPr/>
        </p:nvGrpSpPr>
        <p:grpSpPr>
          <a:xfrm>
            <a:off x="0" y="-22510"/>
            <a:ext cx="12192000" cy="307777"/>
            <a:chOff x="0" y="-22510"/>
            <a:chExt cx="12192000" cy="307777"/>
          </a:xfrm>
        </p:grpSpPr>
        <p:sp>
          <p:nvSpPr>
            <p:cNvPr id="2143" name="Google Shape;2143;p102"/>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2144" name="Google Shape;2144;p102"/>
            <p:cNvSpPr txBox="1"/>
            <p:nvPr/>
          </p:nvSpPr>
          <p:spPr>
            <a:xfrm>
              <a:off x="188780" y="-22510"/>
              <a:ext cx="258147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  External Merge Sort: Larger files</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8" name="Shape 2148"/>
        <p:cNvGrpSpPr/>
        <p:nvPr/>
      </p:nvGrpSpPr>
      <p:grpSpPr>
        <a:xfrm>
          <a:off x="0" y="0"/>
          <a:ext cx="0" cy="0"/>
          <a:chOff x="0" y="0"/>
          <a:chExt cx="0" cy="0"/>
        </a:xfrm>
      </p:grpSpPr>
      <p:sp>
        <p:nvSpPr>
          <p:cNvPr id="2149" name="Google Shape;2149;p10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Running External Merge Sort on Larger Files</a:t>
            </a:r>
            <a:endParaRPr/>
          </a:p>
        </p:txBody>
      </p:sp>
      <p:sp>
        <p:nvSpPr>
          <p:cNvPr id="2150" name="Google Shape;2150;p103"/>
          <p:cNvSpPr/>
          <p:nvPr/>
        </p:nvSpPr>
        <p:spPr>
          <a:xfrm>
            <a:off x="436783" y="2085749"/>
            <a:ext cx="2232468" cy="4162852"/>
          </a:xfrm>
          <a:prstGeom prst="can">
            <a:avLst>
              <a:gd fmla="val 9229"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2151" name="Google Shape;2151;p103"/>
          <p:cNvSpPr/>
          <p:nvPr/>
        </p:nvSpPr>
        <p:spPr>
          <a:xfrm>
            <a:off x="499430" y="3042146"/>
            <a:ext cx="2128680" cy="33899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52" name="Google Shape;2152;p103"/>
          <p:cNvSpPr/>
          <p:nvPr/>
        </p:nvSpPr>
        <p:spPr>
          <a:xfrm>
            <a:off x="500657" y="2579264"/>
            <a:ext cx="2128680" cy="33899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53" name="Google Shape;2153;p103"/>
          <p:cNvSpPr txBox="1"/>
          <p:nvPr/>
        </p:nvSpPr>
        <p:spPr>
          <a:xfrm>
            <a:off x="1093923" y="1793054"/>
            <a:ext cx="91818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Disk</a:t>
            </a:r>
            <a:endParaRPr/>
          </a:p>
        </p:txBody>
      </p:sp>
      <p:grpSp>
        <p:nvGrpSpPr>
          <p:cNvPr id="2154" name="Google Shape;2154;p103"/>
          <p:cNvGrpSpPr/>
          <p:nvPr/>
        </p:nvGrpSpPr>
        <p:grpSpPr>
          <a:xfrm>
            <a:off x="594718" y="2629977"/>
            <a:ext cx="1945043" cy="261610"/>
            <a:chOff x="2844928" y="2635940"/>
            <a:chExt cx="3012421" cy="405173"/>
          </a:xfrm>
        </p:grpSpPr>
        <p:sp>
          <p:nvSpPr>
            <p:cNvPr id="2155" name="Google Shape;2155;p103"/>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31,33</a:t>
              </a:r>
              <a:endParaRPr/>
            </a:p>
          </p:txBody>
        </p:sp>
        <p:sp>
          <p:nvSpPr>
            <p:cNvPr id="2156" name="Google Shape;2156;p103"/>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44,55</a:t>
              </a:r>
              <a:endParaRPr/>
            </a:p>
          </p:txBody>
        </p:sp>
        <p:sp>
          <p:nvSpPr>
            <p:cNvPr id="2157" name="Google Shape;2157;p103"/>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10,12</a:t>
              </a:r>
              <a:endParaRPr/>
            </a:p>
          </p:txBody>
        </p:sp>
      </p:grpSp>
      <p:sp>
        <p:nvSpPr>
          <p:cNvPr id="2158" name="Google Shape;2158;p103"/>
          <p:cNvSpPr txBox="1"/>
          <p:nvPr/>
        </p:nvSpPr>
        <p:spPr>
          <a:xfrm>
            <a:off x="1262495" y="3098608"/>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27,38</a:t>
            </a:r>
            <a:endParaRPr/>
          </a:p>
        </p:txBody>
      </p:sp>
      <p:sp>
        <p:nvSpPr>
          <p:cNvPr id="2159" name="Google Shape;2159;p103"/>
          <p:cNvSpPr txBox="1"/>
          <p:nvPr/>
        </p:nvSpPr>
        <p:spPr>
          <a:xfrm>
            <a:off x="1923702" y="3098608"/>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43,45</a:t>
            </a:r>
            <a:endParaRPr/>
          </a:p>
        </p:txBody>
      </p:sp>
      <p:sp>
        <p:nvSpPr>
          <p:cNvPr id="2160" name="Google Shape;2160;p103"/>
          <p:cNvSpPr txBox="1"/>
          <p:nvPr/>
        </p:nvSpPr>
        <p:spPr>
          <a:xfrm>
            <a:off x="594717" y="3098608"/>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18,24</a:t>
            </a:r>
            <a:endParaRPr/>
          </a:p>
        </p:txBody>
      </p:sp>
      <p:sp>
        <p:nvSpPr>
          <p:cNvPr id="2161" name="Google Shape;2161;p103"/>
          <p:cNvSpPr/>
          <p:nvPr/>
        </p:nvSpPr>
        <p:spPr>
          <a:xfrm>
            <a:off x="499430" y="3941000"/>
            <a:ext cx="2128680" cy="33899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62" name="Google Shape;2162;p103"/>
          <p:cNvSpPr/>
          <p:nvPr/>
        </p:nvSpPr>
        <p:spPr>
          <a:xfrm>
            <a:off x="500657" y="3478118"/>
            <a:ext cx="2128680" cy="33899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163" name="Google Shape;2163;p103"/>
          <p:cNvGrpSpPr/>
          <p:nvPr/>
        </p:nvGrpSpPr>
        <p:grpSpPr>
          <a:xfrm>
            <a:off x="594718" y="3528831"/>
            <a:ext cx="1945043" cy="261610"/>
            <a:chOff x="2844928" y="2635940"/>
            <a:chExt cx="3012421" cy="405173"/>
          </a:xfrm>
        </p:grpSpPr>
        <p:sp>
          <p:nvSpPr>
            <p:cNvPr id="2164" name="Google Shape;2164;p103"/>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31,33</a:t>
              </a:r>
              <a:endParaRPr/>
            </a:p>
          </p:txBody>
        </p:sp>
        <p:sp>
          <p:nvSpPr>
            <p:cNvPr id="2165" name="Google Shape;2165;p103"/>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47,55</a:t>
              </a:r>
              <a:endParaRPr/>
            </a:p>
          </p:txBody>
        </p:sp>
        <p:sp>
          <p:nvSpPr>
            <p:cNvPr id="2166" name="Google Shape;2166;p103"/>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10,12</a:t>
              </a:r>
              <a:endParaRPr/>
            </a:p>
          </p:txBody>
        </p:sp>
      </p:grpSp>
      <p:sp>
        <p:nvSpPr>
          <p:cNvPr id="2167" name="Google Shape;2167;p103"/>
          <p:cNvSpPr txBox="1"/>
          <p:nvPr/>
        </p:nvSpPr>
        <p:spPr>
          <a:xfrm>
            <a:off x="1262496" y="3997462"/>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20,22</a:t>
            </a:r>
            <a:endParaRPr/>
          </a:p>
        </p:txBody>
      </p:sp>
      <p:sp>
        <p:nvSpPr>
          <p:cNvPr id="2168" name="Google Shape;2168;p103"/>
          <p:cNvSpPr txBox="1"/>
          <p:nvPr/>
        </p:nvSpPr>
        <p:spPr>
          <a:xfrm>
            <a:off x="1923702" y="3997462"/>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23,41</a:t>
            </a:r>
            <a:endParaRPr/>
          </a:p>
        </p:txBody>
      </p:sp>
      <p:sp>
        <p:nvSpPr>
          <p:cNvPr id="2169" name="Google Shape;2169;p103"/>
          <p:cNvSpPr txBox="1"/>
          <p:nvPr/>
        </p:nvSpPr>
        <p:spPr>
          <a:xfrm>
            <a:off x="594717" y="3997462"/>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3,18</a:t>
            </a:r>
            <a:endParaRPr/>
          </a:p>
        </p:txBody>
      </p:sp>
      <p:sp>
        <p:nvSpPr>
          <p:cNvPr id="2170" name="Google Shape;2170;p103"/>
          <p:cNvSpPr/>
          <p:nvPr/>
        </p:nvSpPr>
        <p:spPr>
          <a:xfrm>
            <a:off x="496157" y="4833984"/>
            <a:ext cx="2128680" cy="33899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71" name="Google Shape;2171;p103"/>
          <p:cNvSpPr/>
          <p:nvPr/>
        </p:nvSpPr>
        <p:spPr>
          <a:xfrm>
            <a:off x="497384" y="4371102"/>
            <a:ext cx="2128680" cy="33899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172" name="Google Shape;2172;p103"/>
          <p:cNvGrpSpPr/>
          <p:nvPr/>
        </p:nvGrpSpPr>
        <p:grpSpPr>
          <a:xfrm>
            <a:off x="591445" y="4421815"/>
            <a:ext cx="1945043" cy="261610"/>
            <a:chOff x="2844928" y="2635940"/>
            <a:chExt cx="3012421" cy="405173"/>
          </a:xfrm>
        </p:grpSpPr>
        <p:sp>
          <p:nvSpPr>
            <p:cNvPr id="2173" name="Google Shape;2173;p103"/>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39,42</a:t>
              </a:r>
              <a:endParaRPr/>
            </a:p>
          </p:txBody>
        </p:sp>
        <p:sp>
          <p:nvSpPr>
            <p:cNvPr id="2174" name="Google Shape;2174;p103"/>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46,55</a:t>
              </a:r>
              <a:endParaRPr/>
            </a:p>
          </p:txBody>
        </p:sp>
        <p:sp>
          <p:nvSpPr>
            <p:cNvPr id="2175" name="Google Shape;2175;p103"/>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31,33</a:t>
              </a:r>
              <a:endParaRPr/>
            </a:p>
          </p:txBody>
        </p:sp>
      </p:grpSp>
      <p:sp>
        <p:nvSpPr>
          <p:cNvPr id="2176" name="Google Shape;2176;p103"/>
          <p:cNvSpPr txBox="1"/>
          <p:nvPr/>
        </p:nvSpPr>
        <p:spPr>
          <a:xfrm>
            <a:off x="1259226" y="4890446"/>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18,23</a:t>
            </a:r>
            <a:endParaRPr/>
          </a:p>
        </p:txBody>
      </p:sp>
      <p:sp>
        <p:nvSpPr>
          <p:cNvPr id="2177" name="Google Shape;2177;p103"/>
          <p:cNvSpPr txBox="1"/>
          <p:nvPr/>
        </p:nvSpPr>
        <p:spPr>
          <a:xfrm>
            <a:off x="1920429" y="4890446"/>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24,27</a:t>
            </a:r>
            <a:endParaRPr/>
          </a:p>
        </p:txBody>
      </p:sp>
      <p:sp>
        <p:nvSpPr>
          <p:cNvPr id="2178" name="Google Shape;2178;p103"/>
          <p:cNvSpPr txBox="1"/>
          <p:nvPr/>
        </p:nvSpPr>
        <p:spPr>
          <a:xfrm>
            <a:off x="591444" y="4890446"/>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1,3</a:t>
            </a:r>
            <a:endParaRPr/>
          </a:p>
        </p:txBody>
      </p:sp>
      <p:sp>
        <p:nvSpPr>
          <p:cNvPr id="2179" name="Google Shape;2179;p103"/>
          <p:cNvSpPr/>
          <p:nvPr/>
        </p:nvSpPr>
        <p:spPr>
          <a:xfrm>
            <a:off x="492884" y="5737430"/>
            <a:ext cx="2128680" cy="33899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80" name="Google Shape;2180;p103"/>
          <p:cNvSpPr/>
          <p:nvPr/>
        </p:nvSpPr>
        <p:spPr>
          <a:xfrm>
            <a:off x="494111" y="5274548"/>
            <a:ext cx="2128680" cy="33899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181" name="Google Shape;2181;p103"/>
          <p:cNvGrpSpPr/>
          <p:nvPr/>
        </p:nvGrpSpPr>
        <p:grpSpPr>
          <a:xfrm>
            <a:off x="588172" y="5325261"/>
            <a:ext cx="1945043" cy="261610"/>
            <a:chOff x="2844928" y="2635940"/>
            <a:chExt cx="3012421" cy="405173"/>
          </a:xfrm>
        </p:grpSpPr>
        <p:sp>
          <p:nvSpPr>
            <p:cNvPr id="2182" name="Google Shape;2182;p103"/>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33,40</a:t>
              </a:r>
              <a:endParaRPr/>
            </a:p>
          </p:txBody>
        </p:sp>
        <p:sp>
          <p:nvSpPr>
            <p:cNvPr id="2183" name="Google Shape;2183;p103"/>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44,48</a:t>
              </a:r>
              <a:endParaRPr/>
            </a:p>
          </p:txBody>
        </p:sp>
        <p:sp>
          <p:nvSpPr>
            <p:cNvPr id="2184" name="Google Shape;2184;p103"/>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10,12</a:t>
              </a:r>
              <a:endParaRPr/>
            </a:p>
          </p:txBody>
        </p:sp>
      </p:grpSp>
      <p:sp>
        <p:nvSpPr>
          <p:cNvPr id="2185" name="Google Shape;2185;p103"/>
          <p:cNvSpPr txBox="1"/>
          <p:nvPr/>
        </p:nvSpPr>
        <p:spPr>
          <a:xfrm>
            <a:off x="1255952" y="5793892"/>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22,24</a:t>
            </a:r>
            <a:endParaRPr/>
          </a:p>
        </p:txBody>
      </p:sp>
      <p:sp>
        <p:nvSpPr>
          <p:cNvPr id="2186" name="Google Shape;2186;p103"/>
          <p:cNvSpPr txBox="1"/>
          <p:nvPr/>
        </p:nvSpPr>
        <p:spPr>
          <a:xfrm>
            <a:off x="1917156" y="5793892"/>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27,31</a:t>
            </a:r>
            <a:endParaRPr/>
          </a:p>
        </p:txBody>
      </p:sp>
      <p:sp>
        <p:nvSpPr>
          <p:cNvPr id="2187" name="Google Shape;2187;p103"/>
          <p:cNvSpPr txBox="1"/>
          <p:nvPr/>
        </p:nvSpPr>
        <p:spPr>
          <a:xfrm>
            <a:off x="588171" y="5793892"/>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16,18</a:t>
            </a:r>
            <a:endParaRPr/>
          </a:p>
        </p:txBody>
      </p:sp>
      <p:sp>
        <p:nvSpPr>
          <p:cNvPr id="2188" name="Google Shape;2188;p103"/>
          <p:cNvSpPr txBox="1"/>
          <p:nvPr/>
        </p:nvSpPr>
        <p:spPr>
          <a:xfrm>
            <a:off x="9167267" y="6248819"/>
            <a:ext cx="260127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4. And repeat!</a:t>
            </a:r>
            <a:endParaRPr b="1" sz="2800">
              <a:solidFill>
                <a:schemeClr val="dk1"/>
              </a:solidFill>
              <a:latin typeface="Calibri"/>
              <a:ea typeface="Calibri"/>
              <a:cs typeface="Calibri"/>
              <a:sym typeface="Calibri"/>
            </a:endParaRPr>
          </a:p>
        </p:txBody>
      </p:sp>
      <p:sp>
        <p:nvSpPr>
          <p:cNvPr id="2189" name="Google Shape;2189;p103"/>
          <p:cNvSpPr/>
          <p:nvPr/>
        </p:nvSpPr>
        <p:spPr>
          <a:xfrm>
            <a:off x="3375999" y="2063241"/>
            <a:ext cx="2232468" cy="4162852"/>
          </a:xfrm>
          <a:prstGeom prst="can">
            <a:avLst>
              <a:gd fmla="val 9229"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2190" name="Google Shape;2190;p103"/>
          <p:cNvSpPr/>
          <p:nvPr/>
        </p:nvSpPr>
        <p:spPr>
          <a:xfrm>
            <a:off x="3439873" y="2556756"/>
            <a:ext cx="2128680" cy="82438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91" name="Google Shape;2191;p103"/>
          <p:cNvSpPr txBox="1"/>
          <p:nvPr/>
        </p:nvSpPr>
        <p:spPr>
          <a:xfrm>
            <a:off x="4033139" y="1770546"/>
            <a:ext cx="91818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Disk</a:t>
            </a:r>
            <a:endParaRPr/>
          </a:p>
        </p:txBody>
      </p:sp>
      <p:grpSp>
        <p:nvGrpSpPr>
          <p:cNvPr id="2192" name="Google Shape;2192;p103"/>
          <p:cNvGrpSpPr/>
          <p:nvPr/>
        </p:nvGrpSpPr>
        <p:grpSpPr>
          <a:xfrm>
            <a:off x="3533934" y="2607469"/>
            <a:ext cx="1945043" cy="261610"/>
            <a:chOff x="2844928" y="2635940"/>
            <a:chExt cx="3012421" cy="405173"/>
          </a:xfrm>
        </p:grpSpPr>
        <p:sp>
          <p:nvSpPr>
            <p:cNvPr id="2193" name="Google Shape;2193;p103"/>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18,24</a:t>
              </a:r>
              <a:endParaRPr/>
            </a:p>
          </p:txBody>
        </p:sp>
        <p:sp>
          <p:nvSpPr>
            <p:cNvPr id="2194" name="Google Shape;2194;p103"/>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27,31</a:t>
              </a:r>
              <a:endParaRPr/>
            </a:p>
          </p:txBody>
        </p:sp>
        <p:sp>
          <p:nvSpPr>
            <p:cNvPr id="2195" name="Google Shape;2195;p103"/>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10,12</a:t>
              </a:r>
              <a:endParaRPr/>
            </a:p>
          </p:txBody>
        </p:sp>
      </p:grpSp>
      <p:sp>
        <p:nvSpPr>
          <p:cNvPr id="2196" name="Google Shape;2196;p103"/>
          <p:cNvSpPr txBox="1"/>
          <p:nvPr/>
        </p:nvSpPr>
        <p:spPr>
          <a:xfrm>
            <a:off x="4201711" y="3076100"/>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43,44</a:t>
            </a:r>
            <a:endParaRPr/>
          </a:p>
        </p:txBody>
      </p:sp>
      <p:sp>
        <p:nvSpPr>
          <p:cNvPr id="2197" name="Google Shape;2197;p103"/>
          <p:cNvSpPr txBox="1"/>
          <p:nvPr/>
        </p:nvSpPr>
        <p:spPr>
          <a:xfrm>
            <a:off x="4862918" y="3076100"/>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45,55</a:t>
            </a:r>
            <a:endParaRPr/>
          </a:p>
        </p:txBody>
      </p:sp>
      <p:sp>
        <p:nvSpPr>
          <p:cNvPr id="2198" name="Google Shape;2198;p103"/>
          <p:cNvSpPr txBox="1"/>
          <p:nvPr/>
        </p:nvSpPr>
        <p:spPr>
          <a:xfrm>
            <a:off x="3533933" y="3076100"/>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33,38</a:t>
            </a:r>
            <a:endParaRPr/>
          </a:p>
        </p:txBody>
      </p:sp>
      <p:sp>
        <p:nvSpPr>
          <p:cNvPr id="2199" name="Google Shape;2199;p103"/>
          <p:cNvSpPr/>
          <p:nvPr/>
        </p:nvSpPr>
        <p:spPr>
          <a:xfrm>
            <a:off x="3439873" y="3455609"/>
            <a:ext cx="2128680" cy="819807"/>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200" name="Google Shape;2200;p103"/>
          <p:cNvGrpSpPr/>
          <p:nvPr/>
        </p:nvGrpSpPr>
        <p:grpSpPr>
          <a:xfrm>
            <a:off x="3533934" y="3506323"/>
            <a:ext cx="1945043" cy="261610"/>
            <a:chOff x="2844928" y="2635940"/>
            <a:chExt cx="3012421" cy="405173"/>
          </a:xfrm>
        </p:grpSpPr>
        <p:sp>
          <p:nvSpPr>
            <p:cNvPr id="2201" name="Google Shape;2201;p103"/>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12,18</a:t>
              </a:r>
              <a:endParaRPr/>
            </a:p>
          </p:txBody>
        </p:sp>
        <p:sp>
          <p:nvSpPr>
            <p:cNvPr id="2202" name="Google Shape;2202;p103"/>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20,22</a:t>
              </a:r>
              <a:endParaRPr/>
            </a:p>
          </p:txBody>
        </p:sp>
        <p:sp>
          <p:nvSpPr>
            <p:cNvPr id="2203" name="Google Shape;2203;p103"/>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3,10</a:t>
              </a:r>
              <a:endParaRPr/>
            </a:p>
          </p:txBody>
        </p:sp>
      </p:grpSp>
      <p:sp>
        <p:nvSpPr>
          <p:cNvPr id="2204" name="Google Shape;2204;p103"/>
          <p:cNvSpPr txBox="1"/>
          <p:nvPr/>
        </p:nvSpPr>
        <p:spPr>
          <a:xfrm>
            <a:off x="4201712" y="3974954"/>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33,41</a:t>
            </a:r>
            <a:endParaRPr/>
          </a:p>
        </p:txBody>
      </p:sp>
      <p:sp>
        <p:nvSpPr>
          <p:cNvPr id="2205" name="Google Shape;2205;p103"/>
          <p:cNvSpPr txBox="1"/>
          <p:nvPr/>
        </p:nvSpPr>
        <p:spPr>
          <a:xfrm>
            <a:off x="4862918" y="3974954"/>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47,55</a:t>
            </a:r>
            <a:endParaRPr/>
          </a:p>
        </p:txBody>
      </p:sp>
      <p:sp>
        <p:nvSpPr>
          <p:cNvPr id="2206" name="Google Shape;2206;p103"/>
          <p:cNvSpPr txBox="1"/>
          <p:nvPr/>
        </p:nvSpPr>
        <p:spPr>
          <a:xfrm>
            <a:off x="3533933" y="3974954"/>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23,31</a:t>
            </a:r>
            <a:endParaRPr/>
          </a:p>
        </p:txBody>
      </p:sp>
      <p:sp>
        <p:nvSpPr>
          <p:cNvPr id="2207" name="Google Shape;2207;p103"/>
          <p:cNvSpPr/>
          <p:nvPr/>
        </p:nvSpPr>
        <p:spPr>
          <a:xfrm>
            <a:off x="3436600" y="4348594"/>
            <a:ext cx="2128680" cy="82438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208" name="Google Shape;2208;p103"/>
          <p:cNvGrpSpPr/>
          <p:nvPr/>
        </p:nvGrpSpPr>
        <p:grpSpPr>
          <a:xfrm>
            <a:off x="3530661" y="4399307"/>
            <a:ext cx="1945043" cy="261610"/>
            <a:chOff x="2844928" y="2635940"/>
            <a:chExt cx="3012421" cy="405173"/>
          </a:xfrm>
        </p:grpSpPr>
        <p:sp>
          <p:nvSpPr>
            <p:cNvPr id="2209" name="Google Shape;2209;p103"/>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18,23</a:t>
              </a:r>
              <a:endParaRPr/>
            </a:p>
          </p:txBody>
        </p:sp>
        <p:sp>
          <p:nvSpPr>
            <p:cNvPr id="2210" name="Google Shape;2210;p103"/>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24,27</a:t>
              </a:r>
              <a:endParaRPr/>
            </a:p>
          </p:txBody>
        </p:sp>
        <p:sp>
          <p:nvSpPr>
            <p:cNvPr id="2211" name="Google Shape;2211;p103"/>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1,3</a:t>
              </a:r>
              <a:endParaRPr/>
            </a:p>
          </p:txBody>
        </p:sp>
      </p:grpSp>
      <p:sp>
        <p:nvSpPr>
          <p:cNvPr id="2212" name="Google Shape;2212;p103"/>
          <p:cNvSpPr txBox="1"/>
          <p:nvPr/>
        </p:nvSpPr>
        <p:spPr>
          <a:xfrm>
            <a:off x="4198442" y="4867938"/>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39,42</a:t>
            </a:r>
            <a:endParaRPr/>
          </a:p>
        </p:txBody>
      </p:sp>
      <p:sp>
        <p:nvSpPr>
          <p:cNvPr id="2213" name="Google Shape;2213;p103"/>
          <p:cNvSpPr txBox="1"/>
          <p:nvPr/>
        </p:nvSpPr>
        <p:spPr>
          <a:xfrm>
            <a:off x="4859645" y="4867938"/>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46,55</a:t>
            </a:r>
            <a:endParaRPr/>
          </a:p>
        </p:txBody>
      </p:sp>
      <p:sp>
        <p:nvSpPr>
          <p:cNvPr id="2214" name="Google Shape;2214;p103"/>
          <p:cNvSpPr txBox="1"/>
          <p:nvPr/>
        </p:nvSpPr>
        <p:spPr>
          <a:xfrm>
            <a:off x="3530660" y="4867938"/>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31,33</a:t>
            </a:r>
            <a:endParaRPr/>
          </a:p>
        </p:txBody>
      </p:sp>
      <p:sp>
        <p:nvSpPr>
          <p:cNvPr id="2215" name="Google Shape;2215;p103"/>
          <p:cNvSpPr/>
          <p:nvPr/>
        </p:nvSpPr>
        <p:spPr>
          <a:xfrm>
            <a:off x="3433327" y="5252040"/>
            <a:ext cx="2128680" cy="80124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216" name="Google Shape;2216;p103"/>
          <p:cNvGrpSpPr/>
          <p:nvPr/>
        </p:nvGrpSpPr>
        <p:grpSpPr>
          <a:xfrm>
            <a:off x="3527388" y="5302753"/>
            <a:ext cx="1945043" cy="261610"/>
            <a:chOff x="2844928" y="2635940"/>
            <a:chExt cx="3012421" cy="405173"/>
          </a:xfrm>
        </p:grpSpPr>
        <p:sp>
          <p:nvSpPr>
            <p:cNvPr id="2217" name="Google Shape;2217;p103"/>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16,18</a:t>
              </a:r>
              <a:endParaRPr/>
            </a:p>
          </p:txBody>
        </p:sp>
        <p:sp>
          <p:nvSpPr>
            <p:cNvPr id="2218" name="Google Shape;2218;p103"/>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22,24</a:t>
              </a:r>
              <a:endParaRPr/>
            </a:p>
          </p:txBody>
        </p:sp>
        <p:sp>
          <p:nvSpPr>
            <p:cNvPr id="2219" name="Google Shape;2219;p103"/>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10,12</a:t>
              </a:r>
              <a:endParaRPr/>
            </a:p>
          </p:txBody>
        </p:sp>
      </p:grpSp>
      <p:sp>
        <p:nvSpPr>
          <p:cNvPr id="2220" name="Google Shape;2220;p103"/>
          <p:cNvSpPr txBox="1"/>
          <p:nvPr/>
        </p:nvSpPr>
        <p:spPr>
          <a:xfrm>
            <a:off x="4195168" y="5771384"/>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33,40</a:t>
            </a:r>
            <a:endParaRPr/>
          </a:p>
        </p:txBody>
      </p:sp>
      <p:sp>
        <p:nvSpPr>
          <p:cNvPr id="2221" name="Google Shape;2221;p103"/>
          <p:cNvSpPr txBox="1"/>
          <p:nvPr/>
        </p:nvSpPr>
        <p:spPr>
          <a:xfrm>
            <a:off x="4856372" y="5771384"/>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44,48</a:t>
            </a:r>
            <a:endParaRPr/>
          </a:p>
        </p:txBody>
      </p:sp>
      <p:sp>
        <p:nvSpPr>
          <p:cNvPr id="2222" name="Google Shape;2222;p103"/>
          <p:cNvSpPr txBox="1"/>
          <p:nvPr/>
        </p:nvSpPr>
        <p:spPr>
          <a:xfrm>
            <a:off x="3527387" y="5771384"/>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27,31</a:t>
            </a:r>
            <a:endParaRPr/>
          </a:p>
        </p:txBody>
      </p:sp>
      <p:sp>
        <p:nvSpPr>
          <p:cNvPr id="2223" name="Google Shape;2223;p103"/>
          <p:cNvSpPr/>
          <p:nvPr/>
        </p:nvSpPr>
        <p:spPr>
          <a:xfrm>
            <a:off x="2763311" y="3941001"/>
            <a:ext cx="516532" cy="458306"/>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24" name="Google Shape;2224;p103"/>
          <p:cNvSpPr/>
          <p:nvPr/>
        </p:nvSpPr>
        <p:spPr>
          <a:xfrm>
            <a:off x="6299374" y="2085749"/>
            <a:ext cx="2232468" cy="4162852"/>
          </a:xfrm>
          <a:prstGeom prst="can">
            <a:avLst>
              <a:gd fmla="val 9229"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2225" name="Google Shape;2225;p103"/>
          <p:cNvSpPr/>
          <p:nvPr/>
        </p:nvSpPr>
        <p:spPr>
          <a:xfrm>
            <a:off x="6363248" y="2579264"/>
            <a:ext cx="2128680" cy="1712774"/>
          </a:xfrm>
          <a:prstGeom prst="roundRect">
            <a:avLst>
              <a:gd fmla="val 5525"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26" name="Google Shape;2226;p103"/>
          <p:cNvSpPr txBox="1"/>
          <p:nvPr/>
        </p:nvSpPr>
        <p:spPr>
          <a:xfrm>
            <a:off x="6956514" y="1793054"/>
            <a:ext cx="91818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Disk</a:t>
            </a:r>
            <a:endParaRPr/>
          </a:p>
        </p:txBody>
      </p:sp>
      <p:grpSp>
        <p:nvGrpSpPr>
          <p:cNvPr id="2227" name="Google Shape;2227;p103"/>
          <p:cNvGrpSpPr/>
          <p:nvPr/>
        </p:nvGrpSpPr>
        <p:grpSpPr>
          <a:xfrm>
            <a:off x="6457309" y="2629977"/>
            <a:ext cx="1945043" cy="261610"/>
            <a:chOff x="2844928" y="2635940"/>
            <a:chExt cx="3012421" cy="405173"/>
          </a:xfrm>
        </p:grpSpPr>
        <p:sp>
          <p:nvSpPr>
            <p:cNvPr id="2228" name="Google Shape;2228;p103"/>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10,12</a:t>
              </a:r>
              <a:endParaRPr/>
            </a:p>
          </p:txBody>
        </p:sp>
        <p:sp>
          <p:nvSpPr>
            <p:cNvPr id="2229" name="Google Shape;2229;p103"/>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12,18</a:t>
              </a:r>
              <a:endParaRPr/>
            </a:p>
          </p:txBody>
        </p:sp>
        <p:sp>
          <p:nvSpPr>
            <p:cNvPr id="2230" name="Google Shape;2230;p103"/>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3,10</a:t>
              </a:r>
              <a:endParaRPr/>
            </a:p>
          </p:txBody>
        </p:sp>
      </p:grpSp>
      <p:sp>
        <p:nvSpPr>
          <p:cNvPr id="2231" name="Google Shape;2231;p103"/>
          <p:cNvSpPr txBox="1"/>
          <p:nvPr/>
        </p:nvSpPr>
        <p:spPr>
          <a:xfrm>
            <a:off x="7125086" y="3098608"/>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22,23</a:t>
            </a:r>
            <a:endParaRPr/>
          </a:p>
        </p:txBody>
      </p:sp>
      <p:sp>
        <p:nvSpPr>
          <p:cNvPr id="2232" name="Google Shape;2232;p103"/>
          <p:cNvSpPr txBox="1"/>
          <p:nvPr/>
        </p:nvSpPr>
        <p:spPr>
          <a:xfrm>
            <a:off x="7786293" y="3098608"/>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24,27</a:t>
            </a:r>
            <a:endParaRPr/>
          </a:p>
        </p:txBody>
      </p:sp>
      <p:sp>
        <p:nvSpPr>
          <p:cNvPr id="2233" name="Google Shape;2233;p103"/>
          <p:cNvSpPr txBox="1"/>
          <p:nvPr/>
        </p:nvSpPr>
        <p:spPr>
          <a:xfrm>
            <a:off x="6457308" y="3098608"/>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18,20</a:t>
            </a:r>
            <a:endParaRPr/>
          </a:p>
        </p:txBody>
      </p:sp>
      <p:grpSp>
        <p:nvGrpSpPr>
          <p:cNvPr id="2234" name="Google Shape;2234;p103"/>
          <p:cNvGrpSpPr/>
          <p:nvPr/>
        </p:nvGrpSpPr>
        <p:grpSpPr>
          <a:xfrm>
            <a:off x="6457309" y="3528831"/>
            <a:ext cx="1945043" cy="261610"/>
            <a:chOff x="2844928" y="2635940"/>
            <a:chExt cx="3012421" cy="405173"/>
          </a:xfrm>
        </p:grpSpPr>
        <p:sp>
          <p:nvSpPr>
            <p:cNvPr id="2235" name="Google Shape;2235;p103"/>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33,33</a:t>
              </a:r>
              <a:endParaRPr/>
            </a:p>
          </p:txBody>
        </p:sp>
        <p:sp>
          <p:nvSpPr>
            <p:cNvPr id="2236" name="Google Shape;2236;p103"/>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38,41</a:t>
              </a:r>
              <a:endParaRPr/>
            </a:p>
          </p:txBody>
        </p:sp>
        <p:sp>
          <p:nvSpPr>
            <p:cNvPr id="2237" name="Google Shape;2237;p103"/>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31,31</a:t>
              </a:r>
              <a:endParaRPr/>
            </a:p>
          </p:txBody>
        </p:sp>
      </p:grpSp>
      <p:sp>
        <p:nvSpPr>
          <p:cNvPr id="2238" name="Google Shape;2238;p103"/>
          <p:cNvSpPr txBox="1"/>
          <p:nvPr/>
        </p:nvSpPr>
        <p:spPr>
          <a:xfrm>
            <a:off x="7125087" y="3997462"/>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45,47</a:t>
            </a:r>
            <a:endParaRPr/>
          </a:p>
        </p:txBody>
      </p:sp>
      <p:sp>
        <p:nvSpPr>
          <p:cNvPr id="2239" name="Google Shape;2239;p103"/>
          <p:cNvSpPr txBox="1"/>
          <p:nvPr/>
        </p:nvSpPr>
        <p:spPr>
          <a:xfrm>
            <a:off x="7786293" y="3997462"/>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55,55</a:t>
            </a:r>
            <a:endParaRPr/>
          </a:p>
        </p:txBody>
      </p:sp>
      <p:sp>
        <p:nvSpPr>
          <p:cNvPr id="2240" name="Google Shape;2240;p103"/>
          <p:cNvSpPr txBox="1"/>
          <p:nvPr/>
        </p:nvSpPr>
        <p:spPr>
          <a:xfrm>
            <a:off x="6457308" y="3997462"/>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43,44</a:t>
            </a:r>
            <a:endParaRPr/>
          </a:p>
        </p:txBody>
      </p:sp>
      <p:sp>
        <p:nvSpPr>
          <p:cNvPr id="2241" name="Google Shape;2241;p103"/>
          <p:cNvSpPr/>
          <p:nvPr/>
        </p:nvSpPr>
        <p:spPr>
          <a:xfrm>
            <a:off x="6359975" y="4371101"/>
            <a:ext cx="2128680" cy="1785393"/>
          </a:xfrm>
          <a:prstGeom prst="roundRect">
            <a:avLst>
              <a:gd fmla="val 4642"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242" name="Google Shape;2242;p103"/>
          <p:cNvGrpSpPr/>
          <p:nvPr/>
        </p:nvGrpSpPr>
        <p:grpSpPr>
          <a:xfrm>
            <a:off x="6454036" y="4421815"/>
            <a:ext cx="1945043" cy="261610"/>
            <a:chOff x="2844928" y="2635940"/>
            <a:chExt cx="3012421" cy="405173"/>
          </a:xfrm>
        </p:grpSpPr>
        <p:sp>
          <p:nvSpPr>
            <p:cNvPr id="2243" name="Google Shape;2243;p103"/>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10,12</a:t>
              </a:r>
              <a:endParaRPr/>
            </a:p>
          </p:txBody>
        </p:sp>
        <p:sp>
          <p:nvSpPr>
            <p:cNvPr id="2244" name="Google Shape;2244;p103"/>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16,18</a:t>
              </a:r>
              <a:endParaRPr/>
            </a:p>
          </p:txBody>
        </p:sp>
        <p:sp>
          <p:nvSpPr>
            <p:cNvPr id="2245" name="Google Shape;2245;p103"/>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1,3</a:t>
              </a:r>
              <a:endParaRPr/>
            </a:p>
          </p:txBody>
        </p:sp>
      </p:grpSp>
      <p:sp>
        <p:nvSpPr>
          <p:cNvPr id="2246" name="Google Shape;2246;p103"/>
          <p:cNvSpPr txBox="1"/>
          <p:nvPr/>
        </p:nvSpPr>
        <p:spPr>
          <a:xfrm>
            <a:off x="7121817" y="4890446"/>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23,24</a:t>
            </a:r>
            <a:endParaRPr/>
          </a:p>
        </p:txBody>
      </p:sp>
      <p:sp>
        <p:nvSpPr>
          <p:cNvPr id="2247" name="Google Shape;2247;p103"/>
          <p:cNvSpPr txBox="1"/>
          <p:nvPr/>
        </p:nvSpPr>
        <p:spPr>
          <a:xfrm>
            <a:off x="7783020" y="4890446"/>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24,27</a:t>
            </a:r>
            <a:endParaRPr/>
          </a:p>
        </p:txBody>
      </p:sp>
      <p:sp>
        <p:nvSpPr>
          <p:cNvPr id="2248" name="Google Shape;2248;p103"/>
          <p:cNvSpPr txBox="1"/>
          <p:nvPr/>
        </p:nvSpPr>
        <p:spPr>
          <a:xfrm>
            <a:off x="6454035" y="4890446"/>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18,22</a:t>
            </a:r>
            <a:endParaRPr/>
          </a:p>
        </p:txBody>
      </p:sp>
      <p:grpSp>
        <p:nvGrpSpPr>
          <p:cNvPr id="2249" name="Google Shape;2249;p103"/>
          <p:cNvGrpSpPr/>
          <p:nvPr/>
        </p:nvGrpSpPr>
        <p:grpSpPr>
          <a:xfrm>
            <a:off x="6450763" y="5325261"/>
            <a:ext cx="1945043" cy="261610"/>
            <a:chOff x="2844928" y="2635940"/>
            <a:chExt cx="3012421" cy="405173"/>
          </a:xfrm>
        </p:grpSpPr>
        <p:sp>
          <p:nvSpPr>
            <p:cNvPr id="2250" name="Google Shape;2250;p103"/>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31,33</a:t>
              </a:r>
              <a:endParaRPr/>
            </a:p>
          </p:txBody>
        </p:sp>
        <p:sp>
          <p:nvSpPr>
            <p:cNvPr id="2251" name="Google Shape;2251;p103"/>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33,39</a:t>
              </a:r>
              <a:endParaRPr/>
            </a:p>
          </p:txBody>
        </p:sp>
        <p:sp>
          <p:nvSpPr>
            <p:cNvPr id="2252" name="Google Shape;2252;p103"/>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27,31</a:t>
              </a:r>
              <a:endParaRPr/>
            </a:p>
          </p:txBody>
        </p:sp>
      </p:grpSp>
      <p:sp>
        <p:nvSpPr>
          <p:cNvPr id="2253" name="Google Shape;2253;p103"/>
          <p:cNvSpPr txBox="1"/>
          <p:nvPr/>
        </p:nvSpPr>
        <p:spPr>
          <a:xfrm>
            <a:off x="7118543" y="5793892"/>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44,46</a:t>
            </a:r>
            <a:endParaRPr/>
          </a:p>
        </p:txBody>
      </p:sp>
      <p:sp>
        <p:nvSpPr>
          <p:cNvPr id="2254" name="Google Shape;2254;p103"/>
          <p:cNvSpPr txBox="1"/>
          <p:nvPr/>
        </p:nvSpPr>
        <p:spPr>
          <a:xfrm>
            <a:off x="7779747" y="5793892"/>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48,55</a:t>
            </a:r>
            <a:endParaRPr/>
          </a:p>
        </p:txBody>
      </p:sp>
      <p:sp>
        <p:nvSpPr>
          <p:cNvPr id="2255" name="Google Shape;2255;p103"/>
          <p:cNvSpPr txBox="1"/>
          <p:nvPr/>
        </p:nvSpPr>
        <p:spPr>
          <a:xfrm>
            <a:off x="6450762" y="5793892"/>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40,42</a:t>
            </a:r>
            <a:endParaRPr/>
          </a:p>
        </p:txBody>
      </p:sp>
      <p:sp>
        <p:nvSpPr>
          <p:cNvPr id="2256" name="Google Shape;2256;p103"/>
          <p:cNvSpPr/>
          <p:nvPr/>
        </p:nvSpPr>
        <p:spPr>
          <a:xfrm>
            <a:off x="5686686" y="3963509"/>
            <a:ext cx="516532" cy="458306"/>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57" name="Google Shape;2257;p103"/>
          <p:cNvSpPr/>
          <p:nvPr/>
        </p:nvSpPr>
        <p:spPr>
          <a:xfrm>
            <a:off x="9232726" y="2085749"/>
            <a:ext cx="2232468" cy="4162852"/>
          </a:xfrm>
          <a:prstGeom prst="can">
            <a:avLst>
              <a:gd fmla="val 9229"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2258" name="Google Shape;2258;p103"/>
          <p:cNvSpPr/>
          <p:nvPr/>
        </p:nvSpPr>
        <p:spPr>
          <a:xfrm>
            <a:off x="9296600" y="2579264"/>
            <a:ext cx="2128680" cy="3577230"/>
          </a:xfrm>
          <a:prstGeom prst="roundRect">
            <a:avLst>
              <a:gd fmla="val 5088"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59" name="Google Shape;2259;p103"/>
          <p:cNvSpPr txBox="1"/>
          <p:nvPr/>
        </p:nvSpPr>
        <p:spPr>
          <a:xfrm>
            <a:off x="9889866" y="1793054"/>
            <a:ext cx="91818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Disk</a:t>
            </a:r>
            <a:endParaRPr/>
          </a:p>
        </p:txBody>
      </p:sp>
      <p:grpSp>
        <p:nvGrpSpPr>
          <p:cNvPr id="2260" name="Google Shape;2260;p103"/>
          <p:cNvGrpSpPr/>
          <p:nvPr/>
        </p:nvGrpSpPr>
        <p:grpSpPr>
          <a:xfrm>
            <a:off x="9390661" y="2629977"/>
            <a:ext cx="1945043" cy="261610"/>
            <a:chOff x="2844928" y="2635940"/>
            <a:chExt cx="3012421" cy="405173"/>
          </a:xfrm>
        </p:grpSpPr>
        <p:sp>
          <p:nvSpPr>
            <p:cNvPr id="2261" name="Google Shape;2261;p103"/>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3,10</a:t>
              </a:r>
              <a:endParaRPr/>
            </a:p>
          </p:txBody>
        </p:sp>
        <p:sp>
          <p:nvSpPr>
            <p:cNvPr id="2262" name="Google Shape;2262;p103"/>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10,10</a:t>
              </a:r>
              <a:endParaRPr/>
            </a:p>
          </p:txBody>
        </p:sp>
        <p:sp>
          <p:nvSpPr>
            <p:cNvPr id="2263" name="Google Shape;2263;p103"/>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1,3</a:t>
              </a:r>
              <a:endParaRPr/>
            </a:p>
          </p:txBody>
        </p:sp>
      </p:grpSp>
      <p:sp>
        <p:nvSpPr>
          <p:cNvPr id="2264" name="Google Shape;2264;p103"/>
          <p:cNvSpPr txBox="1"/>
          <p:nvPr/>
        </p:nvSpPr>
        <p:spPr>
          <a:xfrm>
            <a:off x="10058438" y="3098608"/>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12,16</a:t>
            </a:r>
            <a:endParaRPr/>
          </a:p>
        </p:txBody>
      </p:sp>
      <p:sp>
        <p:nvSpPr>
          <p:cNvPr id="2265" name="Google Shape;2265;p103"/>
          <p:cNvSpPr txBox="1"/>
          <p:nvPr/>
        </p:nvSpPr>
        <p:spPr>
          <a:xfrm>
            <a:off x="10719645" y="3098608"/>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18,18</a:t>
            </a:r>
            <a:endParaRPr/>
          </a:p>
        </p:txBody>
      </p:sp>
      <p:sp>
        <p:nvSpPr>
          <p:cNvPr id="2266" name="Google Shape;2266;p103"/>
          <p:cNvSpPr txBox="1"/>
          <p:nvPr/>
        </p:nvSpPr>
        <p:spPr>
          <a:xfrm>
            <a:off x="9390660" y="3098608"/>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12,12</a:t>
            </a:r>
            <a:endParaRPr/>
          </a:p>
        </p:txBody>
      </p:sp>
      <p:grpSp>
        <p:nvGrpSpPr>
          <p:cNvPr id="2267" name="Google Shape;2267;p103"/>
          <p:cNvGrpSpPr/>
          <p:nvPr/>
        </p:nvGrpSpPr>
        <p:grpSpPr>
          <a:xfrm>
            <a:off x="9390661" y="3528831"/>
            <a:ext cx="1945043" cy="261610"/>
            <a:chOff x="2844928" y="2635940"/>
            <a:chExt cx="3012421" cy="405173"/>
          </a:xfrm>
        </p:grpSpPr>
        <p:sp>
          <p:nvSpPr>
            <p:cNvPr id="2268" name="Google Shape;2268;p103"/>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20,22</a:t>
              </a:r>
              <a:endParaRPr/>
            </a:p>
          </p:txBody>
        </p:sp>
        <p:sp>
          <p:nvSpPr>
            <p:cNvPr id="2269" name="Google Shape;2269;p103"/>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22,23</a:t>
              </a:r>
              <a:endParaRPr/>
            </a:p>
          </p:txBody>
        </p:sp>
        <p:sp>
          <p:nvSpPr>
            <p:cNvPr id="2270" name="Google Shape;2270;p103"/>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18,18</a:t>
              </a:r>
              <a:endParaRPr/>
            </a:p>
          </p:txBody>
        </p:sp>
      </p:grpSp>
      <p:sp>
        <p:nvSpPr>
          <p:cNvPr id="2271" name="Google Shape;2271;p103"/>
          <p:cNvSpPr txBox="1"/>
          <p:nvPr/>
        </p:nvSpPr>
        <p:spPr>
          <a:xfrm>
            <a:off x="10058439" y="3997462"/>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24,24</a:t>
            </a:r>
            <a:endParaRPr/>
          </a:p>
        </p:txBody>
      </p:sp>
      <p:sp>
        <p:nvSpPr>
          <p:cNvPr id="2272" name="Google Shape;2272;p103"/>
          <p:cNvSpPr txBox="1"/>
          <p:nvPr/>
        </p:nvSpPr>
        <p:spPr>
          <a:xfrm>
            <a:off x="10719645" y="3997462"/>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27,27</a:t>
            </a:r>
            <a:endParaRPr/>
          </a:p>
        </p:txBody>
      </p:sp>
      <p:sp>
        <p:nvSpPr>
          <p:cNvPr id="2273" name="Google Shape;2273;p103"/>
          <p:cNvSpPr txBox="1"/>
          <p:nvPr/>
        </p:nvSpPr>
        <p:spPr>
          <a:xfrm>
            <a:off x="9390660" y="3997462"/>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23,24</a:t>
            </a:r>
            <a:endParaRPr/>
          </a:p>
        </p:txBody>
      </p:sp>
      <p:grpSp>
        <p:nvGrpSpPr>
          <p:cNvPr id="2274" name="Google Shape;2274;p103"/>
          <p:cNvGrpSpPr/>
          <p:nvPr/>
        </p:nvGrpSpPr>
        <p:grpSpPr>
          <a:xfrm>
            <a:off x="9387388" y="4421815"/>
            <a:ext cx="1945043" cy="261610"/>
            <a:chOff x="2844928" y="2635940"/>
            <a:chExt cx="3012421" cy="405173"/>
          </a:xfrm>
        </p:grpSpPr>
        <p:sp>
          <p:nvSpPr>
            <p:cNvPr id="2275" name="Google Shape;2275;p103"/>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31,31</a:t>
              </a:r>
              <a:endParaRPr/>
            </a:p>
          </p:txBody>
        </p:sp>
        <p:sp>
          <p:nvSpPr>
            <p:cNvPr id="2276" name="Google Shape;2276;p103"/>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31,33</a:t>
              </a:r>
              <a:endParaRPr/>
            </a:p>
          </p:txBody>
        </p:sp>
        <p:sp>
          <p:nvSpPr>
            <p:cNvPr id="2277" name="Google Shape;2277;p103"/>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27,31</a:t>
              </a:r>
              <a:endParaRPr/>
            </a:p>
          </p:txBody>
        </p:sp>
      </p:grpSp>
      <p:sp>
        <p:nvSpPr>
          <p:cNvPr id="2278" name="Google Shape;2278;p103"/>
          <p:cNvSpPr txBox="1"/>
          <p:nvPr/>
        </p:nvSpPr>
        <p:spPr>
          <a:xfrm>
            <a:off x="10055169" y="4890446"/>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33,38</a:t>
            </a:r>
            <a:endParaRPr/>
          </a:p>
        </p:txBody>
      </p:sp>
      <p:sp>
        <p:nvSpPr>
          <p:cNvPr id="2279" name="Google Shape;2279;p103"/>
          <p:cNvSpPr txBox="1"/>
          <p:nvPr/>
        </p:nvSpPr>
        <p:spPr>
          <a:xfrm>
            <a:off x="10716372" y="4890446"/>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39,40</a:t>
            </a:r>
            <a:endParaRPr/>
          </a:p>
        </p:txBody>
      </p:sp>
      <p:sp>
        <p:nvSpPr>
          <p:cNvPr id="2280" name="Google Shape;2280;p103"/>
          <p:cNvSpPr txBox="1"/>
          <p:nvPr/>
        </p:nvSpPr>
        <p:spPr>
          <a:xfrm>
            <a:off x="9387387" y="4890446"/>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33,33</a:t>
            </a:r>
            <a:endParaRPr/>
          </a:p>
        </p:txBody>
      </p:sp>
      <p:grpSp>
        <p:nvGrpSpPr>
          <p:cNvPr id="2281" name="Google Shape;2281;p103"/>
          <p:cNvGrpSpPr/>
          <p:nvPr/>
        </p:nvGrpSpPr>
        <p:grpSpPr>
          <a:xfrm>
            <a:off x="9384115" y="5325261"/>
            <a:ext cx="1945043" cy="261610"/>
            <a:chOff x="2844928" y="2635940"/>
            <a:chExt cx="3012421" cy="405173"/>
          </a:xfrm>
        </p:grpSpPr>
        <p:sp>
          <p:nvSpPr>
            <p:cNvPr id="2282" name="Google Shape;2282;p103"/>
            <p:cNvSpPr txBox="1"/>
            <p:nvPr/>
          </p:nvSpPr>
          <p:spPr>
            <a:xfrm>
              <a:off x="3874097" y="2635940"/>
              <a:ext cx="954082"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43,44</a:t>
              </a:r>
              <a:endParaRPr/>
            </a:p>
          </p:txBody>
        </p:sp>
        <p:sp>
          <p:nvSpPr>
            <p:cNvPr id="2283" name="Google Shape;2283;p103"/>
            <p:cNvSpPr txBox="1"/>
            <p:nvPr/>
          </p:nvSpPr>
          <p:spPr>
            <a:xfrm>
              <a:off x="4903243"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44,45</a:t>
              </a:r>
              <a:endParaRPr/>
            </a:p>
          </p:txBody>
        </p:sp>
        <p:sp>
          <p:nvSpPr>
            <p:cNvPr id="2284" name="Google Shape;2284;p103"/>
            <p:cNvSpPr txBox="1"/>
            <p:nvPr/>
          </p:nvSpPr>
          <p:spPr>
            <a:xfrm>
              <a:off x="2844928" y="2635940"/>
              <a:ext cx="954106" cy="405173"/>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41,42</a:t>
              </a:r>
              <a:endParaRPr/>
            </a:p>
          </p:txBody>
        </p:sp>
      </p:grpSp>
      <p:sp>
        <p:nvSpPr>
          <p:cNvPr id="2285" name="Google Shape;2285;p103"/>
          <p:cNvSpPr txBox="1"/>
          <p:nvPr/>
        </p:nvSpPr>
        <p:spPr>
          <a:xfrm>
            <a:off x="10051895" y="5793892"/>
            <a:ext cx="60946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48,55</a:t>
            </a:r>
            <a:endParaRPr/>
          </a:p>
        </p:txBody>
      </p:sp>
      <p:sp>
        <p:nvSpPr>
          <p:cNvPr id="2286" name="Google Shape;2286;p103"/>
          <p:cNvSpPr txBox="1"/>
          <p:nvPr/>
        </p:nvSpPr>
        <p:spPr>
          <a:xfrm>
            <a:off x="10713099" y="5793892"/>
            <a:ext cx="616059"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55,55</a:t>
            </a:r>
            <a:endParaRPr/>
          </a:p>
        </p:txBody>
      </p:sp>
      <p:sp>
        <p:nvSpPr>
          <p:cNvPr id="2287" name="Google Shape;2287;p103"/>
          <p:cNvSpPr txBox="1"/>
          <p:nvPr/>
        </p:nvSpPr>
        <p:spPr>
          <a:xfrm>
            <a:off x="9384114" y="5793892"/>
            <a:ext cx="616042" cy="2616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FFC000"/>
                </a:solidFill>
                <a:latin typeface="Arial"/>
                <a:ea typeface="Arial"/>
                <a:cs typeface="Arial"/>
                <a:sym typeface="Arial"/>
              </a:rPr>
              <a:t>46,47</a:t>
            </a:r>
            <a:endParaRPr/>
          </a:p>
        </p:txBody>
      </p:sp>
      <p:sp>
        <p:nvSpPr>
          <p:cNvPr id="2288" name="Google Shape;2288;p103"/>
          <p:cNvSpPr/>
          <p:nvPr/>
        </p:nvSpPr>
        <p:spPr>
          <a:xfrm>
            <a:off x="8620038" y="3963509"/>
            <a:ext cx="516532" cy="458306"/>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nvGrpSpPr>
          <p:cNvPr id="2289" name="Google Shape;2289;p103"/>
          <p:cNvGrpSpPr/>
          <p:nvPr/>
        </p:nvGrpSpPr>
        <p:grpSpPr>
          <a:xfrm>
            <a:off x="0" y="-22510"/>
            <a:ext cx="12192000" cy="307777"/>
            <a:chOff x="0" y="-22510"/>
            <a:chExt cx="12192000" cy="307777"/>
          </a:xfrm>
        </p:grpSpPr>
        <p:sp>
          <p:nvSpPr>
            <p:cNvPr id="2290" name="Google Shape;2290;p103"/>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2291" name="Google Shape;2291;p103"/>
            <p:cNvSpPr txBox="1"/>
            <p:nvPr/>
          </p:nvSpPr>
          <p:spPr>
            <a:xfrm>
              <a:off x="188780" y="-22510"/>
              <a:ext cx="258147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  External Merge Sort: Larger files</a:t>
              </a:r>
              <a:endParaRPr/>
            </a:p>
          </p:txBody>
        </p:sp>
      </p:gr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5" name="Shape 2295"/>
        <p:cNvGrpSpPr/>
        <p:nvPr/>
      </p:nvGrpSpPr>
      <p:grpSpPr>
        <a:xfrm>
          <a:off x="0" y="0"/>
          <a:ext cx="0" cy="0"/>
          <a:chOff x="0" y="0"/>
          <a:chExt cx="0" cy="0"/>
        </a:xfrm>
      </p:grpSpPr>
      <p:sp>
        <p:nvSpPr>
          <p:cNvPr id="2296" name="Google Shape;2296;p10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Simplified 3-page Buffer Version</a:t>
            </a:r>
            <a:endParaRPr/>
          </a:p>
        </p:txBody>
      </p:sp>
      <p:sp>
        <p:nvSpPr>
          <p:cNvPr id="2297" name="Google Shape;2297;p104"/>
          <p:cNvSpPr txBox="1"/>
          <p:nvPr>
            <p:ph idx="1" type="body"/>
          </p:nvPr>
        </p:nvSpPr>
        <p:spPr>
          <a:xfrm>
            <a:off x="520861" y="1597306"/>
            <a:ext cx="7701757" cy="4294838"/>
          </a:xfrm>
          <a:prstGeom prst="rect">
            <a:avLst/>
          </a:prstGeom>
          <a:blipFill rotWithShape="1">
            <a:blip r:embed="rId3">
              <a:alphaModFix/>
            </a:blip>
            <a:stretch>
              <a:fillRect b="-2410" l="-1186" r="0" t="-3261"/>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US"/>
              <a:t> </a:t>
            </a:r>
            <a:endParaRPr/>
          </a:p>
        </p:txBody>
      </p:sp>
      <p:sp>
        <p:nvSpPr>
          <p:cNvPr id="2298" name="Google Shape;2298;p104"/>
          <p:cNvSpPr/>
          <p:nvPr/>
        </p:nvSpPr>
        <p:spPr>
          <a:xfrm>
            <a:off x="8381820" y="1825625"/>
            <a:ext cx="2046530" cy="263226"/>
          </a:xfrm>
          <a:prstGeom prst="roundRect">
            <a:avLst>
              <a:gd fmla="val 16667" name="adj"/>
            </a:avLst>
          </a:prstGeom>
          <a:solidFill>
            <a:srgbClr val="FBE4D4"/>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99" name="Google Shape;2299;p104"/>
          <p:cNvSpPr txBox="1"/>
          <p:nvPr/>
        </p:nvSpPr>
        <p:spPr>
          <a:xfrm>
            <a:off x="8137686" y="1252260"/>
            <a:ext cx="2534796"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Unsorted input file</a:t>
            </a:r>
            <a:endParaRPr/>
          </a:p>
        </p:txBody>
      </p:sp>
      <p:grpSp>
        <p:nvGrpSpPr>
          <p:cNvPr id="2300" name="Google Shape;2300;p104"/>
          <p:cNvGrpSpPr/>
          <p:nvPr/>
        </p:nvGrpSpPr>
        <p:grpSpPr>
          <a:xfrm>
            <a:off x="8381820" y="2223788"/>
            <a:ext cx="3390368" cy="1002709"/>
            <a:chOff x="8381820" y="2223788"/>
            <a:chExt cx="3390368" cy="1002709"/>
          </a:xfrm>
        </p:grpSpPr>
        <p:sp>
          <p:nvSpPr>
            <p:cNvPr id="2301" name="Google Shape;2301;p104"/>
            <p:cNvSpPr/>
            <p:nvPr/>
          </p:nvSpPr>
          <p:spPr>
            <a:xfrm>
              <a:off x="8381820" y="2963271"/>
              <a:ext cx="413174" cy="26322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02" name="Google Shape;2302;p104"/>
            <p:cNvSpPr/>
            <p:nvPr/>
          </p:nvSpPr>
          <p:spPr>
            <a:xfrm>
              <a:off x="8926272" y="2963271"/>
              <a:ext cx="413174" cy="26322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03" name="Google Shape;2303;p104"/>
            <p:cNvSpPr/>
            <p:nvPr/>
          </p:nvSpPr>
          <p:spPr>
            <a:xfrm>
              <a:off x="9470724" y="2963271"/>
              <a:ext cx="413174" cy="26322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04" name="Google Shape;2304;p104"/>
            <p:cNvSpPr/>
            <p:nvPr/>
          </p:nvSpPr>
          <p:spPr>
            <a:xfrm>
              <a:off x="10015176" y="2963271"/>
              <a:ext cx="413174" cy="26322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05" name="Google Shape;2305;p104"/>
            <p:cNvSpPr/>
            <p:nvPr/>
          </p:nvSpPr>
          <p:spPr>
            <a:xfrm>
              <a:off x="9185881" y="2223788"/>
              <a:ext cx="397869" cy="519412"/>
            </a:xfrm>
            <a:prstGeom prst="down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06" name="Google Shape;2306;p104"/>
            <p:cNvSpPr txBox="1"/>
            <p:nvPr/>
          </p:nvSpPr>
          <p:spPr>
            <a:xfrm>
              <a:off x="10221763" y="2255118"/>
              <a:ext cx="1550425"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Split &amp; sort</a:t>
              </a:r>
              <a:endParaRPr/>
            </a:p>
          </p:txBody>
        </p:sp>
      </p:grpSp>
      <p:grpSp>
        <p:nvGrpSpPr>
          <p:cNvPr id="2307" name="Google Shape;2307;p104"/>
          <p:cNvGrpSpPr/>
          <p:nvPr/>
        </p:nvGrpSpPr>
        <p:grpSpPr>
          <a:xfrm>
            <a:off x="8381818" y="3200124"/>
            <a:ext cx="3390370" cy="711438"/>
            <a:chOff x="8381818" y="3200124"/>
            <a:chExt cx="3390370" cy="711438"/>
          </a:xfrm>
        </p:grpSpPr>
        <p:sp>
          <p:nvSpPr>
            <p:cNvPr id="2308" name="Google Shape;2308;p104"/>
            <p:cNvSpPr/>
            <p:nvPr/>
          </p:nvSpPr>
          <p:spPr>
            <a:xfrm>
              <a:off x="8381818" y="3640346"/>
              <a:ext cx="957627" cy="26322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09" name="Google Shape;2309;p104"/>
            <p:cNvSpPr/>
            <p:nvPr/>
          </p:nvSpPr>
          <p:spPr>
            <a:xfrm>
              <a:off x="9470722" y="3648336"/>
              <a:ext cx="957627" cy="26322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310" name="Google Shape;2310;p104"/>
            <p:cNvCxnSpPr>
              <a:stCxn id="2301" idx="2"/>
              <a:endCxn id="2308" idx="0"/>
            </p:cNvCxnSpPr>
            <p:nvPr/>
          </p:nvCxnSpPr>
          <p:spPr>
            <a:xfrm>
              <a:off x="8588407" y="3226497"/>
              <a:ext cx="272100" cy="4137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2311" name="Google Shape;2311;p104"/>
            <p:cNvCxnSpPr>
              <a:stCxn id="2302" idx="2"/>
              <a:endCxn id="2308" idx="0"/>
            </p:cNvCxnSpPr>
            <p:nvPr/>
          </p:nvCxnSpPr>
          <p:spPr>
            <a:xfrm flipH="1">
              <a:off x="8860759" y="3226497"/>
              <a:ext cx="272100" cy="4137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2312" name="Google Shape;2312;p104"/>
            <p:cNvCxnSpPr>
              <a:stCxn id="2303" idx="2"/>
              <a:endCxn id="2309" idx="0"/>
            </p:cNvCxnSpPr>
            <p:nvPr/>
          </p:nvCxnSpPr>
          <p:spPr>
            <a:xfrm>
              <a:off x="9677311" y="3226497"/>
              <a:ext cx="272100" cy="4218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2313" name="Google Shape;2313;p104"/>
            <p:cNvCxnSpPr>
              <a:stCxn id="2304" idx="2"/>
              <a:endCxn id="2309" idx="0"/>
            </p:cNvCxnSpPr>
            <p:nvPr/>
          </p:nvCxnSpPr>
          <p:spPr>
            <a:xfrm flipH="1">
              <a:off x="9949663" y="3226497"/>
              <a:ext cx="272100" cy="421800"/>
            </a:xfrm>
            <a:prstGeom prst="straightConnector1">
              <a:avLst/>
            </a:prstGeom>
            <a:noFill/>
            <a:ln cap="flat" cmpd="sng" w="19050">
              <a:solidFill>
                <a:schemeClr val="accent1"/>
              </a:solidFill>
              <a:prstDash val="solid"/>
              <a:miter lim="800000"/>
              <a:headEnd len="sm" w="sm" type="none"/>
              <a:tailEnd len="med" w="med" type="triangle"/>
            </a:ln>
          </p:spPr>
        </p:cxnSp>
        <p:sp>
          <p:nvSpPr>
            <p:cNvPr id="2314" name="Google Shape;2314;p104"/>
            <p:cNvSpPr txBox="1"/>
            <p:nvPr/>
          </p:nvSpPr>
          <p:spPr>
            <a:xfrm>
              <a:off x="10779672" y="3200124"/>
              <a:ext cx="992516"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Merge</a:t>
              </a:r>
              <a:endParaRPr/>
            </a:p>
          </p:txBody>
        </p:sp>
      </p:grpSp>
      <p:grpSp>
        <p:nvGrpSpPr>
          <p:cNvPr id="2315" name="Google Shape;2315;p104"/>
          <p:cNvGrpSpPr/>
          <p:nvPr/>
        </p:nvGrpSpPr>
        <p:grpSpPr>
          <a:xfrm>
            <a:off x="8381819" y="3882084"/>
            <a:ext cx="3390369" cy="1332985"/>
            <a:chOff x="8381819" y="3882084"/>
            <a:chExt cx="3390369" cy="1332985"/>
          </a:xfrm>
        </p:grpSpPr>
        <p:sp>
          <p:nvSpPr>
            <p:cNvPr id="2316" name="Google Shape;2316;p104"/>
            <p:cNvSpPr/>
            <p:nvPr/>
          </p:nvSpPr>
          <p:spPr>
            <a:xfrm>
              <a:off x="8381819" y="4322262"/>
              <a:ext cx="2046530" cy="26322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317" name="Google Shape;2317;p104"/>
            <p:cNvCxnSpPr>
              <a:stCxn id="2308" idx="2"/>
              <a:endCxn id="2316" idx="0"/>
            </p:cNvCxnSpPr>
            <p:nvPr/>
          </p:nvCxnSpPr>
          <p:spPr>
            <a:xfrm>
              <a:off x="8860632" y="3903572"/>
              <a:ext cx="544500" cy="4188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2318" name="Google Shape;2318;p104"/>
            <p:cNvCxnSpPr>
              <a:stCxn id="2309" idx="2"/>
              <a:endCxn id="2316" idx="0"/>
            </p:cNvCxnSpPr>
            <p:nvPr/>
          </p:nvCxnSpPr>
          <p:spPr>
            <a:xfrm flipH="1">
              <a:off x="9405036" y="3911562"/>
              <a:ext cx="544500" cy="410700"/>
            </a:xfrm>
            <a:prstGeom prst="straightConnector1">
              <a:avLst/>
            </a:prstGeom>
            <a:noFill/>
            <a:ln cap="flat" cmpd="sng" w="19050">
              <a:solidFill>
                <a:schemeClr val="accent1"/>
              </a:solidFill>
              <a:prstDash val="solid"/>
              <a:miter lim="800000"/>
              <a:headEnd len="sm" w="sm" type="none"/>
              <a:tailEnd len="med" w="med" type="triangle"/>
            </a:ln>
          </p:spPr>
        </p:cxnSp>
        <p:sp>
          <p:nvSpPr>
            <p:cNvPr id="2319" name="Google Shape;2319;p104"/>
            <p:cNvSpPr txBox="1"/>
            <p:nvPr/>
          </p:nvSpPr>
          <p:spPr>
            <a:xfrm>
              <a:off x="10779672" y="3882084"/>
              <a:ext cx="992516"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Merge</a:t>
              </a:r>
              <a:endParaRPr sz="2400">
                <a:solidFill>
                  <a:schemeClr val="dk1"/>
                </a:solidFill>
                <a:latin typeface="Calibri"/>
                <a:ea typeface="Calibri"/>
                <a:cs typeface="Calibri"/>
                <a:sym typeface="Calibri"/>
              </a:endParaRPr>
            </a:p>
          </p:txBody>
        </p:sp>
        <p:sp>
          <p:nvSpPr>
            <p:cNvPr id="2320" name="Google Shape;2320;p104"/>
            <p:cNvSpPr txBox="1"/>
            <p:nvPr/>
          </p:nvSpPr>
          <p:spPr>
            <a:xfrm>
              <a:off x="8919707" y="4753404"/>
              <a:ext cx="1102033"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Sorted!</a:t>
              </a:r>
              <a:endParaRPr/>
            </a:p>
          </p:txBody>
        </p:sp>
      </p:grpSp>
      <p:sp>
        <p:nvSpPr>
          <p:cNvPr id="2321" name="Google Shape;2321;p104"/>
          <p:cNvSpPr txBox="1"/>
          <p:nvPr/>
        </p:nvSpPr>
        <p:spPr>
          <a:xfrm>
            <a:off x="3220405" y="6003844"/>
            <a:ext cx="5751189" cy="523220"/>
          </a:xfrm>
          <a:prstGeom prst="rect">
            <a:avLst/>
          </a:prstGeom>
          <a:blipFill rotWithShape="1">
            <a:blip r:embed="rId4">
              <a:alphaModFix/>
            </a:blip>
            <a:stretch>
              <a:fillRect b="0" l="0" r="0" t="0"/>
            </a:stretch>
          </a:blipFill>
          <a:ln>
            <a:noFill/>
          </a:ln>
          <a:effectLst>
            <a:outerShdw blurRad="50800" rotWithShape="0" algn="tl" dir="2700000" dist="12700">
              <a:srgbClr val="000000">
                <a:alpha val="4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grpSp>
        <p:nvGrpSpPr>
          <p:cNvPr id="2322" name="Google Shape;2322;p104"/>
          <p:cNvGrpSpPr/>
          <p:nvPr/>
        </p:nvGrpSpPr>
        <p:grpSpPr>
          <a:xfrm>
            <a:off x="0" y="-22510"/>
            <a:ext cx="12192000" cy="307777"/>
            <a:chOff x="0" y="-22510"/>
            <a:chExt cx="12192000" cy="307777"/>
          </a:xfrm>
        </p:grpSpPr>
        <p:sp>
          <p:nvSpPr>
            <p:cNvPr id="2323" name="Google Shape;2323;p104"/>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2324" name="Google Shape;2324;p104"/>
            <p:cNvSpPr txBox="1"/>
            <p:nvPr/>
          </p:nvSpPr>
          <p:spPr>
            <a:xfrm>
              <a:off x="188780" y="-22510"/>
              <a:ext cx="258147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  External Merge Sort: Larger files</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7">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28" name="Shape 2328"/>
        <p:cNvGrpSpPr/>
        <p:nvPr/>
      </p:nvGrpSpPr>
      <p:grpSpPr>
        <a:xfrm>
          <a:off x="0" y="0"/>
          <a:ext cx="0" cy="0"/>
          <a:chOff x="0" y="0"/>
          <a:chExt cx="0" cy="0"/>
        </a:xfrm>
      </p:grpSpPr>
      <p:sp>
        <p:nvSpPr>
          <p:cNvPr id="2329" name="Google Shape;2329;p10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External Merge Sort: Optimizations</a:t>
            </a:r>
            <a:endParaRPr/>
          </a:p>
        </p:txBody>
      </p:sp>
      <p:sp>
        <p:nvSpPr>
          <p:cNvPr id="2330" name="Google Shape;2330;p105"/>
          <p:cNvSpPr txBox="1"/>
          <p:nvPr>
            <p:ph idx="1" type="body"/>
          </p:nvPr>
        </p:nvSpPr>
        <p:spPr>
          <a:xfrm>
            <a:off x="838200" y="2182761"/>
            <a:ext cx="10515600" cy="399420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Now assume we have </a:t>
            </a:r>
            <a:r>
              <a:rPr b="1" lang="en-US"/>
              <a:t>B+1 buffer pages</a:t>
            </a:r>
            <a:r>
              <a:rPr lang="en-US"/>
              <a:t>; three optimizations:</a:t>
            </a:r>
            <a:endParaRPr/>
          </a:p>
          <a:p>
            <a:pPr indent="0" lvl="0" marL="0" rtl="0" algn="l">
              <a:lnSpc>
                <a:spcPct val="90000"/>
              </a:lnSpc>
              <a:spcBef>
                <a:spcPts val="1000"/>
              </a:spcBef>
              <a:spcAft>
                <a:spcPts val="0"/>
              </a:spcAft>
              <a:buClr>
                <a:schemeClr val="dk1"/>
              </a:buClr>
              <a:buSzPts val="2800"/>
              <a:buNone/>
            </a:pPr>
            <a:r>
              <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Increase the length of initial runs</a:t>
            </a:r>
            <a:endParaRPr/>
          </a:p>
          <a:p>
            <a:pPr indent="-361950" lvl="1" marL="971550" rtl="0" algn="l">
              <a:lnSpc>
                <a:spcPct val="90000"/>
              </a:lnSpc>
              <a:spcBef>
                <a:spcPts val="500"/>
              </a:spcBef>
              <a:spcAft>
                <a:spcPts val="0"/>
              </a:spcAft>
              <a:buClr>
                <a:schemeClr val="dk1"/>
              </a:buClr>
              <a:buSzPts val="2400"/>
              <a:buFont typeface="Calibri"/>
              <a:buNone/>
            </a:pPr>
            <a:r>
              <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B-way merges</a:t>
            </a:r>
            <a:endParaRPr/>
          </a:p>
          <a:p>
            <a:pPr indent="-361950" lvl="1" marL="971550" rtl="0" algn="l">
              <a:lnSpc>
                <a:spcPct val="90000"/>
              </a:lnSpc>
              <a:spcBef>
                <a:spcPts val="500"/>
              </a:spcBef>
              <a:spcAft>
                <a:spcPts val="0"/>
              </a:spcAft>
              <a:buClr>
                <a:schemeClr val="dk1"/>
              </a:buClr>
              <a:buSzPts val="2400"/>
              <a:buFont typeface="Calibri"/>
              <a:buNone/>
            </a:pPr>
            <a:r>
              <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Repacking</a:t>
            </a:r>
            <a:endParaRPr/>
          </a:p>
        </p:txBody>
      </p:sp>
      <p:grpSp>
        <p:nvGrpSpPr>
          <p:cNvPr id="2331" name="Google Shape;2331;p105"/>
          <p:cNvGrpSpPr/>
          <p:nvPr/>
        </p:nvGrpSpPr>
        <p:grpSpPr>
          <a:xfrm>
            <a:off x="0" y="-22510"/>
            <a:ext cx="12192000" cy="307777"/>
            <a:chOff x="0" y="-22510"/>
            <a:chExt cx="12192000" cy="307777"/>
          </a:xfrm>
        </p:grpSpPr>
        <p:sp>
          <p:nvSpPr>
            <p:cNvPr id="2332" name="Google Shape;2332;p105"/>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2333" name="Google Shape;2333;p105"/>
            <p:cNvSpPr txBox="1"/>
            <p:nvPr/>
          </p:nvSpPr>
          <p:spPr>
            <a:xfrm>
              <a:off x="188780" y="-22510"/>
              <a:ext cx="196977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Optimizations for sorting</a:t>
              </a:r>
              <a:endParaRPr/>
            </a:p>
          </p:txBody>
        </p:sp>
      </p:gr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37" name="Shape 2337"/>
        <p:cNvGrpSpPr/>
        <p:nvPr/>
      </p:nvGrpSpPr>
      <p:grpSpPr>
        <a:xfrm>
          <a:off x="0" y="0"/>
          <a:ext cx="0" cy="0"/>
          <a:chOff x="0" y="0"/>
          <a:chExt cx="0" cy="0"/>
        </a:xfrm>
      </p:grpSpPr>
      <p:sp>
        <p:nvSpPr>
          <p:cNvPr id="2338" name="Google Shape;2338;p10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Using B+1 buffer pages to reduce # of passes</a:t>
            </a:r>
            <a:endParaRPr/>
          </a:p>
        </p:txBody>
      </p:sp>
      <p:sp>
        <p:nvSpPr>
          <p:cNvPr id="2339" name="Google Shape;2339;p106"/>
          <p:cNvSpPr txBox="1"/>
          <p:nvPr>
            <p:ph idx="1" type="body"/>
          </p:nvPr>
        </p:nvSpPr>
        <p:spPr>
          <a:xfrm>
            <a:off x="838199" y="1825625"/>
            <a:ext cx="11020425" cy="2303464"/>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lang="en-US"/>
              <a:t>Suppose we have B+1 buffer pages now; we can:</a:t>
            </a:r>
            <a:endParaRPr/>
          </a:p>
          <a:p>
            <a:pPr indent="0" lvl="0" marL="0" rtl="0" algn="l">
              <a:lnSpc>
                <a:spcPct val="90000"/>
              </a:lnSpc>
              <a:spcBef>
                <a:spcPts val="1000"/>
              </a:spcBef>
              <a:spcAft>
                <a:spcPts val="0"/>
              </a:spcAft>
              <a:buClr>
                <a:schemeClr val="dk1"/>
              </a:buClr>
              <a:buSzPts val="2800"/>
              <a:buNone/>
            </a:pPr>
            <a:r>
              <a:t/>
            </a:r>
            <a:endParaRPr/>
          </a:p>
          <a:p>
            <a:pPr indent="-514350" lvl="0" marL="514350" rtl="0" algn="l">
              <a:lnSpc>
                <a:spcPct val="90000"/>
              </a:lnSpc>
              <a:spcBef>
                <a:spcPts val="1000"/>
              </a:spcBef>
              <a:spcAft>
                <a:spcPts val="0"/>
              </a:spcAft>
              <a:buClr>
                <a:schemeClr val="dk1"/>
              </a:buClr>
              <a:buSzPts val="2800"/>
              <a:buAutoNum type="arabicPeriod"/>
            </a:pPr>
            <a:r>
              <a:rPr b="1" lang="en-US"/>
              <a:t>Increase length of initial runs</a:t>
            </a:r>
            <a:r>
              <a:rPr lang="en-US"/>
              <a:t>. Sort B+1 at a time!</a:t>
            </a:r>
            <a:endParaRPr/>
          </a:p>
          <a:p>
            <a:pPr indent="0" lvl="0" marL="0" rtl="0" algn="l">
              <a:lnSpc>
                <a:spcPct val="90000"/>
              </a:lnSpc>
              <a:spcBef>
                <a:spcPts val="1000"/>
              </a:spcBef>
              <a:spcAft>
                <a:spcPts val="0"/>
              </a:spcAft>
              <a:buClr>
                <a:schemeClr val="dk1"/>
              </a:buClr>
              <a:buSzPts val="2800"/>
              <a:buNone/>
            </a:pPr>
            <a:r>
              <a:rPr lang="en-US"/>
              <a:t>At the beginning, we can split the N pages into runs of length B+1 and sort these in memory</a:t>
            </a:r>
            <a:endParaRPr/>
          </a:p>
        </p:txBody>
      </p:sp>
      <p:grpSp>
        <p:nvGrpSpPr>
          <p:cNvPr id="2340" name="Google Shape;2340;p106"/>
          <p:cNvGrpSpPr/>
          <p:nvPr/>
        </p:nvGrpSpPr>
        <p:grpSpPr>
          <a:xfrm>
            <a:off x="0" y="-22510"/>
            <a:ext cx="12192000" cy="307777"/>
            <a:chOff x="0" y="-22510"/>
            <a:chExt cx="12192000" cy="307777"/>
          </a:xfrm>
        </p:grpSpPr>
        <p:sp>
          <p:nvSpPr>
            <p:cNvPr id="2341" name="Google Shape;2341;p106"/>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2342" name="Google Shape;2342;p106"/>
            <p:cNvSpPr txBox="1"/>
            <p:nvPr/>
          </p:nvSpPr>
          <p:spPr>
            <a:xfrm>
              <a:off x="188780" y="-22510"/>
              <a:ext cx="204992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  Optimizations for sorting</a:t>
              </a:r>
              <a:endParaRPr/>
            </a:p>
          </p:txBody>
        </p:sp>
      </p:grpSp>
      <p:grpSp>
        <p:nvGrpSpPr>
          <p:cNvPr id="2343" name="Google Shape;2343;p106"/>
          <p:cNvGrpSpPr/>
          <p:nvPr/>
        </p:nvGrpSpPr>
        <p:grpSpPr>
          <a:xfrm>
            <a:off x="791942" y="4129089"/>
            <a:ext cx="2622276" cy="2337878"/>
            <a:chOff x="791942" y="4129089"/>
            <a:chExt cx="2622276" cy="2337878"/>
          </a:xfrm>
        </p:grpSpPr>
        <p:sp>
          <p:nvSpPr>
            <p:cNvPr id="2344" name="Google Shape;2344;p106"/>
            <p:cNvSpPr txBox="1"/>
            <p:nvPr/>
          </p:nvSpPr>
          <p:spPr>
            <a:xfrm>
              <a:off x="839529" y="4924094"/>
              <a:ext cx="2574689" cy="461665"/>
            </a:xfrm>
            <a:prstGeom prst="rect">
              <a:avLst/>
            </a:prstGeom>
            <a:blipFill rotWithShape="1">
              <a:blip r:embed="rId3">
                <a:alphaModFix/>
              </a:blip>
              <a:stretch>
                <a:fillRect b="0" l="0" r="0" t="0"/>
              </a:stretch>
            </a:blipFill>
            <a:ln>
              <a:noFill/>
            </a:ln>
            <a:effectLst>
              <a:outerShdw blurRad="50800" rotWithShape="0" algn="tl" dir="2700000" dist="12700">
                <a:srgbClr val="000000">
                  <a:alpha val="4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2345" name="Google Shape;2345;p106"/>
            <p:cNvSpPr txBox="1"/>
            <p:nvPr/>
          </p:nvSpPr>
          <p:spPr>
            <a:xfrm>
              <a:off x="791942" y="4129089"/>
              <a:ext cx="116070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u="sng">
                  <a:solidFill>
                    <a:schemeClr val="dk1"/>
                  </a:solidFill>
                  <a:latin typeface="Calibri"/>
                  <a:ea typeface="Calibri"/>
                  <a:cs typeface="Calibri"/>
                  <a:sym typeface="Calibri"/>
                </a:rPr>
                <a:t>IO Cost:</a:t>
              </a:r>
              <a:endParaRPr/>
            </a:p>
          </p:txBody>
        </p:sp>
        <p:sp>
          <p:nvSpPr>
            <p:cNvPr id="2346" name="Google Shape;2346;p106"/>
            <p:cNvSpPr txBox="1"/>
            <p:nvPr/>
          </p:nvSpPr>
          <p:spPr>
            <a:xfrm>
              <a:off x="838199" y="5635970"/>
              <a:ext cx="2576019"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Starting with runs of length 1</a:t>
              </a:r>
              <a:endParaRPr/>
            </a:p>
          </p:txBody>
        </p:sp>
      </p:grpSp>
      <p:grpSp>
        <p:nvGrpSpPr>
          <p:cNvPr id="2347" name="Google Shape;2347;p106"/>
          <p:cNvGrpSpPr/>
          <p:nvPr/>
        </p:nvGrpSpPr>
        <p:grpSpPr>
          <a:xfrm>
            <a:off x="3599546" y="4758084"/>
            <a:ext cx="3813302" cy="1708883"/>
            <a:chOff x="3599546" y="4758084"/>
            <a:chExt cx="3813302" cy="1708883"/>
          </a:xfrm>
        </p:grpSpPr>
        <p:sp>
          <p:nvSpPr>
            <p:cNvPr id="2348" name="Google Shape;2348;p106"/>
            <p:cNvSpPr/>
            <p:nvPr/>
          </p:nvSpPr>
          <p:spPr>
            <a:xfrm rot="-5400000">
              <a:off x="3667302" y="4926023"/>
              <a:ext cx="322292" cy="457804"/>
            </a:xfrm>
            <a:prstGeom prst="downArrow">
              <a:avLst>
                <a:gd fmla="val 50000" name="adj1"/>
                <a:gd fmla="val 50000" name="adj2"/>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2349" name="Google Shape;2349;p106"/>
            <p:cNvSpPr txBox="1"/>
            <p:nvPr/>
          </p:nvSpPr>
          <p:spPr>
            <a:xfrm>
              <a:off x="4242678" y="4758084"/>
              <a:ext cx="3170170" cy="793679"/>
            </a:xfrm>
            <a:prstGeom prst="rect">
              <a:avLst/>
            </a:prstGeom>
            <a:blipFill rotWithShape="1">
              <a:blip r:embed="rId4">
                <a:alphaModFix/>
              </a:blip>
              <a:stretch>
                <a:fillRect b="0" l="0" r="0" t="0"/>
              </a:stretch>
            </a:blipFill>
            <a:ln>
              <a:noFill/>
            </a:ln>
            <a:effectLst>
              <a:outerShdw blurRad="50800" rotWithShape="0" algn="tl" dir="2700000" dist="12700">
                <a:srgbClr val="000000">
                  <a:alpha val="4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2350" name="Google Shape;2350;p106"/>
            <p:cNvSpPr txBox="1"/>
            <p:nvPr/>
          </p:nvSpPr>
          <p:spPr>
            <a:xfrm>
              <a:off x="4242678" y="5635970"/>
              <a:ext cx="317017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Starting with runs of length </a:t>
              </a:r>
              <a:r>
                <a:rPr b="1" i="1" lang="en-US" sz="2400">
                  <a:solidFill>
                    <a:schemeClr val="dk1"/>
                  </a:solidFill>
                  <a:latin typeface="Calibri"/>
                  <a:ea typeface="Calibri"/>
                  <a:cs typeface="Calibri"/>
                  <a:sym typeface="Calibri"/>
                </a:rPr>
                <a:t>B+1</a:t>
              </a:r>
              <a:endParaRPr sz="24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54" name="Shape 2354"/>
        <p:cNvGrpSpPr/>
        <p:nvPr/>
      </p:nvGrpSpPr>
      <p:grpSpPr>
        <a:xfrm>
          <a:off x="0" y="0"/>
          <a:ext cx="0" cy="0"/>
          <a:chOff x="0" y="0"/>
          <a:chExt cx="0" cy="0"/>
        </a:xfrm>
      </p:grpSpPr>
      <p:sp>
        <p:nvSpPr>
          <p:cNvPr id="2355" name="Google Shape;2355;p10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Using B+1 buffer pages to reduce # of passes</a:t>
            </a:r>
            <a:endParaRPr/>
          </a:p>
        </p:txBody>
      </p:sp>
      <p:sp>
        <p:nvSpPr>
          <p:cNvPr id="2356" name="Google Shape;2356;p107"/>
          <p:cNvSpPr txBox="1"/>
          <p:nvPr>
            <p:ph idx="1" type="body"/>
          </p:nvPr>
        </p:nvSpPr>
        <p:spPr>
          <a:xfrm>
            <a:off x="838199" y="1825625"/>
            <a:ext cx="11020425" cy="2303464"/>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lang="en-US"/>
              <a:t>Suppose we have B+1 buffer pages now; we can:</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b="1" lang="en-US"/>
              <a:t>2. Perform a B-way merge</a:t>
            </a:r>
            <a:r>
              <a:rPr lang="en-US"/>
              <a:t>. </a:t>
            </a:r>
            <a:endParaRPr/>
          </a:p>
          <a:p>
            <a:pPr indent="0" lvl="0" marL="0" rtl="0" algn="l">
              <a:lnSpc>
                <a:spcPct val="90000"/>
              </a:lnSpc>
              <a:spcBef>
                <a:spcPts val="1000"/>
              </a:spcBef>
              <a:spcAft>
                <a:spcPts val="0"/>
              </a:spcAft>
              <a:buClr>
                <a:schemeClr val="dk1"/>
              </a:buClr>
              <a:buSzPts val="2800"/>
              <a:buNone/>
            </a:pPr>
            <a:r>
              <a:rPr lang="en-US"/>
              <a:t>On each pass, we can merge groups of </a:t>
            </a:r>
            <a:r>
              <a:rPr b="1" i="1" lang="en-US"/>
              <a:t>B </a:t>
            </a:r>
            <a:r>
              <a:rPr lang="en-US"/>
              <a:t>runs at a time (vs. merging pairs of runs)!</a:t>
            </a:r>
            <a:endParaRPr/>
          </a:p>
        </p:txBody>
      </p:sp>
      <p:sp>
        <p:nvSpPr>
          <p:cNvPr id="2357" name="Google Shape;2357;p107"/>
          <p:cNvSpPr txBox="1"/>
          <p:nvPr/>
        </p:nvSpPr>
        <p:spPr>
          <a:xfrm>
            <a:off x="791942" y="4129089"/>
            <a:ext cx="116070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u="sng">
                <a:solidFill>
                  <a:schemeClr val="dk1"/>
                </a:solidFill>
                <a:latin typeface="Calibri"/>
                <a:ea typeface="Calibri"/>
                <a:cs typeface="Calibri"/>
                <a:sym typeface="Calibri"/>
              </a:rPr>
              <a:t>IO Cost:</a:t>
            </a:r>
            <a:endParaRPr/>
          </a:p>
        </p:txBody>
      </p:sp>
      <p:grpSp>
        <p:nvGrpSpPr>
          <p:cNvPr id="2358" name="Google Shape;2358;p107"/>
          <p:cNvGrpSpPr/>
          <p:nvPr/>
        </p:nvGrpSpPr>
        <p:grpSpPr>
          <a:xfrm>
            <a:off x="838199" y="4758084"/>
            <a:ext cx="6574649" cy="1708883"/>
            <a:chOff x="838199" y="4758084"/>
            <a:chExt cx="6574649" cy="1708883"/>
          </a:xfrm>
        </p:grpSpPr>
        <p:sp>
          <p:nvSpPr>
            <p:cNvPr id="2359" name="Google Shape;2359;p107"/>
            <p:cNvSpPr txBox="1"/>
            <p:nvPr/>
          </p:nvSpPr>
          <p:spPr>
            <a:xfrm>
              <a:off x="839529" y="4924094"/>
              <a:ext cx="2574689" cy="461665"/>
            </a:xfrm>
            <a:prstGeom prst="rect">
              <a:avLst/>
            </a:prstGeom>
            <a:blipFill rotWithShape="1">
              <a:blip r:embed="rId3">
                <a:alphaModFix/>
              </a:blip>
              <a:stretch>
                <a:fillRect b="0" l="0" r="0" t="0"/>
              </a:stretch>
            </a:blipFill>
            <a:ln>
              <a:noFill/>
            </a:ln>
            <a:effectLst>
              <a:outerShdw blurRad="50800" rotWithShape="0" algn="tl" dir="2700000" dist="12700">
                <a:srgbClr val="000000">
                  <a:alpha val="4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2360" name="Google Shape;2360;p107"/>
            <p:cNvSpPr/>
            <p:nvPr/>
          </p:nvSpPr>
          <p:spPr>
            <a:xfrm rot="-5400000">
              <a:off x="3667302" y="4926023"/>
              <a:ext cx="322292" cy="457804"/>
            </a:xfrm>
            <a:prstGeom prst="downArrow">
              <a:avLst>
                <a:gd fmla="val 50000" name="adj1"/>
                <a:gd fmla="val 50000" name="adj2"/>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2361" name="Google Shape;2361;p107"/>
            <p:cNvSpPr txBox="1"/>
            <p:nvPr/>
          </p:nvSpPr>
          <p:spPr>
            <a:xfrm>
              <a:off x="4242678" y="4758084"/>
              <a:ext cx="3170170" cy="793679"/>
            </a:xfrm>
            <a:prstGeom prst="rect">
              <a:avLst/>
            </a:prstGeom>
            <a:blipFill rotWithShape="1">
              <a:blip r:embed="rId4">
                <a:alphaModFix/>
              </a:blip>
              <a:stretch>
                <a:fillRect b="0" l="0" r="0" t="0"/>
              </a:stretch>
            </a:blipFill>
            <a:ln>
              <a:noFill/>
            </a:ln>
            <a:effectLst>
              <a:outerShdw blurRad="50800" rotWithShape="0" algn="tl" dir="2700000" dist="12700">
                <a:srgbClr val="000000">
                  <a:alpha val="4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2362" name="Google Shape;2362;p107"/>
            <p:cNvSpPr txBox="1"/>
            <p:nvPr/>
          </p:nvSpPr>
          <p:spPr>
            <a:xfrm>
              <a:off x="838199" y="5635970"/>
              <a:ext cx="2576019"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Starting with runs of length 1</a:t>
              </a:r>
              <a:endParaRPr/>
            </a:p>
          </p:txBody>
        </p:sp>
        <p:sp>
          <p:nvSpPr>
            <p:cNvPr id="2363" name="Google Shape;2363;p107"/>
            <p:cNvSpPr txBox="1"/>
            <p:nvPr/>
          </p:nvSpPr>
          <p:spPr>
            <a:xfrm>
              <a:off x="4242678" y="5635970"/>
              <a:ext cx="317017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Starting with runs of length </a:t>
              </a:r>
              <a:r>
                <a:rPr b="1" i="1" lang="en-US" sz="2400">
                  <a:solidFill>
                    <a:schemeClr val="dk1"/>
                  </a:solidFill>
                  <a:latin typeface="Calibri"/>
                  <a:ea typeface="Calibri"/>
                  <a:cs typeface="Calibri"/>
                  <a:sym typeface="Calibri"/>
                </a:rPr>
                <a:t>B+1</a:t>
              </a:r>
              <a:endParaRPr sz="2400">
                <a:solidFill>
                  <a:schemeClr val="dk1"/>
                </a:solidFill>
                <a:latin typeface="Calibri"/>
                <a:ea typeface="Calibri"/>
                <a:cs typeface="Calibri"/>
                <a:sym typeface="Calibri"/>
              </a:endParaRPr>
            </a:p>
          </p:txBody>
        </p:sp>
      </p:grpSp>
      <p:grpSp>
        <p:nvGrpSpPr>
          <p:cNvPr id="2364" name="Google Shape;2364;p107"/>
          <p:cNvGrpSpPr/>
          <p:nvPr/>
        </p:nvGrpSpPr>
        <p:grpSpPr>
          <a:xfrm>
            <a:off x="7598176" y="4758084"/>
            <a:ext cx="3813302" cy="1708883"/>
            <a:chOff x="7598176" y="4758084"/>
            <a:chExt cx="3813302" cy="1708883"/>
          </a:xfrm>
        </p:grpSpPr>
        <p:sp>
          <p:nvSpPr>
            <p:cNvPr id="2365" name="Google Shape;2365;p107"/>
            <p:cNvSpPr/>
            <p:nvPr/>
          </p:nvSpPr>
          <p:spPr>
            <a:xfrm rot="-5400000">
              <a:off x="7665932" y="4926023"/>
              <a:ext cx="322292" cy="457804"/>
            </a:xfrm>
            <a:prstGeom prst="downArrow">
              <a:avLst>
                <a:gd fmla="val 50000" name="adj1"/>
                <a:gd fmla="val 50000" name="adj2"/>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2366" name="Google Shape;2366;p107"/>
            <p:cNvSpPr txBox="1"/>
            <p:nvPr/>
          </p:nvSpPr>
          <p:spPr>
            <a:xfrm>
              <a:off x="8241308" y="4758084"/>
              <a:ext cx="3170170" cy="793679"/>
            </a:xfrm>
            <a:prstGeom prst="rect">
              <a:avLst/>
            </a:prstGeom>
            <a:blipFill rotWithShape="1">
              <a:blip r:embed="rId5">
                <a:alphaModFix/>
              </a:blip>
              <a:stretch>
                <a:fillRect b="0" l="0" r="0" t="0"/>
              </a:stretch>
            </a:blipFill>
            <a:ln>
              <a:noFill/>
            </a:ln>
            <a:effectLst>
              <a:outerShdw blurRad="50800" rotWithShape="0" algn="tl" dir="2700000" dist="12700">
                <a:srgbClr val="000000">
                  <a:alpha val="4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2367" name="Google Shape;2367;p107"/>
            <p:cNvSpPr txBox="1"/>
            <p:nvPr/>
          </p:nvSpPr>
          <p:spPr>
            <a:xfrm>
              <a:off x="8241308" y="5635970"/>
              <a:ext cx="317017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Performing </a:t>
              </a:r>
              <a:r>
                <a:rPr b="1" i="1" lang="en-US" sz="2400">
                  <a:solidFill>
                    <a:schemeClr val="dk1"/>
                  </a:solidFill>
                  <a:latin typeface="Calibri"/>
                  <a:ea typeface="Calibri"/>
                  <a:cs typeface="Calibri"/>
                  <a:sym typeface="Calibri"/>
                </a:rPr>
                <a:t>B-</a:t>
              </a:r>
              <a:r>
                <a:rPr lang="en-US" sz="2400">
                  <a:solidFill>
                    <a:schemeClr val="dk1"/>
                  </a:solidFill>
                  <a:latin typeface="Calibri"/>
                  <a:ea typeface="Calibri"/>
                  <a:cs typeface="Calibri"/>
                  <a:sym typeface="Calibri"/>
                </a:rPr>
                <a:t>way merges</a:t>
              </a:r>
              <a:endParaRPr/>
            </a:p>
          </p:txBody>
        </p:sp>
      </p:grpSp>
      <p:grpSp>
        <p:nvGrpSpPr>
          <p:cNvPr id="2368" name="Google Shape;2368;p107"/>
          <p:cNvGrpSpPr/>
          <p:nvPr/>
        </p:nvGrpSpPr>
        <p:grpSpPr>
          <a:xfrm>
            <a:off x="0" y="-22510"/>
            <a:ext cx="12192000" cy="307777"/>
            <a:chOff x="0" y="-22510"/>
            <a:chExt cx="12192000" cy="307777"/>
          </a:xfrm>
        </p:grpSpPr>
        <p:sp>
          <p:nvSpPr>
            <p:cNvPr id="2369" name="Google Shape;2369;p107"/>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2370" name="Google Shape;2370;p107"/>
            <p:cNvSpPr txBox="1"/>
            <p:nvPr/>
          </p:nvSpPr>
          <p:spPr>
            <a:xfrm>
              <a:off x="188780" y="-22510"/>
              <a:ext cx="204992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  Optimizations for sorting</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74" name="Shape 2374"/>
        <p:cNvGrpSpPr/>
        <p:nvPr/>
      </p:nvGrpSpPr>
      <p:grpSpPr>
        <a:xfrm>
          <a:off x="0" y="0"/>
          <a:ext cx="0" cy="0"/>
          <a:chOff x="0" y="0"/>
          <a:chExt cx="0" cy="0"/>
        </a:xfrm>
      </p:grpSpPr>
      <p:sp>
        <p:nvSpPr>
          <p:cNvPr id="2375" name="Google Shape;2375;p10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Repacking for even longer initial runs</a:t>
            </a:r>
            <a:endParaRPr/>
          </a:p>
        </p:txBody>
      </p:sp>
      <p:sp>
        <p:nvSpPr>
          <p:cNvPr id="2376" name="Google Shape;2376;p108"/>
          <p:cNvSpPr txBox="1"/>
          <p:nvPr>
            <p:ph idx="1" type="body"/>
          </p:nvPr>
        </p:nvSpPr>
        <p:spPr>
          <a:xfrm>
            <a:off x="838200" y="1825625"/>
            <a:ext cx="10515600" cy="4351338"/>
          </a:xfrm>
          <a:prstGeom prst="rect">
            <a:avLst/>
          </a:prstGeom>
          <a:blipFill rotWithShape="1">
            <a:blip r:embed="rId3">
              <a:alphaModFix/>
            </a:blip>
            <a:stretch>
              <a:fillRect b="0" l="-1042" r="0" t="-2240"/>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US"/>
              <a:t> </a:t>
            </a:r>
            <a:endParaRPr/>
          </a:p>
        </p:txBody>
      </p:sp>
      <p:grpSp>
        <p:nvGrpSpPr>
          <p:cNvPr id="2377" name="Google Shape;2377;p108"/>
          <p:cNvGrpSpPr/>
          <p:nvPr/>
        </p:nvGrpSpPr>
        <p:grpSpPr>
          <a:xfrm>
            <a:off x="0" y="-22510"/>
            <a:ext cx="12192000" cy="307777"/>
            <a:chOff x="0" y="-22510"/>
            <a:chExt cx="12192000" cy="307777"/>
          </a:xfrm>
        </p:grpSpPr>
        <p:sp>
          <p:nvSpPr>
            <p:cNvPr id="2378" name="Google Shape;2378;p108"/>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2379" name="Google Shape;2379;p108"/>
            <p:cNvSpPr txBox="1"/>
            <p:nvPr/>
          </p:nvSpPr>
          <p:spPr>
            <a:xfrm>
              <a:off x="188780" y="-22510"/>
              <a:ext cx="204992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  Optimizations for sorting</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6">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83" name="Shape 2383"/>
        <p:cNvGrpSpPr/>
        <p:nvPr/>
      </p:nvGrpSpPr>
      <p:grpSpPr>
        <a:xfrm>
          <a:off x="0" y="0"/>
          <a:ext cx="0" cy="0"/>
          <a:chOff x="0" y="0"/>
          <a:chExt cx="0" cy="0"/>
        </a:xfrm>
      </p:grpSpPr>
      <p:sp>
        <p:nvSpPr>
          <p:cNvPr id="2384" name="Google Shape;2384;p10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Repacking Example: 3 page buffer</a:t>
            </a:r>
            <a:endParaRPr/>
          </a:p>
        </p:txBody>
      </p:sp>
      <p:sp>
        <p:nvSpPr>
          <p:cNvPr id="2385" name="Google Shape;2385;p10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Start with unsorted single input file, and load 2 pages</a:t>
            </a:r>
            <a:endParaRPr/>
          </a:p>
        </p:txBody>
      </p:sp>
      <p:sp>
        <p:nvSpPr>
          <p:cNvPr id="2386" name="Google Shape;2386;p109"/>
          <p:cNvSpPr/>
          <p:nvPr/>
        </p:nvSpPr>
        <p:spPr>
          <a:xfrm>
            <a:off x="2210655" y="2928938"/>
            <a:ext cx="3457575" cy="3568500"/>
          </a:xfrm>
          <a:prstGeom prst="can">
            <a:avLst>
              <a:gd fmla="val 13065"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2387" name="Google Shape;2387;p109"/>
          <p:cNvSpPr/>
          <p:nvPr/>
        </p:nvSpPr>
        <p:spPr>
          <a:xfrm>
            <a:off x="2308214" y="3513713"/>
            <a:ext cx="3296832" cy="1015318"/>
          </a:xfrm>
          <a:prstGeom prst="roundRect">
            <a:avLst>
              <a:gd fmla="val 16667" name="adj"/>
            </a:avLst>
          </a:prstGeom>
          <a:solidFill>
            <a:srgbClr val="FBE4D4"/>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88" name="Google Shape;2388;p109"/>
          <p:cNvSpPr txBox="1"/>
          <p:nvPr/>
        </p:nvSpPr>
        <p:spPr>
          <a:xfrm>
            <a:off x="3479589" y="4068337"/>
            <a:ext cx="958921"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57,24</a:t>
            </a:r>
            <a:endParaRPr/>
          </a:p>
        </p:txBody>
      </p:sp>
      <p:sp>
        <p:nvSpPr>
          <p:cNvPr id="2389" name="Google Shape;2389;p109"/>
          <p:cNvSpPr txBox="1"/>
          <p:nvPr/>
        </p:nvSpPr>
        <p:spPr>
          <a:xfrm>
            <a:off x="4542963" y="4068337"/>
            <a:ext cx="95413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3,98</a:t>
            </a:r>
            <a:endParaRPr/>
          </a:p>
        </p:txBody>
      </p:sp>
      <p:sp>
        <p:nvSpPr>
          <p:cNvPr id="2390" name="Google Shape;2390;p109"/>
          <p:cNvSpPr txBox="1"/>
          <p:nvPr/>
        </p:nvSpPr>
        <p:spPr>
          <a:xfrm>
            <a:off x="3513542" y="2400008"/>
            <a:ext cx="88617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Disk</a:t>
            </a:r>
            <a:endParaRPr sz="3200">
              <a:solidFill>
                <a:schemeClr val="dk1"/>
              </a:solidFill>
              <a:latin typeface="Calibri"/>
              <a:ea typeface="Calibri"/>
              <a:cs typeface="Calibri"/>
              <a:sym typeface="Calibri"/>
            </a:endParaRPr>
          </a:p>
        </p:txBody>
      </p:sp>
      <p:grpSp>
        <p:nvGrpSpPr>
          <p:cNvPr id="2391" name="Google Shape;2391;p109"/>
          <p:cNvGrpSpPr/>
          <p:nvPr/>
        </p:nvGrpSpPr>
        <p:grpSpPr>
          <a:xfrm>
            <a:off x="7093877" y="2928938"/>
            <a:ext cx="4259923" cy="2456273"/>
            <a:chOff x="7403799" y="1406844"/>
            <a:chExt cx="4259923" cy="2456273"/>
          </a:xfrm>
        </p:grpSpPr>
        <p:grpSp>
          <p:nvGrpSpPr>
            <p:cNvPr id="2392" name="Google Shape;2392;p109"/>
            <p:cNvGrpSpPr/>
            <p:nvPr/>
          </p:nvGrpSpPr>
          <p:grpSpPr>
            <a:xfrm>
              <a:off x="7403799" y="1406844"/>
              <a:ext cx="4259923" cy="2456273"/>
              <a:chOff x="7466322" y="1027906"/>
              <a:chExt cx="4259923" cy="2456273"/>
            </a:xfrm>
          </p:grpSpPr>
          <p:sp>
            <p:nvSpPr>
              <p:cNvPr id="2393" name="Google Shape;2393;p109"/>
              <p:cNvSpPr/>
              <p:nvPr/>
            </p:nvSpPr>
            <p:spPr>
              <a:xfrm>
                <a:off x="7466322" y="1027906"/>
                <a:ext cx="4252691" cy="2440508"/>
              </a:xfrm>
              <a:prstGeom prst="rect">
                <a:avLst/>
              </a:prstGeom>
              <a:solidFill>
                <a:srgbClr val="FFF2CC"/>
              </a:solidFill>
              <a:ln cap="flat" cmpd="sng" w="9525">
                <a:solidFill>
                  <a:srgbClr val="7F7F7F"/>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0">
                  <a:solidFill>
                    <a:schemeClr val="dk1"/>
                  </a:solidFill>
                  <a:latin typeface="Calibri"/>
                  <a:ea typeface="Calibri"/>
                  <a:cs typeface="Calibri"/>
                  <a:sym typeface="Calibri"/>
                </a:endParaRPr>
              </a:p>
            </p:txBody>
          </p:sp>
          <p:sp>
            <p:nvSpPr>
              <p:cNvPr id="2394" name="Google Shape;2394;p109"/>
              <p:cNvSpPr/>
              <p:nvPr/>
            </p:nvSpPr>
            <p:spPr>
              <a:xfrm>
                <a:off x="7769912" y="1969081"/>
                <a:ext cx="3956333" cy="1515098"/>
              </a:xfrm>
              <a:prstGeom prst="rect">
                <a:avLst/>
              </a:prstGeom>
              <a:solidFill>
                <a:srgbClr val="B3C6E7"/>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2395" name="Google Shape;2395;p109"/>
              <p:cNvSpPr txBox="1"/>
              <p:nvPr/>
            </p:nvSpPr>
            <p:spPr>
              <a:xfrm>
                <a:off x="7624243" y="1210562"/>
                <a:ext cx="196842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Main Memory</a:t>
                </a:r>
                <a:endParaRPr/>
              </a:p>
            </p:txBody>
          </p:sp>
          <p:sp>
            <p:nvSpPr>
              <p:cNvPr id="2396" name="Google Shape;2396;p109"/>
              <p:cNvSpPr txBox="1"/>
              <p:nvPr/>
            </p:nvSpPr>
            <p:spPr>
              <a:xfrm>
                <a:off x="7836450" y="1989610"/>
                <a:ext cx="95359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Buffer</a:t>
                </a:r>
                <a:endParaRPr/>
              </a:p>
            </p:txBody>
          </p:sp>
        </p:grpSp>
        <p:sp>
          <p:nvSpPr>
            <p:cNvPr id="2397" name="Google Shape;2397;p109"/>
            <p:cNvSpPr/>
            <p:nvPr/>
          </p:nvSpPr>
          <p:spPr>
            <a:xfrm>
              <a:off x="7843740"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98" name="Google Shape;2398;p109"/>
            <p:cNvSpPr/>
            <p:nvPr/>
          </p:nvSpPr>
          <p:spPr>
            <a:xfrm>
              <a:off x="9055124"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99" name="Google Shape;2399;p109"/>
            <p:cNvSpPr/>
            <p:nvPr/>
          </p:nvSpPr>
          <p:spPr>
            <a:xfrm>
              <a:off x="10266508"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2400" name="Google Shape;2400;p109"/>
          <p:cNvSpPr/>
          <p:nvPr/>
        </p:nvSpPr>
        <p:spPr>
          <a:xfrm>
            <a:off x="5806814" y="4444145"/>
            <a:ext cx="1461477"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01" name="Google Shape;2401;p109"/>
          <p:cNvSpPr/>
          <p:nvPr/>
        </p:nvSpPr>
        <p:spPr>
          <a:xfrm rot="10800000">
            <a:off x="5806813" y="4895300"/>
            <a:ext cx="1461478"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02" name="Google Shape;2402;p109"/>
          <p:cNvSpPr txBox="1"/>
          <p:nvPr/>
        </p:nvSpPr>
        <p:spPr>
          <a:xfrm>
            <a:off x="2455258" y="4068337"/>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18,22</a:t>
            </a:r>
            <a:endParaRPr/>
          </a:p>
        </p:txBody>
      </p:sp>
      <p:sp>
        <p:nvSpPr>
          <p:cNvPr id="2403" name="Google Shape;2403;p109"/>
          <p:cNvSpPr txBox="1"/>
          <p:nvPr/>
        </p:nvSpPr>
        <p:spPr>
          <a:xfrm>
            <a:off x="1808684" y="3883671"/>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1</a:t>
            </a:r>
            <a:endParaRPr/>
          </a:p>
        </p:txBody>
      </p:sp>
      <p:sp>
        <p:nvSpPr>
          <p:cNvPr id="2404" name="Google Shape;2404;p109"/>
          <p:cNvSpPr txBox="1"/>
          <p:nvPr/>
        </p:nvSpPr>
        <p:spPr>
          <a:xfrm>
            <a:off x="3479589" y="3598573"/>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10,33</a:t>
            </a:r>
            <a:endParaRPr/>
          </a:p>
        </p:txBody>
      </p:sp>
      <p:sp>
        <p:nvSpPr>
          <p:cNvPr id="2405" name="Google Shape;2405;p109"/>
          <p:cNvSpPr txBox="1"/>
          <p:nvPr/>
        </p:nvSpPr>
        <p:spPr>
          <a:xfrm>
            <a:off x="4542988" y="3597304"/>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44,55</a:t>
            </a:r>
            <a:endParaRPr/>
          </a:p>
        </p:txBody>
      </p:sp>
      <p:sp>
        <p:nvSpPr>
          <p:cNvPr id="2406" name="Google Shape;2406;p109"/>
          <p:cNvSpPr txBox="1"/>
          <p:nvPr/>
        </p:nvSpPr>
        <p:spPr>
          <a:xfrm>
            <a:off x="2455258" y="3601801"/>
            <a:ext cx="954106"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31,12</a:t>
            </a:r>
            <a:endParaRPr/>
          </a:p>
        </p:txBody>
      </p:sp>
      <p:sp>
        <p:nvSpPr>
          <p:cNvPr id="2407" name="Google Shape;2407;p109"/>
          <p:cNvSpPr/>
          <p:nvPr/>
        </p:nvSpPr>
        <p:spPr>
          <a:xfrm>
            <a:off x="2287339" y="4629154"/>
            <a:ext cx="3296832" cy="48465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08" name="Google Shape;2408;p109"/>
          <p:cNvSpPr txBox="1"/>
          <p:nvPr/>
        </p:nvSpPr>
        <p:spPr>
          <a:xfrm>
            <a:off x="1787809" y="4670498"/>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2</a:t>
            </a:r>
            <a:endParaRPr/>
          </a:p>
        </p:txBody>
      </p:sp>
      <p:grpSp>
        <p:nvGrpSpPr>
          <p:cNvPr id="2409" name="Google Shape;2409;p109"/>
          <p:cNvGrpSpPr/>
          <p:nvPr/>
        </p:nvGrpSpPr>
        <p:grpSpPr>
          <a:xfrm>
            <a:off x="0" y="-22510"/>
            <a:ext cx="12192000" cy="307777"/>
            <a:chOff x="0" y="-22510"/>
            <a:chExt cx="12192000" cy="307777"/>
          </a:xfrm>
        </p:grpSpPr>
        <p:sp>
          <p:nvSpPr>
            <p:cNvPr id="2410" name="Google Shape;2410;p109"/>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2411" name="Google Shape;2411;p109"/>
            <p:cNvSpPr txBox="1"/>
            <p:nvPr/>
          </p:nvSpPr>
          <p:spPr>
            <a:xfrm>
              <a:off x="188780" y="-22510"/>
              <a:ext cx="204992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  Optimizations for sorting</a:t>
              </a:r>
              <a:endParaRPr/>
            </a:p>
          </p:txBody>
        </p:sp>
      </p:gr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15" name="Shape 2415"/>
        <p:cNvGrpSpPr/>
        <p:nvPr/>
      </p:nvGrpSpPr>
      <p:grpSpPr>
        <a:xfrm>
          <a:off x="0" y="0"/>
          <a:ext cx="0" cy="0"/>
          <a:chOff x="0" y="0"/>
          <a:chExt cx="0" cy="0"/>
        </a:xfrm>
      </p:grpSpPr>
      <p:sp>
        <p:nvSpPr>
          <p:cNvPr id="2416" name="Google Shape;2416;p1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Repacking Example: 3 page buffer</a:t>
            </a:r>
            <a:endParaRPr/>
          </a:p>
        </p:txBody>
      </p:sp>
      <p:sp>
        <p:nvSpPr>
          <p:cNvPr id="2417" name="Google Shape;2417;p1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Take the minimum two values, and put in output page</a:t>
            </a:r>
            <a:endParaRPr/>
          </a:p>
        </p:txBody>
      </p:sp>
      <p:sp>
        <p:nvSpPr>
          <p:cNvPr id="2418" name="Google Shape;2418;p110"/>
          <p:cNvSpPr/>
          <p:nvPr/>
        </p:nvSpPr>
        <p:spPr>
          <a:xfrm>
            <a:off x="2210655" y="2928938"/>
            <a:ext cx="3457575" cy="3568500"/>
          </a:xfrm>
          <a:prstGeom prst="can">
            <a:avLst>
              <a:gd fmla="val 13065"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2419" name="Google Shape;2419;p110"/>
          <p:cNvSpPr/>
          <p:nvPr/>
        </p:nvSpPr>
        <p:spPr>
          <a:xfrm>
            <a:off x="2308214" y="3513713"/>
            <a:ext cx="3296832" cy="1015318"/>
          </a:xfrm>
          <a:prstGeom prst="roundRect">
            <a:avLst>
              <a:gd fmla="val 16667" name="adj"/>
            </a:avLst>
          </a:prstGeom>
          <a:solidFill>
            <a:srgbClr val="FBE4D4"/>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20" name="Google Shape;2420;p110"/>
          <p:cNvSpPr txBox="1"/>
          <p:nvPr/>
        </p:nvSpPr>
        <p:spPr>
          <a:xfrm>
            <a:off x="3479589" y="4068337"/>
            <a:ext cx="958921"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57,24</a:t>
            </a:r>
            <a:endParaRPr/>
          </a:p>
        </p:txBody>
      </p:sp>
      <p:sp>
        <p:nvSpPr>
          <p:cNvPr id="2421" name="Google Shape;2421;p110"/>
          <p:cNvSpPr txBox="1"/>
          <p:nvPr/>
        </p:nvSpPr>
        <p:spPr>
          <a:xfrm>
            <a:off x="4542963" y="4068337"/>
            <a:ext cx="95413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3,98</a:t>
            </a:r>
            <a:endParaRPr/>
          </a:p>
        </p:txBody>
      </p:sp>
      <p:sp>
        <p:nvSpPr>
          <p:cNvPr id="2422" name="Google Shape;2422;p110"/>
          <p:cNvSpPr txBox="1"/>
          <p:nvPr/>
        </p:nvSpPr>
        <p:spPr>
          <a:xfrm>
            <a:off x="3513542" y="2400008"/>
            <a:ext cx="88617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Disk</a:t>
            </a:r>
            <a:endParaRPr sz="3200">
              <a:solidFill>
                <a:schemeClr val="dk1"/>
              </a:solidFill>
              <a:latin typeface="Calibri"/>
              <a:ea typeface="Calibri"/>
              <a:cs typeface="Calibri"/>
              <a:sym typeface="Calibri"/>
            </a:endParaRPr>
          </a:p>
        </p:txBody>
      </p:sp>
      <p:grpSp>
        <p:nvGrpSpPr>
          <p:cNvPr id="2423" name="Google Shape;2423;p110"/>
          <p:cNvGrpSpPr/>
          <p:nvPr/>
        </p:nvGrpSpPr>
        <p:grpSpPr>
          <a:xfrm>
            <a:off x="7093877" y="2928938"/>
            <a:ext cx="4259923" cy="2456273"/>
            <a:chOff x="7403799" y="1406844"/>
            <a:chExt cx="4259923" cy="2456273"/>
          </a:xfrm>
        </p:grpSpPr>
        <p:grpSp>
          <p:nvGrpSpPr>
            <p:cNvPr id="2424" name="Google Shape;2424;p110"/>
            <p:cNvGrpSpPr/>
            <p:nvPr/>
          </p:nvGrpSpPr>
          <p:grpSpPr>
            <a:xfrm>
              <a:off x="7403799" y="1406844"/>
              <a:ext cx="4259923" cy="2456273"/>
              <a:chOff x="7466322" y="1027906"/>
              <a:chExt cx="4259923" cy="2456273"/>
            </a:xfrm>
          </p:grpSpPr>
          <p:sp>
            <p:nvSpPr>
              <p:cNvPr id="2425" name="Google Shape;2425;p110"/>
              <p:cNvSpPr/>
              <p:nvPr/>
            </p:nvSpPr>
            <p:spPr>
              <a:xfrm>
                <a:off x="7466322" y="1027906"/>
                <a:ext cx="4252691" cy="2440508"/>
              </a:xfrm>
              <a:prstGeom prst="rect">
                <a:avLst/>
              </a:prstGeom>
              <a:solidFill>
                <a:srgbClr val="FFF2CC"/>
              </a:solidFill>
              <a:ln cap="flat" cmpd="sng" w="9525">
                <a:solidFill>
                  <a:srgbClr val="7F7F7F"/>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0">
                  <a:solidFill>
                    <a:schemeClr val="dk1"/>
                  </a:solidFill>
                  <a:latin typeface="Calibri"/>
                  <a:ea typeface="Calibri"/>
                  <a:cs typeface="Calibri"/>
                  <a:sym typeface="Calibri"/>
                </a:endParaRPr>
              </a:p>
            </p:txBody>
          </p:sp>
          <p:sp>
            <p:nvSpPr>
              <p:cNvPr id="2426" name="Google Shape;2426;p110"/>
              <p:cNvSpPr/>
              <p:nvPr/>
            </p:nvSpPr>
            <p:spPr>
              <a:xfrm>
                <a:off x="7769912" y="1969081"/>
                <a:ext cx="3956333" cy="1515098"/>
              </a:xfrm>
              <a:prstGeom prst="rect">
                <a:avLst/>
              </a:prstGeom>
              <a:solidFill>
                <a:srgbClr val="B3C6E7"/>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2427" name="Google Shape;2427;p110"/>
              <p:cNvSpPr txBox="1"/>
              <p:nvPr/>
            </p:nvSpPr>
            <p:spPr>
              <a:xfrm>
                <a:off x="7624243" y="1210562"/>
                <a:ext cx="196842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Main Memory</a:t>
                </a:r>
                <a:endParaRPr/>
              </a:p>
            </p:txBody>
          </p:sp>
          <p:sp>
            <p:nvSpPr>
              <p:cNvPr id="2428" name="Google Shape;2428;p110"/>
              <p:cNvSpPr txBox="1"/>
              <p:nvPr/>
            </p:nvSpPr>
            <p:spPr>
              <a:xfrm>
                <a:off x="7836450" y="1989610"/>
                <a:ext cx="95359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Buffer</a:t>
                </a:r>
                <a:endParaRPr/>
              </a:p>
            </p:txBody>
          </p:sp>
        </p:grpSp>
        <p:sp>
          <p:nvSpPr>
            <p:cNvPr id="2429" name="Google Shape;2429;p110"/>
            <p:cNvSpPr/>
            <p:nvPr/>
          </p:nvSpPr>
          <p:spPr>
            <a:xfrm>
              <a:off x="7843740"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30" name="Google Shape;2430;p110"/>
            <p:cNvSpPr/>
            <p:nvPr/>
          </p:nvSpPr>
          <p:spPr>
            <a:xfrm>
              <a:off x="9055124"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31" name="Google Shape;2431;p110"/>
            <p:cNvSpPr/>
            <p:nvPr/>
          </p:nvSpPr>
          <p:spPr>
            <a:xfrm>
              <a:off x="10266508"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2432" name="Google Shape;2432;p110"/>
          <p:cNvSpPr/>
          <p:nvPr/>
        </p:nvSpPr>
        <p:spPr>
          <a:xfrm>
            <a:off x="5806814" y="4444145"/>
            <a:ext cx="1461477"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33" name="Google Shape;2433;p110"/>
          <p:cNvSpPr/>
          <p:nvPr/>
        </p:nvSpPr>
        <p:spPr>
          <a:xfrm rot="10800000">
            <a:off x="5806813" y="4895300"/>
            <a:ext cx="1461478"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34" name="Google Shape;2434;p110"/>
          <p:cNvSpPr txBox="1"/>
          <p:nvPr/>
        </p:nvSpPr>
        <p:spPr>
          <a:xfrm>
            <a:off x="2455258" y="4068337"/>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18,22</a:t>
            </a:r>
            <a:endParaRPr/>
          </a:p>
        </p:txBody>
      </p:sp>
      <p:sp>
        <p:nvSpPr>
          <p:cNvPr id="2435" name="Google Shape;2435;p110"/>
          <p:cNvSpPr txBox="1"/>
          <p:nvPr/>
        </p:nvSpPr>
        <p:spPr>
          <a:xfrm>
            <a:off x="1808684" y="3883671"/>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1</a:t>
            </a:r>
            <a:endParaRPr/>
          </a:p>
        </p:txBody>
      </p:sp>
      <p:sp>
        <p:nvSpPr>
          <p:cNvPr id="2436" name="Google Shape;2436;p110"/>
          <p:cNvSpPr txBox="1"/>
          <p:nvPr/>
        </p:nvSpPr>
        <p:spPr>
          <a:xfrm>
            <a:off x="8836013" y="4625156"/>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10,33</a:t>
            </a:r>
            <a:endParaRPr/>
          </a:p>
        </p:txBody>
      </p:sp>
      <p:sp>
        <p:nvSpPr>
          <p:cNvPr id="2437" name="Google Shape;2437;p110"/>
          <p:cNvSpPr txBox="1"/>
          <p:nvPr/>
        </p:nvSpPr>
        <p:spPr>
          <a:xfrm>
            <a:off x="4542988" y="3597304"/>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44,55</a:t>
            </a:r>
            <a:endParaRPr/>
          </a:p>
        </p:txBody>
      </p:sp>
      <p:sp>
        <p:nvSpPr>
          <p:cNvPr id="2438" name="Google Shape;2438;p110"/>
          <p:cNvSpPr txBox="1"/>
          <p:nvPr/>
        </p:nvSpPr>
        <p:spPr>
          <a:xfrm>
            <a:off x="7620400" y="4625156"/>
            <a:ext cx="954106"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31,12</a:t>
            </a:r>
            <a:endParaRPr/>
          </a:p>
        </p:txBody>
      </p:sp>
      <p:sp>
        <p:nvSpPr>
          <p:cNvPr id="2439" name="Google Shape;2439;p110"/>
          <p:cNvSpPr/>
          <p:nvPr/>
        </p:nvSpPr>
        <p:spPr>
          <a:xfrm>
            <a:off x="2287339" y="4629154"/>
            <a:ext cx="3296832" cy="48465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40" name="Google Shape;2440;p110"/>
          <p:cNvSpPr txBox="1"/>
          <p:nvPr/>
        </p:nvSpPr>
        <p:spPr>
          <a:xfrm>
            <a:off x="1787809" y="4670498"/>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2</a:t>
            </a:r>
            <a:endParaRPr/>
          </a:p>
        </p:txBody>
      </p:sp>
      <p:sp>
        <p:nvSpPr>
          <p:cNvPr id="2441" name="Google Shape;2441;p110"/>
          <p:cNvSpPr txBox="1"/>
          <p:nvPr/>
        </p:nvSpPr>
        <p:spPr>
          <a:xfrm>
            <a:off x="7617797" y="4633039"/>
            <a:ext cx="954106"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31</a:t>
            </a:r>
            <a:endParaRPr sz="2000">
              <a:solidFill>
                <a:srgbClr val="FFC000"/>
              </a:solidFill>
              <a:latin typeface="Arial"/>
              <a:ea typeface="Arial"/>
              <a:cs typeface="Arial"/>
              <a:sym typeface="Arial"/>
            </a:endParaRPr>
          </a:p>
        </p:txBody>
      </p:sp>
      <p:sp>
        <p:nvSpPr>
          <p:cNvPr id="2442" name="Google Shape;2442;p110"/>
          <p:cNvSpPr txBox="1"/>
          <p:nvPr/>
        </p:nvSpPr>
        <p:spPr>
          <a:xfrm>
            <a:off x="8850017" y="4633039"/>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33</a:t>
            </a:r>
            <a:endParaRPr sz="2000">
              <a:solidFill>
                <a:srgbClr val="FFC000"/>
              </a:solidFill>
              <a:latin typeface="Arial"/>
              <a:ea typeface="Arial"/>
              <a:cs typeface="Arial"/>
              <a:sym typeface="Arial"/>
            </a:endParaRPr>
          </a:p>
        </p:txBody>
      </p:sp>
      <p:sp>
        <p:nvSpPr>
          <p:cNvPr id="2443" name="Google Shape;2443;p110"/>
          <p:cNvSpPr txBox="1"/>
          <p:nvPr/>
        </p:nvSpPr>
        <p:spPr>
          <a:xfrm>
            <a:off x="10043179" y="4630150"/>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10,12</a:t>
            </a:r>
            <a:endParaRPr/>
          </a:p>
        </p:txBody>
      </p:sp>
      <p:sp>
        <p:nvSpPr>
          <p:cNvPr id="2444" name="Google Shape;2444;p110"/>
          <p:cNvSpPr txBox="1"/>
          <p:nvPr/>
        </p:nvSpPr>
        <p:spPr>
          <a:xfrm>
            <a:off x="10172354" y="3227972"/>
            <a:ext cx="742511" cy="369332"/>
          </a:xfrm>
          <a:prstGeom prst="rect">
            <a:avLst/>
          </a:prstGeom>
          <a:solidFill>
            <a:srgbClr val="FFF2CC"/>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B050"/>
                </a:solidFill>
                <a:latin typeface="Arial"/>
                <a:ea typeface="Arial"/>
                <a:cs typeface="Arial"/>
                <a:sym typeface="Arial"/>
              </a:rPr>
              <a:t>m=12</a:t>
            </a:r>
            <a:endParaRPr/>
          </a:p>
        </p:txBody>
      </p:sp>
      <p:sp>
        <p:nvSpPr>
          <p:cNvPr id="2445" name="Google Shape;2445;p110"/>
          <p:cNvSpPr txBox="1"/>
          <p:nvPr/>
        </p:nvSpPr>
        <p:spPr>
          <a:xfrm>
            <a:off x="9418026" y="1486400"/>
            <a:ext cx="2586398" cy="1200329"/>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Also keep track of max (last) value in current run…</a:t>
            </a:r>
            <a:endParaRPr i="1" sz="2400">
              <a:solidFill>
                <a:schemeClr val="dk1"/>
              </a:solidFill>
              <a:latin typeface="Calibri"/>
              <a:ea typeface="Calibri"/>
              <a:cs typeface="Calibri"/>
              <a:sym typeface="Calibri"/>
            </a:endParaRPr>
          </a:p>
        </p:txBody>
      </p:sp>
      <p:grpSp>
        <p:nvGrpSpPr>
          <p:cNvPr id="2446" name="Google Shape;2446;p110"/>
          <p:cNvGrpSpPr/>
          <p:nvPr/>
        </p:nvGrpSpPr>
        <p:grpSpPr>
          <a:xfrm>
            <a:off x="0" y="-22510"/>
            <a:ext cx="12192000" cy="307777"/>
            <a:chOff x="0" y="-22510"/>
            <a:chExt cx="12192000" cy="307777"/>
          </a:xfrm>
        </p:grpSpPr>
        <p:sp>
          <p:nvSpPr>
            <p:cNvPr id="2447" name="Google Shape;2447;p110"/>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2448" name="Google Shape;2448;p110"/>
            <p:cNvSpPr txBox="1"/>
            <p:nvPr/>
          </p:nvSpPr>
          <p:spPr>
            <a:xfrm>
              <a:off x="188780" y="-22510"/>
              <a:ext cx="204992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  Optimizations for sorting</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41"/>
                                        </p:tgtEl>
                                        <p:attrNameLst>
                                          <p:attrName>style.visibility</p:attrName>
                                        </p:attrNameLst>
                                      </p:cBhvr>
                                      <p:to>
                                        <p:strVal val="visible"/>
                                      </p:to>
                                    </p:set>
                                    <p:animEffect filter="fade" transition="in">
                                      <p:cBhvr>
                                        <p:cTn dur="500"/>
                                        <p:tgtEl>
                                          <p:spTgt spid="2441"/>
                                        </p:tgtEl>
                                      </p:cBhvr>
                                    </p:animEffect>
                                  </p:childTnLst>
                                </p:cTn>
                              </p:par>
                              <p:par>
                                <p:cTn fill="hold" nodeType="withEffect" presetClass="entr" presetID="10" presetSubtype="0">
                                  <p:stCondLst>
                                    <p:cond delay="0"/>
                                  </p:stCondLst>
                                  <p:childTnLst>
                                    <p:set>
                                      <p:cBhvr>
                                        <p:cTn dur="1" fill="hold">
                                          <p:stCondLst>
                                            <p:cond delay="0"/>
                                          </p:stCondLst>
                                        </p:cTn>
                                        <p:tgtEl>
                                          <p:spTgt spid="2442"/>
                                        </p:tgtEl>
                                        <p:attrNameLst>
                                          <p:attrName>style.visibility</p:attrName>
                                        </p:attrNameLst>
                                      </p:cBhvr>
                                      <p:to>
                                        <p:strVal val="visible"/>
                                      </p:to>
                                    </p:set>
                                    <p:animEffect filter="fade" transition="in">
                                      <p:cBhvr>
                                        <p:cTn dur="500"/>
                                        <p:tgtEl>
                                          <p:spTgt spid="2442"/>
                                        </p:tgtEl>
                                      </p:cBhvr>
                                    </p:animEffect>
                                  </p:childTnLst>
                                </p:cTn>
                              </p:par>
                              <p:par>
                                <p:cTn fill="hold" nodeType="withEffect" presetClass="entr" presetID="10" presetSubtype="0">
                                  <p:stCondLst>
                                    <p:cond delay="0"/>
                                  </p:stCondLst>
                                  <p:childTnLst>
                                    <p:set>
                                      <p:cBhvr>
                                        <p:cTn dur="1" fill="hold">
                                          <p:stCondLst>
                                            <p:cond delay="0"/>
                                          </p:stCondLst>
                                        </p:cTn>
                                        <p:tgtEl>
                                          <p:spTgt spid="2443"/>
                                        </p:tgtEl>
                                        <p:attrNameLst>
                                          <p:attrName>style.visibility</p:attrName>
                                        </p:attrNameLst>
                                      </p:cBhvr>
                                      <p:to>
                                        <p:strVal val="visible"/>
                                      </p:to>
                                    </p:set>
                                    <p:animEffect filter="fade" transition="in">
                                      <p:cBhvr>
                                        <p:cTn dur="500"/>
                                        <p:tgtEl>
                                          <p:spTgt spid="24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52" name="Shape 2452"/>
        <p:cNvGrpSpPr/>
        <p:nvPr/>
      </p:nvGrpSpPr>
      <p:grpSpPr>
        <a:xfrm>
          <a:off x="0" y="0"/>
          <a:ext cx="0" cy="0"/>
          <a:chOff x="0" y="0"/>
          <a:chExt cx="0" cy="0"/>
        </a:xfrm>
      </p:grpSpPr>
      <p:sp>
        <p:nvSpPr>
          <p:cNvPr id="2453" name="Google Shape;2453;p1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Repacking Example: 3 page buffer</a:t>
            </a:r>
            <a:endParaRPr/>
          </a:p>
        </p:txBody>
      </p:sp>
      <p:sp>
        <p:nvSpPr>
          <p:cNvPr id="2454" name="Google Shape;2454;p1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Next, </a:t>
            </a:r>
            <a:r>
              <a:rPr b="1" i="1" lang="en-US"/>
              <a:t>repack</a:t>
            </a:r>
            <a:endParaRPr/>
          </a:p>
        </p:txBody>
      </p:sp>
      <p:sp>
        <p:nvSpPr>
          <p:cNvPr id="2455" name="Google Shape;2455;p111"/>
          <p:cNvSpPr/>
          <p:nvPr/>
        </p:nvSpPr>
        <p:spPr>
          <a:xfrm>
            <a:off x="2210655" y="2928938"/>
            <a:ext cx="3457575" cy="3568500"/>
          </a:xfrm>
          <a:prstGeom prst="can">
            <a:avLst>
              <a:gd fmla="val 13065"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2456" name="Google Shape;2456;p111"/>
          <p:cNvSpPr/>
          <p:nvPr/>
        </p:nvSpPr>
        <p:spPr>
          <a:xfrm>
            <a:off x="2308214" y="3513713"/>
            <a:ext cx="3296832" cy="1015318"/>
          </a:xfrm>
          <a:prstGeom prst="roundRect">
            <a:avLst>
              <a:gd fmla="val 16667" name="adj"/>
            </a:avLst>
          </a:prstGeom>
          <a:solidFill>
            <a:srgbClr val="FBE4D4"/>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57" name="Google Shape;2457;p111"/>
          <p:cNvSpPr txBox="1"/>
          <p:nvPr/>
        </p:nvSpPr>
        <p:spPr>
          <a:xfrm>
            <a:off x="3479589" y="4068337"/>
            <a:ext cx="958921"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57,24</a:t>
            </a:r>
            <a:endParaRPr/>
          </a:p>
        </p:txBody>
      </p:sp>
      <p:sp>
        <p:nvSpPr>
          <p:cNvPr id="2458" name="Google Shape;2458;p111"/>
          <p:cNvSpPr txBox="1"/>
          <p:nvPr/>
        </p:nvSpPr>
        <p:spPr>
          <a:xfrm>
            <a:off x="4542963" y="4068337"/>
            <a:ext cx="95413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3,98</a:t>
            </a:r>
            <a:endParaRPr/>
          </a:p>
        </p:txBody>
      </p:sp>
      <p:sp>
        <p:nvSpPr>
          <p:cNvPr id="2459" name="Google Shape;2459;p111"/>
          <p:cNvSpPr txBox="1"/>
          <p:nvPr/>
        </p:nvSpPr>
        <p:spPr>
          <a:xfrm>
            <a:off x="3513542" y="2400008"/>
            <a:ext cx="88617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Disk</a:t>
            </a:r>
            <a:endParaRPr sz="3200">
              <a:solidFill>
                <a:schemeClr val="dk1"/>
              </a:solidFill>
              <a:latin typeface="Calibri"/>
              <a:ea typeface="Calibri"/>
              <a:cs typeface="Calibri"/>
              <a:sym typeface="Calibri"/>
            </a:endParaRPr>
          </a:p>
        </p:txBody>
      </p:sp>
      <p:grpSp>
        <p:nvGrpSpPr>
          <p:cNvPr id="2460" name="Google Shape;2460;p111"/>
          <p:cNvGrpSpPr/>
          <p:nvPr/>
        </p:nvGrpSpPr>
        <p:grpSpPr>
          <a:xfrm>
            <a:off x="7093877" y="2928938"/>
            <a:ext cx="4259923" cy="2456273"/>
            <a:chOff x="7403799" y="1406844"/>
            <a:chExt cx="4259923" cy="2456273"/>
          </a:xfrm>
        </p:grpSpPr>
        <p:grpSp>
          <p:nvGrpSpPr>
            <p:cNvPr id="2461" name="Google Shape;2461;p111"/>
            <p:cNvGrpSpPr/>
            <p:nvPr/>
          </p:nvGrpSpPr>
          <p:grpSpPr>
            <a:xfrm>
              <a:off x="7403799" y="1406844"/>
              <a:ext cx="4259923" cy="2456273"/>
              <a:chOff x="7466322" y="1027906"/>
              <a:chExt cx="4259923" cy="2456273"/>
            </a:xfrm>
          </p:grpSpPr>
          <p:sp>
            <p:nvSpPr>
              <p:cNvPr id="2462" name="Google Shape;2462;p111"/>
              <p:cNvSpPr/>
              <p:nvPr/>
            </p:nvSpPr>
            <p:spPr>
              <a:xfrm>
                <a:off x="7466322" y="1027906"/>
                <a:ext cx="4252691" cy="2440508"/>
              </a:xfrm>
              <a:prstGeom prst="rect">
                <a:avLst/>
              </a:prstGeom>
              <a:solidFill>
                <a:srgbClr val="FFF2CC"/>
              </a:solidFill>
              <a:ln cap="flat" cmpd="sng" w="9525">
                <a:solidFill>
                  <a:srgbClr val="7F7F7F"/>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0">
                  <a:solidFill>
                    <a:schemeClr val="dk1"/>
                  </a:solidFill>
                  <a:latin typeface="Calibri"/>
                  <a:ea typeface="Calibri"/>
                  <a:cs typeface="Calibri"/>
                  <a:sym typeface="Calibri"/>
                </a:endParaRPr>
              </a:p>
            </p:txBody>
          </p:sp>
          <p:sp>
            <p:nvSpPr>
              <p:cNvPr id="2463" name="Google Shape;2463;p111"/>
              <p:cNvSpPr/>
              <p:nvPr/>
            </p:nvSpPr>
            <p:spPr>
              <a:xfrm>
                <a:off x="7769912" y="1969081"/>
                <a:ext cx="3956333" cy="1515098"/>
              </a:xfrm>
              <a:prstGeom prst="rect">
                <a:avLst/>
              </a:prstGeom>
              <a:solidFill>
                <a:srgbClr val="B3C6E7"/>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2464" name="Google Shape;2464;p111"/>
              <p:cNvSpPr txBox="1"/>
              <p:nvPr/>
            </p:nvSpPr>
            <p:spPr>
              <a:xfrm>
                <a:off x="7624243" y="1210562"/>
                <a:ext cx="196842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Main Memory</a:t>
                </a:r>
                <a:endParaRPr/>
              </a:p>
            </p:txBody>
          </p:sp>
          <p:sp>
            <p:nvSpPr>
              <p:cNvPr id="2465" name="Google Shape;2465;p111"/>
              <p:cNvSpPr txBox="1"/>
              <p:nvPr/>
            </p:nvSpPr>
            <p:spPr>
              <a:xfrm>
                <a:off x="7836450" y="1989610"/>
                <a:ext cx="95359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Buffer</a:t>
                </a:r>
                <a:endParaRPr/>
              </a:p>
            </p:txBody>
          </p:sp>
        </p:grpSp>
        <p:sp>
          <p:nvSpPr>
            <p:cNvPr id="2466" name="Google Shape;2466;p111"/>
            <p:cNvSpPr/>
            <p:nvPr/>
          </p:nvSpPr>
          <p:spPr>
            <a:xfrm>
              <a:off x="7843740"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67" name="Google Shape;2467;p111"/>
            <p:cNvSpPr/>
            <p:nvPr/>
          </p:nvSpPr>
          <p:spPr>
            <a:xfrm>
              <a:off x="9055124"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68" name="Google Shape;2468;p111"/>
            <p:cNvSpPr/>
            <p:nvPr/>
          </p:nvSpPr>
          <p:spPr>
            <a:xfrm>
              <a:off x="10266508"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2469" name="Google Shape;2469;p111"/>
          <p:cNvSpPr/>
          <p:nvPr/>
        </p:nvSpPr>
        <p:spPr>
          <a:xfrm>
            <a:off x="5806814" y="4444145"/>
            <a:ext cx="1461477"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70" name="Google Shape;2470;p111"/>
          <p:cNvSpPr/>
          <p:nvPr/>
        </p:nvSpPr>
        <p:spPr>
          <a:xfrm rot="10800000">
            <a:off x="5806813" y="4895300"/>
            <a:ext cx="1461478"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71" name="Google Shape;2471;p111"/>
          <p:cNvSpPr txBox="1"/>
          <p:nvPr/>
        </p:nvSpPr>
        <p:spPr>
          <a:xfrm>
            <a:off x="1808684" y="3883671"/>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1</a:t>
            </a:r>
            <a:endParaRPr/>
          </a:p>
        </p:txBody>
      </p:sp>
      <p:sp>
        <p:nvSpPr>
          <p:cNvPr id="2472" name="Google Shape;2472;p111"/>
          <p:cNvSpPr txBox="1"/>
          <p:nvPr/>
        </p:nvSpPr>
        <p:spPr>
          <a:xfrm>
            <a:off x="8836013" y="4625156"/>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33</a:t>
            </a:r>
            <a:endParaRPr/>
          </a:p>
        </p:txBody>
      </p:sp>
      <p:sp>
        <p:nvSpPr>
          <p:cNvPr id="2473" name="Google Shape;2473;p111"/>
          <p:cNvSpPr/>
          <p:nvPr/>
        </p:nvSpPr>
        <p:spPr>
          <a:xfrm>
            <a:off x="2287339" y="4629154"/>
            <a:ext cx="3296832" cy="48465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74" name="Google Shape;2474;p111"/>
          <p:cNvSpPr txBox="1"/>
          <p:nvPr/>
        </p:nvSpPr>
        <p:spPr>
          <a:xfrm>
            <a:off x="1787809" y="4670498"/>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2</a:t>
            </a:r>
            <a:endParaRPr/>
          </a:p>
        </p:txBody>
      </p:sp>
      <p:sp>
        <p:nvSpPr>
          <p:cNvPr id="2475" name="Google Shape;2475;p111"/>
          <p:cNvSpPr txBox="1"/>
          <p:nvPr/>
        </p:nvSpPr>
        <p:spPr>
          <a:xfrm>
            <a:off x="7620400" y="4633039"/>
            <a:ext cx="954106"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31</a:t>
            </a:r>
            <a:endParaRPr sz="2000">
              <a:solidFill>
                <a:srgbClr val="FFC000"/>
              </a:solidFill>
              <a:latin typeface="Arial"/>
              <a:ea typeface="Arial"/>
              <a:cs typeface="Arial"/>
              <a:sym typeface="Arial"/>
            </a:endParaRPr>
          </a:p>
        </p:txBody>
      </p:sp>
      <p:sp>
        <p:nvSpPr>
          <p:cNvPr id="2476" name="Google Shape;2476;p111"/>
          <p:cNvSpPr txBox="1"/>
          <p:nvPr/>
        </p:nvSpPr>
        <p:spPr>
          <a:xfrm>
            <a:off x="8836013" y="4633039"/>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31,33</a:t>
            </a:r>
            <a:endParaRPr/>
          </a:p>
        </p:txBody>
      </p:sp>
      <p:sp>
        <p:nvSpPr>
          <p:cNvPr id="2477" name="Google Shape;2477;p111"/>
          <p:cNvSpPr txBox="1"/>
          <p:nvPr/>
        </p:nvSpPr>
        <p:spPr>
          <a:xfrm>
            <a:off x="2455258" y="4683545"/>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10,12</a:t>
            </a:r>
            <a:endParaRPr/>
          </a:p>
        </p:txBody>
      </p:sp>
      <p:sp>
        <p:nvSpPr>
          <p:cNvPr id="2478" name="Google Shape;2478;p111"/>
          <p:cNvSpPr txBox="1"/>
          <p:nvPr/>
        </p:nvSpPr>
        <p:spPr>
          <a:xfrm>
            <a:off x="10172354" y="3227972"/>
            <a:ext cx="742511" cy="369332"/>
          </a:xfrm>
          <a:prstGeom prst="rect">
            <a:avLst/>
          </a:prstGeom>
          <a:solidFill>
            <a:srgbClr val="FFF2CC"/>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B050"/>
                </a:solidFill>
                <a:latin typeface="Arial"/>
                <a:ea typeface="Arial"/>
                <a:cs typeface="Arial"/>
                <a:sym typeface="Arial"/>
              </a:rPr>
              <a:t>m=12</a:t>
            </a:r>
            <a:endParaRPr/>
          </a:p>
        </p:txBody>
      </p:sp>
      <p:sp>
        <p:nvSpPr>
          <p:cNvPr id="2479" name="Google Shape;2479;p111"/>
          <p:cNvSpPr txBox="1"/>
          <p:nvPr/>
        </p:nvSpPr>
        <p:spPr>
          <a:xfrm>
            <a:off x="4542988" y="3597304"/>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44,55</a:t>
            </a:r>
            <a:endParaRPr/>
          </a:p>
        </p:txBody>
      </p:sp>
      <p:sp>
        <p:nvSpPr>
          <p:cNvPr id="2480" name="Google Shape;2480;p111"/>
          <p:cNvSpPr txBox="1"/>
          <p:nvPr/>
        </p:nvSpPr>
        <p:spPr>
          <a:xfrm>
            <a:off x="2455258" y="4068337"/>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18,22</a:t>
            </a:r>
            <a:endParaRPr/>
          </a:p>
        </p:txBody>
      </p:sp>
      <p:grpSp>
        <p:nvGrpSpPr>
          <p:cNvPr id="2481" name="Google Shape;2481;p111"/>
          <p:cNvGrpSpPr/>
          <p:nvPr/>
        </p:nvGrpSpPr>
        <p:grpSpPr>
          <a:xfrm>
            <a:off x="0" y="-22510"/>
            <a:ext cx="12192000" cy="307777"/>
            <a:chOff x="0" y="-22510"/>
            <a:chExt cx="12192000" cy="307777"/>
          </a:xfrm>
        </p:grpSpPr>
        <p:sp>
          <p:nvSpPr>
            <p:cNvPr id="2482" name="Google Shape;2482;p111"/>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2483" name="Google Shape;2483;p111"/>
            <p:cNvSpPr txBox="1"/>
            <p:nvPr/>
          </p:nvSpPr>
          <p:spPr>
            <a:xfrm>
              <a:off x="188780" y="-22510"/>
              <a:ext cx="204992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  Optimizations for sorting</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475"/>
                                        </p:tgtEl>
                                      </p:cBhvr>
                                    </p:animEffect>
                                    <p:set>
                                      <p:cBhvr>
                                        <p:cTn dur="1" fill="hold">
                                          <p:stCondLst>
                                            <p:cond delay="500"/>
                                          </p:stCondLst>
                                        </p:cTn>
                                        <p:tgtEl>
                                          <p:spTgt spid="247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476"/>
                                        </p:tgtEl>
                                        <p:attrNameLst>
                                          <p:attrName>style.visibility</p:attrName>
                                        </p:attrNameLst>
                                      </p:cBhvr>
                                      <p:to>
                                        <p:strVal val="visible"/>
                                      </p:to>
                                    </p:set>
                                    <p:animEffect filter="fade" transition="in">
                                      <p:cBhvr>
                                        <p:cTn dur="500"/>
                                        <p:tgtEl>
                                          <p:spTgt spid="2476"/>
                                        </p:tgtEl>
                                      </p:cBhvr>
                                    </p:animEffect>
                                  </p:childTnLst>
                                </p:cTn>
                              </p:par>
                              <p:par>
                                <p:cTn fill="hold" nodeType="withEffect" presetClass="exit" presetID="1" presetSubtype="0">
                                  <p:stCondLst>
                                    <p:cond delay="0"/>
                                  </p:stCondLst>
                                  <p:childTnLst>
                                    <p:set>
                                      <p:cBhvr>
                                        <p:cTn dur="1" fill="hold">
                                          <p:stCondLst>
                                            <p:cond delay="1"/>
                                          </p:stCondLst>
                                        </p:cTn>
                                        <p:tgtEl>
                                          <p:spTgt spid="247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87" name="Shape 2487"/>
        <p:cNvGrpSpPr/>
        <p:nvPr/>
      </p:nvGrpSpPr>
      <p:grpSpPr>
        <a:xfrm>
          <a:off x="0" y="0"/>
          <a:ext cx="0" cy="0"/>
          <a:chOff x="0" y="0"/>
          <a:chExt cx="0" cy="0"/>
        </a:xfrm>
      </p:grpSpPr>
      <p:sp>
        <p:nvSpPr>
          <p:cNvPr id="2488" name="Google Shape;2488;p1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Repacking Example: 3 page buffer</a:t>
            </a:r>
            <a:endParaRPr/>
          </a:p>
        </p:txBody>
      </p:sp>
      <p:sp>
        <p:nvSpPr>
          <p:cNvPr id="2489" name="Google Shape;2489;p1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Next, </a:t>
            </a:r>
            <a:r>
              <a:rPr b="1" i="1" lang="en-US"/>
              <a:t>repack</a:t>
            </a:r>
            <a:r>
              <a:rPr lang="en-US"/>
              <a:t>, then load another page and continue!</a:t>
            </a:r>
            <a:endParaRPr/>
          </a:p>
        </p:txBody>
      </p:sp>
      <p:sp>
        <p:nvSpPr>
          <p:cNvPr id="2490" name="Google Shape;2490;p112"/>
          <p:cNvSpPr/>
          <p:nvPr/>
        </p:nvSpPr>
        <p:spPr>
          <a:xfrm>
            <a:off x="2210655" y="2928938"/>
            <a:ext cx="3457575" cy="3568500"/>
          </a:xfrm>
          <a:prstGeom prst="can">
            <a:avLst>
              <a:gd fmla="val 13065"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2491" name="Google Shape;2491;p112"/>
          <p:cNvSpPr/>
          <p:nvPr/>
        </p:nvSpPr>
        <p:spPr>
          <a:xfrm>
            <a:off x="2308214" y="3513713"/>
            <a:ext cx="3296832" cy="1015318"/>
          </a:xfrm>
          <a:prstGeom prst="roundRect">
            <a:avLst>
              <a:gd fmla="val 16667" name="adj"/>
            </a:avLst>
          </a:prstGeom>
          <a:solidFill>
            <a:srgbClr val="FBE4D4"/>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92" name="Google Shape;2492;p112"/>
          <p:cNvSpPr txBox="1"/>
          <p:nvPr/>
        </p:nvSpPr>
        <p:spPr>
          <a:xfrm>
            <a:off x="3479589" y="4068337"/>
            <a:ext cx="958921"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57,24</a:t>
            </a:r>
            <a:endParaRPr/>
          </a:p>
        </p:txBody>
      </p:sp>
      <p:sp>
        <p:nvSpPr>
          <p:cNvPr id="2493" name="Google Shape;2493;p112"/>
          <p:cNvSpPr txBox="1"/>
          <p:nvPr/>
        </p:nvSpPr>
        <p:spPr>
          <a:xfrm>
            <a:off x="4542963" y="4068337"/>
            <a:ext cx="95413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3,98</a:t>
            </a:r>
            <a:endParaRPr/>
          </a:p>
        </p:txBody>
      </p:sp>
      <p:sp>
        <p:nvSpPr>
          <p:cNvPr id="2494" name="Google Shape;2494;p112"/>
          <p:cNvSpPr txBox="1"/>
          <p:nvPr/>
        </p:nvSpPr>
        <p:spPr>
          <a:xfrm>
            <a:off x="3513542" y="2400008"/>
            <a:ext cx="88617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Disk</a:t>
            </a:r>
            <a:endParaRPr sz="3200">
              <a:solidFill>
                <a:schemeClr val="dk1"/>
              </a:solidFill>
              <a:latin typeface="Calibri"/>
              <a:ea typeface="Calibri"/>
              <a:cs typeface="Calibri"/>
              <a:sym typeface="Calibri"/>
            </a:endParaRPr>
          </a:p>
        </p:txBody>
      </p:sp>
      <p:grpSp>
        <p:nvGrpSpPr>
          <p:cNvPr id="2495" name="Google Shape;2495;p112"/>
          <p:cNvGrpSpPr/>
          <p:nvPr/>
        </p:nvGrpSpPr>
        <p:grpSpPr>
          <a:xfrm>
            <a:off x="7093877" y="2928938"/>
            <a:ext cx="4259923" cy="2456273"/>
            <a:chOff x="7403799" y="1406844"/>
            <a:chExt cx="4259923" cy="2456273"/>
          </a:xfrm>
        </p:grpSpPr>
        <p:grpSp>
          <p:nvGrpSpPr>
            <p:cNvPr id="2496" name="Google Shape;2496;p112"/>
            <p:cNvGrpSpPr/>
            <p:nvPr/>
          </p:nvGrpSpPr>
          <p:grpSpPr>
            <a:xfrm>
              <a:off x="7403799" y="1406844"/>
              <a:ext cx="4259923" cy="2456273"/>
              <a:chOff x="7466322" y="1027906"/>
              <a:chExt cx="4259923" cy="2456273"/>
            </a:xfrm>
          </p:grpSpPr>
          <p:sp>
            <p:nvSpPr>
              <p:cNvPr id="2497" name="Google Shape;2497;p112"/>
              <p:cNvSpPr/>
              <p:nvPr/>
            </p:nvSpPr>
            <p:spPr>
              <a:xfrm>
                <a:off x="7466322" y="1027906"/>
                <a:ext cx="4252691" cy="2440508"/>
              </a:xfrm>
              <a:prstGeom prst="rect">
                <a:avLst/>
              </a:prstGeom>
              <a:solidFill>
                <a:srgbClr val="FFF2CC"/>
              </a:solidFill>
              <a:ln cap="flat" cmpd="sng" w="9525">
                <a:solidFill>
                  <a:srgbClr val="7F7F7F"/>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0">
                  <a:solidFill>
                    <a:schemeClr val="dk1"/>
                  </a:solidFill>
                  <a:latin typeface="Calibri"/>
                  <a:ea typeface="Calibri"/>
                  <a:cs typeface="Calibri"/>
                  <a:sym typeface="Calibri"/>
                </a:endParaRPr>
              </a:p>
            </p:txBody>
          </p:sp>
          <p:sp>
            <p:nvSpPr>
              <p:cNvPr id="2498" name="Google Shape;2498;p112"/>
              <p:cNvSpPr/>
              <p:nvPr/>
            </p:nvSpPr>
            <p:spPr>
              <a:xfrm>
                <a:off x="7769912" y="1969081"/>
                <a:ext cx="3956333" cy="1515098"/>
              </a:xfrm>
              <a:prstGeom prst="rect">
                <a:avLst/>
              </a:prstGeom>
              <a:solidFill>
                <a:srgbClr val="B3C6E7"/>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2499" name="Google Shape;2499;p112"/>
              <p:cNvSpPr txBox="1"/>
              <p:nvPr/>
            </p:nvSpPr>
            <p:spPr>
              <a:xfrm>
                <a:off x="7624243" y="1210562"/>
                <a:ext cx="196842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Main Memory</a:t>
                </a:r>
                <a:endParaRPr/>
              </a:p>
            </p:txBody>
          </p:sp>
          <p:sp>
            <p:nvSpPr>
              <p:cNvPr id="2500" name="Google Shape;2500;p112"/>
              <p:cNvSpPr txBox="1"/>
              <p:nvPr/>
            </p:nvSpPr>
            <p:spPr>
              <a:xfrm>
                <a:off x="7836450" y="1989610"/>
                <a:ext cx="95359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Buffer</a:t>
                </a:r>
                <a:endParaRPr/>
              </a:p>
            </p:txBody>
          </p:sp>
        </p:grpSp>
        <p:sp>
          <p:nvSpPr>
            <p:cNvPr id="2501" name="Google Shape;2501;p112"/>
            <p:cNvSpPr/>
            <p:nvPr/>
          </p:nvSpPr>
          <p:spPr>
            <a:xfrm>
              <a:off x="7843740"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02" name="Google Shape;2502;p112"/>
            <p:cNvSpPr/>
            <p:nvPr/>
          </p:nvSpPr>
          <p:spPr>
            <a:xfrm>
              <a:off x="9055124"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03" name="Google Shape;2503;p112"/>
            <p:cNvSpPr/>
            <p:nvPr/>
          </p:nvSpPr>
          <p:spPr>
            <a:xfrm>
              <a:off x="10266508"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2504" name="Google Shape;2504;p112"/>
          <p:cNvSpPr/>
          <p:nvPr/>
        </p:nvSpPr>
        <p:spPr>
          <a:xfrm>
            <a:off x="5806814" y="4444145"/>
            <a:ext cx="1461477"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05" name="Google Shape;2505;p112"/>
          <p:cNvSpPr/>
          <p:nvPr/>
        </p:nvSpPr>
        <p:spPr>
          <a:xfrm rot="10800000">
            <a:off x="5806813" y="4895300"/>
            <a:ext cx="1461478"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06" name="Google Shape;2506;p112"/>
          <p:cNvSpPr txBox="1"/>
          <p:nvPr/>
        </p:nvSpPr>
        <p:spPr>
          <a:xfrm>
            <a:off x="1808684" y="3883671"/>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1</a:t>
            </a:r>
            <a:endParaRPr/>
          </a:p>
        </p:txBody>
      </p:sp>
      <p:sp>
        <p:nvSpPr>
          <p:cNvPr id="2507" name="Google Shape;2507;p112"/>
          <p:cNvSpPr/>
          <p:nvPr/>
        </p:nvSpPr>
        <p:spPr>
          <a:xfrm>
            <a:off x="2287339" y="4629154"/>
            <a:ext cx="3296832" cy="48465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08" name="Google Shape;2508;p112"/>
          <p:cNvSpPr txBox="1"/>
          <p:nvPr/>
        </p:nvSpPr>
        <p:spPr>
          <a:xfrm>
            <a:off x="1787809" y="4670498"/>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2</a:t>
            </a:r>
            <a:endParaRPr/>
          </a:p>
        </p:txBody>
      </p:sp>
      <p:sp>
        <p:nvSpPr>
          <p:cNvPr id="2509" name="Google Shape;2509;p112"/>
          <p:cNvSpPr txBox="1"/>
          <p:nvPr/>
        </p:nvSpPr>
        <p:spPr>
          <a:xfrm>
            <a:off x="8836013" y="4640802"/>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31,33</a:t>
            </a:r>
            <a:endParaRPr/>
          </a:p>
        </p:txBody>
      </p:sp>
      <p:sp>
        <p:nvSpPr>
          <p:cNvPr id="2510" name="Google Shape;2510;p112"/>
          <p:cNvSpPr txBox="1"/>
          <p:nvPr/>
        </p:nvSpPr>
        <p:spPr>
          <a:xfrm>
            <a:off x="2455258" y="4683545"/>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10,12</a:t>
            </a:r>
            <a:endParaRPr/>
          </a:p>
        </p:txBody>
      </p:sp>
      <p:sp>
        <p:nvSpPr>
          <p:cNvPr id="2511" name="Google Shape;2511;p112"/>
          <p:cNvSpPr txBox="1"/>
          <p:nvPr/>
        </p:nvSpPr>
        <p:spPr>
          <a:xfrm>
            <a:off x="10172354" y="3227972"/>
            <a:ext cx="742511" cy="369332"/>
          </a:xfrm>
          <a:prstGeom prst="rect">
            <a:avLst/>
          </a:prstGeom>
          <a:solidFill>
            <a:srgbClr val="FFF2CC"/>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B050"/>
                </a:solidFill>
                <a:latin typeface="Arial"/>
                <a:ea typeface="Arial"/>
                <a:cs typeface="Arial"/>
                <a:sym typeface="Arial"/>
              </a:rPr>
              <a:t>m=12</a:t>
            </a:r>
            <a:endParaRPr/>
          </a:p>
        </p:txBody>
      </p:sp>
      <p:sp>
        <p:nvSpPr>
          <p:cNvPr id="2512" name="Google Shape;2512;p112"/>
          <p:cNvSpPr txBox="1"/>
          <p:nvPr/>
        </p:nvSpPr>
        <p:spPr>
          <a:xfrm>
            <a:off x="4542988" y="3597304"/>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44,55</a:t>
            </a:r>
            <a:endParaRPr/>
          </a:p>
        </p:txBody>
      </p:sp>
      <p:sp>
        <p:nvSpPr>
          <p:cNvPr id="2513" name="Google Shape;2513;p112"/>
          <p:cNvSpPr txBox="1"/>
          <p:nvPr/>
        </p:nvSpPr>
        <p:spPr>
          <a:xfrm>
            <a:off x="10172354" y="3194773"/>
            <a:ext cx="742511" cy="369332"/>
          </a:xfrm>
          <a:prstGeom prst="rect">
            <a:avLst/>
          </a:prstGeom>
          <a:solidFill>
            <a:srgbClr val="FFF2CC"/>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B050"/>
                </a:solidFill>
                <a:latin typeface="Arial"/>
                <a:ea typeface="Arial"/>
                <a:cs typeface="Arial"/>
                <a:sym typeface="Arial"/>
              </a:rPr>
              <a:t>m=33</a:t>
            </a:r>
            <a:endParaRPr/>
          </a:p>
        </p:txBody>
      </p:sp>
      <p:sp>
        <p:nvSpPr>
          <p:cNvPr id="2514" name="Google Shape;2514;p112"/>
          <p:cNvSpPr txBox="1"/>
          <p:nvPr/>
        </p:nvSpPr>
        <p:spPr>
          <a:xfrm>
            <a:off x="2455258" y="4068337"/>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18,22</a:t>
            </a:r>
            <a:endParaRPr/>
          </a:p>
        </p:txBody>
      </p:sp>
      <p:grpSp>
        <p:nvGrpSpPr>
          <p:cNvPr id="2515" name="Google Shape;2515;p112"/>
          <p:cNvGrpSpPr/>
          <p:nvPr/>
        </p:nvGrpSpPr>
        <p:grpSpPr>
          <a:xfrm>
            <a:off x="0" y="-22510"/>
            <a:ext cx="12192000" cy="307777"/>
            <a:chOff x="0" y="-22510"/>
            <a:chExt cx="12192000" cy="307777"/>
          </a:xfrm>
        </p:grpSpPr>
        <p:sp>
          <p:nvSpPr>
            <p:cNvPr id="2516" name="Google Shape;2516;p112"/>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2517" name="Google Shape;2517;p112"/>
            <p:cNvSpPr txBox="1"/>
            <p:nvPr/>
          </p:nvSpPr>
          <p:spPr>
            <a:xfrm>
              <a:off x="188780" y="-22510"/>
              <a:ext cx="204992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  Optimizations for sorting</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513"/>
                                        </p:tgtEl>
                                        <p:attrNameLst>
                                          <p:attrName>style.visibility</p:attrName>
                                        </p:attrNameLst>
                                      </p:cBhvr>
                                      <p:to>
                                        <p:strVal val="visible"/>
                                      </p:to>
                                    </p:set>
                                    <p:animEffect filter="fade" transition="in">
                                      <p:cBhvr>
                                        <p:cTn dur="500"/>
                                        <p:tgtEl>
                                          <p:spTgt spid="25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21" name="Shape 2521"/>
        <p:cNvGrpSpPr/>
        <p:nvPr/>
      </p:nvGrpSpPr>
      <p:grpSpPr>
        <a:xfrm>
          <a:off x="0" y="0"/>
          <a:ext cx="0" cy="0"/>
          <a:chOff x="0" y="0"/>
          <a:chExt cx="0" cy="0"/>
        </a:xfrm>
      </p:grpSpPr>
      <p:sp>
        <p:nvSpPr>
          <p:cNvPr id="2522" name="Google Shape;2522;p1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Repacking Example: 3 page buffer</a:t>
            </a:r>
            <a:endParaRPr/>
          </a:p>
        </p:txBody>
      </p:sp>
      <p:sp>
        <p:nvSpPr>
          <p:cNvPr id="2523" name="Google Shape;2523;p1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Now, however, </a:t>
            </a:r>
            <a:r>
              <a:rPr b="1" i="1" lang="en-US"/>
              <a:t>the smallest values are less than the largest (last) in the sorted run…</a:t>
            </a:r>
            <a:endParaRPr/>
          </a:p>
        </p:txBody>
      </p:sp>
      <p:sp>
        <p:nvSpPr>
          <p:cNvPr id="2524" name="Google Shape;2524;p113"/>
          <p:cNvSpPr/>
          <p:nvPr/>
        </p:nvSpPr>
        <p:spPr>
          <a:xfrm>
            <a:off x="2210655" y="2928938"/>
            <a:ext cx="3457575" cy="3568500"/>
          </a:xfrm>
          <a:prstGeom prst="can">
            <a:avLst>
              <a:gd fmla="val 13065"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2525" name="Google Shape;2525;p113"/>
          <p:cNvSpPr/>
          <p:nvPr/>
        </p:nvSpPr>
        <p:spPr>
          <a:xfrm>
            <a:off x="2308214" y="3513713"/>
            <a:ext cx="3296832" cy="1015318"/>
          </a:xfrm>
          <a:prstGeom prst="roundRect">
            <a:avLst>
              <a:gd fmla="val 16667" name="adj"/>
            </a:avLst>
          </a:prstGeom>
          <a:solidFill>
            <a:srgbClr val="FBE4D4"/>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26" name="Google Shape;2526;p113"/>
          <p:cNvSpPr txBox="1"/>
          <p:nvPr/>
        </p:nvSpPr>
        <p:spPr>
          <a:xfrm>
            <a:off x="4542963" y="4068337"/>
            <a:ext cx="95413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3,98</a:t>
            </a:r>
            <a:endParaRPr/>
          </a:p>
        </p:txBody>
      </p:sp>
      <p:sp>
        <p:nvSpPr>
          <p:cNvPr id="2527" name="Google Shape;2527;p113"/>
          <p:cNvSpPr txBox="1"/>
          <p:nvPr/>
        </p:nvSpPr>
        <p:spPr>
          <a:xfrm>
            <a:off x="3513542" y="2400008"/>
            <a:ext cx="88617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Disk</a:t>
            </a:r>
            <a:endParaRPr sz="3200">
              <a:solidFill>
                <a:schemeClr val="dk1"/>
              </a:solidFill>
              <a:latin typeface="Calibri"/>
              <a:ea typeface="Calibri"/>
              <a:cs typeface="Calibri"/>
              <a:sym typeface="Calibri"/>
            </a:endParaRPr>
          </a:p>
        </p:txBody>
      </p:sp>
      <p:grpSp>
        <p:nvGrpSpPr>
          <p:cNvPr id="2528" name="Google Shape;2528;p113"/>
          <p:cNvGrpSpPr/>
          <p:nvPr/>
        </p:nvGrpSpPr>
        <p:grpSpPr>
          <a:xfrm>
            <a:off x="7093877" y="2928938"/>
            <a:ext cx="4259923" cy="2456273"/>
            <a:chOff x="7403799" y="1406844"/>
            <a:chExt cx="4259923" cy="2456273"/>
          </a:xfrm>
        </p:grpSpPr>
        <p:grpSp>
          <p:nvGrpSpPr>
            <p:cNvPr id="2529" name="Google Shape;2529;p113"/>
            <p:cNvGrpSpPr/>
            <p:nvPr/>
          </p:nvGrpSpPr>
          <p:grpSpPr>
            <a:xfrm>
              <a:off x="7403799" y="1406844"/>
              <a:ext cx="4259923" cy="2456273"/>
              <a:chOff x="7466322" y="1027906"/>
              <a:chExt cx="4259923" cy="2456273"/>
            </a:xfrm>
          </p:grpSpPr>
          <p:sp>
            <p:nvSpPr>
              <p:cNvPr id="2530" name="Google Shape;2530;p113"/>
              <p:cNvSpPr/>
              <p:nvPr/>
            </p:nvSpPr>
            <p:spPr>
              <a:xfrm>
                <a:off x="7466322" y="1027906"/>
                <a:ext cx="4252691" cy="2440508"/>
              </a:xfrm>
              <a:prstGeom prst="rect">
                <a:avLst/>
              </a:prstGeom>
              <a:solidFill>
                <a:srgbClr val="FFF2CC"/>
              </a:solidFill>
              <a:ln cap="flat" cmpd="sng" w="9525">
                <a:solidFill>
                  <a:srgbClr val="7F7F7F"/>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0">
                  <a:solidFill>
                    <a:schemeClr val="dk1"/>
                  </a:solidFill>
                  <a:latin typeface="Calibri"/>
                  <a:ea typeface="Calibri"/>
                  <a:cs typeface="Calibri"/>
                  <a:sym typeface="Calibri"/>
                </a:endParaRPr>
              </a:p>
            </p:txBody>
          </p:sp>
          <p:sp>
            <p:nvSpPr>
              <p:cNvPr id="2531" name="Google Shape;2531;p113"/>
              <p:cNvSpPr/>
              <p:nvPr/>
            </p:nvSpPr>
            <p:spPr>
              <a:xfrm>
                <a:off x="7769912" y="1969081"/>
                <a:ext cx="3956333" cy="1515098"/>
              </a:xfrm>
              <a:prstGeom prst="rect">
                <a:avLst/>
              </a:prstGeom>
              <a:solidFill>
                <a:srgbClr val="B3C6E7"/>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2532" name="Google Shape;2532;p113"/>
              <p:cNvSpPr txBox="1"/>
              <p:nvPr/>
            </p:nvSpPr>
            <p:spPr>
              <a:xfrm>
                <a:off x="7624243" y="1210562"/>
                <a:ext cx="196842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Main Memory</a:t>
                </a:r>
                <a:endParaRPr/>
              </a:p>
            </p:txBody>
          </p:sp>
          <p:sp>
            <p:nvSpPr>
              <p:cNvPr id="2533" name="Google Shape;2533;p113"/>
              <p:cNvSpPr txBox="1"/>
              <p:nvPr/>
            </p:nvSpPr>
            <p:spPr>
              <a:xfrm>
                <a:off x="7836450" y="1989610"/>
                <a:ext cx="95359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Buffer</a:t>
                </a:r>
                <a:endParaRPr/>
              </a:p>
            </p:txBody>
          </p:sp>
        </p:grpSp>
        <p:sp>
          <p:nvSpPr>
            <p:cNvPr id="2534" name="Google Shape;2534;p113"/>
            <p:cNvSpPr/>
            <p:nvPr/>
          </p:nvSpPr>
          <p:spPr>
            <a:xfrm>
              <a:off x="7843740"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35" name="Google Shape;2535;p113"/>
            <p:cNvSpPr/>
            <p:nvPr/>
          </p:nvSpPr>
          <p:spPr>
            <a:xfrm>
              <a:off x="9055124"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36" name="Google Shape;2536;p113"/>
            <p:cNvSpPr/>
            <p:nvPr/>
          </p:nvSpPr>
          <p:spPr>
            <a:xfrm>
              <a:off x="10266508"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2537" name="Google Shape;2537;p113"/>
          <p:cNvSpPr/>
          <p:nvPr/>
        </p:nvSpPr>
        <p:spPr>
          <a:xfrm>
            <a:off x="5806814" y="4444145"/>
            <a:ext cx="1461477"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38" name="Google Shape;2538;p113"/>
          <p:cNvSpPr/>
          <p:nvPr/>
        </p:nvSpPr>
        <p:spPr>
          <a:xfrm rot="10800000">
            <a:off x="5806813" y="4895300"/>
            <a:ext cx="1461478"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39" name="Google Shape;2539;p113"/>
          <p:cNvSpPr txBox="1"/>
          <p:nvPr/>
        </p:nvSpPr>
        <p:spPr>
          <a:xfrm>
            <a:off x="1808684" y="3883671"/>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1</a:t>
            </a:r>
            <a:endParaRPr/>
          </a:p>
        </p:txBody>
      </p:sp>
      <p:sp>
        <p:nvSpPr>
          <p:cNvPr id="2540" name="Google Shape;2540;p113"/>
          <p:cNvSpPr/>
          <p:nvPr/>
        </p:nvSpPr>
        <p:spPr>
          <a:xfrm>
            <a:off x="2287339" y="4629154"/>
            <a:ext cx="3296832" cy="48465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41" name="Google Shape;2541;p113"/>
          <p:cNvSpPr txBox="1"/>
          <p:nvPr/>
        </p:nvSpPr>
        <p:spPr>
          <a:xfrm>
            <a:off x="1787809" y="4670498"/>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2</a:t>
            </a:r>
            <a:endParaRPr/>
          </a:p>
        </p:txBody>
      </p:sp>
      <p:sp>
        <p:nvSpPr>
          <p:cNvPr id="2542" name="Google Shape;2542;p113"/>
          <p:cNvSpPr txBox="1"/>
          <p:nvPr/>
        </p:nvSpPr>
        <p:spPr>
          <a:xfrm>
            <a:off x="3493454" y="4688609"/>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31,33</a:t>
            </a:r>
            <a:endParaRPr/>
          </a:p>
        </p:txBody>
      </p:sp>
      <p:sp>
        <p:nvSpPr>
          <p:cNvPr id="2543" name="Google Shape;2543;p113"/>
          <p:cNvSpPr txBox="1"/>
          <p:nvPr/>
        </p:nvSpPr>
        <p:spPr>
          <a:xfrm>
            <a:off x="2455258" y="4683545"/>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10,12</a:t>
            </a:r>
            <a:endParaRPr/>
          </a:p>
        </p:txBody>
      </p:sp>
      <p:sp>
        <p:nvSpPr>
          <p:cNvPr id="2544" name="Google Shape;2544;p113"/>
          <p:cNvSpPr txBox="1"/>
          <p:nvPr/>
        </p:nvSpPr>
        <p:spPr>
          <a:xfrm>
            <a:off x="10172354" y="3227972"/>
            <a:ext cx="742511" cy="369332"/>
          </a:xfrm>
          <a:prstGeom prst="rect">
            <a:avLst/>
          </a:prstGeom>
          <a:solidFill>
            <a:srgbClr val="FFF2CC"/>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B050"/>
                </a:solidFill>
                <a:latin typeface="Arial"/>
                <a:ea typeface="Arial"/>
                <a:cs typeface="Arial"/>
                <a:sym typeface="Arial"/>
              </a:rPr>
              <a:t>m=33</a:t>
            </a:r>
            <a:endParaRPr/>
          </a:p>
        </p:txBody>
      </p:sp>
      <p:sp>
        <p:nvSpPr>
          <p:cNvPr id="2545" name="Google Shape;2545;p113"/>
          <p:cNvSpPr txBox="1"/>
          <p:nvPr/>
        </p:nvSpPr>
        <p:spPr>
          <a:xfrm>
            <a:off x="8831783" y="4625888"/>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18,22</a:t>
            </a:r>
            <a:endParaRPr/>
          </a:p>
        </p:txBody>
      </p:sp>
      <p:sp>
        <p:nvSpPr>
          <p:cNvPr id="2546" name="Google Shape;2546;p113"/>
          <p:cNvSpPr txBox="1"/>
          <p:nvPr/>
        </p:nvSpPr>
        <p:spPr>
          <a:xfrm>
            <a:off x="8850684" y="4636852"/>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C00000"/>
                </a:solidFill>
                <a:latin typeface="Arial"/>
                <a:ea typeface="Arial"/>
                <a:cs typeface="Arial"/>
                <a:sym typeface="Arial"/>
              </a:rPr>
              <a:t>18,22</a:t>
            </a:r>
            <a:endParaRPr/>
          </a:p>
        </p:txBody>
      </p:sp>
      <p:sp>
        <p:nvSpPr>
          <p:cNvPr id="2547" name="Google Shape;2547;p113"/>
          <p:cNvSpPr txBox="1"/>
          <p:nvPr/>
        </p:nvSpPr>
        <p:spPr>
          <a:xfrm>
            <a:off x="6777060" y="5641762"/>
            <a:ext cx="4886324" cy="830997"/>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We call these values </a:t>
            </a:r>
            <a:r>
              <a:rPr b="1" i="1" lang="en-US" sz="2400">
                <a:solidFill>
                  <a:srgbClr val="C00000"/>
                </a:solidFill>
                <a:latin typeface="Calibri"/>
                <a:ea typeface="Calibri"/>
                <a:cs typeface="Calibri"/>
                <a:sym typeface="Calibri"/>
              </a:rPr>
              <a:t>frozen</a:t>
            </a:r>
            <a:r>
              <a:rPr lang="en-US" sz="2400">
                <a:solidFill>
                  <a:srgbClr val="C00000"/>
                </a:solidFill>
                <a:latin typeface="Calibri"/>
                <a:ea typeface="Calibri"/>
                <a:cs typeface="Calibri"/>
                <a:sym typeface="Calibri"/>
              </a:rPr>
              <a:t> </a:t>
            </a:r>
            <a:r>
              <a:rPr lang="en-US" sz="2400">
                <a:solidFill>
                  <a:schemeClr val="dk1"/>
                </a:solidFill>
                <a:latin typeface="Calibri"/>
                <a:ea typeface="Calibri"/>
                <a:cs typeface="Calibri"/>
                <a:sym typeface="Calibri"/>
              </a:rPr>
              <a:t>because we can’t add them to this run…</a:t>
            </a:r>
            <a:endParaRPr i="1" sz="2400">
              <a:solidFill>
                <a:schemeClr val="dk1"/>
              </a:solidFill>
              <a:latin typeface="Calibri"/>
              <a:ea typeface="Calibri"/>
              <a:cs typeface="Calibri"/>
              <a:sym typeface="Calibri"/>
            </a:endParaRPr>
          </a:p>
        </p:txBody>
      </p:sp>
      <p:sp>
        <p:nvSpPr>
          <p:cNvPr id="2548" name="Google Shape;2548;p113"/>
          <p:cNvSpPr txBox="1"/>
          <p:nvPr/>
        </p:nvSpPr>
        <p:spPr>
          <a:xfrm>
            <a:off x="7620399" y="4613676"/>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44,55</a:t>
            </a:r>
            <a:endParaRPr/>
          </a:p>
        </p:txBody>
      </p:sp>
      <p:sp>
        <p:nvSpPr>
          <p:cNvPr id="2549" name="Google Shape;2549;p113"/>
          <p:cNvSpPr txBox="1"/>
          <p:nvPr/>
        </p:nvSpPr>
        <p:spPr>
          <a:xfrm>
            <a:off x="3479589" y="4068337"/>
            <a:ext cx="958921"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57,24</a:t>
            </a:r>
            <a:endParaRPr/>
          </a:p>
        </p:txBody>
      </p:sp>
      <p:grpSp>
        <p:nvGrpSpPr>
          <p:cNvPr id="2550" name="Google Shape;2550;p113"/>
          <p:cNvGrpSpPr/>
          <p:nvPr/>
        </p:nvGrpSpPr>
        <p:grpSpPr>
          <a:xfrm>
            <a:off x="0" y="-22510"/>
            <a:ext cx="12192000" cy="307777"/>
            <a:chOff x="0" y="-22510"/>
            <a:chExt cx="12192000" cy="307777"/>
          </a:xfrm>
        </p:grpSpPr>
        <p:sp>
          <p:nvSpPr>
            <p:cNvPr id="2551" name="Google Shape;2551;p113"/>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2552" name="Google Shape;2552;p113"/>
            <p:cNvSpPr txBox="1"/>
            <p:nvPr/>
          </p:nvSpPr>
          <p:spPr>
            <a:xfrm>
              <a:off x="188780" y="-22510"/>
              <a:ext cx="204992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  Optimizations for sorting</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6"/>
                                        </p:tgtEl>
                                        <p:attrNameLst>
                                          <p:attrName>style.visibility</p:attrName>
                                        </p:attrNameLst>
                                      </p:cBhvr>
                                      <p:to>
                                        <p:strVal val="visible"/>
                                      </p:to>
                                    </p:set>
                                    <p:animEffect filter="fade" transition="in">
                                      <p:cBhvr>
                                        <p:cTn dur="500"/>
                                        <p:tgtEl>
                                          <p:spTgt spid="2546"/>
                                        </p:tgtEl>
                                      </p:cBhvr>
                                    </p:animEffect>
                                  </p:childTnLst>
                                </p:cTn>
                              </p:par>
                              <p:par>
                                <p:cTn fill="hold" nodeType="withEffect" presetClass="entr" presetID="1" presetSubtype="0">
                                  <p:stCondLst>
                                    <p:cond delay="0"/>
                                  </p:stCondLst>
                                  <p:childTnLst>
                                    <p:set>
                                      <p:cBhvr>
                                        <p:cTn dur="1" fill="hold">
                                          <p:stCondLst>
                                            <p:cond delay="0"/>
                                          </p:stCondLst>
                                        </p:cTn>
                                        <p:tgtEl>
                                          <p:spTgt spid="25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56" name="Shape 2556"/>
        <p:cNvGrpSpPr/>
        <p:nvPr/>
      </p:nvGrpSpPr>
      <p:grpSpPr>
        <a:xfrm>
          <a:off x="0" y="0"/>
          <a:ext cx="0" cy="0"/>
          <a:chOff x="0" y="0"/>
          <a:chExt cx="0" cy="0"/>
        </a:xfrm>
      </p:grpSpPr>
      <p:sp>
        <p:nvSpPr>
          <p:cNvPr id="2557" name="Google Shape;2557;p1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Repacking Example: 3 page buffer</a:t>
            </a:r>
            <a:endParaRPr/>
          </a:p>
        </p:txBody>
      </p:sp>
      <p:sp>
        <p:nvSpPr>
          <p:cNvPr id="2558" name="Google Shape;2558;p1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Now, however, </a:t>
            </a:r>
            <a:r>
              <a:rPr b="1" i="1" lang="en-US"/>
              <a:t>the smallest values are less than the largest (last) in the sorted run…</a:t>
            </a:r>
            <a:endParaRPr/>
          </a:p>
        </p:txBody>
      </p:sp>
      <p:sp>
        <p:nvSpPr>
          <p:cNvPr id="2559" name="Google Shape;2559;p114"/>
          <p:cNvSpPr/>
          <p:nvPr/>
        </p:nvSpPr>
        <p:spPr>
          <a:xfrm>
            <a:off x="2210655" y="2928938"/>
            <a:ext cx="3457575" cy="3568500"/>
          </a:xfrm>
          <a:prstGeom prst="can">
            <a:avLst>
              <a:gd fmla="val 13065"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2560" name="Google Shape;2560;p114"/>
          <p:cNvSpPr/>
          <p:nvPr/>
        </p:nvSpPr>
        <p:spPr>
          <a:xfrm>
            <a:off x="2308214" y="3513713"/>
            <a:ext cx="3296832" cy="1015318"/>
          </a:xfrm>
          <a:prstGeom prst="roundRect">
            <a:avLst>
              <a:gd fmla="val 16667" name="adj"/>
            </a:avLst>
          </a:prstGeom>
          <a:solidFill>
            <a:srgbClr val="FBE4D4"/>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61" name="Google Shape;2561;p114"/>
          <p:cNvSpPr txBox="1"/>
          <p:nvPr/>
        </p:nvSpPr>
        <p:spPr>
          <a:xfrm>
            <a:off x="4542963" y="4068337"/>
            <a:ext cx="95413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3,98</a:t>
            </a:r>
            <a:endParaRPr/>
          </a:p>
        </p:txBody>
      </p:sp>
      <p:sp>
        <p:nvSpPr>
          <p:cNvPr id="2562" name="Google Shape;2562;p114"/>
          <p:cNvSpPr txBox="1"/>
          <p:nvPr/>
        </p:nvSpPr>
        <p:spPr>
          <a:xfrm>
            <a:off x="3513542" y="2400008"/>
            <a:ext cx="88617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Disk</a:t>
            </a:r>
            <a:endParaRPr sz="3200">
              <a:solidFill>
                <a:schemeClr val="dk1"/>
              </a:solidFill>
              <a:latin typeface="Calibri"/>
              <a:ea typeface="Calibri"/>
              <a:cs typeface="Calibri"/>
              <a:sym typeface="Calibri"/>
            </a:endParaRPr>
          </a:p>
        </p:txBody>
      </p:sp>
      <p:grpSp>
        <p:nvGrpSpPr>
          <p:cNvPr id="2563" name="Google Shape;2563;p114"/>
          <p:cNvGrpSpPr/>
          <p:nvPr/>
        </p:nvGrpSpPr>
        <p:grpSpPr>
          <a:xfrm>
            <a:off x="7093877" y="2928938"/>
            <a:ext cx="4259923" cy="2456273"/>
            <a:chOff x="7403799" y="1406844"/>
            <a:chExt cx="4259923" cy="2456273"/>
          </a:xfrm>
        </p:grpSpPr>
        <p:grpSp>
          <p:nvGrpSpPr>
            <p:cNvPr id="2564" name="Google Shape;2564;p114"/>
            <p:cNvGrpSpPr/>
            <p:nvPr/>
          </p:nvGrpSpPr>
          <p:grpSpPr>
            <a:xfrm>
              <a:off x="7403799" y="1406844"/>
              <a:ext cx="4259923" cy="2456273"/>
              <a:chOff x="7466322" y="1027906"/>
              <a:chExt cx="4259923" cy="2456273"/>
            </a:xfrm>
          </p:grpSpPr>
          <p:sp>
            <p:nvSpPr>
              <p:cNvPr id="2565" name="Google Shape;2565;p114"/>
              <p:cNvSpPr/>
              <p:nvPr/>
            </p:nvSpPr>
            <p:spPr>
              <a:xfrm>
                <a:off x="7466322" y="1027906"/>
                <a:ext cx="4252691" cy="2440508"/>
              </a:xfrm>
              <a:prstGeom prst="rect">
                <a:avLst/>
              </a:prstGeom>
              <a:solidFill>
                <a:srgbClr val="FFF2CC"/>
              </a:solidFill>
              <a:ln cap="flat" cmpd="sng" w="9525">
                <a:solidFill>
                  <a:srgbClr val="7F7F7F"/>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0">
                  <a:solidFill>
                    <a:schemeClr val="dk1"/>
                  </a:solidFill>
                  <a:latin typeface="Calibri"/>
                  <a:ea typeface="Calibri"/>
                  <a:cs typeface="Calibri"/>
                  <a:sym typeface="Calibri"/>
                </a:endParaRPr>
              </a:p>
            </p:txBody>
          </p:sp>
          <p:sp>
            <p:nvSpPr>
              <p:cNvPr id="2566" name="Google Shape;2566;p114"/>
              <p:cNvSpPr/>
              <p:nvPr/>
            </p:nvSpPr>
            <p:spPr>
              <a:xfrm>
                <a:off x="7769912" y="1969081"/>
                <a:ext cx="3956333" cy="1515098"/>
              </a:xfrm>
              <a:prstGeom prst="rect">
                <a:avLst/>
              </a:prstGeom>
              <a:solidFill>
                <a:srgbClr val="B3C6E7"/>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2567" name="Google Shape;2567;p114"/>
              <p:cNvSpPr txBox="1"/>
              <p:nvPr/>
            </p:nvSpPr>
            <p:spPr>
              <a:xfrm>
                <a:off x="7624243" y="1210562"/>
                <a:ext cx="196842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Main Memory</a:t>
                </a:r>
                <a:endParaRPr/>
              </a:p>
            </p:txBody>
          </p:sp>
          <p:sp>
            <p:nvSpPr>
              <p:cNvPr id="2568" name="Google Shape;2568;p114"/>
              <p:cNvSpPr txBox="1"/>
              <p:nvPr/>
            </p:nvSpPr>
            <p:spPr>
              <a:xfrm>
                <a:off x="7836450" y="1989610"/>
                <a:ext cx="95359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Buffer</a:t>
                </a:r>
                <a:endParaRPr/>
              </a:p>
            </p:txBody>
          </p:sp>
        </p:grpSp>
        <p:sp>
          <p:nvSpPr>
            <p:cNvPr id="2569" name="Google Shape;2569;p114"/>
            <p:cNvSpPr/>
            <p:nvPr/>
          </p:nvSpPr>
          <p:spPr>
            <a:xfrm>
              <a:off x="7843740"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70" name="Google Shape;2570;p114"/>
            <p:cNvSpPr/>
            <p:nvPr/>
          </p:nvSpPr>
          <p:spPr>
            <a:xfrm>
              <a:off x="9055124"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71" name="Google Shape;2571;p114"/>
            <p:cNvSpPr/>
            <p:nvPr/>
          </p:nvSpPr>
          <p:spPr>
            <a:xfrm>
              <a:off x="10266508"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2572" name="Google Shape;2572;p114"/>
          <p:cNvSpPr/>
          <p:nvPr/>
        </p:nvSpPr>
        <p:spPr>
          <a:xfrm>
            <a:off x="5806814" y="4444145"/>
            <a:ext cx="1461477"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73" name="Google Shape;2573;p114"/>
          <p:cNvSpPr/>
          <p:nvPr/>
        </p:nvSpPr>
        <p:spPr>
          <a:xfrm rot="10800000">
            <a:off x="5806813" y="4895300"/>
            <a:ext cx="1461478"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74" name="Google Shape;2574;p114"/>
          <p:cNvSpPr txBox="1"/>
          <p:nvPr/>
        </p:nvSpPr>
        <p:spPr>
          <a:xfrm>
            <a:off x="1808684" y="3883671"/>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1</a:t>
            </a:r>
            <a:endParaRPr/>
          </a:p>
        </p:txBody>
      </p:sp>
      <p:sp>
        <p:nvSpPr>
          <p:cNvPr id="2575" name="Google Shape;2575;p114"/>
          <p:cNvSpPr/>
          <p:nvPr/>
        </p:nvSpPr>
        <p:spPr>
          <a:xfrm>
            <a:off x="2287339" y="4629154"/>
            <a:ext cx="3296832" cy="484652"/>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76" name="Google Shape;2576;p114"/>
          <p:cNvSpPr txBox="1"/>
          <p:nvPr/>
        </p:nvSpPr>
        <p:spPr>
          <a:xfrm>
            <a:off x="1787809" y="4670498"/>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2</a:t>
            </a:r>
            <a:endParaRPr/>
          </a:p>
        </p:txBody>
      </p:sp>
      <p:sp>
        <p:nvSpPr>
          <p:cNvPr id="2577" name="Google Shape;2577;p114"/>
          <p:cNvSpPr txBox="1"/>
          <p:nvPr/>
        </p:nvSpPr>
        <p:spPr>
          <a:xfrm>
            <a:off x="3493454" y="4688609"/>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31,33</a:t>
            </a:r>
            <a:endParaRPr/>
          </a:p>
        </p:txBody>
      </p:sp>
      <p:sp>
        <p:nvSpPr>
          <p:cNvPr id="2578" name="Google Shape;2578;p114"/>
          <p:cNvSpPr txBox="1"/>
          <p:nvPr/>
        </p:nvSpPr>
        <p:spPr>
          <a:xfrm>
            <a:off x="2455258" y="4683545"/>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10,12</a:t>
            </a:r>
            <a:endParaRPr/>
          </a:p>
        </p:txBody>
      </p:sp>
      <p:sp>
        <p:nvSpPr>
          <p:cNvPr id="2579" name="Google Shape;2579;p114"/>
          <p:cNvSpPr txBox="1"/>
          <p:nvPr/>
        </p:nvSpPr>
        <p:spPr>
          <a:xfrm>
            <a:off x="10172354" y="3227972"/>
            <a:ext cx="742511" cy="369332"/>
          </a:xfrm>
          <a:prstGeom prst="rect">
            <a:avLst/>
          </a:prstGeom>
          <a:solidFill>
            <a:srgbClr val="FFF2CC"/>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B050"/>
                </a:solidFill>
                <a:latin typeface="Arial"/>
                <a:ea typeface="Arial"/>
                <a:cs typeface="Arial"/>
                <a:sym typeface="Arial"/>
              </a:rPr>
              <a:t>m=55</a:t>
            </a:r>
            <a:endParaRPr/>
          </a:p>
        </p:txBody>
      </p:sp>
      <p:sp>
        <p:nvSpPr>
          <p:cNvPr id="2580" name="Google Shape;2580;p114"/>
          <p:cNvSpPr txBox="1"/>
          <p:nvPr/>
        </p:nvSpPr>
        <p:spPr>
          <a:xfrm>
            <a:off x="8831783" y="4625888"/>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18,22</a:t>
            </a:r>
            <a:endParaRPr/>
          </a:p>
        </p:txBody>
      </p:sp>
      <p:sp>
        <p:nvSpPr>
          <p:cNvPr id="2581" name="Google Shape;2581;p114"/>
          <p:cNvSpPr txBox="1"/>
          <p:nvPr/>
        </p:nvSpPr>
        <p:spPr>
          <a:xfrm>
            <a:off x="8850684" y="4636852"/>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C00000"/>
                </a:solidFill>
                <a:latin typeface="Arial"/>
                <a:ea typeface="Arial"/>
                <a:cs typeface="Arial"/>
                <a:sym typeface="Arial"/>
              </a:rPr>
              <a:t>18,22</a:t>
            </a:r>
            <a:endParaRPr/>
          </a:p>
        </p:txBody>
      </p:sp>
      <p:sp>
        <p:nvSpPr>
          <p:cNvPr id="2582" name="Google Shape;2582;p114"/>
          <p:cNvSpPr txBox="1"/>
          <p:nvPr/>
        </p:nvSpPr>
        <p:spPr>
          <a:xfrm>
            <a:off x="6777060" y="5641762"/>
            <a:ext cx="4886324" cy="830997"/>
          </a:xfrm>
          <a:prstGeom prst="rect">
            <a:avLst/>
          </a:prstGeom>
          <a:solidFill>
            <a:srgbClr val="FFF2CC"/>
          </a:solidFill>
          <a:ln>
            <a:noFill/>
          </a:ln>
          <a:effectLst>
            <a:outerShdw blurRad="50800" rotWithShape="0" algn="tl" dir="2700000" dist="127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We call these values </a:t>
            </a:r>
            <a:r>
              <a:rPr b="1" i="1" lang="en-US" sz="2400">
                <a:solidFill>
                  <a:srgbClr val="C00000"/>
                </a:solidFill>
                <a:latin typeface="Calibri"/>
                <a:ea typeface="Calibri"/>
                <a:cs typeface="Calibri"/>
                <a:sym typeface="Calibri"/>
              </a:rPr>
              <a:t>frozen</a:t>
            </a:r>
            <a:r>
              <a:rPr lang="en-US" sz="2400">
                <a:solidFill>
                  <a:srgbClr val="C00000"/>
                </a:solidFill>
                <a:latin typeface="Calibri"/>
                <a:ea typeface="Calibri"/>
                <a:cs typeface="Calibri"/>
                <a:sym typeface="Calibri"/>
              </a:rPr>
              <a:t> </a:t>
            </a:r>
            <a:r>
              <a:rPr lang="en-US" sz="2400">
                <a:solidFill>
                  <a:schemeClr val="dk1"/>
                </a:solidFill>
                <a:latin typeface="Calibri"/>
                <a:ea typeface="Calibri"/>
                <a:cs typeface="Calibri"/>
                <a:sym typeface="Calibri"/>
              </a:rPr>
              <a:t>because we can’t add them to this run…</a:t>
            </a:r>
            <a:endParaRPr i="1" sz="2400">
              <a:solidFill>
                <a:schemeClr val="dk1"/>
              </a:solidFill>
              <a:latin typeface="Calibri"/>
              <a:ea typeface="Calibri"/>
              <a:cs typeface="Calibri"/>
              <a:sym typeface="Calibri"/>
            </a:endParaRPr>
          </a:p>
        </p:txBody>
      </p:sp>
      <p:sp>
        <p:nvSpPr>
          <p:cNvPr id="2583" name="Google Shape;2583;p114"/>
          <p:cNvSpPr txBox="1"/>
          <p:nvPr/>
        </p:nvSpPr>
        <p:spPr>
          <a:xfrm>
            <a:off x="4542975" y="4683545"/>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44,55</a:t>
            </a:r>
            <a:endParaRPr/>
          </a:p>
        </p:txBody>
      </p:sp>
      <p:sp>
        <p:nvSpPr>
          <p:cNvPr id="2584" name="Google Shape;2584;p114"/>
          <p:cNvSpPr txBox="1"/>
          <p:nvPr/>
        </p:nvSpPr>
        <p:spPr>
          <a:xfrm>
            <a:off x="3479589" y="4068337"/>
            <a:ext cx="958921"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57,24</a:t>
            </a:r>
            <a:endParaRPr/>
          </a:p>
        </p:txBody>
      </p:sp>
      <p:grpSp>
        <p:nvGrpSpPr>
          <p:cNvPr id="2585" name="Google Shape;2585;p114"/>
          <p:cNvGrpSpPr/>
          <p:nvPr/>
        </p:nvGrpSpPr>
        <p:grpSpPr>
          <a:xfrm>
            <a:off x="0" y="-22510"/>
            <a:ext cx="12192000" cy="307777"/>
            <a:chOff x="0" y="-22510"/>
            <a:chExt cx="12192000" cy="307777"/>
          </a:xfrm>
        </p:grpSpPr>
        <p:sp>
          <p:nvSpPr>
            <p:cNvPr id="2586" name="Google Shape;2586;p114"/>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2587" name="Google Shape;2587;p114"/>
            <p:cNvSpPr txBox="1"/>
            <p:nvPr/>
          </p:nvSpPr>
          <p:spPr>
            <a:xfrm>
              <a:off x="188780" y="-22510"/>
              <a:ext cx="204992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  Optimizations for sorting</a:t>
              </a:r>
              <a:endParaRPr/>
            </a:p>
          </p:txBody>
        </p:sp>
      </p:gr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91" name="Shape 2591"/>
        <p:cNvGrpSpPr/>
        <p:nvPr/>
      </p:nvGrpSpPr>
      <p:grpSpPr>
        <a:xfrm>
          <a:off x="0" y="0"/>
          <a:ext cx="0" cy="0"/>
          <a:chOff x="0" y="0"/>
          <a:chExt cx="0" cy="0"/>
        </a:xfrm>
      </p:grpSpPr>
      <p:sp>
        <p:nvSpPr>
          <p:cNvPr id="2592" name="Google Shape;2592;p1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Repacking Example: 3 page buffer</a:t>
            </a:r>
            <a:endParaRPr/>
          </a:p>
        </p:txBody>
      </p:sp>
      <p:sp>
        <p:nvSpPr>
          <p:cNvPr id="2593" name="Google Shape;2593;p1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Now, however, </a:t>
            </a:r>
            <a:r>
              <a:rPr b="1" i="1" lang="en-US"/>
              <a:t>the smallest values are less than the largest (last) in the sorted run…</a:t>
            </a:r>
            <a:endParaRPr/>
          </a:p>
        </p:txBody>
      </p:sp>
      <p:sp>
        <p:nvSpPr>
          <p:cNvPr id="2594" name="Google Shape;2594;p115"/>
          <p:cNvSpPr/>
          <p:nvPr/>
        </p:nvSpPr>
        <p:spPr>
          <a:xfrm>
            <a:off x="2210655" y="2928938"/>
            <a:ext cx="3457575" cy="3568500"/>
          </a:xfrm>
          <a:prstGeom prst="can">
            <a:avLst>
              <a:gd fmla="val 13065"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2595" name="Google Shape;2595;p115"/>
          <p:cNvSpPr/>
          <p:nvPr/>
        </p:nvSpPr>
        <p:spPr>
          <a:xfrm>
            <a:off x="2308214" y="3513713"/>
            <a:ext cx="3296832" cy="1015318"/>
          </a:xfrm>
          <a:prstGeom prst="roundRect">
            <a:avLst>
              <a:gd fmla="val 16667" name="adj"/>
            </a:avLst>
          </a:prstGeom>
          <a:solidFill>
            <a:srgbClr val="FBE4D4"/>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96" name="Google Shape;2596;p115"/>
          <p:cNvSpPr txBox="1"/>
          <p:nvPr/>
        </p:nvSpPr>
        <p:spPr>
          <a:xfrm>
            <a:off x="3513542" y="2400008"/>
            <a:ext cx="88617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Disk</a:t>
            </a:r>
            <a:endParaRPr sz="3200">
              <a:solidFill>
                <a:schemeClr val="dk1"/>
              </a:solidFill>
              <a:latin typeface="Calibri"/>
              <a:ea typeface="Calibri"/>
              <a:cs typeface="Calibri"/>
              <a:sym typeface="Calibri"/>
            </a:endParaRPr>
          </a:p>
        </p:txBody>
      </p:sp>
      <p:grpSp>
        <p:nvGrpSpPr>
          <p:cNvPr id="2597" name="Google Shape;2597;p115"/>
          <p:cNvGrpSpPr/>
          <p:nvPr/>
        </p:nvGrpSpPr>
        <p:grpSpPr>
          <a:xfrm>
            <a:off x="7093877" y="2928938"/>
            <a:ext cx="4259923" cy="2456273"/>
            <a:chOff x="7403799" y="1406844"/>
            <a:chExt cx="4259923" cy="2456273"/>
          </a:xfrm>
        </p:grpSpPr>
        <p:grpSp>
          <p:nvGrpSpPr>
            <p:cNvPr id="2598" name="Google Shape;2598;p115"/>
            <p:cNvGrpSpPr/>
            <p:nvPr/>
          </p:nvGrpSpPr>
          <p:grpSpPr>
            <a:xfrm>
              <a:off x="7403799" y="1406844"/>
              <a:ext cx="4259923" cy="2456273"/>
              <a:chOff x="7466322" y="1027906"/>
              <a:chExt cx="4259923" cy="2456273"/>
            </a:xfrm>
          </p:grpSpPr>
          <p:sp>
            <p:nvSpPr>
              <p:cNvPr id="2599" name="Google Shape;2599;p115"/>
              <p:cNvSpPr/>
              <p:nvPr/>
            </p:nvSpPr>
            <p:spPr>
              <a:xfrm>
                <a:off x="7466322" y="1027906"/>
                <a:ext cx="4252691" cy="2440508"/>
              </a:xfrm>
              <a:prstGeom prst="rect">
                <a:avLst/>
              </a:prstGeom>
              <a:solidFill>
                <a:srgbClr val="FFF2CC"/>
              </a:solidFill>
              <a:ln cap="flat" cmpd="sng" w="9525">
                <a:solidFill>
                  <a:srgbClr val="7F7F7F"/>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0">
                  <a:solidFill>
                    <a:schemeClr val="dk1"/>
                  </a:solidFill>
                  <a:latin typeface="Calibri"/>
                  <a:ea typeface="Calibri"/>
                  <a:cs typeface="Calibri"/>
                  <a:sym typeface="Calibri"/>
                </a:endParaRPr>
              </a:p>
            </p:txBody>
          </p:sp>
          <p:sp>
            <p:nvSpPr>
              <p:cNvPr id="2600" name="Google Shape;2600;p115"/>
              <p:cNvSpPr/>
              <p:nvPr/>
            </p:nvSpPr>
            <p:spPr>
              <a:xfrm>
                <a:off x="7769912" y="1969081"/>
                <a:ext cx="3956333" cy="1515098"/>
              </a:xfrm>
              <a:prstGeom prst="rect">
                <a:avLst/>
              </a:prstGeom>
              <a:solidFill>
                <a:srgbClr val="B3C6E7"/>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2601" name="Google Shape;2601;p115"/>
              <p:cNvSpPr txBox="1"/>
              <p:nvPr/>
            </p:nvSpPr>
            <p:spPr>
              <a:xfrm>
                <a:off x="7624243" y="1210562"/>
                <a:ext cx="196842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Main Memory</a:t>
                </a:r>
                <a:endParaRPr/>
              </a:p>
            </p:txBody>
          </p:sp>
          <p:sp>
            <p:nvSpPr>
              <p:cNvPr id="2602" name="Google Shape;2602;p115"/>
              <p:cNvSpPr txBox="1"/>
              <p:nvPr/>
            </p:nvSpPr>
            <p:spPr>
              <a:xfrm>
                <a:off x="7836450" y="1989610"/>
                <a:ext cx="95359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Buffer</a:t>
                </a:r>
                <a:endParaRPr/>
              </a:p>
            </p:txBody>
          </p:sp>
        </p:grpSp>
        <p:sp>
          <p:nvSpPr>
            <p:cNvPr id="2603" name="Google Shape;2603;p115"/>
            <p:cNvSpPr/>
            <p:nvPr/>
          </p:nvSpPr>
          <p:spPr>
            <a:xfrm>
              <a:off x="7843740"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04" name="Google Shape;2604;p115"/>
            <p:cNvSpPr/>
            <p:nvPr/>
          </p:nvSpPr>
          <p:spPr>
            <a:xfrm>
              <a:off x="9055124"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05" name="Google Shape;2605;p115"/>
            <p:cNvSpPr/>
            <p:nvPr/>
          </p:nvSpPr>
          <p:spPr>
            <a:xfrm>
              <a:off x="10266508"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2606" name="Google Shape;2606;p115"/>
          <p:cNvSpPr/>
          <p:nvPr/>
        </p:nvSpPr>
        <p:spPr>
          <a:xfrm>
            <a:off x="5806814" y="4444145"/>
            <a:ext cx="1461477"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07" name="Google Shape;2607;p115"/>
          <p:cNvSpPr/>
          <p:nvPr/>
        </p:nvSpPr>
        <p:spPr>
          <a:xfrm rot="10800000">
            <a:off x="5806813" y="4895300"/>
            <a:ext cx="1461478"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08" name="Google Shape;2608;p115"/>
          <p:cNvSpPr txBox="1"/>
          <p:nvPr/>
        </p:nvSpPr>
        <p:spPr>
          <a:xfrm>
            <a:off x="1808684" y="3883671"/>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1</a:t>
            </a:r>
            <a:endParaRPr/>
          </a:p>
        </p:txBody>
      </p:sp>
      <p:sp>
        <p:nvSpPr>
          <p:cNvPr id="2609" name="Google Shape;2609;p115"/>
          <p:cNvSpPr/>
          <p:nvPr/>
        </p:nvSpPr>
        <p:spPr>
          <a:xfrm>
            <a:off x="2287339" y="4629154"/>
            <a:ext cx="3296832" cy="1003190"/>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10" name="Google Shape;2610;p115"/>
          <p:cNvSpPr txBox="1"/>
          <p:nvPr/>
        </p:nvSpPr>
        <p:spPr>
          <a:xfrm>
            <a:off x="1787809" y="4670498"/>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2</a:t>
            </a:r>
            <a:endParaRPr/>
          </a:p>
        </p:txBody>
      </p:sp>
      <p:sp>
        <p:nvSpPr>
          <p:cNvPr id="2611" name="Google Shape;2611;p115"/>
          <p:cNvSpPr txBox="1"/>
          <p:nvPr/>
        </p:nvSpPr>
        <p:spPr>
          <a:xfrm>
            <a:off x="3493454" y="4688609"/>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31,33</a:t>
            </a:r>
            <a:endParaRPr/>
          </a:p>
        </p:txBody>
      </p:sp>
      <p:sp>
        <p:nvSpPr>
          <p:cNvPr id="2612" name="Google Shape;2612;p115"/>
          <p:cNvSpPr txBox="1"/>
          <p:nvPr/>
        </p:nvSpPr>
        <p:spPr>
          <a:xfrm>
            <a:off x="2455258" y="4683545"/>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10,12</a:t>
            </a:r>
            <a:endParaRPr/>
          </a:p>
        </p:txBody>
      </p:sp>
      <p:sp>
        <p:nvSpPr>
          <p:cNvPr id="2613" name="Google Shape;2613;p115"/>
          <p:cNvSpPr txBox="1"/>
          <p:nvPr/>
        </p:nvSpPr>
        <p:spPr>
          <a:xfrm>
            <a:off x="10172354" y="3227972"/>
            <a:ext cx="742511" cy="369332"/>
          </a:xfrm>
          <a:prstGeom prst="rect">
            <a:avLst/>
          </a:prstGeom>
          <a:solidFill>
            <a:srgbClr val="FFF2CC"/>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B050"/>
                </a:solidFill>
                <a:latin typeface="Arial"/>
                <a:ea typeface="Arial"/>
                <a:cs typeface="Arial"/>
                <a:sym typeface="Arial"/>
              </a:rPr>
              <a:t>m=55</a:t>
            </a:r>
            <a:endParaRPr/>
          </a:p>
        </p:txBody>
      </p:sp>
      <p:sp>
        <p:nvSpPr>
          <p:cNvPr id="2614" name="Google Shape;2614;p115"/>
          <p:cNvSpPr txBox="1"/>
          <p:nvPr/>
        </p:nvSpPr>
        <p:spPr>
          <a:xfrm>
            <a:off x="4553018" y="4683545"/>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44,55</a:t>
            </a:r>
            <a:endParaRPr/>
          </a:p>
        </p:txBody>
      </p:sp>
      <p:sp>
        <p:nvSpPr>
          <p:cNvPr id="2615" name="Google Shape;2615;p115"/>
          <p:cNvSpPr txBox="1"/>
          <p:nvPr/>
        </p:nvSpPr>
        <p:spPr>
          <a:xfrm>
            <a:off x="7605785" y="4625116"/>
            <a:ext cx="958921"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57,</a:t>
            </a:r>
            <a:r>
              <a:rPr lang="en-US" sz="2000">
                <a:solidFill>
                  <a:srgbClr val="C00000"/>
                </a:solidFill>
                <a:latin typeface="Arial"/>
                <a:ea typeface="Arial"/>
                <a:cs typeface="Arial"/>
                <a:sym typeface="Arial"/>
              </a:rPr>
              <a:t>24</a:t>
            </a:r>
            <a:endParaRPr/>
          </a:p>
        </p:txBody>
      </p:sp>
      <p:sp>
        <p:nvSpPr>
          <p:cNvPr id="2616" name="Google Shape;2616;p115"/>
          <p:cNvSpPr txBox="1"/>
          <p:nvPr/>
        </p:nvSpPr>
        <p:spPr>
          <a:xfrm>
            <a:off x="8850684" y="4636852"/>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C00000"/>
                </a:solidFill>
                <a:latin typeface="Arial"/>
                <a:ea typeface="Arial"/>
                <a:cs typeface="Arial"/>
                <a:sym typeface="Arial"/>
              </a:rPr>
              <a:t>18,22</a:t>
            </a:r>
            <a:endParaRPr/>
          </a:p>
        </p:txBody>
      </p:sp>
      <p:sp>
        <p:nvSpPr>
          <p:cNvPr id="2617" name="Google Shape;2617;p115"/>
          <p:cNvSpPr txBox="1"/>
          <p:nvPr/>
        </p:nvSpPr>
        <p:spPr>
          <a:xfrm>
            <a:off x="4542963" y="4068337"/>
            <a:ext cx="95413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3,98</a:t>
            </a:r>
            <a:endParaRPr/>
          </a:p>
        </p:txBody>
      </p:sp>
      <p:grpSp>
        <p:nvGrpSpPr>
          <p:cNvPr id="2618" name="Google Shape;2618;p115"/>
          <p:cNvGrpSpPr/>
          <p:nvPr/>
        </p:nvGrpSpPr>
        <p:grpSpPr>
          <a:xfrm>
            <a:off x="0" y="-22510"/>
            <a:ext cx="12192000" cy="307777"/>
            <a:chOff x="0" y="-22510"/>
            <a:chExt cx="12192000" cy="307777"/>
          </a:xfrm>
        </p:grpSpPr>
        <p:sp>
          <p:nvSpPr>
            <p:cNvPr id="2619" name="Google Shape;2619;p115"/>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2620" name="Google Shape;2620;p115"/>
            <p:cNvSpPr txBox="1"/>
            <p:nvPr/>
          </p:nvSpPr>
          <p:spPr>
            <a:xfrm>
              <a:off x="188780" y="-22510"/>
              <a:ext cx="204992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  Optimizations for sorting</a:t>
              </a:r>
              <a:endParaRPr/>
            </a:p>
          </p:txBody>
        </p:sp>
      </p:gr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24" name="Shape 2624"/>
        <p:cNvGrpSpPr/>
        <p:nvPr/>
      </p:nvGrpSpPr>
      <p:grpSpPr>
        <a:xfrm>
          <a:off x="0" y="0"/>
          <a:ext cx="0" cy="0"/>
          <a:chOff x="0" y="0"/>
          <a:chExt cx="0" cy="0"/>
        </a:xfrm>
      </p:grpSpPr>
      <p:sp>
        <p:nvSpPr>
          <p:cNvPr id="2625" name="Google Shape;2625;p1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Repacking Example: 3 page buffer</a:t>
            </a:r>
            <a:endParaRPr/>
          </a:p>
        </p:txBody>
      </p:sp>
      <p:sp>
        <p:nvSpPr>
          <p:cNvPr id="2626" name="Google Shape;2626;p1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Now, however, </a:t>
            </a:r>
            <a:r>
              <a:rPr b="1" i="1" lang="en-US"/>
              <a:t>the smallest values are less than the largest (last) in the sorted run…</a:t>
            </a:r>
            <a:endParaRPr/>
          </a:p>
        </p:txBody>
      </p:sp>
      <p:sp>
        <p:nvSpPr>
          <p:cNvPr id="2627" name="Google Shape;2627;p116"/>
          <p:cNvSpPr/>
          <p:nvPr/>
        </p:nvSpPr>
        <p:spPr>
          <a:xfrm>
            <a:off x="2210655" y="2928938"/>
            <a:ext cx="3457575" cy="3568500"/>
          </a:xfrm>
          <a:prstGeom prst="can">
            <a:avLst>
              <a:gd fmla="val 13065"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2628" name="Google Shape;2628;p116"/>
          <p:cNvSpPr/>
          <p:nvPr/>
        </p:nvSpPr>
        <p:spPr>
          <a:xfrm>
            <a:off x="2308214" y="3513713"/>
            <a:ext cx="3296832" cy="1015318"/>
          </a:xfrm>
          <a:prstGeom prst="roundRect">
            <a:avLst>
              <a:gd fmla="val 16667" name="adj"/>
            </a:avLst>
          </a:prstGeom>
          <a:solidFill>
            <a:srgbClr val="FBE4D4"/>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29" name="Google Shape;2629;p116"/>
          <p:cNvSpPr txBox="1"/>
          <p:nvPr/>
        </p:nvSpPr>
        <p:spPr>
          <a:xfrm>
            <a:off x="3513542" y="2400008"/>
            <a:ext cx="88617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Disk</a:t>
            </a:r>
            <a:endParaRPr sz="3200">
              <a:solidFill>
                <a:schemeClr val="dk1"/>
              </a:solidFill>
              <a:latin typeface="Calibri"/>
              <a:ea typeface="Calibri"/>
              <a:cs typeface="Calibri"/>
              <a:sym typeface="Calibri"/>
            </a:endParaRPr>
          </a:p>
        </p:txBody>
      </p:sp>
      <p:grpSp>
        <p:nvGrpSpPr>
          <p:cNvPr id="2630" name="Google Shape;2630;p116"/>
          <p:cNvGrpSpPr/>
          <p:nvPr/>
        </p:nvGrpSpPr>
        <p:grpSpPr>
          <a:xfrm>
            <a:off x="7093877" y="2928938"/>
            <a:ext cx="4259923" cy="2456273"/>
            <a:chOff x="7403799" y="1406844"/>
            <a:chExt cx="4259923" cy="2456273"/>
          </a:xfrm>
        </p:grpSpPr>
        <p:grpSp>
          <p:nvGrpSpPr>
            <p:cNvPr id="2631" name="Google Shape;2631;p116"/>
            <p:cNvGrpSpPr/>
            <p:nvPr/>
          </p:nvGrpSpPr>
          <p:grpSpPr>
            <a:xfrm>
              <a:off x="7403799" y="1406844"/>
              <a:ext cx="4259923" cy="2456273"/>
              <a:chOff x="7466322" y="1027906"/>
              <a:chExt cx="4259923" cy="2456273"/>
            </a:xfrm>
          </p:grpSpPr>
          <p:sp>
            <p:nvSpPr>
              <p:cNvPr id="2632" name="Google Shape;2632;p116"/>
              <p:cNvSpPr/>
              <p:nvPr/>
            </p:nvSpPr>
            <p:spPr>
              <a:xfrm>
                <a:off x="7466322" y="1027906"/>
                <a:ext cx="4252691" cy="2440508"/>
              </a:xfrm>
              <a:prstGeom prst="rect">
                <a:avLst/>
              </a:prstGeom>
              <a:solidFill>
                <a:srgbClr val="FFF2CC"/>
              </a:solidFill>
              <a:ln cap="flat" cmpd="sng" w="9525">
                <a:solidFill>
                  <a:srgbClr val="7F7F7F"/>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0">
                  <a:solidFill>
                    <a:schemeClr val="dk1"/>
                  </a:solidFill>
                  <a:latin typeface="Calibri"/>
                  <a:ea typeface="Calibri"/>
                  <a:cs typeface="Calibri"/>
                  <a:sym typeface="Calibri"/>
                </a:endParaRPr>
              </a:p>
            </p:txBody>
          </p:sp>
          <p:sp>
            <p:nvSpPr>
              <p:cNvPr id="2633" name="Google Shape;2633;p116"/>
              <p:cNvSpPr/>
              <p:nvPr/>
            </p:nvSpPr>
            <p:spPr>
              <a:xfrm>
                <a:off x="7769912" y="1969081"/>
                <a:ext cx="3956333" cy="1515098"/>
              </a:xfrm>
              <a:prstGeom prst="rect">
                <a:avLst/>
              </a:prstGeom>
              <a:solidFill>
                <a:srgbClr val="B3C6E7"/>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2634" name="Google Shape;2634;p116"/>
              <p:cNvSpPr txBox="1"/>
              <p:nvPr/>
            </p:nvSpPr>
            <p:spPr>
              <a:xfrm>
                <a:off x="7624243" y="1210562"/>
                <a:ext cx="196842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Main Memory</a:t>
                </a:r>
                <a:endParaRPr/>
              </a:p>
            </p:txBody>
          </p:sp>
          <p:sp>
            <p:nvSpPr>
              <p:cNvPr id="2635" name="Google Shape;2635;p116"/>
              <p:cNvSpPr txBox="1"/>
              <p:nvPr/>
            </p:nvSpPr>
            <p:spPr>
              <a:xfrm>
                <a:off x="7836450" y="1989610"/>
                <a:ext cx="95359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Buffer</a:t>
                </a:r>
                <a:endParaRPr/>
              </a:p>
            </p:txBody>
          </p:sp>
        </p:grpSp>
        <p:sp>
          <p:nvSpPr>
            <p:cNvPr id="2636" name="Google Shape;2636;p116"/>
            <p:cNvSpPr/>
            <p:nvPr/>
          </p:nvSpPr>
          <p:spPr>
            <a:xfrm>
              <a:off x="7843740"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37" name="Google Shape;2637;p116"/>
            <p:cNvSpPr/>
            <p:nvPr/>
          </p:nvSpPr>
          <p:spPr>
            <a:xfrm>
              <a:off x="9055124"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38" name="Google Shape;2638;p116"/>
            <p:cNvSpPr/>
            <p:nvPr/>
          </p:nvSpPr>
          <p:spPr>
            <a:xfrm>
              <a:off x="10266508"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2639" name="Google Shape;2639;p116"/>
          <p:cNvSpPr/>
          <p:nvPr/>
        </p:nvSpPr>
        <p:spPr>
          <a:xfrm>
            <a:off x="5806814" y="4444145"/>
            <a:ext cx="1461477"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40" name="Google Shape;2640;p116"/>
          <p:cNvSpPr/>
          <p:nvPr/>
        </p:nvSpPr>
        <p:spPr>
          <a:xfrm rot="10800000">
            <a:off x="5806813" y="4895300"/>
            <a:ext cx="1461478"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41" name="Google Shape;2641;p116"/>
          <p:cNvSpPr txBox="1"/>
          <p:nvPr/>
        </p:nvSpPr>
        <p:spPr>
          <a:xfrm>
            <a:off x="1808684" y="3883671"/>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1</a:t>
            </a:r>
            <a:endParaRPr/>
          </a:p>
        </p:txBody>
      </p:sp>
      <p:sp>
        <p:nvSpPr>
          <p:cNvPr id="2642" name="Google Shape;2642;p116"/>
          <p:cNvSpPr/>
          <p:nvPr/>
        </p:nvSpPr>
        <p:spPr>
          <a:xfrm>
            <a:off x="2287339" y="4629154"/>
            <a:ext cx="3296832" cy="1003190"/>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43" name="Google Shape;2643;p116"/>
          <p:cNvSpPr txBox="1"/>
          <p:nvPr/>
        </p:nvSpPr>
        <p:spPr>
          <a:xfrm>
            <a:off x="1787809" y="4670498"/>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2</a:t>
            </a:r>
            <a:endParaRPr/>
          </a:p>
        </p:txBody>
      </p:sp>
      <p:sp>
        <p:nvSpPr>
          <p:cNvPr id="2644" name="Google Shape;2644;p116"/>
          <p:cNvSpPr txBox="1"/>
          <p:nvPr/>
        </p:nvSpPr>
        <p:spPr>
          <a:xfrm>
            <a:off x="3493454" y="4688609"/>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31,33</a:t>
            </a:r>
            <a:endParaRPr/>
          </a:p>
        </p:txBody>
      </p:sp>
      <p:sp>
        <p:nvSpPr>
          <p:cNvPr id="2645" name="Google Shape;2645;p116"/>
          <p:cNvSpPr txBox="1"/>
          <p:nvPr/>
        </p:nvSpPr>
        <p:spPr>
          <a:xfrm>
            <a:off x="2455258" y="4683545"/>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10,12</a:t>
            </a:r>
            <a:endParaRPr/>
          </a:p>
        </p:txBody>
      </p:sp>
      <p:sp>
        <p:nvSpPr>
          <p:cNvPr id="2646" name="Google Shape;2646;p116"/>
          <p:cNvSpPr txBox="1"/>
          <p:nvPr/>
        </p:nvSpPr>
        <p:spPr>
          <a:xfrm>
            <a:off x="10172354" y="3227972"/>
            <a:ext cx="742511" cy="369332"/>
          </a:xfrm>
          <a:prstGeom prst="rect">
            <a:avLst/>
          </a:prstGeom>
          <a:solidFill>
            <a:srgbClr val="FFF2CC"/>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B050"/>
                </a:solidFill>
                <a:latin typeface="Arial"/>
                <a:ea typeface="Arial"/>
                <a:cs typeface="Arial"/>
                <a:sym typeface="Arial"/>
              </a:rPr>
              <a:t>m=55</a:t>
            </a:r>
            <a:endParaRPr/>
          </a:p>
        </p:txBody>
      </p:sp>
      <p:sp>
        <p:nvSpPr>
          <p:cNvPr id="2647" name="Google Shape;2647;p116"/>
          <p:cNvSpPr txBox="1"/>
          <p:nvPr/>
        </p:nvSpPr>
        <p:spPr>
          <a:xfrm>
            <a:off x="4553018" y="4683545"/>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44,55</a:t>
            </a:r>
            <a:endParaRPr/>
          </a:p>
        </p:txBody>
      </p:sp>
      <p:sp>
        <p:nvSpPr>
          <p:cNvPr id="2648" name="Google Shape;2648;p116"/>
          <p:cNvSpPr txBox="1"/>
          <p:nvPr/>
        </p:nvSpPr>
        <p:spPr>
          <a:xfrm>
            <a:off x="7605785" y="4625116"/>
            <a:ext cx="958921"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57,</a:t>
            </a:r>
            <a:r>
              <a:rPr lang="en-US" sz="2000">
                <a:solidFill>
                  <a:srgbClr val="C00000"/>
                </a:solidFill>
                <a:latin typeface="Arial"/>
                <a:ea typeface="Arial"/>
                <a:cs typeface="Arial"/>
                <a:sym typeface="Arial"/>
              </a:rPr>
              <a:t>24</a:t>
            </a:r>
            <a:endParaRPr/>
          </a:p>
        </p:txBody>
      </p:sp>
      <p:sp>
        <p:nvSpPr>
          <p:cNvPr id="2649" name="Google Shape;2649;p116"/>
          <p:cNvSpPr txBox="1"/>
          <p:nvPr/>
        </p:nvSpPr>
        <p:spPr>
          <a:xfrm>
            <a:off x="8850684" y="4636852"/>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C00000"/>
                </a:solidFill>
                <a:latin typeface="Arial"/>
                <a:ea typeface="Arial"/>
                <a:cs typeface="Arial"/>
                <a:sym typeface="Arial"/>
              </a:rPr>
              <a:t>18,22</a:t>
            </a:r>
            <a:endParaRPr/>
          </a:p>
        </p:txBody>
      </p:sp>
      <p:sp>
        <p:nvSpPr>
          <p:cNvPr id="2650" name="Google Shape;2650;p116"/>
          <p:cNvSpPr txBox="1"/>
          <p:nvPr/>
        </p:nvSpPr>
        <p:spPr>
          <a:xfrm>
            <a:off x="10043155" y="4625848"/>
            <a:ext cx="95413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C00000"/>
                </a:solidFill>
                <a:latin typeface="Arial"/>
                <a:ea typeface="Arial"/>
                <a:cs typeface="Arial"/>
                <a:sym typeface="Arial"/>
              </a:rPr>
              <a:t>3,</a:t>
            </a:r>
            <a:r>
              <a:rPr lang="en-US" sz="2000">
                <a:solidFill>
                  <a:srgbClr val="FFC000"/>
                </a:solidFill>
                <a:latin typeface="Arial"/>
                <a:ea typeface="Arial"/>
                <a:cs typeface="Arial"/>
                <a:sym typeface="Arial"/>
              </a:rPr>
              <a:t>98</a:t>
            </a:r>
            <a:endParaRPr/>
          </a:p>
        </p:txBody>
      </p:sp>
      <p:grpSp>
        <p:nvGrpSpPr>
          <p:cNvPr id="2651" name="Google Shape;2651;p116"/>
          <p:cNvGrpSpPr/>
          <p:nvPr/>
        </p:nvGrpSpPr>
        <p:grpSpPr>
          <a:xfrm>
            <a:off x="0" y="-22510"/>
            <a:ext cx="12192000" cy="307777"/>
            <a:chOff x="0" y="-22510"/>
            <a:chExt cx="12192000" cy="307777"/>
          </a:xfrm>
        </p:grpSpPr>
        <p:sp>
          <p:nvSpPr>
            <p:cNvPr id="2652" name="Google Shape;2652;p116"/>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2653" name="Google Shape;2653;p116"/>
            <p:cNvSpPr txBox="1"/>
            <p:nvPr/>
          </p:nvSpPr>
          <p:spPr>
            <a:xfrm>
              <a:off x="188780" y="-22510"/>
              <a:ext cx="204992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  Optimizations for sorting</a:t>
              </a:r>
              <a:endParaRPr/>
            </a:p>
          </p:txBody>
        </p:sp>
      </p:gr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57" name="Shape 2657"/>
        <p:cNvGrpSpPr/>
        <p:nvPr/>
      </p:nvGrpSpPr>
      <p:grpSpPr>
        <a:xfrm>
          <a:off x="0" y="0"/>
          <a:ext cx="0" cy="0"/>
          <a:chOff x="0" y="0"/>
          <a:chExt cx="0" cy="0"/>
        </a:xfrm>
      </p:grpSpPr>
      <p:sp>
        <p:nvSpPr>
          <p:cNvPr id="2658" name="Google Shape;2658;p1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Repacking Example: 3 page buffer</a:t>
            </a:r>
            <a:endParaRPr/>
          </a:p>
        </p:txBody>
      </p:sp>
      <p:sp>
        <p:nvSpPr>
          <p:cNvPr id="2659" name="Google Shape;2659;p1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Now, however, </a:t>
            </a:r>
            <a:r>
              <a:rPr b="1" i="1" lang="en-US"/>
              <a:t>the smallest values are less than the largest (last) in the sorted run…</a:t>
            </a:r>
            <a:endParaRPr/>
          </a:p>
        </p:txBody>
      </p:sp>
      <p:sp>
        <p:nvSpPr>
          <p:cNvPr id="2660" name="Google Shape;2660;p117"/>
          <p:cNvSpPr/>
          <p:nvPr/>
        </p:nvSpPr>
        <p:spPr>
          <a:xfrm>
            <a:off x="2210655" y="2928938"/>
            <a:ext cx="3457575" cy="3568500"/>
          </a:xfrm>
          <a:prstGeom prst="can">
            <a:avLst>
              <a:gd fmla="val 13065"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2661" name="Google Shape;2661;p117"/>
          <p:cNvSpPr/>
          <p:nvPr/>
        </p:nvSpPr>
        <p:spPr>
          <a:xfrm>
            <a:off x="2308214" y="3513713"/>
            <a:ext cx="3296832" cy="1015318"/>
          </a:xfrm>
          <a:prstGeom prst="roundRect">
            <a:avLst>
              <a:gd fmla="val 16667" name="adj"/>
            </a:avLst>
          </a:prstGeom>
          <a:solidFill>
            <a:srgbClr val="FBE4D4"/>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62" name="Google Shape;2662;p117"/>
          <p:cNvSpPr txBox="1"/>
          <p:nvPr/>
        </p:nvSpPr>
        <p:spPr>
          <a:xfrm>
            <a:off x="3513542" y="2400008"/>
            <a:ext cx="88617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Disk</a:t>
            </a:r>
            <a:endParaRPr sz="3200">
              <a:solidFill>
                <a:schemeClr val="dk1"/>
              </a:solidFill>
              <a:latin typeface="Calibri"/>
              <a:ea typeface="Calibri"/>
              <a:cs typeface="Calibri"/>
              <a:sym typeface="Calibri"/>
            </a:endParaRPr>
          </a:p>
        </p:txBody>
      </p:sp>
      <p:grpSp>
        <p:nvGrpSpPr>
          <p:cNvPr id="2663" name="Google Shape;2663;p117"/>
          <p:cNvGrpSpPr/>
          <p:nvPr/>
        </p:nvGrpSpPr>
        <p:grpSpPr>
          <a:xfrm>
            <a:off x="7093877" y="2928938"/>
            <a:ext cx="4259923" cy="2456273"/>
            <a:chOff x="7403799" y="1406844"/>
            <a:chExt cx="4259923" cy="2456273"/>
          </a:xfrm>
        </p:grpSpPr>
        <p:grpSp>
          <p:nvGrpSpPr>
            <p:cNvPr id="2664" name="Google Shape;2664;p117"/>
            <p:cNvGrpSpPr/>
            <p:nvPr/>
          </p:nvGrpSpPr>
          <p:grpSpPr>
            <a:xfrm>
              <a:off x="7403799" y="1406844"/>
              <a:ext cx="4259923" cy="2456273"/>
              <a:chOff x="7466322" y="1027906"/>
              <a:chExt cx="4259923" cy="2456273"/>
            </a:xfrm>
          </p:grpSpPr>
          <p:sp>
            <p:nvSpPr>
              <p:cNvPr id="2665" name="Google Shape;2665;p117"/>
              <p:cNvSpPr/>
              <p:nvPr/>
            </p:nvSpPr>
            <p:spPr>
              <a:xfrm>
                <a:off x="7466322" y="1027906"/>
                <a:ext cx="4252691" cy="2440508"/>
              </a:xfrm>
              <a:prstGeom prst="rect">
                <a:avLst/>
              </a:prstGeom>
              <a:solidFill>
                <a:srgbClr val="FFF2CC"/>
              </a:solidFill>
              <a:ln cap="flat" cmpd="sng" w="9525">
                <a:solidFill>
                  <a:srgbClr val="7F7F7F"/>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0">
                  <a:solidFill>
                    <a:schemeClr val="dk1"/>
                  </a:solidFill>
                  <a:latin typeface="Calibri"/>
                  <a:ea typeface="Calibri"/>
                  <a:cs typeface="Calibri"/>
                  <a:sym typeface="Calibri"/>
                </a:endParaRPr>
              </a:p>
            </p:txBody>
          </p:sp>
          <p:sp>
            <p:nvSpPr>
              <p:cNvPr id="2666" name="Google Shape;2666;p117"/>
              <p:cNvSpPr/>
              <p:nvPr/>
            </p:nvSpPr>
            <p:spPr>
              <a:xfrm>
                <a:off x="7769912" y="1969081"/>
                <a:ext cx="3956333" cy="1515098"/>
              </a:xfrm>
              <a:prstGeom prst="rect">
                <a:avLst/>
              </a:prstGeom>
              <a:solidFill>
                <a:srgbClr val="B3C6E7"/>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2667" name="Google Shape;2667;p117"/>
              <p:cNvSpPr txBox="1"/>
              <p:nvPr/>
            </p:nvSpPr>
            <p:spPr>
              <a:xfrm>
                <a:off x="7624243" y="1210562"/>
                <a:ext cx="196842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Main Memory</a:t>
                </a:r>
                <a:endParaRPr/>
              </a:p>
            </p:txBody>
          </p:sp>
          <p:sp>
            <p:nvSpPr>
              <p:cNvPr id="2668" name="Google Shape;2668;p117"/>
              <p:cNvSpPr txBox="1"/>
              <p:nvPr/>
            </p:nvSpPr>
            <p:spPr>
              <a:xfrm>
                <a:off x="7836450" y="1989610"/>
                <a:ext cx="95359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Buffer</a:t>
                </a:r>
                <a:endParaRPr/>
              </a:p>
            </p:txBody>
          </p:sp>
        </p:grpSp>
        <p:sp>
          <p:nvSpPr>
            <p:cNvPr id="2669" name="Google Shape;2669;p117"/>
            <p:cNvSpPr/>
            <p:nvPr/>
          </p:nvSpPr>
          <p:spPr>
            <a:xfrm>
              <a:off x="7843740"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70" name="Google Shape;2670;p117"/>
            <p:cNvSpPr/>
            <p:nvPr/>
          </p:nvSpPr>
          <p:spPr>
            <a:xfrm>
              <a:off x="9055124"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71" name="Google Shape;2671;p117"/>
            <p:cNvSpPr/>
            <p:nvPr/>
          </p:nvSpPr>
          <p:spPr>
            <a:xfrm>
              <a:off x="10266508"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2672" name="Google Shape;2672;p117"/>
          <p:cNvSpPr/>
          <p:nvPr/>
        </p:nvSpPr>
        <p:spPr>
          <a:xfrm>
            <a:off x="5806814" y="4444145"/>
            <a:ext cx="1461477"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73" name="Google Shape;2673;p117"/>
          <p:cNvSpPr/>
          <p:nvPr/>
        </p:nvSpPr>
        <p:spPr>
          <a:xfrm rot="10800000">
            <a:off x="5806813" y="4895300"/>
            <a:ext cx="1461478"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74" name="Google Shape;2674;p117"/>
          <p:cNvSpPr txBox="1"/>
          <p:nvPr/>
        </p:nvSpPr>
        <p:spPr>
          <a:xfrm>
            <a:off x="1808684" y="3883671"/>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1</a:t>
            </a:r>
            <a:endParaRPr/>
          </a:p>
        </p:txBody>
      </p:sp>
      <p:sp>
        <p:nvSpPr>
          <p:cNvPr id="2675" name="Google Shape;2675;p117"/>
          <p:cNvSpPr/>
          <p:nvPr/>
        </p:nvSpPr>
        <p:spPr>
          <a:xfrm>
            <a:off x="2287339" y="4629154"/>
            <a:ext cx="3296832" cy="1003190"/>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76" name="Google Shape;2676;p117"/>
          <p:cNvSpPr txBox="1"/>
          <p:nvPr/>
        </p:nvSpPr>
        <p:spPr>
          <a:xfrm>
            <a:off x="1787809" y="4670498"/>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2</a:t>
            </a:r>
            <a:endParaRPr/>
          </a:p>
        </p:txBody>
      </p:sp>
      <p:sp>
        <p:nvSpPr>
          <p:cNvPr id="2677" name="Google Shape;2677;p117"/>
          <p:cNvSpPr txBox="1"/>
          <p:nvPr/>
        </p:nvSpPr>
        <p:spPr>
          <a:xfrm>
            <a:off x="3493454" y="4688609"/>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31,33</a:t>
            </a:r>
            <a:endParaRPr/>
          </a:p>
        </p:txBody>
      </p:sp>
      <p:sp>
        <p:nvSpPr>
          <p:cNvPr id="2678" name="Google Shape;2678;p117"/>
          <p:cNvSpPr txBox="1"/>
          <p:nvPr/>
        </p:nvSpPr>
        <p:spPr>
          <a:xfrm>
            <a:off x="2455258" y="4683545"/>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10,12</a:t>
            </a:r>
            <a:endParaRPr/>
          </a:p>
        </p:txBody>
      </p:sp>
      <p:sp>
        <p:nvSpPr>
          <p:cNvPr id="2679" name="Google Shape;2679;p117"/>
          <p:cNvSpPr txBox="1"/>
          <p:nvPr/>
        </p:nvSpPr>
        <p:spPr>
          <a:xfrm>
            <a:off x="10172354" y="3227972"/>
            <a:ext cx="742511" cy="369332"/>
          </a:xfrm>
          <a:prstGeom prst="rect">
            <a:avLst/>
          </a:prstGeom>
          <a:solidFill>
            <a:srgbClr val="FFF2CC"/>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B050"/>
                </a:solidFill>
                <a:latin typeface="Arial"/>
                <a:ea typeface="Arial"/>
                <a:cs typeface="Arial"/>
                <a:sym typeface="Arial"/>
              </a:rPr>
              <a:t>m=55</a:t>
            </a:r>
            <a:endParaRPr/>
          </a:p>
        </p:txBody>
      </p:sp>
      <p:sp>
        <p:nvSpPr>
          <p:cNvPr id="2680" name="Google Shape;2680;p117"/>
          <p:cNvSpPr txBox="1"/>
          <p:nvPr/>
        </p:nvSpPr>
        <p:spPr>
          <a:xfrm>
            <a:off x="4553018" y="4683545"/>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44,55</a:t>
            </a:r>
            <a:endParaRPr/>
          </a:p>
        </p:txBody>
      </p:sp>
      <p:sp>
        <p:nvSpPr>
          <p:cNvPr id="2681" name="Google Shape;2681;p117"/>
          <p:cNvSpPr txBox="1"/>
          <p:nvPr/>
        </p:nvSpPr>
        <p:spPr>
          <a:xfrm>
            <a:off x="7605785" y="4625116"/>
            <a:ext cx="958921"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C00000"/>
                </a:solidFill>
                <a:latin typeface="Arial"/>
                <a:ea typeface="Arial"/>
                <a:cs typeface="Arial"/>
                <a:sym typeface="Arial"/>
              </a:rPr>
              <a:t>3,24</a:t>
            </a:r>
            <a:endParaRPr/>
          </a:p>
        </p:txBody>
      </p:sp>
      <p:sp>
        <p:nvSpPr>
          <p:cNvPr id="2682" name="Google Shape;2682;p117"/>
          <p:cNvSpPr txBox="1"/>
          <p:nvPr/>
        </p:nvSpPr>
        <p:spPr>
          <a:xfrm>
            <a:off x="8850684" y="4636852"/>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C00000"/>
                </a:solidFill>
                <a:latin typeface="Arial"/>
                <a:ea typeface="Arial"/>
                <a:cs typeface="Arial"/>
                <a:sym typeface="Arial"/>
              </a:rPr>
              <a:t>18,22</a:t>
            </a:r>
            <a:endParaRPr/>
          </a:p>
        </p:txBody>
      </p:sp>
      <p:sp>
        <p:nvSpPr>
          <p:cNvPr id="2683" name="Google Shape;2683;p117"/>
          <p:cNvSpPr txBox="1"/>
          <p:nvPr/>
        </p:nvSpPr>
        <p:spPr>
          <a:xfrm>
            <a:off x="10043155" y="4625848"/>
            <a:ext cx="95413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57,98</a:t>
            </a:r>
            <a:endParaRPr/>
          </a:p>
        </p:txBody>
      </p:sp>
      <p:grpSp>
        <p:nvGrpSpPr>
          <p:cNvPr id="2684" name="Google Shape;2684;p117"/>
          <p:cNvGrpSpPr/>
          <p:nvPr/>
        </p:nvGrpSpPr>
        <p:grpSpPr>
          <a:xfrm>
            <a:off x="0" y="-22510"/>
            <a:ext cx="12192000" cy="307777"/>
            <a:chOff x="0" y="-22510"/>
            <a:chExt cx="12192000" cy="307777"/>
          </a:xfrm>
        </p:grpSpPr>
        <p:sp>
          <p:nvSpPr>
            <p:cNvPr id="2685" name="Google Shape;2685;p117"/>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2686" name="Google Shape;2686;p117"/>
            <p:cNvSpPr txBox="1"/>
            <p:nvPr/>
          </p:nvSpPr>
          <p:spPr>
            <a:xfrm>
              <a:off x="188780" y="-22510"/>
              <a:ext cx="204992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  Optimizations for sorting</a:t>
              </a:r>
              <a:endParaRPr/>
            </a:p>
          </p:txBody>
        </p:sp>
      </p:gr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90" name="Shape 2690"/>
        <p:cNvGrpSpPr/>
        <p:nvPr/>
      </p:nvGrpSpPr>
      <p:grpSpPr>
        <a:xfrm>
          <a:off x="0" y="0"/>
          <a:ext cx="0" cy="0"/>
          <a:chOff x="0" y="0"/>
          <a:chExt cx="0" cy="0"/>
        </a:xfrm>
      </p:grpSpPr>
      <p:sp>
        <p:nvSpPr>
          <p:cNvPr id="2691" name="Google Shape;2691;p1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Repacking Example: 3 page buffer</a:t>
            </a:r>
            <a:endParaRPr/>
          </a:p>
        </p:txBody>
      </p:sp>
      <p:sp>
        <p:nvSpPr>
          <p:cNvPr id="2692" name="Google Shape;2692;p118"/>
          <p:cNvSpPr txBox="1"/>
          <p:nvPr>
            <p:ph idx="1" type="body"/>
          </p:nvPr>
        </p:nvSpPr>
        <p:spPr>
          <a:xfrm>
            <a:off x="838200" y="1523517"/>
            <a:ext cx="10515600" cy="465344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Once </a:t>
            </a:r>
            <a:r>
              <a:rPr b="1" i="1" lang="en-US"/>
              <a:t>all buffer pages have a frozen value, </a:t>
            </a:r>
            <a:r>
              <a:rPr lang="en-US"/>
              <a:t>or input file is empty, start new run with the frozen values</a:t>
            </a:r>
            <a:endParaRPr/>
          </a:p>
        </p:txBody>
      </p:sp>
      <p:sp>
        <p:nvSpPr>
          <p:cNvPr id="2693" name="Google Shape;2693;p118"/>
          <p:cNvSpPr/>
          <p:nvPr/>
        </p:nvSpPr>
        <p:spPr>
          <a:xfrm>
            <a:off x="2210655" y="2928938"/>
            <a:ext cx="3457575" cy="3568500"/>
          </a:xfrm>
          <a:prstGeom prst="can">
            <a:avLst>
              <a:gd fmla="val 13065"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2694" name="Google Shape;2694;p118"/>
          <p:cNvSpPr/>
          <p:nvPr/>
        </p:nvSpPr>
        <p:spPr>
          <a:xfrm>
            <a:off x="2308214" y="3513713"/>
            <a:ext cx="3296832" cy="1015318"/>
          </a:xfrm>
          <a:prstGeom prst="roundRect">
            <a:avLst>
              <a:gd fmla="val 16667" name="adj"/>
            </a:avLst>
          </a:prstGeom>
          <a:solidFill>
            <a:srgbClr val="FBE4D4"/>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95" name="Google Shape;2695;p118"/>
          <p:cNvSpPr txBox="1"/>
          <p:nvPr/>
        </p:nvSpPr>
        <p:spPr>
          <a:xfrm>
            <a:off x="3513542" y="2400008"/>
            <a:ext cx="88617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Disk</a:t>
            </a:r>
            <a:endParaRPr sz="3200">
              <a:solidFill>
                <a:schemeClr val="dk1"/>
              </a:solidFill>
              <a:latin typeface="Calibri"/>
              <a:ea typeface="Calibri"/>
              <a:cs typeface="Calibri"/>
              <a:sym typeface="Calibri"/>
            </a:endParaRPr>
          </a:p>
        </p:txBody>
      </p:sp>
      <p:grpSp>
        <p:nvGrpSpPr>
          <p:cNvPr id="2696" name="Google Shape;2696;p118"/>
          <p:cNvGrpSpPr/>
          <p:nvPr/>
        </p:nvGrpSpPr>
        <p:grpSpPr>
          <a:xfrm>
            <a:off x="7093877" y="2928938"/>
            <a:ext cx="4259923" cy="2456273"/>
            <a:chOff x="7403799" y="1406844"/>
            <a:chExt cx="4259923" cy="2456273"/>
          </a:xfrm>
        </p:grpSpPr>
        <p:grpSp>
          <p:nvGrpSpPr>
            <p:cNvPr id="2697" name="Google Shape;2697;p118"/>
            <p:cNvGrpSpPr/>
            <p:nvPr/>
          </p:nvGrpSpPr>
          <p:grpSpPr>
            <a:xfrm>
              <a:off x="7403799" y="1406844"/>
              <a:ext cx="4259923" cy="2456273"/>
              <a:chOff x="7466322" y="1027906"/>
              <a:chExt cx="4259923" cy="2456273"/>
            </a:xfrm>
          </p:grpSpPr>
          <p:sp>
            <p:nvSpPr>
              <p:cNvPr id="2698" name="Google Shape;2698;p118"/>
              <p:cNvSpPr/>
              <p:nvPr/>
            </p:nvSpPr>
            <p:spPr>
              <a:xfrm>
                <a:off x="7466322" y="1027906"/>
                <a:ext cx="4252691" cy="2440508"/>
              </a:xfrm>
              <a:prstGeom prst="rect">
                <a:avLst/>
              </a:prstGeom>
              <a:solidFill>
                <a:srgbClr val="FFF2CC"/>
              </a:solidFill>
              <a:ln cap="flat" cmpd="sng" w="9525">
                <a:solidFill>
                  <a:srgbClr val="7F7F7F"/>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0">
                  <a:solidFill>
                    <a:schemeClr val="dk1"/>
                  </a:solidFill>
                  <a:latin typeface="Calibri"/>
                  <a:ea typeface="Calibri"/>
                  <a:cs typeface="Calibri"/>
                  <a:sym typeface="Calibri"/>
                </a:endParaRPr>
              </a:p>
            </p:txBody>
          </p:sp>
          <p:sp>
            <p:nvSpPr>
              <p:cNvPr id="2699" name="Google Shape;2699;p118"/>
              <p:cNvSpPr/>
              <p:nvPr/>
            </p:nvSpPr>
            <p:spPr>
              <a:xfrm>
                <a:off x="7769912" y="1969081"/>
                <a:ext cx="3956333" cy="1515098"/>
              </a:xfrm>
              <a:prstGeom prst="rect">
                <a:avLst/>
              </a:prstGeom>
              <a:solidFill>
                <a:srgbClr val="B3C6E7"/>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2700" name="Google Shape;2700;p118"/>
              <p:cNvSpPr txBox="1"/>
              <p:nvPr/>
            </p:nvSpPr>
            <p:spPr>
              <a:xfrm>
                <a:off x="7624243" y="1210562"/>
                <a:ext cx="196842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Main Memory</a:t>
                </a:r>
                <a:endParaRPr/>
              </a:p>
            </p:txBody>
          </p:sp>
          <p:sp>
            <p:nvSpPr>
              <p:cNvPr id="2701" name="Google Shape;2701;p118"/>
              <p:cNvSpPr txBox="1"/>
              <p:nvPr/>
            </p:nvSpPr>
            <p:spPr>
              <a:xfrm>
                <a:off x="7836450" y="1989610"/>
                <a:ext cx="95359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Buffer</a:t>
                </a:r>
                <a:endParaRPr/>
              </a:p>
            </p:txBody>
          </p:sp>
        </p:grpSp>
        <p:sp>
          <p:nvSpPr>
            <p:cNvPr id="2702" name="Google Shape;2702;p118"/>
            <p:cNvSpPr/>
            <p:nvPr/>
          </p:nvSpPr>
          <p:spPr>
            <a:xfrm>
              <a:off x="7843740"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03" name="Google Shape;2703;p118"/>
            <p:cNvSpPr/>
            <p:nvPr/>
          </p:nvSpPr>
          <p:spPr>
            <a:xfrm>
              <a:off x="9055124"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04" name="Google Shape;2704;p118"/>
            <p:cNvSpPr/>
            <p:nvPr/>
          </p:nvSpPr>
          <p:spPr>
            <a:xfrm>
              <a:off x="10266508"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2705" name="Google Shape;2705;p118"/>
          <p:cNvSpPr/>
          <p:nvPr/>
        </p:nvSpPr>
        <p:spPr>
          <a:xfrm>
            <a:off x="5806814" y="4444145"/>
            <a:ext cx="1461477"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06" name="Google Shape;2706;p118"/>
          <p:cNvSpPr/>
          <p:nvPr/>
        </p:nvSpPr>
        <p:spPr>
          <a:xfrm rot="10800000">
            <a:off x="5806813" y="4895300"/>
            <a:ext cx="1461478"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07" name="Google Shape;2707;p118"/>
          <p:cNvSpPr txBox="1"/>
          <p:nvPr/>
        </p:nvSpPr>
        <p:spPr>
          <a:xfrm>
            <a:off x="1808684" y="3883671"/>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1</a:t>
            </a:r>
            <a:endParaRPr/>
          </a:p>
        </p:txBody>
      </p:sp>
      <p:sp>
        <p:nvSpPr>
          <p:cNvPr id="2708" name="Google Shape;2708;p118"/>
          <p:cNvSpPr/>
          <p:nvPr/>
        </p:nvSpPr>
        <p:spPr>
          <a:xfrm>
            <a:off x="2287339" y="4629154"/>
            <a:ext cx="3296832" cy="1003190"/>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09" name="Google Shape;2709;p118"/>
          <p:cNvSpPr txBox="1"/>
          <p:nvPr/>
        </p:nvSpPr>
        <p:spPr>
          <a:xfrm>
            <a:off x="1787809" y="4670498"/>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2</a:t>
            </a:r>
            <a:endParaRPr/>
          </a:p>
        </p:txBody>
      </p:sp>
      <p:sp>
        <p:nvSpPr>
          <p:cNvPr id="2710" name="Google Shape;2710;p118"/>
          <p:cNvSpPr txBox="1"/>
          <p:nvPr/>
        </p:nvSpPr>
        <p:spPr>
          <a:xfrm>
            <a:off x="3493454" y="4688609"/>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31,33</a:t>
            </a:r>
            <a:endParaRPr/>
          </a:p>
        </p:txBody>
      </p:sp>
      <p:sp>
        <p:nvSpPr>
          <p:cNvPr id="2711" name="Google Shape;2711;p118"/>
          <p:cNvSpPr txBox="1"/>
          <p:nvPr/>
        </p:nvSpPr>
        <p:spPr>
          <a:xfrm>
            <a:off x="2455258" y="4683545"/>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10,12</a:t>
            </a:r>
            <a:endParaRPr/>
          </a:p>
        </p:txBody>
      </p:sp>
      <p:sp>
        <p:nvSpPr>
          <p:cNvPr id="2712" name="Google Shape;2712;p118"/>
          <p:cNvSpPr txBox="1"/>
          <p:nvPr/>
        </p:nvSpPr>
        <p:spPr>
          <a:xfrm>
            <a:off x="10172354" y="3227972"/>
            <a:ext cx="603050" cy="369332"/>
          </a:xfrm>
          <a:prstGeom prst="rect">
            <a:avLst/>
          </a:prstGeom>
          <a:solidFill>
            <a:srgbClr val="FFF2CC"/>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B050"/>
                </a:solidFill>
                <a:latin typeface="Arial"/>
                <a:ea typeface="Arial"/>
                <a:cs typeface="Arial"/>
                <a:sym typeface="Arial"/>
              </a:rPr>
              <a:t>m=0</a:t>
            </a:r>
            <a:endParaRPr/>
          </a:p>
        </p:txBody>
      </p:sp>
      <p:sp>
        <p:nvSpPr>
          <p:cNvPr id="2713" name="Google Shape;2713;p118"/>
          <p:cNvSpPr txBox="1"/>
          <p:nvPr/>
        </p:nvSpPr>
        <p:spPr>
          <a:xfrm>
            <a:off x="4553018" y="4683545"/>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44,55</a:t>
            </a:r>
            <a:endParaRPr/>
          </a:p>
        </p:txBody>
      </p:sp>
      <p:sp>
        <p:nvSpPr>
          <p:cNvPr id="2714" name="Google Shape;2714;p118"/>
          <p:cNvSpPr txBox="1"/>
          <p:nvPr/>
        </p:nvSpPr>
        <p:spPr>
          <a:xfrm>
            <a:off x="7605785" y="4625116"/>
            <a:ext cx="958921"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C00000"/>
                </a:solidFill>
                <a:latin typeface="Arial"/>
                <a:ea typeface="Arial"/>
                <a:cs typeface="Arial"/>
                <a:sym typeface="Arial"/>
              </a:rPr>
              <a:t>3,24</a:t>
            </a:r>
            <a:endParaRPr/>
          </a:p>
        </p:txBody>
      </p:sp>
      <p:sp>
        <p:nvSpPr>
          <p:cNvPr id="2715" name="Google Shape;2715;p118"/>
          <p:cNvSpPr txBox="1"/>
          <p:nvPr/>
        </p:nvSpPr>
        <p:spPr>
          <a:xfrm>
            <a:off x="8850684" y="4636852"/>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C00000"/>
                </a:solidFill>
                <a:latin typeface="Arial"/>
                <a:ea typeface="Arial"/>
                <a:cs typeface="Arial"/>
                <a:sym typeface="Arial"/>
              </a:rPr>
              <a:t>18,22</a:t>
            </a:r>
            <a:endParaRPr/>
          </a:p>
        </p:txBody>
      </p:sp>
      <p:sp>
        <p:nvSpPr>
          <p:cNvPr id="2716" name="Google Shape;2716;p118"/>
          <p:cNvSpPr txBox="1"/>
          <p:nvPr/>
        </p:nvSpPr>
        <p:spPr>
          <a:xfrm>
            <a:off x="2455208" y="5155350"/>
            <a:ext cx="95413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57,98</a:t>
            </a:r>
            <a:endParaRPr/>
          </a:p>
        </p:txBody>
      </p:sp>
      <p:sp>
        <p:nvSpPr>
          <p:cNvPr id="2717" name="Google Shape;2717;p118"/>
          <p:cNvSpPr/>
          <p:nvPr/>
        </p:nvSpPr>
        <p:spPr>
          <a:xfrm>
            <a:off x="2287339" y="5725430"/>
            <a:ext cx="3296832" cy="523228"/>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18" name="Google Shape;2718;p118"/>
          <p:cNvSpPr txBox="1"/>
          <p:nvPr/>
        </p:nvSpPr>
        <p:spPr>
          <a:xfrm>
            <a:off x="1787809" y="5766774"/>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3</a:t>
            </a:r>
            <a:endParaRPr/>
          </a:p>
        </p:txBody>
      </p:sp>
      <p:grpSp>
        <p:nvGrpSpPr>
          <p:cNvPr id="2719" name="Google Shape;2719;p118"/>
          <p:cNvGrpSpPr/>
          <p:nvPr/>
        </p:nvGrpSpPr>
        <p:grpSpPr>
          <a:xfrm>
            <a:off x="0" y="-22510"/>
            <a:ext cx="12192000" cy="307777"/>
            <a:chOff x="0" y="-22510"/>
            <a:chExt cx="12192000" cy="307777"/>
          </a:xfrm>
        </p:grpSpPr>
        <p:sp>
          <p:nvSpPr>
            <p:cNvPr id="2720" name="Google Shape;2720;p118"/>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2721" name="Google Shape;2721;p118"/>
            <p:cNvSpPr txBox="1"/>
            <p:nvPr/>
          </p:nvSpPr>
          <p:spPr>
            <a:xfrm>
              <a:off x="188780" y="-22510"/>
              <a:ext cx="204992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  Optimizations for sorting</a:t>
              </a:r>
              <a:endParaRPr/>
            </a:p>
          </p:txBody>
        </p:sp>
      </p:gr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25" name="Shape 2725"/>
        <p:cNvGrpSpPr/>
        <p:nvPr/>
      </p:nvGrpSpPr>
      <p:grpSpPr>
        <a:xfrm>
          <a:off x="0" y="0"/>
          <a:ext cx="0" cy="0"/>
          <a:chOff x="0" y="0"/>
          <a:chExt cx="0" cy="0"/>
        </a:xfrm>
      </p:grpSpPr>
      <p:sp>
        <p:nvSpPr>
          <p:cNvPr id="2726" name="Google Shape;2726;p1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Repacking Example: 3 page buffer</a:t>
            </a:r>
            <a:endParaRPr/>
          </a:p>
        </p:txBody>
      </p:sp>
      <p:sp>
        <p:nvSpPr>
          <p:cNvPr id="2727" name="Google Shape;2727;p119"/>
          <p:cNvSpPr txBox="1"/>
          <p:nvPr>
            <p:ph idx="1" type="body"/>
          </p:nvPr>
        </p:nvSpPr>
        <p:spPr>
          <a:xfrm>
            <a:off x="838200" y="1523517"/>
            <a:ext cx="10515600" cy="465344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Once </a:t>
            </a:r>
            <a:r>
              <a:rPr b="1" i="1" lang="en-US"/>
              <a:t>all buffer pages have a frozen value, </a:t>
            </a:r>
            <a:r>
              <a:rPr lang="en-US"/>
              <a:t>or input file is empty, start new run with the frozen values</a:t>
            </a:r>
            <a:endParaRPr/>
          </a:p>
        </p:txBody>
      </p:sp>
      <p:sp>
        <p:nvSpPr>
          <p:cNvPr id="2728" name="Google Shape;2728;p119"/>
          <p:cNvSpPr/>
          <p:nvPr/>
        </p:nvSpPr>
        <p:spPr>
          <a:xfrm>
            <a:off x="2210655" y="2928938"/>
            <a:ext cx="3457575" cy="3568500"/>
          </a:xfrm>
          <a:prstGeom prst="can">
            <a:avLst>
              <a:gd fmla="val 13065" name="adj"/>
            </a:avLst>
          </a:prstGeom>
          <a:gradFill>
            <a:gsLst>
              <a:gs pos="0">
                <a:srgbClr val="70A5DA"/>
              </a:gs>
              <a:gs pos="50000">
                <a:srgbClr val="539BDB"/>
              </a:gs>
              <a:gs pos="100000">
                <a:srgbClr val="4288C8"/>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2729" name="Google Shape;2729;p119"/>
          <p:cNvSpPr/>
          <p:nvPr/>
        </p:nvSpPr>
        <p:spPr>
          <a:xfrm>
            <a:off x="2308214" y="3513713"/>
            <a:ext cx="3296832" cy="1015318"/>
          </a:xfrm>
          <a:prstGeom prst="roundRect">
            <a:avLst>
              <a:gd fmla="val 16667" name="adj"/>
            </a:avLst>
          </a:prstGeom>
          <a:solidFill>
            <a:srgbClr val="FBE4D4"/>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30" name="Google Shape;2730;p119"/>
          <p:cNvSpPr txBox="1"/>
          <p:nvPr/>
        </p:nvSpPr>
        <p:spPr>
          <a:xfrm>
            <a:off x="3513542" y="2400008"/>
            <a:ext cx="88617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Disk</a:t>
            </a:r>
            <a:endParaRPr sz="3200">
              <a:solidFill>
                <a:schemeClr val="dk1"/>
              </a:solidFill>
              <a:latin typeface="Calibri"/>
              <a:ea typeface="Calibri"/>
              <a:cs typeface="Calibri"/>
              <a:sym typeface="Calibri"/>
            </a:endParaRPr>
          </a:p>
        </p:txBody>
      </p:sp>
      <p:grpSp>
        <p:nvGrpSpPr>
          <p:cNvPr id="2731" name="Google Shape;2731;p119"/>
          <p:cNvGrpSpPr/>
          <p:nvPr/>
        </p:nvGrpSpPr>
        <p:grpSpPr>
          <a:xfrm>
            <a:off x="7093877" y="2928938"/>
            <a:ext cx="4259923" cy="2456273"/>
            <a:chOff x="7403799" y="1406844"/>
            <a:chExt cx="4259923" cy="2456273"/>
          </a:xfrm>
        </p:grpSpPr>
        <p:grpSp>
          <p:nvGrpSpPr>
            <p:cNvPr id="2732" name="Google Shape;2732;p119"/>
            <p:cNvGrpSpPr/>
            <p:nvPr/>
          </p:nvGrpSpPr>
          <p:grpSpPr>
            <a:xfrm>
              <a:off x="7403799" y="1406844"/>
              <a:ext cx="4259923" cy="2456273"/>
              <a:chOff x="7466322" y="1027906"/>
              <a:chExt cx="4259923" cy="2456273"/>
            </a:xfrm>
          </p:grpSpPr>
          <p:sp>
            <p:nvSpPr>
              <p:cNvPr id="2733" name="Google Shape;2733;p119"/>
              <p:cNvSpPr/>
              <p:nvPr/>
            </p:nvSpPr>
            <p:spPr>
              <a:xfrm>
                <a:off x="7466322" y="1027906"/>
                <a:ext cx="4252691" cy="2440508"/>
              </a:xfrm>
              <a:prstGeom prst="rect">
                <a:avLst/>
              </a:prstGeom>
              <a:solidFill>
                <a:srgbClr val="FFF2CC"/>
              </a:solidFill>
              <a:ln cap="flat" cmpd="sng" w="9525">
                <a:solidFill>
                  <a:srgbClr val="7F7F7F"/>
                </a:solidFill>
                <a:prstDash val="solid"/>
                <a:miter lim="800000"/>
                <a:headEnd len="sm" w="sm" type="none"/>
                <a:tailEnd len="sm" w="sm" type="none"/>
              </a:ln>
              <a:effectLst>
                <a:outerShdw blurRad="508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0">
                  <a:solidFill>
                    <a:schemeClr val="dk1"/>
                  </a:solidFill>
                  <a:latin typeface="Calibri"/>
                  <a:ea typeface="Calibri"/>
                  <a:cs typeface="Calibri"/>
                  <a:sym typeface="Calibri"/>
                </a:endParaRPr>
              </a:p>
            </p:txBody>
          </p:sp>
          <p:sp>
            <p:nvSpPr>
              <p:cNvPr id="2734" name="Google Shape;2734;p119"/>
              <p:cNvSpPr/>
              <p:nvPr/>
            </p:nvSpPr>
            <p:spPr>
              <a:xfrm>
                <a:off x="7769912" y="1969081"/>
                <a:ext cx="3956333" cy="1515098"/>
              </a:xfrm>
              <a:prstGeom prst="rect">
                <a:avLst/>
              </a:prstGeom>
              <a:solidFill>
                <a:srgbClr val="B3C6E7"/>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2735" name="Google Shape;2735;p119"/>
              <p:cNvSpPr txBox="1"/>
              <p:nvPr/>
            </p:nvSpPr>
            <p:spPr>
              <a:xfrm>
                <a:off x="7624243" y="1210562"/>
                <a:ext cx="196842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Main Memory</a:t>
                </a:r>
                <a:endParaRPr/>
              </a:p>
            </p:txBody>
          </p:sp>
          <p:sp>
            <p:nvSpPr>
              <p:cNvPr id="2736" name="Google Shape;2736;p119"/>
              <p:cNvSpPr txBox="1"/>
              <p:nvPr/>
            </p:nvSpPr>
            <p:spPr>
              <a:xfrm>
                <a:off x="7836450" y="1989610"/>
                <a:ext cx="95359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Buffer</a:t>
                </a:r>
                <a:endParaRPr/>
              </a:p>
            </p:txBody>
          </p:sp>
        </p:grpSp>
        <p:sp>
          <p:nvSpPr>
            <p:cNvPr id="2737" name="Google Shape;2737;p119"/>
            <p:cNvSpPr/>
            <p:nvPr/>
          </p:nvSpPr>
          <p:spPr>
            <a:xfrm>
              <a:off x="7843740"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38" name="Google Shape;2738;p119"/>
            <p:cNvSpPr/>
            <p:nvPr/>
          </p:nvSpPr>
          <p:spPr>
            <a:xfrm>
              <a:off x="9055124"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39" name="Google Shape;2739;p119"/>
            <p:cNvSpPr/>
            <p:nvPr/>
          </p:nvSpPr>
          <p:spPr>
            <a:xfrm>
              <a:off x="10266508" y="3009498"/>
              <a:ext cx="1127270" cy="572996"/>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2740" name="Google Shape;2740;p119"/>
          <p:cNvSpPr/>
          <p:nvPr/>
        </p:nvSpPr>
        <p:spPr>
          <a:xfrm>
            <a:off x="5806814" y="4444145"/>
            <a:ext cx="1461477"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41" name="Google Shape;2741;p119"/>
          <p:cNvSpPr/>
          <p:nvPr/>
        </p:nvSpPr>
        <p:spPr>
          <a:xfrm rot="10800000">
            <a:off x="5806813" y="4895300"/>
            <a:ext cx="1461478" cy="362022"/>
          </a:xfrm>
          <a:prstGeom prst="rightArrow">
            <a:avLst>
              <a:gd fmla="val 50000" name="adj1"/>
              <a:gd fmla="val 50000" name="adj2"/>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42" name="Google Shape;2742;p119"/>
          <p:cNvSpPr txBox="1"/>
          <p:nvPr/>
        </p:nvSpPr>
        <p:spPr>
          <a:xfrm>
            <a:off x="1808684" y="3883671"/>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1</a:t>
            </a:r>
            <a:endParaRPr/>
          </a:p>
        </p:txBody>
      </p:sp>
      <p:sp>
        <p:nvSpPr>
          <p:cNvPr id="2743" name="Google Shape;2743;p119"/>
          <p:cNvSpPr/>
          <p:nvPr/>
        </p:nvSpPr>
        <p:spPr>
          <a:xfrm>
            <a:off x="2287339" y="4629154"/>
            <a:ext cx="3296832" cy="1003190"/>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44" name="Google Shape;2744;p119"/>
          <p:cNvSpPr txBox="1"/>
          <p:nvPr/>
        </p:nvSpPr>
        <p:spPr>
          <a:xfrm>
            <a:off x="1787809" y="4670498"/>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2</a:t>
            </a:r>
            <a:endParaRPr/>
          </a:p>
        </p:txBody>
      </p:sp>
      <p:sp>
        <p:nvSpPr>
          <p:cNvPr id="2745" name="Google Shape;2745;p119"/>
          <p:cNvSpPr txBox="1"/>
          <p:nvPr/>
        </p:nvSpPr>
        <p:spPr>
          <a:xfrm>
            <a:off x="3493454" y="4688609"/>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31,33</a:t>
            </a:r>
            <a:endParaRPr/>
          </a:p>
        </p:txBody>
      </p:sp>
      <p:sp>
        <p:nvSpPr>
          <p:cNvPr id="2746" name="Google Shape;2746;p119"/>
          <p:cNvSpPr txBox="1"/>
          <p:nvPr/>
        </p:nvSpPr>
        <p:spPr>
          <a:xfrm>
            <a:off x="2455258" y="4683545"/>
            <a:ext cx="95408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10,12</a:t>
            </a:r>
            <a:endParaRPr/>
          </a:p>
        </p:txBody>
      </p:sp>
      <p:sp>
        <p:nvSpPr>
          <p:cNvPr id="2747" name="Google Shape;2747;p119"/>
          <p:cNvSpPr txBox="1"/>
          <p:nvPr/>
        </p:nvSpPr>
        <p:spPr>
          <a:xfrm>
            <a:off x="10172354" y="3227972"/>
            <a:ext cx="603050" cy="369332"/>
          </a:xfrm>
          <a:prstGeom prst="rect">
            <a:avLst/>
          </a:prstGeom>
          <a:solidFill>
            <a:srgbClr val="FFF2CC"/>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B050"/>
                </a:solidFill>
                <a:latin typeface="Arial"/>
                <a:ea typeface="Arial"/>
                <a:cs typeface="Arial"/>
                <a:sym typeface="Arial"/>
              </a:rPr>
              <a:t>m=0</a:t>
            </a:r>
            <a:endParaRPr/>
          </a:p>
        </p:txBody>
      </p:sp>
      <p:sp>
        <p:nvSpPr>
          <p:cNvPr id="2748" name="Google Shape;2748;p119"/>
          <p:cNvSpPr txBox="1"/>
          <p:nvPr/>
        </p:nvSpPr>
        <p:spPr>
          <a:xfrm>
            <a:off x="4553018" y="4683545"/>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44,55</a:t>
            </a:r>
            <a:endParaRPr/>
          </a:p>
        </p:txBody>
      </p:sp>
      <p:sp>
        <p:nvSpPr>
          <p:cNvPr id="2749" name="Google Shape;2749;p119"/>
          <p:cNvSpPr txBox="1"/>
          <p:nvPr/>
        </p:nvSpPr>
        <p:spPr>
          <a:xfrm>
            <a:off x="2455208" y="5155350"/>
            <a:ext cx="954132"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57,98</a:t>
            </a:r>
            <a:endParaRPr/>
          </a:p>
        </p:txBody>
      </p:sp>
      <p:sp>
        <p:nvSpPr>
          <p:cNvPr id="2750" name="Google Shape;2750;p119"/>
          <p:cNvSpPr/>
          <p:nvPr/>
        </p:nvSpPr>
        <p:spPr>
          <a:xfrm>
            <a:off x="2287339" y="5725430"/>
            <a:ext cx="3296832" cy="523228"/>
          </a:xfrm>
          <a:prstGeom prst="roundRect">
            <a:avLst>
              <a:gd fmla="val 16667" name="adj"/>
            </a:avLst>
          </a:prstGeom>
          <a:solidFill>
            <a:srgbClr val="D5DBE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51" name="Google Shape;2751;p119"/>
          <p:cNvSpPr txBox="1"/>
          <p:nvPr/>
        </p:nvSpPr>
        <p:spPr>
          <a:xfrm>
            <a:off x="1787809" y="5766774"/>
            <a:ext cx="3690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a:t>
            </a:r>
            <a:r>
              <a:rPr b="1" baseline="-25000" lang="en-US" sz="1800">
                <a:solidFill>
                  <a:schemeClr val="dk1"/>
                </a:solidFill>
                <a:latin typeface="Calibri"/>
                <a:ea typeface="Calibri"/>
                <a:cs typeface="Calibri"/>
                <a:sym typeface="Calibri"/>
              </a:rPr>
              <a:t>3</a:t>
            </a:r>
            <a:endParaRPr/>
          </a:p>
        </p:txBody>
      </p:sp>
      <p:sp>
        <p:nvSpPr>
          <p:cNvPr id="2752" name="Google Shape;2752;p119"/>
          <p:cNvSpPr txBox="1"/>
          <p:nvPr/>
        </p:nvSpPr>
        <p:spPr>
          <a:xfrm>
            <a:off x="7605785" y="4625116"/>
            <a:ext cx="958921"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3,18</a:t>
            </a:r>
            <a:endParaRPr/>
          </a:p>
        </p:txBody>
      </p:sp>
      <p:sp>
        <p:nvSpPr>
          <p:cNvPr id="2753" name="Google Shape;2753;p119"/>
          <p:cNvSpPr txBox="1"/>
          <p:nvPr/>
        </p:nvSpPr>
        <p:spPr>
          <a:xfrm>
            <a:off x="8850684" y="4636852"/>
            <a:ext cx="954107" cy="400110"/>
          </a:xfrm>
          <a:prstGeom prst="rect">
            <a:avLst/>
          </a:prstGeom>
          <a:solidFill>
            <a:srgbClr val="7F7F7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FFC000"/>
                </a:solidFill>
                <a:latin typeface="Arial"/>
                <a:ea typeface="Arial"/>
                <a:cs typeface="Arial"/>
                <a:sym typeface="Arial"/>
              </a:rPr>
              <a:t>22,24</a:t>
            </a:r>
            <a:endParaRPr/>
          </a:p>
        </p:txBody>
      </p:sp>
      <p:grpSp>
        <p:nvGrpSpPr>
          <p:cNvPr id="2754" name="Google Shape;2754;p119"/>
          <p:cNvGrpSpPr/>
          <p:nvPr/>
        </p:nvGrpSpPr>
        <p:grpSpPr>
          <a:xfrm>
            <a:off x="0" y="-22510"/>
            <a:ext cx="12192000" cy="307777"/>
            <a:chOff x="0" y="-22510"/>
            <a:chExt cx="12192000" cy="307777"/>
          </a:xfrm>
        </p:grpSpPr>
        <p:sp>
          <p:nvSpPr>
            <p:cNvPr id="2755" name="Google Shape;2755;p119"/>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2756" name="Google Shape;2756;p119"/>
            <p:cNvSpPr txBox="1"/>
            <p:nvPr/>
          </p:nvSpPr>
          <p:spPr>
            <a:xfrm>
              <a:off x="188780" y="-22510"/>
              <a:ext cx="204992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  Optimizations for sorting</a:t>
              </a:r>
              <a:endParaRPr/>
            </a:p>
          </p:txBody>
        </p:sp>
      </p:gr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60" name="Shape 2760"/>
        <p:cNvGrpSpPr/>
        <p:nvPr/>
      </p:nvGrpSpPr>
      <p:grpSpPr>
        <a:xfrm>
          <a:off x="0" y="0"/>
          <a:ext cx="0" cy="0"/>
          <a:chOff x="0" y="0"/>
          <a:chExt cx="0" cy="0"/>
        </a:xfrm>
      </p:grpSpPr>
      <p:sp>
        <p:nvSpPr>
          <p:cNvPr id="2761" name="Google Shape;2761;p1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Repacking</a:t>
            </a:r>
            <a:endParaRPr/>
          </a:p>
        </p:txBody>
      </p:sp>
      <p:sp>
        <p:nvSpPr>
          <p:cNvPr id="2762" name="Google Shape;2762;p120"/>
          <p:cNvSpPr txBox="1"/>
          <p:nvPr>
            <p:ph idx="1" type="body"/>
          </p:nvPr>
        </p:nvSpPr>
        <p:spPr>
          <a:xfrm>
            <a:off x="838200" y="1825625"/>
            <a:ext cx="10515600" cy="39322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Note that, for buffer with B+1 pages:</a:t>
            </a:r>
            <a:endParaRPr/>
          </a:p>
          <a:p>
            <a:pPr indent="-228600" lvl="1" marL="685800" rtl="0" algn="l">
              <a:lnSpc>
                <a:spcPct val="90000"/>
              </a:lnSpc>
              <a:spcBef>
                <a:spcPts val="500"/>
              </a:spcBef>
              <a:spcAft>
                <a:spcPts val="0"/>
              </a:spcAft>
              <a:buClr>
                <a:schemeClr val="dk1"/>
              </a:buClr>
              <a:buSzPts val="2400"/>
              <a:buChar char="•"/>
            </a:pPr>
            <a:r>
              <a:rPr b="1" lang="en-US"/>
              <a:t>Best case: </a:t>
            </a:r>
            <a:r>
              <a:rPr lang="en-US"/>
              <a:t>If input file is sorted 🡪 nothing is frozen 🡪 we get </a:t>
            </a:r>
            <a:r>
              <a:rPr b="1" lang="en-US"/>
              <a:t>a single</a:t>
            </a:r>
            <a:r>
              <a:rPr lang="en-US"/>
              <a:t> run!</a:t>
            </a:r>
            <a:endParaRPr/>
          </a:p>
          <a:p>
            <a:pPr indent="-228600" lvl="1" marL="685800" rtl="0" algn="l">
              <a:lnSpc>
                <a:spcPct val="90000"/>
              </a:lnSpc>
              <a:spcBef>
                <a:spcPts val="500"/>
              </a:spcBef>
              <a:spcAft>
                <a:spcPts val="0"/>
              </a:spcAft>
              <a:buClr>
                <a:schemeClr val="dk1"/>
              </a:buClr>
              <a:buSzPts val="2400"/>
              <a:buChar char="•"/>
            </a:pPr>
            <a:r>
              <a:rPr b="1" lang="en-US"/>
              <a:t>Worst case: </a:t>
            </a:r>
            <a:r>
              <a:rPr lang="en-US"/>
              <a:t>If input file is reverse sorted 🡪 everything is frozen 🡪 we get runs of length </a:t>
            </a:r>
            <a:r>
              <a:rPr b="1" lang="en-US"/>
              <a:t>B+1</a:t>
            </a:r>
            <a:endParaRPr/>
          </a:p>
          <a:p>
            <a:pPr indent="-76200" lvl="1" marL="685800" rtl="0" algn="l">
              <a:lnSpc>
                <a:spcPct val="90000"/>
              </a:lnSpc>
              <a:spcBef>
                <a:spcPts val="500"/>
              </a:spcBef>
              <a:spcAft>
                <a:spcPts val="0"/>
              </a:spcAft>
              <a:buClr>
                <a:schemeClr val="dk1"/>
              </a:buClr>
              <a:buSzPts val="2400"/>
              <a:buNone/>
            </a:pPr>
            <a:r>
              <a:t/>
            </a:r>
            <a:endParaRPr b="1"/>
          </a:p>
          <a:p>
            <a:pPr indent="-228600" lvl="0" marL="228600" rtl="0" algn="l">
              <a:lnSpc>
                <a:spcPct val="90000"/>
              </a:lnSpc>
              <a:spcBef>
                <a:spcPts val="1000"/>
              </a:spcBef>
              <a:spcAft>
                <a:spcPts val="0"/>
              </a:spcAft>
              <a:buClr>
                <a:schemeClr val="dk1"/>
              </a:buClr>
              <a:buSzPts val="2800"/>
              <a:buChar char="•"/>
            </a:pPr>
            <a:r>
              <a:rPr lang="en-US"/>
              <a:t>In general, with repacking we do </a:t>
            </a:r>
            <a:r>
              <a:rPr b="1" lang="en-US" u="sng"/>
              <a:t>no worse</a:t>
            </a:r>
            <a:r>
              <a:rPr lang="en-US"/>
              <a:t> than without it!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Engineer’s approximation: runs will have </a:t>
            </a:r>
            <a:r>
              <a:rPr b="1" lang="en-US"/>
              <a:t>~2(B+1) </a:t>
            </a:r>
            <a:r>
              <a:rPr lang="en-US"/>
              <a:t>length</a:t>
            </a:r>
            <a:endParaRPr/>
          </a:p>
        </p:txBody>
      </p:sp>
      <p:sp>
        <p:nvSpPr>
          <p:cNvPr id="2763" name="Google Shape;2763;p120"/>
          <p:cNvSpPr txBox="1"/>
          <p:nvPr/>
        </p:nvSpPr>
        <p:spPr>
          <a:xfrm>
            <a:off x="7386110" y="5649912"/>
            <a:ext cx="3967690" cy="849271"/>
          </a:xfrm>
          <a:prstGeom prst="rect">
            <a:avLst/>
          </a:prstGeom>
          <a:blipFill rotWithShape="1">
            <a:blip r:embed="rId3">
              <a:alphaModFix/>
            </a:blip>
            <a:stretch>
              <a:fillRect b="0" l="0" r="0" t="0"/>
            </a:stretch>
          </a:blipFill>
          <a:ln>
            <a:noFill/>
          </a:ln>
          <a:effectLst>
            <a:outerShdw blurRad="50800" rotWithShape="0" algn="tl" dir="2700000" dist="12700">
              <a:srgbClr val="000000">
                <a:alpha val="4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grpSp>
        <p:nvGrpSpPr>
          <p:cNvPr id="2764" name="Google Shape;2764;p120"/>
          <p:cNvGrpSpPr/>
          <p:nvPr/>
        </p:nvGrpSpPr>
        <p:grpSpPr>
          <a:xfrm>
            <a:off x="0" y="-22510"/>
            <a:ext cx="12192000" cy="307777"/>
            <a:chOff x="0" y="-22510"/>
            <a:chExt cx="12192000" cy="307777"/>
          </a:xfrm>
        </p:grpSpPr>
        <p:sp>
          <p:nvSpPr>
            <p:cNvPr id="2765" name="Google Shape;2765;p120"/>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2766" name="Google Shape;2766;p120"/>
            <p:cNvSpPr txBox="1"/>
            <p:nvPr/>
          </p:nvSpPr>
          <p:spPr>
            <a:xfrm>
              <a:off x="188780" y="-22510"/>
              <a:ext cx="204992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  Optimizations for sorting</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0" name="Shape 2770"/>
        <p:cNvGrpSpPr/>
        <p:nvPr/>
      </p:nvGrpSpPr>
      <p:grpSpPr>
        <a:xfrm>
          <a:off x="0" y="0"/>
          <a:ext cx="0" cy="0"/>
          <a:chOff x="0" y="0"/>
          <a:chExt cx="0" cy="0"/>
        </a:xfrm>
      </p:grpSpPr>
      <p:sp>
        <p:nvSpPr>
          <p:cNvPr id="2771" name="Google Shape;2771;p1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Summary</a:t>
            </a:r>
            <a:endParaRPr/>
          </a:p>
        </p:txBody>
      </p:sp>
      <p:sp>
        <p:nvSpPr>
          <p:cNvPr id="2772" name="Google Shape;2772;p1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Basics of IO and buffer management.</a:t>
            </a:r>
            <a:endParaRPr/>
          </a:p>
          <a:p>
            <a:pPr indent="-228600" lvl="1" marL="685800" rtl="0" algn="l">
              <a:lnSpc>
                <a:spcPct val="90000"/>
              </a:lnSpc>
              <a:spcBef>
                <a:spcPts val="500"/>
              </a:spcBef>
              <a:spcAft>
                <a:spcPts val="0"/>
              </a:spcAft>
              <a:buClr>
                <a:schemeClr val="dk1"/>
              </a:buClr>
              <a:buSzPts val="2400"/>
              <a:buChar char="•"/>
            </a:pPr>
            <a:r>
              <a:rPr lang="en-US"/>
              <a:t>See notebook for more fun! (Learn about </a:t>
            </a:r>
            <a:r>
              <a:rPr i="1" lang="en-US"/>
              <a:t>sequential flooding</a:t>
            </a:r>
            <a:r>
              <a:rPr lang="en-US"/>
              <a:t>)</a:t>
            </a:r>
            <a:endParaRPr/>
          </a:p>
          <a:p>
            <a:pPr indent="-76200" lvl="1" marL="685800" rtl="0" algn="l">
              <a:lnSpc>
                <a:spcPct val="90000"/>
              </a:lnSpc>
              <a:spcBef>
                <a:spcPts val="500"/>
              </a:spcBef>
              <a:spcAft>
                <a:spcPts val="0"/>
              </a:spcAft>
              <a:buClr>
                <a:schemeClr val="dk1"/>
              </a:buClr>
              <a:buSzPts val="2400"/>
              <a:buNone/>
            </a:pPr>
            <a:r>
              <a:t/>
            </a:r>
            <a:endParaRPr/>
          </a:p>
          <a:p>
            <a:pPr indent="-228600" lvl="0" marL="228600" rtl="0" algn="l">
              <a:lnSpc>
                <a:spcPct val="90000"/>
              </a:lnSpc>
              <a:spcBef>
                <a:spcPts val="1000"/>
              </a:spcBef>
              <a:spcAft>
                <a:spcPts val="0"/>
              </a:spcAft>
              <a:buClr>
                <a:schemeClr val="dk1"/>
              </a:buClr>
              <a:buSzPts val="2800"/>
              <a:buChar char="•"/>
            </a:pPr>
            <a:r>
              <a:rPr lang="en-US"/>
              <a:t>We introduced the IO cost model using </a:t>
            </a:r>
            <a:r>
              <a:rPr b="1" lang="en-US"/>
              <a:t>sorting</a:t>
            </a:r>
            <a:r>
              <a:rPr lang="en-US"/>
              <a:t>.</a:t>
            </a:r>
            <a:endParaRPr/>
          </a:p>
          <a:p>
            <a:pPr indent="-228600" lvl="1" marL="685800" rtl="0" algn="l">
              <a:lnSpc>
                <a:spcPct val="90000"/>
              </a:lnSpc>
              <a:spcBef>
                <a:spcPts val="500"/>
              </a:spcBef>
              <a:spcAft>
                <a:spcPts val="0"/>
              </a:spcAft>
              <a:buClr>
                <a:schemeClr val="dk1"/>
              </a:buClr>
              <a:buSzPts val="2400"/>
              <a:buChar char="•"/>
            </a:pPr>
            <a:r>
              <a:rPr lang="en-US"/>
              <a:t>Saw how to do merges with few IOs, </a:t>
            </a:r>
            <a:endParaRPr/>
          </a:p>
          <a:p>
            <a:pPr indent="-228600" lvl="1" marL="685800" rtl="0" algn="l">
              <a:lnSpc>
                <a:spcPct val="90000"/>
              </a:lnSpc>
              <a:spcBef>
                <a:spcPts val="500"/>
              </a:spcBef>
              <a:spcAft>
                <a:spcPts val="0"/>
              </a:spcAft>
              <a:buClr>
                <a:schemeClr val="dk1"/>
              </a:buClr>
              <a:buSzPts val="2400"/>
              <a:buChar char="•"/>
            </a:pPr>
            <a:r>
              <a:rPr lang="en-US"/>
              <a:t>Works better than main-memory sort algorithms. </a:t>
            </a:r>
            <a:endParaRPr/>
          </a:p>
          <a:p>
            <a:pPr indent="-76200" lvl="1" marL="685800" rtl="0" algn="l">
              <a:lnSpc>
                <a:spcPct val="90000"/>
              </a:lnSpc>
              <a:spcBef>
                <a:spcPts val="500"/>
              </a:spcBef>
              <a:spcAft>
                <a:spcPts val="0"/>
              </a:spcAft>
              <a:buClr>
                <a:schemeClr val="dk1"/>
              </a:buClr>
              <a:buSzPts val="2400"/>
              <a:buNone/>
            </a:pPr>
            <a:r>
              <a:t/>
            </a:r>
            <a:endParaRPr/>
          </a:p>
          <a:p>
            <a:pPr indent="-228600" lvl="0" marL="228600" rtl="0" algn="l">
              <a:lnSpc>
                <a:spcPct val="90000"/>
              </a:lnSpc>
              <a:spcBef>
                <a:spcPts val="1000"/>
              </a:spcBef>
              <a:spcAft>
                <a:spcPts val="0"/>
              </a:spcAft>
              <a:buClr>
                <a:schemeClr val="dk1"/>
              </a:buClr>
              <a:buSzPts val="2800"/>
              <a:buChar char="•"/>
            </a:pPr>
            <a:r>
              <a:rPr lang="en-US"/>
              <a:t>Described a few optimizations for sorting</a:t>
            </a:r>
            <a:endParaRPr/>
          </a:p>
        </p:txBody>
      </p:sp>
      <p:grpSp>
        <p:nvGrpSpPr>
          <p:cNvPr id="2773" name="Google Shape;2773;p121"/>
          <p:cNvGrpSpPr/>
          <p:nvPr/>
        </p:nvGrpSpPr>
        <p:grpSpPr>
          <a:xfrm>
            <a:off x="0" y="-22510"/>
            <a:ext cx="12192000" cy="307777"/>
            <a:chOff x="0" y="-22510"/>
            <a:chExt cx="12192000" cy="307777"/>
          </a:xfrm>
        </p:grpSpPr>
        <p:sp>
          <p:nvSpPr>
            <p:cNvPr id="2774" name="Google Shape;2774;p121"/>
            <p:cNvSpPr/>
            <p:nvPr/>
          </p:nvSpPr>
          <p:spPr>
            <a:xfrm>
              <a:off x="0" y="0"/>
              <a:ext cx="12192000" cy="2627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b="1" i="1" sz="1400">
                <a:solidFill>
                  <a:srgbClr val="595959"/>
                </a:solidFill>
                <a:latin typeface="Calibri"/>
                <a:ea typeface="Calibri"/>
                <a:cs typeface="Calibri"/>
                <a:sym typeface="Calibri"/>
              </a:endParaRPr>
            </a:p>
          </p:txBody>
        </p:sp>
        <p:sp>
          <p:nvSpPr>
            <p:cNvPr id="2775" name="Google Shape;2775;p121"/>
            <p:cNvSpPr txBox="1"/>
            <p:nvPr/>
          </p:nvSpPr>
          <p:spPr>
            <a:xfrm>
              <a:off x="188780" y="-22510"/>
              <a:ext cx="1041952"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400">
                  <a:solidFill>
                    <a:srgbClr val="595959"/>
                  </a:solidFill>
                  <a:latin typeface="Calibri"/>
                  <a:ea typeface="Calibri"/>
                  <a:cs typeface="Calibri"/>
                  <a:sym typeface="Calibri"/>
                </a:rPr>
                <a:t>  SUMMARY</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2">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