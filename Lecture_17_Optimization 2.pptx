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6858000" cx="12192000"/>
  <p:notesSz cx="6858000" cy="9144000"/>
  <p:embeddedFontLst>
    <p:embeddedFont>
      <p:font typeface="Noto Sans Symbols"/>
      <p:regular r:id="rId57"/>
      <p:bold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NotoSansSymbols-regular.fntdata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NotoSansSymbol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lecture_1_1.ipynb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://lecture_1_1.ipynb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Optimization Overview</a:t>
            </a:r>
            <a:endParaRPr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Lecture 17</a:t>
            </a: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1" name="Google Shape;91;p1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188780" y="-22510"/>
              <a:ext cx="93968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 u="none" cap="none" strike="noStrike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Today’s Lecture</a:t>
            </a:r>
            <a:endParaRPr/>
          </a:p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Logical Optimization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Physical Optimization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Course Summary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2" name="Google Shape;102;p1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188780" y="-22510"/>
              <a:ext cx="93968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Logical vs. Physical Optimization</a:t>
            </a:r>
            <a:endParaRPr/>
          </a:p>
        </p:txBody>
      </p:sp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838200" y="1825625"/>
            <a:ext cx="785385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u="sng"/>
              <a:t>Logical optimization: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Find equivalent plans that are more efficient</a:t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Intuition: Minimize # of tuples at each step by changing the order of RA operators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u="sng"/>
              <a:t>Physical optimization: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Find algorithm with lowest IO cost to execute our plan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Intuition: Calculate based on physical parameters (buffer size, etc.) and estimates of data size (histograms)</a:t>
            </a:r>
            <a:endParaRPr i="1"/>
          </a:p>
        </p:txBody>
      </p:sp>
      <p:grpSp>
        <p:nvGrpSpPr>
          <p:cNvPr id="110" name="Google Shape;110;p15"/>
          <p:cNvGrpSpPr/>
          <p:nvPr/>
        </p:nvGrpSpPr>
        <p:grpSpPr>
          <a:xfrm>
            <a:off x="9225539" y="3755794"/>
            <a:ext cx="2143125" cy="2026344"/>
            <a:chOff x="9225539" y="3755794"/>
            <a:chExt cx="2143125" cy="2026344"/>
          </a:xfrm>
        </p:grpSpPr>
        <p:sp>
          <p:nvSpPr>
            <p:cNvPr id="111" name="Google Shape;111;p15"/>
            <p:cNvSpPr/>
            <p:nvPr/>
          </p:nvSpPr>
          <p:spPr>
            <a:xfrm rot="5400000">
              <a:off x="10008969" y="3803860"/>
              <a:ext cx="576263" cy="48013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9225539" y="4419743"/>
              <a:ext cx="2143125" cy="136239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Execution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15"/>
          <p:cNvSpPr/>
          <p:nvPr/>
        </p:nvSpPr>
        <p:spPr>
          <a:xfrm>
            <a:off x="9494086" y="584577"/>
            <a:ext cx="1606025" cy="29792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9468741" y="1292063"/>
            <a:ext cx="1656717" cy="51791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 Algebra (RA) Plan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15"/>
          <p:cNvGrpSpPr/>
          <p:nvPr/>
        </p:nvGrpSpPr>
        <p:grpSpPr>
          <a:xfrm>
            <a:off x="9210675" y="1878713"/>
            <a:ext cx="2143125" cy="1737991"/>
            <a:chOff x="9210675" y="1878713"/>
            <a:chExt cx="2143125" cy="1737991"/>
          </a:xfrm>
        </p:grpSpPr>
        <p:sp>
          <p:nvSpPr>
            <p:cNvPr id="116" name="Google Shape;116;p15"/>
            <p:cNvSpPr/>
            <p:nvPr/>
          </p:nvSpPr>
          <p:spPr>
            <a:xfrm>
              <a:off x="9210675" y="2254309"/>
              <a:ext cx="2143125" cy="136239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4D4A5"/>
                </a:gs>
                <a:gs pos="50000">
                  <a:srgbClr val="A8CD97"/>
                </a:gs>
                <a:gs pos="100000">
                  <a:srgbClr val="9BC985"/>
                </a:gs>
              </a:gsLst>
              <a:lin ang="5400000" scaled="0"/>
            </a:gradFill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Optimized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RA Plan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 rot="5400000">
              <a:off x="10166174" y="1892911"/>
              <a:ext cx="285154" cy="25675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15"/>
          <p:cNvSpPr/>
          <p:nvPr/>
        </p:nvSpPr>
        <p:spPr>
          <a:xfrm rot="5400000">
            <a:off x="10154522" y="966591"/>
            <a:ext cx="285154" cy="25675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" name="Google Shape;119;p1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0" name="Google Shape;120;p1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188780" y="-22510"/>
              <a:ext cx="93968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1. Logical Optimization</a:t>
            </a:r>
            <a:endParaRPr/>
          </a:p>
        </p:txBody>
      </p:sp>
      <p:sp>
        <p:nvSpPr>
          <p:cNvPr id="127" name="Google Shape;1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8" name="Google Shape;128;p1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9" name="Google Shape;129;p1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188780" y="-22510"/>
              <a:ext cx="184377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0" y="3161150"/>
            <a:ext cx="8610600" cy="88286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you will learn about in this section</a:t>
            </a:r>
            <a:endParaRPr/>
          </a:p>
        </p:txBody>
      </p:sp>
      <p:sp>
        <p:nvSpPr>
          <p:cNvPr id="138" name="Google Shape;138;p17"/>
          <p:cNvSpPr txBox="1"/>
          <p:nvPr>
            <p:ph idx="1" type="body"/>
          </p:nvPr>
        </p:nvSpPr>
        <p:spPr>
          <a:xfrm>
            <a:off x="838200" y="1825624"/>
            <a:ext cx="10515600" cy="4175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Optimization of RA Plans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ACTIVITY: RA Plan Optimization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40" name="Google Shape;140;p1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41" name="Google Shape;141;p1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188780" y="-22510"/>
              <a:ext cx="184377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RDBMS Architecture</a:t>
            </a:r>
            <a:endParaRPr/>
          </a:p>
        </p:txBody>
      </p:sp>
      <p:sp>
        <p:nvSpPr>
          <p:cNvPr id="148" name="Google Shape;148;p18"/>
          <p:cNvSpPr txBox="1"/>
          <p:nvPr>
            <p:ph idx="1" type="body"/>
          </p:nvPr>
        </p:nvSpPr>
        <p:spPr>
          <a:xfrm>
            <a:off x="838200" y="1825625"/>
            <a:ext cx="105156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How does a SQL engine work ?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2409825" y="3379274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838200" y="2938143"/>
            <a:ext cx="1428750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3128963" y="2938141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 Algebra (RA) Plan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5414963" y="3379272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6134101" y="2938143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 Plan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8420101" y="3379272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9139239" y="2938141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838200" y="4809804"/>
            <a:ext cx="181927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Declarative query (from user)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3128963" y="4809802"/>
            <a:ext cx="247173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Translate to relational algebra expresson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6134101" y="4809802"/>
            <a:ext cx="247173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logically equivalent- but more efficient- RA expression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9139239" y="4809802"/>
            <a:ext cx="247173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Execute each operator of the optimized plan!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" name="Google Shape;160;p1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61" name="Google Shape;161;p1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RDBMS Architecture</a:t>
            </a:r>
            <a:endParaRPr/>
          </a:p>
        </p:txBody>
      </p:sp>
      <p:sp>
        <p:nvSpPr>
          <p:cNvPr id="168" name="Google Shape;168;p19"/>
          <p:cNvSpPr txBox="1"/>
          <p:nvPr>
            <p:ph idx="1" type="body"/>
          </p:nvPr>
        </p:nvSpPr>
        <p:spPr>
          <a:xfrm>
            <a:off x="838200" y="1825625"/>
            <a:ext cx="105156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How does a SQL engine work ?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2409825" y="3379274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838200" y="2938143"/>
            <a:ext cx="1428750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3128963" y="2938141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 Algebra (RA) Plan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414963" y="3379272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6134101" y="2938143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 Plan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8420101" y="3379272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9139239" y="2938141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00066" y="2543175"/>
            <a:ext cx="1824036" cy="2100263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414962" y="2563812"/>
            <a:ext cx="6196013" cy="2100263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1738864" y="5115996"/>
            <a:ext cx="8714272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Relational Algebra allows us to translate declarative (SQL) queries into precise and optimizable expressions!</a:t>
            </a:r>
            <a:endParaRPr b="1" sz="28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" name="Google Shape;179;p1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80" name="Google Shape;180;p1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>
            <p:ph idx="1" type="body"/>
          </p:nvPr>
        </p:nvSpPr>
        <p:spPr>
          <a:xfrm>
            <a:off x="990600" y="1843088"/>
            <a:ext cx="10515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Five </a:t>
            </a:r>
            <a:r>
              <a:rPr b="1" lang="en-US" sz="2400" u="sng"/>
              <a:t>basic </a:t>
            </a:r>
            <a:r>
              <a:rPr lang="en-US" sz="2400" u="sng"/>
              <a:t>operators: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Selection: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 σ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Projection: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US"/>
              <a:t> 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Cartesian Product: ×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Union: ∪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Difference: -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Derived or auxiliary operators: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Intersection, complement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Joins (natural,equi-join, theta join, semi-join)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Renaming: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 ρ</a:t>
            </a:r>
            <a:r>
              <a:rPr lang="en-US"/>
              <a:t>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Division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Relational Algebra (RA)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1411940" y="2150645"/>
            <a:ext cx="3131485" cy="1264067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964765" y="2150645"/>
            <a:ext cx="3193398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We’ll look at these first!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1640541" y="4998621"/>
            <a:ext cx="1788460" cy="873541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7750827" y="4841460"/>
            <a:ext cx="3755373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also at one example of a derived operator (natural join) and a special operator (renaming)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" name="Google Shape;192;p2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93" name="Google Shape;193;p2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Recall: Converting SFW Query -&gt; RA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838199" y="2655984"/>
            <a:ext cx="4405314" cy="280692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DISTINCT</a:t>
            </a:r>
            <a:endParaRPr sz="280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gpa,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address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Students S,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People P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gpa &gt; 3.5 AND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sname = pname;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38199" y="5719457"/>
            <a:ext cx="3519488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represent this query in RA?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6435345" y="3598189"/>
            <a:ext cx="5356146" cy="53245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453062" y="3669278"/>
            <a:ext cx="642938" cy="392536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838199" y="1690688"/>
            <a:ext cx="3684181" cy="5909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Students(sid,sname,gpa)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People(ssn,sname,address)</a:t>
            </a:r>
            <a:endParaRPr/>
          </a:p>
        </p:txBody>
      </p:sp>
      <p:grpSp>
        <p:nvGrpSpPr>
          <p:cNvPr id="205" name="Google Shape;205;p2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06" name="Google Shape;206;p2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Recall: Logical Equivalece of RA Plans</a:t>
            </a:r>
            <a:endParaRPr/>
          </a:p>
        </p:txBody>
      </p:sp>
      <p:sp>
        <p:nvSpPr>
          <p:cNvPr id="213" name="Google Shape;213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1738864" y="5788680"/>
            <a:ext cx="8714272" cy="52322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We’ll look at this in more depth later in the lecture…</a:t>
            </a:r>
            <a:endParaRPr b="1" sz="28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2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16" name="Google Shape;216;p2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22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RDBMS Architecture</a:t>
            </a:r>
            <a:endParaRPr/>
          </a:p>
        </p:txBody>
      </p:sp>
      <p:sp>
        <p:nvSpPr>
          <p:cNvPr id="223" name="Google Shape;223;p23"/>
          <p:cNvSpPr txBox="1"/>
          <p:nvPr>
            <p:ph idx="1" type="body"/>
          </p:nvPr>
        </p:nvSpPr>
        <p:spPr>
          <a:xfrm>
            <a:off x="838200" y="1825625"/>
            <a:ext cx="105156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How does a SQL engine work ?</a:t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2409825" y="3379274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838200" y="2938143"/>
            <a:ext cx="1428750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3128963" y="2938141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 Algebra (RA) Plan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414963" y="3379272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6134101" y="2938143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 Plan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8420101" y="3379272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9139239" y="2938141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528641" y="2543175"/>
            <a:ext cx="4772021" cy="2100263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8420101" y="2563812"/>
            <a:ext cx="3190874" cy="2100263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2826819" y="5060145"/>
            <a:ext cx="6538362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We’ll look at how to then optimize these plans now</a:t>
            </a:r>
            <a:endParaRPr b="1" sz="28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4" name="Google Shape;234;p2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35" name="Google Shape;235;p2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23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Note: We can visualize the plan as a tree</a:t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 rot="-5400000">
            <a:off x="9003797" y="3322639"/>
            <a:ext cx="427948" cy="852389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8485187" y="2126566"/>
            <a:ext cx="1508125" cy="6463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7553326" y="4703764"/>
            <a:ext cx="1676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R(A,B)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9489564" y="4703764"/>
            <a:ext cx="149225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S(B,C)</a:t>
            </a:r>
            <a:endParaRPr/>
          </a:p>
        </p:txBody>
      </p:sp>
      <p:cxnSp>
        <p:nvCxnSpPr>
          <p:cNvPr id="246" name="Google Shape;246;p24"/>
          <p:cNvCxnSpPr/>
          <p:nvPr/>
        </p:nvCxnSpPr>
        <p:spPr>
          <a:xfrm rot="-5400000">
            <a:off x="8349150" y="4111036"/>
            <a:ext cx="693331" cy="49212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7" name="Google Shape;247;p24"/>
          <p:cNvCxnSpPr/>
          <p:nvPr/>
        </p:nvCxnSpPr>
        <p:spPr>
          <a:xfrm flipH="1" rot="5400000">
            <a:off x="9382441" y="4188238"/>
            <a:ext cx="693331" cy="337723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8" name="Google Shape;248;p24"/>
          <p:cNvCxnSpPr/>
          <p:nvPr/>
        </p:nvCxnSpPr>
        <p:spPr>
          <a:xfrm flipH="1" rot="5400000">
            <a:off x="8892583" y="3119563"/>
            <a:ext cx="693334" cy="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9" name="Google Shape;249;p24"/>
          <p:cNvSpPr txBox="1"/>
          <p:nvPr/>
        </p:nvSpPr>
        <p:spPr>
          <a:xfrm>
            <a:off x="1254933" y="3534859"/>
            <a:ext cx="4590424" cy="55399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6604629" y="3507725"/>
            <a:ext cx="1085850" cy="60826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1676400" y="5874470"/>
            <a:ext cx="8839200" cy="52322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Bottom-up tree traversal = order of operation execution!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" name="Google Shape;252;p2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53" name="Google Shape;253;p2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24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simple plan</a:t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 rot="-5400000">
            <a:off x="3431671" y="2936876"/>
            <a:ext cx="427948" cy="852389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2913061" y="1740803"/>
            <a:ext cx="1508125" cy="6463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1981200" y="4318001"/>
            <a:ext cx="1676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R(A,B)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3917438" y="4318001"/>
            <a:ext cx="149225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S(B,C)</a:t>
            </a:r>
            <a:endParaRPr/>
          </a:p>
        </p:txBody>
      </p:sp>
      <p:cxnSp>
        <p:nvCxnSpPr>
          <p:cNvPr id="264" name="Google Shape;264;p25"/>
          <p:cNvCxnSpPr/>
          <p:nvPr/>
        </p:nvCxnSpPr>
        <p:spPr>
          <a:xfrm rot="-5400000">
            <a:off x="2777024" y="3725273"/>
            <a:ext cx="693331" cy="49212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5" name="Google Shape;265;p25"/>
          <p:cNvCxnSpPr/>
          <p:nvPr/>
        </p:nvCxnSpPr>
        <p:spPr>
          <a:xfrm flipH="1" rot="5400000">
            <a:off x="3810315" y="3802475"/>
            <a:ext cx="693331" cy="337723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6" name="Google Shape;266;p25"/>
          <p:cNvCxnSpPr/>
          <p:nvPr/>
        </p:nvCxnSpPr>
        <p:spPr>
          <a:xfrm flipH="1" rot="5400000">
            <a:off x="3320457" y="2733800"/>
            <a:ext cx="693334" cy="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7" name="Google Shape;267;p25"/>
          <p:cNvSpPr txBox="1"/>
          <p:nvPr/>
        </p:nvSpPr>
        <p:spPr>
          <a:xfrm>
            <a:off x="6677907" y="1793054"/>
            <a:ext cx="4223456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SQL query does this correspond to?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6677907" y="3149096"/>
            <a:ext cx="4223456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there any logically equivalent RA expressions?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9" name="Google Shape;269;p2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70" name="Google Shape;270;p2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25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“Pushing down” projection</a:t>
            </a:r>
            <a:endParaRPr/>
          </a:p>
        </p:txBody>
      </p:sp>
      <p:sp>
        <p:nvSpPr>
          <p:cNvPr id="277" name="Google Shape;277;p26"/>
          <p:cNvSpPr/>
          <p:nvPr/>
        </p:nvSpPr>
        <p:spPr>
          <a:xfrm rot="-5400000">
            <a:off x="3431671" y="2936876"/>
            <a:ext cx="427948" cy="852389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 txBox="1"/>
          <p:nvPr/>
        </p:nvSpPr>
        <p:spPr>
          <a:xfrm>
            <a:off x="2913061" y="1740803"/>
            <a:ext cx="1508125" cy="6463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1981200" y="4318001"/>
            <a:ext cx="1600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R(A,B)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3917438" y="4318001"/>
            <a:ext cx="149225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S(B,C)</a:t>
            </a:r>
            <a:endParaRPr/>
          </a:p>
        </p:txBody>
      </p:sp>
      <p:cxnSp>
        <p:nvCxnSpPr>
          <p:cNvPr id="281" name="Google Shape;281;p26"/>
          <p:cNvCxnSpPr/>
          <p:nvPr/>
        </p:nvCxnSpPr>
        <p:spPr>
          <a:xfrm rot="-5400000">
            <a:off x="2777024" y="3725273"/>
            <a:ext cx="693331" cy="49212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2" name="Google Shape;282;p26"/>
          <p:cNvCxnSpPr/>
          <p:nvPr/>
        </p:nvCxnSpPr>
        <p:spPr>
          <a:xfrm flipH="1" rot="5400000">
            <a:off x="3810315" y="3802475"/>
            <a:ext cx="693331" cy="337723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3" name="Google Shape;283;p26"/>
          <p:cNvCxnSpPr/>
          <p:nvPr/>
        </p:nvCxnSpPr>
        <p:spPr>
          <a:xfrm flipH="1" rot="5400000">
            <a:off x="3320457" y="2733800"/>
            <a:ext cx="693334" cy="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84" name="Google Shape;284;p26"/>
          <p:cNvGrpSpPr/>
          <p:nvPr/>
        </p:nvGrpSpPr>
        <p:grpSpPr>
          <a:xfrm>
            <a:off x="6825838" y="2015214"/>
            <a:ext cx="3390886" cy="3251457"/>
            <a:chOff x="6825838" y="2015215"/>
            <a:chExt cx="3390886" cy="3251457"/>
          </a:xfrm>
        </p:grpSpPr>
        <p:sp>
          <p:nvSpPr>
            <p:cNvPr id="285" name="Google Shape;285;p26"/>
            <p:cNvSpPr/>
            <p:nvPr/>
          </p:nvSpPr>
          <p:spPr>
            <a:xfrm rot="-5400000">
              <a:off x="8168026" y="1802994"/>
              <a:ext cx="427948" cy="852389"/>
            </a:xfrm>
            <a:prstGeom prst="flowChartCollat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26"/>
            <p:cNvSpPr txBox="1"/>
            <p:nvPr/>
          </p:nvSpPr>
          <p:spPr>
            <a:xfrm>
              <a:off x="6847731" y="3205659"/>
              <a:ext cx="1508125" cy="64633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87" name="Google Shape;287;p26"/>
            <p:cNvSpPr txBox="1"/>
            <p:nvPr/>
          </p:nvSpPr>
          <p:spPr>
            <a:xfrm>
              <a:off x="6825838" y="4620340"/>
              <a:ext cx="155616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R(A,B)</a:t>
              </a:r>
              <a:endParaRPr/>
            </a:p>
          </p:txBody>
        </p:sp>
        <p:sp>
          <p:nvSpPr>
            <p:cNvPr id="288" name="Google Shape;288;p26"/>
            <p:cNvSpPr txBox="1"/>
            <p:nvPr/>
          </p:nvSpPr>
          <p:spPr>
            <a:xfrm>
              <a:off x="8718551" y="4620340"/>
              <a:ext cx="149225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S(B,C)</a:t>
              </a:r>
              <a:endParaRPr/>
            </a:p>
          </p:txBody>
        </p:sp>
        <p:cxnSp>
          <p:nvCxnSpPr>
            <p:cNvPr id="289" name="Google Shape;289;p26"/>
            <p:cNvCxnSpPr/>
            <p:nvPr/>
          </p:nvCxnSpPr>
          <p:spPr>
            <a:xfrm rot="-5400000">
              <a:off x="7513379" y="2591391"/>
              <a:ext cx="693331" cy="492127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0" name="Google Shape;290;p26"/>
            <p:cNvCxnSpPr/>
            <p:nvPr/>
          </p:nvCxnSpPr>
          <p:spPr>
            <a:xfrm flipH="1" rot="5400000">
              <a:off x="8546670" y="2668593"/>
              <a:ext cx="693331" cy="337723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" name="Google Shape;291;p26"/>
            <p:cNvCxnSpPr/>
            <p:nvPr/>
          </p:nvCxnSpPr>
          <p:spPr>
            <a:xfrm flipH="1" rot="5400000">
              <a:off x="7177670" y="4366338"/>
              <a:ext cx="693334" cy="2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2" name="Google Shape;292;p26"/>
            <p:cNvSpPr txBox="1"/>
            <p:nvPr/>
          </p:nvSpPr>
          <p:spPr>
            <a:xfrm>
              <a:off x="8708599" y="3221533"/>
              <a:ext cx="1508125" cy="64633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293" name="Google Shape;293;p26"/>
            <p:cNvCxnSpPr/>
            <p:nvPr/>
          </p:nvCxnSpPr>
          <p:spPr>
            <a:xfrm flipH="1" rot="5400000">
              <a:off x="9056513" y="4317250"/>
              <a:ext cx="693334" cy="2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94" name="Google Shape;294;p26"/>
          <p:cNvSpPr txBox="1"/>
          <p:nvPr/>
        </p:nvSpPr>
        <p:spPr>
          <a:xfrm>
            <a:off x="6450254" y="5867340"/>
            <a:ext cx="4706873" cy="52322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might we prefer this plan?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4200525" y="2015214"/>
            <a:ext cx="328613" cy="1328061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5614988" y="3221533"/>
            <a:ext cx="835266" cy="6463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7" name="Google Shape;297;p2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98" name="Google Shape;298;p2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26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Takeaways</a:t>
            </a:r>
            <a:endParaRPr/>
          </a:p>
        </p:txBody>
      </p:sp>
      <p:sp>
        <p:nvSpPr>
          <p:cNvPr id="305" name="Google Shape;305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process is called logical optimization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Many equivalent plans used to search for “good plans”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Relational algebra is an important abstraction.</a:t>
            </a:r>
            <a:endParaRPr/>
          </a:p>
        </p:txBody>
      </p:sp>
      <p:grpSp>
        <p:nvGrpSpPr>
          <p:cNvPr id="306" name="Google Shape;306;p2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07" name="Google Shape;307;p2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27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 commutators</a:t>
            </a:r>
            <a:endParaRPr/>
          </a:p>
        </p:txBody>
      </p:sp>
      <p:sp>
        <p:nvSpPr>
          <p:cNvPr id="314" name="Google Shape;314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basic commutators: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Push </a:t>
            </a:r>
            <a:r>
              <a:rPr b="1" lang="en-US"/>
              <a:t>projection</a:t>
            </a:r>
            <a:r>
              <a:rPr lang="en-US"/>
              <a:t> through </a:t>
            </a:r>
            <a:r>
              <a:rPr b="1" lang="en-US"/>
              <a:t>(1) selection</a:t>
            </a:r>
            <a:r>
              <a:rPr lang="en-US"/>
              <a:t>, </a:t>
            </a:r>
            <a:r>
              <a:rPr b="1" lang="en-US"/>
              <a:t>(2) join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Push </a:t>
            </a:r>
            <a:r>
              <a:rPr b="1" lang="en-US"/>
              <a:t>selection </a:t>
            </a:r>
            <a:r>
              <a:rPr lang="en-US"/>
              <a:t>through </a:t>
            </a:r>
            <a:r>
              <a:rPr b="1" lang="en-US"/>
              <a:t>(3) selection, (4) projection, (5) join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Also: </a:t>
            </a:r>
            <a:r>
              <a:rPr lang="en-US"/>
              <a:t>Joins can be re-ordered!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i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 that this is not an exhaustive set of operations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This covers </a:t>
            </a:r>
            <a:r>
              <a:rPr i="1" lang="en-US"/>
              <a:t>local re-writes; global re-writes possible but much harder</a:t>
            </a: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1676400" y="5357793"/>
            <a:ext cx="8839200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simple set of tools allows us to greatly improve the execution time of queries by optimizing RA plans!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6" name="Google Shape;316;p2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17" name="Google Shape;317;p2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8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"/>
          <p:cNvSpPr txBox="1"/>
          <p:nvPr>
            <p:ph type="title"/>
          </p:nvPr>
        </p:nvSpPr>
        <p:spPr>
          <a:xfrm>
            <a:off x="2209800" y="3733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Optimizing the SFW RA Plan</a:t>
            </a:r>
            <a:endParaRPr/>
          </a:p>
        </p:txBody>
      </p:sp>
      <p:grpSp>
        <p:nvGrpSpPr>
          <p:cNvPr id="324" name="Google Shape;324;p2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25" name="Google Shape;325;p2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9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30"/>
          <p:cNvGrpSpPr/>
          <p:nvPr/>
        </p:nvGrpSpPr>
        <p:grpSpPr>
          <a:xfrm>
            <a:off x="7700382" y="1690688"/>
            <a:ext cx="3182707" cy="3751009"/>
            <a:chOff x="7700382" y="1690688"/>
            <a:chExt cx="3182707" cy="3751009"/>
          </a:xfrm>
        </p:grpSpPr>
        <p:sp>
          <p:nvSpPr>
            <p:cNvPr id="332" name="Google Shape;332;p30"/>
            <p:cNvSpPr/>
            <p:nvPr/>
          </p:nvSpPr>
          <p:spPr>
            <a:xfrm rot="-5400000">
              <a:off x="9524378" y="2941294"/>
              <a:ext cx="320961" cy="639292"/>
            </a:xfrm>
            <a:prstGeom prst="flowChartCollat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30"/>
            <p:cNvSpPr txBox="1"/>
            <p:nvPr/>
          </p:nvSpPr>
          <p:spPr>
            <a:xfrm>
              <a:off x="9131133" y="1690688"/>
              <a:ext cx="1131094" cy="54213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34" name="Google Shape;334;p30"/>
            <p:cNvSpPr txBox="1"/>
            <p:nvPr/>
          </p:nvSpPr>
          <p:spPr>
            <a:xfrm>
              <a:off x="7700382" y="4933866"/>
              <a:ext cx="1200150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R(A,B)</a:t>
              </a:r>
              <a:endParaRPr/>
            </a:p>
          </p:txBody>
        </p:sp>
        <p:sp>
          <p:nvSpPr>
            <p:cNvPr id="335" name="Google Shape;335;p30"/>
            <p:cNvSpPr txBox="1"/>
            <p:nvPr/>
          </p:nvSpPr>
          <p:spPr>
            <a:xfrm>
              <a:off x="9152560" y="4933866"/>
              <a:ext cx="1119188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S(B,C)</a:t>
              </a:r>
              <a:endParaRPr/>
            </a:p>
          </p:txBody>
        </p:sp>
        <p:cxnSp>
          <p:nvCxnSpPr>
            <p:cNvPr id="336" name="Google Shape;336;p30"/>
            <p:cNvCxnSpPr/>
            <p:nvPr/>
          </p:nvCxnSpPr>
          <p:spPr>
            <a:xfrm rot="-5400000">
              <a:off x="8297250" y="4489320"/>
              <a:ext cx="519998" cy="369095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" name="Google Shape;337;p30"/>
            <p:cNvCxnSpPr/>
            <p:nvPr/>
          </p:nvCxnSpPr>
          <p:spPr>
            <a:xfrm flipH="1" rot="5400000">
              <a:off x="9072218" y="4547221"/>
              <a:ext cx="519998" cy="253292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8" name="Google Shape;338;p30"/>
            <p:cNvCxnSpPr>
              <a:stCxn id="339" idx="1"/>
            </p:cNvCxnSpPr>
            <p:nvPr/>
          </p:nvCxnSpPr>
          <p:spPr>
            <a:xfrm flipH="1" rot="10800000">
              <a:off x="8996111" y="3501555"/>
              <a:ext cx="462900" cy="6966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0" name="Google Shape;340;p30"/>
            <p:cNvSpPr txBox="1"/>
            <p:nvPr/>
          </p:nvSpPr>
          <p:spPr>
            <a:xfrm>
              <a:off x="9763901" y="3958134"/>
              <a:ext cx="1119188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T(C,D)</a:t>
              </a:r>
              <a:endParaRPr/>
            </a:p>
          </p:txBody>
        </p:sp>
        <p:cxnSp>
          <p:nvCxnSpPr>
            <p:cNvPr id="341" name="Google Shape;341;p30"/>
            <p:cNvCxnSpPr/>
            <p:nvPr/>
          </p:nvCxnSpPr>
          <p:spPr>
            <a:xfrm rot="10800000">
              <a:off x="9966868" y="3501470"/>
              <a:ext cx="304881" cy="423845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9" name="Google Shape;339;p30"/>
            <p:cNvSpPr/>
            <p:nvPr/>
          </p:nvSpPr>
          <p:spPr>
            <a:xfrm rot="-5400000">
              <a:off x="8835630" y="3878509"/>
              <a:ext cx="320961" cy="639292"/>
            </a:xfrm>
            <a:prstGeom prst="flowChartCollat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30"/>
            <p:cNvSpPr txBox="1"/>
            <p:nvPr/>
          </p:nvSpPr>
          <p:spPr>
            <a:xfrm>
              <a:off x="8996110" y="2340519"/>
              <a:ext cx="1401140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σ</a:t>
              </a:r>
              <a:r>
                <a:rPr baseline="-25000" lang="en-US" sz="2700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Α&lt;10</a:t>
              </a:r>
              <a:endParaRPr baseline="-25000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3" name="Google Shape;343;p30"/>
            <p:cNvCxnSpPr>
              <a:endCxn id="342" idx="2"/>
            </p:cNvCxnSpPr>
            <p:nvPr/>
          </p:nvCxnSpPr>
          <p:spPr>
            <a:xfrm rot="10800000">
              <a:off x="9696680" y="2848350"/>
              <a:ext cx="0" cy="2520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4" name="Google Shape;344;p30"/>
            <p:cNvCxnSpPr/>
            <p:nvPr/>
          </p:nvCxnSpPr>
          <p:spPr>
            <a:xfrm flipH="1" rot="10800000">
              <a:off x="9712156" y="2216566"/>
              <a:ext cx="1" cy="275192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45" name="Google Shape;345;p30"/>
          <p:cNvSpPr txBox="1"/>
          <p:nvPr/>
        </p:nvSpPr>
        <p:spPr>
          <a:xfrm>
            <a:off x="1031036" y="5173104"/>
            <a:ext cx="5361852" cy="62536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6" name="Google Shape;346;p30"/>
          <p:cNvSpPr/>
          <p:nvPr/>
        </p:nvSpPr>
        <p:spPr>
          <a:xfrm>
            <a:off x="1031036" y="2095008"/>
            <a:ext cx="3255214" cy="17543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R.A,S.D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R,S,T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R.B = S.B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AND S.C = T.C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AND R.A &lt; 10;</a:t>
            </a:r>
            <a:endParaRPr/>
          </a:p>
        </p:txBody>
      </p:sp>
      <p:sp>
        <p:nvSpPr>
          <p:cNvPr id="347" name="Google Shape;347;p30"/>
          <p:cNvSpPr/>
          <p:nvPr/>
        </p:nvSpPr>
        <p:spPr>
          <a:xfrm>
            <a:off x="1022476" y="1497588"/>
            <a:ext cx="3263774" cy="3416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R(A,B)  S(B,C)  T(C,D)</a:t>
            </a:r>
            <a:endParaRPr sz="18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Translating to RA</a:t>
            </a:r>
            <a:endParaRPr/>
          </a:p>
        </p:txBody>
      </p:sp>
      <p:sp>
        <p:nvSpPr>
          <p:cNvPr id="349" name="Google Shape;349;p30"/>
          <p:cNvSpPr/>
          <p:nvPr/>
        </p:nvSpPr>
        <p:spPr>
          <a:xfrm>
            <a:off x="3152956" y="4197372"/>
            <a:ext cx="511562" cy="664622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0"/>
          <p:cNvSpPr/>
          <p:nvPr/>
        </p:nvSpPr>
        <p:spPr>
          <a:xfrm rot="-7622774">
            <a:off x="6876274" y="4330783"/>
            <a:ext cx="511562" cy="1167199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1" name="Google Shape;351;p3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52" name="Google Shape;352;p3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30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Logical Optimization</a:t>
            </a:r>
            <a:endParaRPr/>
          </a:p>
        </p:txBody>
      </p:sp>
      <p:sp>
        <p:nvSpPr>
          <p:cNvPr id="359" name="Google Shape;359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Heuristically, we want selections and projections to occur as early as possible in the plan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Terminology: “push down </a:t>
            </a:r>
            <a:r>
              <a:rPr b="1" lang="en-US"/>
              <a:t>selections</a:t>
            </a:r>
            <a:r>
              <a:rPr lang="en-US"/>
              <a:t>” and “pushing down </a:t>
            </a:r>
            <a:r>
              <a:rPr b="1" lang="en-US"/>
              <a:t>projections.”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Intuition:</a:t>
            </a:r>
            <a:r>
              <a:rPr lang="en-US"/>
              <a:t> We will have fewer tuples in a plan.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Could fail if the selection condition is very expensive (say runs some image processing algorithm).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Projection could be a waste of effort, but more rarely.</a:t>
            </a:r>
            <a:endParaRPr/>
          </a:p>
        </p:txBody>
      </p:sp>
      <p:grpSp>
        <p:nvGrpSpPr>
          <p:cNvPr id="360" name="Google Shape;360;p3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61" name="Google Shape;361;p3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31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2"/>
          <p:cNvSpPr/>
          <p:nvPr/>
        </p:nvSpPr>
        <p:spPr>
          <a:xfrm rot="-5400000">
            <a:off x="9524378" y="2941294"/>
            <a:ext cx="320961" cy="639292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2"/>
          <p:cNvSpPr txBox="1"/>
          <p:nvPr/>
        </p:nvSpPr>
        <p:spPr>
          <a:xfrm>
            <a:off x="9131133" y="1690688"/>
            <a:ext cx="1131094" cy="54213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9" name="Google Shape;369;p32"/>
          <p:cNvSpPr txBox="1"/>
          <p:nvPr/>
        </p:nvSpPr>
        <p:spPr>
          <a:xfrm>
            <a:off x="7700382" y="4933866"/>
            <a:ext cx="120015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R(A,B)</a:t>
            </a:r>
            <a:endParaRPr/>
          </a:p>
        </p:txBody>
      </p:sp>
      <p:sp>
        <p:nvSpPr>
          <p:cNvPr id="370" name="Google Shape;370;p32"/>
          <p:cNvSpPr txBox="1"/>
          <p:nvPr/>
        </p:nvSpPr>
        <p:spPr>
          <a:xfrm>
            <a:off x="9152560" y="4933866"/>
            <a:ext cx="1119188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S(B,C)</a:t>
            </a:r>
            <a:endParaRPr/>
          </a:p>
        </p:txBody>
      </p:sp>
      <p:cxnSp>
        <p:nvCxnSpPr>
          <p:cNvPr id="371" name="Google Shape;371;p32"/>
          <p:cNvCxnSpPr/>
          <p:nvPr/>
        </p:nvCxnSpPr>
        <p:spPr>
          <a:xfrm rot="-5400000">
            <a:off x="8297250" y="4489320"/>
            <a:ext cx="519998" cy="369095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2" name="Google Shape;372;p32"/>
          <p:cNvCxnSpPr/>
          <p:nvPr/>
        </p:nvCxnSpPr>
        <p:spPr>
          <a:xfrm flipH="1" rot="5400000">
            <a:off x="9072218" y="4547221"/>
            <a:ext cx="519998" cy="25329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3" name="Google Shape;373;p32"/>
          <p:cNvCxnSpPr>
            <a:stCxn id="374" idx="1"/>
          </p:cNvCxnSpPr>
          <p:nvPr/>
        </p:nvCxnSpPr>
        <p:spPr>
          <a:xfrm flipH="1" rot="10800000">
            <a:off x="8996111" y="3501555"/>
            <a:ext cx="462900" cy="6966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5" name="Google Shape;375;p32"/>
          <p:cNvSpPr txBox="1"/>
          <p:nvPr/>
        </p:nvSpPr>
        <p:spPr>
          <a:xfrm>
            <a:off x="9763901" y="3958134"/>
            <a:ext cx="1119188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T(C,D)</a:t>
            </a:r>
            <a:endParaRPr/>
          </a:p>
        </p:txBody>
      </p:sp>
      <p:cxnSp>
        <p:nvCxnSpPr>
          <p:cNvPr id="376" name="Google Shape;376;p32"/>
          <p:cNvCxnSpPr/>
          <p:nvPr/>
        </p:nvCxnSpPr>
        <p:spPr>
          <a:xfrm rot="10800000">
            <a:off x="9966868" y="3501470"/>
            <a:ext cx="304881" cy="423845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4" name="Google Shape;374;p32"/>
          <p:cNvSpPr/>
          <p:nvPr/>
        </p:nvSpPr>
        <p:spPr>
          <a:xfrm rot="-5400000">
            <a:off x="8835630" y="3878509"/>
            <a:ext cx="320961" cy="639292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2"/>
          <p:cNvSpPr txBox="1"/>
          <p:nvPr/>
        </p:nvSpPr>
        <p:spPr>
          <a:xfrm>
            <a:off x="8996110" y="2340519"/>
            <a:ext cx="140114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aseline="-25000" lang="en-US" sz="27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Α&lt;10</a:t>
            </a:r>
            <a:endParaRPr baseline="-25000"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" name="Google Shape;378;p32"/>
          <p:cNvCxnSpPr>
            <a:endCxn id="377" idx="2"/>
          </p:cNvCxnSpPr>
          <p:nvPr/>
        </p:nvCxnSpPr>
        <p:spPr>
          <a:xfrm rot="10800000">
            <a:off x="9696680" y="2848350"/>
            <a:ext cx="0" cy="2520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9" name="Google Shape;379;p32"/>
          <p:cNvCxnSpPr/>
          <p:nvPr/>
        </p:nvCxnSpPr>
        <p:spPr>
          <a:xfrm flipH="1" rot="10800000">
            <a:off x="9712156" y="2216566"/>
            <a:ext cx="1" cy="27519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0" name="Google Shape;380;p32"/>
          <p:cNvSpPr txBox="1"/>
          <p:nvPr/>
        </p:nvSpPr>
        <p:spPr>
          <a:xfrm>
            <a:off x="1031036" y="5173104"/>
            <a:ext cx="5361852" cy="62536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1" name="Google Shape;381;p32"/>
          <p:cNvSpPr/>
          <p:nvPr/>
        </p:nvSpPr>
        <p:spPr>
          <a:xfrm>
            <a:off x="1031036" y="2095008"/>
            <a:ext cx="3255214" cy="17543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R.A,S.D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R,S,T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R.B = S.B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AND S.C = T.C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AND R.A &lt; 10;</a:t>
            </a:r>
            <a:endParaRPr/>
          </a:p>
        </p:txBody>
      </p:sp>
      <p:sp>
        <p:nvSpPr>
          <p:cNvPr id="382" name="Google Shape;382;p32"/>
          <p:cNvSpPr/>
          <p:nvPr/>
        </p:nvSpPr>
        <p:spPr>
          <a:xfrm>
            <a:off x="1022476" y="1497588"/>
            <a:ext cx="3263774" cy="3416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R(A,B)  S(B,C)  T(C,D)</a:t>
            </a:r>
            <a:endParaRPr sz="18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Optimizing RA Plan</a:t>
            </a:r>
            <a:endParaRPr/>
          </a:p>
        </p:txBody>
      </p:sp>
      <p:sp>
        <p:nvSpPr>
          <p:cNvPr id="384" name="Google Shape;384;p32"/>
          <p:cNvSpPr/>
          <p:nvPr/>
        </p:nvSpPr>
        <p:spPr>
          <a:xfrm>
            <a:off x="3152956" y="4197372"/>
            <a:ext cx="511562" cy="664622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2"/>
          <p:cNvSpPr/>
          <p:nvPr/>
        </p:nvSpPr>
        <p:spPr>
          <a:xfrm rot="-7622774">
            <a:off x="6876274" y="4330783"/>
            <a:ext cx="511562" cy="1167199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2"/>
          <p:cNvSpPr txBox="1"/>
          <p:nvPr/>
        </p:nvSpPr>
        <p:spPr>
          <a:xfrm>
            <a:off x="6033835" y="906639"/>
            <a:ext cx="2780956" cy="138499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 down selection on A so it occurs earlier 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2"/>
          <p:cNvSpPr/>
          <p:nvPr/>
        </p:nvSpPr>
        <p:spPr>
          <a:xfrm rot="2186508">
            <a:off x="8508335" y="2933667"/>
            <a:ext cx="364743" cy="1336885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8" name="Google Shape;388;p3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89" name="Google Shape;389;p3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32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3"/>
          <p:cNvSpPr/>
          <p:nvPr/>
        </p:nvSpPr>
        <p:spPr>
          <a:xfrm rot="-5400000">
            <a:off x="9524378" y="2941294"/>
            <a:ext cx="320961" cy="639292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3"/>
          <p:cNvSpPr txBox="1"/>
          <p:nvPr/>
        </p:nvSpPr>
        <p:spPr>
          <a:xfrm>
            <a:off x="9131955" y="2262041"/>
            <a:ext cx="1131094" cy="54213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97" name="Google Shape;397;p33"/>
          <p:cNvSpPr txBox="1"/>
          <p:nvPr/>
        </p:nvSpPr>
        <p:spPr>
          <a:xfrm>
            <a:off x="7739600" y="5525361"/>
            <a:ext cx="120015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R(A,B)</a:t>
            </a:r>
            <a:endParaRPr/>
          </a:p>
        </p:txBody>
      </p:sp>
      <p:sp>
        <p:nvSpPr>
          <p:cNvPr id="398" name="Google Shape;398;p33"/>
          <p:cNvSpPr txBox="1"/>
          <p:nvPr/>
        </p:nvSpPr>
        <p:spPr>
          <a:xfrm>
            <a:off x="9152560" y="4933866"/>
            <a:ext cx="1119188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S(B,C)</a:t>
            </a:r>
            <a:endParaRPr/>
          </a:p>
        </p:txBody>
      </p:sp>
      <p:cxnSp>
        <p:nvCxnSpPr>
          <p:cNvPr id="399" name="Google Shape;399;p33"/>
          <p:cNvCxnSpPr/>
          <p:nvPr/>
        </p:nvCxnSpPr>
        <p:spPr>
          <a:xfrm rot="-5400000">
            <a:off x="8297250" y="4489320"/>
            <a:ext cx="519998" cy="369095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0" name="Google Shape;400;p33"/>
          <p:cNvCxnSpPr/>
          <p:nvPr/>
        </p:nvCxnSpPr>
        <p:spPr>
          <a:xfrm flipH="1" rot="5400000">
            <a:off x="9072218" y="4547221"/>
            <a:ext cx="519998" cy="25329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1" name="Google Shape;401;p33"/>
          <p:cNvCxnSpPr>
            <a:stCxn id="402" idx="1"/>
          </p:cNvCxnSpPr>
          <p:nvPr/>
        </p:nvCxnSpPr>
        <p:spPr>
          <a:xfrm flipH="1" rot="10800000">
            <a:off x="8996111" y="3501555"/>
            <a:ext cx="462900" cy="6966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3" name="Google Shape;403;p33"/>
          <p:cNvSpPr txBox="1"/>
          <p:nvPr/>
        </p:nvSpPr>
        <p:spPr>
          <a:xfrm>
            <a:off x="9763901" y="3958134"/>
            <a:ext cx="1119188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T(C,D)</a:t>
            </a:r>
            <a:endParaRPr/>
          </a:p>
        </p:txBody>
      </p:sp>
      <p:cxnSp>
        <p:nvCxnSpPr>
          <p:cNvPr id="404" name="Google Shape;404;p33"/>
          <p:cNvCxnSpPr/>
          <p:nvPr/>
        </p:nvCxnSpPr>
        <p:spPr>
          <a:xfrm rot="10800000">
            <a:off x="9966868" y="3501470"/>
            <a:ext cx="304881" cy="423845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2" name="Google Shape;402;p33"/>
          <p:cNvSpPr/>
          <p:nvPr/>
        </p:nvSpPr>
        <p:spPr>
          <a:xfrm rot="-5400000">
            <a:off x="8835630" y="3878509"/>
            <a:ext cx="320961" cy="639292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5" name="Google Shape;405;p33"/>
          <p:cNvCxnSpPr/>
          <p:nvPr/>
        </p:nvCxnSpPr>
        <p:spPr>
          <a:xfrm flipH="1" rot="10800000">
            <a:off x="9712978" y="2787919"/>
            <a:ext cx="1" cy="27519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6" name="Google Shape;406;p33"/>
          <p:cNvSpPr txBox="1"/>
          <p:nvPr/>
        </p:nvSpPr>
        <p:spPr>
          <a:xfrm>
            <a:off x="1031036" y="5173104"/>
            <a:ext cx="5361852" cy="62536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07" name="Google Shape;407;p33"/>
          <p:cNvSpPr/>
          <p:nvPr/>
        </p:nvSpPr>
        <p:spPr>
          <a:xfrm>
            <a:off x="1031036" y="2095008"/>
            <a:ext cx="3255214" cy="17543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R.A,S.D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R,S,T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R.B = S.B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AND S.C = T.C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AND R.A &lt; 10;</a:t>
            </a:r>
            <a:endParaRPr/>
          </a:p>
        </p:txBody>
      </p:sp>
      <p:sp>
        <p:nvSpPr>
          <p:cNvPr id="408" name="Google Shape;408;p33"/>
          <p:cNvSpPr/>
          <p:nvPr/>
        </p:nvSpPr>
        <p:spPr>
          <a:xfrm>
            <a:off x="1022476" y="1497588"/>
            <a:ext cx="3263774" cy="3416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R(A,B)  S(B,C)  T(C,D)</a:t>
            </a:r>
            <a:endParaRPr sz="18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Optimizing RA Plan</a:t>
            </a:r>
            <a:endParaRPr/>
          </a:p>
        </p:txBody>
      </p:sp>
      <p:sp>
        <p:nvSpPr>
          <p:cNvPr id="410" name="Google Shape;410;p33"/>
          <p:cNvSpPr/>
          <p:nvPr/>
        </p:nvSpPr>
        <p:spPr>
          <a:xfrm>
            <a:off x="3152956" y="4197372"/>
            <a:ext cx="511562" cy="664622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3"/>
          <p:cNvSpPr/>
          <p:nvPr/>
        </p:nvSpPr>
        <p:spPr>
          <a:xfrm rot="-7622774">
            <a:off x="6876274" y="4330783"/>
            <a:ext cx="511562" cy="1167199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3"/>
          <p:cNvSpPr txBox="1"/>
          <p:nvPr/>
        </p:nvSpPr>
        <p:spPr>
          <a:xfrm>
            <a:off x="6033835" y="906639"/>
            <a:ext cx="2780956" cy="138499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 down selection on A so it occurs earlier 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3"/>
          <p:cNvSpPr txBox="1"/>
          <p:nvPr/>
        </p:nvSpPr>
        <p:spPr>
          <a:xfrm>
            <a:off x="7639105" y="4708817"/>
            <a:ext cx="140114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aseline="-25000" lang="en-US" sz="27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Α&lt;10</a:t>
            </a:r>
            <a:endParaRPr baseline="-25000"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4" name="Google Shape;414;p33"/>
          <p:cNvCxnSpPr/>
          <p:nvPr/>
        </p:nvCxnSpPr>
        <p:spPr>
          <a:xfrm flipH="1" rot="10800000">
            <a:off x="8339675" y="5216647"/>
            <a:ext cx="1" cy="25211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15" name="Google Shape;415;p3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16" name="Google Shape;416;p3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33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"/>
          <p:cNvSpPr/>
          <p:nvPr/>
        </p:nvSpPr>
        <p:spPr>
          <a:xfrm rot="-5400000">
            <a:off x="9524378" y="2941294"/>
            <a:ext cx="320961" cy="639292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4"/>
          <p:cNvSpPr txBox="1"/>
          <p:nvPr/>
        </p:nvSpPr>
        <p:spPr>
          <a:xfrm>
            <a:off x="9131955" y="2262041"/>
            <a:ext cx="1131094" cy="54213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4" name="Google Shape;424;p34"/>
          <p:cNvSpPr txBox="1"/>
          <p:nvPr/>
        </p:nvSpPr>
        <p:spPr>
          <a:xfrm>
            <a:off x="7739600" y="5525361"/>
            <a:ext cx="120015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R(A,B)</a:t>
            </a:r>
            <a:endParaRPr/>
          </a:p>
        </p:txBody>
      </p:sp>
      <p:sp>
        <p:nvSpPr>
          <p:cNvPr id="425" name="Google Shape;425;p34"/>
          <p:cNvSpPr txBox="1"/>
          <p:nvPr/>
        </p:nvSpPr>
        <p:spPr>
          <a:xfrm>
            <a:off x="9152560" y="4933866"/>
            <a:ext cx="1119188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S(B,C)</a:t>
            </a:r>
            <a:endParaRPr/>
          </a:p>
        </p:txBody>
      </p:sp>
      <p:cxnSp>
        <p:nvCxnSpPr>
          <p:cNvPr id="426" name="Google Shape;426;p34"/>
          <p:cNvCxnSpPr/>
          <p:nvPr/>
        </p:nvCxnSpPr>
        <p:spPr>
          <a:xfrm rot="-5400000">
            <a:off x="8297250" y="4489320"/>
            <a:ext cx="519998" cy="369095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7" name="Google Shape;427;p34"/>
          <p:cNvCxnSpPr/>
          <p:nvPr/>
        </p:nvCxnSpPr>
        <p:spPr>
          <a:xfrm flipH="1" rot="5400000">
            <a:off x="9072218" y="4547221"/>
            <a:ext cx="519998" cy="25329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8" name="Google Shape;428;p34"/>
          <p:cNvCxnSpPr>
            <a:stCxn id="429" idx="1"/>
          </p:cNvCxnSpPr>
          <p:nvPr/>
        </p:nvCxnSpPr>
        <p:spPr>
          <a:xfrm flipH="1" rot="10800000">
            <a:off x="8996111" y="3501555"/>
            <a:ext cx="462900" cy="6966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0" name="Google Shape;430;p34"/>
          <p:cNvSpPr txBox="1"/>
          <p:nvPr/>
        </p:nvSpPr>
        <p:spPr>
          <a:xfrm>
            <a:off x="9763901" y="3958134"/>
            <a:ext cx="1119188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T(C,D)</a:t>
            </a:r>
            <a:endParaRPr/>
          </a:p>
        </p:txBody>
      </p:sp>
      <p:cxnSp>
        <p:nvCxnSpPr>
          <p:cNvPr id="431" name="Google Shape;431;p34"/>
          <p:cNvCxnSpPr/>
          <p:nvPr/>
        </p:nvCxnSpPr>
        <p:spPr>
          <a:xfrm rot="10800000">
            <a:off x="9966868" y="3501470"/>
            <a:ext cx="304881" cy="423845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9" name="Google Shape;429;p34"/>
          <p:cNvSpPr/>
          <p:nvPr/>
        </p:nvSpPr>
        <p:spPr>
          <a:xfrm rot="-5400000">
            <a:off x="8835630" y="3878509"/>
            <a:ext cx="320961" cy="639292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" name="Google Shape;432;p34"/>
          <p:cNvCxnSpPr/>
          <p:nvPr/>
        </p:nvCxnSpPr>
        <p:spPr>
          <a:xfrm flipH="1" rot="10800000">
            <a:off x="9712978" y="2787919"/>
            <a:ext cx="1" cy="27519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3" name="Google Shape;433;p34"/>
          <p:cNvSpPr txBox="1"/>
          <p:nvPr/>
        </p:nvSpPr>
        <p:spPr>
          <a:xfrm>
            <a:off x="1031036" y="5173104"/>
            <a:ext cx="5361852" cy="62536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4" name="Google Shape;434;p34"/>
          <p:cNvSpPr/>
          <p:nvPr/>
        </p:nvSpPr>
        <p:spPr>
          <a:xfrm>
            <a:off x="1031036" y="2095008"/>
            <a:ext cx="3255214" cy="17543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R.A,S.D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R,S,T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R.B = S.B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AND S.C = T.C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AND R.A &lt; 10;</a:t>
            </a:r>
            <a:endParaRPr/>
          </a:p>
        </p:txBody>
      </p:sp>
      <p:sp>
        <p:nvSpPr>
          <p:cNvPr id="435" name="Google Shape;435;p34"/>
          <p:cNvSpPr/>
          <p:nvPr/>
        </p:nvSpPr>
        <p:spPr>
          <a:xfrm>
            <a:off x="1022476" y="1497588"/>
            <a:ext cx="3263774" cy="3416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R(A,B)  S(B,C)  T(C,D)</a:t>
            </a:r>
            <a:endParaRPr sz="18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Optimizing RA Plan</a:t>
            </a:r>
            <a:endParaRPr/>
          </a:p>
        </p:txBody>
      </p:sp>
      <p:sp>
        <p:nvSpPr>
          <p:cNvPr id="437" name="Google Shape;437;p34"/>
          <p:cNvSpPr/>
          <p:nvPr/>
        </p:nvSpPr>
        <p:spPr>
          <a:xfrm>
            <a:off x="3152956" y="4197372"/>
            <a:ext cx="511562" cy="664622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4"/>
          <p:cNvSpPr/>
          <p:nvPr/>
        </p:nvSpPr>
        <p:spPr>
          <a:xfrm rot="-7622774">
            <a:off x="6876274" y="4330783"/>
            <a:ext cx="511562" cy="1167199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4"/>
          <p:cNvSpPr txBox="1"/>
          <p:nvPr/>
        </p:nvSpPr>
        <p:spPr>
          <a:xfrm>
            <a:off x="6033835" y="906639"/>
            <a:ext cx="2780956" cy="138499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 down projection so it occurs earlier 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4"/>
          <p:cNvSpPr/>
          <p:nvPr/>
        </p:nvSpPr>
        <p:spPr>
          <a:xfrm rot="2045029">
            <a:off x="8686591" y="2671939"/>
            <a:ext cx="364743" cy="1336885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4"/>
          <p:cNvSpPr txBox="1"/>
          <p:nvPr/>
        </p:nvSpPr>
        <p:spPr>
          <a:xfrm>
            <a:off x="7639105" y="4708817"/>
            <a:ext cx="140114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aseline="-25000" lang="en-US" sz="27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Α&lt;10</a:t>
            </a:r>
            <a:endParaRPr baseline="-25000"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2" name="Google Shape;442;p34"/>
          <p:cNvCxnSpPr/>
          <p:nvPr/>
        </p:nvCxnSpPr>
        <p:spPr>
          <a:xfrm flipH="1" rot="10800000">
            <a:off x="8339675" y="5216647"/>
            <a:ext cx="1" cy="25211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43" name="Google Shape;443;p3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44" name="Google Shape;444;p3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34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5"/>
          <p:cNvSpPr/>
          <p:nvPr/>
        </p:nvSpPr>
        <p:spPr>
          <a:xfrm rot="-5400000">
            <a:off x="9844025" y="2544164"/>
            <a:ext cx="320961" cy="639292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5"/>
          <p:cNvSpPr txBox="1"/>
          <p:nvPr/>
        </p:nvSpPr>
        <p:spPr>
          <a:xfrm>
            <a:off x="9451602" y="1864911"/>
            <a:ext cx="1131094" cy="54213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2" name="Google Shape;452;p35"/>
          <p:cNvSpPr txBox="1"/>
          <p:nvPr/>
        </p:nvSpPr>
        <p:spPr>
          <a:xfrm>
            <a:off x="7973030" y="5884980"/>
            <a:ext cx="120015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R(A,B)</a:t>
            </a:r>
            <a:endParaRPr/>
          </a:p>
        </p:txBody>
      </p:sp>
      <p:sp>
        <p:nvSpPr>
          <p:cNvPr id="453" name="Google Shape;453;p35"/>
          <p:cNvSpPr txBox="1"/>
          <p:nvPr/>
        </p:nvSpPr>
        <p:spPr>
          <a:xfrm>
            <a:off x="9385990" y="5293485"/>
            <a:ext cx="1119188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S(B,C)</a:t>
            </a:r>
            <a:endParaRPr/>
          </a:p>
        </p:txBody>
      </p:sp>
      <p:cxnSp>
        <p:nvCxnSpPr>
          <p:cNvPr id="454" name="Google Shape;454;p35"/>
          <p:cNvCxnSpPr/>
          <p:nvPr/>
        </p:nvCxnSpPr>
        <p:spPr>
          <a:xfrm rot="-5400000">
            <a:off x="8530680" y="4848939"/>
            <a:ext cx="519998" cy="369095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5" name="Google Shape;455;p35"/>
          <p:cNvCxnSpPr/>
          <p:nvPr/>
        </p:nvCxnSpPr>
        <p:spPr>
          <a:xfrm flipH="1" rot="5400000">
            <a:off x="9305648" y="4906840"/>
            <a:ext cx="519998" cy="25329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6" name="Google Shape;456;p35"/>
          <p:cNvCxnSpPr/>
          <p:nvPr/>
        </p:nvCxnSpPr>
        <p:spPr>
          <a:xfrm flipH="1" rot="10800000">
            <a:off x="9315758" y="3104339"/>
            <a:ext cx="462752" cy="696686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7" name="Google Shape;457;p35"/>
          <p:cNvSpPr txBox="1"/>
          <p:nvPr/>
        </p:nvSpPr>
        <p:spPr>
          <a:xfrm>
            <a:off x="10083548" y="3561004"/>
            <a:ext cx="1119188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T(C,D)</a:t>
            </a:r>
            <a:endParaRPr/>
          </a:p>
        </p:txBody>
      </p:sp>
      <p:cxnSp>
        <p:nvCxnSpPr>
          <p:cNvPr id="458" name="Google Shape;458;p35"/>
          <p:cNvCxnSpPr/>
          <p:nvPr/>
        </p:nvCxnSpPr>
        <p:spPr>
          <a:xfrm rot="10800000">
            <a:off x="10286515" y="3104340"/>
            <a:ext cx="304881" cy="423845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9" name="Google Shape;459;p35"/>
          <p:cNvSpPr/>
          <p:nvPr/>
        </p:nvSpPr>
        <p:spPr>
          <a:xfrm rot="-5400000">
            <a:off x="9069060" y="4238128"/>
            <a:ext cx="320961" cy="639292"/>
          </a:xfrm>
          <a:prstGeom prst="flowChartCollat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0" name="Google Shape;460;p35"/>
          <p:cNvCxnSpPr/>
          <p:nvPr/>
        </p:nvCxnSpPr>
        <p:spPr>
          <a:xfrm flipH="1" rot="10800000">
            <a:off x="10032625" y="2390789"/>
            <a:ext cx="1" cy="27519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1" name="Google Shape;461;p35"/>
          <p:cNvSpPr txBox="1"/>
          <p:nvPr/>
        </p:nvSpPr>
        <p:spPr>
          <a:xfrm>
            <a:off x="1031036" y="5173104"/>
            <a:ext cx="6259534" cy="8291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2" name="Google Shape;462;p35"/>
          <p:cNvSpPr/>
          <p:nvPr/>
        </p:nvSpPr>
        <p:spPr>
          <a:xfrm>
            <a:off x="1031036" y="2095008"/>
            <a:ext cx="3255214" cy="17543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R.A,S.D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R,S,T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R.B = S.B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AND S.C = T.C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AND R.A &lt; 10;</a:t>
            </a:r>
            <a:endParaRPr/>
          </a:p>
        </p:txBody>
      </p:sp>
      <p:sp>
        <p:nvSpPr>
          <p:cNvPr id="463" name="Google Shape;463;p35"/>
          <p:cNvSpPr/>
          <p:nvPr/>
        </p:nvSpPr>
        <p:spPr>
          <a:xfrm>
            <a:off x="1022476" y="1497588"/>
            <a:ext cx="3263774" cy="3416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R(A,B)  S(B,C)  T(C,D)</a:t>
            </a:r>
            <a:endParaRPr sz="18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Optimizing RA Plan</a:t>
            </a:r>
            <a:endParaRPr/>
          </a:p>
        </p:txBody>
      </p:sp>
      <p:sp>
        <p:nvSpPr>
          <p:cNvPr id="465" name="Google Shape;465;p35"/>
          <p:cNvSpPr/>
          <p:nvPr/>
        </p:nvSpPr>
        <p:spPr>
          <a:xfrm>
            <a:off x="3152956" y="4197372"/>
            <a:ext cx="511562" cy="664622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5"/>
          <p:cNvSpPr/>
          <p:nvPr/>
        </p:nvSpPr>
        <p:spPr>
          <a:xfrm rot="-6964380">
            <a:off x="7549338" y="4074950"/>
            <a:ext cx="511562" cy="1167199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5"/>
          <p:cNvSpPr txBox="1"/>
          <p:nvPr/>
        </p:nvSpPr>
        <p:spPr>
          <a:xfrm>
            <a:off x="6228542" y="791813"/>
            <a:ext cx="2780956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eliminate B earlier!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5"/>
          <p:cNvSpPr txBox="1"/>
          <p:nvPr/>
        </p:nvSpPr>
        <p:spPr>
          <a:xfrm>
            <a:off x="7872535" y="5068436"/>
            <a:ext cx="140114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aseline="-25000" lang="en-US" sz="27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Α&lt;10</a:t>
            </a:r>
            <a:endParaRPr baseline="-25000"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9" name="Google Shape;469;p35"/>
          <p:cNvCxnSpPr/>
          <p:nvPr/>
        </p:nvCxnSpPr>
        <p:spPr>
          <a:xfrm flipH="1" rot="10800000">
            <a:off x="8573105" y="5576266"/>
            <a:ext cx="1" cy="25211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0" name="Google Shape;470;p35"/>
          <p:cNvSpPr txBox="1"/>
          <p:nvPr/>
        </p:nvSpPr>
        <p:spPr>
          <a:xfrm>
            <a:off x="8614708" y="3683342"/>
            <a:ext cx="1131094" cy="54213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471" name="Google Shape;471;p35"/>
          <p:cNvCxnSpPr/>
          <p:nvPr/>
        </p:nvCxnSpPr>
        <p:spPr>
          <a:xfrm flipH="1" rot="10800000">
            <a:off x="9195731" y="4209220"/>
            <a:ext cx="1" cy="27519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2" name="Google Shape;472;p35"/>
          <p:cNvSpPr txBox="1"/>
          <p:nvPr/>
        </p:nvSpPr>
        <p:spPr>
          <a:xfrm>
            <a:off x="6228542" y="1985637"/>
            <a:ext cx="2780956" cy="138499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general, when is an attribute not needed…?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3" name="Google Shape;473;p3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74" name="Google Shape;474;p3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35"/>
            <p:cNvSpPr txBox="1"/>
            <p:nvPr/>
          </p:nvSpPr>
          <p:spPr>
            <a:xfrm>
              <a:off x="188780" y="-22510"/>
              <a:ext cx="33753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Plan Optimization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Activity-17-1.ipynb</a:t>
            </a:r>
            <a:endParaRPr/>
          </a:p>
        </p:txBody>
      </p:sp>
      <p:sp>
        <p:nvSpPr>
          <p:cNvPr id="481" name="Google Shape;481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82" name="Google Shape;482;p3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83" name="Google Shape;483;p3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rgbClr val="D5DB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36"/>
            <p:cNvSpPr txBox="1"/>
            <p:nvPr/>
          </p:nvSpPr>
          <p:spPr>
            <a:xfrm>
              <a:off x="188780" y="-22510"/>
              <a:ext cx="272985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1  &gt;  ACTIVITY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2. Physical Optimization</a:t>
            </a:r>
            <a:endParaRPr/>
          </a:p>
        </p:txBody>
      </p:sp>
      <p:sp>
        <p:nvSpPr>
          <p:cNvPr id="490" name="Google Shape;490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91" name="Google Shape;491;p3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92" name="Google Shape;492;p3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37"/>
            <p:cNvSpPr txBox="1"/>
            <p:nvPr/>
          </p:nvSpPr>
          <p:spPr>
            <a:xfrm>
              <a:off x="188780" y="-22510"/>
              <a:ext cx="184377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8"/>
          <p:cNvSpPr/>
          <p:nvPr/>
        </p:nvSpPr>
        <p:spPr>
          <a:xfrm>
            <a:off x="0" y="3612931"/>
            <a:ext cx="8610600" cy="88286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you will learn about in this section</a:t>
            </a:r>
            <a:endParaRPr/>
          </a:p>
        </p:txBody>
      </p:sp>
      <p:sp>
        <p:nvSpPr>
          <p:cNvPr id="501" name="Google Shape;501;p38"/>
          <p:cNvSpPr txBox="1"/>
          <p:nvPr>
            <p:ph idx="1" type="body"/>
          </p:nvPr>
        </p:nvSpPr>
        <p:spPr>
          <a:xfrm>
            <a:off x="838200" y="1825624"/>
            <a:ext cx="10515600" cy="4175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Index Selection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Histograms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ACTIVITY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03" name="Google Shape;503;p3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04" name="Google Shape;504;p3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38"/>
            <p:cNvSpPr txBox="1"/>
            <p:nvPr/>
          </p:nvSpPr>
          <p:spPr>
            <a:xfrm>
              <a:off x="188780" y="-22510"/>
              <a:ext cx="184377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Index Selection</a:t>
            </a:r>
            <a:endParaRPr/>
          </a:p>
        </p:txBody>
      </p:sp>
      <p:sp>
        <p:nvSpPr>
          <p:cNvPr id="511" name="Google Shape;511;p39"/>
          <p:cNvSpPr txBox="1"/>
          <p:nvPr>
            <p:ph idx="1" type="body"/>
          </p:nvPr>
        </p:nvSpPr>
        <p:spPr>
          <a:xfrm>
            <a:off x="838200" y="1600200"/>
            <a:ext cx="105156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Input:</a:t>
            </a:r>
            <a:r>
              <a:rPr lang="en-US"/>
              <a:t>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Schema of the database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Workload description:</a:t>
            </a:r>
            <a:r>
              <a:rPr lang="en-US" sz="2800"/>
              <a:t> set of (query template, frequency) pairs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Goal</a:t>
            </a:r>
            <a:r>
              <a:rPr lang="en-US"/>
              <a:t>: Select a set of indexes that minimize execution time of the workload.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Cost / benefit balance: Each additional index may help with some queries, but requires updating</a:t>
            </a:r>
            <a:endParaRPr/>
          </a:p>
        </p:txBody>
      </p:sp>
      <p:sp>
        <p:nvSpPr>
          <p:cNvPr id="512" name="Google Shape;512;p39"/>
          <p:cNvSpPr txBox="1"/>
          <p:nvPr/>
        </p:nvSpPr>
        <p:spPr>
          <a:xfrm>
            <a:off x="3372127" y="5794831"/>
            <a:ext cx="5447746" cy="52322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an optimization problem!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3" name="Google Shape;513;p3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14" name="Google Shape;514;p3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39"/>
            <p:cNvSpPr txBox="1"/>
            <p:nvPr/>
          </p:nvSpPr>
          <p:spPr>
            <a:xfrm>
              <a:off x="188780" y="-22510"/>
              <a:ext cx="31644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Index Selection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21" name="Google Shape;521;p40"/>
          <p:cNvSpPr txBox="1"/>
          <p:nvPr/>
        </p:nvSpPr>
        <p:spPr>
          <a:xfrm>
            <a:off x="2476501" y="3526353"/>
            <a:ext cx="5968481" cy="15696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pname,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year = ? AND Category = ?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manufacturer = ?</a:t>
            </a:r>
            <a:endParaRPr/>
          </a:p>
        </p:txBody>
      </p:sp>
      <p:sp>
        <p:nvSpPr>
          <p:cNvPr id="522" name="Google Shape;522;p40"/>
          <p:cNvSpPr txBox="1"/>
          <p:nvPr/>
        </p:nvSpPr>
        <p:spPr>
          <a:xfrm>
            <a:off x="2476501" y="1877461"/>
            <a:ext cx="5968481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pname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year = ? AND category = 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0"/>
          <p:cNvSpPr txBox="1"/>
          <p:nvPr/>
        </p:nvSpPr>
        <p:spPr>
          <a:xfrm>
            <a:off x="8842706" y="1969793"/>
            <a:ext cx="1940767" cy="1015663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Frequency10,000,000</a:t>
            </a:r>
            <a:endParaRPr/>
          </a:p>
        </p:txBody>
      </p:sp>
      <p:sp>
        <p:nvSpPr>
          <p:cNvPr id="524" name="Google Shape;524;p40"/>
          <p:cNvSpPr txBox="1"/>
          <p:nvPr/>
        </p:nvSpPr>
        <p:spPr>
          <a:xfrm>
            <a:off x="431800" y="1793054"/>
            <a:ext cx="17399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Workload description: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0"/>
          <p:cNvSpPr txBox="1"/>
          <p:nvPr/>
        </p:nvSpPr>
        <p:spPr>
          <a:xfrm>
            <a:off x="8842706" y="3803351"/>
            <a:ext cx="1940767" cy="1015663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Frequency10,000,000</a:t>
            </a:r>
            <a:endParaRPr/>
          </a:p>
        </p:txBody>
      </p:sp>
      <p:sp>
        <p:nvSpPr>
          <p:cNvPr id="526" name="Google Shape;526;p40"/>
          <p:cNvSpPr txBox="1"/>
          <p:nvPr/>
        </p:nvSpPr>
        <p:spPr>
          <a:xfrm>
            <a:off x="3202153" y="5822217"/>
            <a:ext cx="5787694" cy="553998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indexes might we choose?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7" name="Google Shape;527;p4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28" name="Google Shape;528;p4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40"/>
            <p:cNvSpPr txBox="1"/>
            <p:nvPr/>
          </p:nvSpPr>
          <p:spPr>
            <a:xfrm>
              <a:off x="188780" y="-22510"/>
              <a:ext cx="31644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Index Selection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35" name="Google Shape;535;p41"/>
          <p:cNvSpPr txBox="1"/>
          <p:nvPr/>
        </p:nvSpPr>
        <p:spPr>
          <a:xfrm>
            <a:off x="2476501" y="3526353"/>
            <a:ext cx="5968481" cy="15696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pname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year = ? AND Category =?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manufacturer = ?</a:t>
            </a:r>
            <a:endParaRPr/>
          </a:p>
        </p:txBody>
      </p:sp>
      <p:sp>
        <p:nvSpPr>
          <p:cNvPr id="536" name="Google Shape;536;p41"/>
          <p:cNvSpPr txBox="1"/>
          <p:nvPr/>
        </p:nvSpPr>
        <p:spPr>
          <a:xfrm>
            <a:off x="2476501" y="1877461"/>
            <a:ext cx="5968481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pname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year = ? AND category =?</a:t>
            </a:r>
            <a:endParaRPr/>
          </a:p>
        </p:txBody>
      </p:sp>
      <p:sp>
        <p:nvSpPr>
          <p:cNvPr id="537" name="Google Shape;537;p41"/>
          <p:cNvSpPr txBox="1"/>
          <p:nvPr/>
        </p:nvSpPr>
        <p:spPr>
          <a:xfrm>
            <a:off x="8842706" y="1969793"/>
            <a:ext cx="1940767" cy="1015663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Frequency10,000,000</a:t>
            </a:r>
            <a:endParaRPr/>
          </a:p>
        </p:txBody>
      </p:sp>
      <p:sp>
        <p:nvSpPr>
          <p:cNvPr id="538" name="Google Shape;538;p41"/>
          <p:cNvSpPr txBox="1"/>
          <p:nvPr/>
        </p:nvSpPr>
        <p:spPr>
          <a:xfrm>
            <a:off x="431800" y="1793054"/>
            <a:ext cx="17399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Workload description: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1"/>
          <p:cNvSpPr txBox="1"/>
          <p:nvPr/>
        </p:nvSpPr>
        <p:spPr>
          <a:xfrm>
            <a:off x="8842706" y="3803351"/>
            <a:ext cx="1940767" cy="1015663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Frequency100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1"/>
          <p:cNvSpPr txBox="1"/>
          <p:nvPr/>
        </p:nvSpPr>
        <p:spPr>
          <a:xfrm>
            <a:off x="1358900" y="5544576"/>
            <a:ext cx="9474200" cy="1015663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which indexes might we choose?  Worth keeping an index with manufacturer in its search key around?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1" name="Google Shape;541;p4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42" name="Google Shape;542;p4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41"/>
            <p:cNvSpPr txBox="1"/>
            <p:nvPr/>
          </p:nvSpPr>
          <p:spPr>
            <a:xfrm>
              <a:off x="188780" y="-22510"/>
              <a:ext cx="31644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Index Selection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Simple Heuristic</a:t>
            </a:r>
            <a:endParaRPr/>
          </a:p>
        </p:txBody>
      </p:sp>
      <p:sp>
        <p:nvSpPr>
          <p:cNvPr id="549" name="Google Shape;549;p42"/>
          <p:cNvSpPr txBox="1"/>
          <p:nvPr>
            <p:ph idx="1" type="body"/>
          </p:nvPr>
        </p:nvSpPr>
        <p:spPr>
          <a:xfrm>
            <a:off x="838200" y="1825625"/>
            <a:ext cx="10515600" cy="3876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be framed as standard optimization problem: Estimate how cost changes when we add index.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We can ask the optimizer!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Search over all possible space is too expensive, optimization surface is really nasty.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Real DBs may have 1000s of tables!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Techniques to exploit </a:t>
            </a:r>
            <a:r>
              <a:rPr i="1" lang="en-US"/>
              <a:t>structure </a:t>
            </a:r>
            <a:r>
              <a:rPr lang="en-US"/>
              <a:t>of the space.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 SQLServer Autoadmin.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50" name="Google Shape;550;p42"/>
          <p:cNvSpPr txBox="1"/>
          <p:nvPr/>
        </p:nvSpPr>
        <p:spPr>
          <a:xfrm>
            <a:off x="2774302" y="6126163"/>
            <a:ext cx="6251510" cy="553998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NP-hard problem, but can be solved!</a:t>
            </a:r>
            <a:endParaRPr/>
          </a:p>
        </p:txBody>
      </p:sp>
      <p:grpSp>
        <p:nvGrpSpPr>
          <p:cNvPr id="551" name="Google Shape;551;p4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52" name="Google Shape;552;p4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42"/>
            <p:cNvSpPr txBox="1"/>
            <p:nvPr/>
          </p:nvSpPr>
          <p:spPr>
            <a:xfrm>
              <a:off x="188780" y="-22510"/>
              <a:ext cx="31644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Index Selection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Estimating index cost?</a:t>
            </a:r>
            <a:endParaRPr/>
          </a:p>
        </p:txBody>
      </p:sp>
      <p:sp>
        <p:nvSpPr>
          <p:cNvPr id="559" name="Google Shape;559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 that to frame as optimization problem, we first need an estimate of the </a:t>
            </a:r>
            <a:r>
              <a:rPr b="1" i="1" lang="en-US"/>
              <a:t>cost</a:t>
            </a:r>
            <a:r>
              <a:rPr lang="en-US"/>
              <a:t> of an index lookup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Need to be able to estimate the costs of different indexes / index types…</a:t>
            </a:r>
            <a:endParaRPr/>
          </a:p>
        </p:txBody>
      </p:sp>
      <p:grpSp>
        <p:nvGrpSpPr>
          <p:cNvPr id="560" name="Google Shape;560;p4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61" name="Google Shape;561;p4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43"/>
            <p:cNvSpPr txBox="1"/>
            <p:nvPr/>
          </p:nvSpPr>
          <p:spPr>
            <a:xfrm>
              <a:off x="188780" y="-22510"/>
              <a:ext cx="31644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Index Selection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3" name="Google Shape;563;p43"/>
          <p:cNvSpPr txBox="1"/>
          <p:nvPr/>
        </p:nvSpPr>
        <p:spPr>
          <a:xfrm>
            <a:off x="2970245" y="4804818"/>
            <a:ext cx="6251510" cy="1015663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see this mainly depends on getting estimates of result set size!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Ex: Clustered vs. Unclustered</a:t>
            </a:r>
            <a:endParaRPr/>
          </a:p>
        </p:txBody>
      </p:sp>
      <p:sp>
        <p:nvSpPr>
          <p:cNvPr id="569" name="Google Shape;569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6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570" name="Google Shape;570;p4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71" name="Google Shape;571;p4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44"/>
            <p:cNvSpPr txBox="1"/>
            <p:nvPr/>
          </p:nvSpPr>
          <p:spPr>
            <a:xfrm>
              <a:off x="188780" y="-22510"/>
              <a:ext cx="31644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Index Selection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3" name="Google Shape;573;p44"/>
          <p:cNvSpPr txBox="1"/>
          <p:nvPr/>
        </p:nvSpPr>
        <p:spPr>
          <a:xfrm>
            <a:off x="8698327" y="2708477"/>
            <a:ext cx="3092621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we are using a B+ Tree index with: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Fanout f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Fill factor 2/3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Plugging in some numbers</a:t>
            </a:r>
            <a:endParaRPr/>
          </a:p>
        </p:txBody>
      </p:sp>
      <p:sp>
        <p:nvSpPr>
          <p:cNvPr id="579" name="Google Shape;579;p45"/>
          <p:cNvSpPr txBox="1"/>
          <p:nvPr>
            <p:ph idx="1" type="body"/>
          </p:nvPr>
        </p:nvSpPr>
        <p:spPr>
          <a:xfrm>
            <a:off x="838200" y="1825625"/>
            <a:ext cx="10515600" cy="370890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818" l="-984" r="0" t="-37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580" name="Google Shape;580;p4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81" name="Google Shape;581;p4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45"/>
            <p:cNvSpPr txBox="1"/>
            <p:nvPr/>
          </p:nvSpPr>
          <p:spPr>
            <a:xfrm>
              <a:off x="188780" y="-22510"/>
              <a:ext cx="31644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Index Selection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3" name="Google Shape;583;p45"/>
          <p:cNvSpPr txBox="1"/>
          <p:nvPr/>
        </p:nvSpPr>
        <p:spPr>
          <a:xfrm>
            <a:off x="8698327" y="772871"/>
            <a:ext cx="3092621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simplify: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IO = ~10ms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Sequential IO = free</a:t>
            </a:r>
            <a:endParaRPr/>
          </a:p>
        </p:txBody>
      </p:sp>
      <p:sp>
        <p:nvSpPr>
          <p:cNvPr id="584" name="Google Shape;584;p45"/>
          <p:cNvSpPr txBox="1"/>
          <p:nvPr/>
        </p:nvSpPr>
        <p:spPr>
          <a:xfrm>
            <a:off x="8698326" y="2573700"/>
            <a:ext cx="3092621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 1 random IO = 10ms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45"/>
          <p:cNvSpPr txBox="1"/>
          <p:nvPr/>
        </p:nvSpPr>
        <p:spPr>
          <a:xfrm>
            <a:off x="8265694" y="3783440"/>
            <a:ext cx="3525253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random IO = M*10ms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45"/>
          <p:cNvSpPr txBox="1"/>
          <p:nvPr/>
        </p:nvSpPr>
        <p:spPr>
          <a:xfrm>
            <a:off x="2970245" y="5828078"/>
            <a:ext cx="6251510" cy="553998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only we had good estimates of M…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6"/>
          <p:cNvSpPr txBox="1"/>
          <p:nvPr>
            <p:ph type="title"/>
          </p:nvPr>
        </p:nvSpPr>
        <p:spPr>
          <a:xfrm>
            <a:off x="2032554" y="1709739"/>
            <a:ext cx="9314896" cy="2263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Histograms &amp; IO Cost Estimation</a:t>
            </a:r>
            <a:endParaRPr sz="4000"/>
          </a:p>
        </p:txBody>
      </p:sp>
      <p:sp>
        <p:nvSpPr>
          <p:cNvPr id="592" name="Google Shape;592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93" name="Google Shape;593;p4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94" name="Google Shape;594;p4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46"/>
            <p:cNvSpPr txBox="1"/>
            <p:nvPr/>
          </p:nvSpPr>
          <p:spPr>
            <a:xfrm>
              <a:off x="188780" y="-22510"/>
              <a:ext cx="296472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Histograms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IO Cost Estimation via Histograms</a:t>
            </a:r>
            <a:endParaRPr/>
          </a:p>
        </p:txBody>
      </p:sp>
      <p:sp>
        <p:nvSpPr>
          <p:cNvPr id="601" name="Google Shape;601;p47"/>
          <p:cNvSpPr txBox="1"/>
          <p:nvPr>
            <p:ph idx="1" type="body"/>
          </p:nvPr>
        </p:nvSpPr>
        <p:spPr>
          <a:xfrm>
            <a:off x="838200" y="1825625"/>
            <a:ext cx="10515600" cy="370390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657" l="-927" r="-869" t="-246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602" name="Google Shape;602;p4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03" name="Google Shape;603;p4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47"/>
            <p:cNvSpPr txBox="1"/>
            <p:nvPr/>
          </p:nvSpPr>
          <p:spPr>
            <a:xfrm>
              <a:off x="188780" y="-22510"/>
              <a:ext cx="296472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Histograms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5" name="Google Shape;605;p47"/>
          <p:cNvSpPr txBox="1"/>
          <p:nvPr/>
        </p:nvSpPr>
        <p:spPr>
          <a:xfrm>
            <a:off x="2970245" y="5664469"/>
            <a:ext cx="6251510" cy="1015663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Histograms provide a way to efficiently store estimates of these quantities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Histograms</a:t>
            </a:r>
            <a:endParaRPr/>
          </a:p>
        </p:txBody>
      </p:sp>
      <p:sp>
        <p:nvSpPr>
          <p:cNvPr id="611" name="Google Shape;611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histogram is a set of value ranges (“buckets”) and the frequencies of values in those buckets occurring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to choose the buckets?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 Equiwidth &amp; Equidepth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Turns out high-frequency values are </a:t>
            </a:r>
            <a:r>
              <a:rPr b="1" lang="en-US"/>
              <a:t>very </a:t>
            </a:r>
            <a:r>
              <a:rPr lang="en-US"/>
              <a:t>important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pSp>
        <p:nvGrpSpPr>
          <p:cNvPr id="612" name="Google Shape;612;p4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13" name="Google Shape;613;p4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48"/>
            <p:cNvSpPr txBox="1"/>
            <p:nvPr/>
          </p:nvSpPr>
          <p:spPr>
            <a:xfrm>
              <a:off x="188780" y="-22510"/>
              <a:ext cx="296472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Histograms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4" y="2026982"/>
            <a:ext cx="8065680" cy="346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49"/>
          <p:cNvSpPr txBox="1"/>
          <p:nvPr/>
        </p:nvSpPr>
        <p:spPr>
          <a:xfrm>
            <a:off x="3177373" y="5324522"/>
            <a:ext cx="353573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endParaRPr/>
          </a:p>
        </p:txBody>
      </p:sp>
      <p:sp>
        <p:nvSpPr>
          <p:cNvPr id="621" name="Google Shape;621;p49"/>
          <p:cNvSpPr txBox="1"/>
          <p:nvPr/>
        </p:nvSpPr>
        <p:spPr>
          <a:xfrm>
            <a:off x="0" y="1520923"/>
            <a:ext cx="23391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/>
          </a:p>
        </p:txBody>
      </p:sp>
      <p:sp>
        <p:nvSpPr>
          <p:cNvPr id="622" name="Google Shape;622;p49"/>
          <p:cNvSpPr txBox="1"/>
          <p:nvPr/>
        </p:nvSpPr>
        <p:spPr>
          <a:xfrm>
            <a:off x="9255502" y="2313062"/>
            <a:ext cx="2824997" cy="2677656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compute how many values between 8 and 10?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(Yes, it’s obvious)</a:t>
            </a:r>
            <a:endParaRPr/>
          </a:p>
        </p:txBody>
      </p:sp>
      <p:sp>
        <p:nvSpPr>
          <p:cNvPr id="623" name="Google Shape;623;p49"/>
          <p:cNvSpPr txBox="1"/>
          <p:nvPr/>
        </p:nvSpPr>
        <p:spPr>
          <a:xfrm>
            <a:off x="2875150" y="5982745"/>
            <a:ext cx="6441699" cy="523220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Problem: counts take up too much space!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grpSp>
        <p:nvGrpSpPr>
          <p:cNvPr id="625" name="Google Shape;625;p4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26" name="Google Shape;626;p4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49"/>
            <p:cNvSpPr txBox="1"/>
            <p:nvPr/>
          </p:nvSpPr>
          <p:spPr>
            <a:xfrm>
              <a:off x="188780" y="-22510"/>
              <a:ext cx="296472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Histograms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Full vs. Uniform Counts</a:t>
            </a:r>
            <a:endParaRPr/>
          </a:p>
        </p:txBody>
      </p:sp>
      <p:pic>
        <p:nvPicPr>
          <p:cNvPr id="633" name="Google Shape;63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774565"/>
            <a:ext cx="7635920" cy="4581552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50"/>
          <p:cNvSpPr txBox="1"/>
          <p:nvPr/>
        </p:nvSpPr>
        <p:spPr>
          <a:xfrm>
            <a:off x="9052302" y="1770546"/>
            <a:ext cx="2824997" cy="440120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How much space do the full counts (bucket_size=1) take?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How much space do the uniform counts (bucket_size=ALL) take?</a:t>
            </a:r>
            <a:endParaRPr b="1" sz="2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5" name="Google Shape;635;p5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36" name="Google Shape;636;p5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50"/>
            <p:cNvSpPr txBox="1"/>
            <p:nvPr/>
          </p:nvSpPr>
          <p:spPr>
            <a:xfrm>
              <a:off x="188780" y="-22510"/>
              <a:ext cx="296472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Histograms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Fundamental Tradeoffs</a:t>
            </a:r>
            <a:endParaRPr/>
          </a:p>
        </p:txBody>
      </p:sp>
      <p:sp>
        <p:nvSpPr>
          <p:cNvPr id="643" name="Google Shape;643;p5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Want high resolution (like the full counts)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Want low space (like uniform)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Histograms are a compromise!</a:t>
            </a:r>
            <a:endParaRPr/>
          </a:p>
        </p:txBody>
      </p:sp>
      <p:sp>
        <p:nvSpPr>
          <p:cNvPr id="644" name="Google Shape;644;p51"/>
          <p:cNvSpPr txBox="1"/>
          <p:nvPr/>
        </p:nvSpPr>
        <p:spPr>
          <a:xfrm>
            <a:off x="2270125" y="5727125"/>
            <a:ext cx="7651750" cy="58477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how do we compute the “bucket” sizes?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5" name="Google Shape;645;p5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46" name="Google Shape;646;p5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51"/>
            <p:cNvSpPr txBox="1"/>
            <p:nvPr/>
          </p:nvSpPr>
          <p:spPr>
            <a:xfrm>
              <a:off x="188780" y="-22510"/>
              <a:ext cx="296472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Histograms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Equi-width</a:t>
            </a:r>
            <a:endParaRPr/>
          </a:p>
        </p:txBody>
      </p:sp>
      <p:pic>
        <p:nvPicPr>
          <p:cNvPr id="653" name="Google Shape;65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228" y="1690688"/>
            <a:ext cx="8610072" cy="375636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2"/>
          <p:cNvSpPr/>
          <p:nvPr/>
        </p:nvSpPr>
        <p:spPr>
          <a:xfrm>
            <a:off x="2356579" y="4946171"/>
            <a:ext cx="1627587" cy="40283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5" name="Google Shape;655;p52"/>
          <p:cNvCxnSpPr/>
          <p:nvPr/>
        </p:nvCxnSpPr>
        <p:spPr>
          <a:xfrm rot="-5400000">
            <a:off x="2718380" y="4083224"/>
            <a:ext cx="253157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6" name="Google Shape;656;p52"/>
          <p:cNvSpPr/>
          <p:nvPr/>
        </p:nvSpPr>
        <p:spPr>
          <a:xfrm>
            <a:off x="5469465" y="4945377"/>
            <a:ext cx="1627587" cy="40283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7" name="Google Shape;657;p52"/>
          <p:cNvCxnSpPr/>
          <p:nvPr/>
        </p:nvCxnSpPr>
        <p:spPr>
          <a:xfrm rot="-5400000">
            <a:off x="5831266" y="4082430"/>
            <a:ext cx="253157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8" name="Google Shape;658;p52"/>
          <p:cNvCxnSpPr/>
          <p:nvPr/>
        </p:nvCxnSpPr>
        <p:spPr>
          <a:xfrm rot="-5400000">
            <a:off x="4202885" y="4081636"/>
            <a:ext cx="253157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9" name="Google Shape;659;p52"/>
          <p:cNvCxnSpPr/>
          <p:nvPr/>
        </p:nvCxnSpPr>
        <p:spPr>
          <a:xfrm rot="-5400000">
            <a:off x="7385723" y="4081636"/>
            <a:ext cx="253157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0" name="Google Shape;660;p52"/>
          <p:cNvSpPr/>
          <p:nvPr/>
        </p:nvSpPr>
        <p:spPr>
          <a:xfrm>
            <a:off x="8652304" y="4946965"/>
            <a:ext cx="1627587" cy="40283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52"/>
          <p:cNvSpPr txBox="1"/>
          <p:nvPr/>
        </p:nvSpPr>
        <p:spPr>
          <a:xfrm>
            <a:off x="3254375" y="5950952"/>
            <a:ext cx="5683250" cy="52322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buckets roughly the same width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2" name="Google Shape;662;p5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63" name="Google Shape;663;p5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52"/>
            <p:cNvSpPr txBox="1"/>
            <p:nvPr/>
          </p:nvSpPr>
          <p:spPr>
            <a:xfrm>
              <a:off x="188780" y="-22510"/>
              <a:ext cx="296472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Histograms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Equidepth</a:t>
            </a:r>
            <a:endParaRPr/>
          </a:p>
        </p:txBody>
      </p:sp>
      <p:pic>
        <p:nvPicPr>
          <p:cNvPr id="670" name="Google Shape;67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728" y="1474788"/>
            <a:ext cx="8830288" cy="4068763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3"/>
          <p:cNvSpPr/>
          <p:nvPr/>
        </p:nvSpPr>
        <p:spPr>
          <a:xfrm>
            <a:off x="2329644" y="5004036"/>
            <a:ext cx="2199133" cy="40283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2" name="Google Shape;672;p53"/>
          <p:cNvCxnSpPr/>
          <p:nvPr/>
        </p:nvCxnSpPr>
        <p:spPr>
          <a:xfrm rot="-5400000">
            <a:off x="4750881" y="4067949"/>
            <a:ext cx="253157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3" name="Google Shape;673;p53"/>
          <p:cNvCxnSpPr/>
          <p:nvPr/>
        </p:nvCxnSpPr>
        <p:spPr>
          <a:xfrm rot="-5400000">
            <a:off x="5857194" y="4140295"/>
            <a:ext cx="253157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4" name="Google Shape;674;p53"/>
          <p:cNvSpPr/>
          <p:nvPr/>
        </p:nvSpPr>
        <p:spPr>
          <a:xfrm>
            <a:off x="6015873" y="5048314"/>
            <a:ext cx="1106313" cy="358561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5" name="Google Shape;675;p53"/>
          <p:cNvCxnSpPr/>
          <p:nvPr/>
        </p:nvCxnSpPr>
        <p:spPr>
          <a:xfrm rot="-5400000">
            <a:off x="3273077" y="4184573"/>
            <a:ext cx="253157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6" name="Google Shape;676;p53"/>
          <p:cNvSpPr/>
          <p:nvPr/>
        </p:nvSpPr>
        <p:spPr>
          <a:xfrm>
            <a:off x="9819434" y="4969054"/>
            <a:ext cx="397750" cy="47359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7" name="Google Shape;677;p53"/>
          <p:cNvCxnSpPr/>
          <p:nvPr/>
        </p:nvCxnSpPr>
        <p:spPr>
          <a:xfrm rot="-5400000">
            <a:off x="8552855" y="4184573"/>
            <a:ext cx="253157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8" name="Google Shape;678;p53"/>
          <p:cNvSpPr txBox="1"/>
          <p:nvPr/>
        </p:nvSpPr>
        <p:spPr>
          <a:xfrm>
            <a:off x="3254375" y="5725939"/>
            <a:ext cx="5683250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buckets contain roughly the same number of items (total frequency)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9" name="Google Shape;679;p5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80" name="Google Shape;680;p5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53"/>
            <p:cNvSpPr txBox="1"/>
            <p:nvPr/>
          </p:nvSpPr>
          <p:spPr>
            <a:xfrm>
              <a:off x="188780" y="-22510"/>
              <a:ext cx="296472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Histograms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Histograms</a:t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Simple, intuitive and popular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Parameters: # of buckets and type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extend to many attributes (multidimensional)</a:t>
            </a:r>
            <a:endParaRPr/>
          </a:p>
        </p:txBody>
      </p:sp>
      <p:grpSp>
        <p:nvGrpSpPr>
          <p:cNvPr id="688" name="Google Shape;688;p5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89" name="Google Shape;689;p5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54"/>
            <p:cNvSpPr txBox="1"/>
            <p:nvPr/>
          </p:nvSpPr>
          <p:spPr>
            <a:xfrm>
              <a:off x="188780" y="-22510"/>
              <a:ext cx="296472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Histograms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Maintaining Histograms</a:t>
            </a:r>
            <a:endParaRPr/>
          </a:p>
        </p:txBody>
      </p:sp>
      <p:sp>
        <p:nvSpPr>
          <p:cNvPr id="696" name="Google Shape;696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Histograms require that we update them!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Typically, you must run/schedule a command to update statistics on the database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Out of date histograms can be terrible!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is research work on self-tuning histograms and the use of query feedback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Oracle 11g</a:t>
            </a:r>
            <a:endParaRPr/>
          </a:p>
        </p:txBody>
      </p:sp>
      <p:grpSp>
        <p:nvGrpSpPr>
          <p:cNvPr id="697" name="Google Shape;697;p5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98" name="Google Shape;698;p5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55"/>
            <p:cNvSpPr txBox="1"/>
            <p:nvPr/>
          </p:nvSpPr>
          <p:spPr>
            <a:xfrm>
              <a:off x="188780" y="-22510"/>
              <a:ext cx="296472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Histograms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Nasty example</a:t>
            </a:r>
            <a:endParaRPr/>
          </a:p>
        </p:txBody>
      </p:sp>
      <p:pic>
        <p:nvPicPr>
          <p:cNvPr id="705" name="Google Shape;70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5119" y="1462364"/>
            <a:ext cx="8065680" cy="346915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6"/>
          <p:cNvSpPr txBox="1"/>
          <p:nvPr/>
        </p:nvSpPr>
        <p:spPr>
          <a:xfrm>
            <a:off x="2831023" y="5109314"/>
            <a:ext cx="6693871" cy="138499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we insert many tuples with value &gt; 16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we do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the histogram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we ask for values &gt; 20?</a:t>
            </a:r>
            <a:endParaRPr/>
          </a:p>
        </p:txBody>
      </p:sp>
      <p:grpSp>
        <p:nvGrpSpPr>
          <p:cNvPr id="707" name="Google Shape;707;p5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08" name="Google Shape;708;p5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56"/>
            <p:cNvSpPr txBox="1"/>
            <p:nvPr/>
          </p:nvSpPr>
          <p:spPr>
            <a:xfrm>
              <a:off x="188780" y="-22510"/>
              <a:ext cx="296472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Histograms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Compressed Histograms</a:t>
            </a:r>
            <a:endParaRPr/>
          </a:p>
        </p:txBody>
      </p:sp>
      <p:sp>
        <p:nvSpPr>
          <p:cNvPr id="715" name="Google Shape;715;p5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popular approach: 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/>
              <a:t>Store the most frequent values and their counts explicitly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/>
              <a:t>Keep an equiwidth or equidepth one for the rest of the values</a:t>
            </a:r>
            <a:endParaRPr/>
          </a:p>
          <a:p>
            <a:pPr indent="-3619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16" name="Google Shape;716;p57"/>
          <p:cNvSpPr txBox="1"/>
          <p:nvPr/>
        </p:nvSpPr>
        <p:spPr>
          <a:xfrm>
            <a:off x="2276095" y="4001294"/>
            <a:ext cx="7639810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continue to try all manner of fanciness here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wavelets, graphical models, entropy models,… </a:t>
            </a:r>
            <a:endParaRPr/>
          </a:p>
        </p:txBody>
      </p:sp>
      <p:grpSp>
        <p:nvGrpSpPr>
          <p:cNvPr id="717" name="Google Shape;717;p5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18" name="Google Shape;718;p5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57"/>
            <p:cNvSpPr txBox="1"/>
            <p:nvPr/>
          </p:nvSpPr>
          <p:spPr>
            <a:xfrm>
              <a:off x="188780" y="-22510"/>
              <a:ext cx="296472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Histograms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Activity-17-2.ipynb</a:t>
            </a:r>
            <a:endParaRPr/>
          </a:p>
        </p:txBody>
      </p:sp>
      <p:sp>
        <p:nvSpPr>
          <p:cNvPr id="725" name="Google Shape;725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26" name="Google Shape;726;p5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27" name="Google Shape;727;p5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58"/>
            <p:cNvSpPr txBox="1"/>
            <p:nvPr/>
          </p:nvSpPr>
          <p:spPr>
            <a:xfrm>
              <a:off x="188780" y="-22510"/>
              <a:ext cx="272985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2  &gt;  ACTIVITY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3. Course Summary</a:t>
            </a:r>
            <a:endParaRPr/>
          </a:p>
        </p:txBody>
      </p:sp>
      <p:sp>
        <p:nvSpPr>
          <p:cNvPr id="734" name="Google Shape;734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35" name="Google Shape;735;p5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36" name="Google Shape;736;p5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59"/>
            <p:cNvSpPr txBox="1"/>
            <p:nvPr/>
          </p:nvSpPr>
          <p:spPr>
            <a:xfrm>
              <a:off x="188780" y="-22510"/>
              <a:ext cx="184377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3</a:t>
              </a:r>
              <a:endParaRPr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Summary</a:t>
            </a:r>
            <a:endParaRPr/>
          </a:p>
        </p:txBody>
      </p:sp>
      <p:sp>
        <p:nvSpPr>
          <p:cNvPr id="743" name="Google Shape;743;p60"/>
          <p:cNvSpPr txBox="1"/>
          <p:nvPr>
            <p:ph idx="1" type="body"/>
          </p:nvPr>
        </p:nvSpPr>
        <p:spPr>
          <a:xfrm>
            <a:off x="838200" y="1825624"/>
            <a:ext cx="8442434" cy="4638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learned…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/>
              <a:t>How to design a database</a:t>
            </a:r>
            <a:endParaRPr/>
          </a:p>
          <a:p>
            <a: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chemeClr val="lt1"/>
                </a:solidFill>
              </a:rPr>
              <a:t>How to query a database, even with concurrent users and crashes / aborts</a:t>
            </a:r>
            <a:endParaRPr/>
          </a:p>
          <a:p>
            <a: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chemeClr val="lt1"/>
                </a:solidFill>
              </a:rPr>
              <a:t>How to optimize the performance of a database</a:t>
            </a:r>
            <a:endParaRPr/>
          </a:p>
          <a:p>
            <a: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>
                <a:solidFill>
                  <a:schemeClr val="lt1"/>
                </a:solidFill>
              </a:rPr>
              <a:t>We got a sense (as the old joke goes) of the three most important topics in DB research: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solidFill>
                  <a:schemeClr val="lt1"/>
                </a:solidFill>
              </a:rPr>
              <a:t>Performance, performance, and performance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744" name="Google Shape;744;p6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45" name="Google Shape;745;p6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60"/>
            <p:cNvSpPr txBox="1"/>
            <p:nvPr/>
          </p:nvSpPr>
          <p:spPr>
            <a:xfrm>
              <a:off x="188780" y="-22510"/>
              <a:ext cx="184377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3</a:t>
              </a:r>
              <a:endParaRPr/>
            </a:p>
          </p:txBody>
        </p:sp>
      </p:grpSp>
      <p:sp>
        <p:nvSpPr>
          <p:cNvPr id="747" name="Google Shape;747;p60"/>
          <p:cNvSpPr txBox="1"/>
          <p:nvPr/>
        </p:nvSpPr>
        <p:spPr>
          <a:xfrm>
            <a:off x="9396247" y="609600"/>
            <a:ext cx="2532993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1. Intro</a:t>
            </a:r>
            <a:endParaRPr sz="2800">
              <a:solidFill>
                <a:srgbClr val="D0CEC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2-3. SQL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ER Diagrams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5-6. DB Design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7-8. TXNs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11-12. IO Cost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14-15. Joins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16. Rel. Algebra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Summary</a:t>
            </a:r>
            <a:endParaRPr/>
          </a:p>
        </p:txBody>
      </p:sp>
      <p:sp>
        <p:nvSpPr>
          <p:cNvPr id="753" name="Google Shape;753;p61"/>
          <p:cNvSpPr txBox="1"/>
          <p:nvPr>
            <p:ph idx="1" type="body"/>
          </p:nvPr>
        </p:nvSpPr>
        <p:spPr>
          <a:xfrm>
            <a:off x="838200" y="1825624"/>
            <a:ext cx="8442434" cy="4638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learned…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How to design a database</a:t>
            </a:r>
            <a:endParaRPr/>
          </a:p>
          <a:p>
            <a: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/>
              <a:t>How to query a database, even with concurrent users and crashes / aborts</a:t>
            </a:r>
            <a:endParaRPr/>
          </a:p>
          <a:p>
            <a: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chemeClr val="lt1"/>
                </a:solidFill>
              </a:rPr>
              <a:t>How to optimize the performance of a database</a:t>
            </a:r>
            <a:endParaRPr/>
          </a:p>
          <a:p>
            <a: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>
                <a:solidFill>
                  <a:schemeClr val="lt1"/>
                </a:solidFill>
              </a:rPr>
              <a:t>We got a sense (as the old joke goes) of the three most important topics in DB research: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solidFill>
                  <a:schemeClr val="lt1"/>
                </a:solidFill>
              </a:rPr>
              <a:t>Performance, performance, and performance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754" name="Google Shape;754;p6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55" name="Google Shape;755;p6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61"/>
            <p:cNvSpPr txBox="1"/>
            <p:nvPr/>
          </p:nvSpPr>
          <p:spPr>
            <a:xfrm>
              <a:off x="188780" y="-22510"/>
              <a:ext cx="184377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3</a:t>
              </a:r>
              <a:endParaRPr/>
            </a:p>
          </p:txBody>
        </p:sp>
      </p:grpSp>
      <p:sp>
        <p:nvSpPr>
          <p:cNvPr id="757" name="Google Shape;757;p61"/>
          <p:cNvSpPr txBox="1"/>
          <p:nvPr/>
        </p:nvSpPr>
        <p:spPr>
          <a:xfrm>
            <a:off x="9396247" y="609600"/>
            <a:ext cx="2532993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1. Intro</a:t>
            </a:r>
            <a:endParaRPr sz="2800">
              <a:solidFill>
                <a:srgbClr val="D0CEC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2-3. SQL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4. ER Diagrams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5-6. DB Design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7-8. TXNs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11-12. IO Cost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14-15. Joins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16. Rel. Algebra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Summary</a:t>
            </a:r>
            <a:endParaRPr/>
          </a:p>
        </p:txBody>
      </p:sp>
      <p:sp>
        <p:nvSpPr>
          <p:cNvPr id="763" name="Google Shape;763;p62"/>
          <p:cNvSpPr txBox="1"/>
          <p:nvPr>
            <p:ph idx="1" type="body"/>
          </p:nvPr>
        </p:nvSpPr>
        <p:spPr>
          <a:xfrm>
            <a:off x="838200" y="1825624"/>
            <a:ext cx="8442434" cy="4638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learned…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How to design a database</a:t>
            </a:r>
            <a:endParaRPr/>
          </a:p>
          <a:p>
            <a: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How to query a database, even with concurrent users and crashes / aborts</a:t>
            </a:r>
            <a:endParaRPr/>
          </a:p>
          <a:p>
            <a: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/>
              <a:t>How to optimize the performance of a database</a:t>
            </a:r>
            <a:endParaRPr/>
          </a:p>
          <a:p>
            <a: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>
                <a:solidFill>
                  <a:schemeClr val="lt1"/>
                </a:solidFill>
              </a:rPr>
              <a:t>We got a sense (as the old joke goes) of the three most important topics in DB research: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solidFill>
                  <a:schemeClr val="lt1"/>
                </a:solidFill>
              </a:rPr>
              <a:t>Performance, performance, and performance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764" name="Google Shape;764;p6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65" name="Google Shape;765;p6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62"/>
            <p:cNvSpPr txBox="1"/>
            <p:nvPr/>
          </p:nvSpPr>
          <p:spPr>
            <a:xfrm>
              <a:off x="188780" y="-22510"/>
              <a:ext cx="184377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3</a:t>
              </a:r>
              <a:endParaRPr/>
            </a:p>
          </p:txBody>
        </p:sp>
      </p:grpSp>
      <p:sp>
        <p:nvSpPr>
          <p:cNvPr id="767" name="Google Shape;767;p62"/>
          <p:cNvSpPr txBox="1"/>
          <p:nvPr/>
        </p:nvSpPr>
        <p:spPr>
          <a:xfrm>
            <a:off x="9396247" y="609600"/>
            <a:ext cx="2532993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1. Intro</a:t>
            </a:r>
            <a:endParaRPr sz="2800">
              <a:solidFill>
                <a:srgbClr val="D0CEC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2-3. SQL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4. ER Diagrams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5-6. DB Design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7-8. TXNs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11-12. IO Cost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14-15. Joins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16. Rel. Algebra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Summary</a:t>
            </a:r>
            <a:endParaRPr/>
          </a:p>
        </p:txBody>
      </p:sp>
      <p:sp>
        <p:nvSpPr>
          <p:cNvPr id="773" name="Google Shape;773;p63"/>
          <p:cNvSpPr txBox="1"/>
          <p:nvPr>
            <p:ph idx="1" type="body"/>
          </p:nvPr>
        </p:nvSpPr>
        <p:spPr>
          <a:xfrm>
            <a:off x="838200" y="1825624"/>
            <a:ext cx="8442434" cy="4638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learned…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How to design a database</a:t>
            </a:r>
            <a:endParaRPr/>
          </a:p>
          <a:p>
            <a: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How to query a database, even with concurrent users and crashes / aborts</a:t>
            </a:r>
            <a:endParaRPr/>
          </a:p>
          <a:p>
            <a: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How to optimize the performance of a database</a:t>
            </a:r>
            <a:endParaRPr/>
          </a:p>
          <a:p>
            <a: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got a sense (as the old joke goes) of the three most important topics in DB research: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Performance, performance, and performance</a:t>
            </a:r>
            <a:endParaRPr/>
          </a:p>
        </p:txBody>
      </p:sp>
      <p:grpSp>
        <p:nvGrpSpPr>
          <p:cNvPr id="774" name="Google Shape;774;p6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75" name="Google Shape;775;p6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63"/>
            <p:cNvSpPr txBox="1"/>
            <p:nvPr/>
          </p:nvSpPr>
          <p:spPr>
            <a:xfrm>
              <a:off x="188780" y="-22510"/>
              <a:ext cx="184377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17  &gt;  Section 3</a:t>
              </a:r>
              <a:endParaRPr/>
            </a:p>
          </p:txBody>
        </p:sp>
      </p:grpSp>
      <p:sp>
        <p:nvSpPr>
          <p:cNvPr id="777" name="Google Shape;777;p63"/>
          <p:cNvSpPr txBox="1"/>
          <p:nvPr/>
        </p:nvSpPr>
        <p:spPr>
          <a:xfrm>
            <a:off x="9396247" y="609600"/>
            <a:ext cx="2532993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1. Intro</a:t>
            </a:r>
            <a:endParaRPr sz="2800">
              <a:solidFill>
                <a:srgbClr val="D0CEC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2-3. SQL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4. ER Diagrams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5-6. DB Design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7-8. TXNs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11-12. IO Cost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14-15. Joins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16. Rel. Algebra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