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</p:sldIdLst>
  <p:sldSz cy="6858000" cx="12192000"/>
  <p:notesSz cx="6858000" cy="9144000"/>
  <p:embeddedFontLst>
    <p:embeddedFont>
      <p:font typeface="Noto Sans Symbols"/>
      <p:regular r:id="rId98"/>
      <p:bold r:id="rId9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370131-CC2F-42AF-985A-F3E744595770}">
  <a:tblStyle styleId="{7C370131-CC2F-42AF-985A-F3E7445957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BF10843-2875-4278-A104-14814AE8F35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D49EE17-94DD-44F4-85BA-61C26254B0D6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font" Target="fonts/NotoSansSymbols-bold.fntdata"/><Relationship Id="rId10" Type="http://schemas.openxmlformats.org/officeDocument/2006/relationships/slide" Target="slides/slide4.xml"/><Relationship Id="rId98" Type="http://schemas.openxmlformats.org/officeDocument/2006/relationships/font" Target="fonts/NotoSansSymbols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-&gt; D, B🡪 C, C-&gt;D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1" name="Google Shape;68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6" name="Google Shape;69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7" name="Google Shape;707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1" name="Google Shape;72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8" name="Google Shape;738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6" name="Google Shape;75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6" name="Google Shape;796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1" name="Google Shape;811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6" name="Google Shape;82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4" name="Google Shape;84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4" name="Google Shape;864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7" name="Google Shape;1077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1" name="Google Shape;1091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6" name="Google Shape;1106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2" name="Google Shape;1122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3" name="Google Shape;1133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5" name="Google Shape;1145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7" name="Google Shape;1157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9" name="Google Shape;1169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8" name="Google Shape;1188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7" name="Google Shape;1207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1" name="Google Shape;1231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0" y="-49167"/>
            <a:ext cx="12192000" cy="26275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Fall 2024</a:t>
            </a:r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311900"/>
            <a:ext cx="866825" cy="546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3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4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5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ctrTitle"/>
          </p:nvPr>
        </p:nvSpPr>
        <p:spPr>
          <a:xfrm>
            <a:off x="1524000" y="19732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Design Theory</a:t>
            </a:r>
            <a:endParaRPr/>
          </a:p>
        </p:txBody>
      </p:sp>
      <p:grpSp>
        <p:nvGrpSpPr>
          <p:cNvPr id="91" name="Google Shape;91;p1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2" name="Google Shape;92;p1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188780" y="-22510"/>
              <a:ext cx="12050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 u="none" cap="none" strike="noStrike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</a:t>
              </a:r>
              <a:endParaRPr/>
            </a:p>
          </p:txBody>
        </p:sp>
      </p:grp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8899967" y="61737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648445" y="5987017"/>
            <a:ext cx="11012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1. Normal forms &amp; functional dependencies</a:t>
            </a:r>
            <a:endParaRPr/>
          </a:p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you will learn about in this section</a:t>
            </a:r>
            <a:endParaRPr/>
          </a:p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838200" y="1825624"/>
            <a:ext cx="10515600" cy="4175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Overview of design theory &amp; normal forms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Data anomalies &amp; constraints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Functional dependencies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3" name="Google Shape;113;p1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4" name="Google Shape;114;p1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Design Theory</a:t>
            </a:r>
            <a:endParaRPr/>
          </a:p>
        </p:txBody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Design theory is about how to represent your data to avoid </a:t>
            </a:r>
            <a:r>
              <a:rPr b="1" i="1" lang="en-US"/>
              <a:t>anomalies</a:t>
            </a:r>
            <a:r>
              <a:rPr lang="en-US"/>
              <a:t>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a mostly mechanical process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Tools can carry out routine portions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122" name="Google Shape;122;p1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188780" y="-22510"/>
              <a:ext cx="303012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Overview</a:t>
              </a:r>
              <a:endParaRPr/>
            </a:p>
          </p:txBody>
        </p:sp>
      </p:grpSp>
      <p:sp>
        <p:nvSpPr>
          <p:cNvPr id="125" name="Google Shape;12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Normal Forms</a:t>
            </a:r>
            <a:endParaRPr/>
          </a:p>
        </p:txBody>
      </p:sp>
      <p:sp>
        <p:nvSpPr>
          <p:cNvPr id="131" name="Google Shape;131;p17"/>
          <p:cNvSpPr txBox="1"/>
          <p:nvPr>
            <p:ph idx="1" type="body"/>
          </p:nvPr>
        </p:nvSpPr>
        <p:spPr>
          <a:xfrm>
            <a:off x="838200" y="1554480"/>
            <a:ext cx="10515600" cy="4622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/>
              <a:t>1</a:t>
            </a:r>
            <a:r>
              <a:rPr baseline="30000" lang="en-US" u="sng"/>
              <a:t>st</a:t>
            </a:r>
            <a:r>
              <a:rPr lang="en-US" u="sng"/>
              <a:t> Normal Form (1NF)</a:t>
            </a:r>
            <a:r>
              <a:rPr lang="en-US"/>
              <a:t> = All tables are flat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i="1" u="sng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 u="sng"/>
              <a:t>2</a:t>
            </a:r>
            <a:r>
              <a:rPr baseline="30000" i="1" lang="en-US" u="sng"/>
              <a:t>nd</a:t>
            </a:r>
            <a:r>
              <a:rPr i="1" lang="en-US" u="sng"/>
              <a:t> Normal Form</a:t>
            </a:r>
            <a:endParaRPr i="1"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u="sng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u="sng"/>
              <a:t>3</a:t>
            </a:r>
            <a:r>
              <a:rPr b="1" baseline="30000" lang="en-US" u="sng"/>
              <a:t>rd</a:t>
            </a:r>
            <a:r>
              <a:rPr b="1" lang="en-US" u="sng"/>
              <a:t> Normal Form (3NF)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u="sng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u="sng"/>
              <a:t>Boyce-Codd Normal Form (BCNF)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u="sng"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i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 u="sng"/>
              <a:t>4</a:t>
            </a:r>
            <a:r>
              <a:rPr baseline="30000" i="1" lang="en-US" u="sng"/>
              <a:t>th </a:t>
            </a:r>
            <a:r>
              <a:rPr i="1" lang="en-US" u="sng"/>
              <a:t>and 5</a:t>
            </a:r>
            <a:r>
              <a:rPr baseline="30000" i="1" lang="en-US" u="sng"/>
              <a:t>th</a:t>
            </a:r>
            <a:r>
              <a:rPr i="1" lang="en-US" u="sng"/>
              <a:t> Normal Forms</a:t>
            </a:r>
            <a:r>
              <a:rPr i="1" lang="en-US"/>
              <a:t> = see text books</a:t>
            </a:r>
            <a:endParaRPr/>
          </a:p>
        </p:txBody>
      </p:sp>
      <p:grpSp>
        <p:nvGrpSpPr>
          <p:cNvPr id="132" name="Google Shape;132;p17"/>
          <p:cNvGrpSpPr/>
          <p:nvPr/>
        </p:nvGrpSpPr>
        <p:grpSpPr>
          <a:xfrm>
            <a:off x="694042" y="2223911"/>
            <a:ext cx="9290304" cy="2893734"/>
            <a:chOff x="1292353" y="627628"/>
            <a:chExt cx="9290304" cy="2893734"/>
          </a:xfrm>
        </p:grpSpPr>
        <p:sp>
          <p:nvSpPr>
            <p:cNvPr id="133" name="Google Shape;133;p17"/>
            <p:cNvSpPr/>
            <p:nvPr/>
          </p:nvSpPr>
          <p:spPr>
            <a:xfrm>
              <a:off x="1292353" y="627628"/>
              <a:ext cx="9290304" cy="2893734"/>
            </a:xfrm>
            <a:prstGeom prst="roundRect">
              <a:avLst>
                <a:gd fmla="val 16667" name="adj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6441948" y="1028045"/>
              <a:ext cx="374904" cy="2319236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7076780" y="1517874"/>
              <a:ext cx="2862071" cy="1938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DB designs based on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functional dependencies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intended to prevent data </a:t>
              </a:r>
              <a:r>
                <a:rPr b="1"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anomalies</a:t>
              </a:r>
              <a:endParaRPr/>
            </a:p>
          </p:txBody>
        </p:sp>
      </p:grpSp>
      <p:sp>
        <p:nvSpPr>
          <p:cNvPr id="136" name="Google Shape;136;p17"/>
          <p:cNvSpPr txBox="1"/>
          <p:nvPr/>
        </p:nvSpPr>
        <p:spPr>
          <a:xfrm>
            <a:off x="10128504" y="3743235"/>
            <a:ext cx="1700783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focus in this lecture + next one</a:t>
            </a:r>
            <a:endParaRPr/>
          </a:p>
        </p:txBody>
      </p:sp>
      <p:grpSp>
        <p:nvGrpSpPr>
          <p:cNvPr id="137" name="Google Shape;137;p1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38" name="Google Shape;138;p1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188780" y="-22510"/>
              <a:ext cx="303012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Overview</a:t>
              </a:r>
              <a:endParaRPr/>
            </a:p>
          </p:txBody>
        </p:sp>
      </p:grp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</a:t>
            </a:r>
            <a:r>
              <a:rPr baseline="30000" lang="en-US"/>
              <a:t>st</a:t>
            </a:r>
            <a:r>
              <a:rPr lang="en-US"/>
              <a:t> Normal Form (1NF)</a:t>
            </a:r>
            <a:endParaRPr/>
          </a:p>
        </p:txBody>
      </p:sp>
      <p:graphicFrame>
        <p:nvGraphicFramePr>
          <p:cNvPr id="146" name="Google Shape;146;p18"/>
          <p:cNvGraphicFramePr/>
          <p:nvPr/>
        </p:nvGraphicFramePr>
        <p:xfrm>
          <a:off x="1192992" y="19497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1654250"/>
                <a:gridCol w="25725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/>
                        <a:t>Courses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{CS145,CS229}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{CS145,CS106}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" name="Google Shape;147;p18"/>
          <p:cNvSpPr txBox="1"/>
          <p:nvPr/>
        </p:nvSpPr>
        <p:spPr>
          <a:xfrm>
            <a:off x="1730300" y="4474090"/>
            <a:ext cx="3152205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Violates 1NF. 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2127250" y="5875424"/>
            <a:ext cx="8212667" cy="61555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1NF Constraint: </a:t>
            </a: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must be atomic!</a:t>
            </a:r>
            <a:endParaRPr/>
          </a:p>
        </p:txBody>
      </p:sp>
      <p:graphicFrame>
        <p:nvGraphicFramePr>
          <p:cNvPr id="149" name="Google Shape;149;p18"/>
          <p:cNvGraphicFramePr/>
          <p:nvPr/>
        </p:nvGraphicFramePr>
        <p:xfrm>
          <a:off x="6927689" y="16906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1654250"/>
                <a:gridCol w="2179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CS229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CS106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18"/>
          <p:cNvSpPr txBox="1"/>
          <p:nvPr/>
        </p:nvSpPr>
        <p:spPr>
          <a:xfrm>
            <a:off x="7938570" y="4474090"/>
            <a:ext cx="1811683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1</a:t>
            </a:r>
            <a:r>
              <a:rPr baseline="30000"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NF</a:t>
            </a:r>
            <a:endParaRPr/>
          </a:p>
        </p:txBody>
      </p:sp>
      <p:grpSp>
        <p:nvGrpSpPr>
          <p:cNvPr id="151" name="Google Shape;151;p1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52" name="Google Shape;152;p1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188780" y="-22510"/>
              <a:ext cx="303012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Overview</a:t>
              </a:r>
              <a:endParaRPr/>
            </a:p>
          </p:txBody>
        </p:sp>
      </p:grpSp>
      <p:sp>
        <p:nvSpPr>
          <p:cNvPr id="154" name="Google Shape;15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>
            <p:ph type="title"/>
          </p:nvPr>
        </p:nvSpPr>
        <p:spPr>
          <a:xfrm>
            <a:off x="1981200" y="321843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Anomalies &amp; Constraints</a:t>
            </a:r>
            <a:endParaRPr/>
          </a:p>
        </p:txBody>
      </p:sp>
      <p:grpSp>
        <p:nvGrpSpPr>
          <p:cNvPr id="160" name="Google Shape;160;p1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61" name="Google Shape;161;p1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9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Data anomalies &amp; constraints</a:t>
              </a:r>
              <a:endParaRPr/>
            </a:p>
          </p:txBody>
        </p:sp>
      </p:grp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Constraints Prevent (some) </a:t>
            </a:r>
            <a:br>
              <a:rPr lang="en-US"/>
            </a:br>
            <a:r>
              <a:rPr lang="en-US"/>
              <a:t>Anomalies in the Data</a:t>
            </a:r>
            <a:endParaRPr/>
          </a:p>
        </p:txBody>
      </p:sp>
      <p:graphicFrame>
        <p:nvGraphicFramePr>
          <p:cNvPr id="169" name="Google Shape;169;p20"/>
          <p:cNvGraphicFramePr/>
          <p:nvPr/>
        </p:nvGraphicFramePr>
        <p:xfrm>
          <a:off x="3943513" y="2907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1654250"/>
                <a:gridCol w="1322100"/>
                <a:gridCol w="132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Room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p20"/>
          <p:cNvSpPr txBox="1"/>
          <p:nvPr/>
        </p:nvSpPr>
        <p:spPr>
          <a:xfrm>
            <a:off x="8982389" y="3720327"/>
            <a:ext cx="2575627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every course is in only one room, contains 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information!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2862736" y="2053038"/>
            <a:ext cx="6466527" cy="49244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poorly designed database causes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anomalies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6894576" y="2734056"/>
            <a:ext cx="1444752" cy="2478024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3" name="Google Shape;173;p2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74" name="Google Shape;174;p2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0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Data anomalies &amp; constraints</a:t>
              </a:r>
              <a:endParaRPr/>
            </a:p>
          </p:txBody>
        </p:sp>
      </p:grpSp>
      <p:sp>
        <p:nvSpPr>
          <p:cNvPr id="176" name="Google Shape;17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Constraints Prevent (some) </a:t>
            </a:r>
            <a:br>
              <a:rPr lang="en-US"/>
            </a:br>
            <a:r>
              <a:rPr lang="en-US"/>
              <a:t>Anomalies in the Data</a:t>
            </a:r>
            <a:endParaRPr/>
          </a:p>
        </p:txBody>
      </p:sp>
      <p:graphicFrame>
        <p:nvGraphicFramePr>
          <p:cNvPr id="182" name="Google Shape;182;p21"/>
          <p:cNvGraphicFramePr/>
          <p:nvPr/>
        </p:nvGraphicFramePr>
        <p:xfrm>
          <a:off x="3943513" y="2907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1654250"/>
                <a:gridCol w="1322100"/>
                <a:gridCol w="132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Room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C12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21"/>
          <p:cNvSpPr txBox="1"/>
          <p:nvPr/>
        </p:nvSpPr>
        <p:spPr>
          <a:xfrm>
            <a:off x="9180577" y="3233735"/>
            <a:ext cx="2575560" cy="193899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update the room number for one tuple, we get inconsistent data = an 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anomaly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2862736" y="2053038"/>
            <a:ext cx="6466527" cy="49244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poorly designed database causes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anomalies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6867144" y="3924339"/>
            <a:ext cx="822960" cy="557784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2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87" name="Google Shape;187;p2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1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Data anomalies &amp; constraints</a:t>
              </a:r>
              <a:endParaRPr/>
            </a:p>
          </p:txBody>
        </p:sp>
      </p:grpSp>
      <p:sp>
        <p:nvSpPr>
          <p:cNvPr id="189" name="Google Shape;18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Constraints Prevent (some) </a:t>
            </a:r>
            <a:br>
              <a:rPr lang="en-US"/>
            </a:br>
            <a:r>
              <a:rPr lang="en-US"/>
              <a:t>Anomalies in the Data</a:t>
            </a:r>
            <a:endParaRPr/>
          </a:p>
        </p:txBody>
      </p:sp>
      <p:graphicFrame>
        <p:nvGraphicFramePr>
          <p:cNvPr id="195" name="Google Shape;195;p22"/>
          <p:cNvGraphicFramePr/>
          <p:nvPr/>
        </p:nvGraphicFramePr>
        <p:xfrm>
          <a:off x="3943513" y="2907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1654250"/>
                <a:gridCol w="1322100"/>
                <a:gridCol w="132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Room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22"/>
          <p:cNvSpPr txBox="1"/>
          <p:nvPr/>
        </p:nvSpPr>
        <p:spPr>
          <a:xfrm>
            <a:off x="3323842" y="4541327"/>
            <a:ext cx="5544313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everyone drops the class, we lose what room the class is in! = a 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anomaly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2862736" y="2053038"/>
            <a:ext cx="6466527" cy="49244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poorly designed database causes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anomalies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7088983" y="3386367"/>
            <a:ext cx="822960" cy="557784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" name="Google Shape;199;p2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00" name="Google Shape;200;p2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22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Data anomalies &amp; constraints</a:t>
              </a:r>
              <a:endParaRPr/>
            </a:p>
          </p:txBody>
        </p:sp>
      </p:grpSp>
      <p:sp>
        <p:nvSpPr>
          <p:cNvPr id="202" name="Google Shape;20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Constraints Prevent (some) </a:t>
            </a:r>
            <a:br>
              <a:rPr lang="en-US"/>
            </a:br>
            <a:r>
              <a:rPr lang="en-US"/>
              <a:t>Anomalies in the Data</a:t>
            </a:r>
            <a:endParaRPr/>
          </a:p>
        </p:txBody>
      </p:sp>
      <p:graphicFrame>
        <p:nvGraphicFramePr>
          <p:cNvPr id="208" name="Google Shape;208;p23"/>
          <p:cNvGraphicFramePr/>
          <p:nvPr/>
        </p:nvGraphicFramePr>
        <p:xfrm>
          <a:off x="3943513" y="2907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1654250"/>
                <a:gridCol w="1322100"/>
                <a:gridCol w="132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Room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9" name="Google Shape;209;p23"/>
          <p:cNvSpPr txBox="1"/>
          <p:nvPr/>
        </p:nvSpPr>
        <p:spPr>
          <a:xfrm>
            <a:off x="8982389" y="3411507"/>
            <a:ext cx="2371411" cy="193899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Similarly, we can’t reserve a room without students = an 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2862736" y="2053038"/>
            <a:ext cx="6466527" cy="492443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poorly designed database causes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anomalies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graphicFrame>
        <p:nvGraphicFramePr>
          <p:cNvPr id="211" name="Google Shape;211;p23"/>
          <p:cNvGraphicFramePr/>
          <p:nvPr/>
        </p:nvGraphicFramePr>
        <p:xfrm>
          <a:off x="374305" y="49804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732125"/>
                <a:gridCol w="1228150"/>
                <a:gridCol w="8750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CS229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C12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23"/>
          <p:cNvSpPr/>
          <p:nvPr/>
        </p:nvSpPr>
        <p:spPr>
          <a:xfrm>
            <a:off x="3346704" y="5102352"/>
            <a:ext cx="475488" cy="27432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283464" y="4950518"/>
            <a:ext cx="824151" cy="523123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2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15" name="Google Shape;215;p2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23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Data anomalies &amp; constraints</a:t>
              </a:r>
              <a:endParaRPr/>
            </a:p>
          </p:txBody>
        </p:sp>
      </p:grp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Constraints Prevent (some) </a:t>
            </a:r>
            <a:br>
              <a:rPr lang="en-US"/>
            </a:br>
            <a:r>
              <a:rPr lang="en-US"/>
              <a:t>Anomalies in the Data</a:t>
            </a:r>
            <a:endParaRPr/>
          </a:p>
        </p:txBody>
      </p:sp>
      <p:graphicFrame>
        <p:nvGraphicFramePr>
          <p:cNvPr id="223" name="Google Shape;223;p24"/>
          <p:cNvGraphicFramePr/>
          <p:nvPr/>
        </p:nvGraphicFramePr>
        <p:xfrm>
          <a:off x="1562765" y="23401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1654250"/>
                <a:gridCol w="1322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4" name="Google Shape;224;p24"/>
          <p:cNvGraphicFramePr/>
          <p:nvPr/>
        </p:nvGraphicFramePr>
        <p:xfrm>
          <a:off x="5023705" y="27624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1322100"/>
                <a:gridCol w="132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Room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CS229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C12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24"/>
          <p:cNvSpPr txBox="1"/>
          <p:nvPr/>
        </p:nvSpPr>
        <p:spPr>
          <a:xfrm>
            <a:off x="1973385" y="5388622"/>
            <a:ext cx="8245230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Today: develop theory to understand why this design may be  better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to find this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decomposition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8307917" y="2198688"/>
            <a:ext cx="3258437" cy="249299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this form better?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Redundancy?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anomaly?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anomaly?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anomaly?</a:t>
            </a:r>
            <a:endParaRPr/>
          </a:p>
        </p:txBody>
      </p:sp>
      <p:grpSp>
        <p:nvGrpSpPr>
          <p:cNvPr id="227" name="Google Shape;227;p2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28" name="Google Shape;228;p2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4"/>
            <p:cNvSpPr txBox="1"/>
            <p:nvPr/>
          </p:nvSpPr>
          <p:spPr>
            <a:xfrm>
              <a:off x="188780" y="-22510"/>
              <a:ext cx="44817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Data anomalies &amp; constraints</a:t>
              </a:r>
              <a:endParaRPr/>
            </a:p>
          </p:txBody>
        </p:sp>
      </p:grpSp>
      <p:sp>
        <p:nvSpPr>
          <p:cNvPr id="230" name="Google Shape;23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>
            <p:ph type="title"/>
          </p:nvPr>
        </p:nvSpPr>
        <p:spPr>
          <a:xfrm>
            <a:off x="1981200" y="321843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Functional Dependencies</a:t>
            </a:r>
            <a:endParaRPr/>
          </a:p>
        </p:txBody>
      </p:sp>
      <p:grpSp>
        <p:nvGrpSpPr>
          <p:cNvPr id="236" name="Google Shape;236;p2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37" name="Google Shape;237;p2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25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  <p:sp>
        <p:nvSpPr>
          <p:cNvPr id="239" name="Google Shape;2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Functional Dependency</a:t>
            </a:r>
            <a:endParaRPr/>
          </a:p>
        </p:txBody>
      </p:sp>
      <p:sp>
        <p:nvSpPr>
          <p:cNvPr id="245" name="Google Shape;245;p26"/>
          <p:cNvSpPr txBox="1"/>
          <p:nvPr/>
        </p:nvSpPr>
        <p:spPr>
          <a:xfrm>
            <a:off x="1981199" y="5331301"/>
            <a:ext cx="8229599" cy="892552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A-&gt;B means that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“whenever two tuples agree on A then they agree on B.”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/>
          <p:nvPr/>
        </p:nvSpPr>
        <p:spPr>
          <a:xfrm>
            <a:off x="2435351" y="1793054"/>
            <a:ext cx="7321296" cy="255454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A,B be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attributes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write A 🡪 B or say A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functionally determines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if, for any tuples 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[A] = 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[A] implies 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[B] = 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[B]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we call A 🡪 B a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dependency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7" name="Google Shape;247;p2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48" name="Google Shape;248;p2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26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  <p:sp>
        <p:nvSpPr>
          <p:cNvPr id="250" name="Google Shape;25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7"/>
          <p:cNvSpPr txBox="1"/>
          <p:nvPr>
            <p:ph type="title"/>
          </p:nvPr>
        </p:nvSpPr>
        <p:spPr>
          <a:xfrm>
            <a:off x="838199" y="1575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Picture Of FDs</a:t>
            </a:r>
            <a:endParaRPr/>
          </a:p>
        </p:txBody>
      </p:sp>
      <p:graphicFrame>
        <p:nvGraphicFramePr>
          <p:cNvPr id="256" name="Google Shape;256;p27"/>
          <p:cNvGraphicFramePr/>
          <p:nvPr/>
        </p:nvGraphicFramePr>
        <p:xfrm>
          <a:off x="838199" y="22116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257" name="Google Shape;257;p27"/>
          <p:cNvSpPr txBox="1"/>
          <p:nvPr/>
        </p:nvSpPr>
        <p:spPr>
          <a:xfrm>
            <a:off x="6676702" y="994334"/>
            <a:ext cx="5169409" cy="1292662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Defn (again):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attribute sets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A={A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{B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,…B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R,</a:t>
            </a:r>
            <a:endParaRPr b="1" sz="2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1399032" y="2140954"/>
            <a:ext cx="1848916" cy="504084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3861815" y="2140954"/>
            <a:ext cx="1848916" cy="504084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0" name="Google Shape;260;p2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61" name="Google Shape;261;p2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7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  <p:sp>
        <p:nvSpPr>
          <p:cNvPr id="263" name="Google Shape;26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" name="Google Shape;268;p28"/>
          <p:cNvGraphicFramePr/>
          <p:nvPr/>
        </p:nvGraphicFramePr>
        <p:xfrm>
          <a:off x="838199" y="22116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269" name="Google Shape;269;p28"/>
          <p:cNvSpPr txBox="1"/>
          <p:nvPr>
            <p:ph type="title"/>
          </p:nvPr>
        </p:nvSpPr>
        <p:spPr>
          <a:xfrm>
            <a:off x="838199" y="1575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Picture Of FDs</a:t>
            </a:r>
            <a:endParaRPr/>
          </a:p>
        </p:txBody>
      </p:sp>
      <p:sp>
        <p:nvSpPr>
          <p:cNvPr id="270" name="Google Shape;270;p28"/>
          <p:cNvSpPr txBox="1"/>
          <p:nvPr/>
        </p:nvSpPr>
        <p:spPr>
          <a:xfrm>
            <a:off x="239019" y="2938163"/>
            <a:ext cx="599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8"/>
          <p:cNvSpPr txBox="1"/>
          <p:nvPr/>
        </p:nvSpPr>
        <p:spPr>
          <a:xfrm>
            <a:off x="239019" y="3702768"/>
            <a:ext cx="599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 txBox="1"/>
          <p:nvPr/>
        </p:nvSpPr>
        <p:spPr>
          <a:xfrm>
            <a:off x="6676702" y="994334"/>
            <a:ext cx="5169409" cy="289310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Defn (again):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attribute sets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A={A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{B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,…B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dependency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A🡪 B on R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holds if for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1399032" y="2140954"/>
            <a:ext cx="1848916" cy="504084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3861815" y="2140954"/>
            <a:ext cx="1848916" cy="504084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3208660" y="2269552"/>
            <a:ext cx="748407" cy="24688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2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77" name="Google Shape;277;p2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28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  <p:sp>
        <p:nvSpPr>
          <p:cNvPr id="279" name="Google Shape;2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"/>
          <p:cNvSpPr txBox="1"/>
          <p:nvPr>
            <p:ph type="title"/>
          </p:nvPr>
        </p:nvSpPr>
        <p:spPr>
          <a:xfrm>
            <a:off x="838199" y="1575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Picture Of FDs</a:t>
            </a:r>
            <a:endParaRPr/>
          </a:p>
        </p:txBody>
      </p:sp>
      <p:sp>
        <p:nvSpPr>
          <p:cNvPr id="285" name="Google Shape;285;p29"/>
          <p:cNvSpPr txBox="1"/>
          <p:nvPr/>
        </p:nvSpPr>
        <p:spPr>
          <a:xfrm>
            <a:off x="6676702" y="994334"/>
            <a:ext cx="5169409" cy="3693319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Defn (again):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attribute sets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A={A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{B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,…B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dependency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A🡪 B on R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holds if for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=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AND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]=t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AND … AND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=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</p:txBody>
      </p:sp>
      <p:graphicFrame>
        <p:nvGraphicFramePr>
          <p:cNvPr id="286" name="Google Shape;286;p29"/>
          <p:cNvGraphicFramePr/>
          <p:nvPr/>
        </p:nvGraphicFramePr>
        <p:xfrm>
          <a:off x="838199" y="22116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287" name="Google Shape;287;p29"/>
          <p:cNvSpPr txBox="1"/>
          <p:nvPr/>
        </p:nvSpPr>
        <p:spPr>
          <a:xfrm>
            <a:off x="239019" y="2938163"/>
            <a:ext cx="599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9"/>
          <p:cNvSpPr txBox="1"/>
          <p:nvPr/>
        </p:nvSpPr>
        <p:spPr>
          <a:xfrm>
            <a:off x="239019" y="3702768"/>
            <a:ext cx="599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9"/>
          <p:cNvSpPr/>
          <p:nvPr/>
        </p:nvSpPr>
        <p:spPr>
          <a:xfrm rot="-5400000">
            <a:off x="2164188" y="3808342"/>
            <a:ext cx="390770" cy="1758461"/>
          </a:xfrm>
          <a:prstGeom prst="leftBracket">
            <a:avLst>
              <a:gd fmla="val 8333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9"/>
          <p:cNvSpPr txBox="1"/>
          <p:nvPr/>
        </p:nvSpPr>
        <p:spPr>
          <a:xfrm>
            <a:off x="1291465" y="5032750"/>
            <a:ext cx="20385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t1,t2 agree here..</a:t>
            </a:r>
            <a:endParaRPr/>
          </a:p>
        </p:txBody>
      </p:sp>
      <p:sp>
        <p:nvSpPr>
          <p:cNvPr id="291" name="Google Shape;291;p29"/>
          <p:cNvSpPr/>
          <p:nvPr/>
        </p:nvSpPr>
        <p:spPr>
          <a:xfrm>
            <a:off x="1389887" y="2860423"/>
            <a:ext cx="1940095" cy="1275685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" name="Google Shape;292;p2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293" name="Google Shape;293;p2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29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  <p:sp>
        <p:nvSpPr>
          <p:cNvPr id="295" name="Google Shape;295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"/>
          <p:cNvSpPr txBox="1"/>
          <p:nvPr>
            <p:ph type="title"/>
          </p:nvPr>
        </p:nvSpPr>
        <p:spPr>
          <a:xfrm>
            <a:off x="838199" y="1575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Picture Of FDs</a:t>
            </a:r>
            <a:endParaRPr/>
          </a:p>
        </p:txBody>
      </p:sp>
      <p:sp>
        <p:nvSpPr>
          <p:cNvPr id="301" name="Google Shape;301;p30"/>
          <p:cNvSpPr txBox="1"/>
          <p:nvPr/>
        </p:nvSpPr>
        <p:spPr>
          <a:xfrm>
            <a:off x="6676702" y="994334"/>
            <a:ext cx="5169409" cy="4893647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Defn (again):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attribute sets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A={A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{B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,…B</a:t>
            </a:r>
            <a:r>
              <a:rPr b="1"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dependency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A🡪 B on R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holds if for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=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AND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]=t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AND … AND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=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=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AND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]=t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AND … AND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= t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</p:txBody>
      </p:sp>
      <p:graphicFrame>
        <p:nvGraphicFramePr>
          <p:cNvPr id="302" name="Google Shape;302;p30"/>
          <p:cNvGraphicFramePr/>
          <p:nvPr/>
        </p:nvGraphicFramePr>
        <p:xfrm>
          <a:off x="838199" y="22116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303" name="Google Shape;303;p30"/>
          <p:cNvSpPr txBox="1"/>
          <p:nvPr/>
        </p:nvSpPr>
        <p:spPr>
          <a:xfrm>
            <a:off x="239019" y="2938163"/>
            <a:ext cx="599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0"/>
          <p:cNvSpPr txBox="1"/>
          <p:nvPr/>
        </p:nvSpPr>
        <p:spPr>
          <a:xfrm>
            <a:off x="239019" y="3702768"/>
            <a:ext cx="5991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0"/>
          <p:cNvSpPr/>
          <p:nvPr/>
        </p:nvSpPr>
        <p:spPr>
          <a:xfrm rot="-5400000">
            <a:off x="2164188" y="3808342"/>
            <a:ext cx="390770" cy="1758461"/>
          </a:xfrm>
          <a:prstGeom prst="leftBracket">
            <a:avLst>
              <a:gd fmla="val 8333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0"/>
          <p:cNvSpPr txBox="1"/>
          <p:nvPr/>
        </p:nvSpPr>
        <p:spPr>
          <a:xfrm>
            <a:off x="1291465" y="5032750"/>
            <a:ext cx="20385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t1,t2 agree here..</a:t>
            </a:r>
            <a:endParaRPr/>
          </a:p>
        </p:txBody>
      </p:sp>
      <p:sp>
        <p:nvSpPr>
          <p:cNvPr id="307" name="Google Shape;307;p30"/>
          <p:cNvSpPr/>
          <p:nvPr/>
        </p:nvSpPr>
        <p:spPr>
          <a:xfrm>
            <a:off x="1389887" y="2860423"/>
            <a:ext cx="1940095" cy="1275685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0"/>
          <p:cNvSpPr txBox="1"/>
          <p:nvPr/>
        </p:nvSpPr>
        <p:spPr>
          <a:xfrm>
            <a:off x="3540022" y="5045749"/>
            <a:ext cx="25348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…they also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agree here!</a:t>
            </a:r>
            <a:endParaRPr/>
          </a:p>
        </p:txBody>
      </p:sp>
      <p:sp>
        <p:nvSpPr>
          <p:cNvPr id="309" name="Google Shape;309;p30"/>
          <p:cNvSpPr/>
          <p:nvPr/>
        </p:nvSpPr>
        <p:spPr>
          <a:xfrm rot="-5400000">
            <a:off x="4612285" y="3872161"/>
            <a:ext cx="390770" cy="1758461"/>
          </a:xfrm>
          <a:prstGeom prst="leftBracket">
            <a:avLst>
              <a:gd fmla="val 8333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0"/>
          <p:cNvSpPr/>
          <p:nvPr/>
        </p:nvSpPr>
        <p:spPr>
          <a:xfrm>
            <a:off x="3837984" y="2860423"/>
            <a:ext cx="1938943" cy="1287401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0"/>
          <p:cNvSpPr/>
          <p:nvPr/>
        </p:nvSpPr>
        <p:spPr>
          <a:xfrm>
            <a:off x="3224018" y="3271425"/>
            <a:ext cx="821684" cy="46539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2" name="Google Shape;312;p3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0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  <p:sp>
        <p:nvSpPr>
          <p:cNvPr id="315" name="Google Shape;31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FDs for Relational Schema Design</a:t>
            </a:r>
            <a:endParaRPr/>
          </a:p>
        </p:txBody>
      </p:sp>
      <p:sp>
        <p:nvSpPr>
          <p:cNvPr id="321" name="Google Shape;32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High-level idea: </a:t>
            </a:r>
            <a:r>
              <a:rPr b="1" lang="en-US"/>
              <a:t>why do we care about FDs?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Start with some relational </a:t>
            </a:r>
            <a:r>
              <a:rPr i="1" lang="en-US"/>
              <a:t>schema</a:t>
            </a:r>
            <a:endParaRPr/>
          </a:p>
          <a:p>
            <a:pPr indent="-3619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Find out its </a:t>
            </a:r>
            <a:r>
              <a:rPr i="1" lang="en-US"/>
              <a:t>functional dependencies (FDs)</a:t>
            </a:r>
            <a:endParaRPr/>
          </a:p>
          <a:p>
            <a:pPr indent="-3619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Use these to </a:t>
            </a:r>
            <a:r>
              <a:rPr i="1" lang="en-US"/>
              <a:t>design a better schema</a:t>
            </a:r>
            <a:endParaRPr/>
          </a:p>
          <a:p>
            <a:pPr indent="-514350" lvl="2" marL="14287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One which minimizes the possibility of anomalies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322" name="Google Shape;322;p3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23" name="Google Shape;323;p3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31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  <p:sp>
        <p:nvSpPr>
          <p:cNvPr id="325" name="Google Shape;32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Functional Dependencies as Constraints</a:t>
            </a:r>
            <a:endParaRPr/>
          </a:p>
        </p:txBody>
      </p:sp>
      <p:graphicFrame>
        <p:nvGraphicFramePr>
          <p:cNvPr id="331" name="Google Shape;331;p32"/>
          <p:cNvGraphicFramePr/>
          <p:nvPr/>
        </p:nvGraphicFramePr>
        <p:xfrm>
          <a:off x="7048826" y="20189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1654250"/>
                <a:gridCol w="1322100"/>
                <a:gridCol w="132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Room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2" name="Google Shape;332;p32"/>
          <p:cNvSpPr txBox="1"/>
          <p:nvPr/>
        </p:nvSpPr>
        <p:spPr>
          <a:xfrm>
            <a:off x="7763191" y="4938076"/>
            <a:ext cx="3282761" cy="129266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The FD {Course} -&gt; {Room}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holds on this instance</a:t>
            </a:r>
            <a:endParaRPr/>
          </a:p>
        </p:txBody>
      </p:sp>
      <p:sp>
        <p:nvSpPr>
          <p:cNvPr id="333" name="Google Shape;333;p32"/>
          <p:cNvSpPr txBox="1"/>
          <p:nvPr/>
        </p:nvSpPr>
        <p:spPr>
          <a:xfrm>
            <a:off x="838200" y="1690688"/>
            <a:ext cx="5215128" cy="4006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dependency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form of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some instances (but not others) – can check whether there are violations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 of the schema, helps define a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instance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4" name="Google Shape;334;p3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35" name="Google Shape;335;p3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32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</a:t>
              </a:r>
              <a:endParaRPr/>
            </a:p>
          </p:txBody>
        </p:sp>
      </p:grpSp>
      <p:sp>
        <p:nvSpPr>
          <p:cNvPr id="337" name="Google Shape;337;p32"/>
          <p:cNvSpPr txBox="1"/>
          <p:nvPr/>
        </p:nvSpPr>
        <p:spPr>
          <a:xfrm>
            <a:off x="412906" y="5697602"/>
            <a:ext cx="6065716" cy="830997"/>
          </a:xfrm>
          <a:prstGeom prst="rect">
            <a:avLst/>
          </a:prstGeom>
          <a:solidFill>
            <a:srgbClr val="D8E2F3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an </a:t>
            </a:r>
            <a:r>
              <a:rPr b="1" i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 schema is a multiset of tuples conforming to that schema,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 a table</a:t>
            </a:r>
            <a:endParaRPr/>
          </a:p>
        </p:txBody>
      </p:sp>
      <p:sp>
        <p:nvSpPr>
          <p:cNvPr id="338" name="Google Shape;33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Functional Dependencies as Constraints</a:t>
            </a:r>
            <a:endParaRPr/>
          </a:p>
        </p:txBody>
      </p:sp>
      <p:graphicFrame>
        <p:nvGraphicFramePr>
          <p:cNvPr id="344" name="Google Shape;344;p33"/>
          <p:cNvGraphicFramePr/>
          <p:nvPr/>
        </p:nvGraphicFramePr>
        <p:xfrm>
          <a:off x="7048826" y="20189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1654250"/>
                <a:gridCol w="1322100"/>
                <a:gridCol w="132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Room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5" name="Google Shape;345;p33"/>
          <p:cNvSpPr txBox="1"/>
          <p:nvPr/>
        </p:nvSpPr>
        <p:spPr>
          <a:xfrm>
            <a:off x="7763191" y="4938076"/>
            <a:ext cx="3590609" cy="1692771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cannot </a:t>
            </a:r>
            <a:r>
              <a:rPr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prove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the FD {Course} -&gt; {Room} is </a:t>
            </a: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 of the schema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3"/>
          <p:cNvSpPr txBox="1"/>
          <p:nvPr/>
        </p:nvSpPr>
        <p:spPr>
          <a:xfrm>
            <a:off x="838200" y="1690688"/>
            <a:ext cx="5215128" cy="471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that: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check if an FD is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violated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examining a single instance;</a:t>
            </a:r>
            <a:endParaRPr/>
          </a:p>
          <a:p>
            <a:pPr indent="-279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you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prove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an FD is part of the schema by examining a single instance. </a:t>
            </a:r>
            <a:endParaRPr/>
          </a:p>
          <a:p>
            <a:pPr indent="-457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would require checking every valid instance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7" name="Google Shape;347;p3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48" name="Google Shape;348;p3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33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</a:t>
              </a:r>
              <a:endParaRPr/>
            </a:p>
          </p:txBody>
        </p:sp>
      </p:grpSp>
      <p:sp>
        <p:nvSpPr>
          <p:cNvPr id="350" name="Google Shape;35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356" name="Google Shape;35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p34"/>
          <p:cNvSpPr/>
          <p:nvPr/>
        </p:nvSpPr>
        <p:spPr>
          <a:xfrm>
            <a:off x="1939925" y="1533525"/>
            <a:ext cx="8093374" cy="962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FD is a constraint which </a:t>
            </a: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hold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an instance:</a:t>
            </a:r>
            <a:endParaRPr/>
          </a:p>
        </p:txBody>
      </p:sp>
      <p:graphicFrame>
        <p:nvGraphicFramePr>
          <p:cNvPr id="358" name="Google Shape;358;p34"/>
          <p:cNvGraphicFramePr/>
          <p:nvPr/>
        </p:nvGraphicFramePr>
        <p:xfrm>
          <a:off x="2671912" y="25798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{7BF10843-2875-4278-A104-14814AE8F35D}</a:tableStyleId>
              </a:tblPr>
              <a:tblGrid>
                <a:gridCol w="1657350"/>
                <a:gridCol w="1657350"/>
                <a:gridCol w="1657350"/>
                <a:gridCol w="16573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EmpID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E3542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Mike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E1111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E9999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Lawyer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59" name="Google Shape;359;p3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60" name="Google Shape;360;p3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34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367" name="Google Shape;36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35"/>
          <p:cNvSpPr/>
          <p:nvPr/>
        </p:nvSpPr>
        <p:spPr>
          <a:xfrm>
            <a:off x="3194050" y="2319339"/>
            <a:ext cx="1525588" cy="158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5"/>
          <p:cNvSpPr/>
          <p:nvPr/>
        </p:nvSpPr>
        <p:spPr>
          <a:xfrm>
            <a:off x="4729164" y="2319339"/>
            <a:ext cx="9525" cy="158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5"/>
          <p:cNvSpPr/>
          <p:nvPr/>
        </p:nvSpPr>
        <p:spPr>
          <a:xfrm>
            <a:off x="4719639" y="2319339"/>
            <a:ext cx="9525" cy="15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5"/>
          <p:cNvSpPr/>
          <p:nvPr/>
        </p:nvSpPr>
        <p:spPr>
          <a:xfrm>
            <a:off x="4738688" y="2319339"/>
            <a:ext cx="1295400" cy="158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5"/>
          <p:cNvSpPr/>
          <p:nvPr/>
        </p:nvSpPr>
        <p:spPr>
          <a:xfrm>
            <a:off x="6034089" y="2319339"/>
            <a:ext cx="7937" cy="15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5"/>
          <p:cNvSpPr/>
          <p:nvPr/>
        </p:nvSpPr>
        <p:spPr>
          <a:xfrm>
            <a:off x="7391400" y="2319339"/>
            <a:ext cx="7938" cy="15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5"/>
          <p:cNvSpPr/>
          <p:nvPr/>
        </p:nvSpPr>
        <p:spPr>
          <a:xfrm>
            <a:off x="6034089" y="2319339"/>
            <a:ext cx="7937" cy="4667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5"/>
          <p:cNvSpPr/>
          <p:nvPr/>
        </p:nvSpPr>
        <p:spPr>
          <a:xfrm>
            <a:off x="3194050" y="2805114"/>
            <a:ext cx="1525588" cy="158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5"/>
          <p:cNvSpPr/>
          <p:nvPr/>
        </p:nvSpPr>
        <p:spPr>
          <a:xfrm>
            <a:off x="4729164" y="2805114"/>
            <a:ext cx="9525" cy="158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5"/>
          <p:cNvSpPr/>
          <p:nvPr/>
        </p:nvSpPr>
        <p:spPr>
          <a:xfrm>
            <a:off x="4719639" y="2805114"/>
            <a:ext cx="9525" cy="15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5"/>
          <p:cNvSpPr/>
          <p:nvPr/>
        </p:nvSpPr>
        <p:spPr>
          <a:xfrm>
            <a:off x="4738688" y="2805114"/>
            <a:ext cx="1295400" cy="158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5"/>
          <p:cNvSpPr/>
          <p:nvPr/>
        </p:nvSpPr>
        <p:spPr>
          <a:xfrm>
            <a:off x="6034089" y="2805114"/>
            <a:ext cx="7937" cy="15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5"/>
          <p:cNvSpPr/>
          <p:nvPr/>
        </p:nvSpPr>
        <p:spPr>
          <a:xfrm>
            <a:off x="7391400" y="2805114"/>
            <a:ext cx="7938" cy="15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5"/>
          <p:cNvSpPr/>
          <p:nvPr/>
        </p:nvSpPr>
        <p:spPr>
          <a:xfrm>
            <a:off x="6034089" y="2806701"/>
            <a:ext cx="7937" cy="4667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5"/>
          <p:cNvSpPr/>
          <p:nvPr/>
        </p:nvSpPr>
        <p:spPr>
          <a:xfrm>
            <a:off x="6034089" y="3273426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5"/>
          <p:cNvSpPr/>
          <p:nvPr/>
        </p:nvSpPr>
        <p:spPr>
          <a:xfrm>
            <a:off x="6034089" y="3282951"/>
            <a:ext cx="7937" cy="4667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5"/>
          <p:cNvSpPr/>
          <p:nvPr/>
        </p:nvSpPr>
        <p:spPr>
          <a:xfrm>
            <a:off x="6034089" y="3749676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5"/>
          <p:cNvSpPr/>
          <p:nvPr/>
        </p:nvSpPr>
        <p:spPr>
          <a:xfrm>
            <a:off x="6034089" y="3759201"/>
            <a:ext cx="7937" cy="4683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5"/>
          <p:cNvSpPr/>
          <p:nvPr/>
        </p:nvSpPr>
        <p:spPr>
          <a:xfrm>
            <a:off x="3176588" y="4227514"/>
            <a:ext cx="17462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5"/>
          <p:cNvSpPr/>
          <p:nvPr/>
        </p:nvSpPr>
        <p:spPr>
          <a:xfrm>
            <a:off x="3194050" y="4227514"/>
            <a:ext cx="1525588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5"/>
          <p:cNvSpPr/>
          <p:nvPr/>
        </p:nvSpPr>
        <p:spPr>
          <a:xfrm>
            <a:off x="4719639" y="4227514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5"/>
          <p:cNvSpPr/>
          <p:nvPr/>
        </p:nvSpPr>
        <p:spPr>
          <a:xfrm>
            <a:off x="4729164" y="4227514"/>
            <a:ext cx="130492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5"/>
          <p:cNvSpPr/>
          <p:nvPr/>
        </p:nvSpPr>
        <p:spPr>
          <a:xfrm>
            <a:off x="6034089" y="4227514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5"/>
          <p:cNvSpPr/>
          <p:nvPr/>
        </p:nvSpPr>
        <p:spPr>
          <a:xfrm>
            <a:off x="6042026" y="4227514"/>
            <a:ext cx="134937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5"/>
          <p:cNvSpPr/>
          <p:nvPr/>
        </p:nvSpPr>
        <p:spPr>
          <a:xfrm>
            <a:off x="7391400" y="4227514"/>
            <a:ext cx="7938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5"/>
          <p:cNvSpPr/>
          <p:nvPr/>
        </p:nvSpPr>
        <p:spPr>
          <a:xfrm>
            <a:off x="7399338" y="4227514"/>
            <a:ext cx="1706562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5"/>
          <p:cNvSpPr/>
          <p:nvPr/>
        </p:nvSpPr>
        <p:spPr>
          <a:xfrm>
            <a:off x="9105901" y="4227514"/>
            <a:ext cx="17463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5"/>
          <p:cNvSpPr/>
          <p:nvPr/>
        </p:nvSpPr>
        <p:spPr>
          <a:xfrm>
            <a:off x="4429903" y="5610882"/>
            <a:ext cx="33321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{Position}  🡪 {Phone}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6" name="Google Shape;396;p35"/>
          <p:cNvGraphicFramePr/>
          <p:nvPr/>
        </p:nvGraphicFramePr>
        <p:xfrm>
          <a:off x="2710244" y="20146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{7BF10843-2875-4278-A104-14814AE8F35D}</a:tableStyleId>
              </a:tblPr>
              <a:tblGrid>
                <a:gridCol w="1657350"/>
                <a:gridCol w="1657350"/>
                <a:gridCol w="1657350"/>
                <a:gridCol w="16573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EmpID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E3542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Mike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    ←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E1111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    ←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E9999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Lawyer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sp>
        <p:nvSpPr>
          <p:cNvPr id="397" name="Google Shape;397;p35"/>
          <p:cNvSpPr/>
          <p:nvPr/>
        </p:nvSpPr>
        <p:spPr>
          <a:xfrm>
            <a:off x="5897879" y="2931192"/>
            <a:ext cx="3538729" cy="1275685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8" name="Google Shape;398;p3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399" name="Google Shape;399;p3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35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406" name="Google Shape;406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07" name="Google Shape;407;p36"/>
          <p:cNvGraphicFramePr/>
          <p:nvPr/>
        </p:nvGraphicFramePr>
        <p:xfrm>
          <a:off x="2781300" y="20423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{7BF10843-2875-4278-A104-14814AE8F35D}</a:tableStyleId>
              </a:tblPr>
              <a:tblGrid>
                <a:gridCol w="1657350"/>
                <a:gridCol w="1657350"/>
                <a:gridCol w="1657350"/>
                <a:gridCol w="16573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EmpID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    →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E3542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Mike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E1111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E9999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    →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Lawyer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8" name="Google Shape;408;p36"/>
          <p:cNvSpPr/>
          <p:nvPr/>
        </p:nvSpPr>
        <p:spPr>
          <a:xfrm>
            <a:off x="3743976" y="5257800"/>
            <a:ext cx="46178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7C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{Phone}  🡪  {Position}</a:t>
            </a:r>
            <a:endParaRPr/>
          </a:p>
        </p:txBody>
      </p:sp>
      <p:sp>
        <p:nvSpPr>
          <p:cNvPr id="409" name="Google Shape;409;p36"/>
          <p:cNvSpPr/>
          <p:nvPr/>
        </p:nvSpPr>
        <p:spPr>
          <a:xfrm>
            <a:off x="5943599" y="2467231"/>
            <a:ext cx="3593593" cy="660017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6"/>
          <p:cNvSpPr/>
          <p:nvPr/>
        </p:nvSpPr>
        <p:spPr>
          <a:xfrm>
            <a:off x="5925311" y="4066176"/>
            <a:ext cx="3593593" cy="660017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1" name="Google Shape;411;p3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12" name="Google Shape;412;p3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36"/>
            <p:cNvSpPr txBox="1"/>
            <p:nvPr/>
          </p:nvSpPr>
          <p:spPr>
            <a:xfrm>
              <a:off x="188780" y="-22510"/>
              <a:ext cx="41327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Functional dependencies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7"/>
          <p:cNvSpPr txBox="1"/>
          <p:nvPr>
            <p:ph type="title"/>
          </p:nvPr>
        </p:nvSpPr>
        <p:spPr>
          <a:xfrm>
            <a:off x="448392" y="707922"/>
            <a:ext cx="10515600" cy="10326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ACTIVITY</a:t>
            </a:r>
            <a:endParaRPr/>
          </a:p>
        </p:txBody>
      </p:sp>
      <p:sp>
        <p:nvSpPr>
          <p:cNvPr id="420" name="Google Shape;420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21" name="Google Shape;421;p3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22" name="Google Shape;422;p3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37"/>
            <p:cNvSpPr txBox="1"/>
            <p:nvPr/>
          </p:nvSpPr>
          <p:spPr>
            <a:xfrm>
              <a:off x="188780" y="-22510"/>
              <a:ext cx="29953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1  &gt;  ACTIVITY</a:t>
              </a:r>
              <a:endParaRPr/>
            </a:p>
          </p:txBody>
        </p:sp>
      </p:grpSp>
      <p:graphicFrame>
        <p:nvGraphicFramePr>
          <p:cNvPr id="424" name="Google Shape;424;p37"/>
          <p:cNvGraphicFramePr/>
          <p:nvPr/>
        </p:nvGraphicFramePr>
        <p:xfrm>
          <a:off x="449909" y="200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{7BF10843-2875-4278-A104-14814AE8F35D}</a:tableStyleId>
              </a:tblPr>
              <a:tblGrid>
                <a:gridCol w="1084725"/>
                <a:gridCol w="988825"/>
                <a:gridCol w="1275900"/>
                <a:gridCol w="1190850"/>
                <a:gridCol w="1105775"/>
              </a:tblGrid>
              <a:tr h="58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5" name="Google Shape;425;p37"/>
          <p:cNvSpPr txBox="1"/>
          <p:nvPr/>
        </p:nvSpPr>
        <p:spPr>
          <a:xfrm>
            <a:off x="6917673" y="1740617"/>
            <a:ext cx="462928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at least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FDs which are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violated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this instance:</a:t>
            </a:r>
            <a:endParaRPr/>
          </a:p>
        </p:txBody>
      </p:sp>
      <p:sp>
        <p:nvSpPr>
          <p:cNvPr id="426" name="Google Shape;426;p37"/>
          <p:cNvSpPr txBox="1"/>
          <p:nvPr/>
        </p:nvSpPr>
        <p:spPr>
          <a:xfrm>
            <a:off x="6917673" y="2939434"/>
            <a:ext cx="3087565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    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    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    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    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    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2. Finding functional dependencies</a:t>
            </a:r>
            <a:endParaRPr/>
          </a:p>
        </p:txBody>
      </p:sp>
      <p:sp>
        <p:nvSpPr>
          <p:cNvPr id="432" name="Google Shape;43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33" name="Google Shape;433;p3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34" name="Google Shape;434;p3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38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"/>
          <p:cNvSpPr txBox="1"/>
          <p:nvPr>
            <p:ph type="title"/>
          </p:nvPr>
        </p:nvSpPr>
        <p:spPr>
          <a:xfrm>
            <a:off x="699169" y="365125"/>
            <a:ext cx="1065463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“Good” vs. “Bad” FDs</a:t>
            </a:r>
            <a:endParaRPr/>
          </a:p>
        </p:txBody>
      </p:sp>
      <p:sp>
        <p:nvSpPr>
          <p:cNvPr id="441" name="Google Shape;441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2" name="Google Shape;442;p39"/>
          <p:cNvSpPr/>
          <p:nvPr/>
        </p:nvSpPr>
        <p:spPr>
          <a:xfrm>
            <a:off x="699169" y="1743578"/>
            <a:ext cx="79675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start to develop a notion of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vs.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FDs:</a:t>
            </a:r>
            <a:endParaRPr/>
          </a:p>
        </p:txBody>
      </p:sp>
      <p:graphicFrame>
        <p:nvGraphicFramePr>
          <p:cNvPr id="443" name="Google Shape;443;p39"/>
          <p:cNvGraphicFramePr/>
          <p:nvPr/>
        </p:nvGraphicFramePr>
        <p:xfrm>
          <a:off x="699169" y="25397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{7BF10843-2875-4278-A104-14814AE8F35D}</a:tableStyleId>
              </a:tblPr>
              <a:tblGrid>
                <a:gridCol w="1450550"/>
                <a:gridCol w="1450550"/>
                <a:gridCol w="1450550"/>
                <a:gridCol w="14505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EmpID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E3542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Mike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E1111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E9999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Lawyer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4" name="Google Shape;444;p39"/>
          <p:cNvSpPr txBox="1"/>
          <p:nvPr/>
        </p:nvSpPr>
        <p:spPr>
          <a:xfrm>
            <a:off x="7621871" y="2539730"/>
            <a:ext cx="3731929" cy="289310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Intuitively: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EmpID -&gt; Name, Phone, Position i</a:t>
            </a:r>
            <a:r>
              <a:rPr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“good FD”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Minimal redundancy, less possibility of anomalies</a:t>
            </a:r>
            <a:endParaRPr/>
          </a:p>
        </p:txBody>
      </p:sp>
      <p:grpSp>
        <p:nvGrpSpPr>
          <p:cNvPr id="445" name="Google Shape;445;p3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46" name="Google Shape;446;p3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39"/>
            <p:cNvSpPr txBox="1"/>
            <p:nvPr/>
          </p:nvSpPr>
          <p:spPr>
            <a:xfrm>
              <a:off x="188780" y="-22510"/>
              <a:ext cx="35958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Good vs. Bad FDs</a:t>
              </a:r>
              <a:endParaRPr/>
            </a:p>
          </p:txBody>
        </p:sp>
      </p:grpSp>
      <p:sp>
        <p:nvSpPr>
          <p:cNvPr id="448" name="Google Shape;448;p39"/>
          <p:cNvSpPr/>
          <p:nvPr/>
        </p:nvSpPr>
        <p:spPr>
          <a:xfrm>
            <a:off x="630935" y="2986056"/>
            <a:ext cx="5943601" cy="2144474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0"/>
          <p:cNvSpPr txBox="1"/>
          <p:nvPr>
            <p:ph type="title"/>
          </p:nvPr>
        </p:nvSpPr>
        <p:spPr>
          <a:xfrm>
            <a:off x="699169" y="365125"/>
            <a:ext cx="1065463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“Good” vs. “Bad” FDs</a:t>
            </a:r>
            <a:endParaRPr/>
          </a:p>
        </p:txBody>
      </p:sp>
      <p:sp>
        <p:nvSpPr>
          <p:cNvPr id="454" name="Google Shape;45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5" name="Google Shape;455;p40"/>
          <p:cNvSpPr/>
          <p:nvPr/>
        </p:nvSpPr>
        <p:spPr>
          <a:xfrm>
            <a:off x="699169" y="1743578"/>
            <a:ext cx="79675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start to develop a notion of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vs.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FDs:</a:t>
            </a:r>
            <a:endParaRPr/>
          </a:p>
        </p:txBody>
      </p:sp>
      <p:graphicFrame>
        <p:nvGraphicFramePr>
          <p:cNvPr id="456" name="Google Shape;456;p40"/>
          <p:cNvGraphicFramePr/>
          <p:nvPr/>
        </p:nvGraphicFramePr>
        <p:xfrm>
          <a:off x="699169" y="25397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{7BF10843-2875-4278-A104-14814AE8F35D}</a:tableStyleId>
              </a:tblPr>
              <a:tblGrid>
                <a:gridCol w="1450550"/>
                <a:gridCol w="1450550"/>
                <a:gridCol w="1450550"/>
                <a:gridCol w="14505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EmpID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E3542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Mike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E1111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E9999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Lawyer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7" name="Google Shape;457;p40"/>
          <p:cNvSpPr txBox="1"/>
          <p:nvPr/>
        </p:nvSpPr>
        <p:spPr>
          <a:xfrm>
            <a:off x="7621871" y="2539730"/>
            <a:ext cx="3731929" cy="4093428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Intuitively: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EmpID -&gt; Name, Phone, Position i</a:t>
            </a:r>
            <a:r>
              <a:rPr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“good FD”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Position -&gt; Phone </a:t>
            </a:r>
            <a:r>
              <a:rPr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“bad FD”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Redundancy!  Possibility of data anomalies</a:t>
            </a:r>
            <a:endParaRPr/>
          </a:p>
        </p:txBody>
      </p:sp>
      <p:sp>
        <p:nvSpPr>
          <p:cNvPr id="458" name="Google Shape;458;p40"/>
          <p:cNvSpPr/>
          <p:nvPr/>
        </p:nvSpPr>
        <p:spPr>
          <a:xfrm>
            <a:off x="3468036" y="3435240"/>
            <a:ext cx="3033350" cy="1255632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9" name="Google Shape;459;p4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60" name="Google Shape;460;p4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40"/>
            <p:cNvSpPr txBox="1"/>
            <p:nvPr/>
          </p:nvSpPr>
          <p:spPr>
            <a:xfrm>
              <a:off x="188780" y="-22510"/>
              <a:ext cx="35958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Good vs. Bad FDs</a:t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6" name="Google Shape;466;p41"/>
          <p:cNvGraphicFramePr/>
          <p:nvPr/>
        </p:nvGraphicFramePr>
        <p:xfrm>
          <a:off x="1090302" y="16906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1654250"/>
                <a:gridCol w="1322100"/>
                <a:gridCol w="132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Student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Course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Room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Sam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CS145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..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7" name="Google Shape;467;p41"/>
          <p:cNvSpPr txBox="1"/>
          <p:nvPr/>
        </p:nvSpPr>
        <p:spPr>
          <a:xfrm>
            <a:off x="2032000" y="5099539"/>
            <a:ext cx="7842249" cy="1477328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set of FDs (from user) our goal is to: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all FDs, and 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Eliminate the “Bad Ones".</a:t>
            </a:r>
            <a:endParaRPr/>
          </a:p>
        </p:txBody>
      </p:sp>
      <p:sp>
        <p:nvSpPr>
          <p:cNvPr id="468" name="Google Shape;468;p41"/>
          <p:cNvSpPr txBox="1"/>
          <p:nvPr/>
        </p:nvSpPr>
        <p:spPr>
          <a:xfrm>
            <a:off x="6096000" y="1562672"/>
            <a:ext cx="4956048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Returning to our original example… can you see how the “bad FD” {Course} -&gt; {Room} could lead to an: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Anomaly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Anomaly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Anomaly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469" name="Google Shape;469;p41"/>
          <p:cNvSpPr txBox="1"/>
          <p:nvPr>
            <p:ph type="title"/>
          </p:nvPr>
        </p:nvSpPr>
        <p:spPr>
          <a:xfrm>
            <a:off x="699169" y="365125"/>
            <a:ext cx="1065463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“Good” vs. “Bad” FDs</a:t>
            </a:r>
            <a:endParaRPr/>
          </a:p>
        </p:txBody>
      </p:sp>
      <p:grpSp>
        <p:nvGrpSpPr>
          <p:cNvPr id="470" name="Google Shape;470;p4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71" name="Google Shape;471;p4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41"/>
            <p:cNvSpPr txBox="1"/>
            <p:nvPr/>
          </p:nvSpPr>
          <p:spPr>
            <a:xfrm>
              <a:off x="188780" y="-22510"/>
              <a:ext cx="359585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Good vs. Bad FDs</a:t>
              </a:r>
              <a:endParaRPr/>
            </a:p>
          </p:txBody>
        </p:sp>
      </p:grpSp>
      <p:sp>
        <p:nvSpPr>
          <p:cNvPr id="473" name="Google Shape;473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FDs for Relational Schema Design</a:t>
            </a:r>
            <a:endParaRPr/>
          </a:p>
        </p:txBody>
      </p:sp>
      <p:sp>
        <p:nvSpPr>
          <p:cNvPr id="479" name="Google Shape;479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High-level idea: </a:t>
            </a:r>
            <a:r>
              <a:rPr b="1" lang="en-US"/>
              <a:t>why do we care about FDs?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Start with some relational </a:t>
            </a:r>
            <a:r>
              <a:rPr i="1" lang="en-US"/>
              <a:t>schema</a:t>
            </a:r>
            <a:endParaRPr/>
          </a:p>
          <a:p>
            <a:pPr indent="-3619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Find out its </a:t>
            </a:r>
            <a:r>
              <a:rPr i="1" lang="en-US"/>
              <a:t>functional dependencies (FDs)</a:t>
            </a:r>
            <a:endParaRPr/>
          </a:p>
          <a:p>
            <a:pPr indent="-3619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Use these to </a:t>
            </a:r>
            <a:r>
              <a:rPr i="1" lang="en-US"/>
              <a:t>design a better schema</a:t>
            </a:r>
            <a:endParaRPr/>
          </a:p>
          <a:p>
            <a:pPr indent="-514350" lvl="2" marL="14287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/>
              <a:t>One which minimizes possibility of anomalies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480" name="Google Shape;480;p4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81" name="Google Shape;481;p4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42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  <p:sp>
        <p:nvSpPr>
          <p:cNvPr id="483" name="Google Shape;483;p42"/>
          <p:cNvSpPr/>
          <p:nvPr/>
        </p:nvSpPr>
        <p:spPr>
          <a:xfrm>
            <a:off x="1133856" y="3273552"/>
            <a:ext cx="6254496" cy="722376"/>
          </a:xfrm>
          <a:prstGeom prst="roundRect">
            <a:avLst>
              <a:gd fmla="val 16667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2"/>
          <p:cNvSpPr txBox="1"/>
          <p:nvPr/>
        </p:nvSpPr>
        <p:spPr>
          <a:xfrm>
            <a:off x="8180832" y="3401568"/>
            <a:ext cx="3172968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part can be tricky!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Functional Dependencies</a:t>
            </a:r>
            <a:endParaRPr i="1" sz="2200"/>
          </a:p>
        </p:txBody>
      </p:sp>
      <p:sp>
        <p:nvSpPr>
          <p:cNvPr id="491" name="Google Shape;491;p43"/>
          <p:cNvSpPr txBox="1"/>
          <p:nvPr>
            <p:ph idx="1" type="body"/>
          </p:nvPr>
        </p:nvSpPr>
        <p:spPr>
          <a:xfrm>
            <a:off x="838200" y="207251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can be a very </a:t>
            </a:r>
            <a:r>
              <a:rPr b="1" lang="en-US"/>
              <a:t>large number</a:t>
            </a:r>
            <a:r>
              <a:rPr lang="en-US"/>
              <a:t> of FDs…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How to find them all efficiently?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i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can’t necessarily show that any FD will hold </a:t>
            </a:r>
            <a:r>
              <a:rPr b="1" lang="en-US"/>
              <a:t>on all instances…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How to do this?</a:t>
            </a:r>
            <a:endParaRPr/>
          </a:p>
        </p:txBody>
      </p:sp>
      <p:sp>
        <p:nvSpPr>
          <p:cNvPr id="492" name="Google Shape;492;p43"/>
          <p:cNvSpPr txBox="1"/>
          <p:nvPr/>
        </p:nvSpPr>
        <p:spPr>
          <a:xfrm>
            <a:off x="2337816" y="4875384"/>
            <a:ext cx="7516368" cy="954107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start with this problem: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set of FDs, F, what other FDs </a:t>
            </a: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hold?</a:t>
            </a:r>
            <a:endParaRPr/>
          </a:p>
        </p:txBody>
      </p:sp>
      <p:grpSp>
        <p:nvGrpSpPr>
          <p:cNvPr id="493" name="Google Shape;493;p4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494" name="Google Shape;494;p4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43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  <p:sp>
        <p:nvSpPr>
          <p:cNvPr id="496" name="Google Shape;496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Functional Dependencies</a:t>
            </a:r>
            <a:endParaRPr i="1" sz="2200"/>
          </a:p>
        </p:txBody>
      </p:sp>
      <p:sp>
        <p:nvSpPr>
          <p:cNvPr id="502" name="Google Shape;502;p44"/>
          <p:cNvSpPr txBox="1"/>
          <p:nvPr/>
        </p:nvSpPr>
        <p:spPr>
          <a:xfrm>
            <a:off x="7251192" y="2702413"/>
            <a:ext cx="4617720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{Name} 🡪 {Color}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{Category} 🡪 {Department}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{Color, Category} 🡪 {Price}</a:t>
            </a:r>
            <a:endParaRPr/>
          </a:p>
        </p:txBody>
      </p:sp>
      <p:graphicFrame>
        <p:nvGraphicFramePr>
          <p:cNvPr id="503" name="Google Shape;503;p44"/>
          <p:cNvGraphicFramePr/>
          <p:nvPr/>
        </p:nvGraphicFramePr>
        <p:xfrm>
          <a:off x="838200" y="26798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1219200"/>
                <a:gridCol w="1219200"/>
                <a:gridCol w="1475800"/>
                <a:gridCol w="1204875"/>
                <a:gridCol w="976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Color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Category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Dep</a:t>
                      </a:r>
                      <a:endParaRPr b="1" sz="24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Price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Gizmo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Green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Gadget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Toys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Widget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Black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Gadget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Toys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Gizmo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Green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Whatsit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Garden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99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4" name="Google Shape;504;p44"/>
          <p:cNvSpPr txBox="1"/>
          <p:nvPr/>
        </p:nvSpPr>
        <p:spPr>
          <a:xfrm>
            <a:off x="3461922" y="6034619"/>
            <a:ext cx="5268155" cy="492443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/ how many other FDs do?!?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4"/>
          <p:cNvSpPr txBox="1"/>
          <p:nvPr/>
        </p:nvSpPr>
        <p:spPr>
          <a:xfrm>
            <a:off x="7141570" y="2209971"/>
            <a:ext cx="2474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Provided FDs: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4"/>
          <p:cNvSpPr txBox="1"/>
          <p:nvPr/>
        </p:nvSpPr>
        <p:spPr>
          <a:xfrm>
            <a:off x="188780" y="2209970"/>
            <a:ext cx="2474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4"/>
          <p:cNvSpPr/>
          <p:nvPr/>
        </p:nvSpPr>
        <p:spPr>
          <a:xfrm>
            <a:off x="838200" y="4791197"/>
            <a:ext cx="913790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the provided FDs, we can see that {Name, Category} 🡪 {Price} must also hold on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instance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4"/>
          <p:cNvSpPr txBox="1"/>
          <p:nvPr/>
        </p:nvSpPr>
        <p:spPr>
          <a:xfrm>
            <a:off x="838200" y="1479578"/>
            <a:ext cx="13057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</p:txBody>
      </p:sp>
      <p:grpSp>
        <p:nvGrpSpPr>
          <p:cNvPr id="509" name="Google Shape;509;p4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10" name="Google Shape;510;p4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44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  <p:sp>
        <p:nvSpPr>
          <p:cNvPr id="512" name="Google Shape;512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Functional Dependencies</a:t>
            </a:r>
            <a:endParaRPr i="1" sz="2200"/>
          </a:p>
        </p:txBody>
      </p:sp>
      <p:sp>
        <p:nvSpPr>
          <p:cNvPr id="518" name="Google Shape;518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Equivalent to asking: Given a set of FDs, F = {f</a:t>
            </a:r>
            <a:r>
              <a:rPr baseline="-25000" lang="en-US"/>
              <a:t>1</a:t>
            </a:r>
            <a:r>
              <a:rPr lang="en-US"/>
              <a:t>,…f</a:t>
            </a:r>
            <a:r>
              <a:rPr baseline="-25000" lang="en-US"/>
              <a:t>n</a:t>
            </a:r>
            <a:r>
              <a:rPr lang="en-US"/>
              <a:t>}, does an FD g hold?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Inference problem</a:t>
            </a:r>
            <a:r>
              <a:rPr lang="en-US"/>
              <a:t>: How do we decide?</a:t>
            </a:r>
            <a:endParaRPr/>
          </a:p>
        </p:txBody>
      </p:sp>
      <p:sp>
        <p:nvSpPr>
          <p:cNvPr id="519" name="Google Shape;519;p45"/>
          <p:cNvSpPr txBox="1"/>
          <p:nvPr/>
        </p:nvSpPr>
        <p:spPr>
          <a:xfrm>
            <a:off x="2469012" y="3862104"/>
            <a:ext cx="7253979" cy="240065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Three simple rules called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Armstrong’s Rules.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Split/Combine,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Reduction, and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Transitivity… </a:t>
            </a: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ideas by picture</a:t>
            </a:r>
            <a:endParaRPr/>
          </a:p>
        </p:txBody>
      </p:sp>
      <p:grpSp>
        <p:nvGrpSpPr>
          <p:cNvPr id="520" name="Google Shape;520;p4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21" name="Google Shape;521;p4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45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  <p:sp>
        <p:nvSpPr>
          <p:cNvPr id="523" name="Google Shape;523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6"/>
          <p:cNvSpPr txBox="1"/>
          <p:nvPr>
            <p:ph type="title"/>
          </p:nvPr>
        </p:nvSpPr>
        <p:spPr>
          <a:xfrm>
            <a:off x="1981200" y="254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1. Split/Combine</a:t>
            </a:r>
            <a:endParaRPr/>
          </a:p>
        </p:txBody>
      </p:sp>
      <p:graphicFrame>
        <p:nvGraphicFramePr>
          <p:cNvPr id="529" name="Google Shape;529;p46"/>
          <p:cNvGraphicFramePr/>
          <p:nvPr/>
        </p:nvGraphicFramePr>
        <p:xfrm>
          <a:off x="3048000" y="1755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530" name="Google Shape;530;p46"/>
          <p:cNvSpPr txBox="1"/>
          <p:nvPr/>
        </p:nvSpPr>
        <p:spPr>
          <a:xfrm>
            <a:off x="4191000" y="4304974"/>
            <a:ext cx="3810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6"/>
          <p:cNvSpPr/>
          <p:nvPr/>
        </p:nvSpPr>
        <p:spPr>
          <a:xfrm>
            <a:off x="3567954" y="2383987"/>
            <a:ext cx="1968650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6"/>
          <p:cNvSpPr/>
          <p:nvPr/>
        </p:nvSpPr>
        <p:spPr>
          <a:xfrm>
            <a:off x="6032350" y="2383987"/>
            <a:ext cx="1968650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6"/>
          <p:cNvSpPr/>
          <p:nvPr/>
        </p:nvSpPr>
        <p:spPr>
          <a:xfrm>
            <a:off x="5206426" y="2687890"/>
            <a:ext cx="1156102" cy="67235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4" name="Google Shape;534;p4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35" name="Google Shape;535;p4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46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  <p:sp>
        <p:nvSpPr>
          <p:cNvPr id="537" name="Google Shape;53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7"/>
          <p:cNvSpPr txBox="1"/>
          <p:nvPr>
            <p:ph type="title"/>
          </p:nvPr>
        </p:nvSpPr>
        <p:spPr>
          <a:xfrm>
            <a:off x="1981200" y="254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1. Split/Combine</a:t>
            </a:r>
            <a:endParaRPr/>
          </a:p>
        </p:txBody>
      </p:sp>
      <p:graphicFrame>
        <p:nvGraphicFramePr>
          <p:cNvPr id="543" name="Google Shape;543;p47"/>
          <p:cNvGraphicFramePr/>
          <p:nvPr/>
        </p:nvGraphicFramePr>
        <p:xfrm>
          <a:off x="3048000" y="1755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544" name="Google Shape;544;p47"/>
          <p:cNvSpPr txBox="1"/>
          <p:nvPr/>
        </p:nvSpPr>
        <p:spPr>
          <a:xfrm>
            <a:off x="4191000" y="4304974"/>
            <a:ext cx="3810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7"/>
          <p:cNvSpPr txBox="1"/>
          <p:nvPr/>
        </p:nvSpPr>
        <p:spPr>
          <a:xfrm>
            <a:off x="3048002" y="5082604"/>
            <a:ext cx="60959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is equivalent to the following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FDs…</a:t>
            </a:r>
            <a:endParaRPr/>
          </a:p>
        </p:txBody>
      </p:sp>
      <p:sp>
        <p:nvSpPr>
          <p:cNvPr id="546" name="Google Shape;546;p47"/>
          <p:cNvSpPr txBox="1"/>
          <p:nvPr/>
        </p:nvSpPr>
        <p:spPr>
          <a:xfrm>
            <a:off x="3141786" y="5866747"/>
            <a:ext cx="60959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i=1,…,n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7"/>
          <p:cNvSpPr/>
          <p:nvPr/>
        </p:nvSpPr>
        <p:spPr>
          <a:xfrm>
            <a:off x="3567954" y="2383987"/>
            <a:ext cx="1968650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7"/>
          <p:cNvSpPr/>
          <p:nvPr/>
        </p:nvSpPr>
        <p:spPr>
          <a:xfrm>
            <a:off x="6666155" y="2383987"/>
            <a:ext cx="720764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7"/>
          <p:cNvSpPr/>
          <p:nvPr/>
        </p:nvSpPr>
        <p:spPr>
          <a:xfrm>
            <a:off x="5206426" y="2687890"/>
            <a:ext cx="1642609" cy="67235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0" name="Google Shape;550;p4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51" name="Google Shape;551;p4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47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  <p:sp>
        <p:nvSpPr>
          <p:cNvPr id="553" name="Google Shape;553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8"/>
          <p:cNvSpPr txBox="1"/>
          <p:nvPr>
            <p:ph type="title"/>
          </p:nvPr>
        </p:nvSpPr>
        <p:spPr>
          <a:xfrm>
            <a:off x="1981200" y="254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1. Split/Combine</a:t>
            </a:r>
            <a:endParaRPr/>
          </a:p>
        </p:txBody>
      </p:sp>
      <p:graphicFrame>
        <p:nvGraphicFramePr>
          <p:cNvPr id="559" name="Google Shape;559;p48"/>
          <p:cNvGraphicFramePr/>
          <p:nvPr/>
        </p:nvGraphicFramePr>
        <p:xfrm>
          <a:off x="3048000" y="1755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560" name="Google Shape;560;p48"/>
          <p:cNvSpPr txBox="1"/>
          <p:nvPr/>
        </p:nvSpPr>
        <p:spPr>
          <a:xfrm>
            <a:off x="4449183" y="5960801"/>
            <a:ext cx="3810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48"/>
          <p:cNvSpPr txBox="1"/>
          <p:nvPr/>
        </p:nvSpPr>
        <p:spPr>
          <a:xfrm>
            <a:off x="3048002" y="5082604"/>
            <a:ext cx="60959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is equivalent to …</a:t>
            </a:r>
            <a:endParaRPr/>
          </a:p>
        </p:txBody>
      </p:sp>
      <p:sp>
        <p:nvSpPr>
          <p:cNvPr id="562" name="Google Shape;562;p48"/>
          <p:cNvSpPr txBox="1"/>
          <p:nvPr/>
        </p:nvSpPr>
        <p:spPr>
          <a:xfrm>
            <a:off x="3048001" y="4335222"/>
            <a:ext cx="60959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vice-versa,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i=1,…,n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8"/>
          <p:cNvSpPr/>
          <p:nvPr/>
        </p:nvSpPr>
        <p:spPr>
          <a:xfrm>
            <a:off x="3567954" y="2383987"/>
            <a:ext cx="1968650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8"/>
          <p:cNvSpPr/>
          <p:nvPr/>
        </p:nvSpPr>
        <p:spPr>
          <a:xfrm>
            <a:off x="6666155" y="2383987"/>
            <a:ext cx="720764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8"/>
          <p:cNvSpPr/>
          <p:nvPr/>
        </p:nvSpPr>
        <p:spPr>
          <a:xfrm>
            <a:off x="5206426" y="2687890"/>
            <a:ext cx="1642609" cy="67235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6" name="Google Shape;566;p4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67" name="Google Shape;567;p4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48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  <p:sp>
        <p:nvSpPr>
          <p:cNvPr id="569" name="Google Shape;569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75" name="Google Shape;575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Name, Color -&gt; price, Dept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Split: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Name, Color -&gt; Price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Name, Color -&gt; Dept</a:t>
            </a:r>
            <a:endParaRPr/>
          </a:p>
        </p:txBody>
      </p:sp>
      <p:sp>
        <p:nvSpPr>
          <p:cNvPr id="576" name="Google Shape;576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Reduction/Trivial</a:t>
            </a:r>
            <a:endParaRPr/>
          </a:p>
        </p:txBody>
      </p:sp>
      <p:graphicFrame>
        <p:nvGraphicFramePr>
          <p:cNvPr id="582" name="Google Shape;582;p50"/>
          <p:cNvGraphicFramePr/>
          <p:nvPr/>
        </p:nvGraphicFramePr>
        <p:xfrm>
          <a:off x="3048000" y="1755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583" name="Google Shape;583;p50"/>
          <p:cNvSpPr txBox="1"/>
          <p:nvPr/>
        </p:nvSpPr>
        <p:spPr>
          <a:xfrm>
            <a:off x="3204309" y="4611078"/>
            <a:ext cx="524933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A</a:t>
            </a:r>
            <a:r>
              <a:rPr baseline="-25000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any j=1,…,m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50"/>
          <p:cNvSpPr/>
          <p:nvPr/>
        </p:nvSpPr>
        <p:spPr>
          <a:xfrm>
            <a:off x="3567954" y="2383987"/>
            <a:ext cx="1968650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50"/>
          <p:cNvSpPr/>
          <p:nvPr/>
        </p:nvSpPr>
        <p:spPr>
          <a:xfrm>
            <a:off x="4159625" y="2374277"/>
            <a:ext cx="785309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50"/>
          <p:cNvSpPr/>
          <p:nvPr/>
        </p:nvSpPr>
        <p:spPr>
          <a:xfrm>
            <a:off x="3605328" y="2687890"/>
            <a:ext cx="545330" cy="67235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7" name="Google Shape;587;p5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588" name="Google Shape;588;p5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50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  <p:sp>
        <p:nvSpPr>
          <p:cNvPr id="590" name="Google Shape;590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1" name="Google Shape;591;p50"/>
          <p:cNvSpPr txBox="1"/>
          <p:nvPr/>
        </p:nvSpPr>
        <p:spPr>
          <a:xfrm>
            <a:off x="7207625" y="1678083"/>
            <a:ext cx="610728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Reduction: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Color -&gt; Name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Name, Color -&gt; Color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1"/>
          <p:cNvSpPr txBox="1"/>
          <p:nvPr>
            <p:ph type="title"/>
          </p:nvPr>
        </p:nvSpPr>
        <p:spPr>
          <a:xfrm>
            <a:off x="1981200" y="254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3. Transitive Closure</a:t>
            </a:r>
            <a:endParaRPr/>
          </a:p>
        </p:txBody>
      </p:sp>
      <p:graphicFrame>
        <p:nvGraphicFramePr>
          <p:cNvPr id="597" name="Google Shape;597;p51"/>
          <p:cNvGraphicFramePr/>
          <p:nvPr/>
        </p:nvGraphicFramePr>
        <p:xfrm>
          <a:off x="3048000" y="1755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</a:t>
                      </a:r>
                      <a:r>
                        <a:rPr b="1" baseline="-25000" lang="en-US" sz="1800"/>
                        <a:t>k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598" name="Google Shape;598;p51"/>
          <p:cNvSpPr txBox="1"/>
          <p:nvPr/>
        </p:nvSpPr>
        <p:spPr>
          <a:xfrm>
            <a:off x="3048000" y="4304975"/>
            <a:ext cx="60960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C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,…,C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51"/>
          <p:cNvSpPr/>
          <p:nvPr/>
        </p:nvSpPr>
        <p:spPr>
          <a:xfrm>
            <a:off x="3524922" y="2383987"/>
            <a:ext cx="1553582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51"/>
          <p:cNvSpPr/>
          <p:nvPr/>
        </p:nvSpPr>
        <p:spPr>
          <a:xfrm>
            <a:off x="5515983" y="2383987"/>
            <a:ext cx="1645024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51"/>
          <p:cNvSpPr/>
          <p:nvPr/>
        </p:nvSpPr>
        <p:spPr>
          <a:xfrm>
            <a:off x="4723504" y="2687890"/>
            <a:ext cx="1156102" cy="67235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51"/>
          <p:cNvSpPr/>
          <p:nvPr/>
        </p:nvSpPr>
        <p:spPr>
          <a:xfrm>
            <a:off x="7562937" y="2383987"/>
            <a:ext cx="1645024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51"/>
          <p:cNvSpPr/>
          <p:nvPr/>
        </p:nvSpPr>
        <p:spPr>
          <a:xfrm>
            <a:off x="6780920" y="2687890"/>
            <a:ext cx="1156102" cy="67235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4" name="Google Shape;604;p5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05" name="Google Shape;605;p5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51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  <p:sp>
        <p:nvSpPr>
          <p:cNvPr id="607" name="Google Shape;607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2"/>
          <p:cNvSpPr txBox="1"/>
          <p:nvPr>
            <p:ph type="title"/>
          </p:nvPr>
        </p:nvSpPr>
        <p:spPr>
          <a:xfrm>
            <a:off x="1981200" y="254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3. Transitive Closure</a:t>
            </a:r>
            <a:endParaRPr/>
          </a:p>
        </p:txBody>
      </p:sp>
      <p:graphicFrame>
        <p:nvGraphicFramePr>
          <p:cNvPr id="613" name="Google Shape;613;p52"/>
          <p:cNvGraphicFramePr/>
          <p:nvPr/>
        </p:nvGraphicFramePr>
        <p:xfrm>
          <a:off x="3048000" y="1755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 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</a:t>
                      </a:r>
                      <a:r>
                        <a:rPr b="1" baseline="-25000" lang="en-US" sz="1800"/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B</a:t>
                      </a:r>
                      <a:r>
                        <a:rPr b="1" baseline="-25000" lang="en-US" sz="1800"/>
                        <a:t>n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</a:t>
                      </a:r>
                      <a:r>
                        <a:rPr b="1" baseline="-2500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…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</a:t>
                      </a:r>
                      <a:r>
                        <a:rPr b="1" baseline="-25000" lang="en-US" sz="1800"/>
                        <a:t>k</a:t>
                      </a:r>
                      <a:endParaRPr b="1" baseline="-25000"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sp>
        <p:nvSpPr>
          <p:cNvPr id="614" name="Google Shape;614;p52"/>
          <p:cNvSpPr txBox="1"/>
          <p:nvPr/>
        </p:nvSpPr>
        <p:spPr>
          <a:xfrm>
            <a:off x="3048000" y="4304975"/>
            <a:ext cx="60960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,…,B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C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,…,C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52"/>
          <p:cNvSpPr txBox="1"/>
          <p:nvPr/>
        </p:nvSpPr>
        <p:spPr>
          <a:xfrm>
            <a:off x="3048001" y="5344214"/>
            <a:ext cx="60959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implies</a:t>
            </a:r>
            <a:endParaRPr/>
          </a:p>
        </p:txBody>
      </p:sp>
      <p:sp>
        <p:nvSpPr>
          <p:cNvPr id="616" name="Google Shape;616;p52"/>
          <p:cNvSpPr txBox="1"/>
          <p:nvPr/>
        </p:nvSpPr>
        <p:spPr>
          <a:xfrm>
            <a:off x="3141786" y="5866747"/>
            <a:ext cx="60959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,…,A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🡪 C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,…,C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2"/>
          <p:cNvSpPr/>
          <p:nvPr/>
        </p:nvSpPr>
        <p:spPr>
          <a:xfrm>
            <a:off x="3524922" y="2383987"/>
            <a:ext cx="1553582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52"/>
          <p:cNvSpPr/>
          <p:nvPr/>
        </p:nvSpPr>
        <p:spPr>
          <a:xfrm>
            <a:off x="7562937" y="2383987"/>
            <a:ext cx="1645024" cy="128016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AF82">
                  <a:alpha val="49803"/>
                </a:srgbClr>
              </a:gs>
              <a:gs pos="35000">
                <a:srgbClr val="FFC5A7">
                  <a:alpha val="49803"/>
                </a:srgbClr>
              </a:gs>
              <a:gs pos="100000">
                <a:srgbClr val="FFE8DA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52"/>
          <p:cNvSpPr/>
          <p:nvPr/>
        </p:nvSpPr>
        <p:spPr>
          <a:xfrm>
            <a:off x="4723504" y="2687890"/>
            <a:ext cx="3147509" cy="67235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0" name="Google Shape;620;p5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21" name="Google Shape;621;p5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52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  <p:sp>
        <p:nvSpPr>
          <p:cNvPr id="623" name="Google Shape;623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Functional Dependencies</a:t>
            </a:r>
            <a:endParaRPr i="1" sz="2200"/>
          </a:p>
        </p:txBody>
      </p:sp>
      <p:sp>
        <p:nvSpPr>
          <p:cNvPr id="629" name="Google Shape;629;p53"/>
          <p:cNvSpPr txBox="1"/>
          <p:nvPr/>
        </p:nvSpPr>
        <p:spPr>
          <a:xfrm>
            <a:off x="7251192" y="2702413"/>
            <a:ext cx="4617720" cy="138499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{Name} 🡪 {Color}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{Category} 🡪 {Department}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{Color, Category} 🡪 {Price}</a:t>
            </a:r>
            <a:endParaRPr/>
          </a:p>
        </p:txBody>
      </p:sp>
      <p:graphicFrame>
        <p:nvGraphicFramePr>
          <p:cNvPr id="630" name="Google Shape;630;p53"/>
          <p:cNvGraphicFramePr/>
          <p:nvPr/>
        </p:nvGraphicFramePr>
        <p:xfrm>
          <a:off x="838200" y="26798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{7C370131-CC2F-42AF-985A-F3E744595770}</a:tableStyleId>
              </a:tblPr>
              <a:tblGrid>
                <a:gridCol w="1219200"/>
                <a:gridCol w="1219200"/>
                <a:gridCol w="1475800"/>
                <a:gridCol w="1204875"/>
                <a:gridCol w="976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Color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Category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Dep</a:t>
                      </a:r>
                      <a:endParaRPr b="1" sz="24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Price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Gizmo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Green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Gadget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Toys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Widget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Black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Gadget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Toys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Gizmo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Green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Whatsit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Garden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99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1" name="Google Shape;631;p53"/>
          <p:cNvSpPr txBox="1"/>
          <p:nvPr/>
        </p:nvSpPr>
        <p:spPr>
          <a:xfrm>
            <a:off x="3461922" y="5374862"/>
            <a:ext cx="5268155" cy="492443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/ how many other FDs hold?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53"/>
          <p:cNvSpPr txBox="1"/>
          <p:nvPr/>
        </p:nvSpPr>
        <p:spPr>
          <a:xfrm>
            <a:off x="7141570" y="2209971"/>
            <a:ext cx="2474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Provided FDs: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53"/>
          <p:cNvSpPr txBox="1"/>
          <p:nvPr/>
        </p:nvSpPr>
        <p:spPr>
          <a:xfrm>
            <a:off x="188780" y="2209970"/>
            <a:ext cx="2474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53"/>
          <p:cNvSpPr txBox="1"/>
          <p:nvPr/>
        </p:nvSpPr>
        <p:spPr>
          <a:xfrm>
            <a:off x="838200" y="1479578"/>
            <a:ext cx="13057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</p:txBody>
      </p:sp>
      <p:grpSp>
        <p:nvGrpSpPr>
          <p:cNvPr id="635" name="Google Shape;635;p5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36" name="Google Shape;636;p5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53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  <p:sp>
        <p:nvSpPr>
          <p:cNvPr id="638" name="Google Shape;638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Functional Dependencies</a:t>
            </a:r>
            <a:endParaRPr i="1" sz="2200"/>
          </a:p>
        </p:txBody>
      </p:sp>
      <p:sp>
        <p:nvSpPr>
          <p:cNvPr id="644" name="Google Shape;644;p54"/>
          <p:cNvSpPr txBox="1"/>
          <p:nvPr/>
        </p:nvSpPr>
        <p:spPr>
          <a:xfrm>
            <a:off x="8730076" y="2702413"/>
            <a:ext cx="3138835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{Name} 🡪 {Color}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{Category} 🡪 {Dept.}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{Color, Category} 🡪 {Price}</a:t>
            </a:r>
            <a:endParaRPr/>
          </a:p>
        </p:txBody>
      </p:sp>
      <p:sp>
        <p:nvSpPr>
          <p:cNvPr id="645" name="Google Shape;645;p54"/>
          <p:cNvSpPr txBox="1"/>
          <p:nvPr/>
        </p:nvSpPr>
        <p:spPr>
          <a:xfrm>
            <a:off x="3461921" y="5851696"/>
            <a:ext cx="5268155" cy="492443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/ how many other FDs hold?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54"/>
          <p:cNvSpPr txBox="1"/>
          <p:nvPr/>
        </p:nvSpPr>
        <p:spPr>
          <a:xfrm>
            <a:off x="8391636" y="2209969"/>
            <a:ext cx="2474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Provided FDs: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54"/>
          <p:cNvSpPr txBox="1"/>
          <p:nvPr/>
        </p:nvSpPr>
        <p:spPr>
          <a:xfrm>
            <a:off x="351928" y="2209970"/>
            <a:ext cx="2474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Inferred FDs:</a:t>
            </a:r>
            <a:endParaRPr/>
          </a:p>
        </p:txBody>
      </p:sp>
      <p:sp>
        <p:nvSpPr>
          <p:cNvPr id="648" name="Google Shape;648;p54"/>
          <p:cNvSpPr txBox="1"/>
          <p:nvPr/>
        </p:nvSpPr>
        <p:spPr>
          <a:xfrm>
            <a:off x="838200" y="1479578"/>
            <a:ext cx="13057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</p:txBody>
      </p:sp>
      <p:graphicFrame>
        <p:nvGraphicFramePr>
          <p:cNvPr id="649" name="Google Shape;649;p54"/>
          <p:cNvGraphicFramePr/>
          <p:nvPr/>
        </p:nvGraphicFramePr>
        <p:xfrm>
          <a:off x="351928" y="27024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{DD49EE17-94DD-44F4-85BA-61C26254B0D6}</a:tableStyleId>
              </a:tblPr>
              <a:tblGrid>
                <a:gridCol w="5274675"/>
                <a:gridCol w="2765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Inferred</a:t>
                      </a:r>
                      <a:r>
                        <a:rPr lang="en-US" sz="1800"/>
                        <a:t> FD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Rule used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4.</a:t>
                      </a:r>
                      <a:r>
                        <a:rPr lang="en-US" sz="2400"/>
                        <a:t> {Name, Category} -&gt; {Name}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5. {Name, Category} -&gt; {Color}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6. {Name, Category}</a:t>
                      </a:r>
                      <a:r>
                        <a:rPr lang="en-US" sz="2400"/>
                        <a:t> -&gt; {Category}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7. {Name, Category}</a:t>
                      </a:r>
                      <a:r>
                        <a:rPr lang="en-US" sz="2400"/>
                        <a:t> -&gt; {Color, Category}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?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8. {Name, Category} -&gt; {Price}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?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650" name="Google Shape;650;p5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51" name="Google Shape;651;p5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54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  <p:sp>
        <p:nvSpPr>
          <p:cNvPr id="653" name="Google Shape;653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Functional Dependencies</a:t>
            </a:r>
            <a:endParaRPr i="1" sz="2200"/>
          </a:p>
        </p:txBody>
      </p:sp>
      <p:sp>
        <p:nvSpPr>
          <p:cNvPr id="659" name="Google Shape;659;p55"/>
          <p:cNvSpPr txBox="1"/>
          <p:nvPr/>
        </p:nvSpPr>
        <p:spPr>
          <a:xfrm>
            <a:off x="8730076" y="2702413"/>
            <a:ext cx="3138835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{Name} 🡪 {Color}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{Category} 🡪 {Dept.}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{Color, Category} 🡪 {Price}</a:t>
            </a:r>
            <a:endParaRPr/>
          </a:p>
        </p:txBody>
      </p:sp>
      <p:sp>
        <p:nvSpPr>
          <p:cNvPr id="660" name="Google Shape;660;p55"/>
          <p:cNvSpPr txBox="1"/>
          <p:nvPr/>
        </p:nvSpPr>
        <p:spPr>
          <a:xfrm>
            <a:off x="3173937" y="5851696"/>
            <a:ext cx="5844125" cy="492443"/>
          </a:xfrm>
          <a:prstGeom prst="rect">
            <a:avLst/>
          </a:prstGeom>
          <a:solidFill>
            <a:srgbClr val="FBE4D4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find an algorithmic way to do this?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55"/>
          <p:cNvSpPr txBox="1"/>
          <p:nvPr/>
        </p:nvSpPr>
        <p:spPr>
          <a:xfrm>
            <a:off x="8391636" y="2209969"/>
            <a:ext cx="2474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Provided FDs: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55"/>
          <p:cNvSpPr txBox="1"/>
          <p:nvPr/>
        </p:nvSpPr>
        <p:spPr>
          <a:xfrm>
            <a:off x="351928" y="2209970"/>
            <a:ext cx="2474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Inferred FDs:</a:t>
            </a:r>
            <a:endParaRPr/>
          </a:p>
        </p:txBody>
      </p:sp>
      <p:sp>
        <p:nvSpPr>
          <p:cNvPr id="663" name="Google Shape;663;p55"/>
          <p:cNvSpPr txBox="1"/>
          <p:nvPr/>
        </p:nvSpPr>
        <p:spPr>
          <a:xfrm>
            <a:off x="838200" y="1479578"/>
            <a:ext cx="130574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</p:txBody>
      </p:sp>
      <p:graphicFrame>
        <p:nvGraphicFramePr>
          <p:cNvPr id="664" name="Google Shape;664;p55"/>
          <p:cNvGraphicFramePr/>
          <p:nvPr/>
        </p:nvGraphicFramePr>
        <p:xfrm>
          <a:off x="351928" y="27024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{DD49EE17-94DD-44F4-85BA-61C26254B0D6}</a:tableStyleId>
              </a:tblPr>
              <a:tblGrid>
                <a:gridCol w="5274675"/>
                <a:gridCol w="2765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Inferred</a:t>
                      </a:r>
                      <a:r>
                        <a:rPr lang="en-US" sz="1800"/>
                        <a:t> FD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Rule used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4.</a:t>
                      </a:r>
                      <a:r>
                        <a:rPr lang="en-US" sz="2400"/>
                        <a:t> {Name, Category} -&gt; {Name}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Trivial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5. {Name, Category} -&gt; {Color}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Transitive</a:t>
                      </a:r>
                      <a:r>
                        <a:rPr lang="en-US" sz="2400"/>
                        <a:t> (4 -&gt; 1)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6. {Name, Category}</a:t>
                      </a:r>
                      <a:r>
                        <a:rPr lang="en-US" sz="2400"/>
                        <a:t> -&gt; {Category}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Trivial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7. {Name, Category}</a:t>
                      </a:r>
                      <a:r>
                        <a:rPr lang="en-US" sz="2400"/>
                        <a:t> -&gt; {Color, Category}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Split/combine</a:t>
                      </a:r>
                      <a:r>
                        <a:rPr lang="en-US" sz="2400"/>
                        <a:t> (5 + 6)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8. {Name, Category} -&gt; {Price}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Transitive (7 -&gt;</a:t>
                      </a:r>
                      <a:r>
                        <a:rPr lang="en-US" sz="2400"/>
                        <a:t> 3)</a:t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665" name="Google Shape;665;p5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66" name="Google Shape;666;p5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55"/>
            <p:cNvSpPr txBox="1"/>
            <p:nvPr/>
          </p:nvSpPr>
          <p:spPr>
            <a:xfrm>
              <a:off x="188780" y="-22510"/>
              <a:ext cx="31895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Finding FDs</a:t>
              </a:r>
              <a:endParaRPr/>
            </a:p>
          </p:txBody>
        </p:sp>
      </p:grpSp>
      <p:sp>
        <p:nvSpPr>
          <p:cNvPr id="668" name="Google Shape;668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6"/>
          <p:cNvSpPr txBox="1"/>
          <p:nvPr>
            <p:ph type="title"/>
          </p:nvPr>
        </p:nvSpPr>
        <p:spPr>
          <a:xfrm>
            <a:off x="1981200" y="321843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Closures</a:t>
            </a:r>
            <a:endParaRPr/>
          </a:p>
        </p:txBody>
      </p:sp>
      <p:grpSp>
        <p:nvGrpSpPr>
          <p:cNvPr id="674" name="Google Shape;674;p5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75" name="Google Shape;675;p5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56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  <p:sp>
        <p:nvSpPr>
          <p:cNvPr id="677" name="Google Shape;677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Closure of a set of Attributes</a:t>
            </a:r>
            <a:endParaRPr/>
          </a:p>
        </p:txBody>
      </p:sp>
      <p:sp>
        <p:nvSpPr>
          <p:cNvPr id="684" name="Google Shape;684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7"/>
          <p:cNvSpPr txBox="1"/>
          <p:nvPr/>
        </p:nvSpPr>
        <p:spPr>
          <a:xfrm>
            <a:off x="838200" y="1761732"/>
            <a:ext cx="10678610" cy="954107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set of attributes 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="1"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a set of FDs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closure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{A</a:t>
            </a:r>
            <a:r>
              <a:rPr b="1"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="1"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b="1"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the set of attributes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s.t. {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="1"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 🡪 B</a:t>
            </a:r>
            <a:endParaRPr b="1"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57"/>
          <p:cNvSpPr txBox="1"/>
          <p:nvPr/>
        </p:nvSpPr>
        <p:spPr>
          <a:xfrm>
            <a:off x="3366397" y="3307747"/>
            <a:ext cx="3457998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{dept}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{color, 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{price}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7"/>
          <p:cNvSpPr txBox="1"/>
          <p:nvPr/>
        </p:nvSpPr>
        <p:spPr>
          <a:xfrm>
            <a:off x="838200" y="3215414"/>
            <a:ext cx="242880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F =</a:t>
            </a:r>
            <a:endParaRPr/>
          </a:p>
        </p:txBody>
      </p:sp>
      <p:sp>
        <p:nvSpPr>
          <p:cNvPr id="688" name="Google Shape;688;p57"/>
          <p:cNvSpPr txBox="1"/>
          <p:nvPr/>
        </p:nvSpPr>
        <p:spPr>
          <a:xfrm>
            <a:off x="838200" y="4812453"/>
            <a:ext cx="173708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 Closures:</a:t>
            </a:r>
            <a:endParaRPr b="1" i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57"/>
          <p:cNvSpPr txBox="1"/>
          <p:nvPr/>
        </p:nvSpPr>
        <p:spPr>
          <a:xfrm>
            <a:off x="3366397" y="4812453"/>
            <a:ext cx="6935071" cy="15696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category, color, dept, price}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0" name="Google Shape;690;p5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691" name="Google Shape;691;p5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57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Closure Algorithm</a:t>
            </a:r>
            <a:endParaRPr/>
          </a:p>
        </p:txBody>
      </p:sp>
      <p:sp>
        <p:nvSpPr>
          <p:cNvPr id="699" name="Google Shape;699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58"/>
          <p:cNvSpPr txBox="1"/>
          <p:nvPr/>
        </p:nvSpPr>
        <p:spPr>
          <a:xfrm>
            <a:off x="1950474" y="2291845"/>
            <a:ext cx="8291052" cy="452431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701" name="Google Shape;701;p5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02" name="Google Shape;702;p5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58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Closure Algorithm</a:t>
            </a:r>
            <a:endParaRPr/>
          </a:p>
        </p:txBody>
      </p:sp>
      <p:sp>
        <p:nvSpPr>
          <p:cNvPr id="710" name="Google Shape;710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59"/>
          <p:cNvSpPr txBox="1"/>
          <p:nvPr/>
        </p:nvSpPr>
        <p:spPr>
          <a:xfrm>
            <a:off x="838200" y="1463936"/>
            <a:ext cx="4441723" cy="23083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12" name="Google Shape;712;p59"/>
          <p:cNvSpPr txBox="1"/>
          <p:nvPr/>
        </p:nvSpPr>
        <p:spPr>
          <a:xfrm>
            <a:off x="838200" y="4228485"/>
            <a:ext cx="4441723" cy="230832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{dept}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{color, 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{price}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59"/>
          <p:cNvSpPr txBox="1"/>
          <p:nvPr/>
        </p:nvSpPr>
        <p:spPr>
          <a:xfrm>
            <a:off x="188780" y="4043819"/>
            <a:ext cx="5485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</a:t>
            </a:r>
            <a:endParaRPr/>
          </a:p>
        </p:txBody>
      </p:sp>
      <p:sp>
        <p:nvSpPr>
          <p:cNvPr id="714" name="Google Shape;714;p59"/>
          <p:cNvSpPr txBox="1"/>
          <p:nvPr/>
        </p:nvSpPr>
        <p:spPr>
          <a:xfrm>
            <a:off x="5667147" y="1462894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5" name="Google Shape;715;p5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16" name="Google Shape;716;p5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59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Closure Algorithm</a:t>
            </a:r>
            <a:endParaRPr/>
          </a:p>
        </p:txBody>
      </p:sp>
      <p:sp>
        <p:nvSpPr>
          <p:cNvPr id="724" name="Google Shape;724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60"/>
          <p:cNvSpPr txBox="1"/>
          <p:nvPr/>
        </p:nvSpPr>
        <p:spPr>
          <a:xfrm>
            <a:off x="838200" y="1463936"/>
            <a:ext cx="4441723" cy="23083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26" name="Google Shape;726;p60"/>
          <p:cNvSpPr txBox="1"/>
          <p:nvPr/>
        </p:nvSpPr>
        <p:spPr>
          <a:xfrm>
            <a:off x="838199" y="4228485"/>
            <a:ext cx="4441723" cy="230832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{dept}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{color, 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{price}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60"/>
          <p:cNvSpPr txBox="1"/>
          <p:nvPr/>
        </p:nvSpPr>
        <p:spPr>
          <a:xfrm>
            <a:off x="188780" y="4043819"/>
            <a:ext cx="5485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</a:t>
            </a:r>
            <a:endParaRPr/>
          </a:p>
        </p:txBody>
      </p:sp>
      <p:sp>
        <p:nvSpPr>
          <p:cNvPr id="728" name="Google Shape;728;p60"/>
          <p:cNvSpPr txBox="1"/>
          <p:nvPr/>
        </p:nvSpPr>
        <p:spPr>
          <a:xfrm>
            <a:off x="5667147" y="1462894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60"/>
          <p:cNvSpPr txBox="1"/>
          <p:nvPr/>
        </p:nvSpPr>
        <p:spPr>
          <a:xfrm>
            <a:off x="5667147" y="2693936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category, 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60"/>
          <p:cNvSpPr/>
          <p:nvPr/>
        </p:nvSpPr>
        <p:spPr>
          <a:xfrm>
            <a:off x="838200" y="4373614"/>
            <a:ext cx="3301182" cy="629265"/>
          </a:xfrm>
          <a:prstGeom prst="roundRect">
            <a:avLst>
              <a:gd fmla="val 16667" name="adj"/>
            </a:avLst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1" name="Google Shape;731;p6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32" name="Google Shape;732;p6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60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  <p:sp>
        <p:nvSpPr>
          <p:cNvPr id="734" name="Google Shape;734;p60"/>
          <p:cNvSpPr/>
          <p:nvPr/>
        </p:nvSpPr>
        <p:spPr>
          <a:xfrm>
            <a:off x="5535561" y="1248697"/>
            <a:ext cx="6390968" cy="1248697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Closure Algorithm</a:t>
            </a:r>
            <a:endParaRPr/>
          </a:p>
        </p:txBody>
      </p:sp>
      <p:sp>
        <p:nvSpPr>
          <p:cNvPr id="741" name="Google Shape;741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61"/>
          <p:cNvSpPr txBox="1"/>
          <p:nvPr/>
        </p:nvSpPr>
        <p:spPr>
          <a:xfrm>
            <a:off x="838200" y="1463936"/>
            <a:ext cx="4441723" cy="23083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43" name="Google Shape;743;p61"/>
          <p:cNvSpPr txBox="1"/>
          <p:nvPr/>
        </p:nvSpPr>
        <p:spPr>
          <a:xfrm>
            <a:off x="838199" y="4228485"/>
            <a:ext cx="4441723" cy="230832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{dept}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{color, 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{price}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61"/>
          <p:cNvSpPr txBox="1"/>
          <p:nvPr/>
        </p:nvSpPr>
        <p:spPr>
          <a:xfrm>
            <a:off x="188780" y="4043819"/>
            <a:ext cx="5485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</a:t>
            </a:r>
            <a:endParaRPr/>
          </a:p>
        </p:txBody>
      </p:sp>
      <p:sp>
        <p:nvSpPr>
          <p:cNvPr id="745" name="Google Shape;745;p61"/>
          <p:cNvSpPr txBox="1"/>
          <p:nvPr/>
        </p:nvSpPr>
        <p:spPr>
          <a:xfrm>
            <a:off x="5667147" y="1462894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61"/>
          <p:cNvSpPr txBox="1"/>
          <p:nvPr/>
        </p:nvSpPr>
        <p:spPr>
          <a:xfrm>
            <a:off x="5667147" y="2693936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category, 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61"/>
          <p:cNvSpPr txBox="1"/>
          <p:nvPr/>
        </p:nvSpPr>
        <p:spPr>
          <a:xfrm>
            <a:off x="5667147" y="3924978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category, color, dept}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61"/>
          <p:cNvSpPr/>
          <p:nvPr/>
        </p:nvSpPr>
        <p:spPr>
          <a:xfrm>
            <a:off x="838200" y="5079431"/>
            <a:ext cx="3782962" cy="629265"/>
          </a:xfrm>
          <a:prstGeom prst="roundRect">
            <a:avLst>
              <a:gd fmla="val 16667" name="adj"/>
            </a:avLst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9" name="Google Shape;749;p6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50" name="Google Shape;750;p6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61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  <p:sp>
        <p:nvSpPr>
          <p:cNvPr id="752" name="Google Shape;752;p61"/>
          <p:cNvSpPr/>
          <p:nvPr/>
        </p:nvSpPr>
        <p:spPr>
          <a:xfrm>
            <a:off x="5535561" y="1248697"/>
            <a:ext cx="6390968" cy="2523563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Closure Algorithm</a:t>
            </a:r>
            <a:endParaRPr/>
          </a:p>
        </p:txBody>
      </p:sp>
      <p:sp>
        <p:nvSpPr>
          <p:cNvPr id="759" name="Google Shape;759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62"/>
          <p:cNvSpPr txBox="1"/>
          <p:nvPr/>
        </p:nvSpPr>
        <p:spPr>
          <a:xfrm>
            <a:off x="838200" y="1463936"/>
            <a:ext cx="4441723" cy="23083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761" name="Google Shape;761;p62"/>
          <p:cNvSpPr txBox="1"/>
          <p:nvPr/>
        </p:nvSpPr>
        <p:spPr>
          <a:xfrm>
            <a:off x="188780" y="4043819"/>
            <a:ext cx="5485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</a:t>
            </a:r>
            <a:endParaRPr/>
          </a:p>
        </p:txBody>
      </p:sp>
      <p:sp>
        <p:nvSpPr>
          <p:cNvPr id="762" name="Google Shape;762;p62"/>
          <p:cNvSpPr txBox="1"/>
          <p:nvPr/>
        </p:nvSpPr>
        <p:spPr>
          <a:xfrm>
            <a:off x="5667147" y="1462894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62"/>
          <p:cNvSpPr txBox="1"/>
          <p:nvPr/>
        </p:nvSpPr>
        <p:spPr>
          <a:xfrm>
            <a:off x="5667147" y="5156021"/>
            <a:ext cx="6052906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category, color, dept, price}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62"/>
          <p:cNvSpPr txBox="1"/>
          <p:nvPr/>
        </p:nvSpPr>
        <p:spPr>
          <a:xfrm>
            <a:off x="5667147" y="2693936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category, 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62"/>
          <p:cNvSpPr txBox="1"/>
          <p:nvPr/>
        </p:nvSpPr>
        <p:spPr>
          <a:xfrm>
            <a:off x="5667147" y="3924978"/>
            <a:ext cx="6052906" cy="83099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category}</a:t>
            </a:r>
            <a:r>
              <a:rPr baseline="30000"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{name, category, color, dept}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62"/>
          <p:cNvSpPr txBox="1"/>
          <p:nvPr/>
        </p:nvSpPr>
        <p:spPr>
          <a:xfrm>
            <a:off x="838199" y="4228485"/>
            <a:ext cx="4441723" cy="230832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{name}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{dept}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{color, category}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🡪 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{price}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62"/>
          <p:cNvSpPr/>
          <p:nvPr/>
        </p:nvSpPr>
        <p:spPr>
          <a:xfrm>
            <a:off x="838199" y="5633906"/>
            <a:ext cx="3782962" cy="902903"/>
          </a:xfrm>
          <a:prstGeom prst="roundRect">
            <a:avLst>
              <a:gd fmla="val 16667" name="adj"/>
            </a:avLst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8" name="Google Shape;768;p6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69" name="Google Shape;769;p6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62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  <p:sp>
        <p:nvSpPr>
          <p:cNvPr id="771" name="Google Shape;771;p62"/>
          <p:cNvSpPr/>
          <p:nvPr/>
        </p:nvSpPr>
        <p:spPr>
          <a:xfrm>
            <a:off x="5535561" y="1248697"/>
            <a:ext cx="6390968" cy="3726426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3"/>
          <p:cNvSpPr txBox="1"/>
          <p:nvPr>
            <p:ph type="title"/>
          </p:nvPr>
        </p:nvSpPr>
        <p:spPr>
          <a:xfrm>
            <a:off x="448392" y="707922"/>
            <a:ext cx="10515600" cy="10326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777" name="Google Shape;777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8" name="Google Shape;778;p63"/>
          <p:cNvSpPr txBox="1"/>
          <p:nvPr/>
        </p:nvSpPr>
        <p:spPr>
          <a:xfrm>
            <a:off x="1526973" y="4687162"/>
            <a:ext cx="6810198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{A,B}</a:t>
            </a:r>
            <a:r>
              <a:rPr baseline="3000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{A, B,                     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{A, F}</a:t>
            </a:r>
            <a:r>
              <a:rPr baseline="3000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{A, F,                     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{A, C}</a:t>
            </a:r>
            <a:r>
              <a:rPr baseline="3000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{                     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63"/>
          <p:cNvSpPr txBox="1"/>
          <p:nvPr/>
        </p:nvSpPr>
        <p:spPr>
          <a:xfrm>
            <a:off x="1526973" y="2185780"/>
            <a:ext cx="2549480" cy="5232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R(A,B,C,D,E,F, H)</a:t>
            </a:r>
            <a:endParaRPr/>
          </a:p>
        </p:txBody>
      </p:sp>
      <p:sp>
        <p:nvSpPr>
          <p:cNvPr id="780" name="Google Shape;780;p63"/>
          <p:cNvSpPr/>
          <p:nvPr/>
        </p:nvSpPr>
        <p:spPr>
          <a:xfrm>
            <a:off x="5391050" y="1970337"/>
            <a:ext cx="1844800" cy="224676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{C}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{E}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{B} 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{D}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{F} 🡪 {H}</a:t>
            </a:r>
            <a:endParaRPr sz="2800">
              <a:solidFill>
                <a:srgbClr val="C050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{A,F} 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8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{B}</a:t>
            </a:r>
            <a:endParaRPr/>
          </a:p>
        </p:txBody>
      </p:sp>
      <p:grpSp>
        <p:nvGrpSpPr>
          <p:cNvPr id="781" name="Google Shape;781;p6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82" name="Google Shape;782;p6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63"/>
            <p:cNvSpPr txBox="1"/>
            <p:nvPr/>
          </p:nvSpPr>
          <p:spPr>
            <a:xfrm>
              <a:off x="188780" y="-22510"/>
              <a:ext cx="29603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2  &gt;  Closures</a:t>
              </a:r>
              <a:endParaRPr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3. Closures, Superkeys &amp; Keys</a:t>
            </a:r>
            <a:endParaRPr/>
          </a:p>
        </p:txBody>
      </p:sp>
      <p:sp>
        <p:nvSpPr>
          <p:cNvPr id="789" name="Google Shape;789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90" name="Google Shape;790;p6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791" name="Google Shape;791;p6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64"/>
            <p:cNvSpPr txBox="1"/>
            <p:nvPr/>
          </p:nvSpPr>
          <p:spPr>
            <a:xfrm>
              <a:off x="188780" y="-22510"/>
              <a:ext cx="21091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</a:t>
              </a:r>
              <a:endParaRPr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Do We Need the Closure?</a:t>
            </a:r>
            <a:endParaRPr/>
          </a:p>
        </p:txBody>
      </p:sp>
      <p:sp>
        <p:nvSpPr>
          <p:cNvPr id="799" name="Google Shape;799;p6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With closure we can find all FD’s easily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check if X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lang="en-US"/>
              <a:t> A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Compute X</a:t>
            </a:r>
            <a:r>
              <a:rPr baseline="30000" lang="en-US"/>
              <a:t>+</a:t>
            </a:r>
            <a:endParaRPr/>
          </a:p>
          <a:p>
            <a:pPr indent="-3048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Check if A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/>
              <a:t> X</a:t>
            </a:r>
            <a:r>
              <a:rPr baseline="30000" lang="en-US"/>
              <a:t>+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aseline="30000"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aseline="30000"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aseline="30000"/>
          </a:p>
        </p:txBody>
      </p:sp>
      <p:sp>
        <p:nvSpPr>
          <p:cNvPr id="800" name="Google Shape;800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65"/>
          <p:cNvSpPr txBox="1"/>
          <p:nvPr/>
        </p:nvSpPr>
        <p:spPr>
          <a:xfrm>
            <a:off x="6843253" y="2654709"/>
            <a:ext cx="4365522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here that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attributes, but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attribute.  Why does considering FDs of this form suffice?</a:t>
            </a:r>
            <a:endParaRPr/>
          </a:p>
        </p:txBody>
      </p:sp>
      <p:sp>
        <p:nvSpPr>
          <p:cNvPr id="802" name="Google Shape;802;p65"/>
          <p:cNvSpPr/>
          <p:nvPr/>
        </p:nvSpPr>
        <p:spPr>
          <a:xfrm>
            <a:off x="3057832" y="4493342"/>
            <a:ext cx="363794" cy="363794"/>
          </a:xfrm>
          <a:prstGeom prst="ellipse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3" name="Google Shape;803;p65"/>
          <p:cNvCxnSpPr/>
          <p:nvPr/>
        </p:nvCxnSpPr>
        <p:spPr>
          <a:xfrm flipH="1">
            <a:off x="3421627" y="3439539"/>
            <a:ext cx="3323302" cy="1053803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04" name="Google Shape;804;p65"/>
          <p:cNvSpPr txBox="1"/>
          <p:nvPr/>
        </p:nvSpPr>
        <p:spPr>
          <a:xfrm>
            <a:off x="6843253" y="4493342"/>
            <a:ext cx="4365522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 the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Split/combine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🡪 A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X 🡪 A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🡪 {A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5" name="Google Shape;805;p6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06" name="Google Shape;806;p6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65"/>
            <p:cNvSpPr txBox="1"/>
            <p:nvPr/>
          </p:nvSpPr>
          <p:spPr>
            <a:xfrm>
              <a:off x="188780" y="-22510"/>
              <a:ext cx="33219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Closures Pt. II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66"/>
          <p:cNvSpPr txBox="1"/>
          <p:nvPr>
            <p:ph type="title"/>
          </p:nvPr>
        </p:nvSpPr>
        <p:spPr>
          <a:xfrm>
            <a:off x="838200" y="2469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Closure to Infer ALL FDs</a:t>
            </a:r>
            <a:endParaRPr/>
          </a:p>
        </p:txBody>
      </p:sp>
      <p:sp>
        <p:nvSpPr>
          <p:cNvPr id="814" name="Google Shape;814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66"/>
          <p:cNvSpPr/>
          <p:nvPr/>
        </p:nvSpPr>
        <p:spPr>
          <a:xfrm>
            <a:off x="9719763" y="1135453"/>
            <a:ext cx="1973617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b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{B}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D</a:t>
            </a:r>
            <a:endParaRPr/>
          </a:p>
        </p:txBody>
      </p:sp>
      <p:sp>
        <p:nvSpPr>
          <p:cNvPr id="816" name="Google Shape;816;p66"/>
          <p:cNvSpPr txBox="1"/>
          <p:nvPr/>
        </p:nvSpPr>
        <p:spPr>
          <a:xfrm>
            <a:off x="8165168" y="1053657"/>
            <a:ext cx="13344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F =</a:t>
            </a:r>
            <a:endParaRPr/>
          </a:p>
        </p:txBody>
      </p:sp>
      <p:sp>
        <p:nvSpPr>
          <p:cNvPr id="817" name="Google Shape;817;p66"/>
          <p:cNvSpPr txBox="1"/>
          <p:nvPr/>
        </p:nvSpPr>
        <p:spPr>
          <a:xfrm>
            <a:off x="814917" y="1293575"/>
            <a:ext cx="72401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table R(A, B, C, 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1: Compute 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for every set of attributes X:</a:t>
            </a:r>
            <a:endParaRPr/>
          </a:p>
        </p:txBody>
      </p:sp>
      <p:sp>
        <p:nvSpPr>
          <p:cNvPr id="818" name="Google Shape;818;p66"/>
          <p:cNvSpPr txBox="1"/>
          <p:nvPr/>
        </p:nvSpPr>
        <p:spPr>
          <a:xfrm>
            <a:off x="838200" y="1809432"/>
            <a:ext cx="8304698" cy="489364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{B,D}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{C}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{A,B,C,D}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{A,C}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{A,B,C,D}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{B,C,D}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{B,D}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{C,D}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{A,B,D}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{B,C,D}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{A,B,C,D}</a:t>
            </a:r>
            <a:endParaRPr/>
          </a:p>
        </p:txBody>
      </p:sp>
      <p:sp>
        <p:nvSpPr>
          <p:cNvPr id="819" name="Google Shape;819;p66"/>
          <p:cNvSpPr txBox="1"/>
          <p:nvPr/>
        </p:nvSpPr>
        <p:spPr>
          <a:xfrm>
            <a:off x="9499636" y="4543254"/>
            <a:ext cx="2133600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need to compute all of these- why?</a:t>
            </a:r>
            <a:endParaRPr/>
          </a:p>
        </p:txBody>
      </p:sp>
      <p:grpSp>
        <p:nvGrpSpPr>
          <p:cNvPr id="820" name="Google Shape;820;p6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21" name="Google Shape;821;p6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66"/>
            <p:cNvSpPr txBox="1"/>
            <p:nvPr/>
          </p:nvSpPr>
          <p:spPr>
            <a:xfrm>
              <a:off x="188780" y="-22510"/>
              <a:ext cx="33219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Closures Pt. II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7"/>
          <p:cNvSpPr txBox="1"/>
          <p:nvPr>
            <p:ph type="title"/>
          </p:nvPr>
        </p:nvSpPr>
        <p:spPr>
          <a:xfrm>
            <a:off x="838200" y="2469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Closure to Infer ALL FDs</a:t>
            </a:r>
            <a:endParaRPr/>
          </a:p>
        </p:txBody>
      </p:sp>
      <p:sp>
        <p:nvSpPr>
          <p:cNvPr id="829" name="Google Shape;829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67"/>
          <p:cNvSpPr/>
          <p:nvPr/>
        </p:nvSpPr>
        <p:spPr>
          <a:xfrm>
            <a:off x="9719763" y="1135453"/>
            <a:ext cx="1973617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b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{B}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D</a:t>
            </a:r>
            <a:endParaRPr/>
          </a:p>
        </p:txBody>
      </p:sp>
      <p:sp>
        <p:nvSpPr>
          <p:cNvPr id="831" name="Google Shape;831;p67"/>
          <p:cNvSpPr txBox="1"/>
          <p:nvPr/>
        </p:nvSpPr>
        <p:spPr>
          <a:xfrm>
            <a:off x="8165168" y="1053657"/>
            <a:ext cx="13344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F =</a:t>
            </a:r>
            <a:endParaRPr/>
          </a:p>
        </p:txBody>
      </p:sp>
      <p:sp>
        <p:nvSpPr>
          <p:cNvPr id="832" name="Google Shape;832;p67"/>
          <p:cNvSpPr txBox="1"/>
          <p:nvPr/>
        </p:nvSpPr>
        <p:spPr>
          <a:xfrm>
            <a:off x="849257" y="1549446"/>
            <a:ext cx="72419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1: Compute 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for every set of attributes X:</a:t>
            </a:r>
            <a:endParaRPr/>
          </a:p>
        </p:txBody>
      </p:sp>
      <p:sp>
        <p:nvSpPr>
          <p:cNvPr id="833" name="Google Shape;833;p67"/>
          <p:cNvSpPr txBox="1"/>
          <p:nvPr/>
        </p:nvSpPr>
        <p:spPr>
          <a:xfrm>
            <a:off x="849257" y="2248720"/>
            <a:ext cx="8304698" cy="193899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{A}, {B}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{B,D}, {C}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{C}, {D}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{D}, {A,B}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{A,C}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{A,C}, {A,D}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{A,B,C}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{B,C,D}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{B,C,D},    {A,B,C,D}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{A,B,C,D}</a:t>
            </a:r>
            <a:endParaRPr/>
          </a:p>
        </p:txBody>
      </p:sp>
      <p:sp>
        <p:nvSpPr>
          <p:cNvPr id="834" name="Google Shape;834;p67"/>
          <p:cNvSpPr txBox="1"/>
          <p:nvPr/>
        </p:nvSpPr>
        <p:spPr>
          <a:xfrm>
            <a:off x="838200" y="4585478"/>
            <a:ext cx="863621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2: Enumerate all FDs X 🡪 Y, s.t. Y ⊆ 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X ∩ Y = ∅:</a:t>
            </a:r>
            <a:endParaRPr/>
          </a:p>
        </p:txBody>
      </p:sp>
      <p:sp>
        <p:nvSpPr>
          <p:cNvPr id="835" name="Google Shape;835;p67"/>
          <p:cNvSpPr txBox="1"/>
          <p:nvPr/>
        </p:nvSpPr>
        <p:spPr>
          <a:xfrm>
            <a:off x="838200" y="5305057"/>
            <a:ext cx="8304697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{C,D}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{B,C}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{A,B,C}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{D}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{A,C,D}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{B}</a:t>
            </a:r>
            <a:endParaRPr sz="24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67"/>
          <p:cNvSpPr/>
          <p:nvPr/>
        </p:nvSpPr>
        <p:spPr>
          <a:xfrm>
            <a:off x="678425" y="2182464"/>
            <a:ext cx="8475529" cy="2123371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67"/>
          <p:cNvSpPr/>
          <p:nvPr/>
        </p:nvSpPr>
        <p:spPr>
          <a:xfrm>
            <a:off x="775329" y="1495336"/>
            <a:ext cx="7169712" cy="63144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8" name="Google Shape;838;p6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39" name="Google Shape;839;p6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67"/>
            <p:cNvSpPr txBox="1"/>
            <p:nvPr/>
          </p:nvSpPr>
          <p:spPr>
            <a:xfrm>
              <a:off x="188780" y="-22510"/>
              <a:ext cx="33219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Closures Pt. II</a:t>
              </a:r>
              <a:endParaRPr/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8"/>
          <p:cNvSpPr txBox="1"/>
          <p:nvPr>
            <p:ph type="title"/>
          </p:nvPr>
        </p:nvSpPr>
        <p:spPr>
          <a:xfrm>
            <a:off x="838200" y="2469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Closure to Infer ALL FDs</a:t>
            </a:r>
            <a:endParaRPr/>
          </a:p>
        </p:txBody>
      </p:sp>
      <p:sp>
        <p:nvSpPr>
          <p:cNvPr id="847" name="Google Shape;847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68"/>
          <p:cNvSpPr/>
          <p:nvPr/>
        </p:nvSpPr>
        <p:spPr>
          <a:xfrm>
            <a:off x="9719763" y="1135453"/>
            <a:ext cx="1973617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b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{B}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D</a:t>
            </a:r>
            <a:endParaRPr/>
          </a:p>
        </p:txBody>
      </p:sp>
      <p:sp>
        <p:nvSpPr>
          <p:cNvPr id="849" name="Google Shape;849;p68"/>
          <p:cNvSpPr txBox="1"/>
          <p:nvPr/>
        </p:nvSpPr>
        <p:spPr>
          <a:xfrm>
            <a:off x="8165168" y="1053657"/>
            <a:ext cx="13344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F =</a:t>
            </a:r>
            <a:endParaRPr/>
          </a:p>
        </p:txBody>
      </p:sp>
      <p:sp>
        <p:nvSpPr>
          <p:cNvPr id="850" name="Google Shape;850;p68"/>
          <p:cNvSpPr txBox="1"/>
          <p:nvPr/>
        </p:nvSpPr>
        <p:spPr>
          <a:xfrm>
            <a:off x="849257" y="2248720"/>
            <a:ext cx="8304698" cy="193899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{A}, {B}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{B,D}, {C}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{C}, {D}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{D}, {A,B}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{A,C}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{A,C}, {A,D}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{A,B,C}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{B,C,D}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{B,C,D},    {A,B,C,D}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{A,B,C,D}</a:t>
            </a:r>
            <a:endParaRPr/>
          </a:p>
        </p:txBody>
      </p:sp>
      <p:sp>
        <p:nvSpPr>
          <p:cNvPr id="851" name="Google Shape;851;p68"/>
          <p:cNvSpPr txBox="1"/>
          <p:nvPr/>
        </p:nvSpPr>
        <p:spPr>
          <a:xfrm>
            <a:off x="838200" y="4585478"/>
            <a:ext cx="863621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2: Enumerate all FDs X 🡪 Y, s.t. Y ⊆ 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X ∩ Y = ∅:</a:t>
            </a:r>
            <a:endParaRPr/>
          </a:p>
        </p:txBody>
      </p:sp>
      <p:sp>
        <p:nvSpPr>
          <p:cNvPr id="852" name="Google Shape;852;p68"/>
          <p:cNvSpPr txBox="1"/>
          <p:nvPr/>
        </p:nvSpPr>
        <p:spPr>
          <a:xfrm>
            <a:off x="838200" y="5305057"/>
            <a:ext cx="8304697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{C,D}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{B,C}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{A,B,C}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{D}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{A,C,D}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{B}</a:t>
            </a:r>
            <a:endParaRPr sz="24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68"/>
          <p:cNvSpPr/>
          <p:nvPr/>
        </p:nvSpPr>
        <p:spPr>
          <a:xfrm>
            <a:off x="678425" y="2182464"/>
            <a:ext cx="8475529" cy="2123371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68"/>
          <p:cNvSpPr/>
          <p:nvPr/>
        </p:nvSpPr>
        <p:spPr>
          <a:xfrm>
            <a:off x="6105832" y="4585478"/>
            <a:ext cx="1042220" cy="523220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68"/>
          <p:cNvSpPr txBox="1"/>
          <p:nvPr/>
        </p:nvSpPr>
        <p:spPr>
          <a:xfrm>
            <a:off x="9719763" y="4585478"/>
            <a:ext cx="1986116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“Y is in the closure of X”</a:t>
            </a:r>
            <a:endParaRPr/>
          </a:p>
        </p:txBody>
      </p:sp>
      <p:grpSp>
        <p:nvGrpSpPr>
          <p:cNvPr id="856" name="Google Shape;856;p6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57" name="Google Shape;857;p6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68"/>
            <p:cNvSpPr txBox="1"/>
            <p:nvPr/>
          </p:nvSpPr>
          <p:spPr>
            <a:xfrm>
              <a:off x="188780" y="-22510"/>
              <a:ext cx="33219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Closures Pt. II</a:t>
              </a:r>
              <a:endParaRPr/>
            </a:p>
          </p:txBody>
        </p:sp>
      </p:grpSp>
      <p:sp>
        <p:nvSpPr>
          <p:cNvPr id="859" name="Google Shape;859;p68"/>
          <p:cNvSpPr txBox="1"/>
          <p:nvPr/>
        </p:nvSpPr>
        <p:spPr>
          <a:xfrm>
            <a:off x="849257" y="1549446"/>
            <a:ext cx="72419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1: Compute 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for every set of attributes X:</a:t>
            </a:r>
            <a:endParaRPr/>
          </a:p>
        </p:txBody>
      </p:sp>
      <p:sp>
        <p:nvSpPr>
          <p:cNvPr id="860" name="Google Shape;860;p68"/>
          <p:cNvSpPr/>
          <p:nvPr/>
        </p:nvSpPr>
        <p:spPr>
          <a:xfrm>
            <a:off x="775329" y="1495336"/>
            <a:ext cx="7169712" cy="63144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69"/>
          <p:cNvSpPr txBox="1"/>
          <p:nvPr>
            <p:ph type="title"/>
          </p:nvPr>
        </p:nvSpPr>
        <p:spPr>
          <a:xfrm>
            <a:off x="838200" y="2469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Closure to Infer ALL FDs</a:t>
            </a:r>
            <a:endParaRPr/>
          </a:p>
        </p:txBody>
      </p:sp>
      <p:sp>
        <p:nvSpPr>
          <p:cNvPr id="867" name="Google Shape;867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69"/>
          <p:cNvSpPr/>
          <p:nvPr/>
        </p:nvSpPr>
        <p:spPr>
          <a:xfrm>
            <a:off x="9719763" y="1135453"/>
            <a:ext cx="1973617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b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{B}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 D</a:t>
            </a:r>
            <a:endParaRPr/>
          </a:p>
        </p:txBody>
      </p:sp>
      <p:sp>
        <p:nvSpPr>
          <p:cNvPr id="869" name="Google Shape;869;p69"/>
          <p:cNvSpPr txBox="1"/>
          <p:nvPr/>
        </p:nvSpPr>
        <p:spPr>
          <a:xfrm>
            <a:off x="8165168" y="1053657"/>
            <a:ext cx="13344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F =</a:t>
            </a:r>
            <a:endParaRPr/>
          </a:p>
        </p:txBody>
      </p:sp>
      <p:sp>
        <p:nvSpPr>
          <p:cNvPr id="870" name="Google Shape;870;p69"/>
          <p:cNvSpPr txBox="1"/>
          <p:nvPr/>
        </p:nvSpPr>
        <p:spPr>
          <a:xfrm>
            <a:off x="849257" y="2248720"/>
            <a:ext cx="8304698" cy="193899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{A}, {B}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{B,D}, {C}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{C}, {D}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{D}, {A,B}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{A,C}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{A,C}, {A,D}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{A,B,C}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{A,B,C,D}, {B,C,D}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{B,C,D},    {A,B,C,D}</a:t>
            </a:r>
            <a:r>
              <a:rPr baseline="30000"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= {A,B,C,D}</a:t>
            </a:r>
            <a:endParaRPr/>
          </a:p>
        </p:txBody>
      </p:sp>
      <p:sp>
        <p:nvSpPr>
          <p:cNvPr id="871" name="Google Shape;871;p69"/>
          <p:cNvSpPr txBox="1"/>
          <p:nvPr/>
        </p:nvSpPr>
        <p:spPr>
          <a:xfrm>
            <a:off x="838200" y="4585478"/>
            <a:ext cx="863621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2: Enumerate all FDs X 🡪 Y, s.t. Y ⊆ 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X ∩ Y = ∅:</a:t>
            </a:r>
            <a:endParaRPr/>
          </a:p>
        </p:txBody>
      </p:sp>
      <p:sp>
        <p:nvSpPr>
          <p:cNvPr id="872" name="Google Shape;872;p69"/>
          <p:cNvSpPr txBox="1"/>
          <p:nvPr/>
        </p:nvSpPr>
        <p:spPr>
          <a:xfrm>
            <a:off x="838200" y="5305057"/>
            <a:ext cx="8304697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{C,D}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{B,C}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{A,B,C}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{D}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{A,B,D}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{C}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{A,C,D}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{B}</a:t>
            </a:r>
            <a:endParaRPr sz="24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69"/>
          <p:cNvSpPr/>
          <p:nvPr/>
        </p:nvSpPr>
        <p:spPr>
          <a:xfrm>
            <a:off x="678425" y="2182464"/>
            <a:ext cx="8475529" cy="2123371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69"/>
          <p:cNvSpPr/>
          <p:nvPr/>
        </p:nvSpPr>
        <p:spPr>
          <a:xfrm>
            <a:off x="7718322" y="4603645"/>
            <a:ext cx="1514168" cy="523220"/>
          </a:xfrm>
          <a:prstGeom prst="roundRect">
            <a:avLst>
              <a:gd fmla="val 16667" name="adj"/>
            </a:avLst>
          </a:prstGeom>
          <a:solidFill>
            <a:srgbClr val="FFF2CC">
              <a:alpha val="49803"/>
            </a:srgbClr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69"/>
          <p:cNvSpPr txBox="1"/>
          <p:nvPr/>
        </p:nvSpPr>
        <p:spPr>
          <a:xfrm>
            <a:off x="9719763" y="4585478"/>
            <a:ext cx="2216598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FD X 🡪 Y is non-trivial</a:t>
            </a:r>
            <a:endParaRPr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6" name="Google Shape;876;p6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77" name="Google Shape;877;p6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69"/>
            <p:cNvSpPr txBox="1"/>
            <p:nvPr/>
          </p:nvSpPr>
          <p:spPr>
            <a:xfrm>
              <a:off x="188780" y="-22510"/>
              <a:ext cx="33219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Closures Pt. II</a:t>
              </a:r>
              <a:endParaRPr/>
            </a:p>
          </p:txBody>
        </p:sp>
      </p:grpSp>
      <p:sp>
        <p:nvSpPr>
          <p:cNvPr id="879" name="Google Shape;879;p69"/>
          <p:cNvSpPr txBox="1"/>
          <p:nvPr/>
        </p:nvSpPr>
        <p:spPr>
          <a:xfrm>
            <a:off x="849257" y="1549446"/>
            <a:ext cx="72419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1: Compute 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for every set of attributes X:</a:t>
            </a:r>
            <a:endParaRPr/>
          </a:p>
        </p:txBody>
      </p:sp>
      <p:sp>
        <p:nvSpPr>
          <p:cNvPr id="880" name="Google Shape;880;p69"/>
          <p:cNvSpPr/>
          <p:nvPr/>
        </p:nvSpPr>
        <p:spPr>
          <a:xfrm>
            <a:off x="775329" y="1495336"/>
            <a:ext cx="7169712" cy="63144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0"/>
          <p:cNvSpPr txBox="1"/>
          <p:nvPr>
            <p:ph type="title"/>
          </p:nvPr>
        </p:nvSpPr>
        <p:spPr>
          <a:xfrm>
            <a:off x="1981200" y="309468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Superkeys and Keys</a:t>
            </a:r>
            <a:endParaRPr/>
          </a:p>
        </p:txBody>
      </p:sp>
      <p:grpSp>
        <p:nvGrpSpPr>
          <p:cNvPr id="886" name="Google Shape;886;p7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887" name="Google Shape;887;p7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70"/>
            <p:cNvSpPr txBox="1"/>
            <p:nvPr/>
          </p:nvSpPr>
          <p:spPr>
            <a:xfrm>
              <a:off x="188780" y="-22510"/>
              <a:ext cx="35907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Superkeys &amp; Keys</a:t>
              </a:r>
              <a:endParaRPr/>
            </a:p>
          </p:txBody>
        </p:sp>
      </p:grpSp>
      <p:sp>
        <p:nvSpPr>
          <p:cNvPr id="889" name="Google Shape;889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Keys and Superkeys</a:t>
            </a:r>
            <a:endParaRPr/>
          </a:p>
        </p:txBody>
      </p:sp>
      <p:sp>
        <p:nvSpPr>
          <p:cNvPr id="895" name="Google Shape;895;p71"/>
          <p:cNvSpPr/>
          <p:nvPr/>
        </p:nvSpPr>
        <p:spPr>
          <a:xfrm>
            <a:off x="838199" y="2055681"/>
            <a:ext cx="7578214" cy="1569660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superkey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set of attributes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="1"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other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R,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have  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{A</a:t>
            </a:r>
            <a:r>
              <a:rPr b="1"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…, A</a:t>
            </a:r>
            <a:r>
              <a:rPr b="1"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🡪 B</a:t>
            </a:r>
            <a:endParaRPr/>
          </a:p>
        </p:txBody>
      </p:sp>
      <p:sp>
        <p:nvSpPr>
          <p:cNvPr id="896" name="Google Shape;896;p71"/>
          <p:cNvSpPr/>
          <p:nvPr/>
        </p:nvSpPr>
        <p:spPr>
          <a:xfrm>
            <a:off x="838199" y="5267606"/>
            <a:ext cx="4874343" cy="584775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minimal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superkey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71"/>
          <p:cNvSpPr txBox="1"/>
          <p:nvPr/>
        </p:nvSpPr>
        <p:spPr>
          <a:xfrm>
            <a:off x="8799870" y="2240346"/>
            <a:ext cx="3106994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 all attributes are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functionally determined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a superkey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71"/>
          <p:cNvSpPr txBox="1"/>
          <p:nvPr/>
        </p:nvSpPr>
        <p:spPr>
          <a:xfrm>
            <a:off x="8202025" y="4758429"/>
            <a:ext cx="4302684" cy="193899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means that no subset of a key is also a superkey (i.e., dropping any attribute from the key makes it no longer a superkey)</a:t>
            </a:r>
            <a:endParaRPr/>
          </a:p>
        </p:txBody>
      </p:sp>
      <p:grpSp>
        <p:nvGrpSpPr>
          <p:cNvPr id="899" name="Google Shape;899;p7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00" name="Google Shape;900;p7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71"/>
            <p:cNvSpPr txBox="1"/>
            <p:nvPr/>
          </p:nvSpPr>
          <p:spPr>
            <a:xfrm>
              <a:off x="188780" y="-22510"/>
              <a:ext cx="35907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Superkeys &amp; Keys</a:t>
              </a:r>
              <a:endParaRPr/>
            </a:p>
          </p:txBody>
        </p:sp>
      </p:grpSp>
      <p:sp>
        <p:nvSpPr>
          <p:cNvPr id="902" name="Google Shape;902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3" name="Google Shape;903;p71"/>
          <p:cNvSpPr/>
          <p:nvPr/>
        </p:nvSpPr>
        <p:spPr>
          <a:xfrm>
            <a:off x="990599" y="3899497"/>
            <a:ext cx="5940779" cy="5847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Keys and Superkeys	</a:t>
            </a:r>
            <a:endParaRPr/>
          </a:p>
        </p:txBody>
      </p:sp>
      <p:sp>
        <p:nvSpPr>
          <p:cNvPr id="909" name="Google Shape;909;p7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For each set of attributes X</a:t>
            </a:r>
            <a:endParaRPr/>
          </a:p>
          <a:p>
            <a:pPr indent="-254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/>
              <a:t>Compute X</a:t>
            </a:r>
            <a:r>
              <a:rPr baseline="30000" lang="en-US" sz="3200"/>
              <a:t>+</a:t>
            </a:r>
            <a:endParaRPr sz="3200"/>
          </a:p>
          <a:p>
            <a:pPr indent="-254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/>
              <a:t>If X</a:t>
            </a:r>
            <a:r>
              <a:rPr baseline="30000" lang="en-US" sz="3200"/>
              <a:t>+ </a:t>
            </a:r>
            <a:r>
              <a:rPr lang="en-US" sz="3200"/>
              <a:t>= set of all attributes then X is a </a:t>
            </a:r>
            <a:r>
              <a:rPr b="1" lang="en-US" sz="3200"/>
              <a:t>superkey</a:t>
            </a:r>
            <a:endParaRPr b="1" sz="3200"/>
          </a:p>
          <a:p>
            <a:pPr indent="-254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3200"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/>
              <a:t>If X is minimal, then it is a </a:t>
            </a:r>
            <a:r>
              <a:rPr b="1" lang="en-US" sz="3200"/>
              <a:t>key</a:t>
            </a:r>
            <a:endParaRPr/>
          </a:p>
          <a:p>
            <a:pPr indent="-25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</p:txBody>
      </p:sp>
      <p:grpSp>
        <p:nvGrpSpPr>
          <p:cNvPr id="910" name="Google Shape;910;p7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11" name="Google Shape;911;p7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72"/>
            <p:cNvSpPr txBox="1"/>
            <p:nvPr/>
          </p:nvSpPr>
          <p:spPr>
            <a:xfrm>
              <a:off x="188780" y="-22510"/>
              <a:ext cx="35907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Superkeys &amp; Keys</a:t>
              </a:r>
              <a:endParaRPr/>
            </a:p>
          </p:txBody>
        </p:sp>
      </p:grpSp>
      <p:sp>
        <p:nvSpPr>
          <p:cNvPr id="913" name="Google Shape;913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of Finding Keys</a:t>
            </a:r>
            <a:endParaRPr/>
          </a:p>
        </p:txBody>
      </p:sp>
      <p:sp>
        <p:nvSpPr>
          <p:cNvPr id="919" name="Google Shape;919;p73"/>
          <p:cNvSpPr txBox="1"/>
          <p:nvPr/>
        </p:nvSpPr>
        <p:spPr>
          <a:xfrm>
            <a:off x="838200" y="1635740"/>
            <a:ext cx="8118987" cy="5232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Product(name, price, category, color)</a:t>
            </a:r>
            <a:endParaRPr/>
          </a:p>
        </p:txBody>
      </p:sp>
      <p:sp>
        <p:nvSpPr>
          <p:cNvPr id="920" name="Google Shape;920;p73"/>
          <p:cNvSpPr txBox="1"/>
          <p:nvPr/>
        </p:nvSpPr>
        <p:spPr>
          <a:xfrm>
            <a:off x="838200" y="2658682"/>
            <a:ext cx="6093542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{name, category} 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{category} 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endParaRPr sz="30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73"/>
          <p:cNvSpPr txBox="1"/>
          <p:nvPr/>
        </p:nvSpPr>
        <p:spPr>
          <a:xfrm>
            <a:off x="2403231" y="4577189"/>
            <a:ext cx="738553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key?</a:t>
            </a:r>
            <a:endParaRPr/>
          </a:p>
        </p:txBody>
      </p:sp>
      <p:grpSp>
        <p:nvGrpSpPr>
          <p:cNvPr id="922" name="Google Shape;922;p7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23" name="Google Shape;923;p7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73"/>
            <p:cNvSpPr txBox="1"/>
            <p:nvPr/>
          </p:nvSpPr>
          <p:spPr>
            <a:xfrm>
              <a:off x="188780" y="-22510"/>
              <a:ext cx="35907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Superkeys &amp; Keys</a:t>
              </a:r>
              <a:endParaRPr/>
            </a:p>
          </p:txBody>
        </p:sp>
      </p:grpSp>
      <p:sp>
        <p:nvSpPr>
          <p:cNvPr id="925" name="Google Shape;925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6" name="Google Shape;926;p73"/>
          <p:cNvSpPr txBox="1"/>
          <p:nvPr/>
        </p:nvSpPr>
        <p:spPr>
          <a:xfrm>
            <a:off x="4323644" y="6062133"/>
            <a:ext cx="540558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{name, category}+ = {name, category, color, price}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{name, category, color}+ = {name, category, color, price}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of Keys</a:t>
            </a:r>
            <a:endParaRPr/>
          </a:p>
        </p:txBody>
      </p:sp>
      <p:sp>
        <p:nvSpPr>
          <p:cNvPr id="932" name="Google Shape;932;p74"/>
          <p:cNvSpPr txBox="1"/>
          <p:nvPr/>
        </p:nvSpPr>
        <p:spPr>
          <a:xfrm>
            <a:off x="838200" y="1635740"/>
            <a:ext cx="8118987" cy="5232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Product(name, price, category, color)</a:t>
            </a:r>
            <a:endParaRPr/>
          </a:p>
        </p:txBody>
      </p:sp>
      <p:sp>
        <p:nvSpPr>
          <p:cNvPr id="933" name="Google Shape;933;p74"/>
          <p:cNvSpPr txBox="1"/>
          <p:nvPr/>
        </p:nvSpPr>
        <p:spPr>
          <a:xfrm>
            <a:off x="838200" y="2658682"/>
            <a:ext cx="6093542" cy="10156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{name, category} 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{category} </a:t>
            </a:r>
            <a:r>
              <a:rPr lang="en-US"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3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endParaRPr sz="30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74"/>
          <p:cNvSpPr txBox="1"/>
          <p:nvPr/>
        </p:nvSpPr>
        <p:spPr>
          <a:xfrm>
            <a:off x="838200" y="4174067"/>
            <a:ext cx="10515600" cy="218521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7260" l="-927" r="-289" t="-22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935" name="Google Shape;935;p7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36" name="Google Shape;936;p7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74"/>
            <p:cNvSpPr txBox="1"/>
            <p:nvPr/>
          </p:nvSpPr>
          <p:spPr>
            <a:xfrm>
              <a:off x="188780" y="-22510"/>
              <a:ext cx="359079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 &gt;  Section 3  &gt;  Superkeys &amp; Keys</a:t>
              </a:r>
              <a:endParaRPr/>
            </a:p>
          </p:txBody>
        </p:sp>
      </p:grpSp>
      <p:sp>
        <p:nvSpPr>
          <p:cNvPr id="938" name="Google Shape;938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Superkey vs Key</a:t>
            </a:r>
            <a:endParaRPr/>
          </a:p>
        </p:txBody>
      </p:sp>
      <p:sp>
        <p:nvSpPr>
          <p:cNvPr id="944" name="Google Shape;944;p7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{name, category}+ = {name, category, color, price}               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 superkey and key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{name, category, color}+ = {name, category, color, price}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 Superkey but not key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45" name="Google Shape;945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6" name="Google Shape;946;p75"/>
          <p:cNvSpPr txBox="1"/>
          <p:nvPr/>
        </p:nvSpPr>
        <p:spPr>
          <a:xfrm>
            <a:off x="3860799" y="2370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76"/>
          <p:cNvSpPr txBox="1"/>
          <p:nvPr>
            <p:ph type="ctrTitle"/>
          </p:nvPr>
        </p:nvSpPr>
        <p:spPr>
          <a:xfrm>
            <a:off x="1524000" y="19732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Design Theory II</a:t>
            </a:r>
            <a:endParaRPr/>
          </a:p>
        </p:txBody>
      </p:sp>
      <p:grpSp>
        <p:nvGrpSpPr>
          <p:cNvPr id="952" name="Google Shape;952;p7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53" name="Google Shape;953;p7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76"/>
            <p:cNvSpPr txBox="1"/>
            <p:nvPr/>
          </p:nvSpPr>
          <p:spPr>
            <a:xfrm>
              <a:off x="188780" y="-22510"/>
              <a:ext cx="13589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</a:t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5" name="Google Shape;955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77"/>
          <p:cNvSpPr txBox="1"/>
          <p:nvPr>
            <p:ph type="title"/>
          </p:nvPr>
        </p:nvSpPr>
        <p:spPr>
          <a:xfrm>
            <a:off x="1981200" y="28253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Normal Forms</a:t>
            </a:r>
            <a:endParaRPr/>
          </a:p>
        </p:txBody>
      </p:sp>
      <p:grpSp>
        <p:nvGrpSpPr>
          <p:cNvPr id="961" name="Google Shape;961;p7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962" name="Google Shape;962;p7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77"/>
            <p:cNvSpPr txBox="1"/>
            <p:nvPr/>
          </p:nvSpPr>
          <p:spPr>
            <a:xfrm>
              <a:off x="188780" y="-22510"/>
              <a:ext cx="26050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Normal Forms</a:t>
              </a:r>
              <a:endParaRPr/>
            </a:p>
          </p:txBody>
        </p:sp>
      </p:grpSp>
      <p:sp>
        <p:nvSpPr>
          <p:cNvPr id="964" name="Google Shape;964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7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2NF</a:t>
            </a:r>
            <a:endParaRPr/>
          </a:p>
        </p:txBody>
      </p:sp>
      <p:sp>
        <p:nvSpPr>
          <p:cNvPr id="970" name="Google Shape;970;p7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Definition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relation schema </a:t>
            </a:r>
            <a:r>
              <a:rPr b="1" lang="en-US"/>
              <a:t>R</a:t>
            </a:r>
            <a:r>
              <a:rPr lang="en-US"/>
              <a:t> is in </a:t>
            </a:r>
            <a:r>
              <a:rPr b="1" lang="en-US"/>
              <a:t>Second Normal Form (2NF)</a:t>
            </a:r>
            <a:r>
              <a:rPr lang="en-US"/>
              <a:t> if every non-prime attribute </a:t>
            </a:r>
            <a:r>
              <a:rPr b="1" lang="en-US"/>
              <a:t>A</a:t>
            </a:r>
            <a:r>
              <a:rPr lang="en-US"/>
              <a:t> in </a:t>
            </a:r>
            <a:r>
              <a:rPr b="1" lang="en-US"/>
              <a:t>R</a:t>
            </a:r>
            <a:r>
              <a:rPr lang="en-US"/>
              <a:t> is not </a:t>
            </a:r>
            <a:r>
              <a:rPr b="1" i="1" lang="en-US" u="sng"/>
              <a:t>partially</a:t>
            </a:r>
            <a:r>
              <a:rPr lang="en-US"/>
              <a:t> dependent on </a:t>
            </a:r>
            <a:r>
              <a:rPr b="1" lang="en-US"/>
              <a:t>any</a:t>
            </a:r>
            <a:r>
              <a:rPr lang="en-US"/>
              <a:t> key of </a:t>
            </a:r>
            <a:r>
              <a:rPr b="1" lang="en-US"/>
              <a:t>R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Prime attribute: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Is an attribute that is part of </a:t>
            </a:r>
            <a:r>
              <a:rPr i="1" lang="en-US"/>
              <a:t>any</a:t>
            </a:r>
            <a:r>
              <a:rPr lang="en-US"/>
              <a:t> key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Partially dependent 🡺 depends on subset of the key 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71" name="Google Shape;971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7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977" name="Google Shape;977;p79"/>
          <p:cNvSpPr txBox="1"/>
          <p:nvPr>
            <p:ph idx="1" type="body"/>
          </p:nvPr>
        </p:nvSpPr>
        <p:spPr>
          <a:xfrm>
            <a:off x="6096000" y="1253331"/>
            <a:ext cx="685569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LOTS(p_id, county_name, lot#, Area, price, tax_rate)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FD1: p_id -&gt; {county_name, lot#, Area, price, tax_rate}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FD2: county_name, lot#}-&gt;{p_id, area, price, tax_rate}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FD3:  county_name -&gt; Tax_rate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FD4: area -&gt; price	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(p_id)+={ p_id, county_name, lot#, area, price, tax_rate}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{county_name, lot#}+={ p_id, county_name, lot#, area, price, tax_rate}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{county_name}+ ={county_name, tax_rate}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{area}+={price, area}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Prime attributes: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p_id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county_name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lot#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non-prime attributes: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Area, Price, Tax rate</a:t>
            </a:r>
            <a:endParaRPr/>
          </a:p>
          <a:p>
            <a:pPr indent="-130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978" name="Google Shape;978;p79"/>
          <p:cNvPicPr preferRelativeResize="0"/>
          <p:nvPr/>
        </p:nvPicPr>
        <p:blipFill rotWithShape="1">
          <a:blip r:embed="rId3">
            <a:alphaModFix/>
          </a:blip>
          <a:srcRect b="0" l="0" r="0" t="32161"/>
          <a:stretch/>
        </p:blipFill>
        <p:spPr>
          <a:xfrm>
            <a:off x="298142" y="1567371"/>
            <a:ext cx="5797858" cy="2672954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79"/>
          <p:cNvSpPr/>
          <p:nvPr/>
        </p:nvSpPr>
        <p:spPr>
          <a:xfrm>
            <a:off x="1092323" y="5578475"/>
            <a:ext cx="3754884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is not in 2NF as we have county_name -&gt; tax_rate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79"/>
          <p:cNvSpPr/>
          <p:nvPr/>
        </p:nvSpPr>
        <p:spPr>
          <a:xfrm>
            <a:off x="6096000" y="5604669"/>
            <a:ext cx="4452152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Lots1( p_id, county_name, lot#, Area, price)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Lots2(county_name, tax_rate)</a:t>
            </a:r>
            <a:endParaRPr/>
          </a:p>
        </p:txBody>
      </p:sp>
      <p:sp>
        <p:nvSpPr>
          <p:cNvPr id="981" name="Google Shape;981;p79"/>
          <p:cNvSpPr/>
          <p:nvPr/>
        </p:nvSpPr>
        <p:spPr>
          <a:xfrm>
            <a:off x="0" y="0"/>
            <a:ext cx="12192000" cy="2627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79"/>
          <p:cNvSpPr txBox="1"/>
          <p:nvPr/>
        </p:nvSpPr>
        <p:spPr>
          <a:xfrm>
            <a:off x="188780" y="-22510"/>
            <a:ext cx="2564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Design Theory II  &gt;  Normal Forms</a:t>
            </a:r>
            <a:endParaRPr/>
          </a:p>
        </p:txBody>
      </p:sp>
      <p:sp>
        <p:nvSpPr>
          <p:cNvPr id="983" name="Google Shape;983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4" name="Google Shape;984;p79"/>
          <p:cNvSpPr txBox="1"/>
          <p:nvPr/>
        </p:nvSpPr>
        <p:spPr>
          <a:xfrm>
            <a:off x="4071152" y="504634"/>
            <a:ext cx="6477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relation schema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in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 Normal Form (2NF)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every non-prime attribute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partially dependent on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 of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8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2NF</a:t>
            </a:r>
            <a:endParaRPr/>
          </a:p>
        </p:txBody>
      </p:sp>
      <p:sp>
        <p:nvSpPr>
          <p:cNvPr id="990" name="Google Shape;990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1" name="Google Shape;99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904" y="2559610"/>
            <a:ext cx="7481888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2005560"/>
            <a:ext cx="10515600" cy="2754339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80"/>
          <p:cNvSpPr/>
          <p:nvPr/>
        </p:nvSpPr>
        <p:spPr>
          <a:xfrm>
            <a:off x="1210733" y="2204331"/>
            <a:ext cx="10075333" cy="2566317"/>
          </a:xfrm>
          <a:prstGeom prst="rect">
            <a:avLst/>
          </a:prstGeom>
          <a:solidFill>
            <a:srgbClr val="0432FF">
              <a:alpha val="10588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80"/>
          <p:cNvSpPr/>
          <p:nvPr/>
        </p:nvSpPr>
        <p:spPr>
          <a:xfrm>
            <a:off x="5985933" y="4943322"/>
            <a:ext cx="914400" cy="3048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2NF</a:t>
            </a:r>
            <a:endParaRPr/>
          </a:p>
        </p:txBody>
      </p:sp>
      <p:sp>
        <p:nvSpPr>
          <p:cNvPr id="995" name="Google Shape;995;p80"/>
          <p:cNvSpPr/>
          <p:nvPr/>
        </p:nvSpPr>
        <p:spPr>
          <a:xfrm>
            <a:off x="152400" y="152400"/>
            <a:ext cx="12192000" cy="2627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80"/>
          <p:cNvSpPr txBox="1"/>
          <p:nvPr/>
        </p:nvSpPr>
        <p:spPr>
          <a:xfrm>
            <a:off x="341180" y="129890"/>
            <a:ext cx="2564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Design Theory II  &gt;  Normal Forms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3NF</a:t>
            </a:r>
            <a:endParaRPr/>
          </a:p>
        </p:txBody>
      </p:sp>
      <p:sp>
        <p:nvSpPr>
          <p:cNvPr id="1002" name="Google Shape;1002;p8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Definition: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relation schema </a:t>
            </a:r>
            <a:r>
              <a:rPr b="1" lang="en-US"/>
              <a:t>R</a:t>
            </a:r>
            <a:r>
              <a:rPr lang="en-US"/>
              <a:t> is in </a:t>
            </a:r>
            <a:r>
              <a:rPr b="1" lang="en-US"/>
              <a:t>Third Normal Form (3NF)</a:t>
            </a:r>
            <a:r>
              <a:rPr lang="en-US"/>
              <a:t> if, whenever a </a:t>
            </a:r>
            <a:r>
              <a:rPr b="1" lang="en-US"/>
              <a:t>nontrivial</a:t>
            </a:r>
            <a:r>
              <a:rPr lang="en-US"/>
              <a:t> functional dependency </a:t>
            </a:r>
            <a:r>
              <a:rPr b="1" lang="en-US"/>
              <a:t>X → A</a:t>
            </a:r>
            <a:r>
              <a:rPr lang="en-US"/>
              <a:t> holds in </a:t>
            </a:r>
            <a:r>
              <a:rPr b="1" lang="en-US"/>
              <a:t>R</a:t>
            </a:r>
            <a:r>
              <a:rPr lang="en-US"/>
              <a:t>, either: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(a) </a:t>
            </a:r>
            <a:r>
              <a:rPr b="1" lang="en-US"/>
              <a:t>X</a:t>
            </a:r>
            <a:r>
              <a:rPr lang="en-US"/>
              <a:t> is a superkey of </a:t>
            </a:r>
            <a:r>
              <a:rPr b="1" lang="en-US"/>
              <a:t>R</a:t>
            </a:r>
            <a:r>
              <a:rPr lang="en-US"/>
              <a:t>, 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(b) </a:t>
            </a:r>
            <a:r>
              <a:rPr b="1" lang="en-US"/>
              <a:t>A</a:t>
            </a:r>
            <a:r>
              <a:rPr lang="en-US"/>
              <a:t> is a prime attribute of </a:t>
            </a:r>
            <a:r>
              <a:rPr b="1" lang="en-US"/>
              <a:t>R</a:t>
            </a:r>
            <a:r>
              <a:rPr lang="en-US"/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03" name="Google Shape;1003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82"/>
          <p:cNvSpPr txBox="1"/>
          <p:nvPr>
            <p:ph type="title"/>
          </p:nvPr>
        </p:nvSpPr>
        <p:spPr>
          <a:xfrm>
            <a:off x="559005" y="-15604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2NF -&gt; 3NF</a:t>
            </a:r>
            <a:endParaRPr/>
          </a:p>
        </p:txBody>
      </p:sp>
      <p:pic>
        <p:nvPicPr>
          <p:cNvPr id="1009" name="Google Shape;1009;p8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484" y="674661"/>
            <a:ext cx="10515600" cy="2754339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82"/>
          <p:cNvSpPr/>
          <p:nvPr/>
        </p:nvSpPr>
        <p:spPr>
          <a:xfrm>
            <a:off x="636494" y="3764845"/>
            <a:ext cx="60960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FD: X-&gt;A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(a) X is a superkey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or (b) A is a prime attribute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Lots1(p_id, county_name, lot#, Area, price)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FD1:p_id -&gt; {county_name, lot#, Area, price}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FD2:{county_name, lot#}-&gt;{p_id, area, price}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FD4:area -&gt; price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82"/>
          <p:cNvSpPr/>
          <p:nvPr/>
        </p:nvSpPr>
        <p:spPr>
          <a:xfrm>
            <a:off x="6951316" y="5343011"/>
            <a:ext cx="6096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Lots1A(p_id, county_name, lot#, Area)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Lots1B(area, price)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LOTS2</a:t>
            </a:r>
            <a:endParaRPr/>
          </a:p>
        </p:txBody>
      </p:sp>
      <p:pic>
        <p:nvPicPr>
          <p:cNvPr id="1012" name="Google Shape;1012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2333" y="3660340"/>
            <a:ext cx="5503333" cy="1915893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82"/>
          <p:cNvSpPr/>
          <p:nvPr/>
        </p:nvSpPr>
        <p:spPr>
          <a:xfrm>
            <a:off x="559005" y="768742"/>
            <a:ext cx="10075333" cy="2566317"/>
          </a:xfrm>
          <a:prstGeom prst="rect">
            <a:avLst/>
          </a:prstGeom>
          <a:solidFill>
            <a:srgbClr val="0432FF">
              <a:alpha val="10588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82"/>
          <p:cNvSpPr/>
          <p:nvPr/>
        </p:nvSpPr>
        <p:spPr>
          <a:xfrm>
            <a:off x="4919133" y="820241"/>
            <a:ext cx="914400" cy="3048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2NF</a:t>
            </a:r>
            <a:endParaRPr/>
          </a:p>
        </p:txBody>
      </p:sp>
      <p:sp>
        <p:nvSpPr>
          <p:cNvPr id="1015" name="Google Shape;1015;p82"/>
          <p:cNvSpPr/>
          <p:nvPr/>
        </p:nvSpPr>
        <p:spPr>
          <a:xfrm>
            <a:off x="6392333" y="4176336"/>
            <a:ext cx="5240866" cy="1399897"/>
          </a:xfrm>
          <a:prstGeom prst="rect">
            <a:avLst/>
          </a:prstGeom>
          <a:solidFill>
            <a:srgbClr val="0432FF">
              <a:alpha val="10588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82"/>
          <p:cNvSpPr/>
          <p:nvPr/>
        </p:nvSpPr>
        <p:spPr>
          <a:xfrm>
            <a:off x="8399680" y="3891216"/>
            <a:ext cx="914400" cy="3048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3NF</a:t>
            </a:r>
            <a:endParaRPr/>
          </a:p>
        </p:txBody>
      </p:sp>
      <p:sp>
        <p:nvSpPr>
          <p:cNvPr id="1017" name="Google Shape;1017;p82"/>
          <p:cNvSpPr/>
          <p:nvPr/>
        </p:nvSpPr>
        <p:spPr>
          <a:xfrm>
            <a:off x="0" y="0"/>
            <a:ext cx="12192000" cy="2627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82"/>
          <p:cNvSpPr txBox="1"/>
          <p:nvPr/>
        </p:nvSpPr>
        <p:spPr>
          <a:xfrm>
            <a:off x="188780" y="-22510"/>
            <a:ext cx="2564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Design Theory II  &gt;  Normal Forms</a:t>
            </a:r>
            <a:endParaRPr/>
          </a:p>
        </p:txBody>
      </p:sp>
      <p:sp>
        <p:nvSpPr>
          <p:cNvPr id="1019" name="Google Shape;1019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25" name="Google Shape;1025;p8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26" name="Google Shape;1026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7" name="Google Shape;1027;p83"/>
          <p:cNvSpPr txBox="1"/>
          <p:nvPr/>
        </p:nvSpPr>
        <p:spPr>
          <a:xfrm>
            <a:off x="942623" y="1176319"/>
            <a:ext cx="610728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BCNF: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relation schema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in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BCNF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if, whenever a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nontrivial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functional dependency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→ 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holds in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R, then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superkey of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83"/>
          <p:cNvSpPr txBox="1"/>
          <p:nvPr/>
        </p:nvSpPr>
        <p:spPr>
          <a:xfrm>
            <a:off x="5348112" y="2938004"/>
            <a:ext cx="610728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3NF: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relation schema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in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Third Normal Form (3NF)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if, whenever a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nontrivial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functional dependency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→ 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holds in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either: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superkey of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or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prime attribute of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8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BCNF</a:t>
            </a:r>
            <a:endParaRPr/>
          </a:p>
        </p:txBody>
      </p:sp>
      <p:sp>
        <p:nvSpPr>
          <p:cNvPr id="1034" name="Google Shape;1034;p8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Definition: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relation schema </a:t>
            </a:r>
            <a:r>
              <a:rPr b="1" lang="en-US"/>
              <a:t>R</a:t>
            </a:r>
            <a:r>
              <a:rPr lang="en-US"/>
              <a:t> is in </a:t>
            </a:r>
            <a:r>
              <a:rPr b="1" lang="en-US"/>
              <a:t>BCNF</a:t>
            </a:r>
            <a:r>
              <a:rPr lang="en-US"/>
              <a:t> if, whenever a </a:t>
            </a:r>
            <a:r>
              <a:rPr b="1" lang="en-US"/>
              <a:t>nontrivial</a:t>
            </a:r>
            <a:r>
              <a:rPr lang="en-US"/>
              <a:t> functional dependency </a:t>
            </a:r>
            <a:r>
              <a:rPr b="1" lang="en-US"/>
              <a:t>X → A</a:t>
            </a:r>
            <a:r>
              <a:rPr lang="en-US"/>
              <a:t> holds in </a:t>
            </a:r>
            <a:r>
              <a:rPr b="1" lang="en-US"/>
              <a:t>R, then</a:t>
            </a:r>
            <a:r>
              <a:rPr lang="en-US"/>
              <a:t>	 </a:t>
            </a:r>
            <a:r>
              <a:rPr b="1" lang="en-US"/>
              <a:t>X</a:t>
            </a:r>
            <a:r>
              <a:rPr lang="en-US"/>
              <a:t> is a superkey of </a:t>
            </a:r>
            <a:r>
              <a:rPr b="1" lang="en-US"/>
              <a:t>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35" name="Google Shape;1035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85"/>
          <p:cNvSpPr txBox="1"/>
          <p:nvPr>
            <p:ph type="title"/>
          </p:nvPr>
        </p:nvSpPr>
        <p:spPr>
          <a:xfrm>
            <a:off x="79514" y="2505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3NF to BCNF</a:t>
            </a:r>
            <a:endParaRPr/>
          </a:p>
        </p:txBody>
      </p:sp>
      <p:sp>
        <p:nvSpPr>
          <p:cNvPr id="1041" name="Google Shape;1041;p85"/>
          <p:cNvSpPr/>
          <p:nvPr/>
        </p:nvSpPr>
        <p:spPr>
          <a:xfrm>
            <a:off x="6084822" y="544912"/>
            <a:ext cx="5581409" cy="3031779"/>
          </a:xfrm>
          <a:prstGeom prst="rect">
            <a:avLst/>
          </a:prstGeom>
          <a:solidFill>
            <a:srgbClr val="0432FF">
              <a:alpha val="10588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85"/>
          <p:cNvSpPr/>
          <p:nvPr/>
        </p:nvSpPr>
        <p:spPr>
          <a:xfrm>
            <a:off x="8394864" y="360763"/>
            <a:ext cx="721658" cy="20936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3NF</a:t>
            </a:r>
            <a:endParaRPr/>
          </a:p>
        </p:txBody>
      </p:sp>
      <p:sp>
        <p:nvSpPr>
          <p:cNvPr id="1043" name="Google Shape;1043;p85"/>
          <p:cNvSpPr/>
          <p:nvPr/>
        </p:nvSpPr>
        <p:spPr>
          <a:xfrm>
            <a:off x="5287642" y="4400549"/>
            <a:ext cx="6669006" cy="1776414"/>
          </a:xfrm>
          <a:prstGeom prst="rect">
            <a:avLst/>
          </a:prstGeom>
          <a:solidFill>
            <a:srgbClr val="0432FF">
              <a:alpha val="10588"/>
            </a:srgbClr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85"/>
          <p:cNvSpPr/>
          <p:nvPr/>
        </p:nvSpPr>
        <p:spPr>
          <a:xfrm>
            <a:off x="7830705" y="4035202"/>
            <a:ext cx="1080437" cy="35224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BCNF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85"/>
          <p:cNvSpPr/>
          <p:nvPr/>
        </p:nvSpPr>
        <p:spPr>
          <a:xfrm>
            <a:off x="0" y="0"/>
            <a:ext cx="12192000" cy="2627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85"/>
          <p:cNvSpPr txBox="1"/>
          <p:nvPr/>
        </p:nvSpPr>
        <p:spPr>
          <a:xfrm>
            <a:off x="188780" y="-22510"/>
            <a:ext cx="2564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Design Theory II  &gt;  Normal Forms</a:t>
            </a:r>
            <a:endParaRPr/>
          </a:p>
        </p:txBody>
      </p:sp>
      <p:sp>
        <p:nvSpPr>
          <p:cNvPr id="1047" name="Google Shape;1047;p85"/>
          <p:cNvSpPr txBox="1"/>
          <p:nvPr>
            <p:ph idx="12" type="sldNum"/>
          </p:nvPr>
        </p:nvSpPr>
        <p:spPr>
          <a:xfrm>
            <a:off x="9670093" y="6356350"/>
            <a:ext cx="16329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8" name="Google Shape;1048;p85"/>
          <p:cNvSpPr txBox="1"/>
          <p:nvPr>
            <p:ph idx="1" type="body"/>
          </p:nvPr>
        </p:nvSpPr>
        <p:spPr>
          <a:xfrm>
            <a:off x="838200" y="1825625"/>
            <a:ext cx="485282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BCNF: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X-&gt;A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X has to be a superkey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FD5: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Area- &gt; county_name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Lots1A(p_id, county_name, lot#, Area)</a:t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is in 3NF but not in BCNF (county is prime attribute)</a:t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Lots1AX(p_id,  lot#, Area)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Lots1AY(Area,county_name )</a:t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049" name="Google Shape;1049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0981" y="971574"/>
            <a:ext cx="4820323" cy="2086266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85"/>
          <p:cNvSpPr/>
          <p:nvPr/>
        </p:nvSpPr>
        <p:spPr>
          <a:xfrm>
            <a:off x="7818144" y="2759429"/>
            <a:ext cx="1592074" cy="2984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1" name="Google Shape;1051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2860" y="4869233"/>
            <a:ext cx="6382641" cy="1019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8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Boyce-Codd Normal Form (BCNF)</a:t>
            </a:r>
            <a:endParaRPr/>
          </a:p>
        </p:txBody>
      </p:sp>
      <p:sp>
        <p:nvSpPr>
          <p:cNvPr id="1057" name="Google Shape;1057;p8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Main idea is that we define “good” and “bad” FDs as follows: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X 🡪 A is a “</a:t>
            </a:r>
            <a:r>
              <a:rPr i="1" lang="en-US" sz="2800"/>
              <a:t>good FD”</a:t>
            </a:r>
            <a:r>
              <a:rPr lang="en-US" sz="2800"/>
              <a:t> </a:t>
            </a:r>
            <a:r>
              <a:rPr i="1" lang="en-US" sz="2800"/>
              <a:t>if X is a (super)key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In other words, if A is the set of all attributes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X 🡪 A is a </a:t>
            </a:r>
            <a:r>
              <a:rPr i="1" lang="en-US" sz="2800"/>
              <a:t>“bad FD”</a:t>
            </a:r>
            <a:r>
              <a:rPr lang="en-US" sz="2800"/>
              <a:t> otherwise</a:t>
            </a:r>
            <a:endParaRPr/>
          </a:p>
          <a:p>
            <a:pPr indent="-50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We will try to eliminate the “bad” FDs!</a:t>
            </a:r>
            <a:endParaRPr sz="3200"/>
          </a:p>
        </p:txBody>
      </p:sp>
      <p:grpSp>
        <p:nvGrpSpPr>
          <p:cNvPr id="1058" name="Google Shape;1058;p8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59" name="Google Shape;1059;p8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86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 BCNF</a:t>
              </a:r>
              <a:endParaRPr/>
            </a:p>
          </p:txBody>
        </p:sp>
      </p:grpSp>
      <p:sp>
        <p:nvSpPr>
          <p:cNvPr id="1061" name="Google Shape;1061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8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Boyce-Codd Normal Form (BCNF)</a:t>
            </a:r>
            <a:endParaRPr/>
          </a:p>
        </p:txBody>
      </p:sp>
      <p:sp>
        <p:nvSpPr>
          <p:cNvPr id="1067" name="Google Shape;1067;p8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Why does this definition of “good” and “bad” FDs make sense?</a:t>
            </a:r>
            <a:endParaRPr/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X is </a:t>
            </a:r>
            <a:r>
              <a:rPr i="1" lang="en-US"/>
              <a:t>not </a:t>
            </a:r>
            <a:r>
              <a:rPr lang="en-US"/>
              <a:t>a (super)key, it functionally determines </a:t>
            </a:r>
            <a:r>
              <a:rPr i="1" lang="en-US"/>
              <a:t>some</a:t>
            </a:r>
            <a:r>
              <a:rPr lang="en-US"/>
              <a:t> of the attributes; therefore, those other attributes can be duplicated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Recall: this means there is </a:t>
            </a:r>
            <a:r>
              <a:rPr lang="en-US" u="sng"/>
              <a:t>redundancy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And redundancy like this can lead to data anomalies!</a:t>
            </a:r>
            <a:endParaRPr/>
          </a:p>
        </p:txBody>
      </p:sp>
      <p:graphicFrame>
        <p:nvGraphicFramePr>
          <p:cNvPr id="1068" name="Google Shape;1068;p87"/>
          <p:cNvGraphicFramePr/>
          <p:nvPr/>
        </p:nvGraphicFramePr>
        <p:xfrm>
          <a:off x="6791585" y="49992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{7BF10843-2875-4278-A104-14814AE8F35D}</a:tableStyleId>
              </a:tblPr>
              <a:tblGrid>
                <a:gridCol w="937100"/>
                <a:gridCol w="937100"/>
                <a:gridCol w="937100"/>
                <a:gridCol w="937100"/>
              </a:tblGrid>
              <a:tr h="28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EmpID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E0045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Clerk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E3542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Mike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E1111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Salesrep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E9999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Lawyer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9" name="Google Shape;1069;p87"/>
          <p:cNvSpPr/>
          <p:nvPr/>
        </p:nvSpPr>
        <p:spPr>
          <a:xfrm>
            <a:off x="8646097" y="5620306"/>
            <a:ext cx="1874176" cy="770661"/>
          </a:xfrm>
          <a:prstGeom prst="roundRect">
            <a:avLst>
              <a:gd fmla="val 16667" name="adj"/>
            </a:avLst>
          </a:prstGeom>
          <a:solidFill>
            <a:srgbClr val="FBE4D4">
              <a:alpha val="49803"/>
            </a:srgbClr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0" name="Google Shape;1070;p8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71" name="Google Shape;1071;p8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87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 BCNF</a:t>
              </a:r>
              <a:endParaRPr/>
            </a:p>
          </p:txBody>
        </p:sp>
      </p:grpSp>
      <p:sp>
        <p:nvSpPr>
          <p:cNvPr id="1073" name="Google Shape;1073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8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Boyce-Codd Normal Form</a:t>
            </a:r>
            <a:endParaRPr/>
          </a:p>
        </p:txBody>
      </p:sp>
      <p:sp>
        <p:nvSpPr>
          <p:cNvPr id="1080" name="Google Shape;1080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88"/>
          <p:cNvSpPr txBox="1"/>
          <p:nvPr/>
        </p:nvSpPr>
        <p:spPr>
          <a:xfrm>
            <a:off x="838200" y="1715949"/>
            <a:ext cx="978729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BCNF is a simple condition for removing anomalies from relations:</a:t>
            </a:r>
            <a:endParaRPr/>
          </a:p>
        </p:txBody>
      </p:sp>
      <p:sp>
        <p:nvSpPr>
          <p:cNvPr id="1082" name="Google Shape;1082;p88"/>
          <p:cNvSpPr txBox="1"/>
          <p:nvPr/>
        </p:nvSpPr>
        <p:spPr>
          <a:xfrm>
            <a:off x="3178863" y="5990445"/>
            <a:ext cx="5834274" cy="523220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other words: there are no “bad” FDs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88"/>
          <p:cNvSpPr/>
          <p:nvPr/>
        </p:nvSpPr>
        <p:spPr>
          <a:xfrm>
            <a:off x="3187992" y="2537585"/>
            <a:ext cx="5816016" cy="1815882"/>
          </a:xfrm>
          <a:prstGeom prst="rect">
            <a:avLst/>
          </a:prstGeom>
          <a:solidFill>
            <a:srgbClr val="DDEAF6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relation R is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BCNF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if: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{A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..., A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🡪 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non-trivial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FD in 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{A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..., A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 is a superkey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R</a:t>
            </a:r>
            <a:endParaRPr/>
          </a:p>
        </p:txBody>
      </p:sp>
      <p:sp>
        <p:nvSpPr>
          <p:cNvPr id="1084" name="Google Shape;1084;p88"/>
          <p:cNvSpPr/>
          <p:nvPr/>
        </p:nvSpPr>
        <p:spPr>
          <a:xfrm>
            <a:off x="838200" y="4910346"/>
            <a:ext cx="10387908" cy="5232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085" name="Google Shape;1085;p8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086" name="Google Shape;1086;p8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88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8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094" name="Google Shape;1094;p8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89"/>
          <p:cNvSpPr txBox="1"/>
          <p:nvPr/>
        </p:nvSpPr>
        <p:spPr>
          <a:xfrm>
            <a:off x="8415942" y="4778738"/>
            <a:ext cx="3275256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the key?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{SSN, PhoneNumber}</a:t>
            </a:r>
            <a:endParaRPr/>
          </a:p>
        </p:txBody>
      </p:sp>
      <p:graphicFrame>
        <p:nvGraphicFramePr>
          <p:cNvPr id="1096" name="Google Shape;1096;p89"/>
          <p:cNvGraphicFramePr/>
          <p:nvPr/>
        </p:nvGraphicFramePr>
        <p:xfrm>
          <a:off x="838200" y="1806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{7BF10843-2875-4278-A104-14814AE8F35D}</a:tableStyleId>
              </a:tblPr>
              <a:tblGrid>
                <a:gridCol w="1219200"/>
                <a:gridCol w="1981200"/>
                <a:gridCol w="2057400"/>
                <a:gridCol w="1752600"/>
              </a:tblGrid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SSN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PhoneNumber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123-45-6789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206-555-1234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Seattle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123-45-6789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206-555-6543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Seattle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987-65-4321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908-555-2121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Westfield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987-65-4321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908-555-1234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Westfield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7" name="Google Shape;1097;p89"/>
          <p:cNvSpPr/>
          <p:nvPr/>
        </p:nvSpPr>
        <p:spPr>
          <a:xfrm>
            <a:off x="8175995" y="1806360"/>
            <a:ext cx="3833101" cy="46166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{SSN} 🡪 {Name,City}</a:t>
            </a:r>
            <a:endParaRPr/>
          </a:p>
        </p:txBody>
      </p:sp>
      <p:sp>
        <p:nvSpPr>
          <p:cNvPr id="1098" name="Google Shape;1098;p89"/>
          <p:cNvSpPr txBox="1"/>
          <p:nvPr/>
        </p:nvSpPr>
        <p:spPr>
          <a:xfrm>
            <a:off x="2968664" y="4963403"/>
            <a:ext cx="2749471" cy="5847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99" name="Google Shape;1099;p89"/>
          <p:cNvSpPr txBox="1"/>
          <p:nvPr/>
        </p:nvSpPr>
        <p:spPr>
          <a:xfrm>
            <a:off x="8610600" y="2738960"/>
            <a:ext cx="288594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FD is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bad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it is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superkey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0" name="Google Shape;1100;p8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01" name="Google Shape;1101;p8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89"/>
            <p:cNvSpPr txBox="1"/>
            <p:nvPr/>
          </p:nvSpPr>
          <p:spPr>
            <a:xfrm>
              <a:off x="188780" y="-22510"/>
              <a:ext cx="28754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Section 2 &gt;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9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109" name="Google Shape;1109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10" name="Google Shape;1110;p90"/>
          <p:cNvGraphicFramePr/>
          <p:nvPr/>
        </p:nvGraphicFramePr>
        <p:xfrm>
          <a:off x="838200" y="1806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{7BF10843-2875-4278-A104-14814AE8F35D}</a:tableStyleId>
              </a:tblPr>
              <a:tblGrid>
                <a:gridCol w="1060175"/>
                <a:gridCol w="2454425"/>
                <a:gridCol w="1493250"/>
              </a:tblGrid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sng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SSN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123-45-6789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Seattle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987-65-4321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Madison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1" name="Google Shape;1111;p90"/>
          <p:cNvGraphicFramePr/>
          <p:nvPr/>
        </p:nvGraphicFramePr>
        <p:xfrm>
          <a:off x="838200" y="37460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{7BF10843-2875-4278-A104-14814AE8F35D}</a:tableStyleId>
              </a:tblPr>
              <a:tblGrid>
                <a:gridCol w="1981200"/>
                <a:gridCol w="1981200"/>
              </a:tblGrid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sng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SSN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sng" cap="none" strike="noStrik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PhoneNumber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123-45-6789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206-555-1234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123-45-6789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206-555-6543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987-65-4321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908-555-2121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987-65-4321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908-555-1234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2" name="Google Shape;1112;p90"/>
          <p:cNvSpPr txBox="1"/>
          <p:nvPr/>
        </p:nvSpPr>
        <p:spPr>
          <a:xfrm>
            <a:off x="7967423" y="4594890"/>
            <a:ext cx="2939651" cy="156966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Let’s check anomalies:</a:t>
            </a:r>
            <a:endParaRPr/>
          </a:p>
          <a:p>
            <a:pPr indent="-15240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Redundancy ?</a:t>
            </a:r>
            <a:endParaRPr/>
          </a:p>
          <a:p>
            <a:pPr indent="-15240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Update ?</a:t>
            </a:r>
            <a:endParaRPr/>
          </a:p>
          <a:p>
            <a:pPr indent="-15240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Delete ?</a:t>
            </a:r>
            <a:endParaRPr/>
          </a:p>
        </p:txBody>
      </p:sp>
      <p:sp>
        <p:nvSpPr>
          <p:cNvPr id="1113" name="Google Shape;1113;p90"/>
          <p:cNvSpPr/>
          <p:nvPr/>
        </p:nvSpPr>
        <p:spPr>
          <a:xfrm>
            <a:off x="7520699" y="1806360"/>
            <a:ext cx="3833101" cy="46166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{SSN} 🡪 {Name,City}</a:t>
            </a:r>
            <a:endParaRPr/>
          </a:p>
        </p:txBody>
      </p:sp>
      <p:sp>
        <p:nvSpPr>
          <p:cNvPr id="1114" name="Google Shape;1114;p90"/>
          <p:cNvSpPr txBox="1"/>
          <p:nvPr/>
        </p:nvSpPr>
        <p:spPr>
          <a:xfrm>
            <a:off x="4866368" y="5967531"/>
            <a:ext cx="2459263" cy="584775"/>
          </a:xfrm>
          <a:prstGeom prst="rect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in BCNF!</a:t>
            </a:r>
            <a:endParaRPr b="1"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90"/>
          <p:cNvSpPr txBox="1"/>
          <p:nvPr/>
        </p:nvSpPr>
        <p:spPr>
          <a:xfrm>
            <a:off x="7955304" y="2738960"/>
            <a:ext cx="288594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FD is now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it is the key</a:t>
            </a:r>
            <a:endParaRPr/>
          </a:p>
        </p:txBody>
      </p:sp>
      <p:grpSp>
        <p:nvGrpSpPr>
          <p:cNvPr id="1116" name="Google Shape;1116;p9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17" name="Google Shape;1117;p9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90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9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BCNF Decomposition Algorithm</a:t>
            </a:r>
            <a:endParaRPr/>
          </a:p>
        </p:txBody>
      </p:sp>
      <p:sp>
        <p:nvSpPr>
          <p:cNvPr id="1125" name="Google Shape;1125;p9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91"/>
          <p:cNvSpPr/>
          <p:nvPr/>
        </p:nvSpPr>
        <p:spPr>
          <a:xfrm>
            <a:off x="838199" y="1837531"/>
            <a:ext cx="6850627" cy="397031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BCNFDecomp(R):</a:t>
            </a: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X s.t.: X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≠ X and X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≠ [all attributes]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(not found) </a:t>
            </a:r>
            <a:r>
              <a:rPr b="1"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= X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X,  Z = (X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R1(X ∪ Y) 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R2(X ∪ Z)</a:t>
            </a:r>
            <a:b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BCNFDecomp(R1), BCNFDecomp(R2)</a:t>
            </a:r>
            <a:endParaRPr/>
          </a:p>
        </p:txBody>
      </p:sp>
      <p:grpSp>
        <p:nvGrpSpPr>
          <p:cNvPr id="1127" name="Google Shape;1127;p91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28" name="Google Shape;1128;p91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91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 BCNF</a:t>
              </a:r>
              <a:endParaRPr/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9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BCNF Decomposition Algorithm</a:t>
            </a:r>
            <a:endParaRPr/>
          </a:p>
        </p:txBody>
      </p:sp>
      <p:sp>
        <p:nvSpPr>
          <p:cNvPr id="1136" name="Google Shape;1136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92"/>
          <p:cNvSpPr/>
          <p:nvPr/>
        </p:nvSpPr>
        <p:spPr>
          <a:xfrm>
            <a:off x="838199" y="1837531"/>
            <a:ext cx="6850627" cy="44012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BCNFDecomp(R):</a:t>
            </a: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Find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set of attributes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 s.t.: X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≠ X and X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≠ [all attributes]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(not found) </a:t>
            </a:r>
            <a:r>
              <a:rPr b="1"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= X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X,  Z = (X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R1(X ∪ Y) 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R2(X ∪ Z)</a:t>
            </a:r>
            <a:b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BCNFDecomp(R1), BCNFDecomp(R2)</a:t>
            </a:r>
            <a:endParaRPr/>
          </a:p>
        </p:txBody>
      </p:sp>
      <p:sp>
        <p:nvSpPr>
          <p:cNvPr id="1138" name="Google Shape;1138;p92"/>
          <p:cNvSpPr txBox="1"/>
          <p:nvPr/>
        </p:nvSpPr>
        <p:spPr>
          <a:xfrm>
            <a:off x="8032955" y="2369574"/>
            <a:ext cx="3834581" cy="1815882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 set of attributes X which has non-trivial “bad” FDs, i.e. is not a superkey, using closures</a:t>
            </a:r>
            <a:endParaRPr/>
          </a:p>
        </p:txBody>
      </p:sp>
      <p:grpSp>
        <p:nvGrpSpPr>
          <p:cNvPr id="1139" name="Google Shape;1139;p9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40" name="Google Shape;1140;p9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92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9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BCNF Decomposition Algorithm</a:t>
            </a:r>
            <a:endParaRPr/>
          </a:p>
        </p:txBody>
      </p:sp>
      <p:sp>
        <p:nvSpPr>
          <p:cNvPr id="1148" name="Google Shape;1148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93"/>
          <p:cNvSpPr/>
          <p:nvPr/>
        </p:nvSpPr>
        <p:spPr>
          <a:xfrm>
            <a:off x="838199" y="1837531"/>
            <a:ext cx="6850627" cy="44012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BCNFDecomp(R):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Find a</a:t>
            </a:r>
            <a:r>
              <a:rPr i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set of attributes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 s.t.: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≠ X and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≠ [all attributes]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(not found)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= X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X,  Z = (X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R1(X ∪ Y) 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R2(X ∪ Z)</a:t>
            </a:r>
            <a:b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BCNFDecomp(R1), BCNFDecomp(R2)</a:t>
            </a:r>
            <a:endParaRPr/>
          </a:p>
        </p:txBody>
      </p:sp>
      <p:sp>
        <p:nvSpPr>
          <p:cNvPr id="1150" name="Google Shape;1150;p93"/>
          <p:cNvSpPr txBox="1"/>
          <p:nvPr/>
        </p:nvSpPr>
        <p:spPr>
          <a:xfrm>
            <a:off x="8064909" y="2949677"/>
            <a:ext cx="3834581" cy="95410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no “bad” FDs found, in BCNF!</a:t>
            </a:r>
            <a:endParaRPr/>
          </a:p>
        </p:txBody>
      </p:sp>
      <p:grpSp>
        <p:nvGrpSpPr>
          <p:cNvPr id="1151" name="Google Shape;1151;p93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52" name="Google Shape;1152;p93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93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9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BCNF Decomposition Algorithm</a:t>
            </a:r>
            <a:endParaRPr/>
          </a:p>
        </p:txBody>
      </p:sp>
      <p:sp>
        <p:nvSpPr>
          <p:cNvPr id="1160" name="Google Shape;1160;p9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94"/>
          <p:cNvSpPr/>
          <p:nvPr/>
        </p:nvSpPr>
        <p:spPr>
          <a:xfrm>
            <a:off x="838199" y="1837531"/>
            <a:ext cx="6850627" cy="44012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BCNFDecomp(R):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Find a </a:t>
            </a:r>
            <a:r>
              <a:rPr i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set of attributes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 s.t.: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≠ X and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≠ [all attributes]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(not found)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Y = 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X,  Z = (X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R1(X ∪ Y) 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R2(X ∪ Z)</a:t>
            </a:r>
            <a:b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BCNFDecomp(R1), BCNFDecomp(R2)</a:t>
            </a:r>
            <a:endParaRPr/>
          </a:p>
        </p:txBody>
      </p:sp>
      <p:sp>
        <p:nvSpPr>
          <p:cNvPr id="1162" name="Google Shape;1162;p94"/>
          <p:cNvSpPr txBox="1"/>
          <p:nvPr/>
        </p:nvSpPr>
        <p:spPr>
          <a:xfrm>
            <a:off x="8111612" y="3361025"/>
            <a:ext cx="3470787" cy="2677656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Y be the attributes that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functionally determines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(+ that are not in 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let Z be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complement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 other attributes that it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doesn’t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3" name="Google Shape;1163;p94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64" name="Google Shape;1164;p94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94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9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BCNF Decomposition Algorithm</a:t>
            </a:r>
            <a:endParaRPr/>
          </a:p>
        </p:txBody>
      </p:sp>
      <p:sp>
        <p:nvSpPr>
          <p:cNvPr id="1172" name="Google Shape;1172;p9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95"/>
          <p:cNvSpPr/>
          <p:nvPr/>
        </p:nvSpPr>
        <p:spPr>
          <a:xfrm>
            <a:off x="838199" y="1837531"/>
            <a:ext cx="6850627" cy="44012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BCNFDecomp(R):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Find a </a:t>
            </a:r>
            <a:r>
              <a:rPr i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set of attributes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 s.t.: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≠ X and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≠ [all attributes]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(not found)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Y =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- X,  Z = (X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 ∪ Y)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 ∪ Z)</a:t>
            </a:r>
            <a:b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BCNFDecomp(R1), BCNFDecomp(R2)</a:t>
            </a:r>
            <a:endParaRPr/>
          </a:p>
        </p:txBody>
      </p:sp>
      <p:sp>
        <p:nvSpPr>
          <p:cNvPr id="1174" name="Google Shape;1174;p95"/>
          <p:cNvSpPr/>
          <p:nvPr/>
        </p:nvSpPr>
        <p:spPr>
          <a:xfrm>
            <a:off x="8001000" y="3095108"/>
            <a:ext cx="2286000" cy="2209800"/>
          </a:xfrm>
          <a:prstGeom prst="ellipse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95"/>
          <p:cNvSpPr/>
          <p:nvPr/>
        </p:nvSpPr>
        <p:spPr>
          <a:xfrm>
            <a:off x="9448800" y="3171308"/>
            <a:ext cx="2286000" cy="2209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95"/>
          <p:cNvSpPr txBox="1"/>
          <p:nvPr/>
        </p:nvSpPr>
        <p:spPr>
          <a:xfrm>
            <a:off x="9585325" y="4050784"/>
            <a:ext cx="3449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177" name="Google Shape;1177;p95"/>
          <p:cNvSpPr txBox="1"/>
          <p:nvPr/>
        </p:nvSpPr>
        <p:spPr>
          <a:xfrm>
            <a:off x="10804525" y="4050784"/>
            <a:ext cx="3289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95"/>
          <p:cNvSpPr txBox="1"/>
          <p:nvPr/>
        </p:nvSpPr>
        <p:spPr>
          <a:xfrm>
            <a:off x="8518525" y="4050784"/>
            <a:ext cx="3449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179" name="Google Shape;1179;p95"/>
          <p:cNvSpPr txBox="1"/>
          <p:nvPr/>
        </p:nvSpPr>
        <p:spPr>
          <a:xfrm>
            <a:off x="8899525" y="5346184"/>
            <a:ext cx="4557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95"/>
          <p:cNvSpPr txBox="1"/>
          <p:nvPr/>
        </p:nvSpPr>
        <p:spPr>
          <a:xfrm>
            <a:off x="10499725" y="5346184"/>
            <a:ext cx="4557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95"/>
          <p:cNvSpPr txBox="1"/>
          <p:nvPr/>
        </p:nvSpPr>
        <p:spPr>
          <a:xfrm>
            <a:off x="8101780" y="1793054"/>
            <a:ext cx="3795252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 into one relation (table) with X plus the attributes that X determines (Y)…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2" name="Google Shape;1182;p95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183" name="Google Shape;1183;p95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95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9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BCNF Decomposition Algorithm</a:t>
            </a:r>
            <a:endParaRPr/>
          </a:p>
        </p:txBody>
      </p:sp>
      <p:sp>
        <p:nvSpPr>
          <p:cNvPr id="1191" name="Google Shape;1191;p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96"/>
          <p:cNvSpPr/>
          <p:nvPr/>
        </p:nvSpPr>
        <p:spPr>
          <a:xfrm>
            <a:off x="838199" y="1837531"/>
            <a:ext cx="6850627" cy="44012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BCNFDecomp(R):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Find a </a:t>
            </a:r>
            <a:r>
              <a:rPr i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set of attributes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 s.t.: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≠ X and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≠ [all attributes]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(not found)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Y =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- X,  Z = (X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 ∪ Y)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 ∪ Z)</a:t>
            </a:r>
            <a:b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BCNFDecomp(R1), BCNFDecomp(R2)</a:t>
            </a:r>
            <a:endParaRPr/>
          </a:p>
        </p:txBody>
      </p:sp>
      <p:sp>
        <p:nvSpPr>
          <p:cNvPr id="1193" name="Google Shape;1193;p96"/>
          <p:cNvSpPr/>
          <p:nvPr/>
        </p:nvSpPr>
        <p:spPr>
          <a:xfrm>
            <a:off x="9448800" y="3171308"/>
            <a:ext cx="2286000" cy="2209800"/>
          </a:xfrm>
          <a:prstGeom prst="ellipse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96"/>
          <p:cNvSpPr txBox="1"/>
          <p:nvPr/>
        </p:nvSpPr>
        <p:spPr>
          <a:xfrm>
            <a:off x="9585325" y="4050784"/>
            <a:ext cx="3449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195" name="Google Shape;1195;p96"/>
          <p:cNvSpPr txBox="1"/>
          <p:nvPr/>
        </p:nvSpPr>
        <p:spPr>
          <a:xfrm>
            <a:off x="10804525" y="4050784"/>
            <a:ext cx="3289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96"/>
          <p:cNvSpPr txBox="1"/>
          <p:nvPr/>
        </p:nvSpPr>
        <p:spPr>
          <a:xfrm>
            <a:off x="8518525" y="4050784"/>
            <a:ext cx="3449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197" name="Google Shape;1197;p96"/>
          <p:cNvSpPr txBox="1"/>
          <p:nvPr/>
        </p:nvSpPr>
        <p:spPr>
          <a:xfrm>
            <a:off x="8899525" y="5346184"/>
            <a:ext cx="4557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96"/>
          <p:cNvSpPr txBox="1"/>
          <p:nvPr/>
        </p:nvSpPr>
        <p:spPr>
          <a:xfrm>
            <a:off x="10499725" y="5346184"/>
            <a:ext cx="4557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96"/>
          <p:cNvSpPr txBox="1"/>
          <p:nvPr/>
        </p:nvSpPr>
        <p:spPr>
          <a:xfrm>
            <a:off x="8101780" y="1793054"/>
            <a:ext cx="3795252" cy="1200329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one relation with X plus the attributes it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(Z)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96"/>
          <p:cNvSpPr/>
          <p:nvPr/>
        </p:nvSpPr>
        <p:spPr>
          <a:xfrm>
            <a:off x="8001000" y="3095108"/>
            <a:ext cx="2286000" cy="2209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1" name="Google Shape;1201;p96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02" name="Google Shape;1202;p96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96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9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BCNF Decomposition Algorithm</a:t>
            </a:r>
            <a:endParaRPr/>
          </a:p>
        </p:txBody>
      </p:sp>
      <p:sp>
        <p:nvSpPr>
          <p:cNvPr id="1210" name="Google Shape;1210;p9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97"/>
          <p:cNvSpPr/>
          <p:nvPr/>
        </p:nvSpPr>
        <p:spPr>
          <a:xfrm>
            <a:off x="838199" y="1837531"/>
            <a:ext cx="6850627" cy="44012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BCNFDecomp(R):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Find a </a:t>
            </a:r>
            <a:r>
              <a:rPr i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set of attributes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X s.t.: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≠ X and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≠ [all attributes]</a:t>
            </a:r>
            <a:b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(not found)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 u="sng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Y = 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- X,  Z = (X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(X ∪ Y) </a:t>
            </a: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(X ∪ Z)</a:t>
            </a:r>
            <a:b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2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BCNFDecomp(R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BCNFDecomp(R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212" name="Google Shape;1212;p97"/>
          <p:cNvSpPr txBox="1"/>
          <p:nvPr/>
        </p:nvSpPr>
        <p:spPr>
          <a:xfrm>
            <a:off x="8084574" y="5116357"/>
            <a:ext cx="3795252" cy="830997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Proceed recursively until no more “bad” FDs!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3" name="Google Shape;1213;p97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14" name="Google Shape;1214;p97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97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98"/>
          <p:cNvSpPr txBox="1"/>
          <p:nvPr/>
        </p:nvSpPr>
        <p:spPr>
          <a:xfrm>
            <a:off x="7422444" y="2003453"/>
            <a:ext cx="2862098" cy="5232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R(A,B,C,D,E)</a:t>
            </a:r>
            <a:endParaRPr sz="28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98"/>
          <p:cNvSpPr/>
          <p:nvPr/>
        </p:nvSpPr>
        <p:spPr>
          <a:xfrm>
            <a:off x="838200" y="2003453"/>
            <a:ext cx="5837904" cy="378565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BCNFDecomp(R):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Find a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attributes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s.t.: X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≠ X and X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≠ [all attributes]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(not found)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= X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X,  Z = (X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decompose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into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 ∪ Y)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 ∪ Z)</a:t>
            </a:r>
            <a:b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BCNFDecomp(R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BCNFDecomp(R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222" name="Google Shape;1222;p98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/>
          </a:p>
        </p:txBody>
      </p:sp>
      <p:sp>
        <p:nvSpPr>
          <p:cNvPr id="1223" name="Google Shape;1223;p98"/>
          <p:cNvSpPr/>
          <p:nvPr/>
        </p:nvSpPr>
        <p:spPr>
          <a:xfrm>
            <a:off x="7422444" y="3115667"/>
            <a:ext cx="2862098" cy="95410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{A} 🡪 {B,C}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{C} 🡪 {D}</a:t>
            </a:r>
            <a:endParaRPr/>
          </a:p>
        </p:txBody>
      </p:sp>
      <p:grpSp>
        <p:nvGrpSpPr>
          <p:cNvPr id="1224" name="Google Shape;1224;p98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25" name="Google Shape;1225;p98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98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 BCNF</a:t>
              </a:r>
              <a:endParaRPr/>
            </a:p>
          </p:txBody>
        </p:sp>
      </p:grpSp>
      <p:sp>
        <p:nvSpPr>
          <p:cNvPr id="1227" name="Google Shape;1227;p9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9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234" name="Google Shape;1234;p9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99"/>
          <p:cNvSpPr/>
          <p:nvPr/>
        </p:nvSpPr>
        <p:spPr>
          <a:xfrm>
            <a:off x="2161526" y="1811870"/>
            <a:ext cx="6146732" cy="1220474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R(A,B,C,D,E)</a:t>
            </a: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{A}</a:t>
            </a:r>
            <a:r>
              <a:rPr baseline="30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= {A,B,C,D} ≠ {A,B,C,D,E}</a:t>
            </a:r>
            <a:endParaRPr/>
          </a:p>
        </p:txBody>
      </p:sp>
      <p:sp>
        <p:nvSpPr>
          <p:cNvPr id="1236" name="Google Shape;1236;p99"/>
          <p:cNvSpPr/>
          <p:nvPr/>
        </p:nvSpPr>
        <p:spPr>
          <a:xfrm>
            <a:off x="523769" y="3659138"/>
            <a:ext cx="4945734" cy="1341656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(A,B,C,D)</a:t>
            </a: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{C}</a:t>
            </a:r>
            <a:r>
              <a:rPr baseline="30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= {C,D} ≠ {A,B,C,D}</a:t>
            </a:r>
            <a:endParaRPr/>
          </a:p>
        </p:txBody>
      </p:sp>
      <p:sp>
        <p:nvSpPr>
          <p:cNvPr id="1237" name="Google Shape;1237;p99"/>
          <p:cNvSpPr/>
          <p:nvPr/>
        </p:nvSpPr>
        <p:spPr>
          <a:xfrm>
            <a:off x="8456735" y="5607049"/>
            <a:ext cx="1681037" cy="73574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(A,E)</a:t>
            </a:r>
            <a:endParaRPr/>
          </a:p>
        </p:txBody>
      </p:sp>
      <p:cxnSp>
        <p:nvCxnSpPr>
          <p:cNvPr id="1238" name="Google Shape;1238;p99"/>
          <p:cNvCxnSpPr>
            <a:stCxn id="1235" idx="4"/>
            <a:endCxn id="1236" idx="0"/>
          </p:cNvCxnSpPr>
          <p:nvPr/>
        </p:nvCxnSpPr>
        <p:spPr>
          <a:xfrm flipH="1">
            <a:off x="2996592" y="3032344"/>
            <a:ext cx="2238300" cy="62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9" name="Google Shape;1239;p99"/>
          <p:cNvCxnSpPr>
            <a:stCxn id="1235" idx="4"/>
            <a:endCxn id="1237" idx="0"/>
          </p:cNvCxnSpPr>
          <p:nvPr/>
        </p:nvCxnSpPr>
        <p:spPr>
          <a:xfrm>
            <a:off x="5234892" y="3032344"/>
            <a:ext cx="4062300" cy="257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0" name="Google Shape;1240;p99"/>
          <p:cNvSpPr/>
          <p:nvPr/>
        </p:nvSpPr>
        <p:spPr>
          <a:xfrm>
            <a:off x="539808" y="5607049"/>
            <a:ext cx="1765703" cy="73574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(C,D)</a:t>
            </a:r>
            <a:endParaRPr/>
          </a:p>
        </p:txBody>
      </p:sp>
      <p:sp>
        <p:nvSpPr>
          <p:cNvPr id="1241" name="Google Shape;1241;p99"/>
          <p:cNvSpPr/>
          <p:nvPr/>
        </p:nvSpPr>
        <p:spPr>
          <a:xfrm>
            <a:off x="3793625" y="5606683"/>
            <a:ext cx="2147822" cy="73574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(A,B,C)</a:t>
            </a:r>
            <a:endParaRPr/>
          </a:p>
        </p:txBody>
      </p:sp>
      <p:cxnSp>
        <p:nvCxnSpPr>
          <p:cNvPr id="1242" name="Google Shape;1242;p99"/>
          <p:cNvCxnSpPr>
            <a:stCxn id="1236" idx="4"/>
            <a:endCxn id="1240" idx="0"/>
          </p:cNvCxnSpPr>
          <p:nvPr/>
        </p:nvCxnSpPr>
        <p:spPr>
          <a:xfrm flipH="1">
            <a:off x="1422536" y="5000794"/>
            <a:ext cx="1574100" cy="6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3" name="Google Shape;1243;p99"/>
          <p:cNvCxnSpPr>
            <a:stCxn id="1236" idx="4"/>
            <a:endCxn id="1241" idx="0"/>
          </p:cNvCxnSpPr>
          <p:nvPr/>
        </p:nvCxnSpPr>
        <p:spPr>
          <a:xfrm>
            <a:off x="2996636" y="5000794"/>
            <a:ext cx="1870800" cy="60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4" name="Google Shape;1244;p99"/>
          <p:cNvSpPr txBox="1"/>
          <p:nvPr/>
        </p:nvSpPr>
        <p:spPr>
          <a:xfrm>
            <a:off x="8798960" y="716586"/>
            <a:ext cx="2862098" cy="5232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R(A,B,C,D,E)</a:t>
            </a:r>
            <a:endParaRPr sz="28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99"/>
          <p:cNvSpPr/>
          <p:nvPr/>
        </p:nvSpPr>
        <p:spPr>
          <a:xfrm>
            <a:off x="8798960" y="1523981"/>
            <a:ext cx="2862098" cy="95410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{A} 🡪 {B,C}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{C} 🡪 {D}</a:t>
            </a:r>
            <a:endParaRPr/>
          </a:p>
        </p:txBody>
      </p:sp>
      <p:grpSp>
        <p:nvGrpSpPr>
          <p:cNvPr id="1246" name="Google Shape;1246;p99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47" name="Google Shape;1247;p99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99"/>
            <p:cNvSpPr txBox="1"/>
            <p:nvPr/>
          </p:nvSpPr>
          <p:spPr>
            <a:xfrm>
              <a:off x="188780" y="-22510"/>
              <a:ext cx="19841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Design Theory II  &gt;   BCNF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0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Lossless join decomposition</a:t>
            </a:r>
            <a:endParaRPr/>
          </a:p>
        </p:txBody>
      </p:sp>
      <p:sp>
        <p:nvSpPr>
          <p:cNvPr id="1254" name="Google Shape;1254;p10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5" name="Google Shape;1255;p100"/>
          <p:cNvSpPr txBox="1"/>
          <p:nvPr>
            <p:ph idx="1" type="body"/>
          </p:nvPr>
        </p:nvSpPr>
        <p:spPr>
          <a:xfrm>
            <a:off x="595132" y="1612325"/>
            <a:ext cx="10238124" cy="218521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16" r="0" t="-83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10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Lossless join decomposition</a:t>
            </a:r>
            <a:endParaRPr/>
          </a:p>
        </p:txBody>
      </p:sp>
      <p:sp>
        <p:nvSpPr>
          <p:cNvPr id="1261" name="Google Shape;1261;p10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Criteria for Lossless Join: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 decomposition R=R1∪R2 ​ is lossless with respect to functional dependencies F if one of the following holds: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(R1​∩R2​)→(R1​∖R2​)∈F+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(R1​∩R2​)→(R2​∖R1​)∈F+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62" name="Google Shape;1262;p10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10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1268" name="Google Shape;1268;p10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Constraints allow one to reason about </a:t>
            </a:r>
            <a:r>
              <a:rPr b="1" lang="en-US"/>
              <a:t>redundancy</a:t>
            </a:r>
            <a:r>
              <a:rPr lang="en-US"/>
              <a:t> in the data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Normal forms describe how to </a:t>
            </a:r>
            <a:r>
              <a:rPr b="1" lang="en-US"/>
              <a:t>remove</a:t>
            </a:r>
            <a:r>
              <a:rPr lang="en-US"/>
              <a:t> this redundancy by </a:t>
            </a:r>
            <a:r>
              <a:rPr b="1" lang="en-US"/>
              <a:t>decomposing </a:t>
            </a:r>
            <a:r>
              <a:rPr lang="en-US"/>
              <a:t>relations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Elegant—by representing data appropriately certain errors are essentially impossible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FDs, BCNF is the normal form.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tradeoff for insert performance: 3NF</a:t>
            </a:r>
            <a:endParaRPr/>
          </a:p>
        </p:txBody>
      </p:sp>
      <p:grpSp>
        <p:nvGrpSpPr>
          <p:cNvPr id="1269" name="Google Shape;1269;p102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270" name="Google Shape;1270;p102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102"/>
            <p:cNvSpPr txBox="1"/>
            <p:nvPr/>
          </p:nvSpPr>
          <p:spPr>
            <a:xfrm>
              <a:off x="188780" y="-22510"/>
              <a:ext cx="10419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 SUMMARY</a:t>
              </a:r>
              <a:endParaRPr/>
            </a:p>
          </p:txBody>
        </p:sp>
      </p:grpSp>
      <p:sp>
        <p:nvSpPr>
          <p:cNvPr id="1272" name="Google Shape;1272;p10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0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1278" name="Google Shape;1278;p10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∙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Find all candidate keys.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∙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Identify the normal forms that R satisfy (1NF, 2NF, 3NF,BCNF).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∙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If the relation is not in BNCF, decompose it until it becomes BCNF.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At each step, identify a new relation, decompose and re-compute the keys and the normal forms they satisfy.</a:t>
            </a:r>
            <a:endParaRPr/>
          </a:p>
          <a:p>
            <a:pPr indent="105727" lvl="0" marL="0" marR="0" rtl="0" algn="l">
              <a:lnSpc>
                <a:spcPct val="107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1800">
              <a:solidFill>
                <a:srgbClr val="0F476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rgbClr val="0F4761"/>
              </a:buClr>
              <a:buSzPct val="100000"/>
              <a:buChar char="•"/>
            </a:pPr>
            <a:r>
              <a:rPr b="1" lang="en-US" sz="1800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Question 1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Consider relation: R = (A, B  , C, D, E) with the set of functional dependencies: {CE → D, D → B, C → A}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1600"/>
              </a:spcBef>
              <a:spcAft>
                <a:spcPts val="0"/>
              </a:spcAft>
              <a:buClr>
                <a:srgbClr val="0F4761"/>
              </a:buClr>
              <a:buSzPct val="100000"/>
              <a:buChar char="•"/>
            </a:pPr>
            <a:r>
              <a:rPr b="1" lang="en-US" sz="1800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Question 2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Consider relation: R = (A, B, C, D, E, F, G, H, I, J)	 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with the set of functional dependencies: {AB → C, A → DE, B → F, F → GH, D → IJ}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1600"/>
              </a:spcBef>
              <a:spcAft>
                <a:spcPts val="0"/>
              </a:spcAft>
              <a:buClr>
                <a:srgbClr val="0F4761"/>
              </a:buClr>
              <a:buSzPct val="100000"/>
              <a:buChar char="•"/>
            </a:pPr>
            <a:r>
              <a:rPr b="1" lang="en-US" sz="1800">
                <a:solidFill>
                  <a:srgbClr val="0F4761"/>
                </a:solidFill>
                <a:latin typeface="Arial"/>
                <a:ea typeface="Arial"/>
                <a:cs typeface="Arial"/>
                <a:sym typeface="Arial"/>
              </a:rPr>
              <a:t>Question 3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Consider relation: R = {A, B, C, D, E, F, G, H, I, J}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and the set of functional dependencies: {AB → C, BD → EF, AD → GH, A → I, H → J}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279" name="Google Shape;1279;p10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