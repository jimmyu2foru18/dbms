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953987-2038-435E-BE69-BE2508EDA04E}">
  <a:tblStyle styleId="{ED953987-2038-435E-BE69-BE2508EDA04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97DDB8C5-8F9D-4178-BC82-1F62E8017DFF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4"/>
          </a:solidFill>
        </a:fill>
      </a:tcStyle>
    </a:firstRow>
    <a:neCell>
      <a:tcTxStyle/>
    </a:neCell>
    <a:nwCell>
      <a:tcTxStyle/>
    </a:nwCell>
  </a:tblStyle>
  <a:tblStyle styleId="{63FD2339-0847-44A6-9A33-7B9249362DDB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firstRow>
    <a:neCell>
      <a:tcTxStyle/>
    </a:neCell>
    <a:nwCell>
      <a:tcTxStyle/>
    </a:nwCell>
  </a:tblStyle>
  <a:tblStyle styleId="{4292115B-0A58-46A1-851F-791625F1335C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" name="Google Shape;21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4" name="Google Shape;934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5" name="Google Shape;955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3" name="Google Shape;1243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7" name="Google Shape;1517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3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5" name="Google Shape;1835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7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9" name="Google Shape;1909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5" name="Google Shape;1935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3" name="Google Shape;1943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8" name="Google Shape;1988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9" name="Google Shape;1999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9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Google Shape;2010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8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0" name="Google Shape;2030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2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4" name="Google Shape;2044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9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1" name="Google Shape;2061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0" name="Google Shape;2080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3" name="Google Shape;2093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Google Shape;2102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3" name="Google Shape;2103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9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p90:notes"/>
          <p:cNvSpPr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1" name="Google Shape;2111;p90:notes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50" spcFirstLastPara="1" rIns="1905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2112" name="Google Shape;2112;p90:notes"/>
          <p:cNvSpPr/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3" name="Google Shape;2113;p90:notes"/>
          <p:cNvSpPr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4" name="Google Shape;2114;p90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5" name="Google Shape;2115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8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Google Shape;2129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0" name="Google Shape;2130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9" name="Shape 2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Google Shape;2140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1" name="Google Shape;2141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2.png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png"/><Relationship Id="rId4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2.png"/><Relationship Id="rId4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Relationship Id="rId4" Type="http://schemas.openxmlformats.org/officeDocument/2006/relationships/image" Target="../media/image3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4.png"/><Relationship Id="rId4" Type="http://schemas.openxmlformats.org/officeDocument/2006/relationships/image" Target="../media/image2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0.png"/><Relationship Id="rId4" Type="http://schemas.openxmlformats.org/officeDocument/2006/relationships/image" Target="../media/image3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0.png"/><Relationship Id="rId4" Type="http://schemas.openxmlformats.org/officeDocument/2006/relationships/image" Target="../media/image27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8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8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8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8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8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42.png"/><Relationship Id="rId4" Type="http://schemas.openxmlformats.org/officeDocument/2006/relationships/image" Target="../media/image18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8.png"/><Relationship Id="rId4" Type="http://schemas.openxmlformats.org/officeDocument/2006/relationships/image" Target="../media/image28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8.png"/><Relationship Id="rId4" Type="http://schemas.openxmlformats.org/officeDocument/2006/relationships/image" Target="../media/image28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Joins!</a:t>
            </a:r>
            <a:endParaRPr/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0" y="0"/>
            <a:ext cx="12192000" cy="26275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4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1. Nested Loop Joins</a:t>
            </a:r>
            <a:endParaRPr/>
          </a:p>
        </p:txBody>
      </p:sp>
      <p:sp>
        <p:nvSpPr>
          <p:cNvPr id="96" name="Google Shape;9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7" name="Google Shape;97;p1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98" name="Google Shape;98;p1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188780" y="-22510"/>
              <a:ext cx="34496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 u="none" cap="none" strike="noStrike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1981200" y="306584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RECAP: Joins</a:t>
            </a:r>
            <a:endParaRPr/>
          </a:p>
        </p:txBody>
      </p:sp>
      <p:grpSp>
        <p:nvGrpSpPr>
          <p:cNvPr id="105" name="Google Shape;105;p1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06" name="Google Shape;106;p1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5"/>
            <p:cNvSpPr txBox="1"/>
            <p:nvPr/>
          </p:nvSpPr>
          <p:spPr>
            <a:xfrm>
              <a:off x="188780" y="-22510"/>
              <a:ext cx="85311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Joins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Joins: Example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6553803" y="1690688"/>
            <a:ext cx="4799997" cy="138499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116" name="Google Shape;116;p16"/>
          <p:cNvGraphicFramePr/>
          <p:nvPr/>
        </p:nvGraphicFramePr>
        <p:xfrm>
          <a:off x="4349878" y="4005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{ED953987-2038-435E-BE69-BE2508EDA04E}</a:tableStyleId>
              </a:tblPr>
              <a:tblGrid>
                <a:gridCol w="437275"/>
                <a:gridCol w="4303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17" name="Google Shape;117;p16"/>
          <p:cNvGraphicFramePr/>
          <p:nvPr/>
        </p:nvGraphicFramePr>
        <p:xfrm>
          <a:off x="2723738" y="4005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{97DDB8C5-8F9D-4178-BC82-1F62E8017DFF}</a:tableStyleId>
              </a:tblPr>
              <a:tblGrid>
                <a:gridCol w="423400"/>
                <a:gridCol w="441550"/>
                <a:gridCol w="4415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8" name="Google Shape;118;p16"/>
          <p:cNvSpPr txBox="1"/>
          <p:nvPr/>
        </p:nvSpPr>
        <p:spPr>
          <a:xfrm>
            <a:off x="2723738" y="3543426"/>
            <a:ext cx="370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4337648" y="3543426"/>
            <a:ext cx="370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5852160" y="4542600"/>
            <a:ext cx="957431" cy="66697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1" name="Google Shape;121;p16"/>
          <p:cNvGraphicFramePr/>
          <p:nvPr/>
        </p:nvGraphicFramePr>
        <p:xfrm>
          <a:off x="7195682" y="4005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{63FD2339-0847-44A6-9A33-7B9249362DDB}</a:tableStyleId>
              </a:tblPr>
              <a:tblGrid>
                <a:gridCol w="380100"/>
                <a:gridCol w="419550"/>
                <a:gridCol w="376525"/>
                <a:gridCol w="441075"/>
              </a:tblGrid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2" name="Google Shape;122;p16"/>
          <p:cNvSpPr/>
          <p:nvPr/>
        </p:nvSpPr>
        <p:spPr>
          <a:xfrm>
            <a:off x="2723738" y="4776395"/>
            <a:ext cx="1306533" cy="311972"/>
          </a:xfrm>
          <a:prstGeom prst="roundRect">
            <a:avLst>
              <a:gd fmla="val 16667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4337648" y="4776205"/>
            <a:ext cx="879811" cy="312162"/>
          </a:xfrm>
          <a:prstGeom prst="roundRect">
            <a:avLst>
              <a:gd fmla="val 16667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946808" y="1719660"/>
            <a:ext cx="1356846" cy="5847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125" name="Google Shape;125;p1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26" name="Google Shape;126;p1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188780" y="-22510"/>
              <a:ext cx="85311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Joins</a:t>
              </a:r>
              <a:endParaRPr/>
            </a:p>
          </p:txBody>
        </p:sp>
      </p:grpSp>
      <p:sp>
        <p:nvSpPr>
          <p:cNvPr id="128" name="Google Shape;128;p16"/>
          <p:cNvSpPr/>
          <p:nvPr/>
        </p:nvSpPr>
        <p:spPr>
          <a:xfrm>
            <a:off x="2416883" y="1690688"/>
            <a:ext cx="3647152" cy="138499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R.A,B,C,D</a:t>
            </a:r>
            <a:b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R, 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  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R.A = S.A</a:t>
            </a:r>
            <a:endParaRPr sz="2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Joins: Example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553803" y="1690688"/>
            <a:ext cx="4799997" cy="138499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137" name="Google Shape;137;p17"/>
          <p:cNvGraphicFramePr/>
          <p:nvPr/>
        </p:nvGraphicFramePr>
        <p:xfrm>
          <a:off x="4349878" y="4005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{ED953987-2038-435E-BE69-BE2508EDA04E}</a:tableStyleId>
              </a:tblPr>
              <a:tblGrid>
                <a:gridCol w="437275"/>
                <a:gridCol w="4303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38" name="Google Shape;138;p17"/>
          <p:cNvGraphicFramePr/>
          <p:nvPr/>
        </p:nvGraphicFramePr>
        <p:xfrm>
          <a:off x="2723738" y="4005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{97DDB8C5-8F9D-4178-BC82-1F62E8017DFF}</a:tableStyleId>
              </a:tblPr>
              <a:tblGrid>
                <a:gridCol w="423400"/>
                <a:gridCol w="441550"/>
                <a:gridCol w="4415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9" name="Google Shape;139;p17"/>
          <p:cNvSpPr txBox="1"/>
          <p:nvPr/>
        </p:nvSpPr>
        <p:spPr>
          <a:xfrm>
            <a:off x="2723738" y="3543426"/>
            <a:ext cx="370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4337648" y="3543426"/>
            <a:ext cx="370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852160" y="4542600"/>
            <a:ext cx="957431" cy="66697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2" name="Google Shape;142;p17"/>
          <p:cNvGraphicFramePr/>
          <p:nvPr/>
        </p:nvGraphicFramePr>
        <p:xfrm>
          <a:off x="7195682" y="4005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{63FD2339-0847-44A6-9A33-7B9249362DDB}</a:tableStyleId>
              </a:tblPr>
              <a:tblGrid>
                <a:gridCol w="380100"/>
                <a:gridCol w="419550"/>
                <a:gridCol w="376525"/>
                <a:gridCol w="441075"/>
              </a:tblGrid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43" name="Google Shape;143;p17"/>
          <p:cNvSpPr/>
          <p:nvPr/>
        </p:nvSpPr>
        <p:spPr>
          <a:xfrm>
            <a:off x="2723738" y="4776395"/>
            <a:ext cx="1306533" cy="311972"/>
          </a:xfrm>
          <a:prstGeom prst="roundRect">
            <a:avLst>
              <a:gd fmla="val 16667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4337648" y="5131090"/>
            <a:ext cx="879811" cy="312162"/>
          </a:xfrm>
          <a:prstGeom prst="roundRect">
            <a:avLst>
              <a:gd fmla="val 16667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946808" y="1719660"/>
            <a:ext cx="1356846" cy="5847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146" name="Google Shape;146;p1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47" name="Google Shape;147;p1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188780" y="-22510"/>
              <a:ext cx="85311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Joins</a:t>
              </a:r>
              <a:endParaRPr/>
            </a:p>
          </p:txBody>
        </p:sp>
      </p:grpSp>
      <p:sp>
        <p:nvSpPr>
          <p:cNvPr id="149" name="Google Shape;149;p17"/>
          <p:cNvSpPr/>
          <p:nvPr/>
        </p:nvSpPr>
        <p:spPr>
          <a:xfrm>
            <a:off x="2416883" y="1690688"/>
            <a:ext cx="3647152" cy="138499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R.A,B,C,D</a:t>
            </a:r>
            <a:b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R, 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  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R.A = S.A</a:t>
            </a:r>
            <a:endParaRPr sz="2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Joins: Example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553803" y="1690688"/>
            <a:ext cx="4799997" cy="138499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158" name="Google Shape;158;p18"/>
          <p:cNvGraphicFramePr/>
          <p:nvPr/>
        </p:nvGraphicFramePr>
        <p:xfrm>
          <a:off x="4349878" y="4005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{ED953987-2038-435E-BE69-BE2508EDA04E}</a:tableStyleId>
              </a:tblPr>
              <a:tblGrid>
                <a:gridCol w="437275"/>
                <a:gridCol w="4303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59" name="Google Shape;159;p18"/>
          <p:cNvGraphicFramePr/>
          <p:nvPr/>
        </p:nvGraphicFramePr>
        <p:xfrm>
          <a:off x="2723738" y="4005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{97DDB8C5-8F9D-4178-BC82-1F62E8017DFF}</a:tableStyleId>
              </a:tblPr>
              <a:tblGrid>
                <a:gridCol w="423400"/>
                <a:gridCol w="441550"/>
                <a:gridCol w="4415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60" name="Google Shape;160;p18"/>
          <p:cNvSpPr txBox="1"/>
          <p:nvPr/>
        </p:nvSpPr>
        <p:spPr>
          <a:xfrm>
            <a:off x="2723738" y="3543426"/>
            <a:ext cx="370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4337648" y="3543426"/>
            <a:ext cx="370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852160" y="4542600"/>
            <a:ext cx="957431" cy="66697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3" name="Google Shape;163;p18"/>
          <p:cNvGraphicFramePr/>
          <p:nvPr/>
        </p:nvGraphicFramePr>
        <p:xfrm>
          <a:off x="7195682" y="4005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{63FD2339-0847-44A6-9A33-7B9249362DDB}</a:tableStyleId>
              </a:tblPr>
              <a:tblGrid>
                <a:gridCol w="380100"/>
                <a:gridCol w="419550"/>
                <a:gridCol w="376525"/>
                <a:gridCol w="441075"/>
              </a:tblGrid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64" name="Google Shape;164;p18"/>
          <p:cNvSpPr/>
          <p:nvPr/>
        </p:nvSpPr>
        <p:spPr>
          <a:xfrm>
            <a:off x="2707500" y="5176479"/>
            <a:ext cx="1306533" cy="311972"/>
          </a:xfrm>
          <a:prstGeom prst="roundRect">
            <a:avLst>
              <a:gd fmla="val 16667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4337648" y="4776110"/>
            <a:ext cx="879811" cy="312162"/>
          </a:xfrm>
          <a:prstGeom prst="roundRect">
            <a:avLst>
              <a:gd fmla="val 16667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946808" y="1719660"/>
            <a:ext cx="1356846" cy="5847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167" name="Google Shape;167;p1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68" name="Google Shape;168;p1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8"/>
            <p:cNvSpPr txBox="1"/>
            <p:nvPr/>
          </p:nvSpPr>
          <p:spPr>
            <a:xfrm>
              <a:off x="188780" y="-22510"/>
              <a:ext cx="85311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Joins</a:t>
              </a:r>
              <a:endParaRPr/>
            </a:p>
          </p:txBody>
        </p:sp>
      </p:grpSp>
      <p:sp>
        <p:nvSpPr>
          <p:cNvPr id="170" name="Google Shape;170;p18"/>
          <p:cNvSpPr/>
          <p:nvPr/>
        </p:nvSpPr>
        <p:spPr>
          <a:xfrm>
            <a:off x="2416883" y="1690688"/>
            <a:ext cx="3647152" cy="138499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R.A,B,C,D</a:t>
            </a:r>
            <a:b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R, 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  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R.A = S.A</a:t>
            </a:r>
            <a:endParaRPr sz="2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Joins: Example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553803" y="1690688"/>
            <a:ext cx="4799997" cy="138499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179" name="Google Shape;179;p19"/>
          <p:cNvGraphicFramePr/>
          <p:nvPr/>
        </p:nvGraphicFramePr>
        <p:xfrm>
          <a:off x="4349878" y="4005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{ED953987-2038-435E-BE69-BE2508EDA04E}</a:tableStyleId>
              </a:tblPr>
              <a:tblGrid>
                <a:gridCol w="437275"/>
                <a:gridCol w="4303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80" name="Google Shape;180;p19"/>
          <p:cNvGraphicFramePr/>
          <p:nvPr/>
        </p:nvGraphicFramePr>
        <p:xfrm>
          <a:off x="2723738" y="4005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{97DDB8C5-8F9D-4178-BC82-1F62E8017DFF}</a:tableStyleId>
              </a:tblPr>
              <a:tblGrid>
                <a:gridCol w="423400"/>
                <a:gridCol w="441550"/>
                <a:gridCol w="4415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81" name="Google Shape;181;p19"/>
          <p:cNvSpPr txBox="1"/>
          <p:nvPr/>
        </p:nvSpPr>
        <p:spPr>
          <a:xfrm>
            <a:off x="2723738" y="3543426"/>
            <a:ext cx="370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4337648" y="3543426"/>
            <a:ext cx="370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852160" y="4542600"/>
            <a:ext cx="957431" cy="66697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4" name="Google Shape;184;p19"/>
          <p:cNvGraphicFramePr/>
          <p:nvPr/>
        </p:nvGraphicFramePr>
        <p:xfrm>
          <a:off x="7195682" y="4005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{63FD2339-0847-44A6-9A33-7B9249362DDB}</a:tableStyleId>
              </a:tblPr>
              <a:tblGrid>
                <a:gridCol w="380100"/>
                <a:gridCol w="419550"/>
                <a:gridCol w="376525"/>
                <a:gridCol w="441075"/>
              </a:tblGrid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85" name="Google Shape;185;p19"/>
          <p:cNvSpPr/>
          <p:nvPr/>
        </p:nvSpPr>
        <p:spPr>
          <a:xfrm>
            <a:off x="2707500" y="5176479"/>
            <a:ext cx="1306533" cy="311972"/>
          </a:xfrm>
          <a:prstGeom prst="roundRect">
            <a:avLst>
              <a:gd fmla="val 16667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4324775" y="5131090"/>
            <a:ext cx="879811" cy="312162"/>
          </a:xfrm>
          <a:prstGeom prst="roundRect">
            <a:avLst>
              <a:gd fmla="val 16667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946808" y="1719660"/>
            <a:ext cx="1356846" cy="5847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188" name="Google Shape;188;p1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89" name="Google Shape;189;p1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9"/>
            <p:cNvSpPr txBox="1"/>
            <p:nvPr/>
          </p:nvSpPr>
          <p:spPr>
            <a:xfrm>
              <a:off x="188780" y="-22510"/>
              <a:ext cx="85311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Joins</a:t>
              </a:r>
              <a:endParaRPr/>
            </a:p>
          </p:txBody>
        </p:sp>
      </p:grpSp>
      <p:sp>
        <p:nvSpPr>
          <p:cNvPr id="191" name="Google Shape;191;p19"/>
          <p:cNvSpPr/>
          <p:nvPr/>
        </p:nvSpPr>
        <p:spPr>
          <a:xfrm>
            <a:off x="2416883" y="1690688"/>
            <a:ext cx="3647152" cy="138499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R.A,B,C,D</a:t>
            </a:r>
            <a:b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R, 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  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R.A = S.A</a:t>
            </a:r>
            <a:endParaRPr sz="2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Joins: Example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6553803" y="1690688"/>
            <a:ext cx="4799997" cy="138499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200" name="Google Shape;200;p20"/>
          <p:cNvGraphicFramePr/>
          <p:nvPr/>
        </p:nvGraphicFramePr>
        <p:xfrm>
          <a:off x="4349878" y="4005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{ED953987-2038-435E-BE69-BE2508EDA04E}</a:tableStyleId>
              </a:tblPr>
              <a:tblGrid>
                <a:gridCol w="437275"/>
                <a:gridCol w="4303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01" name="Google Shape;201;p20"/>
          <p:cNvGraphicFramePr/>
          <p:nvPr/>
        </p:nvGraphicFramePr>
        <p:xfrm>
          <a:off x="2723738" y="4005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{97DDB8C5-8F9D-4178-BC82-1F62E8017DFF}</a:tableStyleId>
              </a:tblPr>
              <a:tblGrid>
                <a:gridCol w="423400"/>
                <a:gridCol w="441550"/>
                <a:gridCol w="4415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02" name="Google Shape;202;p20"/>
          <p:cNvSpPr txBox="1"/>
          <p:nvPr/>
        </p:nvSpPr>
        <p:spPr>
          <a:xfrm>
            <a:off x="2723738" y="3543426"/>
            <a:ext cx="370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4337648" y="3543426"/>
            <a:ext cx="370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5852160" y="4542600"/>
            <a:ext cx="957431" cy="66697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5" name="Google Shape;205;p20"/>
          <p:cNvGraphicFramePr/>
          <p:nvPr/>
        </p:nvGraphicFramePr>
        <p:xfrm>
          <a:off x="7195682" y="4005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{63FD2339-0847-44A6-9A33-7B9249362DDB}</a:tableStyleId>
              </a:tblPr>
              <a:tblGrid>
                <a:gridCol w="380100"/>
                <a:gridCol w="419550"/>
                <a:gridCol w="376525"/>
                <a:gridCol w="441075"/>
              </a:tblGrid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06" name="Google Shape;206;p20"/>
          <p:cNvSpPr/>
          <p:nvPr/>
        </p:nvSpPr>
        <p:spPr>
          <a:xfrm>
            <a:off x="2723737" y="5531065"/>
            <a:ext cx="1306533" cy="311972"/>
          </a:xfrm>
          <a:prstGeom prst="roundRect">
            <a:avLst>
              <a:gd fmla="val 16667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4337648" y="4386519"/>
            <a:ext cx="879811" cy="312162"/>
          </a:xfrm>
          <a:prstGeom prst="roundRect">
            <a:avLst>
              <a:gd fmla="val 16667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946808" y="1719660"/>
            <a:ext cx="1356846" cy="5847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209" name="Google Shape;209;p2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10" name="Google Shape;210;p2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20"/>
            <p:cNvSpPr txBox="1"/>
            <p:nvPr/>
          </p:nvSpPr>
          <p:spPr>
            <a:xfrm>
              <a:off x="188780" y="-22510"/>
              <a:ext cx="85311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Joins</a:t>
              </a:r>
              <a:endParaRPr/>
            </a:p>
          </p:txBody>
        </p:sp>
      </p:grpSp>
      <p:sp>
        <p:nvSpPr>
          <p:cNvPr id="212" name="Google Shape;212;p20"/>
          <p:cNvSpPr/>
          <p:nvPr/>
        </p:nvSpPr>
        <p:spPr>
          <a:xfrm>
            <a:off x="2416883" y="1690688"/>
            <a:ext cx="3647152" cy="138499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R.A,B,C,D</a:t>
            </a:r>
            <a:b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R, 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  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R.A = S.A</a:t>
            </a:r>
            <a:endParaRPr sz="2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Semantically: A Subset of the Cross Product</a:t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2416883" y="1690688"/>
            <a:ext cx="3647152" cy="138499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R.A,B,C,D</a:t>
            </a:r>
            <a:b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R, 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  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R.A = S.A</a:t>
            </a:r>
            <a:endParaRPr sz="2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6553803" y="1690688"/>
            <a:ext cx="4799997" cy="138499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222" name="Google Shape;222;p21"/>
          <p:cNvGraphicFramePr/>
          <p:nvPr/>
        </p:nvGraphicFramePr>
        <p:xfrm>
          <a:off x="2394129" y="39623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{ED953987-2038-435E-BE69-BE2508EDA04E}</a:tableStyleId>
              </a:tblPr>
              <a:tblGrid>
                <a:gridCol w="437275"/>
                <a:gridCol w="4303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23" name="Google Shape;223;p21"/>
          <p:cNvGraphicFramePr/>
          <p:nvPr/>
        </p:nvGraphicFramePr>
        <p:xfrm>
          <a:off x="648644" y="39623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{97DDB8C5-8F9D-4178-BC82-1F62E8017DFF}</a:tableStyleId>
              </a:tblPr>
              <a:tblGrid>
                <a:gridCol w="423400"/>
                <a:gridCol w="441550"/>
                <a:gridCol w="4415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24" name="Google Shape;224;p21"/>
          <p:cNvSpPr txBox="1"/>
          <p:nvPr/>
        </p:nvSpPr>
        <p:spPr>
          <a:xfrm>
            <a:off x="648644" y="3500728"/>
            <a:ext cx="370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2381899" y="3500728"/>
            <a:ext cx="370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3518783" y="4370586"/>
            <a:ext cx="957431" cy="66697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7" name="Google Shape;227;p21"/>
          <p:cNvGraphicFramePr/>
          <p:nvPr/>
        </p:nvGraphicFramePr>
        <p:xfrm>
          <a:off x="6973702" y="37003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{63FD2339-0847-44A6-9A33-7B9249362DDB}</a:tableStyleId>
              </a:tblPr>
              <a:tblGrid>
                <a:gridCol w="380100"/>
                <a:gridCol w="419550"/>
                <a:gridCol w="376525"/>
                <a:gridCol w="441075"/>
              </a:tblGrid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28" name="Google Shape;228;p21"/>
          <p:cNvSpPr txBox="1"/>
          <p:nvPr/>
        </p:nvSpPr>
        <p:spPr>
          <a:xfrm>
            <a:off x="1955177" y="4428419"/>
            <a:ext cx="434413" cy="55399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3396387" y="5147867"/>
            <a:ext cx="120222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 Product</a:t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5398794" y="4370586"/>
            <a:ext cx="957431" cy="66697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5273931" y="5205700"/>
            <a:ext cx="155876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 by conditions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(r.A = s.A)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4733287" y="4212976"/>
            <a:ext cx="52450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9200538" y="4370586"/>
            <a:ext cx="2688303" cy="1384995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we actually implement a join in this way?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946808" y="1719660"/>
            <a:ext cx="1356846" cy="58477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235" name="Google Shape;235;p2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36" name="Google Shape;236;p2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21"/>
            <p:cNvSpPr txBox="1"/>
            <p:nvPr/>
          </p:nvSpPr>
          <p:spPr>
            <a:xfrm>
              <a:off x="188780" y="-22510"/>
              <a:ext cx="85311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Joins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Notes</a:t>
            </a:r>
            <a:endParaRPr/>
          </a:p>
        </p:txBody>
      </p:sp>
      <p:sp>
        <p:nvSpPr>
          <p:cNvPr id="243" name="Google Shape;243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1" r="-985" t="-22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6096000" y="5307266"/>
            <a:ext cx="5649524" cy="138499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 joins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merge  2 tables, and some algorithms do support non-equality constraints!</a:t>
            </a:r>
            <a:endParaRPr/>
          </a:p>
        </p:txBody>
      </p:sp>
      <p:grpSp>
        <p:nvGrpSpPr>
          <p:cNvPr id="245" name="Google Shape;245;p2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46" name="Google Shape;246;p2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22"/>
            <p:cNvSpPr txBox="1"/>
            <p:nvPr/>
          </p:nvSpPr>
          <p:spPr>
            <a:xfrm>
              <a:off x="188780" y="-22510"/>
              <a:ext cx="85311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Joins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3" name="Google Shape;253;p23"/>
          <p:cNvSpPr txBox="1"/>
          <p:nvPr>
            <p:ph type="ctrTitle"/>
          </p:nvPr>
        </p:nvSpPr>
        <p:spPr>
          <a:xfrm>
            <a:off x="2209800" y="28575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Nested Loop Joins</a:t>
            </a:r>
            <a:endParaRPr/>
          </a:p>
        </p:txBody>
      </p:sp>
      <p:grpSp>
        <p:nvGrpSpPr>
          <p:cNvPr id="254" name="Google Shape;254;p2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55" name="Google Shape;255;p2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23"/>
            <p:cNvSpPr txBox="1"/>
            <p:nvPr/>
          </p:nvSpPr>
          <p:spPr>
            <a:xfrm>
              <a:off x="188780" y="-22510"/>
              <a:ext cx="75386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NLJ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Notes</a:t>
            </a:r>
            <a:endParaRPr/>
          </a:p>
        </p:txBody>
      </p:sp>
      <p:sp>
        <p:nvSpPr>
          <p:cNvPr id="262" name="Google Shape;262;p24"/>
          <p:cNvSpPr txBox="1"/>
          <p:nvPr>
            <p:ph idx="1" type="body"/>
          </p:nvPr>
        </p:nvSpPr>
        <p:spPr>
          <a:xfrm>
            <a:off x="838200" y="1570131"/>
            <a:ext cx="787549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are again considering “IO aware” algorithms: </a:t>
            </a:r>
            <a:r>
              <a:rPr b="1" i="1" lang="en-US"/>
              <a:t>care about disk IO</a:t>
            </a:r>
            <a:endParaRPr/>
          </a:p>
          <a:p>
            <a:pPr indent="-50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Given a relation R, let: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T(R) = # of tuples in 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P(R) = # of pages in R</a:t>
            </a:r>
            <a:endParaRPr/>
          </a:p>
          <a:p>
            <a:pPr indent="-50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Note also that we omit ceilings in calculations… good exercise to put back in!</a:t>
            </a:r>
            <a:endParaRPr/>
          </a:p>
        </p:txBody>
      </p:sp>
      <p:grpSp>
        <p:nvGrpSpPr>
          <p:cNvPr id="263" name="Google Shape;263;p2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64" name="Google Shape;264;p2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24"/>
            <p:cNvSpPr txBox="1"/>
            <p:nvPr/>
          </p:nvSpPr>
          <p:spPr>
            <a:xfrm>
              <a:off x="188780" y="-22510"/>
              <a:ext cx="75386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NLJ</a:t>
              </a:r>
              <a:endParaRPr/>
            </a:p>
          </p:txBody>
        </p:sp>
      </p:grpSp>
      <p:sp>
        <p:nvSpPr>
          <p:cNvPr id="266" name="Google Shape;266;p24"/>
          <p:cNvSpPr txBox="1"/>
          <p:nvPr/>
        </p:nvSpPr>
        <p:spPr>
          <a:xfrm>
            <a:off x="6579202" y="3268746"/>
            <a:ext cx="4069373" cy="95410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 that we read / write entire pages with disk IO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Nested Loop Join (NLJ)</a:t>
            </a:r>
            <a:endParaRPr/>
          </a:p>
        </p:txBody>
      </p:sp>
      <p:sp>
        <p:nvSpPr>
          <p:cNvPr id="272" name="Google Shape;272;p25"/>
          <p:cNvSpPr txBox="1"/>
          <p:nvPr>
            <p:ph idx="1" type="body"/>
          </p:nvPr>
        </p:nvSpPr>
        <p:spPr>
          <a:xfrm>
            <a:off x="838200" y="1825625"/>
            <a:ext cx="5791200" cy="29615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grpSp>
        <p:nvGrpSpPr>
          <p:cNvPr id="273" name="Google Shape;273;p2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74" name="Google Shape;274;p2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25"/>
            <p:cNvSpPr txBox="1"/>
            <p:nvPr/>
          </p:nvSpPr>
          <p:spPr>
            <a:xfrm>
              <a:off x="188780" y="-22510"/>
              <a:ext cx="75386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NLJ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Nested Loop Join (NLJ)</a:t>
            </a:r>
            <a:endParaRPr/>
          </a:p>
        </p:txBody>
      </p:sp>
      <p:sp>
        <p:nvSpPr>
          <p:cNvPr id="281" name="Google Shape;281;p26"/>
          <p:cNvSpPr txBox="1"/>
          <p:nvPr>
            <p:ph idx="1" type="body"/>
          </p:nvPr>
        </p:nvSpPr>
        <p:spPr>
          <a:xfrm>
            <a:off x="838200" y="1825625"/>
            <a:ext cx="5791200" cy="29615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grpSp>
        <p:nvGrpSpPr>
          <p:cNvPr id="282" name="Google Shape;282;p2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83" name="Google Shape;283;p2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26"/>
            <p:cNvSpPr txBox="1"/>
            <p:nvPr/>
          </p:nvSpPr>
          <p:spPr>
            <a:xfrm>
              <a:off x="188780" y="-22510"/>
              <a:ext cx="75386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NLJ</a:t>
              </a:r>
              <a:endParaRPr/>
            </a:p>
          </p:txBody>
        </p:sp>
      </p:grpSp>
      <p:sp>
        <p:nvSpPr>
          <p:cNvPr id="285" name="Google Shape;285;p26"/>
          <p:cNvSpPr txBox="1"/>
          <p:nvPr/>
        </p:nvSpPr>
        <p:spPr>
          <a:xfrm>
            <a:off x="7150332" y="1825625"/>
            <a:ext cx="4069373" cy="584775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P(R)</a:t>
            </a:r>
            <a:endParaRPr/>
          </a:p>
        </p:txBody>
      </p:sp>
      <p:sp>
        <p:nvSpPr>
          <p:cNvPr id="286" name="Google Shape;286;p26"/>
          <p:cNvSpPr/>
          <p:nvPr/>
        </p:nvSpPr>
        <p:spPr>
          <a:xfrm>
            <a:off x="1359132" y="2369912"/>
            <a:ext cx="2809456" cy="521205"/>
          </a:xfrm>
          <a:prstGeom prst="roundRect">
            <a:avLst>
              <a:gd fmla="val 16667" name="adj"/>
            </a:avLst>
          </a:prstGeom>
          <a:solidFill>
            <a:schemeClr val="accent1">
              <a:alpha val="40000"/>
            </a:schemeClr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6"/>
          <p:cNvSpPr txBox="1"/>
          <p:nvPr/>
        </p:nvSpPr>
        <p:spPr>
          <a:xfrm>
            <a:off x="7150332" y="2708476"/>
            <a:ext cx="406937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 over the tuples in R</a:t>
            </a:r>
            <a:endParaRPr/>
          </a:p>
        </p:txBody>
      </p:sp>
      <p:sp>
        <p:nvSpPr>
          <p:cNvPr id="288" name="Google Shape;288;p26"/>
          <p:cNvSpPr txBox="1"/>
          <p:nvPr/>
        </p:nvSpPr>
        <p:spPr>
          <a:xfrm>
            <a:off x="7150332" y="3892492"/>
            <a:ext cx="3896832" cy="156966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that our IO cost is based on the number of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loaded, not the number of tuples!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6"/>
          <p:cNvSpPr/>
          <p:nvPr/>
        </p:nvSpPr>
        <p:spPr>
          <a:xfrm>
            <a:off x="6959832" y="1308881"/>
            <a:ext cx="87504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Cost: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Nested Loop Join (NLJ)</a:t>
            </a:r>
            <a:endParaRPr/>
          </a:p>
        </p:txBody>
      </p:sp>
      <p:sp>
        <p:nvSpPr>
          <p:cNvPr id="295" name="Google Shape;295;p27"/>
          <p:cNvSpPr txBox="1"/>
          <p:nvPr>
            <p:ph idx="1" type="body"/>
          </p:nvPr>
        </p:nvSpPr>
        <p:spPr>
          <a:xfrm>
            <a:off x="838200" y="1825625"/>
            <a:ext cx="5791200" cy="29615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grpSp>
        <p:nvGrpSpPr>
          <p:cNvPr id="296" name="Google Shape;296;p2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97" name="Google Shape;297;p2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27"/>
            <p:cNvSpPr txBox="1"/>
            <p:nvPr/>
          </p:nvSpPr>
          <p:spPr>
            <a:xfrm>
              <a:off x="188780" y="-22510"/>
              <a:ext cx="75386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NLJ</a:t>
              </a:r>
              <a:endParaRPr/>
            </a:p>
          </p:txBody>
        </p:sp>
      </p:grpSp>
      <p:sp>
        <p:nvSpPr>
          <p:cNvPr id="299" name="Google Shape;299;p27"/>
          <p:cNvSpPr txBox="1"/>
          <p:nvPr/>
        </p:nvSpPr>
        <p:spPr>
          <a:xfrm>
            <a:off x="7150332" y="1825625"/>
            <a:ext cx="4069373" cy="584775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P(R) + T(R)*P(S)</a:t>
            </a:r>
            <a:endParaRPr/>
          </a:p>
        </p:txBody>
      </p:sp>
      <p:sp>
        <p:nvSpPr>
          <p:cNvPr id="300" name="Google Shape;300;p27"/>
          <p:cNvSpPr/>
          <p:nvPr/>
        </p:nvSpPr>
        <p:spPr>
          <a:xfrm>
            <a:off x="1843226" y="2948135"/>
            <a:ext cx="2809456" cy="521205"/>
          </a:xfrm>
          <a:prstGeom prst="roundRect">
            <a:avLst>
              <a:gd fmla="val 16667" name="adj"/>
            </a:avLst>
          </a:prstGeom>
          <a:solidFill>
            <a:schemeClr val="accent1">
              <a:alpha val="40000"/>
            </a:schemeClr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7"/>
          <p:cNvSpPr txBox="1"/>
          <p:nvPr/>
        </p:nvSpPr>
        <p:spPr>
          <a:xfrm>
            <a:off x="1573306" y="5496673"/>
            <a:ext cx="9045388" cy="584775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Have to read </a:t>
            </a:r>
            <a:r>
              <a:rPr b="1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of S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disk for </a:t>
            </a:r>
            <a:r>
              <a:rPr b="1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tuple in R!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7"/>
          <p:cNvSpPr txBox="1"/>
          <p:nvPr/>
        </p:nvSpPr>
        <p:spPr>
          <a:xfrm>
            <a:off x="7150332" y="2708476"/>
            <a:ext cx="406937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 over the tuples in R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every tuple in R, loop over all the tuples in S</a:t>
            </a:r>
            <a:endParaRPr/>
          </a:p>
        </p:txBody>
      </p:sp>
      <p:sp>
        <p:nvSpPr>
          <p:cNvPr id="303" name="Google Shape;303;p27"/>
          <p:cNvSpPr/>
          <p:nvPr/>
        </p:nvSpPr>
        <p:spPr>
          <a:xfrm>
            <a:off x="6959832" y="1308881"/>
            <a:ext cx="87504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Cost: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Nested Loop Join (NLJ)</a:t>
            </a:r>
            <a:endParaRPr/>
          </a:p>
        </p:txBody>
      </p:sp>
      <p:sp>
        <p:nvSpPr>
          <p:cNvPr id="309" name="Google Shape;309;p28"/>
          <p:cNvSpPr txBox="1"/>
          <p:nvPr>
            <p:ph idx="1" type="body"/>
          </p:nvPr>
        </p:nvSpPr>
        <p:spPr>
          <a:xfrm>
            <a:off x="838200" y="1825625"/>
            <a:ext cx="5791200" cy="29615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grpSp>
        <p:nvGrpSpPr>
          <p:cNvPr id="310" name="Google Shape;310;p2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311" name="Google Shape;311;p2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28"/>
            <p:cNvSpPr txBox="1"/>
            <p:nvPr/>
          </p:nvSpPr>
          <p:spPr>
            <a:xfrm>
              <a:off x="188780" y="-22510"/>
              <a:ext cx="75386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NLJ</a:t>
              </a:r>
              <a:endParaRPr/>
            </a:p>
          </p:txBody>
        </p:sp>
      </p:grpSp>
      <p:sp>
        <p:nvSpPr>
          <p:cNvPr id="313" name="Google Shape;313;p28"/>
          <p:cNvSpPr txBox="1"/>
          <p:nvPr/>
        </p:nvSpPr>
        <p:spPr>
          <a:xfrm>
            <a:off x="7150332" y="1825625"/>
            <a:ext cx="4069373" cy="584775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P(R) + T(R)*P(S)</a:t>
            </a:r>
            <a:endParaRPr/>
          </a:p>
        </p:txBody>
      </p:sp>
      <p:sp>
        <p:nvSpPr>
          <p:cNvPr id="314" name="Google Shape;314;p28"/>
          <p:cNvSpPr/>
          <p:nvPr/>
        </p:nvSpPr>
        <p:spPr>
          <a:xfrm>
            <a:off x="2329071" y="3478631"/>
            <a:ext cx="3979131" cy="521205"/>
          </a:xfrm>
          <a:prstGeom prst="roundRect">
            <a:avLst>
              <a:gd fmla="val 16667" name="adj"/>
            </a:avLst>
          </a:prstGeom>
          <a:solidFill>
            <a:schemeClr val="accent4">
              <a:alpha val="40000"/>
            </a:scheme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8"/>
          <p:cNvSpPr txBox="1"/>
          <p:nvPr/>
        </p:nvSpPr>
        <p:spPr>
          <a:xfrm>
            <a:off x="4529538" y="5489799"/>
            <a:ext cx="6690167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that NLJ can handle things other than equality constraints… just check in the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statement!</a:t>
            </a:r>
            <a:endParaRPr/>
          </a:p>
        </p:txBody>
      </p:sp>
      <p:sp>
        <p:nvSpPr>
          <p:cNvPr id="316" name="Google Shape;316;p28"/>
          <p:cNvSpPr txBox="1"/>
          <p:nvPr/>
        </p:nvSpPr>
        <p:spPr>
          <a:xfrm>
            <a:off x="7150332" y="2708476"/>
            <a:ext cx="4203468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 over the tuples in R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every tuple in R, loop over all the tuples in S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against join conditions</a:t>
            </a:r>
            <a:endParaRPr/>
          </a:p>
        </p:txBody>
      </p:sp>
      <p:sp>
        <p:nvSpPr>
          <p:cNvPr id="317" name="Google Shape;317;p28"/>
          <p:cNvSpPr/>
          <p:nvPr/>
        </p:nvSpPr>
        <p:spPr>
          <a:xfrm>
            <a:off x="6959832" y="1308881"/>
            <a:ext cx="87504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Cost: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Nested Loop Join (NLJ)</a:t>
            </a:r>
            <a:endParaRPr/>
          </a:p>
        </p:txBody>
      </p:sp>
      <p:sp>
        <p:nvSpPr>
          <p:cNvPr id="323" name="Google Shape;323;p29"/>
          <p:cNvSpPr txBox="1"/>
          <p:nvPr>
            <p:ph idx="1" type="body"/>
          </p:nvPr>
        </p:nvSpPr>
        <p:spPr>
          <a:xfrm>
            <a:off x="838200" y="1825625"/>
            <a:ext cx="5791200" cy="29615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grpSp>
        <p:nvGrpSpPr>
          <p:cNvPr id="324" name="Google Shape;324;p2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325" name="Google Shape;325;p2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29"/>
            <p:cNvSpPr txBox="1"/>
            <p:nvPr/>
          </p:nvSpPr>
          <p:spPr>
            <a:xfrm>
              <a:off x="188780" y="-22510"/>
              <a:ext cx="75386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NLJ</a:t>
              </a:r>
              <a:endParaRPr/>
            </a:p>
          </p:txBody>
        </p:sp>
      </p:grpSp>
      <p:sp>
        <p:nvSpPr>
          <p:cNvPr id="327" name="Google Shape;327;p29"/>
          <p:cNvSpPr txBox="1"/>
          <p:nvPr/>
        </p:nvSpPr>
        <p:spPr>
          <a:xfrm>
            <a:off x="7150332" y="1825625"/>
            <a:ext cx="3974868" cy="584775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P(R) + T(R)*P(S) + OUT</a:t>
            </a:r>
            <a:endParaRPr/>
          </a:p>
        </p:txBody>
      </p:sp>
      <p:sp>
        <p:nvSpPr>
          <p:cNvPr id="328" name="Google Shape;328;p29"/>
          <p:cNvSpPr txBox="1"/>
          <p:nvPr/>
        </p:nvSpPr>
        <p:spPr>
          <a:xfrm>
            <a:off x="7150332" y="2708476"/>
            <a:ext cx="4203468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 over the tuples in R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every tuple in R, loop over all the tuples in S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against join conditions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out (to page, then when page full, to disk)</a:t>
            </a:r>
            <a:endParaRPr/>
          </a:p>
        </p:txBody>
      </p:sp>
      <p:sp>
        <p:nvSpPr>
          <p:cNvPr id="329" name="Google Shape;329;p29"/>
          <p:cNvSpPr/>
          <p:nvPr/>
        </p:nvSpPr>
        <p:spPr>
          <a:xfrm>
            <a:off x="2783026" y="4065735"/>
            <a:ext cx="2843074" cy="521205"/>
          </a:xfrm>
          <a:prstGeom prst="roundRect">
            <a:avLst>
              <a:gd fmla="val 16667" name="adj"/>
            </a:avLst>
          </a:prstGeom>
          <a:solidFill>
            <a:schemeClr val="accent1">
              <a:alpha val="40000"/>
            </a:schemeClr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9"/>
          <p:cNvSpPr/>
          <p:nvPr/>
        </p:nvSpPr>
        <p:spPr>
          <a:xfrm>
            <a:off x="6959832" y="1308881"/>
            <a:ext cx="87504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Cost: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31" name="Google Shape;331;p29"/>
          <p:cNvSpPr txBox="1"/>
          <p:nvPr/>
        </p:nvSpPr>
        <p:spPr>
          <a:xfrm>
            <a:off x="838200" y="5062229"/>
            <a:ext cx="2527299" cy="156966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would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 if our join condition is trivial 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TRUE)?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9"/>
          <p:cNvSpPr txBox="1"/>
          <p:nvPr/>
        </p:nvSpPr>
        <p:spPr>
          <a:xfrm>
            <a:off x="3733800" y="5062229"/>
            <a:ext cx="2895599" cy="1200329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could be bigger than P(R)*P(S)… but usually not that bad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Nested Loop Join (NLJ)</a:t>
            </a:r>
            <a:endParaRPr/>
          </a:p>
        </p:txBody>
      </p:sp>
      <p:sp>
        <p:nvSpPr>
          <p:cNvPr id="338" name="Google Shape;338;p30"/>
          <p:cNvSpPr txBox="1"/>
          <p:nvPr>
            <p:ph idx="1" type="body"/>
          </p:nvPr>
        </p:nvSpPr>
        <p:spPr>
          <a:xfrm>
            <a:off x="838200" y="1825625"/>
            <a:ext cx="5791200" cy="29615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grpSp>
        <p:nvGrpSpPr>
          <p:cNvPr id="339" name="Google Shape;339;p3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340" name="Google Shape;340;p3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30"/>
            <p:cNvSpPr txBox="1"/>
            <p:nvPr/>
          </p:nvSpPr>
          <p:spPr>
            <a:xfrm>
              <a:off x="188780" y="-22510"/>
              <a:ext cx="75386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NLJ</a:t>
              </a:r>
              <a:endParaRPr/>
            </a:p>
          </p:txBody>
        </p:sp>
      </p:grpSp>
      <p:sp>
        <p:nvSpPr>
          <p:cNvPr id="342" name="Google Shape;342;p30"/>
          <p:cNvSpPr txBox="1"/>
          <p:nvPr/>
        </p:nvSpPr>
        <p:spPr>
          <a:xfrm>
            <a:off x="7150332" y="1825625"/>
            <a:ext cx="4069373" cy="584775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P(R) + T(R)*P(S) + OUT</a:t>
            </a:r>
            <a:endParaRPr/>
          </a:p>
        </p:txBody>
      </p:sp>
      <p:sp>
        <p:nvSpPr>
          <p:cNvPr id="343" name="Google Shape;343;p30"/>
          <p:cNvSpPr txBox="1"/>
          <p:nvPr/>
        </p:nvSpPr>
        <p:spPr>
          <a:xfrm>
            <a:off x="7150332" y="2714302"/>
            <a:ext cx="4069373" cy="95410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if R (“outer”) and S (“inner”) switched?</a:t>
            </a:r>
            <a:endParaRPr/>
          </a:p>
        </p:txBody>
      </p:sp>
      <p:sp>
        <p:nvSpPr>
          <p:cNvPr id="344" name="Google Shape;344;p30"/>
          <p:cNvSpPr/>
          <p:nvPr/>
        </p:nvSpPr>
        <p:spPr>
          <a:xfrm>
            <a:off x="6959832" y="1308881"/>
            <a:ext cx="87504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Cost: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45" name="Google Shape;345;p30"/>
          <p:cNvSpPr/>
          <p:nvPr/>
        </p:nvSpPr>
        <p:spPr>
          <a:xfrm>
            <a:off x="8918318" y="3898900"/>
            <a:ext cx="533400" cy="558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0"/>
          <p:cNvSpPr txBox="1"/>
          <p:nvPr/>
        </p:nvSpPr>
        <p:spPr>
          <a:xfrm>
            <a:off x="7150332" y="4661878"/>
            <a:ext cx="4069373" cy="584775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</a:t>
            </a:r>
            <a:r>
              <a:rPr b="1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T(</a:t>
            </a:r>
            <a:r>
              <a:rPr b="1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)*P(</a:t>
            </a:r>
            <a:r>
              <a:rPr b="1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OUT</a:t>
            </a:r>
            <a:endParaRPr/>
          </a:p>
        </p:txBody>
      </p:sp>
      <p:sp>
        <p:nvSpPr>
          <p:cNvPr id="347" name="Google Shape;347;p30"/>
          <p:cNvSpPr txBox="1"/>
          <p:nvPr/>
        </p:nvSpPr>
        <p:spPr>
          <a:xfrm>
            <a:off x="2163891" y="5601678"/>
            <a:ext cx="7864217" cy="95410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Outer vs. inner selection makes a huge difference- DBMS needs to know which relation is smaller!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1"/>
          <p:cNvSpPr txBox="1"/>
          <p:nvPr>
            <p:ph type="title"/>
          </p:nvPr>
        </p:nvSpPr>
        <p:spPr>
          <a:xfrm>
            <a:off x="1981200" y="322628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IO-Aware Approach</a:t>
            </a:r>
            <a:endParaRPr/>
          </a:p>
        </p:txBody>
      </p:sp>
      <p:grpSp>
        <p:nvGrpSpPr>
          <p:cNvPr id="353" name="Google Shape;353;p3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354" name="Google Shape;354;p3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31"/>
            <p:cNvSpPr txBox="1"/>
            <p:nvPr/>
          </p:nvSpPr>
          <p:spPr>
            <a:xfrm>
              <a:off x="188780" y="-22510"/>
              <a:ext cx="85004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BNLJ</a:t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Block Nested Loop Join (BNLJ)</a:t>
            </a:r>
            <a:endParaRPr/>
          </a:p>
        </p:txBody>
      </p:sp>
      <p:sp>
        <p:nvSpPr>
          <p:cNvPr id="362" name="Google Shape;362;p32"/>
          <p:cNvSpPr txBox="1"/>
          <p:nvPr>
            <p:ph idx="1" type="body"/>
          </p:nvPr>
        </p:nvSpPr>
        <p:spPr>
          <a:xfrm>
            <a:off x="407894" y="1795208"/>
            <a:ext cx="6962073" cy="382214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grpSp>
        <p:nvGrpSpPr>
          <p:cNvPr id="363" name="Google Shape;363;p3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364" name="Google Shape;364;p3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32"/>
            <p:cNvSpPr txBox="1"/>
            <p:nvPr/>
          </p:nvSpPr>
          <p:spPr>
            <a:xfrm>
              <a:off x="188780" y="-22510"/>
              <a:ext cx="85004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BNLJ</a:t>
              </a:r>
              <a:endParaRPr/>
            </a:p>
          </p:txBody>
        </p:sp>
      </p:grpSp>
      <p:sp>
        <p:nvSpPr>
          <p:cNvPr id="366" name="Google Shape;366;p32"/>
          <p:cNvSpPr txBox="1"/>
          <p:nvPr/>
        </p:nvSpPr>
        <p:spPr>
          <a:xfrm>
            <a:off x="7755636" y="1793052"/>
            <a:ext cx="4069373" cy="5847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67" name="Google Shape;367;p32"/>
          <p:cNvSpPr txBox="1"/>
          <p:nvPr/>
        </p:nvSpPr>
        <p:spPr>
          <a:xfrm>
            <a:off x="8226845" y="797073"/>
            <a:ext cx="3776102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B+1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pages of memory</a:t>
            </a:r>
            <a:endParaRPr/>
          </a:p>
        </p:txBody>
      </p:sp>
      <p:sp>
        <p:nvSpPr>
          <p:cNvPr id="368" name="Google Shape;368;p32"/>
          <p:cNvSpPr txBox="1"/>
          <p:nvPr/>
        </p:nvSpPr>
        <p:spPr>
          <a:xfrm>
            <a:off x="7755635" y="2770093"/>
            <a:ext cx="4247311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 in B-1 pages of R at a time (leaving 1 page each free for S &amp; output)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2"/>
          <p:cNvSpPr/>
          <p:nvPr/>
        </p:nvSpPr>
        <p:spPr>
          <a:xfrm>
            <a:off x="851647" y="2248888"/>
            <a:ext cx="5877766" cy="521205"/>
          </a:xfrm>
          <a:prstGeom prst="roundRect">
            <a:avLst>
              <a:gd fmla="val 16667" name="adj"/>
            </a:avLst>
          </a:prstGeom>
          <a:solidFill>
            <a:schemeClr val="accent1">
              <a:alpha val="40000"/>
            </a:schemeClr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2"/>
          <p:cNvSpPr/>
          <p:nvPr/>
        </p:nvSpPr>
        <p:spPr>
          <a:xfrm>
            <a:off x="7544032" y="1295062"/>
            <a:ext cx="87504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Cost: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71" name="Google Shape;371;p32"/>
          <p:cNvSpPr txBox="1"/>
          <p:nvPr/>
        </p:nvSpPr>
        <p:spPr>
          <a:xfrm>
            <a:off x="7755634" y="4247420"/>
            <a:ext cx="4069375" cy="1938992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There could be some speedup here due to the fact that we’re reading in multiple pages sequentially however we’ll ignore this here!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Block Nested Loop Join (BNLJ)</a:t>
            </a:r>
            <a:endParaRPr/>
          </a:p>
        </p:txBody>
      </p:sp>
      <p:sp>
        <p:nvSpPr>
          <p:cNvPr id="377" name="Google Shape;377;p33"/>
          <p:cNvSpPr txBox="1"/>
          <p:nvPr>
            <p:ph idx="1" type="body"/>
          </p:nvPr>
        </p:nvSpPr>
        <p:spPr>
          <a:xfrm>
            <a:off x="407894" y="1795208"/>
            <a:ext cx="6962073" cy="382214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grpSp>
        <p:nvGrpSpPr>
          <p:cNvPr id="378" name="Google Shape;378;p3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379" name="Google Shape;379;p3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33"/>
            <p:cNvSpPr txBox="1"/>
            <p:nvPr/>
          </p:nvSpPr>
          <p:spPr>
            <a:xfrm>
              <a:off x="188780" y="-22510"/>
              <a:ext cx="85004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BNLJ</a:t>
              </a:r>
              <a:endParaRPr/>
            </a:p>
          </p:txBody>
        </p:sp>
      </p:grpSp>
      <p:sp>
        <p:nvSpPr>
          <p:cNvPr id="381" name="Google Shape;381;p33"/>
          <p:cNvSpPr/>
          <p:nvPr/>
        </p:nvSpPr>
        <p:spPr>
          <a:xfrm>
            <a:off x="1296379" y="2753368"/>
            <a:ext cx="3988315" cy="521205"/>
          </a:xfrm>
          <a:prstGeom prst="roundRect">
            <a:avLst>
              <a:gd fmla="val 16667" name="adj"/>
            </a:avLst>
          </a:prstGeom>
          <a:solidFill>
            <a:schemeClr val="accent1">
              <a:alpha val="40000"/>
            </a:schemeClr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3"/>
          <p:cNvSpPr txBox="1"/>
          <p:nvPr/>
        </p:nvSpPr>
        <p:spPr>
          <a:xfrm>
            <a:off x="7755636" y="1793052"/>
            <a:ext cx="4069373" cy="92570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83" name="Google Shape;383;p33"/>
          <p:cNvSpPr txBox="1"/>
          <p:nvPr/>
        </p:nvSpPr>
        <p:spPr>
          <a:xfrm>
            <a:off x="8226845" y="797073"/>
            <a:ext cx="3845550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B+1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pages of memory</a:t>
            </a:r>
            <a:endParaRPr/>
          </a:p>
        </p:txBody>
      </p:sp>
      <p:sp>
        <p:nvSpPr>
          <p:cNvPr id="384" name="Google Shape;384;p33"/>
          <p:cNvSpPr txBox="1"/>
          <p:nvPr/>
        </p:nvSpPr>
        <p:spPr>
          <a:xfrm>
            <a:off x="7755636" y="5555000"/>
            <a:ext cx="4069373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Faster to iterate over the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smaller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relation first!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3"/>
          <p:cNvSpPr txBox="1"/>
          <p:nvPr/>
        </p:nvSpPr>
        <p:spPr>
          <a:xfrm>
            <a:off x="7755636" y="2821119"/>
            <a:ext cx="4203468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 in B-1 pages of R at a time (leaving 1 page each free for S &amp; output)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(B-1)-page segment of R, load each page of S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3"/>
          <p:cNvSpPr/>
          <p:nvPr/>
        </p:nvSpPr>
        <p:spPr>
          <a:xfrm>
            <a:off x="7582132" y="1295062"/>
            <a:ext cx="87504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Cost: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Block Nested Loop Join (BNLJ)</a:t>
            </a:r>
            <a:endParaRPr/>
          </a:p>
        </p:txBody>
      </p:sp>
      <p:sp>
        <p:nvSpPr>
          <p:cNvPr id="392" name="Google Shape;392;p34"/>
          <p:cNvSpPr txBox="1"/>
          <p:nvPr>
            <p:ph idx="1" type="body"/>
          </p:nvPr>
        </p:nvSpPr>
        <p:spPr>
          <a:xfrm>
            <a:off x="407894" y="1795208"/>
            <a:ext cx="6962073" cy="382214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grpSp>
        <p:nvGrpSpPr>
          <p:cNvPr id="393" name="Google Shape;393;p3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394" name="Google Shape;394;p3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34"/>
            <p:cNvSpPr txBox="1"/>
            <p:nvPr/>
          </p:nvSpPr>
          <p:spPr>
            <a:xfrm>
              <a:off x="188780" y="-22510"/>
              <a:ext cx="85004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BNLJ</a:t>
              </a:r>
              <a:endParaRPr/>
            </a:p>
          </p:txBody>
        </p:sp>
      </p:grpSp>
      <p:sp>
        <p:nvSpPr>
          <p:cNvPr id="396" name="Google Shape;396;p34"/>
          <p:cNvSpPr txBox="1"/>
          <p:nvPr/>
        </p:nvSpPr>
        <p:spPr>
          <a:xfrm>
            <a:off x="8226845" y="797073"/>
            <a:ext cx="3845550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B+1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pages of memory</a:t>
            </a:r>
            <a:endParaRPr/>
          </a:p>
        </p:txBody>
      </p:sp>
      <p:sp>
        <p:nvSpPr>
          <p:cNvPr id="397" name="Google Shape;397;p34"/>
          <p:cNvSpPr txBox="1"/>
          <p:nvPr/>
        </p:nvSpPr>
        <p:spPr>
          <a:xfrm>
            <a:off x="7755636" y="2770093"/>
            <a:ext cx="4166288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 in B-1 pages of R at a time (leaving 1 page each free for S &amp; output)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(B-1)-page segment of R, load each page of S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against the join conditions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4"/>
          <p:cNvSpPr/>
          <p:nvPr/>
        </p:nvSpPr>
        <p:spPr>
          <a:xfrm>
            <a:off x="2539973" y="4303209"/>
            <a:ext cx="3687208" cy="521205"/>
          </a:xfrm>
          <a:prstGeom prst="roundRect">
            <a:avLst>
              <a:gd fmla="val 16667" name="adj"/>
            </a:avLst>
          </a:prstGeom>
          <a:solidFill>
            <a:schemeClr val="accent4">
              <a:alpha val="40000"/>
            </a:scheme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4"/>
          <p:cNvSpPr txBox="1"/>
          <p:nvPr/>
        </p:nvSpPr>
        <p:spPr>
          <a:xfrm>
            <a:off x="5960481" y="6253728"/>
            <a:ext cx="5864528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BNLJ can also handle non-equality constraints</a:t>
            </a:r>
            <a:endParaRPr/>
          </a:p>
        </p:txBody>
      </p:sp>
      <p:sp>
        <p:nvSpPr>
          <p:cNvPr id="400" name="Google Shape;400;p34"/>
          <p:cNvSpPr/>
          <p:nvPr/>
        </p:nvSpPr>
        <p:spPr>
          <a:xfrm>
            <a:off x="7582132" y="1295062"/>
            <a:ext cx="87504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Cost: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01" name="Google Shape;401;p34"/>
          <p:cNvSpPr txBox="1"/>
          <p:nvPr/>
        </p:nvSpPr>
        <p:spPr>
          <a:xfrm>
            <a:off x="7755636" y="1793052"/>
            <a:ext cx="4069373" cy="92570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Block Nested Loop Join (BNLJ)</a:t>
            </a:r>
            <a:endParaRPr/>
          </a:p>
        </p:txBody>
      </p:sp>
      <p:sp>
        <p:nvSpPr>
          <p:cNvPr id="407" name="Google Shape;407;p35"/>
          <p:cNvSpPr txBox="1"/>
          <p:nvPr>
            <p:ph idx="1" type="body"/>
          </p:nvPr>
        </p:nvSpPr>
        <p:spPr>
          <a:xfrm>
            <a:off x="407894" y="1795208"/>
            <a:ext cx="6962073" cy="382214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grpSp>
        <p:nvGrpSpPr>
          <p:cNvPr id="408" name="Google Shape;408;p3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09" name="Google Shape;409;p3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35"/>
            <p:cNvSpPr txBox="1"/>
            <p:nvPr/>
          </p:nvSpPr>
          <p:spPr>
            <a:xfrm>
              <a:off x="188780" y="-22510"/>
              <a:ext cx="85004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BNLJ</a:t>
              </a:r>
              <a:endParaRPr/>
            </a:p>
          </p:txBody>
        </p:sp>
      </p:grpSp>
      <p:sp>
        <p:nvSpPr>
          <p:cNvPr id="411" name="Google Shape;411;p35"/>
          <p:cNvSpPr txBox="1"/>
          <p:nvPr/>
        </p:nvSpPr>
        <p:spPr>
          <a:xfrm>
            <a:off x="7755636" y="1793052"/>
            <a:ext cx="4069373" cy="7319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12" name="Google Shape;412;p35"/>
          <p:cNvSpPr txBox="1"/>
          <p:nvPr/>
        </p:nvSpPr>
        <p:spPr>
          <a:xfrm>
            <a:off x="8226845" y="797073"/>
            <a:ext cx="3845550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B+1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pages of memory</a:t>
            </a:r>
            <a:endParaRPr/>
          </a:p>
        </p:txBody>
      </p:sp>
      <p:sp>
        <p:nvSpPr>
          <p:cNvPr id="413" name="Google Shape;413;p35"/>
          <p:cNvSpPr txBox="1"/>
          <p:nvPr/>
        </p:nvSpPr>
        <p:spPr>
          <a:xfrm>
            <a:off x="7755636" y="2681193"/>
            <a:ext cx="4166288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 in B-1 pages of R at a time (leaving 1 page each free for S &amp; output)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(B-1)-page segment of R, load each page of S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against the join conditions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out</a:t>
            </a:r>
            <a:endParaRPr/>
          </a:p>
        </p:txBody>
      </p:sp>
      <p:sp>
        <p:nvSpPr>
          <p:cNvPr id="414" name="Google Shape;414;p35"/>
          <p:cNvSpPr/>
          <p:nvPr/>
        </p:nvSpPr>
        <p:spPr>
          <a:xfrm>
            <a:off x="7582132" y="1295062"/>
            <a:ext cx="87504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Cost: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15" name="Google Shape;415;p35"/>
          <p:cNvSpPr txBox="1"/>
          <p:nvPr/>
        </p:nvSpPr>
        <p:spPr>
          <a:xfrm>
            <a:off x="1425130" y="5833248"/>
            <a:ext cx="4927599" cy="830997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Again,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could be bigger than P(R)*P(S)… but usually not that bad</a:t>
            </a:r>
            <a:endParaRPr/>
          </a:p>
        </p:txBody>
      </p:sp>
      <p:sp>
        <p:nvSpPr>
          <p:cNvPr id="416" name="Google Shape;416;p35"/>
          <p:cNvSpPr/>
          <p:nvPr/>
        </p:nvSpPr>
        <p:spPr>
          <a:xfrm>
            <a:off x="2934679" y="4809485"/>
            <a:ext cx="2577121" cy="521205"/>
          </a:xfrm>
          <a:prstGeom prst="roundRect">
            <a:avLst>
              <a:gd fmla="val 16667" name="adj"/>
            </a:avLst>
          </a:prstGeom>
          <a:solidFill>
            <a:schemeClr val="accent1">
              <a:alpha val="40000"/>
            </a:schemeClr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BNLJ vs. NLJ: Benefits of IO Aware</a:t>
            </a:r>
            <a:endParaRPr/>
          </a:p>
        </p:txBody>
      </p:sp>
      <p:sp>
        <p:nvSpPr>
          <p:cNvPr id="422" name="Google Shape;422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BNLJ, by loading larger chunks of R, we minimize the number of full </a:t>
            </a:r>
            <a:r>
              <a:rPr i="1" lang="en-US"/>
              <a:t>disk reads</a:t>
            </a:r>
            <a:r>
              <a:rPr lang="en-US"/>
              <a:t> of 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We only read all of S from disk for </a:t>
            </a:r>
            <a:r>
              <a:rPr b="1" i="1" lang="en-US"/>
              <a:t>every (B-1)-page segment of R</a:t>
            </a:r>
            <a:r>
              <a:rPr lang="en-US"/>
              <a:t>!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Still the full cross-product, but more done only </a:t>
            </a:r>
            <a:r>
              <a:rPr i="1" lang="en-US"/>
              <a:t>in memory</a:t>
            </a:r>
            <a:endParaRPr/>
          </a:p>
        </p:txBody>
      </p:sp>
      <p:sp>
        <p:nvSpPr>
          <p:cNvPr id="423" name="Google Shape;423;p36"/>
          <p:cNvSpPr txBox="1"/>
          <p:nvPr/>
        </p:nvSpPr>
        <p:spPr>
          <a:xfrm>
            <a:off x="6656041" y="4120717"/>
            <a:ext cx="4380259" cy="82362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4" name="Google Shape;424;p36"/>
          <p:cNvSpPr txBox="1"/>
          <p:nvPr/>
        </p:nvSpPr>
        <p:spPr>
          <a:xfrm>
            <a:off x="838200" y="4120717"/>
            <a:ext cx="4069373" cy="584775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P(R) + T(R)*P(S) + OUT</a:t>
            </a:r>
            <a:endParaRPr/>
          </a:p>
        </p:txBody>
      </p:sp>
      <p:sp>
        <p:nvSpPr>
          <p:cNvPr id="425" name="Google Shape;425;p36"/>
          <p:cNvSpPr txBox="1"/>
          <p:nvPr/>
        </p:nvSpPr>
        <p:spPr>
          <a:xfrm>
            <a:off x="838200" y="3659052"/>
            <a:ext cx="62401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NLJ</a:t>
            </a:r>
            <a:endParaRPr/>
          </a:p>
        </p:txBody>
      </p:sp>
      <p:sp>
        <p:nvSpPr>
          <p:cNvPr id="426" name="Google Shape;426;p36"/>
          <p:cNvSpPr txBox="1"/>
          <p:nvPr/>
        </p:nvSpPr>
        <p:spPr>
          <a:xfrm>
            <a:off x="6656041" y="3659052"/>
            <a:ext cx="7741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BNLJ</a:t>
            </a:r>
            <a:endParaRPr/>
          </a:p>
        </p:txBody>
      </p:sp>
      <p:sp>
        <p:nvSpPr>
          <p:cNvPr id="427" name="Google Shape;427;p36"/>
          <p:cNvSpPr/>
          <p:nvPr/>
        </p:nvSpPr>
        <p:spPr>
          <a:xfrm>
            <a:off x="5370906" y="4201674"/>
            <a:ext cx="821802" cy="42285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6"/>
          <p:cNvSpPr txBox="1"/>
          <p:nvPr/>
        </p:nvSpPr>
        <p:spPr>
          <a:xfrm>
            <a:off x="2948662" y="5538966"/>
            <a:ext cx="6294675" cy="87684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429" name="Google Shape;429;p3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30" name="Google Shape;430;p3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36"/>
            <p:cNvSpPr txBox="1"/>
            <p:nvPr/>
          </p:nvSpPr>
          <p:spPr>
            <a:xfrm>
              <a:off x="188780" y="-22510"/>
              <a:ext cx="85004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BNLJ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BNLJ vs. NLJ: Benefits of IO Aware</a:t>
            </a:r>
            <a:endParaRPr/>
          </a:p>
        </p:txBody>
      </p:sp>
      <p:sp>
        <p:nvSpPr>
          <p:cNvPr id="437" name="Google Shape;437;p37"/>
          <p:cNvSpPr txBox="1"/>
          <p:nvPr>
            <p:ph idx="1" type="body"/>
          </p:nvPr>
        </p:nvSpPr>
        <p:spPr>
          <a:xfrm>
            <a:off x="838200" y="1825625"/>
            <a:ext cx="10515600" cy="342928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27" r="0" t="-443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grpSp>
        <p:nvGrpSpPr>
          <p:cNvPr id="438" name="Google Shape;438;p3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39" name="Google Shape;439;p3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37"/>
            <p:cNvSpPr txBox="1"/>
            <p:nvPr/>
          </p:nvSpPr>
          <p:spPr>
            <a:xfrm>
              <a:off x="188780" y="-22510"/>
              <a:ext cx="85004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BNLJ</a:t>
              </a:r>
              <a:endParaRPr/>
            </a:p>
          </p:txBody>
        </p:sp>
      </p:grpSp>
      <p:sp>
        <p:nvSpPr>
          <p:cNvPr id="441" name="Google Shape;441;p37"/>
          <p:cNvSpPr txBox="1"/>
          <p:nvPr/>
        </p:nvSpPr>
        <p:spPr>
          <a:xfrm>
            <a:off x="2681078" y="5474825"/>
            <a:ext cx="6829843" cy="1077218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very real difference from a small change in the algorithm!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7"/>
          <p:cNvSpPr txBox="1"/>
          <p:nvPr/>
        </p:nvSpPr>
        <p:spPr>
          <a:xfrm>
            <a:off x="8645945" y="2956073"/>
            <a:ext cx="2707855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Ignoring OUT here…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8"/>
          <p:cNvSpPr txBox="1"/>
          <p:nvPr>
            <p:ph type="title"/>
          </p:nvPr>
        </p:nvSpPr>
        <p:spPr>
          <a:xfrm>
            <a:off x="1981200" y="322628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Smarter than Cross-Products</a:t>
            </a:r>
            <a:endParaRPr/>
          </a:p>
        </p:txBody>
      </p:sp>
      <p:grpSp>
        <p:nvGrpSpPr>
          <p:cNvPr id="448" name="Google Shape;448;p3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49" name="Google Shape;449;p3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38"/>
            <p:cNvSpPr txBox="1"/>
            <p:nvPr/>
          </p:nvSpPr>
          <p:spPr>
            <a:xfrm>
              <a:off x="188780" y="-22510"/>
              <a:ext cx="79714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INLJ</a:t>
              </a: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Smarter than Cross-Products: From Quadratic to Nearly Linear</a:t>
            </a:r>
            <a:endParaRPr/>
          </a:p>
        </p:txBody>
      </p:sp>
      <p:sp>
        <p:nvSpPr>
          <p:cNvPr id="456" name="Google Shape;456;p39"/>
          <p:cNvSpPr txBox="1"/>
          <p:nvPr>
            <p:ph idx="1" type="body"/>
          </p:nvPr>
        </p:nvSpPr>
        <p:spPr>
          <a:xfrm>
            <a:off x="838200" y="1879599"/>
            <a:ext cx="10435936" cy="4056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All joins that compute the </a:t>
            </a:r>
            <a:r>
              <a:rPr b="1" i="1" lang="en-US"/>
              <a:t>full cross-product</a:t>
            </a:r>
            <a:r>
              <a:rPr lang="en-US"/>
              <a:t> have some </a:t>
            </a:r>
            <a:r>
              <a:rPr b="1" lang="en-US"/>
              <a:t>quadratic </a:t>
            </a:r>
            <a:r>
              <a:rPr lang="en-US"/>
              <a:t>term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For example we saw: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Now we’ll see some (nearly) linear joins: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~ O(P(R) + P(S) + </a:t>
            </a:r>
            <a:r>
              <a:rPr b="1" i="1" lang="en-US"/>
              <a:t>OUT</a:t>
            </a:r>
            <a:r>
              <a:rPr lang="en-US"/>
              <a:t>), where again </a:t>
            </a:r>
            <a:r>
              <a:rPr b="1" i="1" lang="en-US"/>
              <a:t>OUT</a:t>
            </a:r>
            <a:r>
              <a:rPr lang="en-US"/>
              <a:t> could be quadratic but is usually better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pSp>
        <p:nvGrpSpPr>
          <p:cNvPr id="457" name="Google Shape;457;p39"/>
          <p:cNvGrpSpPr/>
          <p:nvPr/>
        </p:nvGrpSpPr>
        <p:grpSpPr>
          <a:xfrm>
            <a:off x="4621354" y="2532495"/>
            <a:ext cx="4843496" cy="1570854"/>
            <a:chOff x="4621354" y="2532495"/>
            <a:chExt cx="4843496" cy="1570854"/>
          </a:xfrm>
        </p:grpSpPr>
        <p:sp>
          <p:nvSpPr>
            <p:cNvPr id="458" name="Google Shape;458;p39"/>
            <p:cNvSpPr txBox="1"/>
            <p:nvPr/>
          </p:nvSpPr>
          <p:spPr>
            <a:xfrm>
              <a:off x="5395477" y="3371417"/>
              <a:ext cx="4069373" cy="73193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50800" rotWithShape="0" algn="tl" dir="2700000" dist="127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59" name="Google Shape;459;p39"/>
            <p:cNvSpPr txBox="1"/>
            <p:nvPr/>
          </p:nvSpPr>
          <p:spPr>
            <a:xfrm>
              <a:off x="5395477" y="2532495"/>
              <a:ext cx="4069373" cy="584775"/>
            </a:xfrm>
            <a:prstGeom prst="rect">
              <a:avLst/>
            </a:prstGeom>
            <a:solidFill>
              <a:srgbClr val="DDEAF6"/>
            </a:solidFill>
            <a:ln>
              <a:noFill/>
            </a:ln>
            <a:effectLst>
              <a:outerShdw blurRad="50800" rotWithShape="0" algn="tl" dir="2700000" dist="127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P(R) + </a:t>
              </a:r>
              <a:r>
                <a:rPr b="1" lang="en-US" sz="3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T(R)P(S) </a:t>
              </a: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 OUT</a:t>
              </a:r>
              <a:endParaRPr/>
            </a:p>
          </p:txBody>
        </p:sp>
        <p:sp>
          <p:nvSpPr>
            <p:cNvPr id="460" name="Google Shape;460;p39"/>
            <p:cNvSpPr txBox="1"/>
            <p:nvPr/>
          </p:nvSpPr>
          <p:spPr>
            <a:xfrm>
              <a:off x="4771460" y="2592025"/>
              <a:ext cx="62401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NLJ</a:t>
              </a:r>
              <a:endParaRPr/>
            </a:p>
          </p:txBody>
        </p:sp>
        <p:sp>
          <p:nvSpPr>
            <p:cNvPr id="461" name="Google Shape;461;p39"/>
            <p:cNvSpPr txBox="1"/>
            <p:nvPr/>
          </p:nvSpPr>
          <p:spPr>
            <a:xfrm>
              <a:off x="4621354" y="3552395"/>
              <a:ext cx="77412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BNLJ</a:t>
              </a:r>
              <a:endParaRPr/>
            </a:p>
          </p:txBody>
        </p:sp>
      </p:grpSp>
      <p:sp>
        <p:nvSpPr>
          <p:cNvPr id="462" name="Google Shape;462;p39"/>
          <p:cNvSpPr txBox="1"/>
          <p:nvPr/>
        </p:nvSpPr>
        <p:spPr>
          <a:xfrm>
            <a:off x="1664389" y="5661958"/>
            <a:ext cx="8863221" cy="95410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get this gain by </a:t>
            </a: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taking advantage of structure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moving to equality constraints (“equijoin”) only!</a:t>
            </a:r>
            <a:endParaRPr/>
          </a:p>
        </p:txBody>
      </p:sp>
      <p:grpSp>
        <p:nvGrpSpPr>
          <p:cNvPr id="463" name="Google Shape;463;p3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64" name="Google Shape;464;p3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39"/>
            <p:cNvSpPr txBox="1"/>
            <p:nvPr/>
          </p:nvSpPr>
          <p:spPr>
            <a:xfrm>
              <a:off x="188780" y="-22510"/>
              <a:ext cx="79714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INLJ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Index Nested Loop Join (INLJ)</a:t>
            </a:r>
            <a:endParaRPr/>
          </a:p>
        </p:txBody>
      </p:sp>
      <p:sp>
        <p:nvSpPr>
          <p:cNvPr id="471" name="Google Shape;471;p40"/>
          <p:cNvSpPr txBox="1"/>
          <p:nvPr>
            <p:ph idx="1" type="body"/>
          </p:nvPr>
        </p:nvSpPr>
        <p:spPr>
          <a:xfrm>
            <a:off x="838200" y="1825625"/>
            <a:ext cx="5783826" cy="265788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grpSp>
        <p:nvGrpSpPr>
          <p:cNvPr id="472" name="Google Shape;472;p4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73" name="Google Shape;473;p4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40"/>
            <p:cNvSpPr txBox="1"/>
            <p:nvPr/>
          </p:nvSpPr>
          <p:spPr>
            <a:xfrm>
              <a:off x="188780" y="-22510"/>
              <a:ext cx="79714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INLJ</a:t>
              </a:r>
              <a:endParaRPr/>
            </a:p>
          </p:txBody>
        </p:sp>
      </p:grpSp>
      <p:sp>
        <p:nvSpPr>
          <p:cNvPr id="475" name="Google Shape;475;p40"/>
          <p:cNvSpPr txBox="1"/>
          <p:nvPr/>
        </p:nvSpPr>
        <p:spPr>
          <a:xfrm>
            <a:off x="7150332" y="1886949"/>
            <a:ext cx="3581168" cy="584775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P(R) + T(R)*</a:t>
            </a:r>
            <a:r>
              <a:rPr b="1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OUT</a:t>
            </a:r>
            <a:endParaRPr b="1" i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0"/>
          <p:cNvSpPr txBox="1"/>
          <p:nvPr/>
        </p:nvSpPr>
        <p:spPr>
          <a:xfrm>
            <a:off x="1573306" y="5496673"/>
            <a:ext cx="9045388" cy="1077218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🡪 We can use an 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(e.g. B+ Tree) to </a:t>
            </a:r>
            <a:r>
              <a:rPr b="1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 doing the full cross-product!</a:t>
            </a:r>
            <a:endParaRPr/>
          </a:p>
        </p:txBody>
      </p:sp>
      <p:sp>
        <p:nvSpPr>
          <p:cNvPr id="477" name="Google Shape;477;p40"/>
          <p:cNvSpPr txBox="1"/>
          <p:nvPr/>
        </p:nvSpPr>
        <p:spPr>
          <a:xfrm>
            <a:off x="7150332" y="2900343"/>
            <a:ext cx="4661564" cy="181588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8724" l="-2744" r="-3397" t="-335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78" name="Google Shape;478;p40"/>
          <p:cNvSpPr/>
          <p:nvPr/>
        </p:nvSpPr>
        <p:spPr>
          <a:xfrm>
            <a:off x="6947132" y="1327448"/>
            <a:ext cx="87504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Cost: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Joins: A Cage Match</a:t>
            </a:r>
            <a:endParaRPr/>
          </a:p>
        </p:txBody>
      </p:sp>
      <p:sp>
        <p:nvSpPr>
          <p:cNvPr id="484" name="Google Shape;484;p4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pSp>
        <p:nvGrpSpPr>
          <p:cNvPr id="485" name="Google Shape;485;p4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86" name="Google Shape;486;p4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41"/>
            <p:cNvSpPr txBox="1"/>
            <p:nvPr/>
          </p:nvSpPr>
          <p:spPr>
            <a:xfrm>
              <a:off x="188780" y="-22510"/>
              <a:ext cx="18473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8" name="Google Shape;488;p41"/>
          <p:cNvSpPr txBox="1"/>
          <p:nvPr/>
        </p:nvSpPr>
        <p:spPr>
          <a:xfrm>
            <a:off x="3194756" y="5452533"/>
            <a:ext cx="47639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Message: It’s all about the memory!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1. Sort-Merge Join (SMJ)</a:t>
            </a:r>
            <a:endParaRPr/>
          </a:p>
        </p:txBody>
      </p:sp>
      <p:sp>
        <p:nvSpPr>
          <p:cNvPr id="494" name="Google Shape;494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95" name="Google Shape;495;p4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96" name="Google Shape;496;p4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42"/>
            <p:cNvSpPr txBox="1"/>
            <p:nvPr/>
          </p:nvSpPr>
          <p:spPr>
            <a:xfrm>
              <a:off x="188780" y="-22510"/>
              <a:ext cx="34496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</a:t>
              </a:r>
              <a:endParaRPr/>
            </a:p>
          </p:txBody>
        </p:sp>
      </p:grpSp>
      <p:pic>
        <p:nvPicPr>
          <p:cNvPr id="498" name="Google Shape;49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6006" y="2660885"/>
            <a:ext cx="1457738" cy="2281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Sort Merge Join (SMJ): Basic Procedure</a:t>
            </a:r>
            <a:endParaRPr/>
          </a:p>
        </p:txBody>
      </p:sp>
      <p:sp>
        <p:nvSpPr>
          <p:cNvPr id="504" name="Google Shape;504;p43"/>
          <p:cNvSpPr txBox="1"/>
          <p:nvPr>
            <p:ph idx="1" type="body"/>
          </p:nvPr>
        </p:nvSpPr>
        <p:spPr>
          <a:xfrm>
            <a:off x="838200" y="1825625"/>
            <a:ext cx="10515600" cy="342480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76" l="-1216" r="0" t="-391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505" name="Google Shape;505;p43"/>
          <p:cNvSpPr txBox="1"/>
          <p:nvPr/>
        </p:nvSpPr>
        <p:spPr>
          <a:xfrm>
            <a:off x="2649866" y="5520367"/>
            <a:ext cx="6892268" cy="1077218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that if R, S are already sorted on A, SMJ will be awesome!</a:t>
            </a:r>
            <a:endParaRPr b="1" i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6" name="Google Shape;506;p4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507" name="Google Shape;507;p4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43"/>
            <p:cNvSpPr txBox="1"/>
            <p:nvPr/>
          </p:nvSpPr>
          <p:spPr>
            <a:xfrm>
              <a:off x="188780" y="-22510"/>
              <a:ext cx="79380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SMJ</a:t>
              </a:r>
              <a:endParaRPr/>
            </a:p>
          </p:txBody>
        </p:sp>
      </p:grpSp>
      <p:sp>
        <p:nvSpPr>
          <p:cNvPr id="509" name="Google Shape;509;p43"/>
          <p:cNvSpPr txBox="1"/>
          <p:nvPr/>
        </p:nvSpPr>
        <p:spPr>
          <a:xfrm>
            <a:off x="8288594" y="1825625"/>
            <a:ext cx="3065206" cy="1200329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that we are only considering equality join conditions here</a:t>
            </a:r>
            <a:endParaRPr b="1"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376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515" name="Google Shape;515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simplicity: Let each page be </a:t>
            </a:r>
            <a:r>
              <a:rPr b="1" i="1" lang="en-US"/>
              <a:t>one tuple</a:t>
            </a:r>
            <a:r>
              <a:rPr lang="en-US"/>
              <a:t>, and let the first value be A </a:t>
            </a:r>
            <a:endParaRPr/>
          </a:p>
        </p:txBody>
      </p:sp>
      <p:sp>
        <p:nvSpPr>
          <p:cNvPr id="516" name="Google Shape;516;p44"/>
          <p:cNvSpPr/>
          <p:nvPr/>
        </p:nvSpPr>
        <p:spPr>
          <a:xfrm>
            <a:off x="2210655" y="2928938"/>
            <a:ext cx="3457575" cy="3568500"/>
          </a:xfrm>
          <a:prstGeom prst="can">
            <a:avLst>
              <a:gd fmla="val 13065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44"/>
          <p:cNvSpPr/>
          <p:nvPr/>
        </p:nvSpPr>
        <p:spPr>
          <a:xfrm>
            <a:off x="2308214" y="3513713"/>
            <a:ext cx="3296832" cy="574383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44"/>
          <p:cNvSpPr txBox="1"/>
          <p:nvPr/>
        </p:nvSpPr>
        <p:spPr>
          <a:xfrm>
            <a:off x="3513542" y="2400008"/>
            <a:ext cx="88617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9" name="Google Shape;519;p44"/>
          <p:cNvGrpSpPr/>
          <p:nvPr/>
        </p:nvGrpSpPr>
        <p:grpSpPr>
          <a:xfrm>
            <a:off x="7093877" y="2928938"/>
            <a:ext cx="4259923" cy="2456273"/>
            <a:chOff x="7403799" y="1406844"/>
            <a:chExt cx="4259923" cy="2456273"/>
          </a:xfrm>
        </p:grpSpPr>
        <p:grpSp>
          <p:nvGrpSpPr>
            <p:cNvPr id="520" name="Google Shape;520;p44"/>
            <p:cNvGrpSpPr/>
            <p:nvPr/>
          </p:nvGrpSpPr>
          <p:grpSpPr>
            <a:xfrm>
              <a:off x="7403799" y="1406844"/>
              <a:ext cx="4259923" cy="2456273"/>
              <a:chOff x="7466322" y="1027906"/>
              <a:chExt cx="4259923" cy="2456273"/>
            </a:xfrm>
          </p:grpSpPr>
          <p:sp>
            <p:nvSpPr>
              <p:cNvPr id="521" name="Google Shape;521;p44"/>
              <p:cNvSpPr/>
              <p:nvPr/>
            </p:nvSpPr>
            <p:spPr>
              <a:xfrm>
                <a:off x="7466322" y="1027906"/>
                <a:ext cx="4252691" cy="2440508"/>
              </a:xfrm>
              <a:prstGeom prst="rect">
                <a:avLst/>
              </a:prstGeom>
              <a:solidFill>
                <a:srgbClr val="FFF2CC"/>
              </a:soli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tl" dir="2700000" dist="127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" name="Google Shape;522;p44"/>
              <p:cNvSpPr/>
              <p:nvPr/>
            </p:nvSpPr>
            <p:spPr>
              <a:xfrm>
                <a:off x="7769912" y="1969081"/>
                <a:ext cx="3956333" cy="1515098"/>
              </a:xfrm>
              <a:prstGeom prst="rect">
                <a:avLst/>
              </a:prstGeom>
              <a:solidFill>
                <a:srgbClr val="B3C6E7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44"/>
              <p:cNvSpPr txBox="1"/>
              <p:nvPr/>
            </p:nvSpPr>
            <p:spPr>
              <a:xfrm>
                <a:off x="7624243" y="1210562"/>
                <a:ext cx="196842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Main Memory</a:t>
                </a:r>
                <a:endParaRPr/>
              </a:p>
            </p:txBody>
          </p:sp>
          <p:sp>
            <p:nvSpPr>
              <p:cNvPr id="524" name="Google Shape;524;p44"/>
              <p:cNvSpPr txBox="1"/>
              <p:nvPr/>
            </p:nvSpPr>
            <p:spPr>
              <a:xfrm>
                <a:off x="7836450" y="1989610"/>
                <a:ext cx="95359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Buffer</a:t>
                </a:r>
                <a:endParaRPr/>
              </a:p>
            </p:txBody>
          </p:sp>
        </p:grpSp>
        <p:sp>
          <p:nvSpPr>
            <p:cNvPr id="525" name="Google Shape;525;p44"/>
            <p:cNvSpPr/>
            <p:nvPr/>
          </p:nvSpPr>
          <p:spPr>
            <a:xfrm>
              <a:off x="7843740" y="3009498"/>
              <a:ext cx="1127270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44"/>
            <p:cNvSpPr/>
            <p:nvPr/>
          </p:nvSpPr>
          <p:spPr>
            <a:xfrm>
              <a:off x="9055124" y="3009498"/>
              <a:ext cx="1127270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44"/>
            <p:cNvSpPr/>
            <p:nvPr/>
          </p:nvSpPr>
          <p:spPr>
            <a:xfrm>
              <a:off x="10266508" y="3009498"/>
              <a:ext cx="1127270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8" name="Google Shape;528;p44"/>
          <p:cNvSpPr/>
          <p:nvPr/>
        </p:nvSpPr>
        <p:spPr>
          <a:xfrm>
            <a:off x="5806814" y="4444145"/>
            <a:ext cx="1461477" cy="362022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44"/>
          <p:cNvSpPr/>
          <p:nvPr/>
        </p:nvSpPr>
        <p:spPr>
          <a:xfrm rot="10800000">
            <a:off x="5806813" y="4895300"/>
            <a:ext cx="1461478" cy="362022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44"/>
          <p:cNvSpPr txBox="1"/>
          <p:nvPr/>
        </p:nvSpPr>
        <p:spPr>
          <a:xfrm>
            <a:off x="1818776" y="3621104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44"/>
          <p:cNvSpPr txBox="1"/>
          <p:nvPr/>
        </p:nvSpPr>
        <p:spPr>
          <a:xfrm>
            <a:off x="3479589" y="3598573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</p:txBody>
      </p:sp>
      <p:sp>
        <p:nvSpPr>
          <p:cNvPr id="532" name="Google Shape;532;p44"/>
          <p:cNvSpPr txBox="1"/>
          <p:nvPr/>
        </p:nvSpPr>
        <p:spPr>
          <a:xfrm>
            <a:off x="4542988" y="3597304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</p:txBody>
      </p:sp>
      <p:sp>
        <p:nvSpPr>
          <p:cNvPr id="533" name="Google Shape;533;p44"/>
          <p:cNvSpPr txBox="1"/>
          <p:nvPr/>
        </p:nvSpPr>
        <p:spPr>
          <a:xfrm>
            <a:off x="2455258" y="3601801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</p:txBody>
      </p:sp>
      <p:sp>
        <p:nvSpPr>
          <p:cNvPr id="534" name="Google Shape;534;p44"/>
          <p:cNvSpPr txBox="1"/>
          <p:nvPr/>
        </p:nvSpPr>
        <p:spPr>
          <a:xfrm>
            <a:off x="1787809" y="4348926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44"/>
          <p:cNvSpPr/>
          <p:nvPr/>
        </p:nvSpPr>
        <p:spPr>
          <a:xfrm>
            <a:off x="2300424" y="4293681"/>
            <a:ext cx="3296832" cy="574383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44"/>
          <p:cNvSpPr txBox="1"/>
          <p:nvPr/>
        </p:nvSpPr>
        <p:spPr>
          <a:xfrm>
            <a:off x="3471799" y="4378541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(7,f)</a:t>
            </a:r>
            <a:endParaRPr/>
          </a:p>
        </p:txBody>
      </p:sp>
      <p:sp>
        <p:nvSpPr>
          <p:cNvPr id="537" name="Google Shape;537;p44"/>
          <p:cNvSpPr txBox="1"/>
          <p:nvPr/>
        </p:nvSpPr>
        <p:spPr>
          <a:xfrm>
            <a:off x="4535198" y="4377272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538" name="Google Shape;538;p44"/>
          <p:cNvSpPr txBox="1"/>
          <p:nvPr/>
        </p:nvSpPr>
        <p:spPr>
          <a:xfrm>
            <a:off x="2447468" y="4381769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(3,g)</a:t>
            </a:r>
            <a:endParaRPr/>
          </a:p>
        </p:txBody>
      </p:sp>
      <p:sp>
        <p:nvSpPr>
          <p:cNvPr id="539" name="Google Shape;539;p44"/>
          <p:cNvSpPr/>
          <p:nvPr/>
        </p:nvSpPr>
        <p:spPr>
          <a:xfrm rot="10800000">
            <a:off x="2810220" y="3290947"/>
            <a:ext cx="228601" cy="273161"/>
          </a:xfrm>
          <a:prstGeom prst="triangle">
            <a:avLst>
              <a:gd fmla="val 50000" name="adj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44"/>
          <p:cNvSpPr/>
          <p:nvPr/>
        </p:nvSpPr>
        <p:spPr>
          <a:xfrm flipH="1">
            <a:off x="2810219" y="4798789"/>
            <a:ext cx="228601" cy="273161"/>
          </a:xfrm>
          <a:prstGeom prst="triangle">
            <a:avLst>
              <a:gd fmla="val 50000" name="adj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44"/>
          <p:cNvSpPr txBox="1"/>
          <p:nvPr/>
        </p:nvSpPr>
        <p:spPr>
          <a:xfrm>
            <a:off x="318022" y="2379251"/>
            <a:ext cx="2227862" cy="1569660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show the file HEAD, which is the next value to be read!</a:t>
            </a:r>
            <a:endParaRPr b="1"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2" name="Google Shape;542;p4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543" name="Google Shape;543;p4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44"/>
            <p:cNvSpPr txBox="1"/>
            <p:nvPr/>
          </p:nvSpPr>
          <p:spPr>
            <a:xfrm>
              <a:off x="188780" y="-22510"/>
              <a:ext cx="79380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SMJ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376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550" name="Google Shape;550;p4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1. Sort the relations R, S on the join key (first value)</a:t>
            </a:r>
            <a:endParaRPr/>
          </a:p>
        </p:txBody>
      </p:sp>
      <p:sp>
        <p:nvSpPr>
          <p:cNvPr id="551" name="Google Shape;551;p45"/>
          <p:cNvSpPr/>
          <p:nvPr/>
        </p:nvSpPr>
        <p:spPr>
          <a:xfrm>
            <a:off x="2210655" y="2928938"/>
            <a:ext cx="3457575" cy="3568500"/>
          </a:xfrm>
          <a:prstGeom prst="can">
            <a:avLst>
              <a:gd fmla="val 13065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45"/>
          <p:cNvSpPr/>
          <p:nvPr/>
        </p:nvSpPr>
        <p:spPr>
          <a:xfrm>
            <a:off x="2308214" y="3513713"/>
            <a:ext cx="3296832" cy="574383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45"/>
          <p:cNvSpPr txBox="1"/>
          <p:nvPr/>
        </p:nvSpPr>
        <p:spPr>
          <a:xfrm>
            <a:off x="3513542" y="2400008"/>
            <a:ext cx="88617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4" name="Google Shape;554;p45"/>
          <p:cNvGrpSpPr/>
          <p:nvPr/>
        </p:nvGrpSpPr>
        <p:grpSpPr>
          <a:xfrm>
            <a:off x="7093877" y="2928938"/>
            <a:ext cx="4259923" cy="2456273"/>
            <a:chOff x="7403799" y="1406844"/>
            <a:chExt cx="4259923" cy="2456273"/>
          </a:xfrm>
        </p:grpSpPr>
        <p:grpSp>
          <p:nvGrpSpPr>
            <p:cNvPr id="555" name="Google Shape;555;p45"/>
            <p:cNvGrpSpPr/>
            <p:nvPr/>
          </p:nvGrpSpPr>
          <p:grpSpPr>
            <a:xfrm>
              <a:off x="7403799" y="1406844"/>
              <a:ext cx="4259923" cy="2456273"/>
              <a:chOff x="7466322" y="1027906"/>
              <a:chExt cx="4259923" cy="2456273"/>
            </a:xfrm>
          </p:grpSpPr>
          <p:sp>
            <p:nvSpPr>
              <p:cNvPr id="556" name="Google Shape;556;p45"/>
              <p:cNvSpPr/>
              <p:nvPr/>
            </p:nvSpPr>
            <p:spPr>
              <a:xfrm>
                <a:off x="7466322" y="1027906"/>
                <a:ext cx="4252691" cy="2440508"/>
              </a:xfrm>
              <a:prstGeom prst="rect">
                <a:avLst/>
              </a:prstGeom>
              <a:solidFill>
                <a:srgbClr val="FFF2CC"/>
              </a:soli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tl" dir="2700000" dist="127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45"/>
              <p:cNvSpPr/>
              <p:nvPr/>
            </p:nvSpPr>
            <p:spPr>
              <a:xfrm>
                <a:off x="7769912" y="1969081"/>
                <a:ext cx="3956333" cy="1515098"/>
              </a:xfrm>
              <a:prstGeom prst="rect">
                <a:avLst/>
              </a:prstGeom>
              <a:solidFill>
                <a:srgbClr val="B3C6E7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45"/>
              <p:cNvSpPr txBox="1"/>
              <p:nvPr/>
            </p:nvSpPr>
            <p:spPr>
              <a:xfrm>
                <a:off x="7624243" y="1210562"/>
                <a:ext cx="196842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Main Memory</a:t>
                </a:r>
                <a:endParaRPr/>
              </a:p>
            </p:txBody>
          </p:sp>
          <p:sp>
            <p:nvSpPr>
              <p:cNvPr id="559" name="Google Shape;559;p45"/>
              <p:cNvSpPr txBox="1"/>
              <p:nvPr/>
            </p:nvSpPr>
            <p:spPr>
              <a:xfrm>
                <a:off x="7836450" y="1989610"/>
                <a:ext cx="95359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Buffer</a:t>
                </a:r>
                <a:endParaRPr/>
              </a:p>
            </p:txBody>
          </p:sp>
        </p:grpSp>
        <p:sp>
          <p:nvSpPr>
            <p:cNvPr id="560" name="Google Shape;560;p45"/>
            <p:cNvSpPr/>
            <p:nvPr/>
          </p:nvSpPr>
          <p:spPr>
            <a:xfrm>
              <a:off x="7843740" y="3009498"/>
              <a:ext cx="1127270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45"/>
            <p:cNvSpPr/>
            <p:nvPr/>
          </p:nvSpPr>
          <p:spPr>
            <a:xfrm>
              <a:off x="9055124" y="3009498"/>
              <a:ext cx="1127270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45"/>
            <p:cNvSpPr/>
            <p:nvPr/>
          </p:nvSpPr>
          <p:spPr>
            <a:xfrm>
              <a:off x="10266508" y="3009498"/>
              <a:ext cx="1127270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3" name="Google Shape;563;p45"/>
          <p:cNvSpPr/>
          <p:nvPr/>
        </p:nvSpPr>
        <p:spPr>
          <a:xfrm>
            <a:off x="5806814" y="4444145"/>
            <a:ext cx="1461477" cy="362022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45"/>
          <p:cNvSpPr/>
          <p:nvPr/>
        </p:nvSpPr>
        <p:spPr>
          <a:xfrm rot="10800000">
            <a:off x="5806813" y="4895300"/>
            <a:ext cx="1461478" cy="362022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45"/>
          <p:cNvSpPr txBox="1"/>
          <p:nvPr/>
        </p:nvSpPr>
        <p:spPr>
          <a:xfrm>
            <a:off x="1818776" y="3621104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45"/>
          <p:cNvSpPr txBox="1"/>
          <p:nvPr/>
        </p:nvSpPr>
        <p:spPr>
          <a:xfrm>
            <a:off x="3479589" y="3598573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</p:txBody>
      </p:sp>
      <p:sp>
        <p:nvSpPr>
          <p:cNvPr id="567" name="Google Shape;567;p45"/>
          <p:cNvSpPr txBox="1"/>
          <p:nvPr/>
        </p:nvSpPr>
        <p:spPr>
          <a:xfrm>
            <a:off x="4542988" y="3597304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</p:txBody>
      </p:sp>
      <p:sp>
        <p:nvSpPr>
          <p:cNvPr id="568" name="Google Shape;568;p45"/>
          <p:cNvSpPr txBox="1"/>
          <p:nvPr/>
        </p:nvSpPr>
        <p:spPr>
          <a:xfrm>
            <a:off x="2455258" y="3601801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</p:txBody>
      </p:sp>
      <p:sp>
        <p:nvSpPr>
          <p:cNvPr id="569" name="Google Shape;569;p45"/>
          <p:cNvSpPr txBox="1"/>
          <p:nvPr/>
        </p:nvSpPr>
        <p:spPr>
          <a:xfrm>
            <a:off x="1787809" y="4348926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45"/>
          <p:cNvSpPr/>
          <p:nvPr/>
        </p:nvSpPr>
        <p:spPr>
          <a:xfrm>
            <a:off x="2300424" y="4293681"/>
            <a:ext cx="3296832" cy="574383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45"/>
          <p:cNvSpPr txBox="1"/>
          <p:nvPr/>
        </p:nvSpPr>
        <p:spPr>
          <a:xfrm>
            <a:off x="3471799" y="4378541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(7,f)</a:t>
            </a:r>
            <a:endParaRPr/>
          </a:p>
        </p:txBody>
      </p:sp>
      <p:sp>
        <p:nvSpPr>
          <p:cNvPr id="572" name="Google Shape;572;p45"/>
          <p:cNvSpPr txBox="1"/>
          <p:nvPr/>
        </p:nvSpPr>
        <p:spPr>
          <a:xfrm>
            <a:off x="4535198" y="4377272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573" name="Google Shape;573;p45"/>
          <p:cNvSpPr txBox="1"/>
          <p:nvPr/>
        </p:nvSpPr>
        <p:spPr>
          <a:xfrm>
            <a:off x="2447468" y="4381769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(3,g)</a:t>
            </a:r>
            <a:endParaRPr/>
          </a:p>
        </p:txBody>
      </p:sp>
      <p:grpSp>
        <p:nvGrpSpPr>
          <p:cNvPr id="574" name="Google Shape;574;p45"/>
          <p:cNvGrpSpPr/>
          <p:nvPr/>
        </p:nvGrpSpPr>
        <p:grpSpPr>
          <a:xfrm>
            <a:off x="2311830" y="3513811"/>
            <a:ext cx="3296832" cy="574383"/>
            <a:chOff x="2311830" y="3513811"/>
            <a:chExt cx="3296832" cy="574383"/>
          </a:xfrm>
        </p:grpSpPr>
        <p:sp>
          <p:nvSpPr>
            <p:cNvPr id="575" name="Google Shape;575;p45"/>
            <p:cNvSpPr/>
            <p:nvPr/>
          </p:nvSpPr>
          <p:spPr>
            <a:xfrm>
              <a:off x="2311830" y="3513811"/>
              <a:ext cx="3296832" cy="574383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45"/>
            <p:cNvSpPr txBox="1"/>
            <p:nvPr/>
          </p:nvSpPr>
          <p:spPr>
            <a:xfrm>
              <a:off x="3483205" y="3598671"/>
              <a:ext cx="954082" cy="40011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(3,j)</a:t>
              </a:r>
              <a:endParaRPr/>
            </a:p>
          </p:txBody>
        </p:sp>
        <p:sp>
          <p:nvSpPr>
            <p:cNvPr id="577" name="Google Shape;577;p45"/>
            <p:cNvSpPr txBox="1"/>
            <p:nvPr/>
          </p:nvSpPr>
          <p:spPr>
            <a:xfrm>
              <a:off x="4546604" y="3597402"/>
              <a:ext cx="954107" cy="40011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(5,b)</a:t>
              </a:r>
              <a:endParaRPr/>
            </a:p>
          </p:txBody>
        </p:sp>
        <p:sp>
          <p:nvSpPr>
            <p:cNvPr id="578" name="Google Shape;578;p45"/>
            <p:cNvSpPr txBox="1"/>
            <p:nvPr/>
          </p:nvSpPr>
          <p:spPr>
            <a:xfrm>
              <a:off x="2458874" y="3601899"/>
              <a:ext cx="954106" cy="40011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(0,a)</a:t>
              </a:r>
              <a:endParaRPr/>
            </a:p>
          </p:txBody>
        </p:sp>
      </p:grpSp>
      <p:grpSp>
        <p:nvGrpSpPr>
          <p:cNvPr id="579" name="Google Shape;579;p45"/>
          <p:cNvGrpSpPr/>
          <p:nvPr/>
        </p:nvGrpSpPr>
        <p:grpSpPr>
          <a:xfrm>
            <a:off x="2297163" y="4293583"/>
            <a:ext cx="3296832" cy="574383"/>
            <a:chOff x="2326659" y="4293583"/>
            <a:chExt cx="3296832" cy="574383"/>
          </a:xfrm>
        </p:grpSpPr>
        <p:sp>
          <p:nvSpPr>
            <p:cNvPr id="580" name="Google Shape;580;p45"/>
            <p:cNvSpPr/>
            <p:nvPr/>
          </p:nvSpPr>
          <p:spPr>
            <a:xfrm>
              <a:off x="2326659" y="4293583"/>
              <a:ext cx="3296832" cy="574383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45"/>
            <p:cNvSpPr txBox="1"/>
            <p:nvPr/>
          </p:nvSpPr>
          <p:spPr>
            <a:xfrm>
              <a:off x="3498034" y="4378443"/>
              <a:ext cx="954082" cy="40011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(3,g)</a:t>
              </a:r>
              <a:endParaRPr/>
            </a:p>
          </p:txBody>
        </p:sp>
        <p:sp>
          <p:nvSpPr>
            <p:cNvPr id="582" name="Google Shape;582;p45"/>
            <p:cNvSpPr txBox="1"/>
            <p:nvPr/>
          </p:nvSpPr>
          <p:spPr>
            <a:xfrm>
              <a:off x="4561433" y="4377174"/>
              <a:ext cx="954107" cy="40011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(7,f)</a:t>
              </a:r>
              <a:endParaRPr/>
            </a:p>
          </p:txBody>
        </p:sp>
        <p:sp>
          <p:nvSpPr>
            <p:cNvPr id="583" name="Google Shape;583;p45"/>
            <p:cNvSpPr txBox="1"/>
            <p:nvPr/>
          </p:nvSpPr>
          <p:spPr>
            <a:xfrm>
              <a:off x="2473703" y="4381671"/>
              <a:ext cx="954106" cy="40011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(0,j)</a:t>
              </a:r>
              <a:endParaRPr/>
            </a:p>
          </p:txBody>
        </p:sp>
      </p:grpSp>
      <p:sp>
        <p:nvSpPr>
          <p:cNvPr id="584" name="Google Shape;584;p45"/>
          <p:cNvSpPr/>
          <p:nvPr/>
        </p:nvSpPr>
        <p:spPr>
          <a:xfrm rot="10800000">
            <a:off x="2810220" y="3290947"/>
            <a:ext cx="228601" cy="273161"/>
          </a:xfrm>
          <a:prstGeom prst="triangle">
            <a:avLst>
              <a:gd fmla="val 50000" name="adj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45"/>
          <p:cNvSpPr/>
          <p:nvPr/>
        </p:nvSpPr>
        <p:spPr>
          <a:xfrm flipH="1">
            <a:off x="2810219" y="4798789"/>
            <a:ext cx="228601" cy="273161"/>
          </a:xfrm>
          <a:prstGeom prst="triangle">
            <a:avLst>
              <a:gd fmla="val 50000" name="adj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6" name="Google Shape;586;p4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587" name="Google Shape;587;p4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45"/>
            <p:cNvSpPr txBox="1"/>
            <p:nvPr/>
          </p:nvSpPr>
          <p:spPr>
            <a:xfrm>
              <a:off x="188780" y="-22510"/>
              <a:ext cx="79380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SMJ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376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594" name="Google Shape;594;p4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2. Scan and “merge” on join key!</a:t>
            </a:r>
            <a:endParaRPr/>
          </a:p>
        </p:txBody>
      </p:sp>
      <p:sp>
        <p:nvSpPr>
          <p:cNvPr id="595" name="Google Shape;595;p46"/>
          <p:cNvSpPr/>
          <p:nvPr/>
        </p:nvSpPr>
        <p:spPr>
          <a:xfrm>
            <a:off x="2210655" y="2928938"/>
            <a:ext cx="3457575" cy="3568500"/>
          </a:xfrm>
          <a:prstGeom prst="can">
            <a:avLst>
              <a:gd fmla="val 13065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46"/>
          <p:cNvSpPr txBox="1"/>
          <p:nvPr/>
        </p:nvSpPr>
        <p:spPr>
          <a:xfrm>
            <a:off x="3513542" y="2400008"/>
            <a:ext cx="88617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7" name="Google Shape;597;p46"/>
          <p:cNvGrpSpPr/>
          <p:nvPr/>
        </p:nvGrpSpPr>
        <p:grpSpPr>
          <a:xfrm>
            <a:off x="7093877" y="2928938"/>
            <a:ext cx="4259923" cy="2456273"/>
            <a:chOff x="7403799" y="1406844"/>
            <a:chExt cx="4259923" cy="2456273"/>
          </a:xfrm>
        </p:grpSpPr>
        <p:grpSp>
          <p:nvGrpSpPr>
            <p:cNvPr id="598" name="Google Shape;598;p46"/>
            <p:cNvGrpSpPr/>
            <p:nvPr/>
          </p:nvGrpSpPr>
          <p:grpSpPr>
            <a:xfrm>
              <a:off x="7403799" y="1406844"/>
              <a:ext cx="4259923" cy="2456273"/>
              <a:chOff x="7466322" y="1027906"/>
              <a:chExt cx="4259923" cy="2456273"/>
            </a:xfrm>
          </p:grpSpPr>
          <p:sp>
            <p:nvSpPr>
              <p:cNvPr id="599" name="Google Shape;599;p46"/>
              <p:cNvSpPr/>
              <p:nvPr/>
            </p:nvSpPr>
            <p:spPr>
              <a:xfrm>
                <a:off x="7466322" y="1027906"/>
                <a:ext cx="4252691" cy="2440508"/>
              </a:xfrm>
              <a:prstGeom prst="rect">
                <a:avLst/>
              </a:prstGeom>
              <a:solidFill>
                <a:srgbClr val="FFF2CC"/>
              </a:soli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tl" dir="2700000" dist="127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46"/>
              <p:cNvSpPr/>
              <p:nvPr/>
            </p:nvSpPr>
            <p:spPr>
              <a:xfrm>
                <a:off x="7769912" y="1969081"/>
                <a:ext cx="3956333" cy="1515098"/>
              </a:xfrm>
              <a:prstGeom prst="rect">
                <a:avLst/>
              </a:prstGeom>
              <a:solidFill>
                <a:srgbClr val="B3C6E7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46"/>
              <p:cNvSpPr txBox="1"/>
              <p:nvPr/>
            </p:nvSpPr>
            <p:spPr>
              <a:xfrm>
                <a:off x="7624243" y="1210562"/>
                <a:ext cx="196842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Main Memory</a:t>
                </a:r>
                <a:endParaRPr/>
              </a:p>
            </p:txBody>
          </p:sp>
          <p:sp>
            <p:nvSpPr>
              <p:cNvPr id="602" name="Google Shape;602;p46"/>
              <p:cNvSpPr txBox="1"/>
              <p:nvPr/>
            </p:nvSpPr>
            <p:spPr>
              <a:xfrm>
                <a:off x="7836450" y="1989610"/>
                <a:ext cx="95359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Buffer</a:t>
                </a:r>
                <a:endParaRPr/>
              </a:p>
            </p:txBody>
          </p:sp>
        </p:grpSp>
        <p:sp>
          <p:nvSpPr>
            <p:cNvPr id="603" name="Google Shape;603;p46"/>
            <p:cNvSpPr/>
            <p:nvPr/>
          </p:nvSpPr>
          <p:spPr>
            <a:xfrm>
              <a:off x="7843740" y="3009498"/>
              <a:ext cx="1127270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46"/>
            <p:cNvSpPr/>
            <p:nvPr/>
          </p:nvSpPr>
          <p:spPr>
            <a:xfrm>
              <a:off x="9055124" y="3009498"/>
              <a:ext cx="1127270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46"/>
            <p:cNvSpPr/>
            <p:nvPr/>
          </p:nvSpPr>
          <p:spPr>
            <a:xfrm>
              <a:off x="10266508" y="3009498"/>
              <a:ext cx="1127270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6" name="Google Shape;606;p46"/>
          <p:cNvSpPr/>
          <p:nvPr/>
        </p:nvSpPr>
        <p:spPr>
          <a:xfrm>
            <a:off x="5806814" y="4444145"/>
            <a:ext cx="1461477" cy="362022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46"/>
          <p:cNvSpPr/>
          <p:nvPr/>
        </p:nvSpPr>
        <p:spPr>
          <a:xfrm rot="10800000">
            <a:off x="5806813" y="4895300"/>
            <a:ext cx="1461478" cy="362022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46"/>
          <p:cNvSpPr txBox="1"/>
          <p:nvPr/>
        </p:nvSpPr>
        <p:spPr>
          <a:xfrm>
            <a:off x="1818776" y="3621104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6"/>
          <p:cNvSpPr txBox="1"/>
          <p:nvPr/>
        </p:nvSpPr>
        <p:spPr>
          <a:xfrm>
            <a:off x="1787809" y="4348926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46"/>
          <p:cNvSpPr/>
          <p:nvPr/>
        </p:nvSpPr>
        <p:spPr>
          <a:xfrm>
            <a:off x="2297163" y="4293583"/>
            <a:ext cx="3296832" cy="574383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46"/>
          <p:cNvSpPr txBox="1"/>
          <p:nvPr/>
        </p:nvSpPr>
        <p:spPr>
          <a:xfrm>
            <a:off x="3468538" y="4378443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(3,g)</a:t>
            </a:r>
            <a:endParaRPr/>
          </a:p>
        </p:txBody>
      </p:sp>
      <p:sp>
        <p:nvSpPr>
          <p:cNvPr id="612" name="Google Shape;612;p46"/>
          <p:cNvSpPr txBox="1"/>
          <p:nvPr/>
        </p:nvSpPr>
        <p:spPr>
          <a:xfrm>
            <a:off x="4531937" y="4377174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(7,f)</a:t>
            </a:r>
            <a:endParaRPr/>
          </a:p>
        </p:txBody>
      </p:sp>
      <p:sp>
        <p:nvSpPr>
          <p:cNvPr id="613" name="Google Shape;613;p46"/>
          <p:cNvSpPr/>
          <p:nvPr/>
        </p:nvSpPr>
        <p:spPr>
          <a:xfrm>
            <a:off x="2311830" y="3513811"/>
            <a:ext cx="3296832" cy="574383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46"/>
          <p:cNvSpPr txBox="1"/>
          <p:nvPr/>
        </p:nvSpPr>
        <p:spPr>
          <a:xfrm>
            <a:off x="3483205" y="3598671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</p:txBody>
      </p:sp>
      <p:sp>
        <p:nvSpPr>
          <p:cNvPr id="615" name="Google Shape;615;p46"/>
          <p:cNvSpPr txBox="1"/>
          <p:nvPr/>
        </p:nvSpPr>
        <p:spPr>
          <a:xfrm>
            <a:off x="4546604" y="3597402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</p:txBody>
      </p:sp>
      <p:sp>
        <p:nvSpPr>
          <p:cNvPr id="616" name="Google Shape;616;p46"/>
          <p:cNvSpPr txBox="1"/>
          <p:nvPr/>
        </p:nvSpPr>
        <p:spPr>
          <a:xfrm>
            <a:off x="1234772" y="5164768"/>
            <a:ext cx="846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46"/>
          <p:cNvSpPr/>
          <p:nvPr/>
        </p:nvSpPr>
        <p:spPr>
          <a:xfrm>
            <a:off x="2291836" y="5100825"/>
            <a:ext cx="3296832" cy="574383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46"/>
          <p:cNvSpPr txBox="1"/>
          <p:nvPr/>
        </p:nvSpPr>
        <p:spPr>
          <a:xfrm>
            <a:off x="2444207" y="4381671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619" name="Google Shape;619;p46"/>
          <p:cNvSpPr txBox="1"/>
          <p:nvPr/>
        </p:nvSpPr>
        <p:spPr>
          <a:xfrm>
            <a:off x="2458874" y="3601899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</p:txBody>
      </p:sp>
      <p:sp>
        <p:nvSpPr>
          <p:cNvPr id="620" name="Google Shape;620;p46"/>
          <p:cNvSpPr txBox="1"/>
          <p:nvPr/>
        </p:nvSpPr>
        <p:spPr>
          <a:xfrm>
            <a:off x="2458874" y="3591773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</p:txBody>
      </p:sp>
      <p:sp>
        <p:nvSpPr>
          <p:cNvPr id="621" name="Google Shape;621;p46"/>
          <p:cNvSpPr txBox="1"/>
          <p:nvPr/>
        </p:nvSpPr>
        <p:spPr>
          <a:xfrm>
            <a:off x="2452230" y="4377174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622" name="Google Shape;622;p46"/>
          <p:cNvSpPr/>
          <p:nvPr/>
        </p:nvSpPr>
        <p:spPr>
          <a:xfrm rot="10800000">
            <a:off x="2810220" y="3290947"/>
            <a:ext cx="228601" cy="273161"/>
          </a:xfrm>
          <a:prstGeom prst="triangle">
            <a:avLst>
              <a:gd fmla="val 50000" name="adj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46"/>
          <p:cNvSpPr/>
          <p:nvPr/>
        </p:nvSpPr>
        <p:spPr>
          <a:xfrm flipH="1">
            <a:off x="2810219" y="4798789"/>
            <a:ext cx="228601" cy="273161"/>
          </a:xfrm>
          <a:prstGeom prst="triangle">
            <a:avLst>
              <a:gd fmla="val 50000" name="adj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4" name="Google Shape;624;p4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25" name="Google Shape;625;p4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46"/>
            <p:cNvSpPr txBox="1"/>
            <p:nvPr/>
          </p:nvSpPr>
          <p:spPr>
            <a:xfrm>
              <a:off x="188780" y="-22510"/>
              <a:ext cx="79380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SMJ</a:t>
              </a:r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376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632" name="Google Shape;632;p4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2. Scan and “merge” on join key!</a:t>
            </a:r>
            <a:endParaRPr/>
          </a:p>
        </p:txBody>
      </p:sp>
      <p:sp>
        <p:nvSpPr>
          <p:cNvPr id="633" name="Google Shape;633;p47"/>
          <p:cNvSpPr/>
          <p:nvPr/>
        </p:nvSpPr>
        <p:spPr>
          <a:xfrm>
            <a:off x="2210655" y="2928938"/>
            <a:ext cx="3457575" cy="3568500"/>
          </a:xfrm>
          <a:prstGeom prst="can">
            <a:avLst>
              <a:gd fmla="val 13065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47"/>
          <p:cNvSpPr txBox="1"/>
          <p:nvPr/>
        </p:nvSpPr>
        <p:spPr>
          <a:xfrm>
            <a:off x="3513542" y="2400008"/>
            <a:ext cx="88617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5" name="Google Shape;635;p47"/>
          <p:cNvGrpSpPr/>
          <p:nvPr/>
        </p:nvGrpSpPr>
        <p:grpSpPr>
          <a:xfrm>
            <a:off x="7093877" y="2928938"/>
            <a:ext cx="4259923" cy="2456273"/>
            <a:chOff x="7403799" y="1406844"/>
            <a:chExt cx="4259923" cy="2456273"/>
          </a:xfrm>
        </p:grpSpPr>
        <p:grpSp>
          <p:nvGrpSpPr>
            <p:cNvPr id="636" name="Google Shape;636;p47"/>
            <p:cNvGrpSpPr/>
            <p:nvPr/>
          </p:nvGrpSpPr>
          <p:grpSpPr>
            <a:xfrm>
              <a:off x="7403799" y="1406844"/>
              <a:ext cx="4259923" cy="2456273"/>
              <a:chOff x="7466322" y="1027906"/>
              <a:chExt cx="4259923" cy="2456273"/>
            </a:xfrm>
          </p:grpSpPr>
          <p:sp>
            <p:nvSpPr>
              <p:cNvPr id="637" name="Google Shape;637;p47"/>
              <p:cNvSpPr/>
              <p:nvPr/>
            </p:nvSpPr>
            <p:spPr>
              <a:xfrm>
                <a:off x="7466322" y="1027906"/>
                <a:ext cx="4252691" cy="2440508"/>
              </a:xfrm>
              <a:prstGeom prst="rect">
                <a:avLst/>
              </a:prstGeom>
              <a:solidFill>
                <a:srgbClr val="FFF2CC"/>
              </a:soli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tl" dir="2700000" dist="127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47"/>
              <p:cNvSpPr/>
              <p:nvPr/>
            </p:nvSpPr>
            <p:spPr>
              <a:xfrm>
                <a:off x="7769912" y="1969081"/>
                <a:ext cx="3956333" cy="1515098"/>
              </a:xfrm>
              <a:prstGeom prst="rect">
                <a:avLst/>
              </a:prstGeom>
              <a:solidFill>
                <a:srgbClr val="B3C6E7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47"/>
              <p:cNvSpPr txBox="1"/>
              <p:nvPr/>
            </p:nvSpPr>
            <p:spPr>
              <a:xfrm>
                <a:off x="7624243" y="1210562"/>
                <a:ext cx="196842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Main Memory</a:t>
                </a:r>
                <a:endParaRPr/>
              </a:p>
            </p:txBody>
          </p:sp>
          <p:sp>
            <p:nvSpPr>
              <p:cNvPr id="640" name="Google Shape;640;p47"/>
              <p:cNvSpPr txBox="1"/>
              <p:nvPr/>
            </p:nvSpPr>
            <p:spPr>
              <a:xfrm>
                <a:off x="7836450" y="1989610"/>
                <a:ext cx="95359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Buffer</a:t>
                </a:r>
                <a:endParaRPr/>
              </a:p>
            </p:txBody>
          </p:sp>
        </p:grpSp>
        <p:sp>
          <p:nvSpPr>
            <p:cNvPr id="641" name="Google Shape;641;p47"/>
            <p:cNvSpPr/>
            <p:nvPr/>
          </p:nvSpPr>
          <p:spPr>
            <a:xfrm>
              <a:off x="7843740" y="3009498"/>
              <a:ext cx="1127270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47"/>
            <p:cNvSpPr/>
            <p:nvPr/>
          </p:nvSpPr>
          <p:spPr>
            <a:xfrm>
              <a:off x="9055124" y="3009498"/>
              <a:ext cx="1127270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47"/>
            <p:cNvSpPr/>
            <p:nvPr/>
          </p:nvSpPr>
          <p:spPr>
            <a:xfrm>
              <a:off x="10266508" y="3009498"/>
              <a:ext cx="1397214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4" name="Google Shape;644;p47"/>
          <p:cNvSpPr/>
          <p:nvPr/>
        </p:nvSpPr>
        <p:spPr>
          <a:xfrm>
            <a:off x="5806814" y="4444145"/>
            <a:ext cx="1461477" cy="362022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47"/>
          <p:cNvSpPr/>
          <p:nvPr/>
        </p:nvSpPr>
        <p:spPr>
          <a:xfrm rot="10800000">
            <a:off x="5806813" y="4895300"/>
            <a:ext cx="1461478" cy="362022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47"/>
          <p:cNvSpPr txBox="1"/>
          <p:nvPr/>
        </p:nvSpPr>
        <p:spPr>
          <a:xfrm>
            <a:off x="1818776" y="3621104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47"/>
          <p:cNvSpPr txBox="1"/>
          <p:nvPr/>
        </p:nvSpPr>
        <p:spPr>
          <a:xfrm>
            <a:off x="1787809" y="4348926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47"/>
          <p:cNvSpPr/>
          <p:nvPr/>
        </p:nvSpPr>
        <p:spPr>
          <a:xfrm>
            <a:off x="2297163" y="4293583"/>
            <a:ext cx="3296832" cy="574383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47"/>
          <p:cNvSpPr txBox="1"/>
          <p:nvPr/>
        </p:nvSpPr>
        <p:spPr>
          <a:xfrm>
            <a:off x="3468538" y="4378443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(3,g)</a:t>
            </a:r>
            <a:endParaRPr/>
          </a:p>
        </p:txBody>
      </p:sp>
      <p:sp>
        <p:nvSpPr>
          <p:cNvPr id="650" name="Google Shape;650;p47"/>
          <p:cNvSpPr txBox="1"/>
          <p:nvPr/>
        </p:nvSpPr>
        <p:spPr>
          <a:xfrm>
            <a:off x="4531937" y="4377174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(7,f)</a:t>
            </a:r>
            <a:endParaRPr/>
          </a:p>
        </p:txBody>
      </p:sp>
      <p:sp>
        <p:nvSpPr>
          <p:cNvPr id="651" name="Google Shape;651;p47"/>
          <p:cNvSpPr/>
          <p:nvPr/>
        </p:nvSpPr>
        <p:spPr>
          <a:xfrm>
            <a:off x="2311830" y="3513811"/>
            <a:ext cx="3296832" cy="574383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47"/>
          <p:cNvSpPr txBox="1"/>
          <p:nvPr/>
        </p:nvSpPr>
        <p:spPr>
          <a:xfrm>
            <a:off x="3483205" y="3598671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</p:txBody>
      </p:sp>
      <p:sp>
        <p:nvSpPr>
          <p:cNvPr id="653" name="Google Shape;653;p47"/>
          <p:cNvSpPr txBox="1"/>
          <p:nvPr/>
        </p:nvSpPr>
        <p:spPr>
          <a:xfrm>
            <a:off x="4546604" y="3597402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</p:txBody>
      </p:sp>
      <p:sp>
        <p:nvSpPr>
          <p:cNvPr id="654" name="Google Shape;654;p47"/>
          <p:cNvSpPr txBox="1"/>
          <p:nvPr/>
        </p:nvSpPr>
        <p:spPr>
          <a:xfrm>
            <a:off x="1234772" y="5164768"/>
            <a:ext cx="846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47"/>
          <p:cNvSpPr/>
          <p:nvPr/>
        </p:nvSpPr>
        <p:spPr>
          <a:xfrm>
            <a:off x="2291836" y="5100825"/>
            <a:ext cx="3296832" cy="574383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47"/>
          <p:cNvSpPr txBox="1"/>
          <p:nvPr/>
        </p:nvSpPr>
        <p:spPr>
          <a:xfrm>
            <a:off x="8831784" y="4628117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657" name="Google Shape;657;p47"/>
          <p:cNvSpPr txBox="1"/>
          <p:nvPr/>
        </p:nvSpPr>
        <p:spPr>
          <a:xfrm>
            <a:off x="7620400" y="4649161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</p:txBody>
      </p:sp>
      <p:sp>
        <p:nvSpPr>
          <p:cNvPr id="658" name="Google Shape;658;p47"/>
          <p:cNvSpPr txBox="1"/>
          <p:nvPr/>
        </p:nvSpPr>
        <p:spPr>
          <a:xfrm>
            <a:off x="2429218" y="3601783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</p:txBody>
      </p:sp>
      <p:sp>
        <p:nvSpPr>
          <p:cNvPr id="659" name="Google Shape;659;p47"/>
          <p:cNvSpPr txBox="1"/>
          <p:nvPr/>
        </p:nvSpPr>
        <p:spPr>
          <a:xfrm>
            <a:off x="2429218" y="4377174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660" name="Google Shape;660;p47"/>
          <p:cNvSpPr txBox="1"/>
          <p:nvPr/>
        </p:nvSpPr>
        <p:spPr>
          <a:xfrm>
            <a:off x="10043168" y="4627056"/>
            <a:ext cx="1254951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(0,a,j)</a:t>
            </a:r>
            <a:endParaRPr/>
          </a:p>
        </p:txBody>
      </p:sp>
      <p:sp>
        <p:nvSpPr>
          <p:cNvPr id="661" name="Google Shape;661;p47"/>
          <p:cNvSpPr/>
          <p:nvPr/>
        </p:nvSpPr>
        <p:spPr>
          <a:xfrm rot="10800000">
            <a:off x="3843329" y="3293668"/>
            <a:ext cx="228601" cy="273161"/>
          </a:xfrm>
          <a:prstGeom prst="triangle">
            <a:avLst>
              <a:gd fmla="val 50000" name="adj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47"/>
          <p:cNvSpPr/>
          <p:nvPr/>
        </p:nvSpPr>
        <p:spPr>
          <a:xfrm flipH="1">
            <a:off x="3843328" y="4801510"/>
            <a:ext cx="228601" cy="273161"/>
          </a:xfrm>
          <a:prstGeom prst="triangle">
            <a:avLst>
              <a:gd fmla="val 50000" name="adj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3" name="Google Shape;663;p4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64" name="Google Shape;664;p4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47"/>
            <p:cNvSpPr txBox="1"/>
            <p:nvPr/>
          </p:nvSpPr>
          <p:spPr>
            <a:xfrm>
              <a:off x="188780" y="-22510"/>
              <a:ext cx="79380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SMJ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376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671" name="Google Shape;671;p4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2. Scan and “merge” on join key!</a:t>
            </a:r>
            <a:endParaRPr/>
          </a:p>
        </p:txBody>
      </p:sp>
      <p:sp>
        <p:nvSpPr>
          <p:cNvPr id="672" name="Google Shape;672;p48"/>
          <p:cNvSpPr/>
          <p:nvPr/>
        </p:nvSpPr>
        <p:spPr>
          <a:xfrm>
            <a:off x="2210655" y="2928938"/>
            <a:ext cx="3457575" cy="3568500"/>
          </a:xfrm>
          <a:prstGeom prst="can">
            <a:avLst>
              <a:gd fmla="val 13065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48"/>
          <p:cNvSpPr txBox="1"/>
          <p:nvPr/>
        </p:nvSpPr>
        <p:spPr>
          <a:xfrm>
            <a:off x="3513542" y="2400008"/>
            <a:ext cx="88617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4" name="Google Shape;674;p48"/>
          <p:cNvGrpSpPr/>
          <p:nvPr/>
        </p:nvGrpSpPr>
        <p:grpSpPr>
          <a:xfrm>
            <a:off x="7093877" y="2928938"/>
            <a:ext cx="4259923" cy="2456273"/>
            <a:chOff x="7403799" y="1406844"/>
            <a:chExt cx="4259923" cy="2456273"/>
          </a:xfrm>
        </p:grpSpPr>
        <p:grpSp>
          <p:nvGrpSpPr>
            <p:cNvPr id="675" name="Google Shape;675;p48"/>
            <p:cNvGrpSpPr/>
            <p:nvPr/>
          </p:nvGrpSpPr>
          <p:grpSpPr>
            <a:xfrm>
              <a:off x="7403799" y="1406844"/>
              <a:ext cx="4259923" cy="2456273"/>
              <a:chOff x="7466322" y="1027906"/>
              <a:chExt cx="4259923" cy="2456273"/>
            </a:xfrm>
          </p:grpSpPr>
          <p:sp>
            <p:nvSpPr>
              <p:cNvPr id="676" name="Google Shape;676;p48"/>
              <p:cNvSpPr/>
              <p:nvPr/>
            </p:nvSpPr>
            <p:spPr>
              <a:xfrm>
                <a:off x="7466322" y="1027906"/>
                <a:ext cx="4252691" cy="2440508"/>
              </a:xfrm>
              <a:prstGeom prst="rect">
                <a:avLst/>
              </a:prstGeom>
              <a:solidFill>
                <a:srgbClr val="FFF2CC"/>
              </a:soli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tl" dir="2700000" dist="127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48"/>
              <p:cNvSpPr/>
              <p:nvPr/>
            </p:nvSpPr>
            <p:spPr>
              <a:xfrm>
                <a:off x="7769912" y="1969081"/>
                <a:ext cx="3956333" cy="1515098"/>
              </a:xfrm>
              <a:prstGeom prst="rect">
                <a:avLst/>
              </a:prstGeom>
              <a:solidFill>
                <a:srgbClr val="B3C6E7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48"/>
              <p:cNvSpPr txBox="1"/>
              <p:nvPr/>
            </p:nvSpPr>
            <p:spPr>
              <a:xfrm>
                <a:off x="7624243" y="1210562"/>
                <a:ext cx="196842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Main Memory</a:t>
                </a:r>
                <a:endParaRPr/>
              </a:p>
            </p:txBody>
          </p:sp>
          <p:sp>
            <p:nvSpPr>
              <p:cNvPr id="679" name="Google Shape;679;p48"/>
              <p:cNvSpPr txBox="1"/>
              <p:nvPr/>
            </p:nvSpPr>
            <p:spPr>
              <a:xfrm>
                <a:off x="7836450" y="1989610"/>
                <a:ext cx="95359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Buffer</a:t>
                </a:r>
                <a:endParaRPr/>
              </a:p>
            </p:txBody>
          </p:sp>
        </p:grpSp>
        <p:sp>
          <p:nvSpPr>
            <p:cNvPr id="680" name="Google Shape;680;p48"/>
            <p:cNvSpPr/>
            <p:nvPr/>
          </p:nvSpPr>
          <p:spPr>
            <a:xfrm>
              <a:off x="7843740" y="3009498"/>
              <a:ext cx="1127270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48"/>
            <p:cNvSpPr/>
            <p:nvPr/>
          </p:nvSpPr>
          <p:spPr>
            <a:xfrm>
              <a:off x="9055124" y="3009498"/>
              <a:ext cx="1127270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48"/>
            <p:cNvSpPr/>
            <p:nvPr/>
          </p:nvSpPr>
          <p:spPr>
            <a:xfrm>
              <a:off x="10266508" y="3009498"/>
              <a:ext cx="1389982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3" name="Google Shape;683;p48"/>
          <p:cNvSpPr/>
          <p:nvPr/>
        </p:nvSpPr>
        <p:spPr>
          <a:xfrm>
            <a:off x="5806814" y="4444145"/>
            <a:ext cx="1461477" cy="362022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48"/>
          <p:cNvSpPr/>
          <p:nvPr/>
        </p:nvSpPr>
        <p:spPr>
          <a:xfrm rot="10800000">
            <a:off x="5806813" y="4895300"/>
            <a:ext cx="1461478" cy="362022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48"/>
          <p:cNvSpPr txBox="1"/>
          <p:nvPr/>
        </p:nvSpPr>
        <p:spPr>
          <a:xfrm>
            <a:off x="1818776" y="3621104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48"/>
          <p:cNvSpPr txBox="1"/>
          <p:nvPr/>
        </p:nvSpPr>
        <p:spPr>
          <a:xfrm>
            <a:off x="1787809" y="4348926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48"/>
          <p:cNvSpPr/>
          <p:nvPr/>
        </p:nvSpPr>
        <p:spPr>
          <a:xfrm>
            <a:off x="2297163" y="4293583"/>
            <a:ext cx="3296832" cy="574383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48"/>
          <p:cNvSpPr txBox="1"/>
          <p:nvPr/>
        </p:nvSpPr>
        <p:spPr>
          <a:xfrm>
            <a:off x="3468538" y="4378443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(3,g)</a:t>
            </a:r>
            <a:endParaRPr/>
          </a:p>
        </p:txBody>
      </p:sp>
      <p:sp>
        <p:nvSpPr>
          <p:cNvPr id="689" name="Google Shape;689;p48"/>
          <p:cNvSpPr txBox="1"/>
          <p:nvPr/>
        </p:nvSpPr>
        <p:spPr>
          <a:xfrm>
            <a:off x="4531937" y="4377174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(7,f)</a:t>
            </a:r>
            <a:endParaRPr/>
          </a:p>
        </p:txBody>
      </p:sp>
      <p:sp>
        <p:nvSpPr>
          <p:cNvPr id="690" name="Google Shape;690;p48"/>
          <p:cNvSpPr/>
          <p:nvPr/>
        </p:nvSpPr>
        <p:spPr>
          <a:xfrm>
            <a:off x="2311830" y="3513811"/>
            <a:ext cx="3296832" cy="574383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48"/>
          <p:cNvSpPr txBox="1"/>
          <p:nvPr/>
        </p:nvSpPr>
        <p:spPr>
          <a:xfrm>
            <a:off x="3483205" y="3598671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</p:txBody>
      </p:sp>
      <p:sp>
        <p:nvSpPr>
          <p:cNvPr id="692" name="Google Shape;692;p48"/>
          <p:cNvSpPr txBox="1"/>
          <p:nvPr/>
        </p:nvSpPr>
        <p:spPr>
          <a:xfrm>
            <a:off x="4546604" y="3597402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</p:txBody>
      </p:sp>
      <p:sp>
        <p:nvSpPr>
          <p:cNvPr id="693" name="Google Shape;693;p48"/>
          <p:cNvSpPr txBox="1"/>
          <p:nvPr/>
        </p:nvSpPr>
        <p:spPr>
          <a:xfrm>
            <a:off x="1234772" y="5164768"/>
            <a:ext cx="846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48"/>
          <p:cNvSpPr/>
          <p:nvPr/>
        </p:nvSpPr>
        <p:spPr>
          <a:xfrm>
            <a:off x="2291836" y="5100825"/>
            <a:ext cx="3296832" cy="574383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48"/>
          <p:cNvSpPr txBox="1"/>
          <p:nvPr/>
        </p:nvSpPr>
        <p:spPr>
          <a:xfrm>
            <a:off x="2429218" y="3601783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</p:txBody>
      </p:sp>
      <p:sp>
        <p:nvSpPr>
          <p:cNvPr id="696" name="Google Shape;696;p48"/>
          <p:cNvSpPr txBox="1"/>
          <p:nvPr/>
        </p:nvSpPr>
        <p:spPr>
          <a:xfrm>
            <a:off x="2429218" y="4377174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697" name="Google Shape;697;p48"/>
          <p:cNvSpPr txBox="1"/>
          <p:nvPr/>
        </p:nvSpPr>
        <p:spPr>
          <a:xfrm>
            <a:off x="2454296" y="5201947"/>
            <a:ext cx="1356420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(0,a,j)</a:t>
            </a:r>
            <a:endParaRPr sz="20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48"/>
          <p:cNvSpPr txBox="1"/>
          <p:nvPr/>
        </p:nvSpPr>
        <p:spPr>
          <a:xfrm>
            <a:off x="10043167" y="4645227"/>
            <a:ext cx="1254951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(3,j,g)</a:t>
            </a:r>
            <a:endParaRPr sz="20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48"/>
          <p:cNvSpPr txBox="1"/>
          <p:nvPr/>
        </p:nvSpPr>
        <p:spPr>
          <a:xfrm>
            <a:off x="3475239" y="3621104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</p:txBody>
      </p:sp>
      <p:sp>
        <p:nvSpPr>
          <p:cNvPr id="700" name="Google Shape;700;p48"/>
          <p:cNvSpPr txBox="1"/>
          <p:nvPr/>
        </p:nvSpPr>
        <p:spPr>
          <a:xfrm>
            <a:off x="3458897" y="4397815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(3,g)</a:t>
            </a:r>
            <a:endParaRPr/>
          </a:p>
        </p:txBody>
      </p:sp>
      <p:sp>
        <p:nvSpPr>
          <p:cNvPr id="701" name="Google Shape;701;p48"/>
          <p:cNvSpPr txBox="1"/>
          <p:nvPr/>
        </p:nvSpPr>
        <p:spPr>
          <a:xfrm>
            <a:off x="4537168" y="3604459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</p:txBody>
      </p:sp>
      <p:sp>
        <p:nvSpPr>
          <p:cNvPr id="702" name="Google Shape;702;p48"/>
          <p:cNvSpPr txBox="1"/>
          <p:nvPr/>
        </p:nvSpPr>
        <p:spPr>
          <a:xfrm>
            <a:off x="4521613" y="4397815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(7,f)</a:t>
            </a:r>
            <a:endParaRPr/>
          </a:p>
        </p:txBody>
      </p:sp>
      <p:sp>
        <p:nvSpPr>
          <p:cNvPr id="703" name="Google Shape;703;p48"/>
          <p:cNvSpPr/>
          <p:nvPr/>
        </p:nvSpPr>
        <p:spPr>
          <a:xfrm rot="10800000">
            <a:off x="3788771" y="3286005"/>
            <a:ext cx="228601" cy="273161"/>
          </a:xfrm>
          <a:prstGeom prst="triangle">
            <a:avLst>
              <a:gd fmla="val 50000" name="adj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48"/>
          <p:cNvSpPr/>
          <p:nvPr/>
        </p:nvSpPr>
        <p:spPr>
          <a:xfrm flipH="1">
            <a:off x="3788770" y="4793847"/>
            <a:ext cx="228601" cy="273161"/>
          </a:xfrm>
          <a:prstGeom prst="triangle">
            <a:avLst>
              <a:gd fmla="val 50000" name="adj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5" name="Google Shape;705;p4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06" name="Google Shape;706;p4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48"/>
            <p:cNvSpPr txBox="1"/>
            <p:nvPr/>
          </p:nvSpPr>
          <p:spPr>
            <a:xfrm>
              <a:off x="188780" y="-22510"/>
              <a:ext cx="79380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SMJ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376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713" name="Google Shape;713;p4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2. Done!</a:t>
            </a:r>
            <a:endParaRPr/>
          </a:p>
        </p:txBody>
      </p:sp>
      <p:sp>
        <p:nvSpPr>
          <p:cNvPr id="714" name="Google Shape;714;p49"/>
          <p:cNvSpPr/>
          <p:nvPr/>
        </p:nvSpPr>
        <p:spPr>
          <a:xfrm>
            <a:off x="2210655" y="2928938"/>
            <a:ext cx="3457575" cy="3568500"/>
          </a:xfrm>
          <a:prstGeom prst="can">
            <a:avLst>
              <a:gd fmla="val 13065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49"/>
          <p:cNvSpPr txBox="1"/>
          <p:nvPr/>
        </p:nvSpPr>
        <p:spPr>
          <a:xfrm>
            <a:off x="3513542" y="2400008"/>
            <a:ext cx="88617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6" name="Google Shape;716;p49"/>
          <p:cNvGrpSpPr/>
          <p:nvPr/>
        </p:nvGrpSpPr>
        <p:grpSpPr>
          <a:xfrm>
            <a:off x="7093877" y="2928938"/>
            <a:ext cx="4259923" cy="2456273"/>
            <a:chOff x="7403799" y="1406844"/>
            <a:chExt cx="4259923" cy="2456273"/>
          </a:xfrm>
        </p:grpSpPr>
        <p:grpSp>
          <p:nvGrpSpPr>
            <p:cNvPr id="717" name="Google Shape;717;p49"/>
            <p:cNvGrpSpPr/>
            <p:nvPr/>
          </p:nvGrpSpPr>
          <p:grpSpPr>
            <a:xfrm>
              <a:off x="7403799" y="1406844"/>
              <a:ext cx="4259923" cy="2456273"/>
              <a:chOff x="7466322" y="1027906"/>
              <a:chExt cx="4259923" cy="2456273"/>
            </a:xfrm>
          </p:grpSpPr>
          <p:sp>
            <p:nvSpPr>
              <p:cNvPr id="718" name="Google Shape;718;p49"/>
              <p:cNvSpPr/>
              <p:nvPr/>
            </p:nvSpPr>
            <p:spPr>
              <a:xfrm>
                <a:off x="7466322" y="1027906"/>
                <a:ext cx="4252691" cy="2440508"/>
              </a:xfrm>
              <a:prstGeom prst="rect">
                <a:avLst/>
              </a:prstGeom>
              <a:solidFill>
                <a:srgbClr val="FFF2CC"/>
              </a:soli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tl" dir="2700000" dist="127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49"/>
              <p:cNvSpPr/>
              <p:nvPr/>
            </p:nvSpPr>
            <p:spPr>
              <a:xfrm>
                <a:off x="7769912" y="1969081"/>
                <a:ext cx="3956333" cy="1515098"/>
              </a:xfrm>
              <a:prstGeom prst="rect">
                <a:avLst/>
              </a:prstGeom>
              <a:solidFill>
                <a:srgbClr val="B3C6E7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49"/>
              <p:cNvSpPr txBox="1"/>
              <p:nvPr/>
            </p:nvSpPr>
            <p:spPr>
              <a:xfrm>
                <a:off x="7624243" y="1210562"/>
                <a:ext cx="196842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Main Memory</a:t>
                </a:r>
                <a:endParaRPr/>
              </a:p>
            </p:txBody>
          </p:sp>
          <p:sp>
            <p:nvSpPr>
              <p:cNvPr id="721" name="Google Shape;721;p49"/>
              <p:cNvSpPr txBox="1"/>
              <p:nvPr/>
            </p:nvSpPr>
            <p:spPr>
              <a:xfrm>
                <a:off x="7836450" y="1989610"/>
                <a:ext cx="95359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Buffer</a:t>
                </a:r>
                <a:endParaRPr/>
              </a:p>
            </p:txBody>
          </p:sp>
        </p:grpSp>
        <p:sp>
          <p:nvSpPr>
            <p:cNvPr id="722" name="Google Shape;722;p49"/>
            <p:cNvSpPr/>
            <p:nvPr/>
          </p:nvSpPr>
          <p:spPr>
            <a:xfrm>
              <a:off x="7843740" y="3009498"/>
              <a:ext cx="1127270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49"/>
            <p:cNvSpPr/>
            <p:nvPr/>
          </p:nvSpPr>
          <p:spPr>
            <a:xfrm>
              <a:off x="9055124" y="3009498"/>
              <a:ext cx="1127270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49"/>
            <p:cNvSpPr/>
            <p:nvPr/>
          </p:nvSpPr>
          <p:spPr>
            <a:xfrm>
              <a:off x="10266508" y="3009498"/>
              <a:ext cx="1127270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5" name="Google Shape;725;p49"/>
          <p:cNvSpPr/>
          <p:nvPr/>
        </p:nvSpPr>
        <p:spPr>
          <a:xfrm>
            <a:off x="5806814" y="4444145"/>
            <a:ext cx="1461477" cy="362022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49"/>
          <p:cNvSpPr/>
          <p:nvPr/>
        </p:nvSpPr>
        <p:spPr>
          <a:xfrm rot="10800000">
            <a:off x="5806813" y="4895300"/>
            <a:ext cx="1461478" cy="362022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49"/>
          <p:cNvSpPr txBox="1"/>
          <p:nvPr/>
        </p:nvSpPr>
        <p:spPr>
          <a:xfrm>
            <a:off x="1818776" y="3621104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49"/>
          <p:cNvSpPr txBox="1"/>
          <p:nvPr/>
        </p:nvSpPr>
        <p:spPr>
          <a:xfrm>
            <a:off x="1787809" y="4348926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49"/>
          <p:cNvSpPr/>
          <p:nvPr/>
        </p:nvSpPr>
        <p:spPr>
          <a:xfrm>
            <a:off x="2297163" y="4293583"/>
            <a:ext cx="3296832" cy="574383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49"/>
          <p:cNvSpPr txBox="1"/>
          <p:nvPr/>
        </p:nvSpPr>
        <p:spPr>
          <a:xfrm>
            <a:off x="3468538" y="4378443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3,g</a:t>
            </a:r>
            <a:endParaRPr/>
          </a:p>
        </p:txBody>
      </p:sp>
      <p:sp>
        <p:nvSpPr>
          <p:cNvPr id="731" name="Google Shape;731;p49"/>
          <p:cNvSpPr txBox="1"/>
          <p:nvPr/>
        </p:nvSpPr>
        <p:spPr>
          <a:xfrm>
            <a:off x="4531937" y="4377174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7,f</a:t>
            </a:r>
            <a:endParaRPr/>
          </a:p>
        </p:txBody>
      </p:sp>
      <p:sp>
        <p:nvSpPr>
          <p:cNvPr id="732" name="Google Shape;732;p49"/>
          <p:cNvSpPr/>
          <p:nvPr/>
        </p:nvSpPr>
        <p:spPr>
          <a:xfrm>
            <a:off x="2311830" y="3513811"/>
            <a:ext cx="3296832" cy="574383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49"/>
          <p:cNvSpPr txBox="1"/>
          <p:nvPr/>
        </p:nvSpPr>
        <p:spPr>
          <a:xfrm>
            <a:off x="3483205" y="3598671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3,j</a:t>
            </a:r>
            <a:endParaRPr/>
          </a:p>
        </p:txBody>
      </p:sp>
      <p:sp>
        <p:nvSpPr>
          <p:cNvPr id="734" name="Google Shape;734;p49"/>
          <p:cNvSpPr txBox="1"/>
          <p:nvPr/>
        </p:nvSpPr>
        <p:spPr>
          <a:xfrm>
            <a:off x="4546604" y="3597402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5,b</a:t>
            </a:r>
            <a:endParaRPr/>
          </a:p>
        </p:txBody>
      </p:sp>
      <p:sp>
        <p:nvSpPr>
          <p:cNvPr id="735" name="Google Shape;735;p49"/>
          <p:cNvSpPr txBox="1"/>
          <p:nvPr/>
        </p:nvSpPr>
        <p:spPr>
          <a:xfrm>
            <a:off x="1234772" y="5164768"/>
            <a:ext cx="846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49"/>
          <p:cNvSpPr/>
          <p:nvPr/>
        </p:nvSpPr>
        <p:spPr>
          <a:xfrm>
            <a:off x="2291836" y="5100825"/>
            <a:ext cx="3296832" cy="574383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49"/>
          <p:cNvSpPr txBox="1"/>
          <p:nvPr/>
        </p:nvSpPr>
        <p:spPr>
          <a:xfrm>
            <a:off x="2429218" y="3601783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</p:txBody>
      </p:sp>
      <p:sp>
        <p:nvSpPr>
          <p:cNvPr id="738" name="Google Shape;738;p49"/>
          <p:cNvSpPr txBox="1"/>
          <p:nvPr/>
        </p:nvSpPr>
        <p:spPr>
          <a:xfrm>
            <a:off x="2429218" y="4377174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739" name="Google Shape;739;p49"/>
          <p:cNvSpPr txBox="1"/>
          <p:nvPr/>
        </p:nvSpPr>
        <p:spPr>
          <a:xfrm>
            <a:off x="2454296" y="5201947"/>
            <a:ext cx="1254104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(0,a,j)</a:t>
            </a:r>
            <a:endParaRPr sz="20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49"/>
          <p:cNvSpPr txBox="1"/>
          <p:nvPr/>
        </p:nvSpPr>
        <p:spPr>
          <a:xfrm>
            <a:off x="3475239" y="3621104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</p:txBody>
      </p:sp>
      <p:sp>
        <p:nvSpPr>
          <p:cNvPr id="741" name="Google Shape;741;p49"/>
          <p:cNvSpPr txBox="1"/>
          <p:nvPr/>
        </p:nvSpPr>
        <p:spPr>
          <a:xfrm>
            <a:off x="3458897" y="4397815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(3,g)</a:t>
            </a:r>
            <a:endParaRPr/>
          </a:p>
        </p:txBody>
      </p:sp>
      <p:sp>
        <p:nvSpPr>
          <p:cNvPr id="742" name="Google Shape;742;p49"/>
          <p:cNvSpPr txBox="1"/>
          <p:nvPr/>
        </p:nvSpPr>
        <p:spPr>
          <a:xfrm>
            <a:off x="3798265" y="5201947"/>
            <a:ext cx="1282589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(3,j,g)</a:t>
            </a:r>
            <a:endParaRPr sz="20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49"/>
          <p:cNvSpPr txBox="1"/>
          <p:nvPr/>
        </p:nvSpPr>
        <p:spPr>
          <a:xfrm>
            <a:off x="4537168" y="3604459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</p:txBody>
      </p:sp>
      <p:sp>
        <p:nvSpPr>
          <p:cNvPr id="744" name="Google Shape;744;p49"/>
          <p:cNvSpPr txBox="1"/>
          <p:nvPr/>
        </p:nvSpPr>
        <p:spPr>
          <a:xfrm>
            <a:off x="4521613" y="4397815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(7,f)</a:t>
            </a:r>
            <a:endParaRPr/>
          </a:p>
        </p:txBody>
      </p:sp>
      <p:sp>
        <p:nvSpPr>
          <p:cNvPr id="745" name="Google Shape;745;p49"/>
          <p:cNvSpPr/>
          <p:nvPr/>
        </p:nvSpPr>
        <p:spPr>
          <a:xfrm rot="10800000">
            <a:off x="4855359" y="3290947"/>
            <a:ext cx="228601" cy="273161"/>
          </a:xfrm>
          <a:prstGeom prst="triangle">
            <a:avLst>
              <a:gd fmla="val 50000" name="adj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49"/>
          <p:cNvSpPr/>
          <p:nvPr/>
        </p:nvSpPr>
        <p:spPr>
          <a:xfrm flipH="1">
            <a:off x="4855358" y="4798789"/>
            <a:ext cx="228601" cy="273161"/>
          </a:xfrm>
          <a:prstGeom prst="triangle">
            <a:avLst>
              <a:gd fmla="val 50000" name="adj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7" name="Google Shape;747;p4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48" name="Google Shape;748;p4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49"/>
            <p:cNvSpPr txBox="1"/>
            <p:nvPr/>
          </p:nvSpPr>
          <p:spPr>
            <a:xfrm>
              <a:off x="188780" y="-22510"/>
              <a:ext cx="79380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SMJ</a:t>
              </a:r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50"/>
          <p:cNvSpPr txBox="1"/>
          <p:nvPr>
            <p:ph type="title"/>
          </p:nvPr>
        </p:nvSpPr>
        <p:spPr>
          <a:xfrm>
            <a:off x="1981200" y="322628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What happens with duplicate join keys?</a:t>
            </a:r>
            <a:endParaRPr/>
          </a:p>
        </p:txBody>
      </p:sp>
      <p:grpSp>
        <p:nvGrpSpPr>
          <p:cNvPr id="755" name="Google Shape;755;p5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56" name="Google Shape;756;p5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50"/>
            <p:cNvSpPr txBox="1"/>
            <p:nvPr/>
          </p:nvSpPr>
          <p:spPr>
            <a:xfrm>
              <a:off x="188780" y="-22510"/>
              <a:ext cx="102944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Backup</a:t>
              </a:r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Multiple tuples with Same Join Key: “Backup”</a:t>
            </a:r>
            <a:endParaRPr/>
          </a:p>
        </p:txBody>
      </p:sp>
      <p:sp>
        <p:nvSpPr>
          <p:cNvPr id="763" name="Google Shape;763;p5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1. Start with sorted relations, and begin scan / merge…</a:t>
            </a:r>
            <a:endParaRPr/>
          </a:p>
        </p:txBody>
      </p:sp>
      <p:sp>
        <p:nvSpPr>
          <p:cNvPr id="764" name="Google Shape;764;p51"/>
          <p:cNvSpPr/>
          <p:nvPr/>
        </p:nvSpPr>
        <p:spPr>
          <a:xfrm>
            <a:off x="2210655" y="2928938"/>
            <a:ext cx="3457575" cy="3568500"/>
          </a:xfrm>
          <a:prstGeom prst="can">
            <a:avLst>
              <a:gd fmla="val 13065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51"/>
          <p:cNvSpPr txBox="1"/>
          <p:nvPr/>
        </p:nvSpPr>
        <p:spPr>
          <a:xfrm>
            <a:off x="3513542" y="2400008"/>
            <a:ext cx="88617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66" name="Google Shape;766;p51"/>
          <p:cNvGrpSpPr/>
          <p:nvPr/>
        </p:nvGrpSpPr>
        <p:grpSpPr>
          <a:xfrm>
            <a:off x="7093877" y="2928938"/>
            <a:ext cx="4259923" cy="2456273"/>
            <a:chOff x="7403799" y="1406844"/>
            <a:chExt cx="4259923" cy="2456273"/>
          </a:xfrm>
        </p:grpSpPr>
        <p:grpSp>
          <p:nvGrpSpPr>
            <p:cNvPr id="767" name="Google Shape;767;p51"/>
            <p:cNvGrpSpPr/>
            <p:nvPr/>
          </p:nvGrpSpPr>
          <p:grpSpPr>
            <a:xfrm>
              <a:off x="7403799" y="1406844"/>
              <a:ext cx="4259923" cy="2456273"/>
              <a:chOff x="7466322" y="1027906"/>
              <a:chExt cx="4259923" cy="2456273"/>
            </a:xfrm>
          </p:grpSpPr>
          <p:sp>
            <p:nvSpPr>
              <p:cNvPr id="768" name="Google Shape;768;p51"/>
              <p:cNvSpPr/>
              <p:nvPr/>
            </p:nvSpPr>
            <p:spPr>
              <a:xfrm>
                <a:off x="7466322" y="1027906"/>
                <a:ext cx="4252691" cy="2440508"/>
              </a:xfrm>
              <a:prstGeom prst="rect">
                <a:avLst/>
              </a:prstGeom>
              <a:solidFill>
                <a:srgbClr val="FFF2CC"/>
              </a:soli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tl" dir="2700000" dist="127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51"/>
              <p:cNvSpPr/>
              <p:nvPr/>
            </p:nvSpPr>
            <p:spPr>
              <a:xfrm>
                <a:off x="7769912" y="1969081"/>
                <a:ext cx="3956333" cy="1515098"/>
              </a:xfrm>
              <a:prstGeom prst="rect">
                <a:avLst/>
              </a:prstGeom>
              <a:solidFill>
                <a:srgbClr val="B3C6E7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51"/>
              <p:cNvSpPr txBox="1"/>
              <p:nvPr/>
            </p:nvSpPr>
            <p:spPr>
              <a:xfrm>
                <a:off x="7624243" y="1210562"/>
                <a:ext cx="196842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Main Memory</a:t>
                </a:r>
                <a:endParaRPr/>
              </a:p>
            </p:txBody>
          </p:sp>
          <p:sp>
            <p:nvSpPr>
              <p:cNvPr id="771" name="Google Shape;771;p51"/>
              <p:cNvSpPr txBox="1"/>
              <p:nvPr/>
            </p:nvSpPr>
            <p:spPr>
              <a:xfrm>
                <a:off x="7836450" y="1989610"/>
                <a:ext cx="95359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Buffer</a:t>
                </a:r>
                <a:endParaRPr/>
              </a:p>
            </p:txBody>
          </p:sp>
        </p:grpSp>
        <p:sp>
          <p:nvSpPr>
            <p:cNvPr id="772" name="Google Shape;772;p51"/>
            <p:cNvSpPr/>
            <p:nvPr/>
          </p:nvSpPr>
          <p:spPr>
            <a:xfrm>
              <a:off x="7843740" y="3009498"/>
              <a:ext cx="1127270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51"/>
            <p:cNvSpPr/>
            <p:nvPr/>
          </p:nvSpPr>
          <p:spPr>
            <a:xfrm>
              <a:off x="9055124" y="3009498"/>
              <a:ext cx="1127270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51"/>
            <p:cNvSpPr/>
            <p:nvPr/>
          </p:nvSpPr>
          <p:spPr>
            <a:xfrm>
              <a:off x="10266508" y="3009498"/>
              <a:ext cx="1127270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5" name="Google Shape;775;p51"/>
          <p:cNvSpPr/>
          <p:nvPr/>
        </p:nvSpPr>
        <p:spPr>
          <a:xfrm>
            <a:off x="5806814" y="4444145"/>
            <a:ext cx="1461477" cy="362022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51"/>
          <p:cNvSpPr/>
          <p:nvPr/>
        </p:nvSpPr>
        <p:spPr>
          <a:xfrm rot="10800000">
            <a:off x="5806813" y="4895300"/>
            <a:ext cx="1461478" cy="362022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51"/>
          <p:cNvSpPr txBox="1"/>
          <p:nvPr/>
        </p:nvSpPr>
        <p:spPr>
          <a:xfrm>
            <a:off x="1818776" y="3621104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51"/>
          <p:cNvSpPr txBox="1"/>
          <p:nvPr/>
        </p:nvSpPr>
        <p:spPr>
          <a:xfrm>
            <a:off x="1787809" y="4348926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51"/>
          <p:cNvSpPr/>
          <p:nvPr/>
        </p:nvSpPr>
        <p:spPr>
          <a:xfrm>
            <a:off x="2297163" y="4293583"/>
            <a:ext cx="3296832" cy="574383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51"/>
          <p:cNvSpPr txBox="1"/>
          <p:nvPr/>
        </p:nvSpPr>
        <p:spPr>
          <a:xfrm>
            <a:off x="3468538" y="4378443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3,g</a:t>
            </a:r>
            <a:endParaRPr/>
          </a:p>
        </p:txBody>
      </p:sp>
      <p:sp>
        <p:nvSpPr>
          <p:cNvPr id="781" name="Google Shape;781;p51"/>
          <p:cNvSpPr txBox="1"/>
          <p:nvPr/>
        </p:nvSpPr>
        <p:spPr>
          <a:xfrm>
            <a:off x="4531937" y="4377174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7,f</a:t>
            </a:r>
            <a:endParaRPr/>
          </a:p>
        </p:txBody>
      </p:sp>
      <p:sp>
        <p:nvSpPr>
          <p:cNvPr id="782" name="Google Shape;782;p51"/>
          <p:cNvSpPr/>
          <p:nvPr/>
        </p:nvSpPr>
        <p:spPr>
          <a:xfrm>
            <a:off x="2311830" y="3513811"/>
            <a:ext cx="3296832" cy="574383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51"/>
          <p:cNvSpPr txBox="1"/>
          <p:nvPr/>
        </p:nvSpPr>
        <p:spPr>
          <a:xfrm>
            <a:off x="3483205" y="3598671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3,j</a:t>
            </a:r>
            <a:endParaRPr/>
          </a:p>
        </p:txBody>
      </p:sp>
      <p:sp>
        <p:nvSpPr>
          <p:cNvPr id="784" name="Google Shape;784;p51"/>
          <p:cNvSpPr txBox="1"/>
          <p:nvPr/>
        </p:nvSpPr>
        <p:spPr>
          <a:xfrm>
            <a:off x="4546604" y="3597402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5,b</a:t>
            </a:r>
            <a:endParaRPr/>
          </a:p>
        </p:txBody>
      </p:sp>
      <p:sp>
        <p:nvSpPr>
          <p:cNvPr id="785" name="Google Shape;785;p51"/>
          <p:cNvSpPr txBox="1"/>
          <p:nvPr/>
        </p:nvSpPr>
        <p:spPr>
          <a:xfrm>
            <a:off x="1234772" y="5164768"/>
            <a:ext cx="846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51"/>
          <p:cNvSpPr/>
          <p:nvPr/>
        </p:nvSpPr>
        <p:spPr>
          <a:xfrm>
            <a:off x="2291836" y="5100825"/>
            <a:ext cx="3296832" cy="574383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51"/>
          <p:cNvSpPr txBox="1"/>
          <p:nvPr/>
        </p:nvSpPr>
        <p:spPr>
          <a:xfrm>
            <a:off x="3475239" y="3621104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788" name="Google Shape;788;p51"/>
          <p:cNvSpPr txBox="1"/>
          <p:nvPr/>
        </p:nvSpPr>
        <p:spPr>
          <a:xfrm>
            <a:off x="3458897" y="4397815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(0,g)</a:t>
            </a:r>
            <a:endParaRPr/>
          </a:p>
        </p:txBody>
      </p:sp>
      <p:sp>
        <p:nvSpPr>
          <p:cNvPr id="789" name="Google Shape;789;p51"/>
          <p:cNvSpPr txBox="1"/>
          <p:nvPr/>
        </p:nvSpPr>
        <p:spPr>
          <a:xfrm>
            <a:off x="4537168" y="3604459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(0,b)</a:t>
            </a:r>
            <a:endParaRPr/>
          </a:p>
        </p:txBody>
      </p:sp>
      <p:sp>
        <p:nvSpPr>
          <p:cNvPr id="790" name="Google Shape;790;p51"/>
          <p:cNvSpPr txBox="1"/>
          <p:nvPr/>
        </p:nvSpPr>
        <p:spPr>
          <a:xfrm>
            <a:off x="4521613" y="4397815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(7,f)</a:t>
            </a:r>
            <a:endParaRPr/>
          </a:p>
        </p:txBody>
      </p:sp>
      <p:sp>
        <p:nvSpPr>
          <p:cNvPr id="791" name="Google Shape;791;p51"/>
          <p:cNvSpPr txBox="1"/>
          <p:nvPr/>
        </p:nvSpPr>
        <p:spPr>
          <a:xfrm>
            <a:off x="2437184" y="3577853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</p:txBody>
      </p:sp>
      <p:sp>
        <p:nvSpPr>
          <p:cNvPr id="792" name="Google Shape;792;p51"/>
          <p:cNvSpPr txBox="1"/>
          <p:nvPr/>
        </p:nvSpPr>
        <p:spPr>
          <a:xfrm>
            <a:off x="2429218" y="4377174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793" name="Google Shape;793;p51"/>
          <p:cNvSpPr txBox="1"/>
          <p:nvPr/>
        </p:nvSpPr>
        <p:spPr>
          <a:xfrm>
            <a:off x="2429218" y="3601783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</p:txBody>
      </p:sp>
      <p:sp>
        <p:nvSpPr>
          <p:cNvPr id="794" name="Google Shape;794;p51"/>
          <p:cNvSpPr txBox="1"/>
          <p:nvPr/>
        </p:nvSpPr>
        <p:spPr>
          <a:xfrm>
            <a:off x="2419191" y="4377174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795" name="Google Shape;795;p51"/>
          <p:cNvSpPr/>
          <p:nvPr/>
        </p:nvSpPr>
        <p:spPr>
          <a:xfrm rot="10800000">
            <a:off x="2796942" y="3254581"/>
            <a:ext cx="228601" cy="273161"/>
          </a:xfrm>
          <a:prstGeom prst="triangle">
            <a:avLst>
              <a:gd fmla="val 50000" name="adj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51"/>
          <p:cNvSpPr/>
          <p:nvPr/>
        </p:nvSpPr>
        <p:spPr>
          <a:xfrm flipH="1">
            <a:off x="2796941" y="4762423"/>
            <a:ext cx="228601" cy="273161"/>
          </a:xfrm>
          <a:prstGeom prst="triangle">
            <a:avLst>
              <a:gd fmla="val 50000" name="adj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97" name="Google Shape;797;p5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98" name="Google Shape;798;p5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51"/>
            <p:cNvSpPr txBox="1"/>
            <p:nvPr/>
          </p:nvSpPr>
          <p:spPr>
            <a:xfrm>
              <a:off x="188780" y="-22510"/>
              <a:ext cx="102944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Backup</a:t>
              </a:r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5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1. Start with sorted relations, and begin scan / merge…</a:t>
            </a:r>
            <a:endParaRPr/>
          </a:p>
        </p:txBody>
      </p:sp>
      <p:sp>
        <p:nvSpPr>
          <p:cNvPr id="805" name="Google Shape;805;p52"/>
          <p:cNvSpPr/>
          <p:nvPr/>
        </p:nvSpPr>
        <p:spPr>
          <a:xfrm>
            <a:off x="2210655" y="2928938"/>
            <a:ext cx="3457575" cy="3568500"/>
          </a:xfrm>
          <a:prstGeom prst="can">
            <a:avLst>
              <a:gd fmla="val 13065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52"/>
          <p:cNvSpPr txBox="1"/>
          <p:nvPr/>
        </p:nvSpPr>
        <p:spPr>
          <a:xfrm>
            <a:off x="3513542" y="2400008"/>
            <a:ext cx="88617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7" name="Google Shape;807;p52"/>
          <p:cNvGrpSpPr/>
          <p:nvPr/>
        </p:nvGrpSpPr>
        <p:grpSpPr>
          <a:xfrm>
            <a:off x="7093877" y="2928938"/>
            <a:ext cx="4269563" cy="2456273"/>
            <a:chOff x="7403799" y="1406844"/>
            <a:chExt cx="4269563" cy="2456273"/>
          </a:xfrm>
        </p:grpSpPr>
        <p:grpSp>
          <p:nvGrpSpPr>
            <p:cNvPr id="808" name="Google Shape;808;p52"/>
            <p:cNvGrpSpPr/>
            <p:nvPr/>
          </p:nvGrpSpPr>
          <p:grpSpPr>
            <a:xfrm>
              <a:off x="7403799" y="1406844"/>
              <a:ext cx="4259923" cy="2456273"/>
              <a:chOff x="7466322" y="1027906"/>
              <a:chExt cx="4259923" cy="2456273"/>
            </a:xfrm>
          </p:grpSpPr>
          <p:sp>
            <p:nvSpPr>
              <p:cNvPr id="809" name="Google Shape;809;p52"/>
              <p:cNvSpPr/>
              <p:nvPr/>
            </p:nvSpPr>
            <p:spPr>
              <a:xfrm>
                <a:off x="7466322" y="1027906"/>
                <a:ext cx="4252691" cy="2440508"/>
              </a:xfrm>
              <a:prstGeom prst="rect">
                <a:avLst/>
              </a:prstGeom>
              <a:solidFill>
                <a:srgbClr val="FFF2CC"/>
              </a:soli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tl" dir="2700000" dist="127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52"/>
              <p:cNvSpPr/>
              <p:nvPr/>
            </p:nvSpPr>
            <p:spPr>
              <a:xfrm>
                <a:off x="7769912" y="1969081"/>
                <a:ext cx="3956333" cy="1515098"/>
              </a:xfrm>
              <a:prstGeom prst="rect">
                <a:avLst/>
              </a:prstGeom>
              <a:solidFill>
                <a:srgbClr val="B3C6E7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52"/>
              <p:cNvSpPr txBox="1"/>
              <p:nvPr/>
            </p:nvSpPr>
            <p:spPr>
              <a:xfrm>
                <a:off x="7624243" y="1210562"/>
                <a:ext cx="196842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Main Memory</a:t>
                </a:r>
                <a:endParaRPr/>
              </a:p>
            </p:txBody>
          </p:sp>
          <p:sp>
            <p:nvSpPr>
              <p:cNvPr id="812" name="Google Shape;812;p52"/>
              <p:cNvSpPr txBox="1"/>
              <p:nvPr/>
            </p:nvSpPr>
            <p:spPr>
              <a:xfrm>
                <a:off x="7836450" y="1989610"/>
                <a:ext cx="95359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Buffer</a:t>
                </a:r>
                <a:endParaRPr/>
              </a:p>
            </p:txBody>
          </p:sp>
        </p:grpSp>
        <p:sp>
          <p:nvSpPr>
            <p:cNvPr id="813" name="Google Shape;813;p52"/>
            <p:cNvSpPr/>
            <p:nvPr/>
          </p:nvSpPr>
          <p:spPr>
            <a:xfrm>
              <a:off x="7843740" y="3009498"/>
              <a:ext cx="1127270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52"/>
            <p:cNvSpPr/>
            <p:nvPr/>
          </p:nvSpPr>
          <p:spPr>
            <a:xfrm>
              <a:off x="9055124" y="3009498"/>
              <a:ext cx="1127270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52"/>
            <p:cNvSpPr/>
            <p:nvPr/>
          </p:nvSpPr>
          <p:spPr>
            <a:xfrm>
              <a:off x="10266507" y="3009498"/>
              <a:ext cx="1406855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6" name="Google Shape;816;p52"/>
          <p:cNvSpPr/>
          <p:nvPr/>
        </p:nvSpPr>
        <p:spPr>
          <a:xfrm>
            <a:off x="5806814" y="4444145"/>
            <a:ext cx="1461477" cy="362022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52"/>
          <p:cNvSpPr/>
          <p:nvPr/>
        </p:nvSpPr>
        <p:spPr>
          <a:xfrm rot="10800000">
            <a:off x="5806813" y="4895300"/>
            <a:ext cx="1461478" cy="362022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52"/>
          <p:cNvSpPr txBox="1"/>
          <p:nvPr/>
        </p:nvSpPr>
        <p:spPr>
          <a:xfrm>
            <a:off x="1818776" y="3621104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52"/>
          <p:cNvSpPr txBox="1"/>
          <p:nvPr/>
        </p:nvSpPr>
        <p:spPr>
          <a:xfrm>
            <a:off x="1787809" y="4348926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52"/>
          <p:cNvSpPr/>
          <p:nvPr/>
        </p:nvSpPr>
        <p:spPr>
          <a:xfrm>
            <a:off x="2297163" y="4293583"/>
            <a:ext cx="3296832" cy="574383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52"/>
          <p:cNvSpPr txBox="1"/>
          <p:nvPr/>
        </p:nvSpPr>
        <p:spPr>
          <a:xfrm>
            <a:off x="3468538" y="4378443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3,g</a:t>
            </a:r>
            <a:endParaRPr/>
          </a:p>
        </p:txBody>
      </p:sp>
      <p:sp>
        <p:nvSpPr>
          <p:cNvPr id="822" name="Google Shape;822;p52"/>
          <p:cNvSpPr txBox="1"/>
          <p:nvPr/>
        </p:nvSpPr>
        <p:spPr>
          <a:xfrm>
            <a:off x="4531937" y="4377174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7,f</a:t>
            </a:r>
            <a:endParaRPr/>
          </a:p>
        </p:txBody>
      </p:sp>
      <p:sp>
        <p:nvSpPr>
          <p:cNvPr id="823" name="Google Shape;823;p52"/>
          <p:cNvSpPr/>
          <p:nvPr/>
        </p:nvSpPr>
        <p:spPr>
          <a:xfrm>
            <a:off x="2311830" y="3513811"/>
            <a:ext cx="3296832" cy="574383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52"/>
          <p:cNvSpPr txBox="1"/>
          <p:nvPr/>
        </p:nvSpPr>
        <p:spPr>
          <a:xfrm>
            <a:off x="3483205" y="3598671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3,j</a:t>
            </a:r>
            <a:endParaRPr/>
          </a:p>
        </p:txBody>
      </p:sp>
      <p:sp>
        <p:nvSpPr>
          <p:cNvPr id="825" name="Google Shape;825;p52"/>
          <p:cNvSpPr txBox="1"/>
          <p:nvPr/>
        </p:nvSpPr>
        <p:spPr>
          <a:xfrm>
            <a:off x="4546604" y="3597402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5,b</a:t>
            </a:r>
            <a:endParaRPr/>
          </a:p>
        </p:txBody>
      </p:sp>
      <p:sp>
        <p:nvSpPr>
          <p:cNvPr id="826" name="Google Shape;826;p52"/>
          <p:cNvSpPr txBox="1"/>
          <p:nvPr/>
        </p:nvSpPr>
        <p:spPr>
          <a:xfrm>
            <a:off x="1234772" y="5164768"/>
            <a:ext cx="846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52"/>
          <p:cNvSpPr/>
          <p:nvPr/>
        </p:nvSpPr>
        <p:spPr>
          <a:xfrm>
            <a:off x="2291836" y="5100825"/>
            <a:ext cx="3296832" cy="574383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52"/>
          <p:cNvSpPr txBox="1"/>
          <p:nvPr/>
        </p:nvSpPr>
        <p:spPr>
          <a:xfrm>
            <a:off x="3475239" y="3621104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829" name="Google Shape;829;p52"/>
          <p:cNvSpPr txBox="1"/>
          <p:nvPr/>
        </p:nvSpPr>
        <p:spPr>
          <a:xfrm>
            <a:off x="3458897" y="4397815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(0,g)</a:t>
            </a:r>
            <a:endParaRPr/>
          </a:p>
        </p:txBody>
      </p:sp>
      <p:sp>
        <p:nvSpPr>
          <p:cNvPr id="830" name="Google Shape;830;p52"/>
          <p:cNvSpPr txBox="1"/>
          <p:nvPr/>
        </p:nvSpPr>
        <p:spPr>
          <a:xfrm>
            <a:off x="4537168" y="3604459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(0,b)</a:t>
            </a:r>
            <a:endParaRPr/>
          </a:p>
        </p:txBody>
      </p:sp>
      <p:sp>
        <p:nvSpPr>
          <p:cNvPr id="831" name="Google Shape;831;p52"/>
          <p:cNvSpPr txBox="1"/>
          <p:nvPr/>
        </p:nvSpPr>
        <p:spPr>
          <a:xfrm>
            <a:off x="4521613" y="4397815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(7,f)</a:t>
            </a:r>
            <a:endParaRPr/>
          </a:p>
        </p:txBody>
      </p:sp>
      <p:sp>
        <p:nvSpPr>
          <p:cNvPr id="832" name="Google Shape;832;p52"/>
          <p:cNvSpPr txBox="1"/>
          <p:nvPr/>
        </p:nvSpPr>
        <p:spPr>
          <a:xfrm>
            <a:off x="2429218" y="3601783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</p:txBody>
      </p:sp>
      <p:sp>
        <p:nvSpPr>
          <p:cNvPr id="833" name="Google Shape;833;p52"/>
          <p:cNvSpPr txBox="1"/>
          <p:nvPr/>
        </p:nvSpPr>
        <p:spPr>
          <a:xfrm>
            <a:off x="7620400" y="4613676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</p:txBody>
      </p:sp>
      <p:sp>
        <p:nvSpPr>
          <p:cNvPr id="834" name="Google Shape;834;p52"/>
          <p:cNvSpPr txBox="1"/>
          <p:nvPr/>
        </p:nvSpPr>
        <p:spPr>
          <a:xfrm>
            <a:off x="2429218" y="4377174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835" name="Google Shape;835;p52"/>
          <p:cNvSpPr txBox="1"/>
          <p:nvPr/>
        </p:nvSpPr>
        <p:spPr>
          <a:xfrm>
            <a:off x="8831784" y="4613676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836" name="Google Shape;836;p52"/>
          <p:cNvSpPr txBox="1"/>
          <p:nvPr/>
        </p:nvSpPr>
        <p:spPr>
          <a:xfrm>
            <a:off x="10028596" y="4625156"/>
            <a:ext cx="129257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(0,a,j)</a:t>
            </a:r>
            <a:endParaRPr sz="20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Multiple tuples with Same Join Key: “Backup”</a:t>
            </a:r>
            <a:endParaRPr/>
          </a:p>
        </p:txBody>
      </p:sp>
      <p:sp>
        <p:nvSpPr>
          <p:cNvPr id="838" name="Google Shape;838;p52"/>
          <p:cNvSpPr/>
          <p:nvPr/>
        </p:nvSpPr>
        <p:spPr>
          <a:xfrm rot="10800000">
            <a:off x="2791970" y="3286005"/>
            <a:ext cx="228601" cy="273161"/>
          </a:xfrm>
          <a:prstGeom prst="triangle">
            <a:avLst>
              <a:gd fmla="val 50000" name="adj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52"/>
          <p:cNvSpPr/>
          <p:nvPr/>
        </p:nvSpPr>
        <p:spPr>
          <a:xfrm flipH="1">
            <a:off x="3788770" y="4793847"/>
            <a:ext cx="228601" cy="273161"/>
          </a:xfrm>
          <a:prstGeom prst="triangle">
            <a:avLst>
              <a:gd fmla="val 50000" name="adj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0" name="Google Shape;840;p5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841" name="Google Shape;841;p5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52"/>
            <p:cNvSpPr txBox="1"/>
            <p:nvPr/>
          </p:nvSpPr>
          <p:spPr>
            <a:xfrm>
              <a:off x="188780" y="-22510"/>
              <a:ext cx="102944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Backup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5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1. Start with sorted relations, and begin scan / merge…</a:t>
            </a:r>
            <a:endParaRPr/>
          </a:p>
        </p:txBody>
      </p:sp>
      <p:sp>
        <p:nvSpPr>
          <p:cNvPr id="848" name="Google Shape;848;p53"/>
          <p:cNvSpPr/>
          <p:nvPr/>
        </p:nvSpPr>
        <p:spPr>
          <a:xfrm>
            <a:off x="2210655" y="2928938"/>
            <a:ext cx="3457575" cy="3568500"/>
          </a:xfrm>
          <a:prstGeom prst="can">
            <a:avLst>
              <a:gd fmla="val 13065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53"/>
          <p:cNvSpPr txBox="1"/>
          <p:nvPr/>
        </p:nvSpPr>
        <p:spPr>
          <a:xfrm>
            <a:off x="3513542" y="2400008"/>
            <a:ext cx="88617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0" name="Google Shape;850;p53"/>
          <p:cNvGrpSpPr/>
          <p:nvPr/>
        </p:nvGrpSpPr>
        <p:grpSpPr>
          <a:xfrm>
            <a:off x="7093877" y="2928938"/>
            <a:ext cx="4269563" cy="2456273"/>
            <a:chOff x="7403799" y="1406844"/>
            <a:chExt cx="4269563" cy="2456273"/>
          </a:xfrm>
        </p:grpSpPr>
        <p:grpSp>
          <p:nvGrpSpPr>
            <p:cNvPr id="851" name="Google Shape;851;p53"/>
            <p:cNvGrpSpPr/>
            <p:nvPr/>
          </p:nvGrpSpPr>
          <p:grpSpPr>
            <a:xfrm>
              <a:off x="7403799" y="1406844"/>
              <a:ext cx="4259923" cy="2456273"/>
              <a:chOff x="7466322" y="1027906"/>
              <a:chExt cx="4259923" cy="2456273"/>
            </a:xfrm>
          </p:grpSpPr>
          <p:sp>
            <p:nvSpPr>
              <p:cNvPr id="852" name="Google Shape;852;p53"/>
              <p:cNvSpPr/>
              <p:nvPr/>
            </p:nvSpPr>
            <p:spPr>
              <a:xfrm>
                <a:off x="7466322" y="1027906"/>
                <a:ext cx="4252691" cy="2440508"/>
              </a:xfrm>
              <a:prstGeom prst="rect">
                <a:avLst/>
              </a:prstGeom>
              <a:solidFill>
                <a:srgbClr val="FFF2CC"/>
              </a:soli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tl" dir="2700000" dist="127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3" name="Google Shape;853;p53"/>
              <p:cNvSpPr/>
              <p:nvPr/>
            </p:nvSpPr>
            <p:spPr>
              <a:xfrm>
                <a:off x="7769912" y="1969081"/>
                <a:ext cx="3956333" cy="1515098"/>
              </a:xfrm>
              <a:prstGeom prst="rect">
                <a:avLst/>
              </a:prstGeom>
              <a:solidFill>
                <a:srgbClr val="B3C6E7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4" name="Google Shape;854;p53"/>
              <p:cNvSpPr txBox="1"/>
              <p:nvPr/>
            </p:nvSpPr>
            <p:spPr>
              <a:xfrm>
                <a:off x="7624243" y="1210562"/>
                <a:ext cx="196842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Main Memory</a:t>
                </a:r>
                <a:endParaRPr/>
              </a:p>
            </p:txBody>
          </p:sp>
          <p:sp>
            <p:nvSpPr>
              <p:cNvPr id="855" name="Google Shape;855;p53"/>
              <p:cNvSpPr txBox="1"/>
              <p:nvPr/>
            </p:nvSpPr>
            <p:spPr>
              <a:xfrm>
                <a:off x="7836450" y="1989610"/>
                <a:ext cx="95359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Buffer</a:t>
                </a:r>
                <a:endParaRPr/>
              </a:p>
            </p:txBody>
          </p:sp>
        </p:grpSp>
        <p:sp>
          <p:nvSpPr>
            <p:cNvPr id="856" name="Google Shape;856;p53"/>
            <p:cNvSpPr/>
            <p:nvPr/>
          </p:nvSpPr>
          <p:spPr>
            <a:xfrm>
              <a:off x="7843740" y="3009498"/>
              <a:ext cx="1127270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53"/>
            <p:cNvSpPr/>
            <p:nvPr/>
          </p:nvSpPr>
          <p:spPr>
            <a:xfrm>
              <a:off x="9055124" y="3009498"/>
              <a:ext cx="1127270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53"/>
            <p:cNvSpPr/>
            <p:nvPr/>
          </p:nvSpPr>
          <p:spPr>
            <a:xfrm>
              <a:off x="10266507" y="3009498"/>
              <a:ext cx="1406855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9" name="Google Shape;859;p53"/>
          <p:cNvSpPr/>
          <p:nvPr/>
        </p:nvSpPr>
        <p:spPr>
          <a:xfrm>
            <a:off x="5806814" y="4444145"/>
            <a:ext cx="1461477" cy="362022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53"/>
          <p:cNvSpPr/>
          <p:nvPr/>
        </p:nvSpPr>
        <p:spPr>
          <a:xfrm rot="10800000">
            <a:off x="5806813" y="4895300"/>
            <a:ext cx="1461478" cy="362022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53"/>
          <p:cNvSpPr txBox="1"/>
          <p:nvPr/>
        </p:nvSpPr>
        <p:spPr>
          <a:xfrm>
            <a:off x="1818776" y="3621104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53"/>
          <p:cNvSpPr txBox="1"/>
          <p:nvPr/>
        </p:nvSpPr>
        <p:spPr>
          <a:xfrm>
            <a:off x="1787809" y="4348926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53"/>
          <p:cNvSpPr/>
          <p:nvPr/>
        </p:nvSpPr>
        <p:spPr>
          <a:xfrm>
            <a:off x="2297163" y="4293583"/>
            <a:ext cx="3296832" cy="574383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53"/>
          <p:cNvSpPr txBox="1"/>
          <p:nvPr/>
        </p:nvSpPr>
        <p:spPr>
          <a:xfrm>
            <a:off x="3468538" y="4378443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(0,g)</a:t>
            </a:r>
            <a:endParaRPr/>
          </a:p>
        </p:txBody>
      </p:sp>
      <p:sp>
        <p:nvSpPr>
          <p:cNvPr id="865" name="Google Shape;865;p53"/>
          <p:cNvSpPr txBox="1"/>
          <p:nvPr/>
        </p:nvSpPr>
        <p:spPr>
          <a:xfrm>
            <a:off x="4531937" y="4377174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7,f</a:t>
            </a:r>
            <a:endParaRPr/>
          </a:p>
        </p:txBody>
      </p:sp>
      <p:sp>
        <p:nvSpPr>
          <p:cNvPr id="866" name="Google Shape;866;p53"/>
          <p:cNvSpPr/>
          <p:nvPr/>
        </p:nvSpPr>
        <p:spPr>
          <a:xfrm>
            <a:off x="2311830" y="3513811"/>
            <a:ext cx="3296832" cy="574383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53"/>
          <p:cNvSpPr txBox="1"/>
          <p:nvPr/>
        </p:nvSpPr>
        <p:spPr>
          <a:xfrm>
            <a:off x="3483205" y="3598671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868" name="Google Shape;868;p53"/>
          <p:cNvSpPr txBox="1"/>
          <p:nvPr/>
        </p:nvSpPr>
        <p:spPr>
          <a:xfrm>
            <a:off x="4546604" y="3597402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5,b</a:t>
            </a:r>
            <a:endParaRPr/>
          </a:p>
        </p:txBody>
      </p:sp>
      <p:sp>
        <p:nvSpPr>
          <p:cNvPr id="869" name="Google Shape;869;p53"/>
          <p:cNvSpPr txBox="1"/>
          <p:nvPr/>
        </p:nvSpPr>
        <p:spPr>
          <a:xfrm>
            <a:off x="1234772" y="5164768"/>
            <a:ext cx="846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53"/>
          <p:cNvSpPr/>
          <p:nvPr/>
        </p:nvSpPr>
        <p:spPr>
          <a:xfrm>
            <a:off x="2291836" y="5100825"/>
            <a:ext cx="3296832" cy="574383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53"/>
          <p:cNvSpPr txBox="1"/>
          <p:nvPr/>
        </p:nvSpPr>
        <p:spPr>
          <a:xfrm>
            <a:off x="4537168" y="3604459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(0,b)</a:t>
            </a:r>
            <a:endParaRPr/>
          </a:p>
        </p:txBody>
      </p:sp>
      <p:sp>
        <p:nvSpPr>
          <p:cNvPr id="872" name="Google Shape;872;p53"/>
          <p:cNvSpPr txBox="1"/>
          <p:nvPr/>
        </p:nvSpPr>
        <p:spPr>
          <a:xfrm>
            <a:off x="4521613" y="4397815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(7,f)</a:t>
            </a:r>
            <a:endParaRPr/>
          </a:p>
        </p:txBody>
      </p:sp>
      <p:sp>
        <p:nvSpPr>
          <p:cNvPr id="873" name="Google Shape;873;p53"/>
          <p:cNvSpPr txBox="1"/>
          <p:nvPr/>
        </p:nvSpPr>
        <p:spPr>
          <a:xfrm>
            <a:off x="2429218" y="3601783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</p:txBody>
      </p:sp>
      <p:sp>
        <p:nvSpPr>
          <p:cNvPr id="874" name="Google Shape;874;p53"/>
          <p:cNvSpPr txBox="1"/>
          <p:nvPr/>
        </p:nvSpPr>
        <p:spPr>
          <a:xfrm>
            <a:off x="7620400" y="4613676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</p:txBody>
      </p:sp>
      <p:sp>
        <p:nvSpPr>
          <p:cNvPr id="875" name="Google Shape;875;p53"/>
          <p:cNvSpPr txBox="1"/>
          <p:nvPr/>
        </p:nvSpPr>
        <p:spPr>
          <a:xfrm>
            <a:off x="2429218" y="4377174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876" name="Google Shape;876;p53"/>
          <p:cNvSpPr txBox="1"/>
          <p:nvPr/>
        </p:nvSpPr>
        <p:spPr>
          <a:xfrm>
            <a:off x="2429218" y="5196841"/>
            <a:ext cx="12537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(0,a,j)</a:t>
            </a:r>
            <a:endParaRPr sz="20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53"/>
          <p:cNvSpPr txBox="1"/>
          <p:nvPr/>
        </p:nvSpPr>
        <p:spPr>
          <a:xfrm>
            <a:off x="10053996" y="4636852"/>
            <a:ext cx="1292571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(0,a,g)</a:t>
            </a:r>
            <a:endParaRPr sz="20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Multiple tuples with Same Join Key: “Backup”</a:t>
            </a:r>
            <a:endParaRPr/>
          </a:p>
        </p:txBody>
      </p:sp>
      <p:sp>
        <p:nvSpPr>
          <p:cNvPr id="879" name="Google Shape;879;p53"/>
          <p:cNvSpPr txBox="1"/>
          <p:nvPr/>
        </p:nvSpPr>
        <p:spPr>
          <a:xfrm>
            <a:off x="3458897" y="4397815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(0,g)</a:t>
            </a:r>
            <a:endParaRPr/>
          </a:p>
        </p:txBody>
      </p:sp>
      <p:sp>
        <p:nvSpPr>
          <p:cNvPr id="880" name="Google Shape;880;p53"/>
          <p:cNvSpPr txBox="1"/>
          <p:nvPr/>
        </p:nvSpPr>
        <p:spPr>
          <a:xfrm>
            <a:off x="3475135" y="3605715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881" name="Google Shape;881;p53"/>
          <p:cNvSpPr/>
          <p:nvPr/>
        </p:nvSpPr>
        <p:spPr>
          <a:xfrm rot="10800000">
            <a:off x="2791970" y="3286005"/>
            <a:ext cx="228601" cy="273161"/>
          </a:xfrm>
          <a:prstGeom prst="triangle">
            <a:avLst>
              <a:gd fmla="val 50000" name="adj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53"/>
          <p:cNvSpPr/>
          <p:nvPr/>
        </p:nvSpPr>
        <p:spPr>
          <a:xfrm flipH="1">
            <a:off x="3788770" y="4793847"/>
            <a:ext cx="228601" cy="273161"/>
          </a:xfrm>
          <a:prstGeom prst="triangle">
            <a:avLst>
              <a:gd fmla="val 50000" name="adj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3" name="Google Shape;883;p5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884" name="Google Shape;884;p5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53"/>
            <p:cNvSpPr txBox="1"/>
            <p:nvPr/>
          </p:nvSpPr>
          <p:spPr>
            <a:xfrm>
              <a:off x="188780" y="-22510"/>
              <a:ext cx="102944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Backup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5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1. Start with sorted relations, and begin scan / merge…</a:t>
            </a:r>
            <a:endParaRPr/>
          </a:p>
        </p:txBody>
      </p:sp>
      <p:sp>
        <p:nvSpPr>
          <p:cNvPr id="891" name="Google Shape;891;p54"/>
          <p:cNvSpPr/>
          <p:nvPr/>
        </p:nvSpPr>
        <p:spPr>
          <a:xfrm>
            <a:off x="2210655" y="2928938"/>
            <a:ext cx="3457575" cy="3568500"/>
          </a:xfrm>
          <a:prstGeom prst="can">
            <a:avLst>
              <a:gd fmla="val 13065" name="adj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54"/>
          <p:cNvSpPr txBox="1"/>
          <p:nvPr/>
        </p:nvSpPr>
        <p:spPr>
          <a:xfrm>
            <a:off x="3513542" y="2400008"/>
            <a:ext cx="88617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3" name="Google Shape;893;p54"/>
          <p:cNvGrpSpPr/>
          <p:nvPr/>
        </p:nvGrpSpPr>
        <p:grpSpPr>
          <a:xfrm>
            <a:off x="7093877" y="2928938"/>
            <a:ext cx="4259923" cy="2456273"/>
            <a:chOff x="7403799" y="1406844"/>
            <a:chExt cx="4259923" cy="2456273"/>
          </a:xfrm>
        </p:grpSpPr>
        <p:grpSp>
          <p:nvGrpSpPr>
            <p:cNvPr id="894" name="Google Shape;894;p54"/>
            <p:cNvGrpSpPr/>
            <p:nvPr/>
          </p:nvGrpSpPr>
          <p:grpSpPr>
            <a:xfrm>
              <a:off x="7403799" y="1406844"/>
              <a:ext cx="4259923" cy="2456273"/>
              <a:chOff x="7466322" y="1027906"/>
              <a:chExt cx="4259923" cy="2456273"/>
            </a:xfrm>
          </p:grpSpPr>
          <p:sp>
            <p:nvSpPr>
              <p:cNvPr id="895" name="Google Shape;895;p54"/>
              <p:cNvSpPr/>
              <p:nvPr/>
            </p:nvSpPr>
            <p:spPr>
              <a:xfrm>
                <a:off x="7466322" y="1027906"/>
                <a:ext cx="4252691" cy="2440508"/>
              </a:xfrm>
              <a:prstGeom prst="rect">
                <a:avLst/>
              </a:prstGeom>
              <a:solidFill>
                <a:srgbClr val="FFF2CC"/>
              </a:soli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tl" dir="2700000" dist="127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6" name="Google Shape;896;p54"/>
              <p:cNvSpPr/>
              <p:nvPr/>
            </p:nvSpPr>
            <p:spPr>
              <a:xfrm>
                <a:off x="7769912" y="1969081"/>
                <a:ext cx="3956333" cy="1515098"/>
              </a:xfrm>
              <a:prstGeom prst="rect">
                <a:avLst/>
              </a:prstGeom>
              <a:solidFill>
                <a:srgbClr val="B3C6E7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7" name="Google Shape;897;p54"/>
              <p:cNvSpPr txBox="1"/>
              <p:nvPr/>
            </p:nvSpPr>
            <p:spPr>
              <a:xfrm>
                <a:off x="7624243" y="1210562"/>
                <a:ext cx="196842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Main Memory</a:t>
                </a:r>
                <a:endParaRPr/>
              </a:p>
            </p:txBody>
          </p:sp>
          <p:sp>
            <p:nvSpPr>
              <p:cNvPr id="898" name="Google Shape;898;p54"/>
              <p:cNvSpPr txBox="1"/>
              <p:nvPr/>
            </p:nvSpPr>
            <p:spPr>
              <a:xfrm>
                <a:off x="7836450" y="1989610"/>
                <a:ext cx="95359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Buffer</a:t>
                </a:r>
                <a:endParaRPr/>
              </a:p>
            </p:txBody>
          </p:sp>
        </p:grpSp>
        <p:sp>
          <p:nvSpPr>
            <p:cNvPr id="899" name="Google Shape;899;p54"/>
            <p:cNvSpPr/>
            <p:nvPr/>
          </p:nvSpPr>
          <p:spPr>
            <a:xfrm>
              <a:off x="7843740" y="3009498"/>
              <a:ext cx="1127270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54"/>
            <p:cNvSpPr/>
            <p:nvPr/>
          </p:nvSpPr>
          <p:spPr>
            <a:xfrm>
              <a:off x="9055124" y="3009498"/>
              <a:ext cx="1127270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54"/>
            <p:cNvSpPr/>
            <p:nvPr/>
          </p:nvSpPr>
          <p:spPr>
            <a:xfrm>
              <a:off x="10266508" y="3009498"/>
              <a:ext cx="1127270" cy="57299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2" name="Google Shape;902;p54"/>
          <p:cNvSpPr/>
          <p:nvPr/>
        </p:nvSpPr>
        <p:spPr>
          <a:xfrm>
            <a:off x="5806814" y="4444145"/>
            <a:ext cx="1461477" cy="362022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54"/>
          <p:cNvSpPr/>
          <p:nvPr/>
        </p:nvSpPr>
        <p:spPr>
          <a:xfrm rot="10800000">
            <a:off x="5806813" y="4895300"/>
            <a:ext cx="1461478" cy="362022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54"/>
          <p:cNvSpPr txBox="1"/>
          <p:nvPr/>
        </p:nvSpPr>
        <p:spPr>
          <a:xfrm>
            <a:off x="1818776" y="3621104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54"/>
          <p:cNvSpPr txBox="1"/>
          <p:nvPr/>
        </p:nvSpPr>
        <p:spPr>
          <a:xfrm>
            <a:off x="1787809" y="4348926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54"/>
          <p:cNvSpPr/>
          <p:nvPr/>
        </p:nvSpPr>
        <p:spPr>
          <a:xfrm>
            <a:off x="2297163" y="4293583"/>
            <a:ext cx="3296832" cy="574383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54"/>
          <p:cNvSpPr txBox="1"/>
          <p:nvPr/>
        </p:nvSpPr>
        <p:spPr>
          <a:xfrm>
            <a:off x="3468538" y="4378443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0,g</a:t>
            </a:r>
            <a:endParaRPr/>
          </a:p>
        </p:txBody>
      </p:sp>
      <p:sp>
        <p:nvSpPr>
          <p:cNvPr id="908" name="Google Shape;908;p54"/>
          <p:cNvSpPr txBox="1"/>
          <p:nvPr/>
        </p:nvSpPr>
        <p:spPr>
          <a:xfrm>
            <a:off x="4531937" y="4377174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7,f</a:t>
            </a:r>
            <a:endParaRPr/>
          </a:p>
        </p:txBody>
      </p:sp>
      <p:sp>
        <p:nvSpPr>
          <p:cNvPr id="909" name="Google Shape;909;p54"/>
          <p:cNvSpPr/>
          <p:nvPr/>
        </p:nvSpPr>
        <p:spPr>
          <a:xfrm>
            <a:off x="2311830" y="3513811"/>
            <a:ext cx="3296832" cy="574383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54"/>
          <p:cNvSpPr txBox="1"/>
          <p:nvPr/>
        </p:nvSpPr>
        <p:spPr>
          <a:xfrm>
            <a:off x="3483205" y="3598671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0,j</a:t>
            </a:r>
            <a:endParaRPr/>
          </a:p>
        </p:txBody>
      </p:sp>
      <p:sp>
        <p:nvSpPr>
          <p:cNvPr id="911" name="Google Shape;911;p54"/>
          <p:cNvSpPr txBox="1"/>
          <p:nvPr/>
        </p:nvSpPr>
        <p:spPr>
          <a:xfrm>
            <a:off x="4546604" y="3597402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5,b</a:t>
            </a:r>
            <a:endParaRPr/>
          </a:p>
        </p:txBody>
      </p:sp>
      <p:sp>
        <p:nvSpPr>
          <p:cNvPr id="912" name="Google Shape;912;p54"/>
          <p:cNvSpPr txBox="1"/>
          <p:nvPr/>
        </p:nvSpPr>
        <p:spPr>
          <a:xfrm>
            <a:off x="1234772" y="5164768"/>
            <a:ext cx="846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54"/>
          <p:cNvSpPr/>
          <p:nvPr/>
        </p:nvSpPr>
        <p:spPr>
          <a:xfrm>
            <a:off x="2291836" y="5100825"/>
            <a:ext cx="3296832" cy="574383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54"/>
          <p:cNvSpPr txBox="1"/>
          <p:nvPr/>
        </p:nvSpPr>
        <p:spPr>
          <a:xfrm>
            <a:off x="3475135" y="3605715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915" name="Google Shape;915;p54"/>
          <p:cNvSpPr txBox="1"/>
          <p:nvPr/>
        </p:nvSpPr>
        <p:spPr>
          <a:xfrm>
            <a:off x="4537168" y="3604459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(0,b)</a:t>
            </a:r>
            <a:endParaRPr/>
          </a:p>
        </p:txBody>
      </p:sp>
      <p:sp>
        <p:nvSpPr>
          <p:cNvPr id="916" name="Google Shape;916;p54"/>
          <p:cNvSpPr txBox="1"/>
          <p:nvPr/>
        </p:nvSpPr>
        <p:spPr>
          <a:xfrm>
            <a:off x="4521613" y="4397815"/>
            <a:ext cx="954107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(7,f)</a:t>
            </a:r>
            <a:endParaRPr/>
          </a:p>
        </p:txBody>
      </p:sp>
      <p:sp>
        <p:nvSpPr>
          <p:cNvPr id="917" name="Google Shape;917;p54"/>
          <p:cNvSpPr txBox="1"/>
          <p:nvPr/>
        </p:nvSpPr>
        <p:spPr>
          <a:xfrm>
            <a:off x="2429218" y="3601783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</p:txBody>
      </p:sp>
      <p:sp>
        <p:nvSpPr>
          <p:cNvPr id="918" name="Google Shape;918;p54"/>
          <p:cNvSpPr txBox="1"/>
          <p:nvPr/>
        </p:nvSpPr>
        <p:spPr>
          <a:xfrm>
            <a:off x="2429218" y="5196841"/>
            <a:ext cx="12537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(0,a,j)</a:t>
            </a:r>
            <a:endParaRPr sz="20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54"/>
          <p:cNvSpPr txBox="1"/>
          <p:nvPr/>
        </p:nvSpPr>
        <p:spPr>
          <a:xfrm>
            <a:off x="3458897" y="4397815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(0,g)</a:t>
            </a:r>
            <a:endParaRPr/>
          </a:p>
        </p:txBody>
      </p:sp>
      <p:sp>
        <p:nvSpPr>
          <p:cNvPr id="920" name="Google Shape;920;p54"/>
          <p:cNvSpPr txBox="1"/>
          <p:nvPr/>
        </p:nvSpPr>
        <p:spPr>
          <a:xfrm>
            <a:off x="3788371" y="5196841"/>
            <a:ext cx="1267084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(0,a,g)</a:t>
            </a:r>
            <a:endParaRPr sz="20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54"/>
          <p:cNvSpPr txBox="1"/>
          <p:nvPr/>
        </p:nvSpPr>
        <p:spPr>
          <a:xfrm>
            <a:off x="7620412" y="4636852"/>
            <a:ext cx="954082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922" name="Google Shape;922;p54"/>
          <p:cNvSpPr txBox="1"/>
          <p:nvPr/>
        </p:nvSpPr>
        <p:spPr>
          <a:xfrm>
            <a:off x="5938757" y="5617747"/>
            <a:ext cx="6011222" cy="1077218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Have to “backup” in the scan of S and read tuple we’ve already read!</a:t>
            </a:r>
            <a:endParaRPr b="1" i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54"/>
          <p:cNvSpPr txBox="1"/>
          <p:nvPr/>
        </p:nvSpPr>
        <p:spPr>
          <a:xfrm>
            <a:off x="2429218" y="4377174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924" name="Google Shape;924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Multiple tuples with Same Join Key: “Backup”</a:t>
            </a:r>
            <a:endParaRPr/>
          </a:p>
        </p:txBody>
      </p:sp>
      <p:sp>
        <p:nvSpPr>
          <p:cNvPr id="925" name="Google Shape;925;p54"/>
          <p:cNvSpPr txBox="1"/>
          <p:nvPr/>
        </p:nvSpPr>
        <p:spPr>
          <a:xfrm>
            <a:off x="2436616" y="4384231"/>
            <a:ext cx="954106" cy="40011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926" name="Google Shape;926;p54"/>
          <p:cNvSpPr/>
          <p:nvPr/>
        </p:nvSpPr>
        <p:spPr>
          <a:xfrm rot="10800000">
            <a:off x="3831278" y="3298695"/>
            <a:ext cx="228601" cy="273161"/>
          </a:xfrm>
          <a:prstGeom prst="triangle">
            <a:avLst>
              <a:gd fmla="val 50000" name="adj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54"/>
          <p:cNvSpPr/>
          <p:nvPr/>
        </p:nvSpPr>
        <p:spPr>
          <a:xfrm flipH="1">
            <a:off x="4909356" y="4831969"/>
            <a:ext cx="228601" cy="273161"/>
          </a:xfrm>
          <a:prstGeom prst="triangle">
            <a:avLst>
              <a:gd fmla="val 50000" name="adj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54"/>
          <p:cNvSpPr/>
          <p:nvPr/>
        </p:nvSpPr>
        <p:spPr>
          <a:xfrm>
            <a:off x="2538891" y="4719322"/>
            <a:ext cx="2769709" cy="478583"/>
          </a:xfrm>
          <a:prstGeom prst="roundRect">
            <a:avLst>
              <a:gd fmla="val 16667" name="adj"/>
            </a:avLst>
          </a:prstGeom>
          <a:noFill/>
          <a:ln cap="flat" cmpd="sng" w="635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29" name="Google Shape;929;p5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930" name="Google Shape;930;p5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54"/>
            <p:cNvSpPr txBox="1"/>
            <p:nvPr/>
          </p:nvSpPr>
          <p:spPr>
            <a:xfrm>
              <a:off x="188780" y="-22510"/>
              <a:ext cx="102944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Backup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Backup</a:t>
            </a:r>
            <a:endParaRPr/>
          </a:p>
        </p:txBody>
      </p:sp>
      <p:sp>
        <p:nvSpPr>
          <p:cNvPr id="938" name="Google Shape;938;p5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At best, no backup 🡪 scan takes </a:t>
            </a:r>
            <a:r>
              <a:rPr b="1" lang="en-US"/>
              <a:t>P(R) </a:t>
            </a:r>
            <a:r>
              <a:rPr b="1" lang="en-US">
                <a:solidFill>
                  <a:srgbClr val="FF0000"/>
                </a:solidFill>
              </a:rPr>
              <a:t>+ </a:t>
            </a:r>
            <a:r>
              <a:rPr b="1" lang="en-US"/>
              <a:t>P(S) </a:t>
            </a:r>
            <a:r>
              <a:rPr lang="en-US"/>
              <a:t>reads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ex: if no duplicate values in join attribute</a:t>
            </a:r>
            <a:endParaRPr/>
          </a:p>
          <a:p>
            <a:pPr indent="-876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At worst (e.g. full backup each time), scan could take </a:t>
            </a:r>
            <a:r>
              <a:rPr b="1" lang="en-US"/>
              <a:t>P(R) </a:t>
            </a:r>
            <a:r>
              <a:rPr b="1" lang="en-US">
                <a:solidFill>
                  <a:srgbClr val="FF0000"/>
                </a:solidFill>
              </a:rPr>
              <a:t>* </a:t>
            </a:r>
            <a:r>
              <a:rPr b="1" lang="en-US"/>
              <a:t>P(S) </a:t>
            </a:r>
            <a:r>
              <a:rPr lang="en-US"/>
              <a:t>reads!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ex: if </a:t>
            </a:r>
            <a:r>
              <a:rPr i="1" lang="en-US"/>
              <a:t>all </a:t>
            </a:r>
            <a:r>
              <a:rPr lang="en-US"/>
              <a:t>duplicate values in join attribute, i.e. all tuples in R and S have the same value for the join attribute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Roughly: For each page of R, we’ll have to </a:t>
            </a:r>
            <a:r>
              <a:rPr i="1" lang="en-US"/>
              <a:t>back up </a:t>
            </a:r>
            <a:r>
              <a:rPr lang="en-US"/>
              <a:t>and read each page of S…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Often not that bad however, plus we can: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Leave more data in buffer (for larger buffers)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 “zig-zag” (see animation)</a:t>
            </a:r>
            <a:endParaRPr/>
          </a:p>
        </p:txBody>
      </p:sp>
      <p:grpSp>
        <p:nvGrpSpPr>
          <p:cNvPr id="939" name="Google Shape;939;p5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940" name="Google Shape;940;p5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55"/>
            <p:cNvSpPr txBox="1"/>
            <p:nvPr/>
          </p:nvSpPr>
          <p:spPr>
            <a:xfrm>
              <a:off x="188780" y="-22510"/>
              <a:ext cx="102944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Backup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SMJ: Total cost</a:t>
            </a:r>
            <a:endParaRPr/>
          </a:p>
        </p:txBody>
      </p:sp>
      <p:sp>
        <p:nvSpPr>
          <p:cNvPr id="947" name="Google Shape;947;p5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Cost of SMJ is </a:t>
            </a:r>
            <a:r>
              <a:rPr b="1" lang="en-US"/>
              <a:t>cost of sorting</a:t>
            </a:r>
            <a:r>
              <a:rPr lang="en-US"/>
              <a:t> R and S…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Plus the </a:t>
            </a:r>
            <a:r>
              <a:rPr b="1" lang="en-US"/>
              <a:t>cost of scanning</a:t>
            </a:r>
            <a:r>
              <a:rPr lang="en-US"/>
              <a:t>: ~P(R)+P(S)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Because of </a:t>
            </a:r>
            <a:r>
              <a:rPr i="1" lang="en-US"/>
              <a:t>backup</a:t>
            </a:r>
            <a:r>
              <a:rPr lang="en-US"/>
              <a:t>: in worst case P(R)*P(S); but this would be very unlikely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Plus the </a:t>
            </a:r>
            <a:r>
              <a:rPr b="1" lang="en-US"/>
              <a:t>cost of writing out</a:t>
            </a:r>
            <a:r>
              <a:rPr lang="en-US"/>
              <a:t>: ~P(R)+P(S) but in worst case T(R)*T(S)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48" name="Google Shape;948;p56"/>
          <p:cNvSpPr txBox="1"/>
          <p:nvPr/>
        </p:nvSpPr>
        <p:spPr>
          <a:xfrm>
            <a:off x="838200" y="5269664"/>
            <a:ext cx="4102100" cy="1077218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 Sort(P(R)) + Sort(P(S)) + P(R) + P(S)</a:t>
            </a:r>
            <a:r>
              <a:rPr b="1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OUT</a:t>
            </a:r>
            <a:endParaRPr b="1" i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56"/>
          <p:cNvSpPr txBox="1"/>
          <p:nvPr/>
        </p:nvSpPr>
        <p:spPr>
          <a:xfrm>
            <a:off x="5687291" y="5269664"/>
            <a:ext cx="6174509" cy="142218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950" name="Google Shape;950;p5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951" name="Google Shape;951;p5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56"/>
            <p:cNvSpPr txBox="1"/>
            <p:nvPr/>
          </p:nvSpPr>
          <p:spPr>
            <a:xfrm>
              <a:off x="188780" y="-22510"/>
              <a:ext cx="102944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Backup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SMJ vs. BNLJ: Steel Cage Match</a:t>
            </a:r>
            <a:endParaRPr/>
          </a:p>
        </p:txBody>
      </p:sp>
      <p:sp>
        <p:nvSpPr>
          <p:cNvPr id="959" name="Google Shape;959;p5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16" r="0" t="-22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960" name="Google Shape;960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10262" y="2991133"/>
            <a:ext cx="1457738" cy="2281360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57"/>
          <p:cNvSpPr txBox="1"/>
          <p:nvPr/>
        </p:nvSpPr>
        <p:spPr>
          <a:xfrm>
            <a:off x="838200" y="5915353"/>
            <a:ext cx="9829800" cy="95410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SMJ is ~ linear vs. BNLJ is quadratic…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it’s all about the memory.</a:t>
            </a:r>
            <a:endParaRPr/>
          </a:p>
        </p:txBody>
      </p:sp>
      <p:grpSp>
        <p:nvGrpSpPr>
          <p:cNvPr id="962" name="Google Shape;962;p5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963" name="Google Shape;963;p5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57"/>
            <p:cNvSpPr txBox="1"/>
            <p:nvPr/>
          </p:nvSpPr>
          <p:spPr>
            <a:xfrm>
              <a:off x="188780" y="-22510"/>
              <a:ext cx="102944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Backup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Simple Optimization: Merges Merged!</a:t>
            </a:r>
            <a:endParaRPr/>
          </a:p>
        </p:txBody>
      </p:sp>
      <p:sp>
        <p:nvSpPr>
          <p:cNvPr id="970" name="Google Shape;970;p5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SMJ is composed of a </a:t>
            </a:r>
            <a:r>
              <a:rPr b="1" i="1" lang="en-US"/>
              <a:t>sort phase </a:t>
            </a:r>
            <a:r>
              <a:rPr lang="en-US"/>
              <a:t>and a </a:t>
            </a:r>
            <a:r>
              <a:rPr b="1" i="1" lang="en-US"/>
              <a:t>merge phase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During the </a:t>
            </a:r>
            <a:r>
              <a:rPr b="1" i="1" lang="en-US"/>
              <a:t>sort phase</a:t>
            </a:r>
            <a:r>
              <a:rPr lang="en-US"/>
              <a:t>, run passes of external merge sort on R and 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Suppose at some point, R and S have &lt;= </a:t>
            </a:r>
            <a:r>
              <a:rPr b="1" i="1" lang="en-US"/>
              <a:t>B </a:t>
            </a:r>
            <a:r>
              <a:rPr lang="en-US"/>
              <a:t>(sorted) runs in total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We could do two merges (for each of R &amp; S) at this point, complete the sort phase, and start the merge phase…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OR, we could combine them: do </a:t>
            </a:r>
            <a:r>
              <a:rPr b="1" lang="en-US"/>
              <a:t>one</a:t>
            </a:r>
            <a:r>
              <a:rPr lang="en-US"/>
              <a:t> B-way merge and complete the join!</a:t>
            </a:r>
            <a:endParaRPr/>
          </a:p>
        </p:txBody>
      </p:sp>
      <p:sp>
        <p:nvSpPr>
          <p:cNvPr id="971" name="Google Shape;971;p58"/>
          <p:cNvSpPr txBox="1"/>
          <p:nvPr/>
        </p:nvSpPr>
        <p:spPr>
          <a:xfrm>
            <a:off x="9014245" y="1363960"/>
            <a:ext cx="3038055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B+1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 pages</a:t>
            </a:r>
            <a:endParaRPr/>
          </a:p>
        </p:txBody>
      </p:sp>
      <p:grpSp>
        <p:nvGrpSpPr>
          <p:cNvPr id="972" name="Google Shape;972;p5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973" name="Google Shape;973;p5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58"/>
            <p:cNvSpPr txBox="1"/>
            <p:nvPr/>
          </p:nvSpPr>
          <p:spPr>
            <a:xfrm>
              <a:off x="188780" y="-22510"/>
              <a:ext cx="102944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Backup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9" name="Google Shape;979;p59"/>
          <p:cNvGrpSpPr/>
          <p:nvPr/>
        </p:nvGrpSpPr>
        <p:grpSpPr>
          <a:xfrm>
            <a:off x="482600" y="5009816"/>
            <a:ext cx="11226800" cy="928469"/>
            <a:chOff x="482600" y="5009816"/>
            <a:chExt cx="11226800" cy="928469"/>
          </a:xfrm>
        </p:grpSpPr>
        <p:sp>
          <p:nvSpPr>
            <p:cNvPr id="980" name="Google Shape;980;p59"/>
            <p:cNvSpPr/>
            <p:nvPr/>
          </p:nvSpPr>
          <p:spPr>
            <a:xfrm>
              <a:off x="482600" y="5009816"/>
              <a:ext cx="11226800" cy="928469"/>
            </a:xfrm>
            <a:prstGeom prst="rect">
              <a:avLst/>
            </a:prstGeom>
            <a:solidFill>
              <a:srgbClr val="E1EFD8">
                <a:alpha val="2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59"/>
            <p:cNvSpPr txBox="1"/>
            <p:nvPr/>
          </p:nvSpPr>
          <p:spPr>
            <a:xfrm>
              <a:off x="600364" y="5212440"/>
              <a:ext cx="29972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Merge / Join Phase</a:t>
              </a:r>
              <a:endParaRPr/>
            </a:p>
          </p:txBody>
        </p:sp>
      </p:grpSp>
      <p:grpSp>
        <p:nvGrpSpPr>
          <p:cNvPr id="982" name="Google Shape;982;p59"/>
          <p:cNvGrpSpPr/>
          <p:nvPr/>
        </p:nvGrpSpPr>
        <p:grpSpPr>
          <a:xfrm>
            <a:off x="477044" y="1984324"/>
            <a:ext cx="11226800" cy="3048000"/>
            <a:chOff x="477044" y="1984324"/>
            <a:chExt cx="11226800" cy="3048000"/>
          </a:xfrm>
        </p:grpSpPr>
        <p:sp>
          <p:nvSpPr>
            <p:cNvPr id="983" name="Google Shape;983;p59"/>
            <p:cNvSpPr/>
            <p:nvPr/>
          </p:nvSpPr>
          <p:spPr>
            <a:xfrm>
              <a:off x="477044" y="1984324"/>
              <a:ext cx="11226800" cy="3048000"/>
            </a:xfrm>
            <a:prstGeom prst="rect">
              <a:avLst/>
            </a:prstGeom>
            <a:solidFill>
              <a:srgbClr val="D5DBE5">
                <a:alpha val="2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59"/>
            <p:cNvSpPr txBox="1"/>
            <p:nvPr/>
          </p:nvSpPr>
          <p:spPr>
            <a:xfrm>
              <a:off x="600364" y="2211629"/>
              <a:ext cx="2623561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Sort Phase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(Ext. Merge Sort)</a:t>
              </a:r>
              <a:endParaRPr/>
            </a:p>
          </p:txBody>
        </p:sp>
      </p:grpSp>
      <p:sp>
        <p:nvSpPr>
          <p:cNvPr id="985" name="Google Shape;985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Un-Optimized SMJ</a:t>
            </a:r>
            <a:endParaRPr/>
          </a:p>
        </p:txBody>
      </p:sp>
      <p:sp>
        <p:nvSpPr>
          <p:cNvPr id="986" name="Google Shape;986;p59"/>
          <p:cNvSpPr/>
          <p:nvPr/>
        </p:nvSpPr>
        <p:spPr>
          <a:xfrm>
            <a:off x="7941287" y="2213419"/>
            <a:ext cx="2046530" cy="283753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987" name="Google Shape;987;p59"/>
          <p:cNvSpPr/>
          <p:nvPr/>
        </p:nvSpPr>
        <p:spPr>
          <a:xfrm>
            <a:off x="4998496" y="2213419"/>
            <a:ext cx="2046530" cy="283753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/>
          </a:p>
        </p:txBody>
      </p:sp>
      <p:grpSp>
        <p:nvGrpSpPr>
          <p:cNvPr id="988" name="Google Shape;988;p59"/>
          <p:cNvGrpSpPr/>
          <p:nvPr/>
        </p:nvGrpSpPr>
        <p:grpSpPr>
          <a:xfrm>
            <a:off x="3881515" y="2570180"/>
            <a:ext cx="7470410" cy="861477"/>
            <a:chOff x="3881515" y="2570180"/>
            <a:chExt cx="7470410" cy="861477"/>
          </a:xfrm>
        </p:grpSpPr>
        <p:sp>
          <p:nvSpPr>
            <p:cNvPr id="989" name="Google Shape;989;p59"/>
            <p:cNvSpPr/>
            <p:nvPr/>
          </p:nvSpPr>
          <p:spPr>
            <a:xfrm>
              <a:off x="7961557" y="3168431"/>
              <a:ext cx="413174" cy="26322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59"/>
            <p:cNvSpPr/>
            <p:nvPr/>
          </p:nvSpPr>
          <p:spPr>
            <a:xfrm>
              <a:off x="8506009" y="3168431"/>
              <a:ext cx="413174" cy="26322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59"/>
            <p:cNvSpPr/>
            <p:nvPr/>
          </p:nvSpPr>
          <p:spPr>
            <a:xfrm>
              <a:off x="9050461" y="3168431"/>
              <a:ext cx="413174" cy="26322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59"/>
            <p:cNvSpPr/>
            <p:nvPr/>
          </p:nvSpPr>
          <p:spPr>
            <a:xfrm>
              <a:off x="9594913" y="3168431"/>
              <a:ext cx="413174" cy="26322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59"/>
            <p:cNvSpPr/>
            <p:nvPr/>
          </p:nvSpPr>
          <p:spPr>
            <a:xfrm>
              <a:off x="8765618" y="2633758"/>
              <a:ext cx="397869" cy="325634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59"/>
            <p:cNvSpPr txBox="1"/>
            <p:nvPr/>
          </p:nvSpPr>
          <p:spPr>
            <a:xfrm>
              <a:off x="9801500" y="2574627"/>
              <a:ext cx="155042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Split &amp; sort</a:t>
              </a:r>
              <a:endParaRPr/>
            </a:p>
          </p:txBody>
        </p:sp>
        <p:sp>
          <p:nvSpPr>
            <p:cNvPr id="995" name="Google Shape;995;p59"/>
            <p:cNvSpPr/>
            <p:nvPr/>
          </p:nvSpPr>
          <p:spPr>
            <a:xfrm>
              <a:off x="5018766" y="3168431"/>
              <a:ext cx="413174" cy="26322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59"/>
            <p:cNvSpPr/>
            <p:nvPr/>
          </p:nvSpPr>
          <p:spPr>
            <a:xfrm>
              <a:off x="5563218" y="3168431"/>
              <a:ext cx="413174" cy="26322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59"/>
            <p:cNvSpPr/>
            <p:nvPr/>
          </p:nvSpPr>
          <p:spPr>
            <a:xfrm>
              <a:off x="6107670" y="3168431"/>
              <a:ext cx="413174" cy="26322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59"/>
            <p:cNvSpPr/>
            <p:nvPr/>
          </p:nvSpPr>
          <p:spPr>
            <a:xfrm>
              <a:off x="6652122" y="3168431"/>
              <a:ext cx="413174" cy="26322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59"/>
            <p:cNvSpPr/>
            <p:nvPr/>
          </p:nvSpPr>
          <p:spPr>
            <a:xfrm>
              <a:off x="5822827" y="2633758"/>
              <a:ext cx="397869" cy="325634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59"/>
            <p:cNvSpPr txBox="1"/>
            <p:nvPr/>
          </p:nvSpPr>
          <p:spPr>
            <a:xfrm>
              <a:off x="3881515" y="2570180"/>
              <a:ext cx="155042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Split &amp; sort</a:t>
              </a:r>
              <a:endParaRPr/>
            </a:p>
          </p:txBody>
        </p:sp>
      </p:grpSp>
      <p:grpSp>
        <p:nvGrpSpPr>
          <p:cNvPr id="1001" name="Google Shape;1001;p59"/>
          <p:cNvGrpSpPr/>
          <p:nvPr/>
        </p:nvGrpSpPr>
        <p:grpSpPr>
          <a:xfrm>
            <a:off x="3876561" y="3405232"/>
            <a:ext cx="7475364" cy="711490"/>
            <a:chOff x="3876561" y="3405232"/>
            <a:chExt cx="7475364" cy="711490"/>
          </a:xfrm>
        </p:grpSpPr>
        <p:sp>
          <p:nvSpPr>
            <p:cNvPr id="1002" name="Google Shape;1002;p59"/>
            <p:cNvSpPr/>
            <p:nvPr/>
          </p:nvSpPr>
          <p:spPr>
            <a:xfrm>
              <a:off x="7961555" y="3845506"/>
              <a:ext cx="957627" cy="26322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59"/>
            <p:cNvSpPr/>
            <p:nvPr/>
          </p:nvSpPr>
          <p:spPr>
            <a:xfrm>
              <a:off x="9050459" y="3853496"/>
              <a:ext cx="957627" cy="26322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04" name="Google Shape;1004;p59"/>
            <p:cNvCxnSpPr>
              <a:stCxn id="1002" idx="2"/>
              <a:endCxn id="1005" idx="0"/>
            </p:cNvCxnSpPr>
            <p:nvPr/>
          </p:nvCxnSpPr>
          <p:spPr>
            <a:xfrm flipH="1" rot="10800000">
              <a:off x="8440369" y="3405232"/>
              <a:ext cx="2415300" cy="7035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006" name="Google Shape;1006;p59"/>
            <p:cNvCxnSpPr>
              <a:stCxn id="1003" idx="2"/>
              <a:endCxn id="1005" idx="0"/>
            </p:cNvCxnSpPr>
            <p:nvPr/>
          </p:nvCxnSpPr>
          <p:spPr>
            <a:xfrm flipH="1" rot="10800000">
              <a:off x="9529273" y="3405422"/>
              <a:ext cx="1326300" cy="7113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007" name="Google Shape;1007;p59"/>
            <p:cNvCxnSpPr>
              <a:stCxn id="1004" idx="2"/>
            </p:cNvCxnSpPr>
            <p:nvPr/>
          </p:nvCxnSpPr>
          <p:spPr>
            <a:xfrm>
              <a:off x="9257048" y="3431657"/>
              <a:ext cx="272100" cy="4218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008" name="Google Shape;1008;p59"/>
            <p:cNvCxnSpPr>
              <a:stCxn id="1006" idx="2"/>
            </p:cNvCxnSpPr>
            <p:nvPr/>
          </p:nvCxnSpPr>
          <p:spPr>
            <a:xfrm flipH="1">
              <a:off x="9529400" y="3431657"/>
              <a:ext cx="272100" cy="4218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005" name="Google Shape;1005;p59"/>
            <p:cNvSpPr txBox="1"/>
            <p:nvPr/>
          </p:nvSpPr>
          <p:spPr>
            <a:xfrm>
              <a:off x="10359409" y="3405284"/>
              <a:ext cx="9925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Merge</a:t>
              </a:r>
              <a:endParaRPr/>
            </a:p>
          </p:txBody>
        </p:sp>
        <p:sp>
          <p:nvSpPr>
            <p:cNvPr id="1009" name="Google Shape;1009;p59"/>
            <p:cNvSpPr/>
            <p:nvPr/>
          </p:nvSpPr>
          <p:spPr>
            <a:xfrm>
              <a:off x="5018764" y="3845506"/>
              <a:ext cx="957627" cy="26322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59"/>
            <p:cNvSpPr/>
            <p:nvPr/>
          </p:nvSpPr>
          <p:spPr>
            <a:xfrm>
              <a:off x="6107668" y="3853496"/>
              <a:ext cx="957627" cy="26322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11" name="Google Shape;1011;p59"/>
            <p:cNvCxnSpPr/>
            <p:nvPr/>
          </p:nvCxnSpPr>
          <p:spPr>
            <a:xfrm>
              <a:off x="5225353" y="3431657"/>
              <a:ext cx="272225" cy="413849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012" name="Google Shape;1012;p59"/>
            <p:cNvCxnSpPr/>
            <p:nvPr/>
          </p:nvCxnSpPr>
          <p:spPr>
            <a:xfrm flipH="1">
              <a:off x="5497578" y="3431657"/>
              <a:ext cx="272227" cy="413849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013" name="Google Shape;1013;p59"/>
            <p:cNvCxnSpPr/>
            <p:nvPr/>
          </p:nvCxnSpPr>
          <p:spPr>
            <a:xfrm>
              <a:off x="6314257" y="3431657"/>
              <a:ext cx="272225" cy="421839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014" name="Google Shape;1014;p59"/>
            <p:cNvCxnSpPr/>
            <p:nvPr/>
          </p:nvCxnSpPr>
          <p:spPr>
            <a:xfrm flipH="1">
              <a:off x="6586482" y="3431657"/>
              <a:ext cx="272227" cy="421839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015" name="Google Shape;1015;p59"/>
            <p:cNvSpPr txBox="1"/>
            <p:nvPr/>
          </p:nvSpPr>
          <p:spPr>
            <a:xfrm>
              <a:off x="3876561" y="3430380"/>
              <a:ext cx="9925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Merge</a:t>
              </a:r>
              <a:endParaRPr/>
            </a:p>
          </p:txBody>
        </p:sp>
      </p:grpSp>
      <p:grpSp>
        <p:nvGrpSpPr>
          <p:cNvPr id="1016" name="Google Shape;1016;p59"/>
          <p:cNvGrpSpPr/>
          <p:nvPr/>
        </p:nvGrpSpPr>
        <p:grpSpPr>
          <a:xfrm>
            <a:off x="3867725" y="3866949"/>
            <a:ext cx="7532442" cy="923699"/>
            <a:chOff x="3867725" y="3866949"/>
            <a:chExt cx="7532442" cy="923699"/>
          </a:xfrm>
        </p:grpSpPr>
        <p:sp>
          <p:nvSpPr>
            <p:cNvPr id="1017" name="Google Shape;1017;p59"/>
            <p:cNvSpPr/>
            <p:nvPr/>
          </p:nvSpPr>
          <p:spPr>
            <a:xfrm>
              <a:off x="7961556" y="4527422"/>
              <a:ext cx="2046530" cy="26322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18" name="Google Shape;1018;p59"/>
            <p:cNvCxnSpPr>
              <a:stCxn id="1005" idx="2"/>
              <a:endCxn id="1018" idx="0"/>
            </p:cNvCxnSpPr>
            <p:nvPr/>
          </p:nvCxnSpPr>
          <p:spPr>
            <a:xfrm>
              <a:off x="10855667" y="3866949"/>
              <a:ext cx="544500" cy="4188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019" name="Google Shape;1019;p59"/>
            <p:cNvCxnSpPr>
              <a:endCxn id="1018" idx="0"/>
            </p:cNvCxnSpPr>
            <p:nvPr/>
          </p:nvCxnSpPr>
          <p:spPr>
            <a:xfrm flipH="1">
              <a:off x="8984773" y="4116722"/>
              <a:ext cx="544500" cy="4107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020" name="Google Shape;1020;p59"/>
            <p:cNvSpPr txBox="1"/>
            <p:nvPr/>
          </p:nvSpPr>
          <p:spPr>
            <a:xfrm>
              <a:off x="10359409" y="4087244"/>
              <a:ext cx="9925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Merge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59"/>
            <p:cNvSpPr/>
            <p:nvPr/>
          </p:nvSpPr>
          <p:spPr>
            <a:xfrm>
              <a:off x="5018765" y="4527422"/>
              <a:ext cx="2046530" cy="26322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2" name="Google Shape;1022;p59"/>
            <p:cNvCxnSpPr/>
            <p:nvPr/>
          </p:nvCxnSpPr>
          <p:spPr>
            <a:xfrm>
              <a:off x="5497578" y="4108732"/>
              <a:ext cx="544452" cy="41869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023" name="Google Shape;1023;p59"/>
            <p:cNvCxnSpPr/>
            <p:nvPr/>
          </p:nvCxnSpPr>
          <p:spPr>
            <a:xfrm flipH="1">
              <a:off x="6042030" y="4116722"/>
              <a:ext cx="544452" cy="4107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024" name="Google Shape;1024;p59"/>
            <p:cNvSpPr txBox="1"/>
            <p:nvPr/>
          </p:nvSpPr>
          <p:spPr>
            <a:xfrm>
              <a:off x="3867725" y="4196155"/>
              <a:ext cx="9925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Merge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5" name="Google Shape;1025;p59"/>
          <p:cNvGrpSpPr/>
          <p:nvPr/>
        </p:nvGrpSpPr>
        <p:grpSpPr>
          <a:xfrm>
            <a:off x="6042030" y="4790648"/>
            <a:ext cx="2942791" cy="791589"/>
            <a:chOff x="6042030" y="4790648"/>
            <a:chExt cx="2942791" cy="791589"/>
          </a:xfrm>
        </p:grpSpPr>
        <p:sp>
          <p:nvSpPr>
            <p:cNvPr id="1026" name="Google Shape;1026;p59"/>
            <p:cNvSpPr/>
            <p:nvPr/>
          </p:nvSpPr>
          <p:spPr>
            <a:xfrm>
              <a:off x="6817856" y="5331895"/>
              <a:ext cx="1322562" cy="250342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7" name="Google Shape;1027;p59"/>
            <p:cNvCxnSpPr>
              <a:stCxn id="1017" idx="2"/>
              <a:endCxn id="1026" idx="0"/>
            </p:cNvCxnSpPr>
            <p:nvPr/>
          </p:nvCxnSpPr>
          <p:spPr>
            <a:xfrm flipH="1">
              <a:off x="7479121" y="4790648"/>
              <a:ext cx="1505700" cy="5412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028" name="Google Shape;1028;p59"/>
            <p:cNvCxnSpPr>
              <a:stCxn id="1021" idx="2"/>
              <a:endCxn id="1026" idx="0"/>
            </p:cNvCxnSpPr>
            <p:nvPr/>
          </p:nvCxnSpPr>
          <p:spPr>
            <a:xfrm>
              <a:off x="6042030" y="4790648"/>
              <a:ext cx="1437000" cy="5412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029" name="Google Shape;1029;p59"/>
          <p:cNvSpPr txBox="1"/>
          <p:nvPr/>
        </p:nvSpPr>
        <p:spPr>
          <a:xfrm>
            <a:off x="9050459" y="949294"/>
            <a:ext cx="3038055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B+1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 pages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59"/>
          <p:cNvSpPr txBox="1"/>
          <p:nvPr/>
        </p:nvSpPr>
        <p:spPr>
          <a:xfrm>
            <a:off x="7961555" y="5859413"/>
            <a:ext cx="2300045" cy="83099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Joined output file created!</a:t>
            </a:r>
            <a:endParaRPr/>
          </a:p>
        </p:txBody>
      </p:sp>
      <p:sp>
        <p:nvSpPr>
          <p:cNvPr id="1031" name="Google Shape;1031;p59"/>
          <p:cNvSpPr txBox="1"/>
          <p:nvPr/>
        </p:nvSpPr>
        <p:spPr>
          <a:xfrm>
            <a:off x="5996416" y="1482838"/>
            <a:ext cx="319331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Unsorted input relations</a:t>
            </a:r>
            <a:endParaRPr/>
          </a:p>
        </p:txBody>
      </p:sp>
      <p:grpSp>
        <p:nvGrpSpPr>
          <p:cNvPr id="1032" name="Google Shape;1032;p5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033" name="Google Shape;1033;p5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59"/>
            <p:cNvSpPr txBox="1"/>
            <p:nvPr/>
          </p:nvSpPr>
          <p:spPr>
            <a:xfrm>
              <a:off x="188780" y="-22510"/>
              <a:ext cx="102944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Backup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9" name="Google Shape;1039;p60"/>
          <p:cNvGrpSpPr/>
          <p:nvPr/>
        </p:nvGrpSpPr>
        <p:grpSpPr>
          <a:xfrm>
            <a:off x="482600" y="5009816"/>
            <a:ext cx="11226800" cy="928469"/>
            <a:chOff x="482600" y="5009816"/>
            <a:chExt cx="11226800" cy="928469"/>
          </a:xfrm>
        </p:grpSpPr>
        <p:sp>
          <p:nvSpPr>
            <p:cNvPr id="1040" name="Google Shape;1040;p60"/>
            <p:cNvSpPr/>
            <p:nvPr/>
          </p:nvSpPr>
          <p:spPr>
            <a:xfrm>
              <a:off x="482600" y="5009816"/>
              <a:ext cx="11226800" cy="928469"/>
            </a:xfrm>
            <a:prstGeom prst="rect">
              <a:avLst/>
            </a:prstGeom>
            <a:solidFill>
              <a:srgbClr val="E1EFD8">
                <a:alpha val="2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60"/>
            <p:cNvSpPr txBox="1"/>
            <p:nvPr/>
          </p:nvSpPr>
          <p:spPr>
            <a:xfrm>
              <a:off x="600364" y="5212440"/>
              <a:ext cx="29972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Merge / Join Phase</a:t>
              </a:r>
              <a:endParaRPr/>
            </a:p>
          </p:txBody>
        </p:sp>
      </p:grpSp>
      <p:grpSp>
        <p:nvGrpSpPr>
          <p:cNvPr id="1042" name="Google Shape;1042;p60"/>
          <p:cNvGrpSpPr/>
          <p:nvPr/>
        </p:nvGrpSpPr>
        <p:grpSpPr>
          <a:xfrm>
            <a:off x="477044" y="1984324"/>
            <a:ext cx="11226800" cy="3048000"/>
            <a:chOff x="477044" y="1984324"/>
            <a:chExt cx="11226800" cy="3048000"/>
          </a:xfrm>
        </p:grpSpPr>
        <p:sp>
          <p:nvSpPr>
            <p:cNvPr id="1043" name="Google Shape;1043;p60"/>
            <p:cNvSpPr/>
            <p:nvPr/>
          </p:nvSpPr>
          <p:spPr>
            <a:xfrm>
              <a:off x="477044" y="1984324"/>
              <a:ext cx="11226800" cy="3048000"/>
            </a:xfrm>
            <a:prstGeom prst="rect">
              <a:avLst/>
            </a:prstGeom>
            <a:solidFill>
              <a:srgbClr val="D5DBE5">
                <a:alpha val="2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60"/>
            <p:cNvSpPr txBox="1"/>
            <p:nvPr/>
          </p:nvSpPr>
          <p:spPr>
            <a:xfrm>
              <a:off x="600364" y="2211629"/>
              <a:ext cx="2623561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Sort Phase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(Ext. Merge Sort)</a:t>
              </a:r>
              <a:endParaRPr/>
            </a:p>
          </p:txBody>
        </p:sp>
      </p:grpSp>
      <p:sp>
        <p:nvSpPr>
          <p:cNvPr id="1045" name="Google Shape;1045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Simple SMJ Optimization</a:t>
            </a:r>
            <a:endParaRPr/>
          </a:p>
        </p:txBody>
      </p:sp>
      <p:sp>
        <p:nvSpPr>
          <p:cNvPr id="1046" name="Google Shape;1046;p60"/>
          <p:cNvSpPr/>
          <p:nvPr/>
        </p:nvSpPr>
        <p:spPr>
          <a:xfrm>
            <a:off x="7941287" y="2213419"/>
            <a:ext cx="2046530" cy="283753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1047" name="Google Shape;1047;p60"/>
          <p:cNvSpPr/>
          <p:nvPr/>
        </p:nvSpPr>
        <p:spPr>
          <a:xfrm>
            <a:off x="4998496" y="2213419"/>
            <a:ext cx="2046530" cy="283753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/>
          </a:p>
        </p:txBody>
      </p:sp>
      <p:grpSp>
        <p:nvGrpSpPr>
          <p:cNvPr id="1048" name="Google Shape;1048;p60"/>
          <p:cNvGrpSpPr/>
          <p:nvPr/>
        </p:nvGrpSpPr>
        <p:grpSpPr>
          <a:xfrm>
            <a:off x="3881515" y="2570180"/>
            <a:ext cx="7470410" cy="861477"/>
            <a:chOff x="3881515" y="2570180"/>
            <a:chExt cx="7470410" cy="861477"/>
          </a:xfrm>
        </p:grpSpPr>
        <p:sp>
          <p:nvSpPr>
            <p:cNvPr id="1049" name="Google Shape;1049;p60"/>
            <p:cNvSpPr/>
            <p:nvPr/>
          </p:nvSpPr>
          <p:spPr>
            <a:xfrm>
              <a:off x="7961557" y="3168431"/>
              <a:ext cx="413174" cy="26322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60"/>
            <p:cNvSpPr/>
            <p:nvPr/>
          </p:nvSpPr>
          <p:spPr>
            <a:xfrm>
              <a:off x="8506009" y="3168431"/>
              <a:ext cx="413174" cy="26322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60"/>
            <p:cNvSpPr/>
            <p:nvPr/>
          </p:nvSpPr>
          <p:spPr>
            <a:xfrm>
              <a:off x="9050461" y="3168431"/>
              <a:ext cx="413174" cy="26322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60"/>
            <p:cNvSpPr/>
            <p:nvPr/>
          </p:nvSpPr>
          <p:spPr>
            <a:xfrm>
              <a:off x="9594913" y="3168431"/>
              <a:ext cx="413174" cy="26322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60"/>
            <p:cNvSpPr/>
            <p:nvPr/>
          </p:nvSpPr>
          <p:spPr>
            <a:xfrm>
              <a:off x="8765618" y="2633758"/>
              <a:ext cx="397869" cy="325634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60"/>
            <p:cNvSpPr txBox="1"/>
            <p:nvPr/>
          </p:nvSpPr>
          <p:spPr>
            <a:xfrm>
              <a:off x="9801500" y="2574627"/>
              <a:ext cx="155042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Split &amp; sort</a:t>
              </a:r>
              <a:endParaRPr/>
            </a:p>
          </p:txBody>
        </p:sp>
        <p:sp>
          <p:nvSpPr>
            <p:cNvPr id="1055" name="Google Shape;1055;p60"/>
            <p:cNvSpPr/>
            <p:nvPr/>
          </p:nvSpPr>
          <p:spPr>
            <a:xfrm>
              <a:off x="5018766" y="3168431"/>
              <a:ext cx="413174" cy="26322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60"/>
            <p:cNvSpPr/>
            <p:nvPr/>
          </p:nvSpPr>
          <p:spPr>
            <a:xfrm>
              <a:off x="5563218" y="3168431"/>
              <a:ext cx="413174" cy="26322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60"/>
            <p:cNvSpPr/>
            <p:nvPr/>
          </p:nvSpPr>
          <p:spPr>
            <a:xfrm>
              <a:off x="6107670" y="3168431"/>
              <a:ext cx="413174" cy="26322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60"/>
            <p:cNvSpPr/>
            <p:nvPr/>
          </p:nvSpPr>
          <p:spPr>
            <a:xfrm>
              <a:off x="6652122" y="3168431"/>
              <a:ext cx="413174" cy="26322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60"/>
            <p:cNvSpPr/>
            <p:nvPr/>
          </p:nvSpPr>
          <p:spPr>
            <a:xfrm>
              <a:off x="5822827" y="2633758"/>
              <a:ext cx="397869" cy="325634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60"/>
            <p:cNvSpPr txBox="1"/>
            <p:nvPr/>
          </p:nvSpPr>
          <p:spPr>
            <a:xfrm>
              <a:off x="3881515" y="2570180"/>
              <a:ext cx="155042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Split &amp; sort</a:t>
              </a:r>
              <a:endParaRPr/>
            </a:p>
          </p:txBody>
        </p:sp>
      </p:grpSp>
      <p:grpSp>
        <p:nvGrpSpPr>
          <p:cNvPr id="1061" name="Google Shape;1061;p60"/>
          <p:cNvGrpSpPr/>
          <p:nvPr/>
        </p:nvGrpSpPr>
        <p:grpSpPr>
          <a:xfrm>
            <a:off x="3876561" y="3405232"/>
            <a:ext cx="7475364" cy="711490"/>
            <a:chOff x="3876561" y="3405232"/>
            <a:chExt cx="7475364" cy="711490"/>
          </a:xfrm>
        </p:grpSpPr>
        <p:sp>
          <p:nvSpPr>
            <p:cNvPr id="1062" name="Google Shape;1062;p60"/>
            <p:cNvSpPr/>
            <p:nvPr/>
          </p:nvSpPr>
          <p:spPr>
            <a:xfrm>
              <a:off x="7961555" y="3845506"/>
              <a:ext cx="957627" cy="26322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60"/>
            <p:cNvSpPr/>
            <p:nvPr/>
          </p:nvSpPr>
          <p:spPr>
            <a:xfrm>
              <a:off x="9050459" y="3853496"/>
              <a:ext cx="957627" cy="26322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64" name="Google Shape;1064;p60"/>
            <p:cNvCxnSpPr>
              <a:stCxn id="1062" idx="2"/>
              <a:endCxn id="1065" idx="0"/>
            </p:cNvCxnSpPr>
            <p:nvPr/>
          </p:nvCxnSpPr>
          <p:spPr>
            <a:xfrm flipH="1" rot="10800000">
              <a:off x="8440369" y="3405232"/>
              <a:ext cx="2415300" cy="7035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066" name="Google Shape;1066;p60"/>
            <p:cNvCxnSpPr>
              <a:stCxn id="1063" idx="2"/>
              <a:endCxn id="1065" idx="0"/>
            </p:cNvCxnSpPr>
            <p:nvPr/>
          </p:nvCxnSpPr>
          <p:spPr>
            <a:xfrm flipH="1" rot="10800000">
              <a:off x="9529273" y="3405422"/>
              <a:ext cx="1326300" cy="7113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067" name="Google Shape;1067;p60"/>
            <p:cNvCxnSpPr>
              <a:stCxn id="1064" idx="2"/>
            </p:cNvCxnSpPr>
            <p:nvPr/>
          </p:nvCxnSpPr>
          <p:spPr>
            <a:xfrm>
              <a:off x="9257048" y="3431657"/>
              <a:ext cx="272100" cy="4218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068" name="Google Shape;1068;p60"/>
            <p:cNvCxnSpPr>
              <a:stCxn id="1066" idx="2"/>
            </p:cNvCxnSpPr>
            <p:nvPr/>
          </p:nvCxnSpPr>
          <p:spPr>
            <a:xfrm flipH="1">
              <a:off x="9529400" y="3431657"/>
              <a:ext cx="272100" cy="4218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065" name="Google Shape;1065;p60"/>
            <p:cNvSpPr txBox="1"/>
            <p:nvPr/>
          </p:nvSpPr>
          <p:spPr>
            <a:xfrm>
              <a:off x="10359409" y="3405284"/>
              <a:ext cx="9925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Merge</a:t>
              </a:r>
              <a:endParaRPr/>
            </a:p>
          </p:txBody>
        </p:sp>
        <p:sp>
          <p:nvSpPr>
            <p:cNvPr id="1069" name="Google Shape;1069;p60"/>
            <p:cNvSpPr/>
            <p:nvPr/>
          </p:nvSpPr>
          <p:spPr>
            <a:xfrm>
              <a:off x="5018764" y="3845506"/>
              <a:ext cx="957627" cy="26322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60"/>
            <p:cNvSpPr/>
            <p:nvPr/>
          </p:nvSpPr>
          <p:spPr>
            <a:xfrm>
              <a:off x="6107668" y="3853496"/>
              <a:ext cx="957627" cy="263226"/>
            </a:xfrm>
            <a:prstGeom prst="roundRect">
              <a:avLst>
                <a:gd fmla="val 16667" name="adj"/>
              </a:avLst>
            </a:prstGeom>
            <a:solidFill>
              <a:srgbClr val="D5DB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71" name="Google Shape;1071;p60"/>
            <p:cNvCxnSpPr/>
            <p:nvPr/>
          </p:nvCxnSpPr>
          <p:spPr>
            <a:xfrm>
              <a:off x="5225353" y="3431657"/>
              <a:ext cx="272225" cy="413849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072" name="Google Shape;1072;p60"/>
            <p:cNvCxnSpPr/>
            <p:nvPr/>
          </p:nvCxnSpPr>
          <p:spPr>
            <a:xfrm flipH="1">
              <a:off x="5497578" y="3431657"/>
              <a:ext cx="272227" cy="413849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073" name="Google Shape;1073;p60"/>
            <p:cNvCxnSpPr/>
            <p:nvPr/>
          </p:nvCxnSpPr>
          <p:spPr>
            <a:xfrm>
              <a:off x="6314257" y="3431657"/>
              <a:ext cx="272225" cy="421839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074" name="Google Shape;1074;p60"/>
            <p:cNvCxnSpPr/>
            <p:nvPr/>
          </p:nvCxnSpPr>
          <p:spPr>
            <a:xfrm flipH="1">
              <a:off x="6586482" y="3431657"/>
              <a:ext cx="272227" cy="421839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075" name="Google Shape;1075;p60"/>
            <p:cNvSpPr txBox="1"/>
            <p:nvPr/>
          </p:nvSpPr>
          <p:spPr>
            <a:xfrm>
              <a:off x="3876561" y="3430380"/>
              <a:ext cx="9925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Merge</a:t>
              </a:r>
              <a:endParaRPr/>
            </a:p>
          </p:txBody>
        </p:sp>
      </p:grpSp>
      <p:sp>
        <p:nvSpPr>
          <p:cNvPr id="1076" name="Google Shape;1076;p60"/>
          <p:cNvSpPr txBox="1"/>
          <p:nvPr/>
        </p:nvSpPr>
        <p:spPr>
          <a:xfrm>
            <a:off x="9050459" y="949294"/>
            <a:ext cx="3038055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B+1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 pages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60"/>
          <p:cNvSpPr txBox="1"/>
          <p:nvPr/>
        </p:nvSpPr>
        <p:spPr>
          <a:xfrm>
            <a:off x="7961555" y="5859413"/>
            <a:ext cx="2300045" cy="83099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Joined output file created!</a:t>
            </a:r>
            <a:endParaRPr/>
          </a:p>
        </p:txBody>
      </p:sp>
      <p:sp>
        <p:nvSpPr>
          <p:cNvPr id="1078" name="Google Shape;1078;p60"/>
          <p:cNvSpPr txBox="1"/>
          <p:nvPr/>
        </p:nvSpPr>
        <p:spPr>
          <a:xfrm>
            <a:off x="5996416" y="1482838"/>
            <a:ext cx="319331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Unsorted input relations</a:t>
            </a:r>
            <a:endParaRPr/>
          </a:p>
        </p:txBody>
      </p:sp>
      <p:grpSp>
        <p:nvGrpSpPr>
          <p:cNvPr id="1079" name="Google Shape;1079;p60"/>
          <p:cNvGrpSpPr/>
          <p:nvPr/>
        </p:nvGrpSpPr>
        <p:grpSpPr>
          <a:xfrm>
            <a:off x="188780" y="3715477"/>
            <a:ext cx="11761920" cy="551723"/>
            <a:chOff x="188780" y="3715477"/>
            <a:chExt cx="11761920" cy="551723"/>
          </a:xfrm>
        </p:grpSpPr>
        <p:cxnSp>
          <p:nvCxnSpPr>
            <p:cNvPr id="1080" name="Google Shape;1080;p60"/>
            <p:cNvCxnSpPr/>
            <p:nvPr/>
          </p:nvCxnSpPr>
          <p:spPr>
            <a:xfrm>
              <a:off x="188780" y="4267200"/>
              <a:ext cx="11761920" cy="0"/>
            </a:xfrm>
            <a:prstGeom prst="straightConnector1">
              <a:avLst/>
            </a:prstGeom>
            <a:noFill/>
            <a:ln cap="flat" cmpd="sng" w="38100">
              <a:solidFill>
                <a:srgbClr val="7F7F7F"/>
              </a:solidFill>
              <a:prstDash val="dot"/>
              <a:miter lim="800000"/>
              <a:headEnd len="sm" w="sm" type="none"/>
              <a:tailEnd len="sm" w="sm" type="none"/>
            </a:ln>
          </p:spPr>
        </p:cxnSp>
        <p:sp>
          <p:nvSpPr>
            <p:cNvPr id="1081" name="Google Shape;1081;p60"/>
            <p:cNvSpPr txBox="1"/>
            <p:nvPr/>
          </p:nvSpPr>
          <p:spPr>
            <a:xfrm>
              <a:off x="1400565" y="3715477"/>
              <a:ext cx="2037033" cy="461665"/>
            </a:xfrm>
            <a:prstGeom prst="rect">
              <a:avLst/>
            </a:prstGeom>
            <a:solidFill>
              <a:srgbClr val="FBE4D4"/>
            </a:solidFill>
            <a:ln>
              <a:noFill/>
            </a:ln>
            <a:effectLst>
              <a:outerShdw blurRad="50800" rotWithShape="0" algn="tl" dir="2700000" dist="127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&lt;= B total runs</a:t>
              </a:r>
              <a:endParaRPr/>
            </a:p>
          </p:txBody>
        </p:sp>
      </p:grpSp>
      <p:grpSp>
        <p:nvGrpSpPr>
          <p:cNvPr id="1082" name="Google Shape;1082;p60"/>
          <p:cNvGrpSpPr/>
          <p:nvPr/>
        </p:nvGrpSpPr>
        <p:grpSpPr>
          <a:xfrm>
            <a:off x="5497578" y="4108732"/>
            <a:ext cx="5025426" cy="1473505"/>
            <a:chOff x="5497578" y="4108732"/>
            <a:chExt cx="5025426" cy="1473505"/>
          </a:xfrm>
        </p:grpSpPr>
        <p:sp>
          <p:nvSpPr>
            <p:cNvPr id="1083" name="Google Shape;1083;p60"/>
            <p:cNvSpPr/>
            <p:nvPr/>
          </p:nvSpPr>
          <p:spPr>
            <a:xfrm>
              <a:off x="6817856" y="5331895"/>
              <a:ext cx="1322562" cy="250342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60"/>
            <p:cNvSpPr txBox="1"/>
            <p:nvPr/>
          </p:nvSpPr>
          <p:spPr>
            <a:xfrm>
              <a:off x="7932551" y="4745357"/>
              <a:ext cx="259045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B-Way Merge / Join</a:t>
              </a:r>
              <a:endParaRPr/>
            </a:p>
          </p:txBody>
        </p:sp>
        <p:cxnSp>
          <p:nvCxnSpPr>
            <p:cNvPr id="1085" name="Google Shape;1085;p60"/>
            <p:cNvCxnSpPr>
              <a:stCxn id="1069" idx="2"/>
              <a:endCxn id="1083" idx="0"/>
            </p:cNvCxnSpPr>
            <p:nvPr/>
          </p:nvCxnSpPr>
          <p:spPr>
            <a:xfrm>
              <a:off x="5497578" y="4108732"/>
              <a:ext cx="1981500" cy="12231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086" name="Google Shape;1086;p60"/>
            <p:cNvCxnSpPr>
              <a:stCxn id="1070" idx="2"/>
              <a:endCxn id="1083" idx="0"/>
            </p:cNvCxnSpPr>
            <p:nvPr/>
          </p:nvCxnSpPr>
          <p:spPr>
            <a:xfrm>
              <a:off x="6586482" y="4116722"/>
              <a:ext cx="892800" cy="12153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087" name="Google Shape;1087;p60"/>
            <p:cNvCxnSpPr>
              <a:stCxn id="1062" idx="2"/>
              <a:endCxn id="1083" idx="0"/>
            </p:cNvCxnSpPr>
            <p:nvPr/>
          </p:nvCxnSpPr>
          <p:spPr>
            <a:xfrm flipH="1">
              <a:off x="7479169" y="4108732"/>
              <a:ext cx="961200" cy="12231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088" name="Google Shape;1088;p60"/>
            <p:cNvCxnSpPr>
              <a:stCxn id="1063" idx="2"/>
              <a:endCxn id="1083" idx="0"/>
            </p:cNvCxnSpPr>
            <p:nvPr/>
          </p:nvCxnSpPr>
          <p:spPr>
            <a:xfrm flipH="1">
              <a:off x="7479073" y="4116722"/>
              <a:ext cx="2050200" cy="12153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089" name="Google Shape;1089;p6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090" name="Google Shape;1090;p6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60"/>
            <p:cNvSpPr txBox="1"/>
            <p:nvPr/>
          </p:nvSpPr>
          <p:spPr>
            <a:xfrm>
              <a:off x="188780" y="-22510"/>
              <a:ext cx="102944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Backup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6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Simple SMJ Optimization</a:t>
            </a:r>
            <a:endParaRPr/>
          </a:p>
        </p:txBody>
      </p:sp>
      <p:sp>
        <p:nvSpPr>
          <p:cNvPr id="1097" name="Google Shape;1097;p61"/>
          <p:cNvSpPr txBox="1"/>
          <p:nvPr>
            <p:ph idx="1" type="body"/>
          </p:nvPr>
        </p:nvSpPr>
        <p:spPr>
          <a:xfrm>
            <a:off x="838200" y="1825625"/>
            <a:ext cx="10515600" cy="373221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27" r="0" t="-407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098" name="Google Shape;1098;p61"/>
          <p:cNvSpPr txBox="1"/>
          <p:nvPr/>
        </p:nvSpPr>
        <p:spPr>
          <a:xfrm>
            <a:off x="9014245" y="1225848"/>
            <a:ext cx="3038055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B+1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 pages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61"/>
          <p:cNvSpPr txBox="1"/>
          <p:nvPr/>
        </p:nvSpPr>
        <p:spPr>
          <a:xfrm>
            <a:off x="2946610" y="5805310"/>
            <a:ext cx="6298780" cy="830997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larger of R,S has &lt;= B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pages, then SMJ costs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3(P(R)+P(S)) + OUT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grpSp>
        <p:nvGrpSpPr>
          <p:cNvPr id="1100" name="Google Shape;1100;p6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01" name="Google Shape;1101;p6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61"/>
            <p:cNvSpPr txBox="1"/>
            <p:nvPr/>
          </p:nvSpPr>
          <p:spPr>
            <a:xfrm>
              <a:off x="188780" y="-22510"/>
              <a:ext cx="102944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Backup</a:t>
              </a:r>
              <a:endParaRPr/>
            </a:p>
          </p:txBody>
        </p:sp>
      </p:grpSp>
      <p:sp>
        <p:nvSpPr>
          <p:cNvPr id="1103" name="Google Shape;1103;p61"/>
          <p:cNvSpPr txBox="1"/>
          <p:nvPr/>
        </p:nvSpPr>
        <p:spPr>
          <a:xfrm>
            <a:off x="9753601" y="4210756"/>
            <a:ext cx="1961444" cy="646331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 , Slide 13-14 – to clarify this slide.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Takeaway points from SMJ</a:t>
            </a:r>
            <a:endParaRPr/>
          </a:p>
        </p:txBody>
      </p:sp>
      <p:sp>
        <p:nvSpPr>
          <p:cNvPr id="1109" name="Google Shape;1109;p6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If input already sorted on join key, skip the sorts.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SMJ is basically linear.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Nasty but unlikely case: Many duplicate join keys.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SMJ needs to sort </a:t>
            </a:r>
            <a:r>
              <a:rPr b="1" lang="en-US"/>
              <a:t>both </a:t>
            </a:r>
            <a:r>
              <a:rPr lang="en-US"/>
              <a:t>relations</a:t>
            </a:r>
            <a:endParaRPr/>
          </a:p>
          <a:p>
            <a:pPr indent="-457200" lvl="1" marL="8572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max { P(R), P(S) } &lt; B</a:t>
            </a:r>
            <a:r>
              <a:rPr baseline="30000" lang="en-US"/>
              <a:t>2</a:t>
            </a:r>
            <a:r>
              <a:rPr baseline="-25000" lang="en-US"/>
              <a:t>  </a:t>
            </a:r>
            <a:r>
              <a:rPr lang="en-US"/>
              <a:t>then cost is 3(P(R)+P(S)) + OUT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36195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pSp>
        <p:nvGrpSpPr>
          <p:cNvPr id="1110" name="Google Shape;1110;p6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11" name="Google Shape;1111;p6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62"/>
            <p:cNvSpPr txBox="1"/>
            <p:nvPr/>
          </p:nvSpPr>
          <p:spPr>
            <a:xfrm>
              <a:off x="188780" y="-22510"/>
              <a:ext cx="11906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Summary</a:t>
              </a:r>
              <a:endParaRPr/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6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4. Hash Join (HJ)</a:t>
            </a:r>
            <a:endParaRPr/>
          </a:p>
        </p:txBody>
      </p:sp>
      <p:sp>
        <p:nvSpPr>
          <p:cNvPr id="1118" name="Google Shape;1118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19" name="Google Shape;1119;p6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20" name="Google Shape;1120;p6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63"/>
            <p:cNvSpPr txBox="1"/>
            <p:nvPr/>
          </p:nvSpPr>
          <p:spPr>
            <a:xfrm>
              <a:off x="188780" y="-22510"/>
              <a:ext cx="34496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</a:t>
              </a:r>
              <a:endParaRPr/>
            </a:p>
          </p:txBody>
        </p:sp>
      </p:grpSp>
      <p:pic>
        <p:nvPicPr>
          <p:cNvPr id="1122" name="Google Shape;112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4215" y="2934025"/>
            <a:ext cx="2395871" cy="2337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6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Recall: Hashing</a:t>
            </a:r>
            <a:endParaRPr/>
          </a:p>
        </p:txBody>
      </p:sp>
      <p:sp>
        <p:nvSpPr>
          <p:cNvPr id="1128" name="Google Shape;1128;p6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Magic of hashing</a:t>
            </a:r>
            <a:r>
              <a:rPr lang="en-US"/>
              <a:t>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hash function h</a:t>
            </a:r>
            <a:r>
              <a:rPr baseline="-25000" lang="en-US"/>
              <a:t>B</a:t>
            </a:r>
            <a:r>
              <a:rPr lang="en-US"/>
              <a:t> maps into [0,B-1]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And maps nearly uniformly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hash </a:t>
            </a:r>
            <a:r>
              <a:rPr b="1" lang="en-US"/>
              <a:t>collision</a:t>
            </a:r>
            <a:r>
              <a:rPr lang="en-US"/>
              <a:t> is when x != y but h</a:t>
            </a:r>
            <a:r>
              <a:rPr baseline="-25000" lang="en-US"/>
              <a:t>B</a:t>
            </a:r>
            <a:r>
              <a:rPr lang="en-US"/>
              <a:t>(x) = h</a:t>
            </a:r>
            <a:r>
              <a:rPr baseline="-25000" lang="en-US"/>
              <a:t>B</a:t>
            </a:r>
            <a:r>
              <a:rPr lang="en-US"/>
              <a:t>(y)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Note however that it will </a:t>
            </a:r>
            <a:r>
              <a:rPr b="1" lang="en-US" u="sng"/>
              <a:t>never</a:t>
            </a:r>
            <a:r>
              <a:rPr lang="en-US"/>
              <a:t> occur that x = y but h</a:t>
            </a:r>
            <a:r>
              <a:rPr baseline="-25000" lang="en-US"/>
              <a:t>B</a:t>
            </a:r>
            <a:r>
              <a:rPr lang="en-US"/>
              <a:t>(x) != h</a:t>
            </a:r>
            <a:r>
              <a:rPr baseline="-25000" lang="en-US"/>
              <a:t>B</a:t>
            </a:r>
            <a:r>
              <a:rPr lang="en-US"/>
              <a:t>(y)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hash on an attribute A, so our has function is h</a:t>
            </a:r>
            <a:r>
              <a:rPr baseline="-25000" lang="en-US"/>
              <a:t>B</a:t>
            </a:r>
            <a:r>
              <a:rPr lang="en-US"/>
              <a:t>(t) has the form h</a:t>
            </a:r>
            <a:r>
              <a:rPr baseline="-25000" lang="en-US"/>
              <a:t>B</a:t>
            </a:r>
            <a:r>
              <a:rPr lang="en-US"/>
              <a:t>(t.A).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Collisions</a:t>
            </a:r>
            <a:r>
              <a:rPr lang="en-US"/>
              <a:t> may be more frequent.</a:t>
            </a:r>
            <a:endParaRPr/>
          </a:p>
        </p:txBody>
      </p:sp>
      <p:grpSp>
        <p:nvGrpSpPr>
          <p:cNvPr id="1129" name="Google Shape;1129;p6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30" name="Google Shape;1130;p6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64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6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Recall: Mad Hash Collisions</a:t>
            </a:r>
            <a:endParaRPr/>
          </a:p>
        </p:txBody>
      </p:sp>
      <p:pic>
        <p:nvPicPr>
          <p:cNvPr id="1137" name="Google Shape;1137;p65"/>
          <p:cNvPicPr preferRelativeResize="0"/>
          <p:nvPr/>
        </p:nvPicPr>
        <p:blipFill rotWithShape="1">
          <a:blip r:embed="rId3">
            <a:alphaModFix/>
          </a:blip>
          <a:srcRect b="0" l="22969" r="25000" t="0"/>
          <a:stretch/>
        </p:blipFill>
        <p:spPr>
          <a:xfrm>
            <a:off x="1468165" y="1909763"/>
            <a:ext cx="3151945" cy="2505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65"/>
          <p:cNvPicPr preferRelativeResize="0"/>
          <p:nvPr/>
        </p:nvPicPr>
        <p:blipFill rotWithShape="1">
          <a:blip r:embed="rId4">
            <a:alphaModFix/>
          </a:blip>
          <a:srcRect b="18125" l="11718" r="30156" t="0"/>
          <a:stretch/>
        </p:blipFill>
        <p:spPr>
          <a:xfrm>
            <a:off x="7915275" y="1909763"/>
            <a:ext cx="3227739" cy="2557463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65"/>
          <p:cNvSpPr txBox="1"/>
          <p:nvPr/>
        </p:nvSpPr>
        <p:spPr>
          <a:xfrm>
            <a:off x="3677264" y="5217753"/>
            <a:ext cx="4837471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Say something here to justify this slide’s existence? [TODO]</a:t>
            </a:r>
            <a:endParaRPr b="1"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40" name="Google Shape;1140;p6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41" name="Google Shape;1141;p6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65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6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Join: High-level procedure</a:t>
            </a:r>
            <a:endParaRPr/>
          </a:p>
        </p:txBody>
      </p:sp>
      <p:sp>
        <p:nvSpPr>
          <p:cNvPr id="1148" name="Google Shape;1148;p66"/>
          <p:cNvSpPr txBox="1"/>
          <p:nvPr>
            <p:ph idx="1" type="body"/>
          </p:nvPr>
        </p:nvSpPr>
        <p:spPr>
          <a:xfrm>
            <a:off x="838200" y="1825625"/>
            <a:ext cx="10515600" cy="391149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16" r="-1215" t="-342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149" name="Google Shape;1149;p66"/>
          <p:cNvSpPr txBox="1"/>
          <p:nvPr/>
        </p:nvSpPr>
        <p:spPr>
          <a:xfrm>
            <a:off x="6946490" y="1560153"/>
            <a:ext cx="4837471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again that we are only considering equality constraints here</a:t>
            </a:r>
            <a:endParaRPr b="1"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66"/>
          <p:cNvSpPr txBox="1"/>
          <p:nvPr/>
        </p:nvSpPr>
        <p:spPr>
          <a:xfrm>
            <a:off x="2703871" y="5574891"/>
            <a:ext cx="6784258" cy="95410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</a:t>
            </a: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decompose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problem using </a:t>
            </a: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1" baseline="-25000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then complete the join</a:t>
            </a:r>
            <a:endParaRPr b="1" i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1" name="Google Shape;1151;p6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52" name="Google Shape;1152;p6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66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6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Join: High-level procedure</a:t>
            </a:r>
            <a:endParaRPr/>
          </a:p>
        </p:txBody>
      </p:sp>
      <p:sp>
        <p:nvSpPr>
          <p:cNvPr id="1159" name="Google Shape;1159;p67"/>
          <p:cNvSpPr txBox="1"/>
          <p:nvPr>
            <p:ph idx="1" type="body"/>
          </p:nvPr>
        </p:nvSpPr>
        <p:spPr>
          <a:xfrm>
            <a:off x="838200" y="1825625"/>
            <a:ext cx="10515600" cy="1129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1. Partition Phase: </a:t>
            </a:r>
            <a:r>
              <a:rPr lang="en-US"/>
              <a:t>Using one (shared) hash function </a:t>
            </a:r>
            <a:r>
              <a:rPr b="1" i="1" lang="en-US"/>
              <a:t>h</a:t>
            </a:r>
            <a:r>
              <a:rPr b="1" baseline="-25000" i="1" lang="en-US"/>
              <a:t>B</a:t>
            </a:r>
            <a:r>
              <a:rPr lang="en-US"/>
              <a:t>, partition R </a:t>
            </a:r>
            <a:r>
              <a:rPr i="1" lang="en-US"/>
              <a:t>and </a:t>
            </a:r>
            <a:r>
              <a:rPr lang="en-US"/>
              <a:t>S into </a:t>
            </a:r>
            <a:r>
              <a:rPr b="1" i="1" lang="en-US"/>
              <a:t>B</a:t>
            </a:r>
            <a:r>
              <a:rPr lang="en-US"/>
              <a:t> buckets</a:t>
            </a:r>
            <a:endParaRPr/>
          </a:p>
          <a:p>
            <a:pPr indent="-3619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</p:txBody>
      </p:sp>
      <p:grpSp>
        <p:nvGrpSpPr>
          <p:cNvPr id="1160" name="Google Shape;1160;p67"/>
          <p:cNvGrpSpPr/>
          <p:nvPr/>
        </p:nvGrpSpPr>
        <p:grpSpPr>
          <a:xfrm>
            <a:off x="556383" y="2812963"/>
            <a:ext cx="3457575" cy="3676327"/>
            <a:chOff x="836304" y="2812963"/>
            <a:chExt cx="3457575" cy="3676327"/>
          </a:xfrm>
        </p:grpSpPr>
        <p:sp>
          <p:nvSpPr>
            <p:cNvPr id="1161" name="Google Shape;1161;p67"/>
            <p:cNvSpPr/>
            <p:nvPr/>
          </p:nvSpPr>
          <p:spPr>
            <a:xfrm>
              <a:off x="836304" y="3341893"/>
              <a:ext cx="3457575" cy="3147397"/>
            </a:xfrm>
            <a:prstGeom prst="can">
              <a:avLst>
                <a:gd fmla="val 13065" name="adj"/>
              </a:avLst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67"/>
            <p:cNvSpPr txBox="1"/>
            <p:nvPr/>
          </p:nvSpPr>
          <p:spPr>
            <a:xfrm>
              <a:off x="2139191" y="2812963"/>
              <a:ext cx="88617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Disk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3" name="Google Shape;1163;p67"/>
          <p:cNvSpPr txBox="1"/>
          <p:nvPr/>
        </p:nvSpPr>
        <p:spPr>
          <a:xfrm>
            <a:off x="224072" y="3933604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67"/>
          <p:cNvSpPr txBox="1"/>
          <p:nvPr/>
        </p:nvSpPr>
        <p:spPr>
          <a:xfrm>
            <a:off x="193105" y="4792346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67"/>
          <p:cNvSpPr/>
          <p:nvPr/>
        </p:nvSpPr>
        <p:spPr>
          <a:xfrm>
            <a:off x="635420" y="3796816"/>
            <a:ext cx="3296832" cy="819429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67"/>
          <p:cNvSpPr txBox="1"/>
          <p:nvPr/>
        </p:nvSpPr>
        <p:spPr>
          <a:xfrm>
            <a:off x="1800011" y="3911171"/>
            <a:ext cx="954082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167" name="Google Shape;1167;p67"/>
          <p:cNvSpPr txBox="1"/>
          <p:nvPr/>
        </p:nvSpPr>
        <p:spPr>
          <a:xfrm>
            <a:off x="760774" y="3914283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</p:txBody>
      </p:sp>
      <p:sp>
        <p:nvSpPr>
          <p:cNvPr id="1168" name="Google Shape;1168;p67"/>
          <p:cNvSpPr txBox="1"/>
          <p:nvPr/>
        </p:nvSpPr>
        <p:spPr>
          <a:xfrm>
            <a:off x="2852659" y="3902826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67"/>
          <p:cNvSpPr/>
          <p:nvPr/>
        </p:nvSpPr>
        <p:spPr>
          <a:xfrm>
            <a:off x="635420" y="4722255"/>
            <a:ext cx="3296832" cy="868451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67"/>
          <p:cNvSpPr txBox="1"/>
          <p:nvPr/>
        </p:nvSpPr>
        <p:spPr>
          <a:xfrm>
            <a:off x="1800011" y="4836807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67"/>
          <p:cNvSpPr txBox="1"/>
          <p:nvPr/>
        </p:nvSpPr>
        <p:spPr>
          <a:xfrm>
            <a:off x="760774" y="4839723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grpSp>
        <p:nvGrpSpPr>
          <p:cNvPr id="1172" name="Google Shape;1172;p67"/>
          <p:cNvGrpSpPr/>
          <p:nvPr/>
        </p:nvGrpSpPr>
        <p:grpSpPr>
          <a:xfrm>
            <a:off x="5678788" y="2531063"/>
            <a:ext cx="3457575" cy="4326937"/>
            <a:chOff x="836304" y="2812963"/>
            <a:chExt cx="3457575" cy="3676327"/>
          </a:xfrm>
        </p:grpSpPr>
        <p:sp>
          <p:nvSpPr>
            <p:cNvPr id="1173" name="Google Shape;1173;p67"/>
            <p:cNvSpPr/>
            <p:nvPr/>
          </p:nvSpPr>
          <p:spPr>
            <a:xfrm>
              <a:off x="836304" y="3341893"/>
              <a:ext cx="3457575" cy="3147397"/>
            </a:xfrm>
            <a:prstGeom prst="can">
              <a:avLst>
                <a:gd fmla="val 13065" name="adj"/>
              </a:avLst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67"/>
            <p:cNvSpPr txBox="1"/>
            <p:nvPr/>
          </p:nvSpPr>
          <p:spPr>
            <a:xfrm>
              <a:off x="2139191" y="2812963"/>
              <a:ext cx="88617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Disk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5" name="Google Shape;1175;p67"/>
          <p:cNvSpPr txBox="1"/>
          <p:nvPr/>
        </p:nvSpPr>
        <p:spPr>
          <a:xfrm>
            <a:off x="5285926" y="3926560"/>
            <a:ext cx="3866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76" name="Google Shape;1176;p67"/>
          <p:cNvSpPr txBox="1"/>
          <p:nvPr/>
        </p:nvSpPr>
        <p:spPr>
          <a:xfrm>
            <a:off x="5245712" y="5213143"/>
            <a:ext cx="3674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77" name="Google Shape;1177;p67"/>
          <p:cNvSpPr/>
          <p:nvPr/>
        </p:nvSpPr>
        <p:spPr>
          <a:xfrm>
            <a:off x="5772963" y="3660316"/>
            <a:ext cx="3296832" cy="687333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67"/>
          <p:cNvSpPr/>
          <p:nvPr/>
        </p:nvSpPr>
        <p:spPr>
          <a:xfrm>
            <a:off x="5772963" y="5153410"/>
            <a:ext cx="3296832" cy="680847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67"/>
          <p:cNvSpPr/>
          <p:nvPr/>
        </p:nvSpPr>
        <p:spPr>
          <a:xfrm>
            <a:off x="4336026" y="4616245"/>
            <a:ext cx="980819" cy="59689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67"/>
          <p:cNvSpPr txBox="1"/>
          <p:nvPr/>
        </p:nvSpPr>
        <p:spPr>
          <a:xfrm>
            <a:off x="4558336" y="4118826"/>
            <a:ext cx="54213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1" baseline="-25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i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67"/>
          <p:cNvSpPr/>
          <p:nvPr/>
        </p:nvSpPr>
        <p:spPr>
          <a:xfrm>
            <a:off x="5773903" y="4399872"/>
            <a:ext cx="3296832" cy="690331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67"/>
          <p:cNvSpPr/>
          <p:nvPr/>
        </p:nvSpPr>
        <p:spPr>
          <a:xfrm>
            <a:off x="5772963" y="5908443"/>
            <a:ext cx="3296832" cy="726248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67"/>
          <p:cNvSpPr txBox="1"/>
          <p:nvPr/>
        </p:nvSpPr>
        <p:spPr>
          <a:xfrm>
            <a:off x="5286448" y="5888546"/>
            <a:ext cx="3674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84" name="Google Shape;1184;p67"/>
          <p:cNvSpPr txBox="1"/>
          <p:nvPr/>
        </p:nvSpPr>
        <p:spPr>
          <a:xfrm>
            <a:off x="5274890" y="4595102"/>
            <a:ext cx="3866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85" name="Google Shape;1185;p67"/>
          <p:cNvSpPr txBox="1"/>
          <p:nvPr/>
        </p:nvSpPr>
        <p:spPr>
          <a:xfrm>
            <a:off x="9500976" y="5426881"/>
            <a:ext cx="2173395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detail in a second…</a:t>
            </a:r>
            <a:endParaRPr b="1"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67"/>
          <p:cNvSpPr txBox="1"/>
          <p:nvPr/>
        </p:nvSpPr>
        <p:spPr>
          <a:xfrm>
            <a:off x="5897352" y="3712405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</p:txBody>
      </p:sp>
      <p:sp>
        <p:nvSpPr>
          <p:cNvPr id="1187" name="Google Shape;1187;p67"/>
          <p:cNvSpPr txBox="1"/>
          <p:nvPr/>
        </p:nvSpPr>
        <p:spPr>
          <a:xfrm>
            <a:off x="6962860" y="3717150"/>
            <a:ext cx="954082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67"/>
          <p:cNvSpPr txBox="1"/>
          <p:nvPr/>
        </p:nvSpPr>
        <p:spPr>
          <a:xfrm>
            <a:off x="5897352" y="4463080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(3,b)</a:t>
            </a:r>
            <a:endParaRPr/>
          </a:p>
        </p:txBody>
      </p:sp>
      <p:sp>
        <p:nvSpPr>
          <p:cNvPr id="1189" name="Google Shape;1189;p67"/>
          <p:cNvSpPr txBox="1"/>
          <p:nvPr/>
        </p:nvSpPr>
        <p:spPr>
          <a:xfrm>
            <a:off x="5911242" y="5202390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190" name="Google Shape;1190;p67"/>
          <p:cNvSpPr txBox="1"/>
          <p:nvPr/>
        </p:nvSpPr>
        <p:spPr>
          <a:xfrm>
            <a:off x="5911242" y="5999572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67"/>
          <p:cNvSpPr txBox="1"/>
          <p:nvPr/>
        </p:nvSpPr>
        <p:spPr>
          <a:xfrm>
            <a:off x="5911242" y="5951735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67"/>
          <p:cNvSpPr txBox="1"/>
          <p:nvPr/>
        </p:nvSpPr>
        <p:spPr>
          <a:xfrm>
            <a:off x="9542348" y="2705854"/>
            <a:ext cx="2173395" cy="1938992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our new convention: pages each have two tuples (one per row)</a:t>
            </a:r>
            <a:endParaRPr b="1"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3" name="Google Shape;1193;p6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94" name="Google Shape;1194;p6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67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6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Join: High-level procedure</a:t>
            </a:r>
            <a:endParaRPr/>
          </a:p>
        </p:txBody>
      </p:sp>
      <p:grpSp>
        <p:nvGrpSpPr>
          <p:cNvPr id="1201" name="Google Shape;1201;p68"/>
          <p:cNvGrpSpPr/>
          <p:nvPr/>
        </p:nvGrpSpPr>
        <p:grpSpPr>
          <a:xfrm>
            <a:off x="556383" y="2812963"/>
            <a:ext cx="3457575" cy="3676327"/>
            <a:chOff x="836304" y="2812963"/>
            <a:chExt cx="3457575" cy="3676327"/>
          </a:xfrm>
        </p:grpSpPr>
        <p:sp>
          <p:nvSpPr>
            <p:cNvPr id="1202" name="Google Shape;1202;p68"/>
            <p:cNvSpPr/>
            <p:nvPr/>
          </p:nvSpPr>
          <p:spPr>
            <a:xfrm>
              <a:off x="836304" y="3341893"/>
              <a:ext cx="3457575" cy="3147397"/>
            </a:xfrm>
            <a:prstGeom prst="can">
              <a:avLst>
                <a:gd fmla="val 13065" name="adj"/>
              </a:avLst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68"/>
            <p:cNvSpPr txBox="1"/>
            <p:nvPr/>
          </p:nvSpPr>
          <p:spPr>
            <a:xfrm>
              <a:off x="2139191" y="2812963"/>
              <a:ext cx="88617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Disk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4" name="Google Shape;1204;p68"/>
          <p:cNvSpPr txBox="1"/>
          <p:nvPr/>
        </p:nvSpPr>
        <p:spPr>
          <a:xfrm>
            <a:off x="224072" y="3933604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68"/>
          <p:cNvSpPr txBox="1"/>
          <p:nvPr/>
        </p:nvSpPr>
        <p:spPr>
          <a:xfrm>
            <a:off x="193105" y="4792346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68"/>
          <p:cNvSpPr/>
          <p:nvPr/>
        </p:nvSpPr>
        <p:spPr>
          <a:xfrm>
            <a:off x="635420" y="3796816"/>
            <a:ext cx="3296832" cy="819429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68"/>
          <p:cNvSpPr txBox="1"/>
          <p:nvPr/>
        </p:nvSpPr>
        <p:spPr>
          <a:xfrm>
            <a:off x="1800011" y="3911171"/>
            <a:ext cx="954082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208" name="Google Shape;1208;p68"/>
          <p:cNvSpPr txBox="1"/>
          <p:nvPr/>
        </p:nvSpPr>
        <p:spPr>
          <a:xfrm>
            <a:off x="760774" y="3914283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</p:txBody>
      </p:sp>
      <p:sp>
        <p:nvSpPr>
          <p:cNvPr id="1209" name="Google Shape;1209;p68"/>
          <p:cNvSpPr txBox="1"/>
          <p:nvPr/>
        </p:nvSpPr>
        <p:spPr>
          <a:xfrm>
            <a:off x="2852659" y="3902826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68"/>
          <p:cNvSpPr/>
          <p:nvPr/>
        </p:nvSpPr>
        <p:spPr>
          <a:xfrm>
            <a:off x="635420" y="4722255"/>
            <a:ext cx="3296832" cy="868451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68"/>
          <p:cNvSpPr txBox="1"/>
          <p:nvPr/>
        </p:nvSpPr>
        <p:spPr>
          <a:xfrm>
            <a:off x="1800011" y="4836807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68"/>
          <p:cNvSpPr txBox="1"/>
          <p:nvPr/>
        </p:nvSpPr>
        <p:spPr>
          <a:xfrm>
            <a:off x="760774" y="4839723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grpSp>
        <p:nvGrpSpPr>
          <p:cNvPr id="1213" name="Google Shape;1213;p68"/>
          <p:cNvGrpSpPr/>
          <p:nvPr/>
        </p:nvGrpSpPr>
        <p:grpSpPr>
          <a:xfrm>
            <a:off x="5678788" y="2531063"/>
            <a:ext cx="3457575" cy="4326937"/>
            <a:chOff x="836304" y="2812963"/>
            <a:chExt cx="3457575" cy="3676327"/>
          </a:xfrm>
        </p:grpSpPr>
        <p:sp>
          <p:nvSpPr>
            <p:cNvPr id="1214" name="Google Shape;1214;p68"/>
            <p:cNvSpPr/>
            <p:nvPr/>
          </p:nvSpPr>
          <p:spPr>
            <a:xfrm>
              <a:off x="836304" y="3341893"/>
              <a:ext cx="3457575" cy="3147397"/>
            </a:xfrm>
            <a:prstGeom prst="can">
              <a:avLst>
                <a:gd fmla="val 13065" name="adj"/>
              </a:avLst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68"/>
            <p:cNvSpPr txBox="1"/>
            <p:nvPr/>
          </p:nvSpPr>
          <p:spPr>
            <a:xfrm>
              <a:off x="2139191" y="2812963"/>
              <a:ext cx="88617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Disk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6" name="Google Shape;1216;p68"/>
          <p:cNvSpPr txBox="1"/>
          <p:nvPr/>
        </p:nvSpPr>
        <p:spPr>
          <a:xfrm>
            <a:off x="5285926" y="3926560"/>
            <a:ext cx="3866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17" name="Google Shape;1217;p68"/>
          <p:cNvSpPr txBox="1"/>
          <p:nvPr/>
        </p:nvSpPr>
        <p:spPr>
          <a:xfrm>
            <a:off x="5245712" y="5213143"/>
            <a:ext cx="3674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18" name="Google Shape;1218;p68"/>
          <p:cNvSpPr/>
          <p:nvPr/>
        </p:nvSpPr>
        <p:spPr>
          <a:xfrm>
            <a:off x="5772963" y="3660316"/>
            <a:ext cx="3296832" cy="687333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68"/>
          <p:cNvSpPr/>
          <p:nvPr/>
        </p:nvSpPr>
        <p:spPr>
          <a:xfrm>
            <a:off x="5772963" y="5153410"/>
            <a:ext cx="3296832" cy="680847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68"/>
          <p:cNvSpPr/>
          <p:nvPr/>
        </p:nvSpPr>
        <p:spPr>
          <a:xfrm>
            <a:off x="4336026" y="4616245"/>
            <a:ext cx="980819" cy="59689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68"/>
          <p:cNvSpPr txBox="1"/>
          <p:nvPr/>
        </p:nvSpPr>
        <p:spPr>
          <a:xfrm>
            <a:off x="4558336" y="4118826"/>
            <a:ext cx="54213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1" baseline="-25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i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68"/>
          <p:cNvSpPr/>
          <p:nvPr/>
        </p:nvSpPr>
        <p:spPr>
          <a:xfrm>
            <a:off x="5773903" y="4399872"/>
            <a:ext cx="3296832" cy="690331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68"/>
          <p:cNvSpPr/>
          <p:nvPr/>
        </p:nvSpPr>
        <p:spPr>
          <a:xfrm>
            <a:off x="5772963" y="5908443"/>
            <a:ext cx="3296832" cy="726248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68"/>
          <p:cNvSpPr txBox="1"/>
          <p:nvPr/>
        </p:nvSpPr>
        <p:spPr>
          <a:xfrm>
            <a:off x="5286448" y="5888546"/>
            <a:ext cx="3674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25" name="Google Shape;1225;p68"/>
          <p:cNvSpPr txBox="1"/>
          <p:nvPr/>
        </p:nvSpPr>
        <p:spPr>
          <a:xfrm>
            <a:off x="5274890" y="4595102"/>
            <a:ext cx="3866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26" name="Google Shape;1226;p68"/>
          <p:cNvSpPr txBox="1"/>
          <p:nvPr/>
        </p:nvSpPr>
        <p:spPr>
          <a:xfrm>
            <a:off x="5897352" y="3712405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</p:txBody>
      </p:sp>
      <p:sp>
        <p:nvSpPr>
          <p:cNvPr id="1227" name="Google Shape;1227;p68"/>
          <p:cNvSpPr txBox="1"/>
          <p:nvPr/>
        </p:nvSpPr>
        <p:spPr>
          <a:xfrm>
            <a:off x="6962860" y="3717150"/>
            <a:ext cx="954082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68"/>
          <p:cNvSpPr txBox="1"/>
          <p:nvPr/>
        </p:nvSpPr>
        <p:spPr>
          <a:xfrm>
            <a:off x="5911242" y="5202390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229" name="Google Shape;1229;p68"/>
          <p:cNvSpPr txBox="1"/>
          <p:nvPr/>
        </p:nvSpPr>
        <p:spPr>
          <a:xfrm>
            <a:off x="5911242" y="5999572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68"/>
          <p:cNvSpPr txBox="1"/>
          <p:nvPr/>
        </p:nvSpPr>
        <p:spPr>
          <a:xfrm>
            <a:off x="5911242" y="5951735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68"/>
          <p:cNvSpPr/>
          <p:nvPr/>
        </p:nvSpPr>
        <p:spPr>
          <a:xfrm>
            <a:off x="5227471" y="3633599"/>
            <a:ext cx="4068929" cy="752177"/>
          </a:xfrm>
          <a:prstGeom prst="roundRect">
            <a:avLst>
              <a:gd fmla="val 16667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68"/>
          <p:cNvSpPr/>
          <p:nvPr/>
        </p:nvSpPr>
        <p:spPr>
          <a:xfrm>
            <a:off x="5235520" y="5122041"/>
            <a:ext cx="4060880" cy="736058"/>
          </a:xfrm>
          <a:prstGeom prst="roundRect">
            <a:avLst>
              <a:gd fmla="val 16667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68"/>
          <p:cNvSpPr/>
          <p:nvPr/>
        </p:nvSpPr>
        <p:spPr>
          <a:xfrm rot="-8792348">
            <a:off x="9401634" y="4251708"/>
            <a:ext cx="980819" cy="31900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68"/>
          <p:cNvSpPr/>
          <p:nvPr/>
        </p:nvSpPr>
        <p:spPr>
          <a:xfrm flipH="1" rot="-2007652">
            <a:off x="9401635" y="5053639"/>
            <a:ext cx="980819" cy="31900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68"/>
          <p:cNvSpPr txBox="1"/>
          <p:nvPr/>
        </p:nvSpPr>
        <p:spPr>
          <a:xfrm>
            <a:off x="10481795" y="4118270"/>
            <a:ext cx="1507157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matching buckets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68"/>
          <p:cNvSpPr txBox="1"/>
          <p:nvPr/>
        </p:nvSpPr>
        <p:spPr>
          <a:xfrm>
            <a:off x="838200" y="1825625"/>
            <a:ext cx="10515600" cy="1129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Matching Phase: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 pairs of buckets whose tuples have the same values for </a:t>
            </a: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1" baseline="-25000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join these</a:t>
            </a:r>
            <a:endParaRPr/>
          </a:p>
          <a:p>
            <a:pPr indent="-361950" lvl="1" marL="9715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7" name="Google Shape;1237;p6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238" name="Google Shape;1238;p6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" name="Google Shape;1239;p68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  <p:sp>
        <p:nvSpPr>
          <p:cNvPr id="1240" name="Google Shape;1240;p68"/>
          <p:cNvSpPr txBox="1"/>
          <p:nvPr/>
        </p:nvSpPr>
        <p:spPr>
          <a:xfrm>
            <a:off x="5897352" y="4463080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(3,b)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6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Join: High-level procedure</a:t>
            </a:r>
            <a:endParaRPr/>
          </a:p>
        </p:txBody>
      </p:sp>
      <p:grpSp>
        <p:nvGrpSpPr>
          <p:cNvPr id="1247" name="Google Shape;1247;p69"/>
          <p:cNvGrpSpPr/>
          <p:nvPr/>
        </p:nvGrpSpPr>
        <p:grpSpPr>
          <a:xfrm>
            <a:off x="556383" y="2812963"/>
            <a:ext cx="3457575" cy="3676327"/>
            <a:chOff x="836304" y="2812963"/>
            <a:chExt cx="3457575" cy="3676327"/>
          </a:xfrm>
        </p:grpSpPr>
        <p:sp>
          <p:nvSpPr>
            <p:cNvPr id="1248" name="Google Shape;1248;p69"/>
            <p:cNvSpPr/>
            <p:nvPr/>
          </p:nvSpPr>
          <p:spPr>
            <a:xfrm>
              <a:off x="836304" y="3341893"/>
              <a:ext cx="3457575" cy="3147397"/>
            </a:xfrm>
            <a:prstGeom prst="can">
              <a:avLst>
                <a:gd fmla="val 13065" name="adj"/>
              </a:avLst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69"/>
            <p:cNvSpPr txBox="1"/>
            <p:nvPr/>
          </p:nvSpPr>
          <p:spPr>
            <a:xfrm>
              <a:off x="2139191" y="2812963"/>
              <a:ext cx="88617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Disk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0" name="Google Shape;1250;p69"/>
          <p:cNvSpPr txBox="1"/>
          <p:nvPr/>
        </p:nvSpPr>
        <p:spPr>
          <a:xfrm>
            <a:off x="224072" y="3933604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69"/>
          <p:cNvSpPr txBox="1"/>
          <p:nvPr/>
        </p:nvSpPr>
        <p:spPr>
          <a:xfrm>
            <a:off x="193105" y="4792346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69"/>
          <p:cNvSpPr/>
          <p:nvPr/>
        </p:nvSpPr>
        <p:spPr>
          <a:xfrm>
            <a:off x="635420" y="3796816"/>
            <a:ext cx="3296832" cy="819429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69"/>
          <p:cNvSpPr txBox="1"/>
          <p:nvPr/>
        </p:nvSpPr>
        <p:spPr>
          <a:xfrm>
            <a:off x="1800011" y="3911171"/>
            <a:ext cx="954082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254" name="Google Shape;1254;p69"/>
          <p:cNvSpPr txBox="1"/>
          <p:nvPr/>
        </p:nvSpPr>
        <p:spPr>
          <a:xfrm>
            <a:off x="760774" y="3914283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</p:txBody>
      </p:sp>
      <p:sp>
        <p:nvSpPr>
          <p:cNvPr id="1255" name="Google Shape;1255;p69"/>
          <p:cNvSpPr txBox="1"/>
          <p:nvPr/>
        </p:nvSpPr>
        <p:spPr>
          <a:xfrm>
            <a:off x="2852659" y="3902826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69"/>
          <p:cNvSpPr/>
          <p:nvPr/>
        </p:nvSpPr>
        <p:spPr>
          <a:xfrm>
            <a:off x="635420" y="4722255"/>
            <a:ext cx="3296832" cy="868451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69"/>
          <p:cNvSpPr txBox="1"/>
          <p:nvPr/>
        </p:nvSpPr>
        <p:spPr>
          <a:xfrm>
            <a:off x="1800011" y="4836807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69"/>
          <p:cNvSpPr txBox="1"/>
          <p:nvPr/>
        </p:nvSpPr>
        <p:spPr>
          <a:xfrm>
            <a:off x="760774" y="4839723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grpSp>
        <p:nvGrpSpPr>
          <p:cNvPr id="1259" name="Google Shape;1259;p69"/>
          <p:cNvGrpSpPr/>
          <p:nvPr/>
        </p:nvGrpSpPr>
        <p:grpSpPr>
          <a:xfrm>
            <a:off x="5678788" y="2531063"/>
            <a:ext cx="3457575" cy="4326937"/>
            <a:chOff x="836304" y="2812963"/>
            <a:chExt cx="3457575" cy="3676327"/>
          </a:xfrm>
        </p:grpSpPr>
        <p:sp>
          <p:nvSpPr>
            <p:cNvPr id="1260" name="Google Shape;1260;p69"/>
            <p:cNvSpPr/>
            <p:nvPr/>
          </p:nvSpPr>
          <p:spPr>
            <a:xfrm>
              <a:off x="836304" y="3341893"/>
              <a:ext cx="3457575" cy="3147397"/>
            </a:xfrm>
            <a:prstGeom prst="can">
              <a:avLst>
                <a:gd fmla="val 13065" name="adj"/>
              </a:avLst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261;p69"/>
            <p:cNvSpPr txBox="1"/>
            <p:nvPr/>
          </p:nvSpPr>
          <p:spPr>
            <a:xfrm>
              <a:off x="2139191" y="2812963"/>
              <a:ext cx="88617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Disk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2" name="Google Shape;1262;p69"/>
          <p:cNvSpPr txBox="1"/>
          <p:nvPr/>
        </p:nvSpPr>
        <p:spPr>
          <a:xfrm>
            <a:off x="5285926" y="3926560"/>
            <a:ext cx="3866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63" name="Google Shape;1263;p69"/>
          <p:cNvSpPr txBox="1"/>
          <p:nvPr/>
        </p:nvSpPr>
        <p:spPr>
          <a:xfrm>
            <a:off x="5245712" y="5213143"/>
            <a:ext cx="3674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64" name="Google Shape;1264;p69"/>
          <p:cNvSpPr/>
          <p:nvPr/>
        </p:nvSpPr>
        <p:spPr>
          <a:xfrm>
            <a:off x="5772963" y="3660316"/>
            <a:ext cx="3296832" cy="687333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69"/>
          <p:cNvSpPr/>
          <p:nvPr/>
        </p:nvSpPr>
        <p:spPr>
          <a:xfrm>
            <a:off x="5772963" y="5153410"/>
            <a:ext cx="3296832" cy="680847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69"/>
          <p:cNvSpPr/>
          <p:nvPr/>
        </p:nvSpPr>
        <p:spPr>
          <a:xfrm>
            <a:off x="4336026" y="4616245"/>
            <a:ext cx="980819" cy="59689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69"/>
          <p:cNvSpPr txBox="1"/>
          <p:nvPr/>
        </p:nvSpPr>
        <p:spPr>
          <a:xfrm>
            <a:off x="4558336" y="4118826"/>
            <a:ext cx="54213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1" baseline="-25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i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69"/>
          <p:cNvSpPr/>
          <p:nvPr/>
        </p:nvSpPr>
        <p:spPr>
          <a:xfrm>
            <a:off x="5773903" y="4399872"/>
            <a:ext cx="3296832" cy="690331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69"/>
          <p:cNvSpPr/>
          <p:nvPr/>
        </p:nvSpPr>
        <p:spPr>
          <a:xfrm>
            <a:off x="5772963" y="5908443"/>
            <a:ext cx="3296832" cy="726248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69"/>
          <p:cNvSpPr txBox="1"/>
          <p:nvPr/>
        </p:nvSpPr>
        <p:spPr>
          <a:xfrm>
            <a:off x="5286448" y="5888546"/>
            <a:ext cx="3674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71" name="Google Shape;1271;p69"/>
          <p:cNvSpPr txBox="1"/>
          <p:nvPr/>
        </p:nvSpPr>
        <p:spPr>
          <a:xfrm>
            <a:off x="5274890" y="4595102"/>
            <a:ext cx="3866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72" name="Google Shape;1272;p69"/>
          <p:cNvSpPr txBox="1"/>
          <p:nvPr/>
        </p:nvSpPr>
        <p:spPr>
          <a:xfrm>
            <a:off x="5897352" y="3712405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</p:txBody>
      </p:sp>
      <p:sp>
        <p:nvSpPr>
          <p:cNvPr id="1273" name="Google Shape;1273;p69"/>
          <p:cNvSpPr txBox="1"/>
          <p:nvPr/>
        </p:nvSpPr>
        <p:spPr>
          <a:xfrm>
            <a:off x="6962860" y="3717150"/>
            <a:ext cx="954082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69"/>
          <p:cNvSpPr txBox="1"/>
          <p:nvPr/>
        </p:nvSpPr>
        <p:spPr>
          <a:xfrm>
            <a:off x="5911242" y="5202390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275" name="Google Shape;1275;p69"/>
          <p:cNvSpPr txBox="1"/>
          <p:nvPr/>
        </p:nvSpPr>
        <p:spPr>
          <a:xfrm>
            <a:off x="5911242" y="5999572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69"/>
          <p:cNvSpPr txBox="1"/>
          <p:nvPr/>
        </p:nvSpPr>
        <p:spPr>
          <a:xfrm>
            <a:off x="5911242" y="5951735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69"/>
          <p:cNvSpPr/>
          <p:nvPr/>
        </p:nvSpPr>
        <p:spPr>
          <a:xfrm rot="-8792348">
            <a:off x="9365333" y="4906232"/>
            <a:ext cx="980819" cy="31900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69"/>
          <p:cNvSpPr/>
          <p:nvPr/>
        </p:nvSpPr>
        <p:spPr>
          <a:xfrm flipH="1" rot="-491739">
            <a:off x="9418317" y="5371139"/>
            <a:ext cx="836527" cy="31900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69"/>
          <p:cNvSpPr txBox="1"/>
          <p:nvPr/>
        </p:nvSpPr>
        <p:spPr>
          <a:xfrm>
            <a:off x="10250311" y="4441996"/>
            <a:ext cx="1941689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Don’t have to join the others!  E.g. (S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R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)!</a:t>
            </a:r>
            <a:endParaRPr/>
          </a:p>
        </p:txBody>
      </p:sp>
      <p:sp>
        <p:nvSpPr>
          <p:cNvPr id="1280" name="Google Shape;1280;p69"/>
          <p:cNvSpPr txBox="1"/>
          <p:nvPr/>
        </p:nvSpPr>
        <p:spPr>
          <a:xfrm>
            <a:off x="838200" y="1825625"/>
            <a:ext cx="10515600" cy="1129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Matching Phase: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 pairs of buckets whose tuples have the same values for </a:t>
            </a: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1" baseline="-25000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join these</a:t>
            </a:r>
            <a:endParaRPr/>
          </a:p>
          <a:p>
            <a:pPr indent="-361950" lvl="1" marL="9715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1" name="Google Shape;1281;p6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282" name="Google Shape;1282;p6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69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  <p:sp>
        <p:nvSpPr>
          <p:cNvPr id="1284" name="Google Shape;1284;p69"/>
          <p:cNvSpPr txBox="1"/>
          <p:nvPr/>
        </p:nvSpPr>
        <p:spPr>
          <a:xfrm>
            <a:off x="5897352" y="4463080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(3,b)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7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 Phase 1: Partitioning</a:t>
            </a:r>
            <a:endParaRPr/>
          </a:p>
        </p:txBody>
      </p:sp>
      <p:sp>
        <p:nvSpPr>
          <p:cNvPr id="1290" name="Google Shape;1290;p7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Goal: </a:t>
            </a:r>
            <a:r>
              <a:rPr lang="en-US"/>
              <a:t>For each relation, partition relation into </a:t>
            </a:r>
            <a:r>
              <a:rPr b="1" lang="en-US"/>
              <a:t>buckets</a:t>
            </a:r>
            <a:r>
              <a:rPr lang="en-US"/>
              <a:t> such that if h</a:t>
            </a:r>
            <a:r>
              <a:rPr baseline="-25000" lang="en-US"/>
              <a:t>B</a:t>
            </a:r>
            <a:r>
              <a:rPr lang="en-US"/>
              <a:t>(t.A) = h</a:t>
            </a:r>
            <a:r>
              <a:rPr baseline="-25000" lang="en-US"/>
              <a:t>B</a:t>
            </a:r>
            <a:r>
              <a:rPr lang="en-US"/>
              <a:t>(t’.A) they are in the same bucket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Given B+1 buffer pages, we partition into B buckets: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We use B buffer pages for output (one for each bucket), and 1 for input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The “dual” of sorting.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For each tuple t in input, copy to buffer page for h</a:t>
            </a:r>
            <a:r>
              <a:rPr baseline="-25000" lang="en-US"/>
              <a:t>B</a:t>
            </a:r>
            <a:r>
              <a:rPr lang="en-US"/>
              <a:t>(t.A)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When page fills up, flush to disk.</a:t>
            </a:r>
            <a:endParaRPr/>
          </a:p>
        </p:txBody>
      </p:sp>
      <p:grpSp>
        <p:nvGrpSpPr>
          <p:cNvPr id="1291" name="Google Shape;1291;p7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292" name="Google Shape;1292;p7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70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7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big are the resulting buckets?</a:t>
            </a:r>
            <a:endParaRPr/>
          </a:p>
        </p:txBody>
      </p:sp>
      <p:sp>
        <p:nvSpPr>
          <p:cNvPr id="1299" name="Google Shape;1299;p7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Given </a:t>
            </a:r>
            <a:r>
              <a:rPr b="1" lang="en-US"/>
              <a:t>N input pages, we partition into B buckets</a:t>
            </a:r>
            <a:r>
              <a:rPr lang="en-US"/>
              <a:t>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🡪 Ideally our buckets are each of size </a:t>
            </a:r>
            <a:r>
              <a:rPr b="1" lang="en-US"/>
              <a:t>~ N/B pages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happens if there are </a:t>
            </a:r>
            <a:r>
              <a:rPr b="1" lang="en-US"/>
              <a:t>hash collisions</a:t>
            </a:r>
            <a:r>
              <a:rPr lang="en-US"/>
              <a:t>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Buckets could be  N/B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We’ll do several passes…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happens if there are </a:t>
            </a:r>
            <a:r>
              <a:rPr b="1" lang="en-US"/>
              <a:t>duplicate join keys?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Nothing we can do here… could have some </a:t>
            </a:r>
            <a:r>
              <a:rPr b="1" lang="en-US"/>
              <a:t>skew</a:t>
            </a:r>
            <a:r>
              <a:rPr lang="en-US"/>
              <a:t> in size of the buckets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300" name="Google Shape;1300;p71"/>
          <p:cNvSpPr txBox="1"/>
          <p:nvPr/>
        </p:nvSpPr>
        <p:spPr>
          <a:xfrm>
            <a:off x="8863284" y="1459855"/>
            <a:ext cx="3076923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B+1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pages</a:t>
            </a:r>
            <a:endParaRPr/>
          </a:p>
        </p:txBody>
      </p:sp>
      <p:grpSp>
        <p:nvGrpSpPr>
          <p:cNvPr id="1301" name="Google Shape;1301;p7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302" name="Google Shape;1302;p7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1303;p71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7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big </a:t>
            </a:r>
            <a:r>
              <a:rPr i="1" lang="en-US"/>
              <a:t>do we want</a:t>
            </a:r>
            <a:r>
              <a:rPr lang="en-US"/>
              <a:t> the resulting buckets?</a:t>
            </a:r>
            <a:endParaRPr/>
          </a:p>
        </p:txBody>
      </p:sp>
      <p:sp>
        <p:nvSpPr>
          <p:cNvPr id="1309" name="Google Shape;1309;p72"/>
          <p:cNvSpPr txBox="1"/>
          <p:nvPr>
            <p:ph idx="1" type="body"/>
          </p:nvPr>
        </p:nvSpPr>
        <p:spPr>
          <a:xfrm>
            <a:off x="838199" y="1825625"/>
            <a:ext cx="8620125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28" r="-1323" t="-261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310" name="Google Shape;1310;p72"/>
          <p:cNvSpPr txBox="1"/>
          <p:nvPr/>
        </p:nvSpPr>
        <p:spPr>
          <a:xfrm>
            <a:off x="8338486" y="5480903"/>
            <a:ext cx="3015314" cy="830997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We’ll call each of these a “pass” again…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72"/>
          <p:cNvSpPr txBox="1"/>
          <p:nvPr/>
        </p:nvSpPr>
        <p:spPr>
          <a:xfrm>
            <a:off x="8863284" y="1459855"/>
            <a:ext cx="3076923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B+1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pages</a:t>
            </a:r>
            <a:endParaRPr/>
          </a:p>
        </p:txBody>
      </p:sp>
      <p:sp>
        <p:nvSpPr>
          <p:cNvPr id="1312" name="Google Shape;1312;p72"/>
          <p:cNvSpPr txBox="1"/>
          <p:nvPr/>
        </p:nvSpPr>
        <p:spPr>
          <a:xfrm>
            <a:off x="9366523" y="3413280"/>
            <a:ext cx="2573684" cy="117602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1313" name="Google Shape;1313;p7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314" name="Google Shape;1314;p7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72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73"/>
          <p:cNvSpPr txBox="1"/>
          <p:nvPr>
            <p:ph idx="1" type="body"/>
          </p:nvPr>
        </p:nvSpPr>
        <p:spPr>
          <a:xfrm>
            <a:off x="838200" y="1523675"/>
            <a:ext cx="10515600" cy="1172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We partition into </a:t>
            </a:r>
            <a:r>
              <a:rPr b="1" i="1" lang="en-US"/>
              <a:t>B = 2</a:t>
            </a:r>
            <a:r>
              <a:rPr lang="en-US"/>
              <a:t> buckets </a:t>
            </a:r>
            <a:r>
              <a:rPr b="1" lang="en-US"/>
              <a:t>using hash function h</a:t>
            </a:r>
            <a:r>
              <a:rPr b="1" baseline="-25000" lang="en-US"/>
              <a:t>2</a:t>
            </a:r>
            <a:r>
              <a:rPr b="1" lang="en-US"/>
              <a:t> </a:t>
            </a:r>
            <a:r>
              <a:rPr lang="en-US"/>
              <a:t>so that we can have one buffer page for each partition (and one for input)</a:t>
            </a:r>
            <a:endParaRPr/>
          </a:p>
        </p:txBody>
      </p:sp>
      <p:sp>
        <p:nvSpPr>
          <p:cNvPr id="1321" name="Google Shape;1321;p7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 Phase 1: Partitioning</a:t>
            </a:r>
            <a:endParaRPr/>
          </a:p>
        </p:txBody>
      </p:sp>
      <p:grpSp>
        <p:nvGrpSpPr>
          <p:cNvPr id="1322" name="Google Shape;1322;p73"/>
          <p:cNvGrpSpPr/>
          <p:nvPr/>
        </p:nvGrpSpPr>
        <p:grpSpPr>
          <a:xfrm>
            <a:off x="748697" y="2490533"/>
            <a:ext cx="3457575" cy="4204433"/>
            <a:chOff x="836304" y="3062171"/>
            <a:chExt cx="3457575" cy="3427119"/>
          </a:xfrm>
        </p:grpSpPr>
        <p:sp>
          <p:nvSpPr>
            <p:cNvPr id="1323" name="Google Shape;1323;p73"/>
            <p:cNvSpPr/>
            <p:nvPr/>
          </p:nvSpPr>
          <p:spPr>
            <a:xfrm>
              <a:off x="836304" y="3341893"/>
              <a:ext cx="3457575" cy="3147397"/>
            </a:xfrm>
            <a:prstGeom prst="can">
              <a:avLst>
                <a:gd fmla="val 13065" name="adj"/>
              </a:avLst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73"/>
            <p:cNvSpPr txBox="1"/>
            <p:nvPr/>
          </p:nvSpPr>
          <p:spPr>
            <a:xfrm>
              <a:off x="2093854" y="3062171"/>
              <a:ext cx="88617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Disk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5" name="Google Shape;1325;p73"/>
          <p:cNvSpPr txBox="1"/>
          <p:nvPr/>
        </p:nvSpPr>
        <p:spPr>
          <a:xfrm>
            <a:off x="412079" y="3762630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73"/>
          <p:cNvSpPr/>
          <p:nvPr/>
        </p:nvSpPr>
        <p:spPr>
          <a:xfrm>
            <a:off x="827734" y="3283295"/>
            <a:ext cx="3296832" cy="1465840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73"/>
          <p:cNvSpPr txBox="1"/>
          <p:nvPr/>
        </p:nvSpPr>
        <p:spPr>
          <a:xfrm>
            <a:off x="3014274" y="3394418"/>
            <a:ext cx="954082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328" name="Google Shape;1328;p73"/>
          <p:cNvSpPr txBox="1"/>
          <p:nvPr/>
        </p:nvSpPr>
        <p:spPr>
          <a:xfrm>
            <a:off x="8226845" y="797073"/>
            <a:ext cx="3845550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B+1 = 3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pages</a:t>
            </a:r>
            <a:endParaRPr/>
          </a:p>
        </p:txBody>
      </p:sp>
      <p:sp>
        <p:nvSpPr>
          <p:cNvPr id="1329" name="Google Shape;1329;p73"/>
          <p:cNvSpPr txBox="1"/>
          <p:nvPr/>
        </p:nvSpPr>
        <p:spPr>
          <a:xfrm>
            <a:off x="956512" y="3394419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73"/>
          <p:cNvSpPr txBox="1"/>
          <p:nvPr/>
        </p:nvSpPr>
        <p:spPr>
          <a:xfrm>
            <a:off x="1958178" y="3394419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331" name="Google Shape;1331;p73"/>
          <p:cNvSpPr txBox="1"/>
          <p:nvPr/>
        </p:nvSpPr>
        <p:spPr>
          <a:xfrm>
            <a:off x="956513" y="4043048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(3,a)</a:t>
            </a:r>
            <a:endParaRPr/>
          </a:p>
        </p:txBody>
      </p:sp>
      <p:sp>
        <p:nvSpPr>
          <p:cNvPr id="1332" name="Google Shape;1332;p73"/>
          <p:cNvSpPr txBox="1"/>
          <p:nvPr/>
        </p:nvSpPr>
        <p:spPr>
          <a:xfrm>
            <a:off x="5262344" y="2833699"/>
            <a:ext cx="6091455" cy="138499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simplicity, we’ll look at partitioning one of the two relations- we just do the same for the other relation!</a:t>
            </a:r>
            <a:endParaRPr/>
          </a:p>
        </p:txBody>
      </p:sp>
      <p:sp>
        <p:nvSpPr>
          <p:cNvPr id="1333" name="Google Shape;1333;p73"/>
          <p:cNvSpPr txBox="1"/>
          <p:nvPr/>
        </p:nvSpPr>
        <p:spPr>
          <a:xfrm>
            <a:off x="5284349" y="4660932"/>
            <a:ext cx="6069450" cy="95410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Recall: our goal will be to get </a:t>
            </a: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= 2 buckets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size &lt;= </a:t>
            </a: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B-1 🡪 1 page each</a:t>
            </a:r>
            <a:endParaRPr/>
          </a:p>
        </p:txBody>
      </p:sp>
      <p:grpSp>
        <p:nvGrpSpPr>
          <p:cNvPr id="1334" name="Google Shape;1334;p7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335" name="Google Shape;1335;p7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6" name="Google Shape;1336;p73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74"/>
          <p:cNvSpPr txBox="1"/>
          <p:nvPr>
            <p:ph idx="1" type="body"/>
          </p:nvPr>
        </p:nvSpPr>
        <p:spPr>
          <a:xfrm>
            <a:off x="838200" y="1523675"/>
            <a:ext cx="10515600" cy="1172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1. We read pages from R into the “input” page of the buffer…</a:t>
            </a:r>
            <a:endParaRPr/>
          </a:p>
        </p:txBody>
      </p:sp>
      <p:sp>
        <p:nvSpPr>
          <p:cNvPr id="1342" name="Google Shape;1342;p74"/>
          <p:cNvSpPr/>
          <p:nvPr/>
        </p:nvSpPr>
        <p:spPr>
          <a:xfrm>
            <a:off x="6858000" y="2928938"/>
            <a:ext cx="4488568" cy="244050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74"/>
          <p:cNvSpPr/>
          <p:nvPr/>
        </p:nvSpPr>
        <p:spPr>
          <a:xfrm>
            <a:off x="7397205" y="3674774"/>
            <a:ext cx="3956596" cy="1710437"/>
          </a:xfrm>
          <a:prstGeom prst="rect">
            <a:avLst/>
          </a:prstGeom>
          <a:solidFill>
            <a:srgbClr val="B3C6E7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74"/>
          <p:cNvSpPr txBox="1"/>
          <p:nvPr/>
        </p:nvSpPr>
        <p:spPr>
          <a:xfrm>
            <a:off x="6963102" y="3041474"/>
            <a:ext cx="19684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Memory</a:t>
            </a:r>
            <a:endParaRPr/>
          </a:p>
        </p:txBody>
      </p:sp>
      <p:sp>
        <p:nvSpPr>
          <p:cNvPr id="1345" name="Google Shape;1345;p74"/>
          <p:cNvSpPr txBox="1"/>
          <p:nvPr/>
        </p:nvSpPr>
        <p:spPr>
          <a:xfrm>
            <a:off x="7397205" y="3692844"/>
            <a:ext cx="9535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endParaRPr/>
          </a:p>
        </p:txBody>
      </p:sp>
      <p:sp>
        <p:nvSpPr>
          <p:cNvPr id="1346" name="Google Shape;1346;p74"/>
          <p:cNvSpPr/>
          <p:nvPr/>
        </p:nvSpPr>
        <p:spPr>
          <a:xfrm>
            <a:off x="8803984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74"/>
          <p:cNvSpPr/>
          <p:nvPr/>
        </p:nvSpPr>
        <p:spPr>
          <a:xfrm>
            <a:off x="10016195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74"/>
          <p:cNvSpPr/>
          <p:nvPr/>
        </p:nvSpPr>
        <p:spPr>
          <a:xfrm>
            <a:off x="4847157" y="4131962"/>
            <a:ext cx="1461477" cy="37624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7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 Phase 1: Partitioning</a:t>
            </a:r>
            <a:endParaRPr/>
          </a:p>
        </p:txBody>
      </p:sp>
      <p:sp>
        <p:nvSpPr>
          <p:cNvPr id="1350" name="Google Shape;1350;p74"/>
          <p:cNvSpPr/>
          <p:nvPr/>
        </p:nvSpPr>
        <p:spPr>
          <a:xfrm>
            <a:off x="7591773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74"/>
          <p:cNvSpPr txBox="1"/>
          <p:nvPr/>
        </p:nvSpPr>
        <p:spPr>
          <a:xfrm>
            <a:off x="7658784" y="5409476"/>
            <a:ext cx="99324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page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74"/>
          <p:cNvSpPr txBox="1"/>
          <p:nvPr/>
        </p:nvSpPr>
        <p:spPr>
          <a:xfrm>
            <a:off x="8890901" y="5424414"/>
            <a:ext cx="9932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353" name="Google Shape;1353;p74"/>
          <p:cNvSpPr txBox="1"/>
          <p:nvPr/>
        </p:nvSpPr>
        <p:spPr>
          <a:xfrm>
            <a:off x="10103111" y="5424414"/>
            <a:ext cx="9932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54" name="Google Shape;1354;p74"/>
          <p:cNvSpPr/>
          <p:nvPr/>
        </p:nvSpPr>
        <p:spPr>
          <a:xfrm rot="5400000">
            <a:off x="9831280" y="5046118"/>
            <a:ext cx="338818" cy="2138328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74"/>
          <p:cNvSpPr txBox="1"/>
          <p:nvPr/>
        </p:nvSpPr>
        <p:spPr>
          <a:xfrm>
            <a:off x="8350799" y="6303942"/>
            <a:ext cx="35118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(bucket) pages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56" name="Google Shape;1356;p74"/>
          <p:cNvGrpSpPr/>
          <p:nvPr/>
        </p:nvGrpSpPr>
        <p:grpSpPr>
          <a:xfrm>
            <a:off x="748697" y="2490533"/>
            <a:ext cx="3457575" cy="4204433"/>
            <a:chOff x="836304" y="3062171"/>
            <a:chExt cx="3457575" cy="3427119"/>
          </a:xfrm>
        </p:grpSpPr>
        <p:sp>
          <p:nvSpPr>
            <p:cNvPr id="1357" name="Google Shape;1357;p74"/>
            <p:cNvSpPr/>
            <p:nvPr/>
          </p:nvSpPr>
          <p:spPr>
            <a:xfrm>
              <a:off x="836304" y="3341893"/>
              <a:ext cx="3457575" cy="3147397"/>
            </a:xfrm>
            <a:prstGeom prst="can">
              <a:avLst>
                <a:gd fmla="val 13065" name="adj"/>
              </a:avLst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1358;p74"/>
            <p:cNvSpPr txBox="1"/>
            <p:nvPr/>
          </p:nvSpPr>
          <p:spPr>
            <a:xfrm>
              <a:off x="2093854" y="3062171"/>
              <a:ext cx="88617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Disk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9" name="Google Shape;1359;p74"/>
          <p:cNvSpPr txBox="1"/>
          <p:nvPr/>
        </p:nvSpPr>
        <p:spPr>
          <a:xfrm>
            <a:off x="412079" y="3762630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74"/>
          <p:cNvSpPr/>
          <p:nvPr/>
        </p:nvSpPr>
        <p:spPr>
          <a:xfrm>
            <a:off x="827734" y="3283295"/>
            <a:ext cx="3296832" cy="1465840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74"/>
          <p:cNvSpPr txBox="1"/>
          <p:nvPr/>
        </p:nvSpPr>
        <p:spPr>
          <a:xfrm>
            <a:off x="8226845" y="797073"/>
            <a:ext cx="3845550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B+1 = 3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pages</a:t>
            </a:r>
            <a:endParaRPr/>
          </a:p>
        </p:txBody>
      </p:sp>
      <p:sp>
        <p:nvSpPr>
          <p:cNvPr id="1362" name="Google Shape;1362;p74"/>
          <p:cNvSpPr/>
          <p:nvPr/>
        </p:nvSpPr>
        <p:spPr>
          <a:xfrm rot="10800000">
            <a:off x="4817058" y="4529992"/>
            <a:ext cx="1461477" cy="37624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74"/>
          <p:cNvSpPr txBox="1"/>
          <p:nvPr/>
        </p:nvSpPr>
        <p:spPr>
          <a:xfrm>
            <a:off x="3014274" y="3394418"/>
            <a:ext cx="954082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364" name="Google Shape;1364;p74"/>
          <p:cNvSpPr txBox="1"/>
          <p:nvPr/>
        </p:nvSpPr>
        <p:spPr>
          <a:xfrm>
            <a:off x="956512" y="3394419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74"/>
          <p:cNvSpPr txBox="1"/>
          <p:nvPr/>
        </p:nvSpPr>
        <p:spPr>
          <a:xfrm>
            <a:off x="1958178" y="3394419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366" name="Google Shape;1366;p74"/>
          <p:cNvSpPr txBox="1"/>
          <p:nvPr/>
        </p:nvSpPr>
        <p:spPr>
          <a:xfrm>
            <a:off x="956513" y="4043048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(3,a)</a:t>
            </a:r>
            <a:endParaRPr/>
          </a:p>
        </p:txBody>
      </p:sp>
      <p:grpSp>
        <p:nvGrpSpPr>
          <p:cNvPr id="1367" name="Google Shape;1367;p7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368" name="Google Shape;1368;p7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9" name="Google Shape;1369;p74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75"/>
          <p:cNvSpPr txBox="1"/>
          <p:nvPr>
            <p:ph idx="1" type="body"/>
          </p:nvPr>
        </p:nvSpPr>
        <p:spPr>
          <a:xfrm>
            <a:off x="838200" y="1523675"/>
            <a:ext cx="10515600" cy="1172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2. Then we use </a:t>
            </a:r>
            <a:r>
              <a:rPr b="1" lang="en-US"/>
              <a:t>hash function h</a:t>
            </a:r>
            <a:r>
              <a:rPr b="1" baseline="-25000" lang="en-US"/>
              <a:t>2</a:t>
            </a:r>
            <a:r>
              <a:rPr b="1" lang="en-US"/>
              <a:t> </a:t>
            </a:r>
            <a:r>
              <a:rPr lang="en-US"/>
              <a:t>to sort into the buckets, which each have one page in the buffer</a:t>
            </a:r>
            <a:endParaRPr/>
          </a:p>
        </p:txBody>
      </p:sp>
      <p:sp>
        <p:nvSpPr>
          <p:cNvPr id="1375" name="Google Shape;1375;p75"/>
          <p:cNvSpPr/>
          <p:nvPr/>
        </p:nvSpPr>
        <p:spPr>
          <a:xfrm>
            <a:off x="6858000" y="2928938"/>
            <a:ext cx="4488568" cy="244050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75"/>
          <p:cNvSpPr/>
          <p:nvPr/>
        </p:nvSpPr>
        <p:spPr>
          <a:xfrm>
            <a:off x="7397205" y="3674774"/>
            <a:ext cx="3956596" cy="1710437"/>
          </a:xfrm>
          <a:prstGeom prst="rect">
            <a:avLst/>
          </a:prstGeom>
          <a:solidFill>
            <a:srgbClr val="B3C6E7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75"/>
          <p:cNvSpPr txBox="1"/>
          <p:nvPr/>
        </p:nvSpPr>
        <p:spPr>
          <a:xfrm>
            <a:off x="6963102" y="3041474"/>
            <a:ext cx="19684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Memory</a:t>
            </a:r>
            <a:endParaRPr/>
          </a:p>
        </p:txBody>
      </p:sp>
      <p:sp>
        <p:nvSpPr>
          <p:cNvPr id="1378" name="Google Shape;1378;p75"/>
          <p:cNvSpPr txBox="1"/>
          <p:nvPr/>
        </p:nvSpPr>
        <p:spPr>
          <a:xfrm>
            <a:off x="7397205" y="3692844"/>
            <a:ext cx="9535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endParaRPr/>
          </a:p>
        </p:txBody>
      </p:sp>
      <p:sp>
        <p:nvSpPr>
          <p:cNvPr id="1379" name="Google Shape;1379;p75"/>
          <p:cNvSpPr/>
          <p:nvPr/>
        </p:nvSpPr>
        <p:spPr>
          <a:xfrm>
            <a:off x="8803984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75"/>
          <p:cNvSpPr/>
          <p:nvPr/>
        </p:nvSpPr>
        <p:spPr>
          <a:xfrm>
            <a:off x="10016195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7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 Phase 1: Partitioning</a:t>
            </a:r>
            <a:endParaRPr/>
          </a:p>
        </p:txBody>
      </p:sp>
      <p:sp>
        <p:nvSpPr>
          <p:cNvPr id="1382" name="Google Shape;1382;p75"/>
          <p:cNvSpPr/>
          <p:nvPr/>
        </p:nvSpPr>
        <p:spPr>
          <a:xfrm>
            <a:off x="7591773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75"/>
          <p:cNvSpPr txBox="1"/>
          <p:nvPr/>
        </p:nvSpPr>
        <p:spPr>
          <a:xfrm>
            <a:off x="7658784" y="5409476"/>
            <a:ext cx="99324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page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75"/>
          <p:cNvSpPr txBox="1"/>
          <p:nvPr/>
        </p:nvSpPr>
        <p:spPr>
          <a:xfrm>
            <a:off x="8890901" y="5424414"/>
            <a:ext cx="9932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385" name="Google Shape;1385;p75"/>
          <p:cNvSpPr txBox="1"/>
          <p:nvPr/>
        </p:nvSpPr>
        <p:spPr>
          <a:xfrm>
            <a:off x="10103111" y="5424414"/>
            <a:ext cx="9932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86" name="Google Shape;1386;p75"/>
          <p:cNvSpPr/>
          <p:nvPr/>
        </p:nvSpPr>
        <p:spPr>
          <a:xfrm rot="5400000">
            <a:off x="9831280" y="5046118"/>
            <a:ext cx="338818" cy="2138328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75"/>
          <p:cNvSpPr txBox="1"/>
          <p:nvPr/>
        </p:nvSpPr>
        <p:spPr>
          <a:xfrm>
            <a:off x="8350799" y="6303942"/>
            <a:ext cx="35118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(bucket) pages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88" name="Google Shape;1388;p75"/>
          <p:cNvGrpSpPr/>
          <p:nvPr/>
        </p:nvGrpSpPr>
        <p:grpSpPr>
          <a:xfrm>
            <a:off x="748697" y="2490533"/>
            <a:ext cx="3457575" cy="4204433"/>
            <a:chOff x="836304" y="3062171"/>
            <a:chExt cx="3457575" cy="3427119"/>
          </a:xfrm>
        </p:grpSpPr>
        <p:sp>
          <p:nvSpPr>
            <p:cNvPr id="1389" name="Google Shape;1389;p75"/>
            <p:cNvSpPr/>
            <p:nvPr/>
          </p:nvSpPr>
          <p:spPr>
            <a:xfrm>
              <a:off x="836304" y="3341893"/>
              <a:ext cx="3457575" cy="3147397"/>
            </a:xfrm>
            <a:prstGeom prst="can">
              <a:avLst>
                <a:gd fmla="val 13065" name="adj"/>
              </a:avLst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0" name="Google Shape;1390;p75"/>
            <p:cNvSpPr txBox="1"/>
            <p:nvPr/>
          </p:nvSpPr>
          <p:spPr>
            <a:xfrm>
              <a:off x="2093854" y="3062171"/>
              <a:ext cx="88617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Disk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1" name="Google Shape;1391;p75"/>
          <p:cNvSpPr txBox="1"/>
          <p:nvPr/>
        </p:nvSpPr>
        <p:spPr>
          <a:xfrm>
            <a:off x="382974" y="3522962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75"/>
          <p:cNvSpPr/>
          <p:nvPr/>
        </p:nvSpPr>
        <p:spPr>
          <a:xfrm>
            <a:off x="827734" y="3283295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75"/>
          <p:cNvSpPr txBox="1"/>
          <p:nvPr/>
        </p:nvSpPr>
        <p:spPr>
          <a:xfrm>
            <a:off x="8226845" y="797073"/>
            <a:ext cx="3845550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B+1 = 3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pages</a:t>
            </a:r>
            <a:endParaRPr/>
          </a:p>
        </p:txBody>
      </p:sp>
      <p:sp>
        <p:nvSpPr>
          <p:cNvPr id="1394" name="Google Shape;1394;p75"/>
          <p:cNvSpPr txBox="1"/>
          <p:nvPr/>
        </p:nvSpPr>
        <p:spPr>
          <a:xfrm>
            <a:off x="7678354" y="4354160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(3,a)</a:t>
            </a:r>
            <a:endParaRPr/>
          </a:p>
        </p:txBody>
      </p:sp>
      <p:sp>
        <p:nvSpPr>
          <p:cNvPr id="1395" name="Google Shape;1395;p75"/>
          <p:cNvSpPr txBox="1"/>
          <p:nvPr/>
        </p:nvSpPr>
        <p:spPr>
          <a:xfrm>
            <a:off x="9205552" y="3065737"/>
            <a:ext cx="1415772" cy="52322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(0) = 0</a:t>
            </a:r>
            <a:endParaRPr/>
          </a:p>
        </p:txBody>
      </p:sp>
      <p:sp>
        <p:nvSpPr>
          <p:cNvPr id="1396" name="Google Shape;1396;p75"/>
          <p:cNvSpPr/>
          <p:nvPr/>
        </p:nvSpPr>
        <p:spPr>
          <a:xfrm>
            <a:off x="4847157" y="4131962"/>
            <a:ext cx="1461477" cy="37624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75"/>
          <p:cNvSpPr/>
          <p:nvPr/>
        </p:nvSpPr>
        <p:spPr>
          <a:xfrm rot="10800000">
            <a:off x="4817058" y="4529992"/>
            <a:ext cx="1461477" cy="37624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75"/>
          <p:cNvSpPr txBox="1"/>
          <p:nvPr/>
        </p:nvSpPr>
        <p:spPr>
          <a:xfrm>
            <a:off x="7678354" y="4361122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(3,a)</a:t>
            </a:r>
            <a:endParaRPr/>
          </a:p>
        </p:txBody>
      </p:sp>
      <p:sp>
        <p:nvSpPr>
          <p:cNvPr id="1399" name="Google Shape;1399;p75"/>
          <p:cNvSpPr txBox="1"/>
          <p:nvPr/>
        </p:nvSpPr>
        <p:spPr>
          <a:xfrm>
            <a:off x="8890901" y="4374599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75"/>
          <p:cNvSpPr txBox="1"/>
          <p:nvPr/>
        </p:nvSpPr>
        <p:spPr>
          <a:xfrm>
            <a:off x="3014274" y="3394418"/>
            <a:ext cx="954082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401" name="Google Shape;1401;p75"/>
          <p:cNvSpPr txBox="1"/>
          <p:nvPr/>
        </p:nvSpPr>
        <p:spPr>
          <a:xfrm>
            <a:off x="956512" y="3394419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75"/>
          <p:cNvSpPr txBox="1"/>
          <p:nvPr/>
        </p:nvSpPr>
        <p:spPr>
          <a:xfrm>
            <a:off x="1958178" y="3394419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grpSp>
        <p:nvGrpSpPr>
          <p:cNvPr id="1403" name="Google Shape;1403;p7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404" name="Google Shape;1404;p7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1405;p75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76"/>
          <p:cNvSpPr/>
          <p:nvPr/>
        </p:nvSpPr>
        <p:spPr>
          <a:xfrm>
            <a:off x="6858000" y="2928938"/>
            <a:ext cx="4488568" cy="244050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76"/>
          <p:cNvSpPr/>
          <p:nvPr/>
        </p:nvSpPr>
        <p:spPr>
          <a:xfrm>
            <a:off x="7397205" y="3674774"/>
            <a:ext cx="3956596" cy="1710437"/>
          </a:xfrm>
          <a:prstGeom prst="rect">
            <a:avLst/>
          </a:prstGeom>
          <a:solidFill>
            <a:srgbClr val="B3C6E7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76"/>
          <p:cNvSpPr txBox="1"/>
          <p:nvPr/>
        </p:nvSpPr>
        <p:spPr>
          <a:xfrm>
            <a:off x="6963102" y="3041474"/>
            <a:ext cx="19684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Memory</a:t>
            </a:r>
            <a:endParaRPr/>
          </a:p>
        </p:txBody>
      </p:sp>
      <p:sp>
        <p:nvSpPr>
          <p:cNvPr id="1413" name="Google Shape;1413;p76"/>
          <p:cNvSpPr txBox="1"/>
          <p:nvPr/>
        </p:nvSpPr>
        <p:spPr>
          <a:xfrm>
            <a:off x="7397205" y="3692844"/>
            <a:ext cx="9535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endParaRPr/>
          </a:p>
        </p:txBody>
      </p:sp>
      <p:sp>
        <p:nvSpPr>
          <p:cNvPr id="1414" name="Google Shape;1414;p76"/>
          <p:cNvSpPr/>
          <p:nvPr/>
        </p:nvSpPr>
        <p:spPr>
          <a:xfrm>
            <a:off x="8803984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76"/>
          <p:cNvSpPr/>
          <p:nvPr/>
        </p:nvSpPr>
        <p:spPr>
          <a:xfrm>
            <a:off x="10016195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7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 Phase 1: Partitioning</a:t>
            </a:r>
            <a:endParaRPr/>
          </a:p>
        </p:txBody>
      </p:sp>
      <p:sp>
        <p:nvSpPr>
          <p:cNvPr id="1417" name="Google Shape;1417;p76"/>
          <p:cNvSpPr/>
          <p:nvPr/>
        </p:nvSpPr>
        <p:spPr>
          <a:xfrm>
            <a:off x="7591773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p76"/>
          <p:cNvSpPr txBox="1"/>
          <p:nvPr/>
        </p:nvSpPr>
        <p:spPr>
          <a:xfrm>
            <a:off x="7658784" y="5409476"/>
            <a:ext cx="99324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page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76"/>
          <p:cNvSpPr txBox="1"/>
          <p:nvPr/>
        </p:nvSpPr>
        <p:spPr>
          <a:xfrm>
            <a:off x="8890901" y="5424414"/>
            <a:ext cx="9932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420" name="Google Shape;1420;p76"/>
          <p:cNvSpPr txBox="1"/>
          <p:nvPr/>
        </p:nvSpPr>
        <p:spPr>
          <a:xfrm>
            <a:off x="10103111" y="5424414"/>
            <a:ext cx="9932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21" name="Google Shape;1421;p76"/>
          <p:cNvSpPr/>
          <p:nvPr/>
        </p:nvSpPr>
        <p:spPr>
          <a:xfrm rot="5400000">
            <a:off x="9831280" y="5046118"/>
            <a:ext cx="338818" cy="2138328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76"/>
          <p:cNvSpPr txBox="1"/>
          <p:nvPr/>
        </p:nvSpPr>
        <p:spPr>
          <a:xfrm>
            <a:off x="8350799" y="6303942"/>
            <a:ext cx="35118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(bucket) pages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23" name="Google Shape;1423;p76"/>
          <p:cNvGrpSpPr/>
          <p:nvPr/>
        </p:nvGrpSpPr>
        <p:grpSpPr>
          <a:xfrm>
            <a:off x="748697" y="2490533"/>
            <a:ext cx="3457575" cy="4204433"/>
            <a:chOff x="836304" y="3062171"/>
            <a:chExt cx="3457575" cy="3427119"/>
          </a:xfrm>
        </p:grpSpPr>
        <p:sp>
          <p:nvSpPr>
            <p:cNvPr id="1424" name="Google Shape;1424;p76"/>
            <p:cNvSpPr/>
            <p:nvPr/>
          </p:nvSpPr>
          <p:spPr>
            <a:xfrm>
              <a:off x="836304" y="3341893"/>
              <a:ext cx="3457575" cy="3147397"/>
            </a:xfrm>
            <a:prstGeom prst="can">
              <a:avLst>
                <a:gd fmla="val 13065" name="adj"/>
              </a:avLst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5" name="Google Shape;1425;p76"/>
            <p:cNvSpPr txBox="1"/>
            <p:nvPr/>
          </p:nvSpPr>
          <p:spPr>
            <a:xfrm>
              <a:off x="2093854" y="3062171"/>
              <a:ext cx="88617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Disk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6" name="Google Shape;1426;p76"/>
          <p:cNvSpPr txBox="1"/>
          <p:nvPr/>
        </p:nvSpPr>
        <p:spPr>
          <a:xfrm>
            <a:off x="382974" y="3522962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76"/>
          <p:cNvSpPr/>
          <p:nvPr/>
        </p:nvSpPr>
        <p:spPr>
          <a:xfrm>
            <a:off x="827734" y="3283295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76"/>
          <p:cNvSpPr txBox="1"/>
          <p:nvPr/>
        </p:nvSpPr>
        <p:spPr>
          <a:xfrm>
            <a:off x="8226845" y="797073"/>
            <a:ext cx="3845550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B+1 = 3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pages</a:t>
            </a:r>
            <a:endParaRPr/>
          </a:p>
        </p:txBody>
      </p:sp>
      <p:sp>
        <p:nvSpPr>
          <p:cNvPr id="1429" name="Google Shape;1429;p76"/>
          <p:cNvSpPr txBox="1"/>
          <p:nvPr/>
        </p:nvSpPr>
        <p:spPr>
          <a:xfrm>
            <a:off x="7678354" y="4354160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(3,a)</a:t>
            </a:r>
            <a:endParaRPr/>
          </a:p>
        </p:txBody>
      </p:sp>
      <p:sp>
        <p:nvSpPr>
          <p:cNvPr id="1430" name="Google Shape;1430;p76"/>
          <p:cNvSpPr txBox="1"/>
          <p:nvPr/>
        </p:nvSpPr>
        <p:spPr>
          <a:xfrm>
            <a:off x="9205552" y="3065737"/>
            <a:ext cx="1415772" cy="52322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(3) = 1</a:t>
            </a:r>
            <a:endParaRPr/>
          </a:p>
        </p:txBody>
      </p:sp>
      <p:sp>
        <p:nvSpPr>
          <p:cNvPr id="1431" name="Google Shape;1431;p76"/>
          <p:cNvSpPr/>
          <p:nvPr/>
        </p:nvSpPr>
        <p:spPr>
          <a:xfrm>
            <a:off x="4847157" y="4131962"/>
            <a:ext cx="1461477" cy="37624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76"/>
          <p:cNvSpPr/>
          <p:nvPr/>
        </p:nvSpPr>
        <p:spPr>
          <a:xfrm rot="10800000">
            <a:off x="4817058" y="4529992"/>
            <a:ext cx="1461477" cy="37624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76"/>
          <p:cNvSpPr txBox="1"/>
          <p:nvPr/>
        </p:nvSpPr>
        <p:spPr>
          <a:xfrm>
            <a:off x="8890901" y="4374599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76"/>
          <p:cNvSpPr txBox="1"/>
          <p:nvPr/>
        </p:nvSpPr>
        <p:spPr>
          <a:xfrm>
            <a:off x="10102777" y="4369098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76"/>
          <p:cNvSpPr txBox="1"/>
          <p:nvPr/>
        </p:nvSpPr>
        <p:spPr>
          <a:xfrm>
            <a:off x="3014274" y="3394418"/>
            <a:ext cx="954082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436" name="Google Shape;1436;p76"/>
          <p:cNvSpPr txBox="1"/>
          <p:nvPr/>
        </p:nvSpPr>
        <p:spPr>
          <a:xfrm>
            <a:off x="956512" y="3394419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76"/>
          <p:cNvSpPr txBox="1"/>
          <p:nvPr/>
        </p:nvSpPr>
        <p:spPr>
          <a:xfrm>
            <a:off x="1958178" y="3394419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438" name="Google Shape;1438;p76"/>
          <p:cNvSpPr txBox="1"/>
          <p:nvPr/>
        </p:nvSpPr>
        <p:spPr>
          <a:xfrm>
            <a:off x="838200" y="1523675"/>
            <a:ext cx="10515600" cy="1172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Then we use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function h</a:t>
            </a:r>
            <a:r>
              <a:rPr b="1"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sort into the buckets, which each have one page in the buffer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9" name="Google Shape;1439;p7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440" name="Google Shape;1440;p7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76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77"/>
          <p:cNvSpPr txBox="1"/>
          <p:nvPr>
            <p:ph idx="1" type="body"/>
          </p:nvPr>
        </p:nvSpPr>
        <p:spPr>
          <a:xfrm>
            <a:off x="838200" y="1523675"/>
            <a:ext cx="10515600" cy="1172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3. We repeat until the buffer bucket pages are full…</a:t>
            </a:r>
            <a:endParaRPr/>
          </a:p>
        </p:txBody>
      </p:sp>
      <p:sp>
        <p:nvSpPr>
          <p:cNvPr id="1447" name="Google Shape;1447;p77"/>
          <p:cNvSpPr/>
          <p:nvPr/>
        </p:nvSpPr>
        <p:spPr>
          <a:xfrm>
            <a:off x="6858000" y="2928938"/>
            <a:ext cx="4488568" cy="244050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77"/>
          <p:cNvSpPr/>
          <p:nvPr/>
        </p:nvSpPr>
        <p:spPr>
          <a:xfrm>
            <a:off x="7397205" y="3674774"/>
            <a:ext cx="3956596" cy="1710437"/>
          </a:xfrm>
          <a:prstGeom prst="rect">
            <a:avLst/>
          </a:prstGeom>
          <a:solidFill>
            <a:srgbClr val="B3C6E7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77"/>
          <p:cNvSpPr txBox="1"/>
          <p:nvPr/>
        </p:nvSpPr>
        <p:spPr>
          <a:xfrm>
            <a:off x="6963102" y="3041474"/>
            <a:ext cx="19684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Memory</a:t>
            </a:r>
            <a:endParaRPr/>
          </a:p>
        </p:txBody>
      </p:sp>
      <p:sp>
        <p:nvSpPr>
          <p:cNvPr id="1450" name="Google Shape;1450;p77"/>
          <p:cNvSpPr txBox="1"/>
          <p:nvPr/>
        </p:nvSpPr>
        <p:spPr>
          <a:xfrm>
            <a:off x="7397205" y="3692844"/>
            <a:ext cx="9535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endParaRPr/>
          </a:p>
        </p:txBody>
      </p:sp>
      <p:sp>
        <p:nvSpPr>
          <p:cNvPr id="1451" name="Google Shape;1451;p77"/>
          <p:cNvSpPr/>
          <p:nvPr/>
        </p:nvSpPr>
        <p:spPr>
          <a:xfrm>
            <a:off x="8803984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2" name="Google Shape;1452;p77"/>
          <p:cNvSpPr/>
          <p:nvPr/>
        </p:nvSpPr>
        <p:spPr>
          <a:xfrm>
            <a:off x="10016195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7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 Phase 1: Partitioning</a:t>
            </a:r>
            <a:endParaRPr/>
          </a:p>
        </p:txBody>
      </p:sp>
      <p:sp>
        <p:nvSpPr>
          <p:cNvPr id="1454" name="Google Shape;1454;p77"/>
          <p:cNvSpPr/>
          <p:nvPr/>
        </p:nvSpPr>
        <p:spPr>
          <a:xfrm>
            <a:off x="7591773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77"/>
          <p:cNvSpPr txBox="1"/>
          <p:nvPr/>
        </p:nvSpPr>
        <p:spPr>
          <a:xfrm>
            <a:off x="7658784" y="5409476"/>
            <a:ext cx="99324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page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77"/>
          <p:cNvSpPr txBox="1"/>
          <p:nvPr/>
        </p:nvSpPr>
        <p:spPr>
          <a:xfrm>
            <a:off x="8890901" y="5424414"/>
            <a:ext cx="9932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457" name="Google Shape;1457;p77"/>
          <p:cNvSpPr txBox="1"/>
          <p:nvPr/>
        </p:nvSpPr>
        <p:spPr>
          <a:xfrm>
            <a:off x="10103111" y="5424414"/>
            <a:ext cx="9932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58" name="Google Shape;1458;p77"/>
          <p:cNvSpPr/>
          <p:nvPr/>
        </p:nvSpPr>
        <p:spPr>
          <a:xfrm rot="5400000">
            <a:off x="9831280" y="5046118"/>
            <a:ext cx="338818" cy="2138328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77"/>
          <p:cNvSpPr txBox="1"/>
          <p:nvPr/>
        </p:nvSpPr>
        <p:spPr>
          <a:xfrm>
            <a:off x="8350799" y="6303942"/>
            <a:ext cx="35118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(bucket) pages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0" name="Google Shape;1460;p77"/>
          <p:cNvGrpSpPr/>
          <p:nvPr/>
        </p:nvGrpSpPr>
        <p:grpSpPr>
          <a:xfrm>
            <a:off x="748697" y="2490533"/>
            <a:ext cx="3457575" cy="4204433"/>
            <a:chOff x="836304" y="3062171"/>
            <a:chExt cx="3457575" cy="3427119"/>
          </a:xfrm>
        </p:grpSpPr>
        <p:sp>
          <p:nvSpPr>
            <p:cNvPr id="1461" name="Google Shape;1461;p77"/>
            <p:cNvSpPr/>
            <p:nvPr/>
          </p:nvSpPr>
          <p:spPr>
            <a:xfrm>
              <a:off x="836304" y="3341893"/>
              <a:ext cx="3457575" cy="3147397"/>
            </a:xfrm>
            <a:prstGeom prst="can">
              <a:avLst>
                <a:gd fmla="val 13065" name="adj"/>
              </a:avLst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2" name="Google Shape;1462;p77"/>
            <p:cNvSpPr txBox="1"/>
            <p:nvPr/>
          </p:nvSpPr>
          <p:spPr>
            <a:xfrm>
              <a:off x="2093854" y="3062171"/>
              <a:ext cx="88617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Disk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3" name="Google Shape;1463;p77"/>
          <p:cNvSpPr txBox="1"/>
          <p:nvPr/>
        </p:nvSpPr>
        <p:spPr>
          <a:xfrm>
            <a:off x="382974" y="3522962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p77"/>
          <p:cNvSpPr/>
          <p:nvPr/>
        </p:nvSpPr>
        <p:spPr>
          <a:xfrm>
            <a:off x="827734" y="3283295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77"/>
          <p:cNvSpPr txBox="1"/>
          <p:nvPr/>
        </p:nvSpPr>
        <p:spPr>
          <a:xfrm>
            <a:off x="8226845" y="797073"/>
            <a:ext cx="3845550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B+1 = 3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pages</a:t>
            </a:r>
            <a:endParaRPr/>
          </a:p>
        </p:txBody>
      </p:sp>
      <p:sp>
        <p:nvSpPr>
          <p:cNvPr id="1466" name="Google Shape;1466;p77"/>
          <p:cNvSpPr/>
          <p:nvPr/>
        </p:nvSpPr>
        <p:spPr>
          <a:xfrm>
            <a:off x="4847157" y="4131962"/>
            <a:ext cx="1461477" cy="37624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77"/>
          <p:cNvSpPr/>
          <p:nvPr/>
        </p:nvSpPr>
        <p:spPr>
          <a:xfrm rot="10800000">
            <a:off x="4817058" y="4529992"/>
            <a:ext cx="1461477" cy="37624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77"/>
          <p:cNvSpPr txBox="1"/>
          <p:nvPr/>
        </p:nvSpPr>
        <p:spPr>
          <a:xfrm>
            <a:off x="8890901" y="4374599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77"/>
          <p:cNvSpPr txBox="1"/>
          <p:nvPr/>
        </p:nvSpPr>
        <p:spPr>
          <a:xfrm>
            <a:off x="10102777" y="4369098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77"/>
          <p:cNvSpPr txBox="1"/>
          <p:nvPr/>
        </p:nvSpPr>
        <p:spPr>
          <a:xfrm>
            <a:off x="11557591" y="459326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77"/>
          <p:cNvSpPr txBox="1"/>
          <p:nvPr/>
        </p:nvSpPr>
        <p:spPr>
          <a:xfrm>
            <a:off x="3014274" y="3394418"/>
            <a:ext cx="954082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472" name="Google Shape;1472;p77"/>
          <p:cNvSpPr txBox="1"/>
          <p:nvPr/>
        </p:nvSpPr>
        <p:spPr>
          <a:xfrm>
            <a:off x="956512" y="3394419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77"/>
          <p:cNvSpPr txBox="1"/>
          <p:nvPr/>
        </p:nvSpPr>
        <p:spPr>
          <a:xfrm>
            <a:off x="1958178" y="3394419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grpSp>
        <p:nvGrpSpPr>
          <p:cNvPr id="1474" name="Google Shape;1474;p7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475" name="Google Shape;1475;p7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6" name="Google Shape;1476;p77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78"/>
          <p:cNvSpPr txBox="1"/>
          <p:nvPr>
            <p:ph idx="1" type="body"/>
          </p:nvPr>
        </p:nvSpPr>
        <p:spPr>
          <a:xfrm>
            <a:off x="838200" y="1523675"/>
            <a:ext cx="10515600" cy="1172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3. We repeat until the buffer bucket pages are full…</a:t>
            </a:r>
            <a:endParaRPr/>
          </a:p>
        </p:txBody>
      </p:sp>
      <p:sp>
        <p:nvSpPr>
          <p:cNvPr id="1482" name="Google Shape;1482;p78"/>
          <p:cNvSpPr/>
          <p:nvPr/>
        </p:nvSpPr>
        <p:spPr>
          <a:xfrm>
            <a:off x="6858000" y="2928938"/>
            <a:ext cx="4488568" cy="244050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78"/>
          <p:cNvSpPr/>
          <p:nvPr/>
        </p:nvSpPr>
        <p:spPr>
          <a:xfrm>
            <a:off x="7397205" y="3674774"/>
            <a:ext cx="3956596" cy="1710437"/>
          </a:xfrm>
          <a:prstGeom prst="rect">
            <a:avLst/>
          </a:prstGeom>
          <a:solidFill>
            <a:srgbClr val="B3C6E7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78"/>
          <p:cNvSpPr txBox="1"/>
          <p:nvPr/>
        </p:nvSpPr>
        <p:spPr>
          <a:xfrm>
            <a:off x="6963102" y="3041474"/>
            <a:ext cx="19684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Memory</a:t>
            </a:r>
            <a:endParaRPr/>
          </a:p>
        </p:txBody>
      </p:sp>
      <p:sp>
        <p:nvSpPr>
          <p:cNvPr id="1485" name="Google Shape;1485;p78"/>
          <p:cNvSpPr txBox="1"/>
          <p:nvPr/>
        </p:nvSpPr>
        <p:spPr>
          <a:xfrm>
            <a:off x="7397205" y="3692844"/>
            <a:ext cx="9535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endParaRPr/>
          </a:p>
        </p:txBody>
      </p:sp>
      <p:sp>
        <p:nvSpPr>
          <p:cNvPr id="1486" name="Google Shape;1486;p78"/>
          <p:cNvSpPr/>
          <p:nvPr/>
        </p:nvSpPr>
        <p:spPr>
          <a:xfrm>
            <a:off x="8803984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78"/>
          <p:cNvSpPr/>
          <p:nvPr/>
        </p:nvSpPr>
        <p:spPr>
          <a:xfrm>
            <a:off x="10016195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7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 Phase 1: Partitioning</a:t>
            </a:r>
            <a:endParaRPr/>
          </a:p>
        </p:txBody>
      </p:sp>
      <p:sp>
        <p:nvSpPr>
          <p:cNvPr id="1489" name="Google Shape;1489;p78"/>
          <p:cNvSpPr/>
          <p:nvPr/>
        </p:nvSpPr>
        <p:spPr>
          <a:xfrm>
            <a:off x="7591773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78"/>
          <p:cNvSpPr txBox="1"/>
          <p:nvPr/>
        </p:nvSpPr>
        <p:spPr>
          <a:xfrm>
            <a:off x="7658784" y="5409476"/>
            <a:ext cx="99324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page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78"/>
          <p:cNvSpPr txBox="1"/>
          <p:nvPr/>
        </p:nvSpPr>
        <p:spPr>
          <a:xfrm>
            <a:off x="8890901" y="5424414"/>
            <a:ext cx="9932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492" name="Google Shape;1492;p78"/>
          <p:cNvSpPr txBox="1"/>
          <p:nvPr/>
        </p:nvSpPr>
        <p:spPr>
          <a:xfrm>
            <a:off x="10103111" y="5424414"/>
            <a:ext cx="9932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93" name="Google Shape;1493;p78"/>
          <p:cNvSpPr/>
          <p:nvPr/>
        </p:nvSpPr>
        <p:spPr>
          <a:xfrm rot="5400000">
            <a:off x="9831280" y="5046118"/>
            <a:ext cx="338818" cy="2138328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4" name="Google Shape;1494;p78"/>
          <p:cNvSpPr txBox="1"/>
          <p:nvPr/>
        </p:nvSpPr>
        <p:spPr>
          <a:xfrm>
            <a:off x="8350799" y="6303942"/>
            <a:ext cx="35118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(bucket) pages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5" name="Google Shape;1495;p78"/>
          <p:cNvGrpSpPr/>
          <p:nvPr/>
        </p:nvGrpSpPr>
        <p:grpSpPr>
          <a:xfrm>
            <a:off x="748697" y="2490533"/>
            <a:ext cx="3457575" cy="4204433"/>
            <a:chOff x="836304" y="3062171"/>
            <a:chExt cx="3457575" cy="3427119"/>
          </a:xfrm>
        </p:grpSpPr>
        <p:sp>
          <p:nvSpPr>
            <p:cNvPr id="1496" name="Google Shape;1496;p78"/>
            <p:cNvSpPr/>
            <p:nvPr/>
          </p:nvSpPr>
          <p:spPr>
            <a:xfrm>
              <a:off x="836304" y="3341893"/>
              <a:ext cx="3457575" cy="3147397"/>
            </a:xfrm>
            <a:prstGeom prst="can">
              <a:avLst>
                <a:gd fmla="val 13065" name="adj"/>
              </a:avLst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7" name="Google Shape;1497;p78"/>
            <p:cNvSpPr txBox="1"/>
            <p:nvPr/>
          </p:nvSpPr>
          <p:spPr>
            <a:xfrm>
              <a:off x="2093854" y="3062171"/>
              <a:ext cx="88617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Disk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8" name="Google Shape;1498;p78"/>
          <p:cNvSpPr txBox="1"/>
          <p:nvPr/>
        </p:nvSpPr>
        <p:spPr>
          <a:xfrm>
            <a:off x="382974" y="3522962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78"/>
          <p:cNvSpPr/>
          <p:nvPr/>
        </p:nvSpPr>
        <p:spPr>
          <a:xfrm>
            <a:off x="827734" y="3283295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78"/>
          <p:cNvSpPr txBox="1"/>
          <p:nvPr/>
        </p:nvSpPr>
        <p:spPr>
          <a:xfrm>
            <a:off x="8226845" y="797073"/>
            <a:ext cx="3845550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B+1 = 3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pages</a:t>
            </a:r>
            <a:endParaRPr/>
          </a:p>
        </p:txBody>
      </p:sp>
      <p:sp>
        <p:nvSpPr>
          <p:cNvPr id="1501" name="Google Shape;1501;p78"/>
          <p:cNvSpPr/>
          <p:nvPr/>
        </p:nvSpPr>
        <p:spPr>
          <a:xfrm>
            <a:off x="4847157" y="4131962"/>
            <a:ext cx="1461477" cy="37624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78"/>
          <p:cNvSpPr/>
          <p:nvPr/>
        </p:nvSpPr>
        <p:spPr>
          <a:xfrm rot="10800000">
            <a:off x="4817058" y="4529992"/>
            <a:ext cx="1461477" cy="37624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78"/>
          <p:cNvSpPr txBox="1"/>
          <p:nvPr/>
        </p:nvSpPr>
        <p:spPr>
          <a:xfrm>
            <a:off x="8890901" y="4374599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4" name="Google Shape;1504;p78"/>
          <p:cNvSpPr txBox="1"/>
          <p:nvPr/>
        </p:nvSpPr>
        <p:spPr>
          <a:xfrm>
            <a:off x="10102777" y="4369098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(3,a)</a:t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5" name="Google Shape;1505;p78"/>
          <p:cNvSpPr txBox="1"/>
          <p:nvPr/>
        </p:nvSpPr>
        <p:spPr>
          <a:xfrm>
            <a:off x="11557591" y="459326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6" name="Google Shape;1506;p78"/>
          <p:cNvSpPr txBox="1"/>
          <p:nvPr/>
        </p:nvSpPr>
        <p:spPr>
          <a:xfrm>
            <a:off x="7678366" y="4374598"/>
            <a:ext cx="954082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507" name="Google Shape;1507;p78"/>
          <p:cNvSpPr txBox="1"/>
          <p:nvPr/>
        </p:nvSpPr>
        <p:spPr>
          <a:xfrm>
            <a:off x="956512" y="3394419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78"/>
          <p:cNvSpPr txBox="1"/>
          <p:nvPr/>
        </p:nvSpPr>
        <p:spPr>
          <a:xfrm>
            <a:off x="1958178" y="3394419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509" name="Google Shape;1509;p78"/>
          <p:cNvSpPr txBox="1"/>
          <p:nvPr/>
        </p:nvSpPr>
        <p:spPr>
          <a:xfrm>
            <a:off x="9205552" y="3065737"/>
            <a:ext cx="1415772" cy="52322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(3) = 1</a:t>
            </a:r>
            <a:endParaRPr/>
          </a:p>
        </p:txBody>
      </p:sp>
      <p:sp>
        <p:nvSpPr>
          <p:cNvPr id="1510" name="Google Shape;1510;p78"/>
          <p:cNvSpPr txBox="1"/>
          <p:nvPr/>
        </p:nvSpPr>
        <p:spPr>
          <a:xfrm>
            <a:off x="7678366" y="4369098"/>
            <a:ext cx="954082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511" name="Google Shape;1511;p78"/>
          <p:cNvSpPr txBox="1"/>
          <p:nvPr/>
        </p:nvSpPr>
        <p:spPr>
          <a:xfrm>
            <a:off x="10093058" y="4369098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</p:txBody>
      </p:sp>
      <p:grpSp>
        <p:nvGrpSpPr>
          <p:cNvPr id="1512" name="Google Shape;1512;p7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513" name="Google Shape;1513;p7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1514;p78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79"/>
          <p:cNvSpPr txBox="1"/>
          <p:nvPr>
            <p:ph idx="1" type="body"/>
          </p:nvPr>
        </p:nvSpPr>
        <p:spPr>
          <a:xfrm>
            <a:off x="838200" y="1523675"/>
            <a:ext cx="10515600" cy="1172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3. We repeat until the buffer bucket pages are full…</a:t>
            </a:r>
            <a:endParaRPr/>
          </a:p>
        </p:txBody>
      </p:sp>
      <p:sp>
        <p:nvSpPr>
          <p:cNvPr id="1520" name="Google Shape;1520;p79"/>
          <p:cNvSpPr/>
          <p:nvPr/>
        </p:nvSpPr>
        <p:spPr>
          <a:xfrm>
            <a:off x="6858000" y="2928938"/>
            <a:ext cx="4488568" cy="244050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79"/>
          <p:cNvSpPr/>
          <p:nvPr/>
        </p:nvSpPr>
        <p:spPr>
          <a:xfrm>
            <a:off x="7397205" y="3674774"/>
            <a:ext cx="3956596" cy="1710437"/>
          </a:xfrm>
          <a:prstGeom prst="rect">
            <a:avLst/>
          </a:prstGeom>
          <a:solidFill>
            <a:srgbClr val="B3C6E7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79"/>
          <p:cNvSpPr txBox="1"/>
          <p:nvPr/>
        </p:nvSpPr>
        <p:spPr>
          <a:xfrm>
            <a:off x="6963102" y="3041474"/>
            <a:ext cx="19684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Memory</a:t>
            </a:r>
            <a:endParaRPr/>
          </a:p>
        </p:txBody>
      </p:sp>
      <p:sp>
        <p:nvSpPr>
          <p:cNvPr id="1523" name="Google Shape;1523;p79"/>
          <p:cNvSpPr txBox="1"/>
          <p:nvPr/>
        </p:nvSpPr>
        <p:spPr>
          <a:xfrm>
            <a:off x="7397205" y="3692844"/>
            <a:ext cx="9535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endParaRPr/>
          </a:p>
        </p:txBody>
      </p:sp>
      <p:sp>
        <p:nvSpPr>
          <p:cNvPr id="1524" name="Google Shape;1524;p79"/>
          <p:cNvSpPr/>
          <p:nvPr/>
        </p:nvSpPr>
        <p:spPr>
          <a:xfrm>
            <a:off x="8803984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5" name="Google Shape;1525;p79"/>
          <p:cNvSpPr/>
          <p:nvPr/>
        </p:nvSpPr>
        <p:spPr>
          <a:xfrm>
            <a:off x="10016195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7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 Phase 1: Partitioning</a:t>
            </a:r>
            <a:endParaRPr/>
          </a:p>
        </p:txBody>
      </p:sp>
      <p:sp>
        <p:nvSpPr>
          <p:cNvPr id="1527" name="Google Shape;1527;p79"/>
          <p:cNvSpPr/>
          <p:nvPr/>
        </p:nvSpPr>
        <p:spPr>
          <a:xfrm>
            <a:off x="7591773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79"/>
          <p:cNvSpPr txBox="1"/>
          <p:nvPr/>
        </p:nvSpPr>
        <p:spPr>
          <a:xfrm>
            <a:off x="7658784" y="5409476"/>
            <a:ext cx="99324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page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79"/>
          <p:cNvSpPr txBox="1"/>
          <p:nvPr/>
        </p:nvSpPr>
        <p:spPr>
          <a:xfrm>
            <a:off x="8890901" y="5424414"/>
            <a:ext cx="9932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30" name="Google Shape;1530;p79"/>
          <p:cNvSpPr txBox="1"/>
          <p:nvPr/>
        </p:nvSpPr>
        <p:spPr>
          <a:xfrm>
            <a:off x="10103111" y="5424414"/>
            <a:ext cx="9932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31" name="Google Shape;1531;p79"/>
          <p:cNvSpPr/>
          <p:nvPr/>
        </p:nvSpPr>
        <p:spPr>
          <a:xfrm rot="5400000">
            <a:off x="9831280" y="5046118"/>
            <a:ext cx="338818" cy="2138328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p79"/>
          <p:cNvSpPr txBox="1"/>
          <p:nvPr/>
        </p:nvSpPr>
        <p:spPr>
          <a:xfrm>
            <a:off x="8350799" y="6303942"/>
            <a:ext cx="35118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(bucket) pages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33" name="Google Shape;1533;p79"/>
          <p:cNvGrpSpPr/>
          <p:nvPr/>
        </p:nvGrpSpPr>
        <p:grpSpPr>
          <a:xfrm>
            <a:off x="748697" y="2490533"/>
            <a:ext cx="3457575" cy="4204433"/>
            <a:chOff x="836304" y="3062171"/>
            <a:chExt cx="3457575" cy="3427119"/>
          </a:xfrm>
        </p:grpSpPr>
        <p:sp>
          <p:nvSpPr>
            <p:cNvPr id="1534" name="Google Shape;1534;p79"/>
            <p:cNvSpPr/>
            <p:nvPr/>
          </p:nvSpPr>
          <p:spPr>
            <a:xfrm>
              <a:off x="836304" y="3341893"/>
              <a:ext cx="3457575" cy="3147397"/>
            </a:xfrm>
            <a:prstGeom prst="can">
              <a:avLst>
                <a:gd fmla="val 13065" name="adj"/>
              </a:avLst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5" name="Google Shape;1535;p79"/>
            <p:cNvSpPr txBox="1"/>
            <p:nvPr/>
          </p:nvSpPr>
          <p:spPr>
            <a:xfrm>
              <a:off x="2093854" y="3062171"/>
              <a:ext cx="88617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Disk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36" name="Google Shape;1536;p79"/>
          <p:cNvSpPr txBox="1"/>
          <p:nvPr/>
        </p:nvSpPr>
        <p:spPr>
          <a:xfrm>
            <a:off x="382974" y="3522962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79"/>
          <p:cNvSpPr/>
          <p:nvPr/>
        </p:nvSpPr>
        <p:spPr>
          <a:xfrm>
            <a:off x="827734" y="3283295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79"/>
          <p:cNvSpPr txBox="1"/>
          <p:nvPr/>
        </p:nvSpPr>
        <p:spPr>
          <a:xfrm>
            <a:off x="8226845" y="797073"/>
            <a:ext cx="3845550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B+1 = 3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pages</a:t>
            </a:r>
            <a:endParaRPr/>
          </a:p>
        </p:txBody>
      </p:sp>
      <p:sp>
        <p:nvSpPr>
          <p:cNvPr id="1539" name="Google Shape;1539;p79"/>
          <p:cNvSpPr/>
          <p:nvPr/>
        </p:nvSpPr>
        <p:spPr>
          <a:xfrm>
            <a:off x="4847157" y="4131962"/>
            <a:ext cx="1461477" cy="37624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79"/>
          <p:cNvSpPr/>
          <p:nvPr/>
        </p:nvSpPr>
        <p:spPr>
          <a:xfrm rot="10800000">
            <a:off x="4817058" y="4529992"/>
            <a:ext cx="1461477" cy="37624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79"/>
          <p:cNvSpPr txBox="1"/>
          <p:nvPr/>
        </p:nvSpPr>
        <p:spPr>
          <a:xfrm>
            <a:off x="8890901" y="4374599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2" name="Google Shape;1542;p79"/>
          <p:cNvSpPr txBox="1"/>
          <p:nvPr/>
        </p:nvSpPr>
        <p:spPr>
          <a:xfrm>
            <a:off x="10102777" y="4369098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(3,a)</a:t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3" name="Google Shape;1543;p79"/>
          <p:cNvSpPr txBox="1"/>
          <p:nvPr/>
        </p:nvSpPr>
        <p:spPr>
          <a:xfrm>
            <a:off x="11557591" y="459326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79"/>
          <p:cNvSpPr txBox="1"/>
          <p:nvPr/>
        </p:nvSpPr>
        <p:spPr>
          <a:xfrm>
            <a:off x="7678366" y="4374598"/>
            <a:ext cx="954082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545" name="Google Shape;1545;p79"/>
          <p:cNvSpPr txBox="1"/>
          <p:nvPr/>
        </p:nvSpPr>
        <p:spPr>
          <a:xfrm>
            <a:off x="956512" y="3394419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6" name="Google Shape;1546;p79"/>
          <p:cNvSpPr txBox="1"/>
          <p:nvPr/>
        </p:nvSpPr>
        <p:spPr>
          <a:xfrm>
            <a:off x="1958178" y="3394419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547" name="Google Shape;1547;p79"/>
          <p:cNvSpPr txBox="1"/>
          <p:nvPr/>
        </p:nvSpPr>
        <p:spPr>
          <a:xfrm>
            <a:off x="9205552" y="3065737"/>
            <a:ext cx="1415772" cy="52322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(0) = 0</a:t>
            </a:r>
            <a:endParaRPr/>
          </a:p>
        </p:txBody>
      </p:sp>
      <p:sp>
        <p:nvSpPr>
          <p:cNvPr id="1548" name="Google Shape;1548;p79"/>
          <p:cNvSpPr txBox="1"/>
          <p:nvPr/>
        </p:nvSpPr>
        <p:spPr>
          <a:xfrm>
            <a:off x="10093058" y="4369098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</p:txBody>
      </p:sp>
      <p:sp>
        <p:nvSpPr>
          <p:cNvPr id="1549" name="Google Shape;1549;p79"/>
          <p:cNvSpPr txBox="1"/>
          <p:nvPr/>
        </p:nvSpPr>
        <p:spPr>
          <a:xfrm>
            <a:off x="8890901" y="4367228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grpSp>
        <p:nvGrpSpPr>
          <p:cNvPr id="1550" name="Google Shape;1550;p7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551" name="Google Shape;1551;p7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2" name="Google Shape;1552;p79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80"/>
          <p:cNvSpPr txBox="1"/>
          <p:nvPr>
            <p:ph idx="1" type="body"/>
          </p:nvPr>
        </p:nvSpPr>
        <p:spPr>
          <a:xfrm>
            <a:off x="838200" y="1523675"/>
            <a:ext cx="10515600" cy="1172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3. We repeat until the buffer bucket pages are full… then flush to disk</a:t>
            </a:r>
            <a:endParaRPr/>
          </a:p>
        </p:txBody>
      </p:sp>
      <p:sp>
        <p:nvSpPr>
          <p:cNvPr id="1558" name="Google Shape;1558;p80"/>
          <p:cNvSpPr/>
          <p:nvPr/>
        </p:nvSpPr>
        <p:spPr>
          <a:xfrm>
            <a:off x="6858000" y="2928938"/>
            <a:ext cx="4488568" cy="244050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80"/>
          <p:cNvSpPr/>
          <p:nvPr/>
        </p:nvSpPr>
        <p:spPr>
          <a:xfrm>
            <a:off x="7397205" y="3674774"/>
            <a:ext cx="3956596" cy="1710437"/>
          </a:xfrm>
          <a:prstGeom prst="rect">
            <a:avLst/>
          </a:prstGeom>
          <a:solidFill>
            <a:srgbClr val="B3C6E7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80"/>
          <p:cNvSpPr txBox="1"/>
          <p:nvPr/>
        </p:nvSpPr>
        <p:spPr>
          <a:xfrm>
            <a:off x="6963102" y="3041474"/>
            <a:ext cx="19684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Memory</a:t>
            </a:r>
            <a:endParaRPr/>
          </a:p>
        </p:txBody>
      </p:sp>
      <p:sp>
        <p:nvSpPr>
          <p:cNvPr id="1561" name="Google Shape;1561;p80"/>
          <p:cNvSpPr txBox="1"/>
          <p:nvPr/>
        </p:nvSpPr>
        <p:spPr>
          <a:xfrm>
            <a:off x="7397205" y="3692844"/>
            <a:ext cx="9535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endParaRPr/>
          </a:p>
        </p:txBody>
      </p:sp>
      <p:sp>
        <p:nvSpPr>
          <p:cNvPr id="1562" name="Google Shape;1562;p80"/>
          <p:cNvSpPr/>
          <p:nvPr/>
        </p:nvSpPr>
        <p:spPr>
          <a:xfrm>
            <a:off x="8803984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80"/>
          <p:cNvSpPr/>
          <p:nvPr/>
        </p:nvSpPr>
        <p:spPr>
          <a:xfrm>
            <a:off x="10016195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4" name="Google Shape;1564;p8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 Phase 1: Partitioning</a:t>
            </a:r>
            <a:endParaRPr/>
          </a:p>
        </p:txBody>
      </p:sp>
      <p:sp>
        <p:nvSpPr>
          <p:cNvPr id="1565" name="Google Shape;1565;p80"/>
          <p:cNvSpPr/>
          <p:nvPr/>
        </p:nvSpPr>
        <p:spPr>
          <a:xfrm>
            <a:off x="7591773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80"/>
          <p:cNvSpPr txBox="1"/>
          <p:nvPr/>
        </p:nvSpPr>
        <p:spPr>
          <a:xfrm>
            <a:off x="7658784" y="5409476"/>
            <a:ext cx="99324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page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80"/>
          <p:cNvSpPr txBox="1"/>
          <p:nvPr/>
        </p:nvSpPr>
        <p:spPr>
          <a:xfrm>
            <a:off x="8890901" y="5424414"/>
            <a:ext cx="9932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68" name="Google Shape;1568;p80"/>
          <p:cNvSpPr txBox="1"/>
          <p:nvPr/>
        </p:nvSpPr>
        <p:spPr>
          <a:xfrm>
            <a:off x="10103111" y="5424414"/>
            <a:ext cx="9932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69" name="Google Shape;1569;p80"/>
          <p:cNvSpPr/>
          <p:nvPr/>
        </p:nvSpPr>
        <p:spPr>
          <a:xfrm rot="5400000">
            <a:off x="9831280" y="5046118"/>
            <a:ext cx="338818" cy="2138328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0" name="Google Shape;1570;p80"/>
          <p:cNvSpPr txBox="1"/>
          <p:nvPr/>
        </p:nvSpPr>
        <p:spPr>
          <a:xfrm>
            <a:off x="8350799" y="6303942"/>
            <a:ext cx="35118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(bucket) pages</a:t>
            </a:r>
            <a:endParaRPr/>
          </a:p>
        </p:txBody>
      </p:sp>
      <p:grpSp>
        <p:nvGrpSpPr>
          <p:cNvPr id="1571" name="Google Shape;1571;p80"/>
          <p:cNvGrpSpPr/>
          <p:nvPr/>
        </p:nvGrpSpPr>
        <p:grpSpPr>
          <a:xfrm>
            <a:off x="748697" y="2490533"/>
            <a:ext cx="3457575" cy="4204433"/>
            <a:chOff x="836304" y="3062171"/>
            <a:chExt cx="3457575" cy="3427119"/>
          </a:xfrm>
        </p:grpSpPr>
        <p:sp>
          <p:nvSpPr>
            <p:cNvPr id="1572" name="Google Shape;1572;p80"/>
            <p:cNvSpPr/>
            <p:nvPr/>
          </p:nvSpPr>
          <p:spPr>
            <a:xfrm>
              <a:off x="836304" y="3341893"/>
              <a:ext cx="3457575" cy="3147397"/>
            </a:xfrm>
            <a:prstGeom prst="can">
              <a:avLst>
                <a:gd fmla="val 13065" name="adj"/>
              </a:avLst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3" name="Google Shape;1573;p80"/>
            <p:cNvSpPr txBox="1"/>
            <p:nvPr/>
          </p:nvSpPr>
          <p:spPr>
            <a:xfrm>
              <a:off x="2093854" y="3062171"/>
              <a:ext cx="88617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Disk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4" name="Google Shape;1574;p80"/>
          <p:cNvSpPr txBox="1"/>
          <p:nvPr/>
        </p:nvSpPr>
        <p:spPr>
          <a:xfrm>
            <a:off x="382974" y="3522962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80"/>
          <p:cNvSpPr/>
          <p:nvPr/>
        </p:nvSpPr>
        <p:spPr>
          <a:xfrm>
            <a:off x="827734" y="3283295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6" name="Google Shape;1576;p80"/>
          <p:cNvSpPr txBox="1"/>
          <p:nvPr/>
        </p:nvSpPr>
        <p:spPr>
          <a:xfrm>
            <a:off x="8226845" y="797073"/>
            <a:ext cx="3845550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B+1 = 3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pages</a:t>
            </a:r>
            <a:endParaRPr/>
          </a:p>
        </p:txBody>
      </p:sp>
      <p:sp>
        <p:nvSpPr>
          <p:cNvPr id="1577" name="Google Shape;1577;p80"/>
          <p:cNvSpPr/>
          <p:nvPr/>
        </p:nvSpPr>
        <p:spPr>
          <a:xfrm>
            <a:off x="4847157" y="4131962"/>
            <a:ext cx="1461477" cy="37624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80"/>
          <p:cNvSpPr/>
          <p:nvPr/>
        </p:nvSpPr>
        <p:spPr>
          <a:xfrm rot="10800000">
            <a:off x="4817058" y="4529992"/>
            <a:ext cx="1461477" cy="37624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p80"/>
          <p:cNvSpPr txBox="1"/>
          <p:nvPr/>
        </p:nvSpPr>
        <p:spPr>
          <a:xfrm>
            <a:off x="11557591" y="459326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0" name="Google Shape;1580;p80"/>
          <p:cNvSpPr txBox="1"/>
          <p:nvPr/>
        </p:nvSpPr>
        <p:spPr>
          <a:xfrm>
            <a:off x="956512" y="3394419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1" name="Google Shape;1581;p80"/>
          <p:cNvSpPr txBox="1"/>
          <p:nvPr/>
        </p:nvSpPr>
        <p:spPr>
          <a:xfrm>
            <a:off x="1958178" y="3394419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582" name="Google Shape;1582;p80"/>
          <p:cNvSpPr txBox="1"/>
          <p:nvPr/>
        </p:nvSpPr>
        <p:spPr>
          <a:xfrm>
            <a:off x="332349" y="4480742"/>
            <a:ext cx="4251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B0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80"/>
          <p:cNvSpPr/>
          <p:nvPr/>
        </p:nvSpPr>
        <p:spPr>
          <a:xfrm>
            <a:off x="838200" y="4208645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80"/>
          <p:cNvSpPr txBox="1"/>
          <p:nvPr/>
        </p:nvSpPr>
        <p:spPr>
          <a:xfrm>
            <a:off x="321883" y="5416515"/>
            <a:ext cx="4251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B1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80"/>
          <p:cNvSpPr/>
          <p:nvPr/>
        </p:nvSpPr>
        <p:spPr>
          <a:xfrm>
            <a:off x="827734" y="5144418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80"/>
          <p:cNvSpPr txBox="1"/>
          <p:nvPr/>
        </p:nvSpPr>
        <p:spPr>
          <a:xfrm>
            <a:off x="10081720" y="4380273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</p:txBody>
      </p:sp>
      <p:sp>
        <p:nvSpPr>
          <p:cNvPr id="1587" name="Google Shape;1587;p80"/>
          <p:cNvSpPr txBox="1"/>
          <p:nvPr/>
        </p:nvSpPr>
        <p:spPr>
          <a:xfrm>
            <a:off x="8890566" y="4369097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grpSp>
        <p:nvGrpSpPr>
          <p:cNvPr id="1588" name="Google Shape;1588;p8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589" name="Google Shape;1589;p8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0" name="Google Shape;1590;p80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81"/>
          <p:cNvSpPr txBox="1"/>
          <p:nvPr>
            <p:ph idx="1" type="body"/>
          </p:nvPr>
        </p:nvSpPr>
        <p:spPr>
          <a:xfrm>
            <a:off x="838200" y="1523675"/>
            <a:ext cx="10515600" cy="1172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3. We repeat until the buffer bucket pages are full… then flush to disk</a:t>
            </a:r>
            <a:endParaRPr/>
          </a:p>
        </p:txBody>
      </p:sp>
      <p:sp>
        <p:nvSpPr>
          <p:cNvPr id="1596" name="Google Shape;1596;p81"/>
          <p:cNvSpPr/>
          <p:nvPr/>
        </p:nvSpPr>
        <p:spPr>
          <a:xfrm>
            <a:off x="6858000" y="2928938"/>
            <a:ext cx="4488568" cy="244050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p81"/>
          <p:cNvSpPr/>
          <p:nvPr/>
        </p:nvSpPr>
        <p:spPr>
          <a:xfrm>
            <a:off x="7397205" y="3674774"/>
            <a:ext cx="3956596" cy="1710437"/>
          </a:xfrm>
          <a:prstGeom prst="rect">
            <a:avLst/>
          </a:prstGeom>
          <a:solidFill>
            <a:srgbClr val="B3C6E7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81"/>
          <p:cNvSpPr txBox="1"/>
          <p:nvPr/>
        </p:nvSpPr>
        <p:spPr>
          <a:xfrm>
            <a:off x="6963102" y="3041474"/>
            <a:ext cx="19684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Memory</a:t>
            </a:r>
            <a:endParaRPr/>
          </a:p>
        </p:txBody>
      </p:sp>
      <p:sp>
        <p:nvSpPr>
          <p:cNvPr id="1599" name="Google Shape;1599;p81"/>
          <p:cNvSpPr txBox="1"/>
          <p:nvPr/>
        </p:nvSpPr>
        <p:spPr>
          <a:xfrm>
            <a:off x="7397205" y="3692844"/>
            <a:ext cx="9535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endParaRPr/>
          </a:p>
        </p:txBody>
      </p:sp>
      <p:sp>
        <p:nvSpPr>
          <p:cNvPr id="1600" name="Google Shape;1600;p81"/>
          <p:cNvSpPr/>
          <p:nvPr/>
        </p:nvSpPr>
        <p:spPr>
          <a:xfrm>
            <a:off x="8803984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81"/>
          <p:cNvSpPr/>
          <p:nvPr/>
        </p:nvSpPr>
        <p:spPr>
          <a:xfrm>
            <a:off x="10016195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8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 Phase 1: Partitioning</a:t>
            </a:r>
            <a:endParaRPr/>
          </a:p>
        </p:txBody>
      </p:sp>
      <p:sp>
        <p:nvSpPr>
          <p:cNvPr id="1603" name="Google Shape;1603;p81"/>
          <p:cNvSpPr/>
          <p:nvPr/>
        </p:nvSpPr>
        <p:spPr>
          <a:xfrm>
            <a:off x="7591773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4" name="Google Shape;1604;p81"/>
          <p:cNvSpPr txBox="1"/>
          <p:nvPr/>
        </p:nvSpPr>
        <p:spPr>
          <a:xfrm>
            <a:off x="7658784" y="5409476"/>
            <a:ext cx="99324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page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5" name="Google Shape;1605;p81"/>
          <p:cNvSpPr txBox="1"/>
          <p:nvPr/>
        </p:nvSpPr>
        <p:spPr>
          <a:xfrm>
            <a:off x="8890901" y="5424414"/>
            <a:ext cx="9932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06" name="Google Shape;1606;p81"/>
          <p:cNvSpPr txBox="1"/>
          <p:nvPr/>
        </p:nvSpPr>
        <p:spPr>
          <a:xfrm>
            <a:off x="10103111" y="5424414"/>
            <a:ext cx="9932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607" name="Google Shape;1607;p81"/>
          <p:cNvSpPr/>
          <p:nvPr/>
        </p:nvSpPr>
        <p:spPr>
          <a:xfrm rot="5400000">
            <a:off x="9831280" y="5046118"/>
            <a:ext cx="338818" cy="2138328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81"/>
          <p:cNvSpPr txBox="1"/>
          <p:nvPr/>
        </p:nvSpPr>
        <p:spPr>
          <a:xfrm>
            <a:off x="8350799" y="6303942"/>
            <a:ext cx="35118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(bucket) pages</a:t>
            </a:r>
            <a:endParaRPr/>
          </a:p>
        </p:txBody>
      </p:sp>
      <p:grpSp>
        <p:nvGrpSpPr>
          <p:cNvPr id="1609" name="Google Shape;1609;p81"/>
          <p:cNvGrpSpPr/>
          <p:nvPr/>
        </p:nvGrpSpPr>
        <p:grpSpPr>
          <a:xfrm>
            <a:off x="748697" y="2490533"/>
            <a:ext cx="3457575" cy="4204433"/>
            <a:chOff x="836304" y="3062171"/>
            <a:chExt cx="3457575" cy="3427119"/>
          </a:xfrm>
        </p:grpSpPr>
        <p:sp>
          <p:nvSpPr>
            <p:cNvPr id="1610" name="Google Shape;1610;p81"/>
            <p:cNvSpPr/>
            <p:nvPr/>
          </p:nvSpPr>
          <p:spPr>
            <a:xfrm>
              <a:off x="836304" y="3341893"/>
              <a:ext cx="3457575" cy="3147397"/>
            </a:xfrm>
            <a:prstGeom prst="can">
              <a:avLst>
                <a:gd fmla="val 13065" name="adj"/>
              </a:avLst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1" name="Google Shape;1611;p81"/>
            <p:cNvSpPr txBox="1"/>
            <p:nvPr/>
          </p:nvSpPr>
          <p:spPr>
            <a:xfrm>
              <a:off x="2093854" y="3062171"/>
              <a:ext cx="88617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Disk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2" name="Google Shape;1612;p81"/>
          <p:cNvSpPr txBox="1"/>
          <p:nvPr/>
        </p:nvSpPr>
        <p:spPr>
          <a:xfrm>
            <a:off x="382974" y="3522962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p81"/>
          <p:cNvSpPr/>
          <p:nvPr/>
        </p:nvSpPr>
        <p:spPr>
          <a:xfrm>
            <a:off x="827734" y="3283295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81"/>
          <p:cNvSpPr txBox="1"/>
          <p:nvPr/>
        </p:nvSpPr>
        <p:spPr>
          <a:xfrm>
            <a:off x="8226845" y="797073"/>
            <a:ext cx="3845550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B+1 = 3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pages</a:t>
            </a:r>
            <a:endParaRPr/>
          </a:p>
        </p:txBody>
      </p:sp>
      <p:sp>
        <p:nvSpPr>
          <p:cNvPr id="1615" name="Google Shape;1615;p81"/>
          <p:cNvSpPr/>
          <p:nvPr/>
        </p:nvSpPr>
        <p:spPr>
          <a:xfrm>
            <a:off x="4847157" y="4131962"/>
            <a:ext cx="1461477" cy="37624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81"/>
          <p:cNvSpPr/>
          <p:nvPr/>
        </p:nvSpPr>
        <p:spPr>
          <a:xfrm rot="10800000">
            <a:off x="4817058" y="4529992"/>
            <a:ext cx="1461477" cy="37624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7" name="Google Shape;1617;p81"/>
          <p:cNvSpPr txBox="1"/>
          <p:nvPr/>
        </p:nvSpPr>
        <p:spPr>
          <a:xfrm>
            <a:off x="11557591" y="459326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81"/>
          <p:cNvSpPr txBox="1"/>
          <p:nvPr/>
        </p:nvSpPr>
        <p:spPr>
          <a:xfrm>
            <a:off x="956512" y="3394419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9" name="Google Shape;1619;p81"/>
          <p:cNvSpPr txBox="1"/>
          <p:nvPr/>
        </p:nvSpPr>
        <p:spPr>
          <a:xfrm>
            <a:off x="332349" y="4480742"/>
            <a:ext cx="4251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B0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81"/>
          <p:cNvSpPr/>
          <p:nvPr/>
        </p:nvSpPr>
        <p:spPr>
          <a:xfrm>
            <a:off x="838200" y="4208645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81"/>
          <p:cNvSpPr txBox="1"/>
          <p:nvPr/>
        </p:nvSpPr>
        <p:spPr>
          <a:xfrm>
            <a:off x="321883" y="5416515"/>
            <a:ext cx="4251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B1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81"/>
          <p:cNvSpPr/>
          <p:nvPr/>
        </p:nvSpPr>
        <p:spPr>
          <a:xfrm>
            <a:off x="827734" y="5144418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81"/>
          <p:cNvSpPr txBox="1"/>
          <p:nvPr/>
        </p:nvSpPr>
        <p:spPr>
          <a:xfrm>
            <a:off x="952033" y="4340590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624" name="Google Shape;1624;p81"/>
          <p:cNvSpPr txBox="1"/>
          <p:nvPr/>
        </p:nvSpPr>
        <p:spPr>
          <a:xfrm>
            <a:off x="952033" y="5274973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</p:txBody>
      </p:sp>
      <p:sp>
        <p:nvSpPr>
          <p:cNvPr id="1625" name="Google Shape;1625;p81"/>
          <p:cNvSpPr txBox="1"/>
          <p:nvPr/>
        </p:nvSpPr>
        <p:spPr>
          <a:xfrm>
            <a:off x="1958178" y="3394419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grpSp>
        <p:nvGrpSpPr>
          <p:cNvPr id="1626" name="Google Shape;1626;p8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627" name="Google Shape;1627;p8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8" name="Google Shape;1628;p81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82"/>
          <p:cNvSpPr txBox="1"/>
          <p:nvPr>
            <p:ph idx="1" type="body"/>
          </p:nvPr>
        </p:nvSpPr>
        <p:spPr>
          <a:xfrm>
            <a:off x="838200" y="1523675"/>
            <a:ext cx="10515600" cy="1172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Note that collisions can occur!</a:t>
            </a:r>
            <a:endParaRPr/>
          </a:p>
        </p:txBody>
      </p:sp>
      <p:sp>
        <p:nvSpPr>
          <p:cNvPr id="1634" name="Google Shape;1634;p82"/>
          <p:cNvSpPr/>
          <p:nvPr/>
        </p:nvSpPr>
        <p:spPr>
          <a:xfrm>
            <a:off x="6858000" y="2928938"/>
            <a:ext cx="4488568" cy="244050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82"/>
          <p:cNvSpPr/>
          <p:nvPr/>
        </p:nvSpPr>
        <p:spPr>
          <a:xfrm>
            <a:off x="7397205" y="3674774"/>
            <a:ext cx="3956596" cy="1710437"/>
          </a:xfrm>
          <a:prstGeom prst="rect">
            <a:avLst/>
          </a:prstGeom>
          <a:solidFill>
            <a:srgbClr val="B3C6E7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82"/>
          <p:cNvSpPr txBox="1"/>
          <p:nvPr/>
        </p:nvSpPr>
        <p:spPr>
          <a:xfrm>
            <a:off x="6963102" y="3041474"/>
            <a:ext cx="19684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Memory</a:t>
            </a:r>
            <a:endParaRPr/>
          </a:p>
        </p:txBody>
      </p:sp>
      <p:sp>
        <p:nvSpPr>
          <p:cNvPr id="1637" name="Google Shape;1637;p82"/>
          <p:cNvSpPr txBox="1"/>
          <p:nvPr/>
        </p:nvSpPr>
        <p:spPr>
          <a:xfrm>
            <a:off x="7397205" y="3692844"/>
            <a:ext cx="9535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endParaRPr/>
          </a:p>
        </p:txBody>
      </p:sp>
      <p:sp>
        <p:nvSpPr>
          <p:cNvPr id="1638" name="Google Shape;1638;p82"/>
          <p:cNvSpPr/>
          <p:nvPr/>
        </p:nvSpPr>
        <p:spPr>
          <a:xfrm>
            <a:off x="8803984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p82"/>
          <p:cNvSpPr/>
          <p:nvPr/>
        </p:nvSpPr>
        <p:spPr>
          <a:xfrm>
            <a:off x="10016195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0" name="Google Shape;1640;p8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 Phase 1: Partitioning</a:t>
            </a:r>
            <a:endParaRPr/>
          </a:p>
        </p:txBody>
      </p:sp>
      <p:sp>
        <p:nvSpPr>
          <p:cNvPr id="1641" name="Google Shape;1641;p82"/>
          <p:cNvSpPr/>
          <p:nvPr/>
        </p:nvSpPr>
        <p:spPr>
          <a:xfrm>
            <a:off x="7591773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82"/>
          <p:cNvSpPr txBox="1"/>
          <p:nvPr/>
        </p:nvSpPr>
        <p:spPr>
          <a:xfrm>
            <a:off x="7658784" y="5409476"/>
            <a:ext cx="99324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page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p82"/>
          <p:cNvSpPr txBox="1"/>
          <p:nvPr/>
        </p:nvSpPr>
        <p:spPr>
          <a:xfrm>
            <a:off x="8890901" y="5424414"/>
            <a:ext cx="9932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44" name="Google Shape;1644;p82"/>
          <p:cNvSpPr txBox="1"/>
          <p:nvPr/>
        </p:nvSpPr>
        <p:spPr>
          <a:xfrm>
            <a:off x="10103111" y="5424414"/>
            <a:ext cx="9932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645" name="Google Shape;1645;p82"/>
          <p:cNvSpPr/>
          <p:nvPr/>
        </p:nvSpPr>
        <p:spPr>
          <a:xfrm rot="5400000">
            <a:off x="9831280" y="5046118"/>
            <a:ext cx="338818" cy="2138328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82"/>
          <p:cNvSpPr txBox="1"/>
          <p:nvPr/>
        </p:nvSpPr>
        <p:spPr>
          <a:xfrm>
            <a:off x="8350799" y="6303942"/>
            <a:ext cx="35118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(bucket) pages</a:t>
            </a:r>
            <a:endParaRPr/>
          </a:p>
        </p:txBody>
      </p:sp>
      <p:grpSp>
        <p:nvGrpSpPr>
          <p:cNvPr id="1647" name="Google Shape;1647;p82"/>
          <p:cNvGrpSpPr/>
          <p:nvPr/>
        </p:nvGrpSpPr>
        <p:grpSpPr>
          <a:xfrm>
            <a:off x="748697" y="2490533"/>
            <a:ext cx="3457575" cy="4204433"/>
            <a:chOff x="836304" y="3062171"/>
            <a:chExt cx="3457575" cy="3427119"/>
          </a:xfrm>
        </p:grpSpPr>
        <p:sp>
          <p:nvSpPr>
            <p:cNvPr id="1648" name="Google Shape;1648;p82"/>
            <p:cNvSpPr/>
            <p:nvPr/>
          </p:nvSpPr>
          <p:spPr>
            <a:xfrm>
              <a:off x="836304" y="3341893"/>
              <a:ext cx="3457575" cy="3147397"/>
            </a:xfrm>
            <a:prstGeom prst="can">
              <a:avLst>
                <a:gd fmla="val 13065" name="adj"/>
              </a:avLst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9" name="Google Shape;1649;p82"/>
            <p:cNvSpPr txBox="1"/>
            <p:nvPr/>
          </p:nvSpPr>
          <p:spPr>
            <a:xfrm>
              <a:off x="2093854" y="3062171"/>
              <a:ext cx="88617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Disk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0" name="Google Shape;1650;p82"/>
          <p:cNvSpPr txBox="1"/>
          <p:nvPr/>
        </p:nvSpPr>
        <p:spPr>
          <a:xfrm>
            <a:off x="382974" y="3522962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1" name="Google Shape;1651;p82"/>
          <p:cNvSpPr/>
          <p:nvPr/>
        </p:nvSpPr>
        <p:spPr>
          <a:xfrm>
            <a:off x="827734" y="3283295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2" name="Google Shape;1652;p82"/>
          <p:cNvSpPr txBox="1"/>
          <p:nvPr/>
        </p:nvSpPr>
        <p:spPr>
          <a:xfrm>
            <a:off x="8226845" y="797073"/>
            <a:ext cx="3845550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B+1 = 3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pages</a:t>
            </a:r>
            <a:endParaRPr/>
          </a:p>
        </p:txBody>
      </p:sp>
      <p:sp>
        <p:nvSpPr>
          <p:cNvPr id="1653" name="Google Shape;1653;p82"/>
          <p:cNvSpPr/>
          <p:nvPr/>
        </p:nvSpPr>
        <p:spPr>
          <a:xfrm>
            <a:off x="4847157" y="4131962"/>
            <a:ext cx="1461477" cy="37624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4" name="Google Shape;1654;p82"/>
          <p:cNvSpPr/>
          <p:nvPr/>
        </p:nvSpPr>
        <p:spPr>
          <a:xfrm rot="10800000">
            <a:off x="4817058" y="4529992"/>
            <a:ext cx="1461477" cy="37624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82"/>
          <p:cNvSpPr txBox="1"/>
          <p:nvPr/>
        </p:nvSpPr>
        <p:spPr>
          <a:xfrm>
            <a:off x="11557591" y="459326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6" name="Google Shape;1656;p82"/>
          <p:cNvSpPr txBox="1"/>
          <p:nvPr/>
        </p:nvSpPr>
        <p:spPr>
          <a:xfrm>
            <a:off x="956512" y="3394419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7" name="Google Shape;1657;p82"/>
          <p:cNvSpPr txBox="1"/>
          <p:nvPr/>
        </p:nvSpPr>
        <p:spPr>
          <a:xfrm>
            <a:off x="332349" y="4480742"/>
            <a:ext cx="4251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B0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8" name="Google Shape;1658;p82"/>
          <p:cNvSpPr/>
          <p:nvPr/>
        </p:nvSpPr>
        <p:spPr>
          <a:xfrm>
            <a:off x="838200" y="4208645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82"/>
          <p:cNvSpPr txBox="1"/>
          <p:nvPr/>
        </p:nvSpPr>
        <p:spPr>
          <a:xfrm>
            <a:off x="321883" y="5416515"/>
            <a:ext cx="4251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B1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82"/>
          <p:cNvSpPr/>
          <p:nvPr/>
        </p:nvSpPr>
        <p:spPr>
          <a:xfrm>
            <a:off x="827734" y="5144418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82"/>
          <p:cNvSpPr txBox="1"/>
          <p:nvPr/>
        </p:nvSpPr>
        <p:spPr>
          <a:xfrm>
            <a:off x="952033" y="4340590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662" name="Google Shape;1662;p82"/>
          <p:cNvSpPr txBox="1"/>
          <p:nvPr/>
        </p:nvSpPr>
        <p:spPr>
          <a:xfrm>
            <a:off x="952033" y="5274973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</p:txBody>
      </p:sp>
      <p:sp>
        <p:nvSpPr>
          <p:cNvPr id="1663" name="Google Shape;1663;p82"/>
          <p:cNvSpPr txBox="1"/>
          <p:nvPr/>
        </p:nvSpPr>
        <p:spPr>
          <a:xfrm>
            <a:off x="7678354" y="4387045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664" name="Google Shape;1664;p82"/>
          <p:cNvSpPr txBox="1"/>
          <p:nvPr/>
        </p:nvSpPr>
        <p:spPr>
          <a:xfrm>
            <a:off x="9205552" y="3065737"/>
            <a:ext cx="1415772" cy="52322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(5) = 1</a:t>
            </a:r>
            <a:endParaRPr/>
          </a:p>
        </p:txBody>
      </p:sp>
      <p:sp>
        <p:nvSpPr>
          <p:cNvPr id="1665" name="Google Shape;1665;p82"/>
          <p:cNvSpPr/>
          <p:nvPr/>
        </p:nvSpPr>
        <p:spPr>
          <a:xfrm>
            <a:off x="7599005" y="1744712"/>
            <a:ext cx="3754795" cy="978758"/>
          </a:xfrm>
          <a:prstGeom prst="irregularSeal2">
            <a:avLst/>
          </a:prstGeom>
          <a:solidFill>
            <a:srgbClr val="FF0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Collision!!!</a:t>
            </a:r>
            <a:endParaRPr/>
          </a:p>
        </p:txBody>
      </p:sp>
      <p:sp>
        <p:nvSpPr>
          <p:cNvPr id="1666" name="Google Shape;1666;p82"/>
          <p:cNvSpPr txBox="1"/>
          <p:nvPr/>
        </p:nvSpPr>
        <p:spPr>
          <a:xfrm>
            <a:off x="7678354" y="4392938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667" name="Google Shape;1667;p82"/>
          <p:cNvSpPr txBox="1"/>
          <p:nvPr/>
        </p:nvSpPr>
        <p:spPr>
          <a:xfrm>
            <a:off x="10102777" y="4373020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8" name="Google Shape;1668;p8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669" name="Google Shape;1669;p8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82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  <p:sp>
        <p:nvSpPr>
          <p:cNvPr id="1671" name="Google Shape;1671;p82"/>
          <p:cNvSpPr txBox="1"/>
          <p:nvPr/>
        </p:nvSpPr>
        <p:spPr>
          <a:xfrm>
            <a:off x="8803984" y="3065737"/>
            <a:ext cx="2464136" cy="52322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(5) = h</a:t>
            </a:r>
            <a:r>
              <a:rPr baseline="-25000"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(3) = 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6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83"/>
          <p:cNvSpPr txBox="1"/>
          <p:nvPr>
            <p:ph idx="1" type="body"/>
          </p:nvPr>
        </p:nvSpPr>
        <p:spPr>
          <a:xfrm>
            <a:off x="838200" y="1523675"/>
            <a:ext cx="10515600" cy="1172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Finish this pass…</a:t>
            </a:r>
            <a:endParaRPr/>
          </a:p>
        </p:txBody>
      </p:sp>
      <p:sp>
        <p:nvSpPr>
          <p:cNvPr id="1677" name="Google Shape;1677;p83"/>
          <p:cNvSpPr/>
          <p:nvPr/>
        </p:nvSpPr>
        <p:spPr>
          <a:xfrm>
            <a:off x="6858000" y="2928938"/>
            <a:ext cx="4488568" cy="244050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8" name="Google Shape;1678;p83"/>
          <p:cNvSpPr/>
          <p:nvPr/>
        </p:nvSpPr>
        <p:spPr>
          <a:xfrm>
            <a:off x="7397205" y="3674774"/>
            <a:ext cx="3956596" cy="1710437"/>
          </a:xfrm>
          <a:prstGeom prst="rect">
            <a:avLst/>
          </a:prstGeom>
          <a:solidFill>
            <a:srgbClr val="B3C6E7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83"/>
          <p:cNvSpPr txBox="1"/>
          <p:nvPr/>
        </p:nvSpPr>
        <p:spPr>
          <a:xfrm>
            <a:off x="6963102" y="3041474"/>
            <a:ext cx="19684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Memory</a:t>
            </a:r>
            <a:endParaRPr/>
          </a:p>
        </p:txBody>
      </p:sp>
      <p:sp>
        <p:nvSpPr>
          <p:cNvPr id="1680" name="Google Shape;1680;p83"/>
          <p:cNvSpPr txBox="1"/>
          <p:nvPr/>
        </p:nvSpPr>
        <p:spPr>
          <a:xfrm>
            <a:off x="7397205" y="3692844"/>
            <a:ext cx="9535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endParaRPr/>
          </a:p>
        </p:txBody>
      </p:sp>
      <p:sp>
        <p:nvSpPr>
          <p:cNvPr id="1681" name="Google Shape;1681;p83"/>
          <p:cNvSpPr/>
          <p:nvPr/>
        </p:nvSpPr>
        <p:spPr>
          <a:xfrm>
            <a:off x="8803984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2" name="Google Shape;1682;p83"/>
          <p:cNvSpPr/>
          <p:nvPr/>
        </p:nvSpPr>
        <p:spPr>
          <a:xfrm>
            <a:off x="10016195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p8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 Phase 1: Partitioning</a:t>
            </a:r>
            <a:endParaRPr/>
          </a:p>
        </p:txBody>
      </p:sp>
      <p:sp>
        <p:nvSpPr>
          <p:cNvPr id="1684" name="Google Shape;1684;p83"/>
          <p:cNvSpPr/>
          <p:nvPr/>
        </p:nvSpPr>
        <p:spPr>
          <a:xfrm>
            <a:off x="7591773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5" name="Google Shape;1685;p83"/>
          <p:cNvSpPr txBox="1"/>
          <p:nvPr/>
        </p:nvSpPr>
        <p:spPr>
          <a:xfrm>
            <a:off x="7658784" y="5409476"/>
            <a:ext cx="99324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page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6" name="Google Shape;1686;p83"/>
          <p:cNvSpPr txBox="1"/>
          <p:nvPr/>
        </p:nvSpPr>
        <p:spPr>
          <a:xfrm>
            <a:off x="8890901" y="5424414"/>
            <a:ext cx="9932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87" name="Google Shape;1687;p83"/>
          <p:cNvSpPr txBox="1"/>
          <p:nvPr/>
        </p:nvSpPr>
        <p:spPr>
          <a:xfrm>
            <a:off x="10103111" y="5424414"/>
            <a:ext cx="9932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688" name="Google Shape;1688;p83"/>
          <p:cNvSpPr/>
          <p:nvPr/>
        </p:nvSpPr>
        <p:spPr>
          <a:xfrm rot="5400000">
            <a:off x="9831280" y="5046118"/>
            <a:ext cx="338818" cy="2138328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9" name="Google Shape;1689;p83"/>
          <p:cNvSpPr txBox="1"/>
          <p:nvPr/>
        </p:nvSpPr>
        <p:spPr>
          <a:xfrm>
            <a:off x="8350799" y="6303942"/>
            <a:ext cx="35118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(bucket) pages</a:t>
            </a:r>
            <a:endParaRPr/>
          </a:p>
        </p:txBody>
      </p:sp>
      <p:grpSp>
        <p:nvGrpSpPr>
          <p:cNvPr id="1690" name="Google Shape;1690;p83"/>
          <p:cNvGrpSpPr/>
          <p:nvPr/>
        </p:nvGrpSpPr>
        <p:grpSpPr>
          <a:xfrm>
            <a:off x="748697" y="2490533"/>
            <a:ext cx="3457575" cy="4204433"/>
            <a:chOff x="836304" y="3062171"/>
            <a:chExt cx="3457575" cy="3427119"/>
          </a:xfrm>
        </p:grpSpPr>
        <p:sp>
          <p:nvSpPr>
            <p:cNvPr id="1691" name="Google Shape;1691;p83"/>
            <p:cNvSpPr/>
            <p:nvPr/>
          </p:nvSpPr>
          <p:spPr>
            <a:xfrm>
              <a:off x="836304" y="3341893"/>
              <a:ext cx="3457575" cy="3147397"/>
            </a:xfrm>
            <a:prstGeom prst="can">
              <a:avLst>
                <a:gd fmla="val 13065" name="adj"/>
              </a:avLst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83"/>
            <p:cNvSpPr txBox="1"/>
            <p:nvPr/>
          </p:nvSpPr>
          <p:spPr>
            <a:xfrm>
              <a:off x="2093854" y="3062171"/>
              <a:ext cx="88617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Disk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3" name="Google Shape;1693;p83"/>
          <p:cNvSpPr txBox="1"/>
          <p:nvPr/>
        </p:nvSpPr>
        <p:spPr>
          <a:xfrm>
            <a:off x="382974" y="3522962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4" name="Google Shape;1694;p83"/>
          <p:cNvSpPr/>
          <p:nvPr/>
        </p:nvSpPr>
        <p:spPr>
          <a:xfrm>
            <a:off x="827734" y="3283295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5" name="Google Shape;1695;p83"/>
          <p:cNvSpPr txBox="1"/>
          <p:nvPr/>
        </p:nvSpPr>
        <p:spPr>
          <a:xfrm>
            <a:off x="8226845" y="797073"/>
            <a:ext cx="3845550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B+1 = 3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pages</a:t>
            </a:r>
            <a:endParaRPr/>
          </a:p>
        </p:txBody>
      </p:sp>
      <p:sp>
        <p:nvSpPr>
          <p:cNvPr id="1696" name="Google Shape;1696;p83"/>
          <p:cNvSpPr/>
          <p:nvPr/>
        </p:nvSpPr>
        <p:spPr>
          <a:xfrm>
            <a:off x="4847157" y="4131962"/>
            <a:ext cx="1461477" cy="37624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7" name="Google Shape;1697;p83"/>
          <p:cNvSpPr/>
          <p:nvPr/>
        </p:nvSpPr>
        <p:spPr>
          <a:xfrm rot="10800000">
            <a:off x="4817058" y="4529992"/>
            <a:ext cx="1461477" cy="37624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8" name="Google Shape;1698;p83"/>
          <p:cNvSpPr txBox="1"/>
          <p:nvPr/>
        </p:nvSpPr>
        <p:spPr>
          <a:xfrm>
            <a:off x="11557591" y="459326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83"/>
          <p:cNvSpPr txBox="1"/>
          <p:nvPr/>
        </p:nvSpPr>
        <p:spPr>
          <a:xfrm>
            <a:off x="956512" y="3394419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0" name="Google Shape;1700;p83"/>
          <p:cNvSpPr txBox="1"/>
          <p:nvPr/>
        </p:nvSpPr>
        <p:spPr>
          <a:xfrm>
            <a:off x="332349" y="4480742"/>
            <a:ext cx="4251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B0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1" name="Google Shape;1701;p83"/>
          <p:cNvSpPr/>
          <p:nvPr/>
        </p:nvSpPr>
        <p:spPr>
          <a:xfrm>
            <a:off x="838200" y="4208645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p83"/>
          <p:cNvSpPr txBox="1"/>
          <p:nvPr/>
        </p:nvSpPr>
        <p:spPr>
          <a:xfrm>
            <a:off x="321883" y="5416515"/>
            <a:ext cx="4251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B1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3" name="Google Shape;1703;p83"/>
          <p:cNvSpPr/>
          <p:nvPr/>
        </p:nvSpPr>
        <p:spPr>
          <a:xfrm>
            <a:off x="827734" y="5144418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4" name="Google Shape;1704;p83"/>
          <p:cNvSpPr txBox="1"/>
          <p:nvPr/>
        </p:nvSpPr>
        <p:spPr>
          <a:xfrm>
            <a:off x="952033" y="4340590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705" name="Google Shape;1705;p83"/>
          <p:cNvSpPr txBox="1"/>
          <p:nvPr/>
        </p:nvSpPr>
        <p:spPr>
          <a:xfrm>
            <a:off x="952033" y="5274973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</p:txBody>
      </p:sp>
      <p:sp>
        <p:nvSpPr>
          <p:cNvPr id="1706" name="Google Shape;1706;p83"/>
          <p:cNvSpPr txBox="1"/>
          <p:nvPr/>
        </p:nvSpPr>
        <p:spPr>
          <a:xfrm>
            <a:off x="7678354" y="4387045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707" name="Google Shape;1707;p83"/>
          <p:cNvSpPr txBox="1"/>
          <p:nvPr/>
        </p:nvSpPr>
        <p:spPr>
          <a:xfrm>
            <a:off x="9205552" y="3065737"/>
            <a:ext cx="1415772" cy="52322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(0) = 0</a:t>
            </a:r>
            <a:endParaRPr/>
          </a:p>
        </p:txBody>
      </p:sp>
      <p:sp>
        <p:nvSpPr>
          <p:cNvPr id="1708" name="Google Shape;1708;p83"/>
          <p:cNvSpPr txBox="1"/>
          <p:nvPr/>
        </p:nvSpPr>
        <p:spPr>
          <a:xfrm>
            <a:off x="10102777" y="4390781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9" name="Google Shape;1709;p83"/>
          <p:cNvSpPr txBox="1"/>
          <p:nvPr/>
        </p:nvSpPr>
        <p:spPr>
          <a:xfrm>
            <a:off x="8898450" y="4388100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10" name="Google Shape;1710;p8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711" name="Google Shape;1711;p8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2" name="Google Shape;1712;p83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6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p84"/>
          <p:cNvSpPr txBox="1"/>
          <p:nvPr>
            <p:ph idx="1" type="body"/>
          </p:nvPr>
        </p:nvSpPr>
        <p:spPr>
          <a:xfrm>
            <a:off x="838200" y="1523675"/>
            <a:ext cx="10515600" cy="1172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Finish this pass…</a:t>
            </a:r>
            <a:endParaRPr/>
          </a:p>
        </p:txBody>
      </p:sp>
      <p:sp>
        <p:nvSpPr>
          <p:cNvPr id="1718" name="Google Shape;1718;p84"/>
          <p:cNvSpPr/>
          <p:nvPr/>
        </p:nvSpPr>
        <p:spPr>
          <a:xfrm>
            <a:off x="6858000" y="2928938"/>
            <a:ext cx="4488568" cy="244050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9" name="Google Shape;1719;p84"/>
          <p:cNvSpPr/>
          <p:nvPr/>
        </p:nvSpPr>
        <p:spPr>
          <a:xfrm>
            <a:off x="7397205" y="3674774"/>
            <a:ext cx="3956596" cy="1710437"/>
          </a:xfrm>
          <a:prstGeom prst="rect">
            <a:avLst/>
          </a:prstGeom>
          <a:solidFill>
            <a:srgbClr val="B3C6E7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84"/>
          <p:cNvSpPr txBox="1"/>
          <p:nvPr/>
        </p:nvSpPr>
        <p:spPr>
          <a:xfrm>
            <a:off x="6963102" y="3041474"/>
            <a:ext cx="19684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Memory</a:t>
            </a:r>
            <a:endParaRPr/>
          </a:p>
        </p:txBody>
      </p:sp>
      <p:sp>
        <p:nvSpPr>
          <p:cNvPr id="1721" name="Google Shape;1721;p84"/>
          <p:cNvSpPr txBox="1"/>
          <p:nvPr/>
        </p:nvSpPr>
        <p:spPr>
          <a:xfrm>
            <a:off x="7397205" y="3692844"/>
            <a:ext cx="9535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endParaRPr/>
          </a:p>
        </p:txBody>
      </p:sp>
      <p:sp>
        <p:nvSpPr>
          <p:cNvPr id="1722" name="Google Shape;1722;p84"/>
          <p:cNvSpPr/>
          <p:nvPr/>
        </p:nvSpPr>
        <p:spPr>
          <a:xfrm>
            <a:off x="8803984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p84"/>
          <p:cNvSpPr/>
          <p:nvPr/>
        </p:nvSpPr>
        <p:spPr>
          <a:xfrm>
            <a:off x="10016195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p8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 Phase 1: Partitioning</a:t>
            </a:r>
            <a:endParaRPr/>
          </a:p>
        </p:txBody>
      </p:sp>
      <p:sp>
        <p:nvSpPr>
          <p:cNvPr id="1725" name="Google Shape;1725;p84"/>
          <p:cNvSpPr/>
          <p:nvPr/>
        </p:nvSpPr>
        <p:spPr>
          <a:xfrm>
            <a:off x="7591773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84"/>
          <p:cNvSpPr txBox="1"/>
          <p:nvPr/>
        </p:nvSpPr>
        <p:spPr>
          <a:xfrm>
            <a:off x="7658784" y="5409476"/>
            <a:ext cx="99324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page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p84"/>
          <p:cNvSpPr txBox="1"/>
          <p:nvPr/>
        </p:nvSpPr>
        <p:spPr>
          <a:xfrm>
            <a:off x="8890901" y="5424414"/>
            <a:ext cx="9932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728" name="Google Shape;1728;p84"/>
          <p:cNvSpPr txBox="1"/>
          <p:nvPr/>
        </p:nvSpPr>
        <p:spPr>
          <a:xfrm>
            <a:off x="10103111" y="5424414"/>
            <a:ext cx="9932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729" name="Google Shape;1729;p84"/>
          <p:cNvSpPr/>
          <p:nvPr/>
        </p:nvSpPr>
        <p:spPr>
          <a:xfrm rot="5400000">
            <a:off x="9831280" y="5046118"/>
            <a:ext cx="338818" cy="2138328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0" name="Google Shape;1730;p84"/>
          <p:cNvSpPr txBox="1"/>
          <p:nvPr/>
        </p:nvSpPr>
        <p:spPr>
          <a:xfrm>
            <a:off x="8350799" y="6303942"/>
            <a:ext cx="35118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(bucket) pages</a:t>
            </a:r>
            <a:endParaRPr/>
          </a:p>
        </p:txBody>
      </p:sp>
      <p:grpSp>
        <p:nvGrpSpPr>
          <p:cNvPr id="1731" name="Google Shape;1731;p84"/>
          <p:cNvGrpSpPr/>
          <p:nvPr/>
        </p:nvGrpSpPr>
        <p:grpSpPr>
          <a:xfrm>
            <a:off x="748697" y="2490533"/>
            <a:ext cx="3457575" cy="4204433"/>
            <a:chOff x="836304" y="3062171"/>
            <a:chExt cx="3457575" cy="3427119"/>
          </a:xfrm>
        </p:grpSpPr>
        <p:sp>
          <p:nvSpPr>
            <p:cNvPr id="1732" name="Google Shape;1732;p84"/>
            <p:cNvSpPr/>
            <p:nvPr/>
          </p:nvSpPr>
          <p:spPr>
            <a:xfrm>
              <a:off x="836304" y="3341893"/>
              <a:ext cx="3457575" cy="3147397"/>
            </a:xfrm>
            <a:prstGeom prst="can">
              <a:avLst>
                <a:gd fmla="val 13065" name="adj"/>
              </a:avLst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84"/>
            <p:cNvSpPr txBox="1"/>
            <p:nvPr/>
          </p:nvSpPr>
          <p:spPr>
            <a:xfrm>
              <a:off x="2093854" y="3062171"/>
              <a:ext cx="88617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Disk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4" name="Google Shape;1734;p84"/>
          <p:cNvSpPr txBox="1"/>
          <p:nvPr/>
        </p:nvSpPr>
        <p:spPr>
          <a:xfrm>
            <a:off x="382974" y="3522962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84"/>
          <p:cNvSpPr/>
          <p:nvPr/>
        </p:nvSpPr>
        <p:spPr>
          <a:xfrm>
            <a:off x="827734" y="3283295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6" name="Google Shape;1736;p84"/>
          <p:cNvSpPr txBox="1"/>
          <p:nvPr/>
        </p:nvSpPr>
        <p:spPr>
          <a:xfrm>
            <a:off x="8226845" y="797073"/>
            <a:ext cx="3845550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B+1 = 3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pages</a:t>
            </a:r>
            <a:endParaRPr/>
          </a:p>
        </p:txBody>
      </p:sp>
      <p:sp>
        <p:nvSpPr>
          <p:cNvPr id="1737" name="Google Shape;1737;p84"/>
          <p:cNvSpPr/>
          <p:nvPr/>
        </p:nvSpPr>
        <p:spPr>
          <a:xfrm>
            <a:off x="4847157" y="4131962"/>
            <a:ext cx="1461477" cy="37624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8" name="Google Shape;1738;p84"/>
          <p:cNvSpPr/>
          <p:nvPr/>
        </p:nvSpPr>
        <p:spPr>
          <a:xfrm rot="10800000">
            <a:off x="4817058" y="4529992"/>
            <a:ext cx="1461477" cy="37624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9" name="Google Shape;1739;p84"/>
          <p:cNvSpPr txBox="1"/>
          <p:nvPr/>
        </p:nvSpPr>
        <p:spPr>
          <a:xfrm>
            <a:off x="11557591" y="459326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0" name="Google Shape;1740;p84"/>
          <p:cNvSpPr txBox="1"/>
          <p:nvPr/>
        </p:nvSpPr>
        <p:spPr>
          <a:xfrm>
            <a:off x="332349" y="4480742"/>
            <a:ext cx="4251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B0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1" name="Google Shape;1741;p84"/>
          <p:cNvSpPr/>
          <p:nvPr/>
        </p:nvSpPr>
        <p:spPr>
          <a:xfrm>
            <a:off x="838200" y="4208645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2" name="Google Shape;1742;p84"/>
          <p:cNvSpPr txBox="1"/>
          <p:nvPr/>
        </p:nvSpPr>
        <p:spPr>
          <a:xfrm>
            <a:off x="321883" y="5416515"/>
            <a:ext cx="4251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B1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3" name="Google Shape;1743;p84"/>
          <p:cNvSpPr/>
          <p:nvPr/>
        </p:nvSpPr>
        <p:spPr>
          <a:xfrm>
            <a:off x="827734" y="5144418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4" name="Google Shape;1744;p84"/>
          <p:cNvSpPr txBox="1"/>
          <p:nvPr/>
        </p:nvSpPr>
        <p:spPr>
          <a:xfrm>
            <a:off x="952033" y="4340590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745" name="Google Shape;1745;p84"/>
          <p:cNvSpPr txBox="1"/>
          <p:nvPr/>
        </p:nvSpPr>
        <p:spPr>
          <a:xfrm>
            <a:off x="952033" y="5274973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</p:txBody>
      </p:sp>
      <p:sp>
        <p:nvSpPr>
          <p:cNvPr id="1746" name="Google Shape;1746;p84"/>
          <p:cNvSpPr txBox="1"/>
          <p:nvPr/>
        </p:nvSpPr>
        <p:spPr>
          <a:xfrm>
            <a:off x="10102777" y="4390781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7" name="Google Shape;1747;p84"/>
          <p:cNvSpPr txBox="1"/>
          <p:nvPr/>
        </p:nvSpPr>
        <p:spPr>
          <a:xfrm>
            <a:off x="8898450" y="4388100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8" name="Google Shape;1748;p84"/>
          <p:cNvSpPr txBox="1"/>
          <p:nvPr/>
        </p:nvSpPr>
        <p:spPr>
          <a:xfrm>
            <a:off x="956512" y="3394419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9" name="Google Shape;1749;p8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750" name="Google Shape;1750;p8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84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5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p85"/>
          <p:cNvSpPr txBox="1"/>
          <p:nvPr>
            <p:ph idx="1" type="body"/>
          </p:nvPr>
        </p:nvSpPr>
        <p:spPr>
          <a:xfrm>
            <a:off x="838200" y="1523675"/>
            <a:ext cx="10515600" cy="1172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Finish this pass…</a:t>
            </a:r>
            <a:endParaRPr/>
          </a:p>
        </p:txBody>
      </p:sp>
      <p:sp>
        <p:nvSpPr>
          <p:cNvPr id="1757" name="Google Shape;1757;p85"/>
          <p:cNvSpPr/>
          <p:nvPr/>
        </p:nvSpPr>
        <p:spPr>
          <a:xfrm>
            <a:off x="6858000" y="2928938"/>
            <a:ext cx="4488568" cy="244050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8" name="Google Shape;1758;p85"/>
          <p:cNvSpPr/>
          <p:nvPr/>
        </p:nvSpPr>
        <p:spPr>
          <a:xfrm>
            <a:off x="7397205" y="3674774"/>
            <a:ext cx="3956596" cy="1710437"/>
          </a:xfrm>
          <a:prstGeom prst="rect">
            <a:avLst/>
          </a:prstGeom>
          <a:solidFill>
            <a:srgbClr val="B3C6E7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9" name="Google Shape;1759;p85"/>
          <p:cNvSpPr txBox="1"/>
          <p:nvPr/>
        </p:nvSpPr>
        <p:spPr>
          <a:xfrm>
            <a:off x="6963102" y="3041474"/>
            <a:ext cx="19684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Memory</a:t>
            </a:r>
            <a:endParaRPr/>
          </a:p>
        </p:txBody>
      </p:sp>
      <p:sp>
        <p:nvSpPr>
          <p:cNvPr id="1760" name="Google Shape;1760;p85"/>
          <p:cNvSpPr txBox="1"/>
          <p:nvPr/>
        </p:nvSpPr>
        <p:spPr>
          <a:xfrm>
            <a:off x="7397205" y="3692844"/>
            <a:ext cx="9535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endParaRPr/>
          </a:p>
        </p:txBody>
      </p:sp>
      <p:sp>
        <p:nvSpPr>
          <p:cNvPr id="1761" name="Google Shape;1761;p85"/>
          <p:cNvSpPr/>
          <p:nvPr/>
        </p:nvSpPr>
        <p:spPr>
          <a:xfrm>
            <a:off x="8803984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2" name="Google Shape;1762;p85"/>
          <p:cNvSpPr/>
          <p:nvPr/>
        </p:nvSpPr>
        <p:spPr>
          <a:xfrm>
            <a:off x="10016195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3" name="Google Shape;1763;p8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 Phase 1: Partitioning</a:t>
            </a:r>
            <a:endParaRPr/>
          </a:p>
        </p:txBody>
      </p:sp>
      <p:sp>
        <p:nvSpPr>
          <p:cNvPr id="1764" name="Google Shape;1764;p85"/>
          <p:cNvSpPr/>
          <p:nvPr/>
        </p:nvSpPr>
        <p:spPr>
          <a:xfrm>
            <a:off x="7591773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p85"/>
          <p:cNvSpPr txBox="1"/>
          <p:nvPr/>
        </p:nvSpPr>
        <p:spPr>
          <a:xfrm>
            <a:off x="7658784" y="5409476"/>
            <a:ext cx="99324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page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6" name="Google Shape;1766;p85"/>
          <p:cNvSpPr txBox="1"/>
          <p:nvPr/>
        </p:nvSpPr>
        <p:spPr>
          <a:xfrm>
            <a:off x="8890901" y="5424414"/>
            <a:ext cx="9932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767" name="Google Shape;1767;p85"/>
          <p:cNvSpPr txBox="1"/>
          <p:nvPr/>
        </p:nvSpPr>
        <p:spPr>
          <a:xfrm>
            <a:off x="10103111" y="5424414"/>
            <a:ext cx="9932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768" name="Google Shape;1768;p85"/>
          <p:cNvSpPr/>
          <p:nvPr/>
        </p:nvSpPr>
        <p:spPr>
          <a:xfrm rot="5400000">
            <a:off x="9831280" y="5046118"/>
            <a:ext cx="338818" cy="2138328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9" name="Google Shape;1769;p85"/>
          <p:cNvSpPr txBox="1"/>
          <p:nvPr/>
        </p:nvSpPr>
        <p:spPr>
          <a:xfrm>
            <a:off x="8350799" y="6303942"/>
            <a:ext cx="35118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(bucket) pages</a:t>
            </a:r>
            <a:endParaRPr/>
          </a:p>
        </p:txBody>
      </p:sp>
      <p:grpSp>
        <p:nvGrpSpPr>
          <p:cNvPr id="1770" name="Google Shape;1770;p85"/>
          <p:cNvGrpSpPr/>
          <p:nvPr/>
        </p:nvGrpSpPr>
        <p:grpSpPr>
          <a:xfrm>
            <a:off x="748697" y="2490533"/>
            <a:ext cx="3457575" cy="4204433"/>
            <a:chOff x="836304" y="3062171"/>
            <a:chExt cx="3457575" cy="3427119"/>
          </a:xfrm>
        </p:grpSpPr>
        <p:sp>
          <p:nvSpPr>
            <p:cNvPr id="1771" name="Google Shape;1771;p85"/>
            <p:cNvSpPr/>
            <p:nvPr/>
          </p:nvSpPr>
          <p:spPr>
            <a:xfrm>
              <a:off x="836304" y="3341893"/>
              <a:ext cx="3457575" cy="3147397"/>
            </a:xfrm>
            <a:prstGeom prst="can">
              <a:avLst>
                <a:gd fmla="val 13065" name="adj"/>
              </a:avLst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2" name="Google Shape;1772;p85"/>
            <p:cNvSpPr txBox="1"/>
            <p:nvPr/>
          </p:nvSpPr>
          <p:spPr>
            <a:xfrm>
              <a:off x="2093854" y="3062171"/>
              <a:ext cx="88617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Disk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3" name="Google Shape;1773;p85"/>
          <p:cNvSpPr txBox="1"/>
          <p:nvPr/>
        </p:nvSpPr>
        <p:spPr>
          <a:xfrm>
            <a:off x="382974" y="3522962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4" name="Google Shape;1774;p85"/>
          <p:cNvSpPr/>
          <p:nvPr/>
        </p:nvSpPr>
        <p:spPr>
          <a:xfrm>
            <a:off x="827734" y="3283295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5" name="Google Shape;1775;p85"/>
          <p:cNvSpPr txBox="1"/>
          <p:nvPr/>
        </p:nvSpPr>
        <p:spPr>
          <a:xfrm>
            <a:off x="8226845" y="797073"/>
            <a:ext cx="3845550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B+1 = 3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pages</a:t>
            </a:r>
            <a:endParaRPr/>
          </a:p>
        </p:txBody>
      </p:sp>
      <p:sp>
        <p:nvSpPr>
          <p:cNvPr id="1776" name="Google Shape;1776;p85"/>
          <p:cNvSpPr/>
          <p:nvPr/>
        </p:nvSpPr>
        <p:spPr>
          <a:xfrm>
            <a:off x="4847157" y="4131962"/>
            <a:ext cx="1461477" cy="37624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7" name="Google Shape;1777;p85"/>
          <p:cNvSpPr/>
          <p:nvPr/>
        </p:nvSpPr>
        <p:spPr>
          <a:xfrm rot="10800000">
            <a:off x="4817058" y="4529992"/>
            <a:ext cx="1461477" cy="37624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8" name="Google Shape;1778;p85"/>
          <p:cNvSpPr txBox="1"/>
          <p:nvPr/>
        </p:nvSpPr>
        <p:spPr>
          <a:xfrm>
            <a:off x="11557591" y="459326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9" name="Google Shape;1779;p85"/>
          <p:cNvSpPr txBox="1"/>
          <p:nvPr/>
        </p:nvSpPr>
        <p:spPr>
          <a:xfrm>
            <a:off x="332349" y="4480742"/>
            <a:ext cx="4251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B0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p85"/>
          <p:cNvSpPr/>
          <p:nvPr/>
        </p:nvSpPr>
        <p:spPr>
          <a:xfrm>
            <a:off x="838200" y="4208645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1" name="Google Shape;1781;p85"/>
          <p:cNvSpPr txBox="1"/>
          <p:nvPr/>
        </p:nvSpPr>
        <p:spPr>
          <a:xfrm>
            <a:off x="321883" y="5416515"/>
            <a:ext cx="4251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B1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2" name="Google Shape;1782;p85"/>
          <p:cNvSpPr/>
          <p:nvPr/>
        </p:nvSpPr>
        <p:spPr>
          <a:xfrm>
            <a:off x="827734" y="5144418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85"/>
          <p:cNvSpPr txBox="1"/>
          <p:nvPr/>
        </p:nvSpPr>
        <p:spPr>
          <a:xfrm>
            <a:off x="952033" y="4340590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784" name="Google Shape;1784;p85"/>
          <p:cNvSpPr txBox="1"/>
          <p:nvPr/>
        </p:nvSpPr>
        <p:spPr>
          <a:xfrm>
            <a:off x="952033" y="5274973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</p:txBody>
      </p:sp>
      <p:sp>
        <p:nvSpPr>
          <p:cNvPr id="1785" name="Google Shape;1785;p85"/>
          <p:cNvSpPr txBox="1"/>
          <p:nvPr/>
        </p:nvSpPr>
        <p:spPr>
          <a:xfrm>
            <a:off x="10102777" y="4390781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6" name="Google Shape;1786;p85"/>
          <p:cNvSpPr txBox="1"/>
          <p:nvPr/>
        </p:nvSpPr>
        <p:spPr>
          <a:xfrm>
            <a:off x="8898450" y="4388100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7" name="Google Shape;1787;p85"/>
          <p:cNvSpPr txBox="1"/>
          <p:nvPr/>
        </p:nvSpPr>
        <p:spPr>
          <a:xfrm>
            <a:off x="7678353" y="4397605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8" name="Google Shape;1788;p85"/>
          <p:cNvSpPr txBox="1"/>
          <p:nvPr/>
        </p:nvSpPr>
        <p:spPr>
          <a:xfrm>
            <a:off x="9205552" y="3065737"/>
            <a:ext cx="1415772" cy="52322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(5) = 1</a:t>
            </a:r>
            <a:endParaRPr/>
          </a:p>
        </p:txBody>
      </p:sp>
      <p:sp>
        <p:nvSpPr>
          <p:cNvPr id="1789" name="Google Shape;1789;p85"/>
          <p:cNvSpPr txBox="1"/>
          <p:nvPr/>
        </p:nvSpPr>
        <p:spPr>
          <a:xfrm>
            <a:off x="10102777" y="4410032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</p:txBody>
      </p:sp>
      <p:grpSp>
        <p:nvGrpSpPr>
          <p:cNvPr id="1790" name="Google Shape;1790;p8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791" name="Google Shape;1791;p8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2" name="Google Shape;1792;p85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  <p:sp>
        <p:nvSpPr>
          <p:cNvPr id="1793" name="Google Shape;1793;p85"/>
          <p:cNvSpPr txBox="1"/>
          <p:nvPr/>
        </p:nvSpPr>
        <p:spPr>
          <a:xfrm>
            <a:off x="8803984" y="3065737"/>
            <a:ext cx="2464136" cy="52322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(5) = h</a:t>
            </a:r>
            <a:r>
              <a:rPr baseline="-25000"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(3) = 1</a:t>
            </a:r>
            <a:endParaRPr/>
          </a:p>
        </p:txBody>
      </p:sp>
      <p:sp>
        <p:nvSpPr>
          <p:cNvPr id="1794" name="Google Shape;1794;p85"/>
          <p:cNvSpPr/>
          <p:nvPr/>
        </p:nvSpPr>
        <p:spPr>
          <a:xfrm>
            <a:off x="7599005" y="1744712"/>
            <a:ext cx="3754795" cy="978758"/>
          </a:xfrm>
          <a:prstGeom prst="irregularSeal2">
            <a:avLst/>
          </a:prstGeom>
          <a:solidFill>
            <a:srgbClr val="FF0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Collision!!!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8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p86"/>
          <p:cNvSpPr txBox="1"/>
          <p:nvPr>
            <p:ph idx="1" type="body"/>
          </p:nvPr>
        </p:nvSpPr>
        <p:spPr>
          <a:xfrm>
            <a:off x="838200" y="1523675"/>
            <a:ext cx="10515600" cy="1172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Finish this pass…</a:t>
            </a:r>
            <a:endParaRPr/>
          </a:p>
        </p:txBody>
      </p:sp>
      <p:sp>
        <p:nvSpPr>
          <p:cNvPr id="1800" name="Google Shape;1800;p86"/>
          <p:cNvSpPr/>
          <p:nvPr/>
        </p:nvSpPr>
        <p:spPr>
          <a:xfrm>
            <a:off x="6858000" y="2928938"/>
            <a:ext cx="4488568" cy="244050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1" name="Google Shape;1801;p86"/>
          <p:cNvSpPr/>
          <p:nvPr/>
        </p:nvSpPr>
        <p:spPr>
          <a:xfrm>
            <a:off x="7397205" y="3674774"/>
            <a:ext cx="3956596" cy="1710437"/>
          </a:xfrm>
          <a:prstGeom prst="rect">
            <a:avLst/>
          </a:prstGeom>
          <a:solidFill>
            <a:srgbClr val="B3C6E7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2" name="Google Shape;1802;p86"/>
          <p:cNvSpPr txBox="1"/>
          <p:nvPr/>
        </p:nvSpPr>
        <p:spPr>
          <a:xfrm>
            <a:off x="6963102" y="3041474"/>
            <a:ext cx="19684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Memory</a:t>
            </a:r>
            <a:endParaRPr/>
          </a:p>
        </p:txBody>
      </p:sp>
      <p:sp>
        <p:nvSpPr>
          <p:cNvPr id="1803" name="Google Shape;1803;p86"/>
          <p:cNvSpPr txBox="1"/>
          <p:nvPr/>
        </p:nvSpPr>
        <p:spPr>
          <a:xfrm>
            <a:off x="7397205" y="3692844"/>
            <a:ext cx="9535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endParaRPr/>
          </a:p>
        </p:txBody>
      </p:sp>
      <p:sp>
        <p:nvSpPr>
          <p:cNvPr id="1804" name="Google Shape;1804;p86"/>
          <p:cNvSpPr/>
          <p:nvPr/>
        </p:nvSpPr>
        <p:spPr>
          <a:xfrm>
            <a:off x="8803984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5" name="Google Shape;1805;p86"/>
          <p:cNvSpPr/>
          <p:nvPr/>
        </p:nvSpPr>
        <p:spPr>
          <a:xfrm>
            <a:off x="10016195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6" name="Google Shape;1806;p8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 Phase 1: Partitioning</a:t>
            </a:r>
            <a:endParaRPr/>
          </a:p>
        </p:txBody>
      </p:sp>
      <p:sp>
        <p:nvSpPr>
          <p:cNvPr id="1807" name="Google Shape;1807;p86"/>
          <p:cNvSpPr/>
          <p:nvPr/>
        </p:nvSpPr>
        <p:spPr>
          <a:xfrm>
            <a:off x="7591773" y="4208645"/>
            <a:ext cx="1127270" cy="916684"/>
          </a:xfrm>
          <a:prstGeom prst="roundRect">
            <a:avLst>
              <a:gd fmla="val 16667" name="adj"/>
            </a:avLst>
          </a:prstGeom>
          <a:solidFill>
            <a:srgbClr val="D5DB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8" name="Google Shape;1808;p86"/>
          <p:cNvSpPr txBox="1"/>
          <p:nvPr/>
        </p:nvSpPr>
        <p:spPr>
          <a:xfrm>
            <a:off x="7658784" y="5409476"/>
            <a:ext cx="99324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page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9" name="Google Shape;1809;p86"/>
          <p:cNvSpPr txBox="1"/>
          <p:nvPr/>
        </p:nvSpPr>
        <p:spPr>
          <a:xfrm>
            <a:off x="8890901" y="5424414"/>
            <a:ext cx="9932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810" name="Google Shape;1810;p86"/>
          <p:cNvSpPr txBox="1"/>
          <p:nvPr/>
        </p:nvSpPr>
        <p:spPr>
          <a:xfrm>
            <a:off x="10103111" y="5424414"/>
            <a:ext cx="9932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811" name="Google Shape;1811;p86"/>
          <p:cNvSpPr/>
          <p:nvPr/>
        </p:nvSpPr>
        <p:spPr>
          <a:xfrm rot="5400000">
            <a:off x="9831280" y="5046118"/>
            <a:ext cx="338818" cy="2138328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2" name="Google Shape;1812;p86"/>
          <p:cNvSpPr txBox="1"/>
          <p:nvPr/>
        </p:nvSpPr>
        <p:spPr>
          <a:xfrm>
            <a:off x="8350799" y="6303942"/>
            <a:ext cx="35118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(bucket) pages</a:t>
            </a:r>
            <a:endParaRPr/>
          </a:p>
        </p:txBody>
      </p:sp>
      <p:grpSp>
        <p:nvGrpSpPr>
          <p:cNvPr id="1813" name="Google Shape;1813;p86"/>
          <p:cNvGrpSpPr/>
          <p:nvPr/>
        </p:nvGrpSpPr>
        <p:grpSpPr>
          <a:xfrm>
            <a:off x="748697" y="2490533"/>
            <a:ext cx="3457575" cy="4204433"/>
            <a:chOff x="836304" y="3062171"/>
            <a:chExt cx="3457575" cy="3427119"/>
          </a:xfrm>
        </p:grpSpPr>
        <p:sp>
          <p:nvSpPr>
            <p:cNvPr id="1814" name="Google Shape;1814;p86"/>
            <p:cNvSpPr/>
            <p:nvPr/>
          </p:nvSpPr>
          <p:spPr>
            <a:xfrm>
              <a:off x="836304" y="3341893"/>
              <a:ext cx="3457575" cy="3147397"/>
            </a:xfrm>
            <a:prstGeom prst="can">
              <a:avLst>
                <a:gd fmla="val 13065" name="adj"/>
              </a:avLst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5" name="Google Shape;1815;p86"/>
            <p:cNvSpPr txBox="1"/>
            <p:nvPr/>
          </p:nvSpPr>
          <p:spPr>
            <a:xfrm>
              <a:off x="2093854" y="3062171"/>
              <a:ext cx="88617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Disk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6" name="Google Shape;1816;p86"/>
          <p:cNvSpPr txBox="1"/>
          <p:nvPr/>
        </p:nvSpPr>
        <p:spPr>
          <a:xfrm>
            <a:off x="382974" y="3522962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7" name="Google Shape;1817;p86"/>
          <p:cNvSpPr/>
          <p:nvPr/>
        </p:nvSpPr>
        <p:spPr>
          <a:xfrm>
            <a:off x="827734" y="3283295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8" name="Google Shape;1818;p86"/>
          <p:cNvSpPr txBox="1"/>
          <p:nvPr/>
        </p:nvSpPr>
        <p:spPr>
          <a:xfrm>
            <a:off x="8226845" y="797073"/>
            <a:ext cx="3845550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B+1 = 3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pages</a:t>
            </a:r>
            <a:endParaRPr/>
          </a:p>
        </p:txBody>
      </p:sp>
      <p:sp>
        <p:nvSpPr>
          <p:cNvPr id="1819" name="Google Shape;1819;p86"/>
          <p:cNvSpPr/>
          <p:nvPr/>
        </p:nvSpPr>
        <p:spPr>
          <a:xfrm>
            <a:off x="4847157" y="4131962"/>
            <a:ext cx="1461477" cy="37624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86"/>
          <p:cNvSpPr/>
          <p:nvPr/>
        </p:nvSpPr>
        <p:spPr>
          <a:xfrm rot="10800000">
            <a:off x="4817058" y="4529992"/>
            <a:ext cx="1461477" cy="37624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86"/>
          <p:cNvSpPr txBox="1"/>
          <p:nvPr/>
        </p:nvSpPr>
        <p:spPr>
          <a:xfrm>
            <a:off x="11557591" y="459326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86"/>
          <p:cNvSpPr txBox="1"/>
          <p:nvPr/>
        </p:nvSpPr>
        <p:spPr>
          <a:xfrm>
            <a:off x="332349" y="4480742"/>
            <a:ext cx="4251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B0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86"/>
          <p:cNvSpPr/>
          <p:nvPr/>
        </p:nvSpPr>
        <p:spPr>
          <a:xfrm>
            <a:off x="838200" y="4208645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4" name="Google Shape;1824;p86"/>
          <p:cNvSpPr txBox="1"/>
          <p:nvPr/>
        </p:nvSpPr>
        <p:spPr>
          <a:xfrm>
            <a:off x="321883" y="5416515"/>
            <a:ext cx="4251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B1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5" name="Google Shape;1825;p86"/>
          <p:cNvSpPr/>
          <p:nvPr/>
        </p:nvSpPr>
        <p:spPr>
          <a:xfrm>
            <a:off x="827734" y="5144418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6" name="Google Shape;1826;p86"/>
          <p:cNvSpPr txBox="1"/>
          <p:nvPr/>
        </p:nvSpPr>
        <p:spPr>
          <a:xfrm>
            <a:off x="952033" y="4340590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827" name="Google Shape;1827;p86"/>
          <p:cNvSpPr txBox="1"/>
          <p:nvPr/>
        </p:nvSpPr>
        <p:spPr>
          <a:xfrm>
            <a:off x="952033" y="5274973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</p:txBody>
      </p:sp>
      <p:sp>
        <p:nvSpPr>
          <p:cNvPr id="1828" name="Google Shape;1828;p86"/>
          <p:cNvSpPr txBox="1"/>
          <p:nvPr/>
        </p:nvSpPr>
        <p:spPr>
          <a:xfrm>
            <a:off x="8898450" y="4388100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9" name="Google Shape;1829;p86"/>
          <p:cNvSpPr txBox="1"/>
          <p:nvPr/>
        </p:nvSpPr>
        <p:spPr>
          <a:xfrm>
            <a:off x="10095249" y="4388100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</p:txBody>
      </p:sp>
      <p:grpSp>
        <p:nvGrpSpPr>
          <p:cNvPr id="1830" name="Google Shape;1830;p8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831" name="Google Shape;1831;p8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86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6" name="Shape 1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" name="Google Shape;1837;p8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 Phase 1: Partitioning</a:t>
            </a:r>
            <a:endParaRPr/>
          </a:p>
        </p:txBody>
      </p:sp>
      <p:grpSp>
        <p:nvGrpSpPr>
          <p:cNvPr id="1838" name="Google Shape;1838;p87"/>
          <p:cNvGrpSpPr/>
          <p:nvPr/>
        </p:nvGrpSpPr>
        <p:grpSpPr>
          <a:xfrm>
            <a:off x="748697" y="2490533"/>
            <a:ext cx="3457575" cy="4204433"/>
            <a:chOff x="836304" y="3062171"/>
            <a:chExt cx="3457575" cy="3427119"/>
          </a:xfrm>
        </p:grpSpPr>
        <p:sp>
          <p:nvSpPr>
            <p:cNvPr id="1839" name="Google Shape;1839;p87"/>
            <p:cNvSpPr/>
            <p:nvPr/>
          </p:nvSpPr>
          <p:spPr>
            <a:xfrm>
              <a:off x="836304" y="3341893"/>
              <a:ext cx="3457575" cy="3147397"/>
            </a:xfrm>
            <a:prstGeom prst="can">
              <a:avLst>
                <a:gd fmla="val 13065" name="adj"/>
              </a:avLst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87"/>
            <p:cNvSpPr txBox="1"/>
            <p:nvPr/>
          </p:nvSpPr>
          <p:spPr>
            <a:xfrm>
              <a:off x="2093854" y="3062171"/>
              <a:ext cx="88617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Disk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1" name="Google Shape;1841;p87"/>
          <p:cNvSpPr txBox="1"/>
          <p:nvPr/>
        </p:nvSpPr>
        <p:spPr>
          <a:xfrm>
            <a:off x="8226845" y="797073"/>
            <a:ext cx="3845550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B+1 = 3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pages</a:t>
            </a:r>
            <a:endParaRPr/>
          </a:p>
        </p:txBody>
      </p:sp>
      <p:sp>
        <p:nvSpPr>
          <p:cNvPr id="1842" name="Google Shape;1842;p87"/>
          <p:cNvSpPr txBox="1"/>
          <p:nvPr/>
        </p:nvSpPr>
        <p:spPr>
          <a:xfrm>
            <a:off x="305534" y="3683864"/>
            <a:ext cx="4251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B0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" name="Google Shape;1843;p87"/>
          <p:cNvSpPr/>
          <p:nvPr/>
        </p:nvSpPr>
        <p:spPr>
          <a:xfrm>
            <a:off x="811385" y="3411767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p87"/>
          <p:cNvSpPr txBox="1"/>
          <p:nvPr/>
        </p:nvSpPr>
        <p:spPr>
          <a:xfrm>
            <a:off x="295068" y="4619637"/>
            <a:ext cx="4251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B1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5" name="Google Shape;1845;p87"/>
          <p:cNvSpPr/>
          <p:nvPr/>
        </p:nvSpPr>
        <p:spPr>
          <a:xfrm>
            <a:off x="800919" y="4347540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6" name="Google Shape;1846;p87"/>
          <p:cNvSpPr txBox="1"/>
          <p:nvPr/>
        </p:nvSpPr>
        <p:spPr>
          <a:xfrm>
            <a:off x="925218" y="3543712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847" name="Google Shape;1847;p87"/>
          <p:cNvSpPr txBox="1"/>
          <p:nvPr/>
        </p:nvSpPr>
        <p:spPr>
          <a:xfrm>
            <a:off x="925218" y="4478095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</p:txBody>
      </p:sp>
      <p:sp>
        <p:nvSpPr>
          <p:cNvPr id="1848" name="Google Shape;1848;p87"/>
          <p:cNvSpPr txBox="1"/>
          <p:nvPr/>
        </p:nvSpPr>
        <p:spPr>
          <a:xfrm>
            <a:off x="1972282" y="3535570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9" name="Google Shape;1849;p87"/>
          <p:cNvSpPr txBox="1"/>
          <p:nvPr/>
        </p:nvSpPr>
        <p:spPr>
          <a:xfrm>
            <a:off x="1975263" y="4487828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</p:txBody>
      </p:sp>
      <p:sp>
        <p:nvSpPr>
          <p:cNvPr id="1850" name="Google Shape;1850;p87"/>
          <p:cNvSpPr/>
          <p:nvPr/>
        </p:nvSpPr>
        <p:spPr>
          <a:xfrm>
            <a:off x="1901915" y="3462429"/>
            <a:ext cx="1107099" cy="713941"/>
          </a:xfrm>
          <a:prstGeom prst="roundRect">
            <a:avLst>
              <a:gd fmla="val 16667" name="adj"/>
            </a:avLst>
          </a:prstGeom>
          <a:solidFill>
            <a:srgbClr val="FF0000">
              <a:alpha val="40000"/>
            </a:srgbClr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1" name="Google Shape;1851;p87"/>
          <p:cNvSpPr/>
          <p:nvPr/>
        </p:nvSpPr>
        <p:spPr>
          <a:xfrm>
            <a:off x="1906251" y="4423244"/>
            <a:ext cx="1107099" cy="713941"/>
          </a:xfrm>
          <a:prstGeom prst="roundRect">
            <a:avLst>
              <a:gd fmla="val 16667" name="adj"/>
            </a:avLst>
          </a:prstGeom>
          <a:solidFill>
            <a:srgbClr val="FF0000">
              <a:alpha val="40000"/>
            </a:srgbClr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87"/>
          <p:cNvSpPr txBox="1"/>
          <p:nvPr/>
        </p:nvSpPr>
        <p:spPr>
          <a:xfrm>
            <a:off x="5044710" y="1793052"/>
            <a:ext cx="4670790" cy="830997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wanted buckets of size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B-1 = 1… however we got larger ones due to: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3" name="Google Shape;1853;p87"/>
          <p:cNvSpPr txBox="1"/>
          <p:nvPr/>
        </p:nvSpPr>
        <p:spPr>
          <a:xfrm>
            <a:off x="5044710" y="3637697"/>
            <a:ext cx="2929708" cy="461665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(1) Duplicate join keys</a:t>
            </a:r>
            <a:endParaRPr/>
          </a:p>
        </p:txBody>
      </p:sp>
      <p:sp>
        <p:nvSpPr>
          <p:cNvPr id="1854" name="Google Shape;1854;p87"/>
          <p:cNvSpPr txBox="1"/>
          <p:nvPr/>
        </p:nvSpPr>
        <p:spPr>
          <a:xfrm>
            <a:off x="5044710" y="4573470"/>
            <a:ext cx="2929708" cy="461665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(2) Hash collisions</a:t>
            </a:r>
            <a:endParaRPr/>
          </a:p>
        </p:txBody>
      </p:sp>
      <p:grpSp>
        <p:nvGrpSpPr>
          <p:cNvPr id="1855" name="Google Shape;1855;p8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856" name="Google Shape;1856;p8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7" name="Google Shape;1857;p87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p8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 Phase 1: Partitioning</a:t>
            </a:r>
            <a:endParaRPr/>
          </a:p>
        </p:txBody>
      </p:sp>
      <p:grpSp>
        <p:nvGrpSpPr>
          <p:cNvPr id="1863" name="Google Shape;1863;p88"/>
          <p:cNvGrpSpPr/>
          <p:nvPr/>
        </p:nvGrpSpPr>
        <p:grpSpPr>
          <a:xfrm>
            <a:off x="748697" y="2490533"/>
            <a:ext cx="3457575" cy="4204433"/>
            <a:chOff x="836304" y="3062171"/>
            <a:chExt cx="3457575" cy="3427119"/>
          </a:xfrm>
        </p:grpSpPr>
        <p:sp>
          <p:nvSpPr>
            <p:cNvPr id="1864" name="Google Shape;1864;p88"/>
            <p:cNvSpPr/>
            <p:nvPr/>
          </p:nvSpPr>
          <p:spPr>
            <a:xfrm>
              <a:off x="836304" y="3341893"/>
              <a:ext cx="3457575" cy="3147397"/>
            </a:xfrm>
            <a:prstGeom prst="can">
              <a:avLst>
                <a:gd fmla="val 13065" name="adj"/>
              </a:avLst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5" name="Google Shape;1865;p88"/>
            <p:cNvSpPr txBox="1"/>
            <p:nvPr/>
          </p:nvSpPr>
          <p:spPr>
            <a:xfrm>
              <a:off x="2093854" y="3062171"/>
              <a:ext cx="88617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Disk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6" name="Google Shape;1866;p88"/>
          <p:cNvSpPr txBox="1"/>
          <p:nvPr/>
        </p:nvSpPr>
        <p:spPr>
          <a:xfrm>
            <a:off x="8226845" y="797073"/>
            <a:ext cx="3845550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B+1 = 3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pages</a:t>
            </a:r>
            <a:endParaRPr/>
          </a:p>
        </p:txBody>
      </p:sp>
      <p:sp>
        <p:nvSpPr>
          <p:cNvPr id="1867" name="Google Shape;1867;p88"/>
          <p:cNvSpPr txBox="1"/>
          <p:nvPr/>
        </p:nvSpPr>
        <p:spPr>
          <a:xfrm>
            <a:off x="305534" y="3683864"/>
            <a:ext cx="4251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B0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8" name="Google Shape;1868;p88"/>
          <p:cNvSpPr/>
          <p:nvPr/>
        </p:nvSpPr>
        <p:spPr>
          <a:xfrm>
            <a:off x="811385" y="3411767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9" name="Google Shape;1869;p88"/>
          <p:cNvSpPr txBox="1"/>
          <p:nvPr/>
        </p:nvSpPr>
        <p:spPr>
          <a:xfrm>
            <a:off x="295068" y="4619637"/>
            <a:ext cx="4251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B1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0" name="Google Shape;1870;p88"/>
          <p:cNvSpPr/>
          <p:nvPr/>
        </p:nvSpPr>
        <p:spPr>
          <a:xfrm>
            <a:off x="800919" y="4347540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1" name="Google Shape;1871;p88"/>
          <p:cNvSpPr txBox="1"/>
          <p:nvPr/>
        </p:nvSpPr>
        <p:spPr>
          <a:xfrm>
            <a:off x="925218" y="3543712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872" name="Google Shape;1872;p88"/>
          <p:cNvSpPr txBox="1"/>
          <p:nvPr/>
        </p:nvSpPr>
        <p:spPr>
          <a:xfrm>
            <a:off x="925218" y="4478095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</p:txBody>
      </p:sp>
      <p:sp>
        <p:nvSpPr>
          <p:cNvPr id="1873" name="Google Shape;1873;p88"/>
          <p:cNvSpPr txBox="1"/>
          <p:nvPr/>
        </p:nvSpPr>
        <p:spPr>
          <a:xfrm>
            <a:off x="1972282" y="3535570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4" name="Google Shape;1874;p88"/>
          <p:cNvSpPr txBox="1"/>
          <p:nvPr/>
        </p:nvSpPr>
        <p:spPr>
          <a:xfrm>
            <a:off x="1975263" y="4487828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</p:txBody>
      </p:sp>
      <p:sp>
        <p:nvSpPr>
          <p:cNvPr id="1875" name="Google Shape;1875;p88"/>
          <p:cNvSpPr/>
          <p:nvPr/>
        </p:nvSpPr>
        <p:spPr>
          <a:xfrm>
            <a:off x="1906251" y="4423244"/>
            <a:ext cx="1107099" cy="713941"/>
          </a:xfrm>
          <a:prstGeom prst="roundRect">
            <a:avLst>
              <a:gd fmla="val 16667" name="adj"/>
            </a:avLst>
          </a:prstGeom>
          <a:solidFill>
            <a:srgbClr val="FF0000">
              <a:alpha val="40000"/>
            </a:srgbClr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6" name="Google Shape;1876;p88"/>
          <p:cNvSpPr txBox="1"/>
          <p:nvPr/>
        </p:nvSpPr>
        <p:spPr>
          <a:xfrm>
            <a:off x="5230811" y="2122636"/>
            <a:ext cx="3845550" cy="1200329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take care of larger buckets caused by (2) hash collisions, we can just do another pass!</a:t>
            </a:r>
            <a:endParaRPr/>
          </a:p>
        </p:txBody>
      </p:sp>
      <p:sp>
        <p:nvSpPr>
          <p:cNvPr id="1877" name="Google Shape;1877;p88"/>
          <p:cNvSpPr txBox="1"/>
          <p:nvPr/>
        </p:nvSpPr>
        <p:spPr>
          <a:xfrm>
            <a:off x="5230811" y="3571544"/>
            <a:ext cx="3845550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hash function should we use?</a:t>
            </a:r>
            <a:endParaRPr/>
          </a:p>
        </p:txBody>
      </p:sp>
      <p:sp>
        <p:nvSpPr>
          <p:cNvPr id="1878" name="Google Shape;1878;p88"/>
          <p:cNvSpPr txBox="1"/>
          <p:nvPr/>
        </p:nvSpPr>
        <p:spPr>
          <a:xfrm>
            <a:off x="5230811" y="4647371"/>
            <a:ext cx="3845550" cy="1815882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another pass with a different hash function, h’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ideally such that: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h’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(3) != h’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79" name="Google Shape;1879;p8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880" name="Google Shape;1880;p8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1" name="Google Shape;1881;p88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8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 Phase 1: Partitioning</a:t>
            </a:r>
            <a:endParaRPr/>
          </a:p>
        </p:txBody>
      </p:sp>
      <p:grpSp>
        <p:nvGrpSpPr>
          <p:cNvPr id="1887" name="Google Shape;1887;p89"/>
          <p:cNvGrpSpPr/>
          <p:nvPr/>
        </p:nvGrpSpPr>
        <p:grpSpPr>
          <a:xfrm>
            <a:off x="748697" y="2490533"/>
            <a:ext cx="3457575" cy="4204433"/>
            <a:chOff x="836304" y="3062171"/>
            <a:chExt cx="3457575" cy="3427119"/>
          </a:xfrm>
        </p:grpSpPr>
        <p:sp>
          <p:nvSpPr>
            <p:cNvPr id="1888" name="Google Shape;1888;p89"/>
            <p:cNvSpPr/>
            <p:nvPr/>
          </p:nvSpPr>
          <p:spPr>
            <a:xfrm>
              <a:off x="836304" y="3341893"/>
              <a:ext cx="3457575" cy="3147397"/>
            </a:xfrm>
            <a:prstGeom prst="can">
              <a:avLst>
                <a:gd fmla="val 13065" name="adj"/>
              </a:avLst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9" name="Google Shape;1889;p89"/>
            <p:cNvSpPr txBox="1"/>
            <p:nvPr/>
          </p:nvSpPr>
          <p:spPr>
            <a:xfrm>
              <a:off x="2093854" y="3062171"/>
              <a:ext cx="88617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Disk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0" name="Google Shape;1890;p89"/>
          <p:cNvSpPr txBox="1"/>
          <p:nvPr/>
        </p:nvSpPr>
        <p:spPr>
          <a:xfrm>
            <a:off x="8226845" y="797073"/>
            <a:ext cx="3845550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B+1 = 3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pages</a:t>
            </a:r>
            <a:endParaRPr/>
          </a:p>
        </p:txBody>
      </p:sp>
      <p:sp>
        <p:nvSpPr>
          <p:cNvPr id="1891" name="Google Shape;1891;p89"/>
          <p:cNvSpPr txBox="1"/>
          <p:nvPr/>
        </p:nvSpPr>
        <p:spPr>
          <a:xfrm>
            <a:off x="305534" y="3683864"/>
            <a:ext cx="4251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B0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2" name="Google Shape;1892;p89"/>
          <p:cNvSpPr/>
          <p:nvPr/>
        </p:nvSpPr>
        <p:spPr>
          <a:xfrm>
            <a:off x="811385" y="3411767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3" name="Google Shape;1893;p89"/>
          <p:cNvSpPr txBox="1"/>
          <p:nvPr/>
        </p:nvSpPr>
        <p:spPr>
          <a:xfrm>
            <a:off x="295068" y="4619637"/>
            <a:ext cx="4251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B1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4" name="Google Shape;1894;p89"/>
          <p:cNvSpPr/>
          <p:nvPr/>
        </p:nvSpPr>
        <p:spPr>
          <a:xfrm>
            <a:off x="800919" y="4347540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5" name="Google Shape;1895;p89"/>
          <p:cNvSpPr txBox="1"/>
          <p:nvPr/>
        </p:nvSpPr>
        <p:spPr>
          <a:xfrm>
            <a:off x="925218" y="3543712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896" name="Google Shape;1896;p89"/>
          <p:cNvSpPr txBox="1"/>
          <p:nvPr/>
        </p:nvSpPr>
        <p:spPr>
          <a:xfrm>
            <a:off x="925218" y="4478095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</p:txBody>
      </p:sp>
      <p:sp>
        <p:nvSpPr>
          <p:cNvPr id="1897" name="Google Shape;1897;p89"/>
          <p:cNvSpPr txBox="1"/>
          <p:nvPr/>
        </p:nvSpPr>
        <p:spPr>
          <a:xfrm>
            <a:off x="1972282" y="3535570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8" name="Google Shape;1898;p89"/>
          <p:cNvSpPr txBox="1"/>
          <p:nvPr/>
        </p:nvSpPr>
        <p:spPr>
          <a:xfrm>
            <a:off x="5230811" y="2122636"/>
            <a:ext cx="3845550" cy="1200329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take care of larger buckets caused by (2) hash collisions, we can just do another pass!</a:t>
            </a:r>
            <a:endParaRPr/>
          </a:p>
        </p:txBody>
      </p:sp>
      <p:sp>
        <p:nvSpPr>
          <p:cNvPr id="1899" name="Google Shape;1899;p89"/>
          <p:cNvSpPr txBox="1"/>
          <p:nvPr/>
        </p:nvSpPr>
        <p:spPr>
          <a:xfrm>
            <a:off x="5230811" y="3571544"/>
            <a:ext cx="3845550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hash function should we use?</a:t>
            </a:r>
            <a:endParaRPr/>
          </a:p>
        </p:txBody>
      </p:sp>
      <p:sp>
        <p:nvSpPr>
          <p:cNvPr id="1900" name="Google Shape;1900;p89"/>
          <p:cNvSpPr txBox="1"/>
          <p:nvPr/>
        </p:nvSpPr>
        <p:spPr>
          <a:xfrm>
            <a:off x="5230811" y="4647371"/>
            <a:ext cx="3845550" cy="1815882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another pass with a different hash function, h’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2,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ideally such that: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h’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(3) != h’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1" name="Google Shape;1901;p89"/>
          <p:cNvSpPr txBox="1"/>
          <p:nvPr/>
        </p:nvSpPr>
        <p:spPr>
          <a:xfrm>
            <a:off x="305534" y="5543595"/>
            <a:ext cx="4251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B2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2" name="Google Shape;1902;p89"/>
          <p:cNvSpPr/>
          <p:nvPr/>
        </p:nvSpPr>
        <p:spPr>
          <a:xfrm>
            <a:off x="811385" y="5271498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3" name="Google Shape;1903;p89"/>
          <p:cNvSpPr txBox="1"/>
          <p:nvPr/>
        </p:nvSpPr>
        <p:spPr>
          <a:xfrm>
            <a:off x="925218" y="5403443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</p:txBody>
      </p:sp>
      <p:grpSp>
        <p:nvGrpSpPr>
          <p:cNvPr id="1904" name="Google Shape;1904;p8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905" name="Google Shape;1905;p8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6" name="Google Shape;1906;p89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p9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 Phase 1: Partitioning</a:t>
            </a:r>
            <a:endParaRPr/>
          </a:p>
        </p:txBody>
      </p:sp>
      <p:grpSp>
        <p:nvGrpSpPr>
          <p:cNvPr id="1912" name="Google Shape;1912;p90"/>
          <p:cNvGrpSpPr/>
          <p:nvPr/>
        </p:nvGrpSpPr>
        <p:grpSpPr>
          <a:xfrm>
            <a:off x="748697" y="2490533"/>
            <a:ext cx="3457575" cy="4204433"/>
            <a:chOff x="836304" y="3062171"/>
            <a:chExt cx="3457575" cy="3427119"/>
          </a:xfrm>
        </p:grpSpPr>
        <p:sp>
          <p:nvSpPr>
            <p:cNvPr id="1913" name="Google Shape;1913;p90"/>
            <p:cNvSpPr/>
            <p:nvPr/>
          </p:nvSpPr>
          <p:spPr>
            <a:xfrm>
              <a:off x="836304" y="3341893"/>
              <a:ext cx="3457575" cy="3147397"/>
            </a:xfrm>
            <a:prstGeom prst="can">
              <a:avLst>
                <a:gd fmla="val 13065" name="adj"/>
              </a:avLst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4" name="Google Shape;1914;p90"/>
            <p:cNvSpPr txBox="1"/>
            <p:nvPr/>
          </p:nvSpPr>
          <p:spPr>
            <a:xfrm>
              <a:off x="2093854" y="3062171"/>
              <a:ext cx="88617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Disk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5" name="Google Shape;1915;p90"/>
          <p:cNvSpPr txBox="1"/>
          <p:nvPr/>
        </p:nvSpPr>
        <p:spPr>
          <a:xfrm>
            <a:off x="8226845" y="797073"/>
            <a:ext cx="3845550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B+1 = 3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pages</a:t>
            </a:r>
            <a:endParaRPr/>
          </a:p>
        </p:txBody>
      </p:sp>
      <p:sp>
        <p:nvSpPr>
          <p:cNvPr id="1916" name="Google Shape;1916;p90"/>
          <p:cNvSpPr txBox="1"/>
          <p:nvPr/>
        </p:nvSpPr>
        <p:spPr>
          <a:xfrm>
            <a:off x="305534" y="3683864"/>
            <a:ext cx="4251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B0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7" name="Google Shape;1917;p90"/>
          <p:cNvSpPr/>
          <p:nvPr/>
        </p:nvSpPr>
        <p:spPr>
          <a:xfrm>
            <a:off x="811385" y="3411767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8" name="Google Shape;1918;p90"/>
          <p:cNvSpPr txBox="1"/>
          <p:nvPr/>
        </p:nvSpPr>
        <p:spPr>
          <a:xfrm>
            <a:off x="295068" y="4619637"/>
            <a:ext cx="4251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B1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9" name="Google Shape;1919;p90"/>
          <p:cNvSpPr/>
          <p:nvPr/>
        </p:nvSpPr>
        <p:spPr>
          <a:xfrm>
            <a:off x="800919" y="4347540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0" name="Google Shape;1920;p90"/>
          <p:cNvSpPr txBox="1"/>
          <p:nvPr/>
        </p:nvSpPr>
        <p:spPr>
          <a:xfrm>
            <a:off x="925218" y="3543712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921" name="Google Shape;1921;p90"/>
          <p:cNvSpPr txBox="1"/>
          <p:nvPr/>
        </p:nvSpPr>
        <p:spPr>
          <a:xfrm>
            <a:off x="925218" y="4478095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</p:txBody>
      </p:sp>
      <p:sp>
        <p:nvSpPr>
          <p:cNvPr id="1922" name="Google Shape;1922;p90"/>
          <p:cNvSpPr txBox="1"/>
          <p:nvPr/>
        </p:nvSpPr>
        <p:spPr>
          <a:xfrm>
            <a:off x="1972282" y="3535570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3" name="Google Shape;1923;p90"/>
          <p:cNvSpPr txBox="1"/>
          <p:nvPr/>
        </p:nvSpPr>
        <p:spPr>
          <a:xfrm>
            <a:off x="5407091" y="1890368"/>
            <a:ext cx="4742529" cy="1200329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about duplicate join keys?  Unfortunately this is a problem… but usually not a huge one.</a:t>
            </a:r>
            <a:endParaRPr/>
          </a:p>
        </p:txBody>
      </p:sp>
      <p:sp>
        <p:nvSpPr>
          <p:cNvPr id="1924" name="Google Shape;1924;p90"/>
          <p:cNvSpPr txBox="1"/>
          <p:nvPr/>
        </p:nvSpPr>
        <p:spPr>
          <a:xfrm>
            <a:off x="305534" y="5543595"/>
            <a:ext cx="4251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B2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5" name="Google Shape;1925;p90"/>
          <p:cNvSpPr/>
          <p:nvPr/>
        </p:nvSpPr>
        <p:spPr>
          <a:xfrm>
            <a:off x="811385" y="5271498"/>
            <a:ext cx="3296832" cy="848667"/>
          </a:xfrm>
          <a:prstGeom prst="roundRect">
            <a:avLst>
              <a:gd fmla="val 7895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6" name="Google Shape;1926;p90"/>
          <p:cNvSpPr txBox="1"/>
          <p:nvPr/>
        </p:nvSpPr>
        <p:spPr>
          <a:xfrm>
            <a:off x="925218" y="5403443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</p:txBody>
      </p:sp>
      <p:sp>
        <p:nvSpPr>
          <p:cNvPr id="1927" name="Google Shape;1927;p90"/>
          <p:cNvSpPr/>
          <p:nvPr/>
        </p:nvSpPr>
        <p:spPr>
          <a:xfrm>
            <a:off x="1901915" y="3462429"/>
            <a:ext cx="1107099" cy="713941"/>
          </a:xfrm>
          <a:prstGeom prst="roundRect">
            <a:avLst>
              <a:gd fmla="val 16667" name="adj"/>
            </a:avLst>
          </a:prstGeom>
          <a:solidFill>
            <a:srgbClr val="FF0000">
              <a:alpha val="40000"/>
            </a:srgbClr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8" name="Google Shape;1928;p90"/>
          <p:cNvSpPr txBox="1"/>
          <p:nvPr/>
        </p:nvSpPr>
        <p:spPr>
          <a:xfrm>
            <a:off x="5198747" y="4146530"/>
            <a:ext cx="4268536" cy="1077218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call this unevenness in the bucket size </a:t>
            </a: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skew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9" name="Google Shape;1929;p90"/>
          <p:cNvSpPr/>
          <p:nvPr/>
        </p:nvSpPr>
        <p:spPr>
          <a:xfrm>
            <a:off x="4377844" y="3411767"/>
            <a:ext cx="712382" cy="2840177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317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30" name="Google Shape;1930;p9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931" name="Google Shape;1931;p9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90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6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p91"/>
          <p:cNvSpPr txBox="1"/>
          <p:nvPr>
            <p:ph type="title"/>
          </p:nvPr>
        </p:nvSpPr>
        <p:spPr>
          <a:xfrm>
            <a:off x="1981200" y="322628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Now that we have partitioned R and S…</a:t>
            </a:r>
            <a:endParaRPr/>
          </a:p>
        </p:txBody>
      </p:sp>
      <p:grpSp>
        <p:nvGrpSpPr>
          <p:cNvPr id="1938" name="Google Shape;1938;p9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939" name="Google Shape;1939;p9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0" name="Google Shape;1940;p91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4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p9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 Phase 2: Matching</a:t>
            </a:r>
            <a:endParaRPr/>
          </a:p>
        </p:txBody>
      </p:sp>
      <p:sp>
        <p:nvSpPr>
          <p:cNvPr id="1946" name="Google Shape;1946;p9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Now, we just join pairs of buckets from R and S that have the same hash value to complete the join!</a:t>
            </a:r>
            <a:endParaRPr/>
          </a:p>
        </p:txBody>
      </p:sp>
      <p:grpSp>
        <p:nvGrpSpPr>
          <p:cNvPr id="1947" name="Google Shape;1947;p92"/>
          <p:cNvGrpSpPr/>
          <p:nvPr/>
        </p:nvGrpSpPr>
        <p:grpSpPr>
          <a:xfrm>
            <a:off x="556383" y="2812963"/>
            <a:ext cx="3457575" cy="3676327"/>
            <a:chOff x="836304" y="2812963"/>
            <a:chExt cx="3457575" cy="3676327"/>
          </a:xfrm>
        </p:grpSpPr>
        <p:sp>
          <p:nvSpPr>
            <p:cNvPr id="1948" name="Google Shape;1948;p92"/>
            <p:cNvSpPr/>
            <p:nvPr/>
          </p:nvSpPr>
          <p:spPr>
            <a:xfrm>
              <a:off x="836304" y="3341893"/>
              <a:ext cx="3457575" cy="3147397"/>
            </a:xfrm>
            <a:prstGeom prst="can">
              <a:avLst>
                <a:gd fmla="val 13065" name="adj"/>
              </a:avLst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9" name="Google Shape;1949;p92"/>
            <p:cNvSpPr txBox="1"/>
            <p:nvPr/>
          </p:nvSpPr>
          <p:spPr>
            <a:xfrm>
              <a:off x="2139191" y="2812963"/>
              <a:ext cx="88617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Disk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0" name="Google Shape;1950;p92"/>
          <p:cNvSpPr txBox="1"/>
          <p:nvPr/>
        </p:nvSpPr>
        <p:spPr>
          <a:xfrm>
            <a:off x="224072" y="3933604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1" name="Google Shape;1951;p92"/>
          <p:cNvSpPr txBox="1"/>
          <p:nvPr/>
        </p:nvSpPr>
        <p:spPr>
          <a:xfrm>
            <a:off x="193105" y="4792346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1"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2" name="Google Shape;1952;p92"/>
          <p:cNvSpPr/>
          <p:nvPr/>
        </p:nvSpPr>
        <p:spPr>
          <a:xfrm>
            <a:off x="635420" y="3796816"/>
            <a:ext cx="3296832" cy="819429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3" name="Google Shape;1953;p92"/>
          <p:cNvSpPr txBox="1"/>
          <p:nvPr/>
        </p:nvSpPr>
        <p:spPr>
          <a:xfrm>
            <a:off x="1800011" y="3911171"/>
            <a:ext cx="954082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954" name="Google Shape;1954;p92"/>
          <p:cNvSpPr txBox="1"/>
          <p:nvPr/>
        </p:nvSpPr>
        <p:spPr>
          <a:xfrm>
            <a:off x="760774" y="3914283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</p:txBody>
      </p:sp>
      <p:sp>
        <p:nvSpPr>
          <p:cNvPr id="1955" name="Google Shape;1955;p92"/>
          <p:cNvSpPr txBox="1"/>
          <p:nvPr/>
        </p:nvSpPr>
        <p:spPr>
          <a:xfrm>
            <a:off x="2852659" y="3902826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6" name="Google Shape;1956;p92"/>
          <p:cNvSpPr/>
          <p:nvPr/>
        </p:nvSpPr>
        <p:spPr>
          <a:xfrm>
            <a:off x="635420" y="4722255"/>
            <a:ext cx="3296832" cy="868451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7" name="Google Shape;1957;p92"/>
          <p:cNvSpPr txBox="1"/>
          <p:nvPr/>
        </p:nvSpPr>
        <p:spPr>
          <a:xfrm>
            <a:off x="1800011" y="4836807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8" name="Google Shape;1958;p92"/>
          <p:cNvSpPr txBox="1"/>
          <p:nvPr/>
        </p:nvSpPr>
        <p:spPr>
          <a:xfrm>
            <a:off x="760774" y="4839723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grpSp>
        <p:nvGrpSpPr>
          <p:cNvPr id="1959" name="Google Shape;1959;p92"/>
          <p:cNvGrpSpPr/>
          <p:nvPr/>
        </p:nvGrpSpPr>
        <p:grpSpPr>
          <a:xfrm>
            <a:off x="5678788" y="2531063"/>
            <a:ext cx="3457575" cy="4326937"/>
            <a:chOff x="836304" y="2812963"/>
            <a:chExt cx="3457575" cy="3676327"/>
          </a:xfrm>
        </p:grpSpPr>
        <p:sp>
          <p:nvSpPr>
            <p:cNvPr id="1960" name="Google Shape;1960;p92"/>
            <p:cNvSpPr/>
            <p:nvPr/>
          </p:nvSpPr>
          <p:spPr>
            <a:xfrm>
              <a:off x="836304" y="3341893"/>
              <a:ext cx="3457575" cy="3147397"/>
            </a:xfrm>
            <a:prstGeom prst="can">
              <a:avLst>
                <a:gd fmla="val 13065" name="adj"/>
              </a:avLst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1" name="Google Shape;1961;p92"/>
            <p:cNvSpPr txBox="1"/>
            <p:nvPr/>
          </p:nvSpPr>
          <p:spPr>
            <a:xfrm>
              <a:off x="2139191" y="2812963"/>
              <a:ext cx="88617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Disk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2" name="Google Shape;1962;p92"/>
          <p:cNvSpPr txBox="1"/>
          <p:nvPr/>
        </p:nvSpPr>
        <p:spPr>
          <a:xfrm>
            <a:off x="5285926" y="3926560"/>
            <a:ext cx="3866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963" name="Google Shape;1963;p92"/>
          <p:cNvSpPr txBox="1"/>
          <p:nvPr/>
        </p:nvSpPr>
        <p:spPr>
          <a:xfrm>
            <a:off x="5245712" y="5213143"/>
            <a:ext cx="3674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964" name="Google Shape;1964;p92"/>
          <p:cNvSpPr/>
          <p:nvPr/>
        </p:nvSpPr>
        <p:spPr>
          <a:xfrm>
            <a:off x="5772963" y="3660316"/>
            <a:ext cx="3296832" cy="687333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5" name="Google Shape;1965;p92"/>
          <p:cNvSpPr/>
          <p:nvPr/>
        </p:nvSpPr>
        <p:spPr>
          <a:xfrm>
            <a:off x="5772963" y="5153410"/>
            <a:ext cx="3296832" cy="680847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6" name="Google Shape;1966;p92"/>
          <p:cNvSpPr/>
          <p:nvPr/>
        </p:nvSpPr>
        <p:spPr>
          <a:xfrm>
            <a:off x="4336026" y="4616245"/>
            <a:ext cx="980819" cy="59689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7" name="Google Shape;1967;p92"/>
          <p:cNvSpPr txBox="1"/>
          <p:nvPr/>
        </p:nvSpPr>
        <p:spPr>
          <a:xfrm>
            <a:off x="4558336" y="4118826"/>
            <a:ext cx="54213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1" baseline="-25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i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8" name="Google Shape;1968;p92"/>
          <p:cNvSpPr/>
          <p:nvPr/>
        </p:nvSpPr>
        <p:spPr>
          <a:xfrm>
            <a:off x="5773903" y="4399872"/>
            <a:ext cx="3296832" cy="690331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9" name="Google Shape;1969;p92"/>
          <p:cNvSpPr/>
          <p:nvPr/>
        </p:nvSpPr>
        <p:spPr>
          <a:xfrm>
            <a:off x="5772963" y="5908443"/>
            <a:ext cx="3296832" cy="726248"/>
          </a:xfrm>
          <a:prstGeom prst="roundRect">
            <a:avLst>
              <a:gd fmla="val 16667" name="adj"/>
            </a:avLst>
          </a:prstGeom>
          <a:solidFill>
            <a:srgbClr val="FBE4D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0" name="Google Shape;1970;p92"/>
          <p:cNvSpPr txBox="1"/>
          <p:nvPr/>
        </p:nvSpPr>
        <p:spPr>
          <a:xfrm>
            <a:off x="5286448" y="5888546"/>
            <a:ext cx="3674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971" name="Google Shape;1971;p92"/>
          <p:cNvSpPr txBox="1"/>
          <p:nvPr/>
        </p:nvSpPr>
        <p:spPr>
          <a:xfrm>
            <a:off x="5274890" y="4595102"/>
            <a:ext cx="3866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972" name="Google Shape;1972;p92"/>
          <p:cNvSpPr txBox="1"/>
          <p:nvPr/>
        </p:nvSpPr>
        <p:spPr>
          <a:xfrm>
            <a:off x="5897352" y="3712405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</p:txBody>
      </p:sp>
      <p:sp>
        <p:nvSpPr>
          <p:cNvPr id="1973" name="Google Shape;1973;p92"/>
          <p:cNvSpPr txBox="1"/>
          <p:nvPr/>
        </p:nvSpPr>
        <p:spPr>
          <a:xfrm>
            <a:off x="6962860" y="3717150"/>
            <a:ext cx="954082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4" name="Google Shape;1974;p92"/>
          <p:cNvSpPr txBox="1"/>
          <p:nvPr/>
        </p:nvSpPr>
        <p:spPr>
          <a:xfrm>
            <a:off x="5911242" y="5202390"/>
            <a:ext cx="954106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(0,a)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(0,j)</a:t>
            </a:r>
            <a:endParaRPr/>
          </a:p>
        </p:txBody>
      </p:sp>
      <p:sp>
        <p:nvSpPr>
          <p:cNvPr id="1975" name="Google Shape;1975;p92"/>
          <p:cNvSpPr txBox="1"/>
          <p:nvPr/>
        </p:nvSpPr>
        <p:spPr>
          <a:xfrm>
            <a:off x="5911242" y="5999572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92"/>
          <p:cNvSpPr txBox="1"/>
          <p:nvPr/>
        </p:nvSpPr>
        <p:spPr>
          <a:xfrm>
            <a:off x="5911242" y="5951735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(5,b)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7" name="Google Shape;1977;p92"/>
          <p:cNvSpPr/>
          <p:nvPr/>
        </p:nvSpPr>
        <p:spPr>
          <a:xfrm>
            <a:off x="5227471" y="3633599"/>
            <a:ext cx="4068929" cy="752177"/>
          </a:xfrm>
          <a:prstGeom prst="roundRect">
            <a:avLst>
              <a:gd fmla="val 16667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8" name="Google Shape;1978;p92"/>
          <p:cNvSpPr/>
          <p:nvPr/>
        </p:nvSpPr>
        <p:spPr>
          <a:xfrm>
            <a:off x="5235520" y="5122041"/>
            <a:ext cx="4060880" cy="736058"/>
          </a:xfrm>
          <a:prstGeom prst="roundRect">
            <a:avLst>
              <a:gd fmla="val 16667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9" name="Google Shape;1979;p92"/>
          <p:cNvSpPr/>
          <p:nvPr/>
        </p:nvSpPr>
        <p:spPr>
          <a:xfrm rot="-8792348">
            <a:off x="9401634" y="4251708"/>
            <a:ext cx="980819" cy="31900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0" name="Google Shape;1980;p92"/>
          <p:cNvSpPr/>
          <p:nvPr/>
        </p:nvSpPr>
        <p:spPr>
          <a:xfrm flipH="1" rot="-2007652">
            <a:off x="9401635" y="5053639"/>
            <a:ext cx="980819" cy="31900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1" name="Google Shape;1981;p92"/>
          <p:cNvSpPr txBox="1"/>
          <p:nvPr/>
        </p:nvSpPr>
        <p:spPr>
          <a:xfrm>
            <a:off x="10481795" y="4118270"/>
            <a:ext cx="1507157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matching buckets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82" name="Google Shape;1982;p9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983" name="Google Shape;1983;p9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4" name="Google Shape;1984;p92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  <p:sp>
        <p:nvSpPr>
          <p:cNvPr id="1985" name="Google Shape;1985;p92"/>
          <p:cNvSpPr txBox="1"/>
          <p:nvPr/>
        </p:nvSpPr>
        <p:spPr>
          <a:xfrm>
            <a:off x="5897352" y="4463080"/>
            <a:ext cx="954107" cy="58477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(3,j)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(3,b)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9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p9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 Phase 2: Matching</a:t>
            </a:r>
            <a:endParaRPr/>
          </a:p>
        </p:txBody>
      </p:sp>
      <p:sp>
        <p:nvSpPr>
          <p:cNvPr id="1991" name="Google Shape;1991;p93"/>
          <p:cNvSpPr txBox="1"/>
          <p:nvPr>
            <p:ph idx="1" type="body"/>
          </p:nvPr>
        </p:nvSpPr>
        <p:spPr>
          <a:xfrm>
            <a:off x="838200" y="1825625"/>
            <a:ext cx="10515600" cy="23276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27" r="0" t="-444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992" name="Google Shape;1992;p93"/>
          <p:cNvSpPr txBox="1"/>
          <p:nvPr/>
        </p:nvSpPr>
        <p:spPr>
          <a:xfrm>
            <a:off x="885086" y="4153288"/>
            <a:ext cx="10421827" cy="82362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93" name="Google Shape;1993;p93"/>
          <p:cNvSpPr txBox="1"/>
          <p:nvPr/>
        </p:nvSpPr>
        <p:spPr>
          <a:xfrm>
            <a:off x="2599585" y="5505017"/>
            <a:ext cx="6992827" cy="1077218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Joining the pairs of buckets is linear!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(As long as smaller bucket &lt;= B-1 pages)</a:t>
            </a:r>
            <a:endParaRPr/>
          </a:p>
        </p:txBody>
      </p:sp>
      <p:grpSp>
        <p:nvGrpSpPr>
          <p:cNvPr id="1994" name="Google Shape;1994;p9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995" name="Google Shape;1995;p9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6" name="Google Shape;1996;p93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p9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 Phase 2: Matching</a:t>
            </a:r>
            <a:endParaRPr/>
          </a:p>
        </p:txBody>
      </p:sp>
      <p:graphicFrame>
        <p:nvGraphicFramePr>
          <p:cNvPr id="2002" name="Google Shape;2002;p94"/>
          <p:cNvGraphicFramePr/>
          <p:nvPr/>
        </p:nvGraphicFramePr>
        <p:xfrm>
          <a:off x="1638300" y="1920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{4292115B-0A58-46A1-851F-791625F1335C}</a:tableStyleId>
              </a:tblPr>
              <a:tblGrid>
                <a:gridCol w="835450"/>
                <a:gridCol w="612425"/>
                <a:gridCol w="612425"/>
                <a:gridCol w="612425"/>
                <a:gridCol w="612425"/>
                <a:gridCol w="612425"/>
                <a:gridCol w="612425"/>
                <a:gridCol w="612425"/>
                <a:gridCol w="612425"/>
                <a:gridCol w="612425"/>
              </a:tblGrid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h(1)=0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h(1)=0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h(2)=0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h(3)=1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h(3)=1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h(4)=1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h(5)=2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h(6)=2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h(6)=2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h(1)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h(1)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h(2)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h(2)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h(3)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h(4)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h(5)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h(6)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h(6)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03" name="Google Shape;2003;p94"/>
          <p:cNvSpPr txBox="1"/>
          <p:nvPr/>
        </p:nvSpPr>
        <p:spPr>
          <a:xfrm>
            <a:off x="433566" y="3160214"/>
            <a:ext cx="120473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R.A hashed values</a:t>
            </a:r>
            <a:endParaRPr/>
          </a:p>
        </p:txBody>
      </p:sp>
      <p:sp>
        <p:nvSpPr>
          <p:cNvPr id="2004" name="Google Shape;2004;p94"/>
          <p:cNvSpPr txBox="1"/>
          <p:nvPr/>
        </p:nvSpPr>
        <p:spPr>
          <a:xfrm>
            <a:off x="3611744" y="5600704"/>
            <a:ext cx="24003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S.A hashed values</a:t>
            </a:r>
            <a:endParaRPr/>
          </a:p>
        </p:txBody>
      </p:sp>
      <p:sp>
        <p:nvSpPr>
          <p:cNvPr id="2005" name="Google Shape;2005;p94"/>
          <p:cNvSpPr/>
          <p:nvPr/>
        </p:nvSpPr>
        <p:spPr>
          <a:xfrm>
            <a:off x="8348847" y="1830640"/>
            <a:ext cx="2055178" cy="52322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2006" name="Google Shape;2006;p9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007" name="Google Shape;2007;p9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8" name="Google Shape;2008;p94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p9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 Phase 2: Matching</a:t>
            </a:r>
            <a:endParaRPr/>
          </a:p>
        </p:txBody>
      </p:sp>
      <p:graphicFrame>
        <p:nvGraphicFramePr>
          <p:cNvPr id="2014" name="Google Shape;2014;p95"/>
          <p:cNvGraphicFramePr/>
          <p:nvPr/>
        </p:nvGraphicFramePr>
        <p:xfrm>
          <a:off x="1638300" y="1920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{4292115B-0A58-46A1-851F-791625F1335C}</a:tableStyleId>
              </a:tblPr>
              <a:tblGrid>
                <a:gridCol w="835450"/>
                <a:gridCol w="612425"/>
                <a:gridCol w="612425"/>
                <a:gridCol w="612425"/>
                <a:gridCol w="612425"/>
                <a:gridCol w="612425"/>
                <a:gridCol w="612425"/>
                <a:gridCol w="612425"/>
                <a:gridCol w="612425"/>
                <a:gridCol w="612425"/>
              </a:tblGrid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h(1)=0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h(1)=0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h(2)=0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h(3)=1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h(3)=1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h(4)=1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h(5)=2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h(6)=2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h(6)=2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h(1)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h(1)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h(2)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h(2)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h(3)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h(4)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h(5)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h(6)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h(6)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15" name="Google Shape;2015;p95"/>
          <p:cNvSpPr txBox="1"/>
          <p:nvPr/>
        </p:nvSpPr>
        <p:spPr>
          <a:xfrm>
            <a:off x="433566" y="3160214"/>
            <a:ext cx="120473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R.A hashed values</a:t>
            </a:r>
            <a:endParaRPr/>
          </a:p>
        </p:txBody>
      </p:sp>
      <p:sp>
        <p:nvSpPr>
          <p:cNvPr id="2016" name="Google Shape;2016;p95"/>
          <p:cNvSpPr txBox="1"/>
          <p:nvPr/>
        </p:nvSpPr>
        <p:spPr>
          <a:xfrm>
            <a:off x="3611744" y="5600704"/>
            <a:ext cx="24003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S.A hashed values</a:t>
            </a:r>
            <a:endParaRPr/>
          </a:p>
        </p:txBody>
      </p:sp>
      <p:sp>
        <p:nvSpPr>
          <p:cNvPr id="2017" name="Google Shape;2017;p95"/>
          <p:cNvSpPr/>
          <p:nvPr/>
        </p:nvSpPr>
        <p:spPr>
          <a:xfrm>
            <a:off x="8348847" y="1830640"/>
            <a:ext cx="2055178" cy="52322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18" name="Google Shape;2018;p95"/>
          <p:cNvSpPr txBox="1"/>
          <p:nvPr/>
        </p:nvSpPr>
        <p:spPr>
          <a:xfrm>
            <a:off x="8348847" y="2592844"/>
            <a:ext cx="3365498" cy="2677656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perform the join, we ideally just need to explore the dark blue regions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the tuples with same values of the join key A</a:t>
            </a:r>
            <a:endParaRPr/>
          </a:p>
        </p:txBody>
      </p:sp>
      <p:sp>
        <p:nvSpPr>
          <p:cNvPr id="2019" name="Google Shape;2019;p95"/>
          <p:cNvSpPr/>
          <p:nvPr/>
        </p:nvSpPr>
        <p:spPr>
          <a:xfrm>
            <a:off x="2345253" y="1843390"/>
            <a:ext cx="1452047" cy="849010"/>
          </a:xfrm>
          <a:prstGeom prst="roundRect">
            <a:avLst>
              <a:gd fmla="val 16667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A=1</a:t>
            </a:r>
            <a:endParaRPr/>
          </a:p>
        </p:txBody>
      </p:sp>
      <p:sp>
        <p:nvSpPr>
          <p:cNvPr id="2020" name="Google Shape;2020;p95"/>
          <p:cNvSpPr/>
          <p:nvPr/>
        </p:nvSpPr>
        <p:spPr>
          <a:xfrm>
            <a:off x="3586344" y="2606514"/>
            <a:ext cx="1452047" cy="449905"/>
          </a:xfrm>
          <a:prstGeom prst="roundRect">
            <a:avLst>
              <a:gd fmla="val 16667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A=2</a:t>
            </a:r>
            <a:endParaRPr/>
          </a:p>
        </p:txBody>
      </p:sp>
      <p:sp>
        <p:nvSpPr>
          <p:cNvPr id="2021" name="Google Shape;2021;p95"/>
          <p:cNvSpPr/>
          <p:nvPr/>
        </p:nvSpPr>
        <p:spPr>
          <a:xfrm>
            <a:off x="4811895" y="2946110"/>
            <a:ext cx="776106" cy="796769"/>
          </a:xfrm>
          <a:prstGeom prst="roundRect">
            <a:avLst>
              <a:gd fmla="val 16667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A=3</a:t>
            </a:r>
            <a:endParaRPr/>
          </a:p>
        </p:txBody>
      </p:sp>
      <p:sp>
        <p:nvSpPr>
          <p:cNvPr id="2022" name="Google Shape;2022;p95"/>
          <p:cNvSpPr/>
          <p:nvPr/>
        </p:nvSpPr>
        <p:spPr>
          <a:xfrm>
            <a:off x="5446895" y="3670010"/>
            <a:ext cx="776106" cy="564963"/>
          </a:xfrm>
          <a:prstGeom prst="roundRect">
            <a:avLst>
              <a:gd fmla="val 16667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A=4</a:t>
            </a:r>
            <a:endParaRPr/>
          </a:p>
        </p:txBody>
      </p:sp>
      <p:sp>
        <p:nvSpPr>
          <p:cNvPr id="2023" name="Google Shape;2023;p95"/>
          <p:cNvSpPr/>
          <p:nvPr/>
        </p:nvSpPr>
        <p:spPr>
          <a:xfrm>
            <a:off x="6070600" y="4017825"/>
            <a:ext cx="776106" cy="564963"/>
          </a:xfrm>
          <a:prstGeom prst="roundRect">
            <a:avLst>
              <a:gd fmla="val 16667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A=5</a:t>
            </a:r>
            <a:endParaRPr/>
          </a:p>
        </p:txBody>
      </p:sp>
      <p:sp>
        <p:nvSpPr>
          <p:cNvPr id="2024" name="Google Shape;2024;p95"/>
          <p:cNvSpPr/>
          <p:nvPr/>
        </p:nvSpPr>
        <p:spPr>
          <a:xfrm>
            <a:off x="6667500" y="4449625"/>
            <a:ext cx="1409700" cy="820875"/>
          </a:xfrm>
          <a:prstGeom prst="roundRect">
            <a:avLst>
              <a:gd fmla="val 16667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A=6</a:t>
            </a:r>
            <a:endParaRPr/>
          </a:p>
        </p:txBody>
      </p:sp>
      <p:grpSp>
        <p:nvGrpSpPr>
          <p:cNvPr id="2025" name="Google Shape;2025;p9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026" name="Google Shape;2026;p9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7" name="Google Shape;2027;p95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p9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 Phase 2: Matching</a:t>
            </a:r>
            <a:endParaRPr/>
          </a:p>
        </p:txBody>
      </p:sp>
      <p:graphicFrame>
        <p:nvGraphicFramePr>
          <p:cNvPr id="2033" name="Google Shape;2033;p96"/>
          <p:cNvGraphicFramePr/>
          <p:nvPr/>
        </p:nvGraphicFramePr>
        <p:xfrm>
          <a:off x="1638300" y="1920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{4292115B-0A58-46A1-851F-791625F1335C}</a:tableStyleId>
              </a:tblPr>
              <a:tblGrid>
                <a:gridCol w="835450"/>
                <a:gridCol w="612425"/>
                <a:gridCol w="612425"/>
                <a:gridCol w="612425"/>
                <a:gridCol w="612425"/>
                <a:gridCol w="612425"/>
                <a:gridCol w="612425"/>
                <a:gridCol w="612425"/>
                <a:gridCol w="612425"/>
                <a:gridCol w="612425"/>
              </a:tblGrid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h(1)=0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h(1)=0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h(2)=0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h(3)=1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h(3)=1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h(4)=1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h(5)=2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h(6)=2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h(6)=2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h(1)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h(1)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h(2)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h(2)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h(3)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h(4)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h(5)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h(6)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h(6)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34" name="Google Shape;2034;p96"/>
          <p:cNvSpPr txBox="1"/>
          <p:nvPr/>
        </p:nvSpPr>
        <p:spPr>
          <a:xfrm>
            <a:off x="433566" y="3160214"/>
            <a:ext cx="120473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R.A hashed values</a:t>
            </a:r>
            <a:endParaRPr/>
          </a:p>
        </p:txBody>
      </p:sp>
      <p:sp>
        <p:nvSpPr>
          <p:cNvPr id="2035" name="Google Shape;2035;p96"/>
          <p:cNvSpPr txBox="1"/>
          <p:nvPr/>
        </p:nvSpPr>
        <p:spPr>
          <a:xfrm>
            <a:off x="3611744" y="5600704"/>
            <a:ext cx="24003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S.A hashed values</a:t>
            </a:r>
            <a:endParaRPr/>
          </a:p>
        </p:txBody>
      </p:sp>
      <p:sp>
        <p:nvSpPr>
          <p:cNvPr id="2036" name="Google Shape;2036;p96"/>
          <p:cNvSpPr/>
          <p:nvPr/>
        </p:nvSpPr>
        <p:spPr>
          <a:xfrm>
            <a:off x="2319853" y="1793054"/>
            <a:ext cx="5820848" cy="3578284"/>
          </a:xfrm>
          <a:prstGeom prst="roundRect">
            <a:avLst>
              <a:gd fmla="val 6019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7" name="Google Shape;2037;p96"/>
          <p:cNvSpPr/>
          <p:nvPr/>
        </p:nvSpPr>
        <p:spPr>
          <a:xfrm>
            <a:off x="8348847" y="1830640"/>
            <a:ext cx="2055178" cy="52322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38" name="Google Shape;2038;p96"/>
          <p:cNvSpPr txBox="1"/>
          <p:nvPr/>
        </p:nvSpPr>
        <p:spPr>
          <a:xfrm>
            <a:off x="8348847" y="2592844"/>
            <a:ext cx="3365498" cy="1938992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a join algorithm like BNLJ that doesn’t take advantage of equijoin structure, we’d have to explore this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whole grid!</a:t>
            </a:r>
            <a:endParaRPr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39" name="Google Shape;2039;p9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040" name="Google Shape;2040;p9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1" name="Google Shape;2041;p96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5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p9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 Phase 2: Matching</a:t>
            </a:r>
            <a:endParaRPr/>
          </a:p>
        </p:txBody>
      </p:sp>
      <p:graphicFrame>
        <p:nvGraphicFramePr>
          <p:cNvPr id="2047" name="Google Shape;2047;p97"/>
          <p:cNvGraphicFramePr/>
          <p:nvPr/>
        </p:nvGraphicFramePr>
        <p:xfrm>
          <a:off x="1638300" y="1920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{4292115B-0A58-46A1-851F-791625F1335C}</a:tableStyleId>
              </a:tblPr>
              <a:tblGrid>
                <a:gridCol w="835450"/>
                <a:gridCol w="612425"/>
                <a:gridCol w="612425"/>
                <a:gridCol w="612425"/>
                <a:gridCol w="612425"/>
                <a:gridCol w="612425"/>
                <a:gridCol w="612425"/>
                <a:gridCol w="612425"/>
                <a:gridCol w="612425"/>
                <a:gridCol w="612425"/>
              </a:tblGrid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h(1)=0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h(1)=0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h(2)=0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h(3)=1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h(3)=1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h(4)=1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h(5)=2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h(6)=2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h(6)=2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h(1)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h(1)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h(2)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h(2)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h(3)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h(4)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h(5)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h(6)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h(6)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48" name="Google Shape;2048;p97"/>
          <p:cNvSpPr txBox="1"/>
          <p:nvPr/>
        </p:nvSpPr>
        <p:spPr>
          <a:xfrm>
            <a:off x="433566" y="3160214"/>
            <a:ext cx="120473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R.A hashed values</a:t>
            </a:r>
            <a:endParaRPr/>
          </a:p>
        </p:txBody>
      </p:sp>
      <p:sp>
        <p:nvSpPr>
          <p:cNvPr id="2049" name="Google Shape;2049;p97"/>
          <p:cNvSpPr txBox="1"/>
          <p:nvPr/>
        </p:nvSpPr>
        <p:spPr>
          <a:xfrm>
            <a:off x="3611744" y="5600704"/>
            <a:ext cx="24003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S.A hashed values</a:t>
            </a:r>
            <a:endParaRPr/>
          </a:p>
        </p:txBody>
      </p:sp>
      <p:sp>
        <p:nvSpPr>
          <p:cNvPr id="2050" name="Google Shape;2050;p97"/>
          <p:cNvSpPr/>
          <p:nvPr/>
        </p:nvSpPr>
        <p:spPr>
          <a:xfrm>
            <a:off x="8348847" y="1830640"/>
            <a:ext cx="2055178" cy="52322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51" name="Google Shape;2051;p97"/>
          <p:cNvSpPr/>
          <p:nvPr/>
        </p:nvSpPr>
        <p:spPr>
          <a:xfrm>
            <a:off x="2345253" y="1843389"/>
            <a:ext cx="2633147" cy="1213029"/>
          </a:xfrm>
          <a:prstGeom prst="roundRect">
            <a:avLst>
              <a:gd fmla="val 16667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h(A)=0</a:t>
            </a:r>
            <a:endParaRPr/>
          </a:p>
        </p:txBody>
      </p:sp>
      <p:sp>
        <p:nvSpPr>
          <p:cNvPr id="2052" name="Google Shape;2052;p97"/>
          <p:cNvSpPr/>
          <p:nvPr/>
        </p:nvSpPr>
        <p:spPr>
          <a:xfrm>
            <a:off x="4811894" y="2946110"/>
            <a:ext cx="1371239" cy="1181390"/>
          </a:xfrm>
          <a:prstGeom prst="roundRect">
            <a:avLst>
              <a:gd fmla="val 16667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h(A)=1</a:t>
            </a:r>
            <a:endParaRPr/>
          </a:p>
        </p:txBody>
      </p:sp>
      <p:sp>
        <p:nvSpPr>
          <p:cNvPr id="2053" name="Google Shape;2053;p97"/>
          <p:cNvSpPr/>
          <p:nvPr/>
        </p:nvSpPr>
        <p:spPr>
          <a:xfrm>
            <a:off x="6070600" y="4017825"/>
            <a:ext cx="2006600" cy="1278075"/>
          </a:xfrm>
          <a:prstGeom prst="roundRect">
            <a:avLst>
              <a:gd fmla="val 16667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h(A)=2</a:t>
            </a:r>
            <a:endParaRPr/>
          </a:p>
        </p:txBody>
      </p:sp>
      <p:sp>
        <p:nvSpPr>
          <p:cNvPr id="2054" name="Google Shape;2054;p97"/>
          <p:cNvSpPr txBox="1"/>
          <p:nvPr/>
        </p:nvSpPr>
        <p:spPr>
          <a:xfrm>
            <a:off x="8396833" y="2493812"/>
            <a:ext cx="3365498" cy="2677656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HJ, we only explore the </a:t>
            </a: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blue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the tuples with same values of </a:t>
            </a: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h(A)!</a:t>
            </a:r>
            <a:endParaRPr i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5" name="Google Shape;2055;p97"/>
          <p:cNvSpPr txBox="1"/>
          <p:nvPr/>
        </p:nvSpPr>
        <p:spPr>
          <a:xfrm>
            <a:off x="8348847" y="5568608"/>
            <a:ext cx="3365498" cy="95410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apply BNLJ to each of these regions</a:t>
            </a:r>
            <a:endParaRPr i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56" name="Google Shape;2056;p9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057" name="Google Shape;2057;p9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8" name="Google Shape;2058;p97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2" name="Shape 2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Google Shape;2063;p9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 Phase 2: Matching</a:t>
            </a:r>
            <a:endParaRPr/>
          </a:p>
        </p:txBody>
      </p:sp>
      <p:graphicFrame>
        <p:nvGraphicFramePr>
          <p:cNvPr id="2064" name="Google Shape;2064;p98"/>
          <p:cNvGraphicFramePr/>
          <p:nvPr/>
        </p:nvGraphicFramePr>
        <p:xfrm>
          <a:off x="1638300" y="1920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{4292115B-0A58-46A1-851F-791625F1335C}</a:tableStyleId>
              </a:tblPr>
              <a:tblGrid>
                <a:gridCol w="835450"/>
                <a:gridCol w="612425"/>
                <a:gridCol w="612425"/>
                <a:gridCol w="612425"/>
                <a:gridCol w="612425"/>
                <a:gridCol w="612425"/>
                <a:gridCol w="612425"/>
                <a:gridCol w="612425"/>
                <a:gridCol w="612425"/>
                <a:gridCol w="612425"/>
              </a:tblGrid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6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65" name="Google Shape;2065;p98"/>
          <p:cNvSpPr txBox="1"/>
          <p:nvPr/>
        </p:nvSpPr>
        <p:spPr>
          <a:xfrm>
            <a:off x="433566" y="3160214"/>
            <a:ext cx="120473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R.A hashed values</a:t>
            </a:r>
            <a:endParaRPr/>
          </a:p>
        </p:txBody>
      </p:sp>
      <p:sp>
        <p:nvSpPr>
          <p:cNvPr id="2066" name="Google Shape;2066;p98"/>
          <p:cNvSpPr txBox="1"/>
          <p:nvPr/>
        </p:nvSpPr>
        <p:spPr>
          <a:xfrm>
            <a:off x="3611744" y="5600704"/>
            <a:ext cx="24003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S.A hashed values</a:t>
            </a:r>
            <a:endParaRPr/>
          </a:p>
        </p:txBody>
      </p:sp>
      <p:sp>
        <p:nvSpPr>
          <p:cNvPr id="2067" name="Google Shape;2067;p98"/>
          <p:cNvSpPr/>
          <p:nvPr/>
        </p:nvSpPr>
        <p:spPr>
          <a:xfrm>
            <a:off x="8348847" y="1830640"/>
            <a:ext cx="2055178" cy="52322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68" name="Google Shape;2068;p98"/>
          <p:cNvSpPr/>
          <p:nvPr/>
        </p:nvSpPr>
        <p:spPr>
          <a:xfrm>
            <a:off x="2366518" y="1830640"/>
            <a:ext cx="1386775" cy="857281"/>
          </a:xfrm>
          <a:prstGeom prst="roundRect">
            <a:avLst>
              <a:gd fmla="val 16667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h'(A)=0</a:t>
            </a:r>
            <a:endParaRPr/>
          </a:p>
        </p:txBody>
      </p:sp>
      <p:sp>
        <p:nvSpPr>
          <p:cNvPr id="2069" name="Google Shape;2069;p98"/>
          <p:cNvSpPr/>
          <p:nvPr/>
        </p:nvSpPr>
        <p:spPr>
          <a:xfrm>
            <a:off x="4811894" y="2946110"/>
            <a:ext cx="770199" cy="792197"/>
          </a:xfrm>
          <a:prstGeom prst="roundRect">
            <a:avLst>
              <a:gd fmla="val 16667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h'(A)=2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0" name="Google Shape;2070;p98"/>
          <p:cNvSpPr txBox="1"/>
          <p:nvPr/>
        </p:nvSpPr>
        <p:spPr>
          <a:xfrm>
            <a:off x="8418836" y="2687921"/>
            <a:ext cx="3365498" cy="3108543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alternative to applying BNLJ: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could also hash again, and keep doing passes in memory to reduce further!</a:t>
            </a:r>
            <a:endParaRPr i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1" name="Google Shape;2071;p98"/>
          <p:cNvSpPr/>
          <p:nvPr/>
        </p:nvSpPr>
        <p:spPr>
          <a:xfrm>
            <a:off x="3611744" y="2596184"/>
            <a:ext cx="1346283" cy="465993"/>
          </a:xfrm>
          <a:prstGeom prst="roundRect">
            <a:avLst>
              <a:gd fmla="val 16667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h'(A)=1</a:t>
            </a:r>
            <a:endParaRPr/>
          </a:p>
        </p:txBody>
      </p:sp>
      <p:sp>
        <p:nvSpPr>
          <p:cNvPr id="2072" name="Google Shape;2072;p98"/>
          <p:cNvSpPr/>
          <p:nvPr/>
        </p:nvSpPr>
        <p:spPr>
          <a:xfrm>
            <a:off x="5479829" y="3713022"/>
            <a:ext cx="697688" cy="516194"/>
          </a:xfrm>
          <a:prstGeom prst="roundRect">
            <a:avLst>
              <a:gd fmla="val 16667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h'(A)=3</a:t>
            </a:r>
            <a:endParaRPr/>
          </a:p>
        </p:txBody>
      </p:sp>
      <p:sp>
        <p:nvSpPr>
          <p:cNvPr id="2073" name="Google Shape;2073;p98"/>
          <p:cNvSpPr/>
          <p:nvPr/>
        </p:nvSpPr>
        <p:spPr>
          <a:xfrm>
            <a:off x="6072515" y="4021366"/>
            <a:ext cx="697688" cy="516194"/>
          </a:xfrm>
          <a:prstGeom prst="roundRect">
            <a:avLst>
              <a:gd fmla="val 16667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h'(A)=4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4" name="Google Shape;2074;p98"/>
          <p:cNvSpPr/>
          <p:nvPr/>
        </p:nvSpPr>
        <p:spPr>
          <a:xfrm>
            <a:off x="6710468" y="4457301"/>
            <a:ext cx="1275020" cy="816448"/>
          </a:xfrm>
          <a:prstGeom prst="roundRect">
            <a:avLst>
              <a:gd fmla="val 16667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h'(A)=5</a:t>
            </a:r>
            <a:endParaRPr/>
          </a:p>
        </p:txBody>
      </p:sp>
      <p:grpSp>
        <p:nvGrpSpPr>
          <p:cNvPr id="2075" name="Google Shape;2075;p9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076" name="Google Shape;2076;p9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7" name="Google Shape;2077;p98"/>
            <p:cNvSpPr txBox="1"/>
            <p:nvPr/>
          </p:nvSpPr>
          <p:spPr>
            <a:xfrm>
              <a:off x="188780" y="-22510"/>
              <a:ext cx="671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HJ</a:t>
              </a:r>
              <a:endParaRPr/>
            </a:p>
          </p:txBody>
        </p:sp>
      </p:grp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9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much memory do we need for HJ?</a:t>
            </a:r>
            <a:endParaRPr/>
          </a:p>
        </p:txBody>
      </p:sp>
      <p:sp>
        <p:nvSpPr>
          <p:cNvPr id="2083" name="Google Shape;2083;p9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Given B+1 buffer pages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Suppose (reasonably) that we can partition into B buckets in 2 passes: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For R, we get B buckets of size ~P(R)/B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 join these buckets in linear time, we need these buckets to fit in B-1 pages, so we have:</a:t>
            </a:r>
            <a:endParaRPr/>
          </a:p>
        </p:txBody>
      </p:sp>
      <p:sp>
        <p:nvSpPr>
          <p:cNvPr id="2084" name="Google Shape;2084;p99"/>
          <p:cNvSpPr txBox="1"/>
          <p:nvPr/>
        </p:nvSpPr>
        <p:spPr>
          <a:xfrm>
            <a:off x="5289439" y="1825625"/>
            <a:ext cx="3873444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WLOG: Assume P(R) &lt;= P(S)</a:t>
            </a:r>
            <a:endParaRPr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5" name="Google Shape;2085;p99"/>
          <p:cNvSpPr txBox="1"/>
          <p:nvPr/>
        </p:nvSpPr>
        <p:spPr>
          <a:xfrm>
            <a:off x="838200" y="5313391"/>
            <a:ext cx="4777525" cy="9257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86" name="Google Shape;2086;p99"/>
          <p:cNvSpPr txBox="1"/>
          <p:nvPr/>
        </p:nvSpPr>
        <p:spPr>
          <a:xfrm>
            <a:off x="5885854" y="5313391"/>
            <a:ext cx="3375819" cy="1200329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Quadratic relationship between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smaller relation’s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size &amp; memory!</a:t>
            </a:r>
            <a:endParaRPr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7" name="Google Shape;2087;p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31802" y="5096082"/>
            <a:ext cx="1453079" cy="14176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8" name="Google Shape;2088;p99"/>
          <p:cNvGrpSpPr/>
          <p:nvPr/>
        </p:nvGrpSpPr>
        <p:grpSpPr>
          <a:xfrm>
            <a:off x="0" y="-22821"/>
            <a:ext cx="12192000" cy="307777"/>
            <a:chOff x="0" y="-22510"/>
            <a:chExt cx="12192000" cy="307777"/>
          </a:xfrm>
        </p:grpSpPr>
        <p:sp>
          <p:nvSpPr>
            <p:cNvPr id="2089" name="Google Shape;2089;p9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0" name="Google Shape;2090;p99"/>
            <p:cNvSpPr txBox="1"/>
            <p:nvPr/>
          </p:nvSpPr>
          <p:spPr>
            <a:xfrm>
              <a:off x="188780" y="-22510"/>
              <a:ext cx="211384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Memory requirements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4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p10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Join Summary</a:t>
            </a:r>
            <a:endParaRPr/>
          </a:p>
        </p:txBody>
      </p:sp>
      <p:sp>
        <p:nvSpPr>
          <p:cNvPr id="2096" name="Google Shape;2096;p100"/>
          <p:cNvSpPr txBox="1"/>
          <p:nvPr>
            <p:ph idx="1" type="body"/>
          </p:nvPr>
        </p:nvSpPr>
        <p:spPr>
          <a:xfrm>
            <a:off x="838200" y="1825625"/>
            <a:ext cx="110363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i="1" lang="en-US"/>
              <a:t>Given enough buffer pages as on previous slide</a:t>
            </a:r>
            <a:r>
              <a:rPr lang="en-US"/>
              <a:t>…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Partitioning</a:t>
            </a:r>
            <a:r>
              <a:rPr lang="en-US"/>
              <a:t> requires reading + writing each page of R,S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🡪 2(P(R)+P(S)) IOs</a:t>
            </a:r>
            <a:endParaRPr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Matching</a:t>
            </a:r>
            <a:r>
              <a:rPr lang="en-US"/>
              <a:t> (with BNLJ) requires reading each page of R,S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🡪 P(R) + P(S) IOs</a:t>
            </a:r>
            <a:endParaRPr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Writing out results</a:t>
            </a:r>
            <a:r>
              <a:rPr lang="en-US"/>
              <a:t> could be as bad as P(R)*P(S)… but probably closer to P(R)+P(S)</a:t>
            </a:r>
            <a:endParaRPr b="1"/>
          </a:p>
        </p:txBody>
      </p:sp>
      <p:sp>
        <p:nvSpPr>
          <p:cNvPr id="2097" name="Google Shape;2097;p100"/>
          <p:cNvSpPr txBox="1"/>
          <p:nvPr/>
        </p:nvSpPr>
        <p:spPr>
          <a:xfrm>
            <a:off x="2599586" y="5592188"/>
            <a:ext cx="6992827" cy="584775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HJ takes 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~3(P(R)+P(S)) + </a:t>
            </a:r>
            <a:r>
              <a:rPr b="1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IOs!</a:t>
            </a:r>
            <a:endParaRPr i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98" name="Google Shape;2098;p100"/>
          <p:cNvGrpSpPr/>
          <p:nvPr/>
        </p:nvGrpSpPr>
        <p:grpSpPr>
          <a:xfrm>
            <a:off x="0" y="-22821"/>
            <a:ext cx="12192000" cy="307777"/>
            <a:chOff x="0" y="-22510"/>
            <a:chExt cx="12192000" cy="307777"/>
          </a:xfrm>
        </p:grpSpPr>
        <p:sp>
          <p:nvSpPr>
            <p:cNvPr id="2099" name="Google Shape;2099;p10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0" name="Google Shape;2100;p100"/>
            <p:cNvSpPr txBox="1"/>
            <p:nvPr/>
          </p:nvSpPr>
          <p:spPr>
            <a:xfrm>
              <a:off x="188780" y="-22510"/>
              <a:ext cx="211384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Memory requirements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4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Google Shape;2105;p101"/>
          <p:cNvSpPr txBox="1"/>
          <p:nvPr>
            <p:ph type="title"/>
          </p:nvPr>
        </p:nvSpPr>
        <p:spPr>
          <a:xfrm>
            <a:off x="1981200" y="29994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3. The Cage Match</a:t>
            </a:r>
            <a:endParaRPr/>
          </a:p>
        </p:txBody>
      </p:sp>
      <p:grpSp>
        <p:nvGrpSpPr>
          <p:cNvPr id="2106" name="Google Shape;2106;p10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107" name="Google Shape;2107;p10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8" name="Google Shape;2108;p101"/>
            <p:cNvSpPr txBox="1"/>
            <p:nvPr/>
          </p:nvSpPr>
          <p:spPr>
            <a:xfrm>
              <a:off x="188780" y="-22510"/>
              <a:ext cx="167808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The Cage Match</a:t>
              </a:r>
              <a:endParaRPr/>
            </a:p>
          </p:txBody>
        </p:sp>
      </p:grp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6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7" name="Google Shape;2117;p102"/>
          <p:cNvSpPr/>
          <p:nvPr/>
        </p:nvSpPr>
        <p:spPr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8" name="Google Shape;2118;p10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9" name="Google Shape;2119;p10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Sort-Merge v. Hash Join</a:t>
            </a:r>
            <a:endParaRPr/>
          </a:p>
        </p:txBody>
      </p:sp>
      <p:sp>
        <p:nvSpPr>
          <p:cNvPr id="2120" name="Google Shape;2120;p102"/>
          <p:cNvSpPr txBox="1"/>
          <p:nvPr>
            <p:ph idx="1" type="body"/>
          </p:nvPr>
        </p:nvSpPr>
        <p:spPr>
          <a:xfrm>
            <a:off x="1524000" y="1828800"/>
            <a:ext cx="9067800" cy="34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i="1" lang="en-US"/>
              <a:t>Given enough memory</a:t>
            </a:r>
            <a:r>
              <a:rPr lang="en-US"/>
              <a:t>, both SMJ and HJ have performance: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i="1"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i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i="1" lang="en-US"/>
              <a:t>“Enough” memory =</a:t>
            </a:r>
            <a:endParaRPr/>
          </a:p>
          <a:p>
            <a:pPr indent="-4064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/>
              <a:t>SMJ: B</a:t>
            </a:r>
            <a:r>
              <a:rPr baseline="30000" lang="en-US" sz="3200"/>
              <a:t>2</a:t>
            </a:r>
            <a:r>
              <a:rPr lang="en-US" sz="3200"/>
              <a:t>  max{P(R), P(S)}</a:t>
            </a:r>
            <a:endParaRPr/>
          </a:p>
          <a:p>
            <a:pPr indent="-4064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/>
              <a:t>HJ: B</a:t>
            </a:r>
            <a:r>
              <a:rPr baseline="30000" lang="en-US" sz="3200"/>
              <a:t>2</a:t>
            </a:r>
            <a:r>
              <a:rPr lang="en-US" sz="3200"/>
              <a:t>  min{P(R), P(S)}</a:t>
            </a:r>
            <a:endParaRPr/>
          </a:p>
          <a:p>
            <a:pPr indent="-122872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75000"/>
              <a:buNone/>
            </a:pPr>
            <a:r>
              <a:t/>
            </a:r>
            <a:endParaRPr/>
          </a:p>
          <a:p>
            <a:pPr indent="-122872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750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75000"/>
              <a:buNone/>
            </a:pPr>
            <a:r>
              <a:t/>
            </a:r>
            <a:endParaRPr/>
          </a:p>
        </p:txBody>
      </p:sp>
      <p:pic>
        <p:nvPicPr>
          <p:cNvPr id="2121" name="Google Shape;2121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9022" y="1828800"/>
            <a:ext cx="1453079" cy="1417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2" name="Google Shape;2122;p1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3919" y="1828800"/>
            <a:ext cx="1168562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3" name="Google Shape;2123;p102"/>
          <p:cNvSpPr txBox="1"/>
          <p:nvPr/>
        </p:nvSpPr>
        <p:spPr>
          <a:xfrm>
            <a:off x="1752600" y="5725180"/>
            <a:ext cx="8610600" cy="523220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Join superior if relation sizes </a:t>
            </a:r>
            <a:r>
              <a:rPr b="1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 greatly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 Why?</a:t>
            </a:r>
            <a:endParaRPr/>
          </a:p>
        </p:txBody>
      </p:sp>
      <p:sp>
        <p:nvSpPr>
          <p:cNvPr id="2124" name="Google Shape;2124;p102"/>
          <p:cNvSpPr txBox="1"/>
          <p:nvPr/>
        </p:nvSpPr>
        <p:spPr>
          <a:xfrm>
            <a:off x="4327474" y="2450812"/>
            <a:ext cx="3537051" cy="584775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~3(P(R)+P(S)) + </a:t>
            </a:r>
            <a:r>
              <a:rPr b="1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</a:t>
            </a:r>
            <a:endParaRPr i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25" name="Google Shape;2125;p10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126" name="Google Shape;2126;p10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7" name="Google Shape;2127;p102"/>
            <p:cNvSpPr txBox="1"/>
            <p:nvPr/>
          </p:nvSpPr>
          <p:spPr>
            <a:xfrm>
              <a:off x="188780" y="-22510"/>
              <a:ext cx="167808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The Cage Match</a:t>
              </a:r>
              <a:endParaRPr/>
            </a:p>
          </p:txBody>
        </p:sp>
      </p:grp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1" name="Shape 2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" name="Google Shape;2132;p10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Further Comparisons of Hash and Sort Joins</a:t>
            </a:r>
            <a:endParaRPr/>
          </a:p>
        </p:txBody>
      </p:sp>
      <p:sp>
        <p:nvSpPr>
          <p:cNvPr id="2133" name="Google Shape;2133;p103"/>
          <p:cNvSpPr txBox="1"/>
          <p:nvPr>
            <p:ph idx="1" type="body"/>
          </p:nvPr>
        </p:nvSpPr>
        <p:spPr>
          <a:xfrm>
            <a:off x="838201" y="1600201"/>
            <a:ext cx="7465494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9525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Hash Joins are highly parallelizable.</a:t>
            </a:r>
            <a:endParaRPr/>
          </a:p>
          <a:p>
            <a:pPr indent="-952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952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952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Sort-Merge less sensitive to data skew and result is sorted</a:t>
            </a:r>
            <a:endParaRPr/>
          </a:p>
        </p:txBody>
      </p:sp>
      <p:pic>
        <p:nvPicPr>
          <p:cNvPr id="2134" name="Google Shape;2134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3694" y="1904821"/>
            <a:ext cx="1843735" cy="1798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5" name="Google Shape;2135;p1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96186" y="4297363"/>
            <a:ext cx="1168562" cy="1828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6" name="Google Shape;2136;p10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137" name="Google Shape;2137;p10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8" name="Google Shape;2138;p103"/>
            <p:cNvSpPr txBox="1"/>
            <p:nvPr/>
          </p:nvSpPr>
          <p:spPr>
            <a:xfrm>
              <a:off x="188780" y="-22510"/>
              <a:ext cx="167808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The Cage Match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2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p10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2144" name="Google Shape;2144;p10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Saw IO-aware join algorithms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Massive difference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Memory sizes key in hash versus sort join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Hash Join = Little dog (depends on smaller relation)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Skew is also a major factor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pSp>
        <p:nvGrpSpPr>
          <p:cNvPr id="2145" name="Google Shape;2145;p10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146" name="Google Shape;2146;p10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7" name="Google Shape;2147;p104"/>
            <p:cNvSpPr txBox="1"/>
            <p:nvPr/>
          </p:nvSpPr>
          <p:spPr>
            <a:xfrm>
              <a:off x="188780" y="-22510"/>
              <a:ext cx="167808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      The Cage Match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