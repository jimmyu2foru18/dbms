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6997700" cy="9271000"/>
  <p:embeddedFontLst>
    <p:embeddedFont>
      <p:font typeface="Book Antiqua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920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0" orient="horz"/>
        <p:guide pos="22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ookAntiqua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BookAntiqua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BookAntiqua-italic.fntdata"/><Relationship Id="rId16" Type="http://schemas.openxmlformats.org/officeDocument/2006/relationships/slide" Target="slides/slide11.xml"/><Relationship Id="rId38" Type="http://schemas.openxmlformats.org/officeDocument/2006/relationships/font" Target="fonts/BookAntiqu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3988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7:notes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9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057900"/>
            <a:ext cx="12700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  <a:defRPr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  <a:defRPr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C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8677275" y="6488113"/>
            <a:ext cx="466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6200" y="1162878"/>
            <a:ext cx="8848794" cy="5009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28600" y="1295400"/>
            <a:ext cx="8763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743" y="6233248"/>
            <a:ext cx="990600" cy="624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/>
        </p:nvSpPr>
        <p:spPr>
          <a:xfrm>
            <a:off x="7543800" y="76200"/>
            <a:ext cx="16002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Spring 2024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7F1300"/>
                </a:solidFill>
              </a:rPr>
              <a:t>Advanced SQL: Triggers &amp; Assertions </a:t>
            </a:r>
            <a:endParaRPr/>
          </a:p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Triggers: Introduction</a:t>
            </a:r>
            <a:endParaRPr/>
          </a:p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 sz="2000"/>
              <a:t>The application constraints need to be captured inside the database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Some constraints can be captured by: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Primary Keys, Foreign Keys, Unique, Not NULL, and domain constraints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0" name="Google Shape;40;p6"/>
          <p:cNvSpPr/>
          <p:nvPr/>
        </p:nvSpPr>
        <p:spPr>
          <a:xfrm>
            <a:off x="381000" y="3581400"/>
            <a:ext cx="3556000" cy="2028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CREATE TABLE Students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(sid CHAR(20),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name CHAR(20) NOT NULL,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login CHAR(10),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age INTEGER,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gpa REAL Default 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Constraint pk Primary Key (sid),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Constraint u1 Unique (login),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Constraint gpaMax check (gpa &lt;= 4.0) ); </a:t>
            </a:r>
            <a:endParaRPr b="0" i="0" sz="16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267200" y="4191000"/>
            <a:ext cx="762000" cy="762000"/>
          </a:xfrm>
          <a:prstGeom prst="lef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FF85"/>
              </a:gs>
              <a:gs pos="100000">
                <a:srgbClr val="EBEB00"/>
              </a:gs>
            </a:gsLst>
            <a:lin ang="5400000" scaled="0"/>
          </a:gra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5257800" y="4114800"/>
            <a:ext cx="3124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constraints are defined in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 TABLE</a:t>
            </a:r>
            <a:endParaRPr/>
          </a:p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Triggers: Introduction</a:t>
            </a:r>
            <a:endParaRPr/>
          </a:p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Other application constraints are more complex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Need for assertions and triggers</a:t>
            </a:r>
            <a:endParaRPr/>
          </a:p>
          <a:p>
            <a:pPr indent="-406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800000"/>
                </a:solidFill>
              </a:rPr>
              <a:t>Examples: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Sum of loans taken by a customer does not exceed 100,000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Student cannot take the same course after getting a pass grade in it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Age field is derived automatically from the Date-of-Birth field </a:t>
            </a:r>
            <a:endParaRPr/>
          </a:p>
          <a:p>
            <a:pPr indent="-406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Triggers</a:t>
            </a:r>
            <a:endParaRPr/>
          </a:p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 procedure that runs automatically when a certain </a:t>
            </a:r>
            <a:r>
              <a:rPr b="1" i="1" lang="en-US">
                <a:solidFill>
                  <a:srgbClr val="3333FF"/>
                </a:solidFill>
              </a:rPr>
              <a:t>event</a:t>
            </a:r>
            <a:r>
              <a:rPr lang="en-US">
                <a:solidFill>
                  <a:srgbClr val="3333FF"/>
                </a:solidFill>
              </a:rPr>
              <a:t> </a:t>
            </a:r>
            <a:r>
              <a:rPr lang="en-US"/>
              <a:t>occurs in the DBMS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The procedure performs some actions, e.g.,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Check certain values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Fill in some values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Inserts/deletes/updates other records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Check that some business constraints are satisfied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Commit (approve the transaction) or roll back (cancel the transaction)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 Components</a:t>
            </a:r>
            <a:endParaRPr/>
          </a:p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Three components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3333FF"/>
                </a:solidFill>
              </a:rPr>
              <a:t>Event: </a:t>
            </a:r>
            <a:r>
              <a:rPr lang="en-US"/>
              <a:t>When this event happens, the trigger is activated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3333FF"/>
                </a:solidFill>
              </a:rPr>
              <a:t>Condition (optional): </a:t>
            </a:r>
            <a:r>
              <a:rPr lang="en-US"/>
              <a:t>If the condition is true, the trigger executes, otherwise skipped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3333FF"/>
                </a:solidFill>
              </a:rPr>
              <a:t>Action: </a:t>
            </a:r>
            <a:r>
              <a:rPr lang="en-US"/>
              <a:t>The actions performed by the trigger</a:t>
            </a:r>
            <a:endParaRPr/>
          </a:p>
          <a:p>
            <a:pPr indent="-406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Semantics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lang="en-US"/>
              <a:t>When the </a:t>
            </a:r>
            <a:r>
              <a:rPr b="1" lang="en-US" u="sng"/>
              <a:t>Event</a:t>
            </a:r>
            <a:r>
              <a:rPr lang="en-US"/>
              <a:t> occurs and </a:t>
            </a:r>
            <a:r>
              <a:rPr b="1" lang="en-US" u="sng"/>
              <a:t>Condition</a:t>
            </a:r>
            <a:r>
              <a:rPr lang="en-US"/>
              <a:t> is true, execute the </a:t>
            </a:r>
            <a:r>
              <a:rPr b="1" lang="en-US" u="sng"/>
              <a:t>Action</a:t>
            </a: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3352800" y="5257800"/>
            <a:ext cx="3505200" cy="1066800"/>
          </a:xfrm>
          <a:prstGeom prst="wedgeRoundRectCallout">
            <a:avLst>
              <a:gd fmla="val -57935" name="adj1"/>
              <a:gd fmla="val -95829" name="adj2"/>
              <a:gd fmla="val 16667" name="adj3"/>
            </a:avLst>
          </a:prstGeom>
          <a:solidFill>
            <a:srgbClr val="FFFFC2"/>
          </a:soli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see how to define these components</a:t>
            </a:r>
            <a:endParaRPr/>
          </a:p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Trigger: Events</a:t>
            </a:r>
            <a:endParaRPr/>
          </a:p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Three event types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Insert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Update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Delete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Two triggering times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Before the event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After the event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Two granularities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Execute for each row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Execute for each statement</a:t>
            </a:r>
            <a:endParaRPr/>
          </a:p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Trigger: Event </a:t>
            </a:r>
            <a:endParaRPr/>
          </a:p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Example</a:t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228600" y="1905000"/>
            <a:ext cx="5867400" cy="1295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&lt;name&gt;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Before|After      Insert|Update|Delete  ON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&lt;tablename&gt;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152400" y="4038600"/>
            <a:ext cx="3276600" cy="2125663"/>
            <a:chOff x="152400" y="4038600"/>
            <a:chExt cx="3276600" cy="2126397"/>
          </a:xfrm>
        </p:grpSpPr>
        <p:sp>
          <p:nvSpPr>
            <p:cNvPr id="82" name="Google Shape;82;p11"/>
            <p:cNvSpPr txBox="1"/>
            <p:nvPr/>
          </p:nvSpPr>
          <p:spPr>
            <a:xfrm>
              <a:off x="304800" y="4038600"/>
              <a:ext cx="3124200" cy="990942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Before  Insert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Students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 flipH="1" rot="10800000">
              <a:off x="1524000" y="4800863"/>
              <a:ext cx="304800" cy="533584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84" name="Google Shape;84;p11"/>
            <p:cNvSpPr txBox="1"/>
            <p:nvPr/>
          </p:nvSpPr>
          <p:spPr>
            <a:xfrm>
              <a:off x="152400" y="5334000"/>
              <a:ext cx="32004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when an </a:t>
              </a:r>
              <a:r>
                <a:rPr b="0" i="0" lang="en-US" sz="16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statement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issued, but before the new record is inserted</a:t>
              </a:r>
              <a:endParaRPr/>
            </a:p>
          </p:txBody>
        </p:sp>
      </p:grpSp>
      <p:grpSp>
        <p:nvGrpSpPr>
          <p:cNvPr id="85" name="Google Shape;85;p11"/>
          <p:cNvGrpSpPr/>
          <p:nvPr/>
        </p:nvGrpSpPr>
        <p:grpSpPr>
          <a:xfrm>
            <a:off x="4191000" y="4038600"/>
            <a:ext cx="3276600" cy="2125663"/>
            <a:chOff x="4191000" y="4038600"/>
            <a:chExt cx="3276600" cy="2126397"/>
          </a:xfrm>
        </p:grpSpPr>
        <p:sp>
          <p:nvSpPr>
            <p:cNvPr id="86" name="Google Shape;86;p11"/>
            <p:cNvSpPr txBox="1"/>
            <p:nvPr/>
          </p:nvSpPr>
          <p:spPr>
            <a:xfrm>
              <a:off x="4343400" y="4038600"/>
              <a:ext cx="3124200" cy="990942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XYZ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After Update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Students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87" name="Google Shape;87;p11"/>
            <p:cNvCxnSpPr/>
            <p:nvPr/>
          </p:nvCxnSpPr>
          <p:spPr>
            <a:xfrm flipH="1" rot="10800000">
              <a:off x="5562600" y="4800863"/>
              <a:ext cx="304800" cy="533584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88" name="Google Shape;88;p11"/>
            <p:cNvSpPr txBox="1"/>
            <p:nvPr/>
          </p:nvSpPr>
          <p:spPr>
            <a:xfrm>
              <a:off x="4191000" y="5334000"/>
              <a:ext cx="32004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when an </a:t>
              </a:r>
              <a:r>
                <a:rPr b="0" i="0" lang="en-US" sz="16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update statement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issued and after the update is executed</a:t>
              </a:r>
              <a:endParaRPr/>
            </a:p>
          </p:txBody>
        </p:sp>
      </p:grpSp>
      <p:cxnSp>
        <p:nvCxnSpPr>
          <p:cNvPr id="89" name="Google Shape;89;p11"/>
          <p:cNvCxnSpPr/>
          <p:nvPr/>
        </p:nvCxnSpPr>
        <p:spPr>
          <a:xfrm flipH="1">
            <a:off x="2438400" y="1752600"/>
            <a:ext cx="685800" cy="27305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90" name="Google Shape;90;p11"/>
          <p:cNvSpPr txBox="1"/>
          <p:nvPr/>
        </p:nvSpPr>
        <p:spPr>
          <a:xfrm>
            <a:off x="3048000" y="1524000"/>
            <a:ext cx="15494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Trigger name</a:t>
            </a:r>
            <a:endParaRPr/>
          </a:p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Granularity of Event</a:t>
            </a:r>
            <a:endParaRPr/>
          </a:p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 sz="2000"/>
              <a:t>A single SQL statement may update, delete, or insert many records at the same time</a:t>
            </a:r>
            <a:endParaRPr/>
          </a:p>
          <a:p>
            <a:pPr indent="-5334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3333FF"/>
                </a:solidFill>
              </a:rPr>
              <a:t>E.g., Update student set gpa = gpa x 0.8;</a:t>
            </a:r>
            <a:endParaRPr sz="1800"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Does the trigger execute for each updated or deleted record, or once for the entire statement ?</a:t>
            </a:r>
            <a:endParaRPr/>
          </a:p>
          <a:p>
            <a:pPr indent="-5334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3333FF"/>
                </a:solidFill>
              </a:rPr>
              <a:t>We define such granularity</a:t>
            </a:r>
            <a:endParaRPr/>
          </a:p>
        </p:txBody>
      </p:sp>
      <p:grpSp>
        <p:nvGrpSpPr>
          <p:cNvPr id="98" name="Google Shape;98;p12"/>
          <p:cNvGrpSpPr/>
          <p:nvPr/>
        </p:nvGrpSpPr>
        <p:grpSpPr>
          <a:xfrm>
            <a:off x="228600" y="4191000"/>
            <a:ext cx="6951663" cy="1828800"/>
            <a:chOff x="228600" y="4191000"/>
            <a:chExt cx="6950212" cy="1828800"/>
          </a:xfrm>
        </p:grpSpPr>
        <p:sp>
          <p:nvSpPr>
            <p:cNvPr id="99" name="Google Shape;99;p12"/>
            <p:cNvSpPr txBox="1"/>
            <p:nvPr/>
          </p:nvSpPr>
          <p:spPr>
            <a:xfrm>
              <a:off x="228600" y="4191000"/>
              <a:ext cx="4190125" cy="1828800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&lt;name&gt;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Before| After        Insert| Update| Delete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t/>
              </a:r>
              <a:endParaRPr b="1" i="0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For Each Row | For Each Statement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100" name="Google Shape;100;p12"/>
            <p:cNvCxnSpPr>
              <a:stCxn id="101" idx="1"/>
            </p:cNvCxnSpPr>
            <p:nvPr/>
          </p:nvCxnSpPr>
          <p:spPr>
            <a:xfrm flipH="1">
              <a:off x="4113300" y="4375666"/>
              <a:ext cx="763500" cy="2730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01" name="Google Shape;101;p12"/>
            <p:cNvSpPr txBox="1"/>
            <p:nvPr/>
          </p:nvSpPr>
          <p:spPr>
            <a:xfrm>
              <a:off x="4876800" y="4191000"/>
              <a:ext cx="18652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This is the event</a:t>
              </a:r>
              <a:endParaRPr/>
            </a:p>
          </p:txBody>
        </p:sp>
        <p:cxnSp>
          <p:nvCxnSpPr>
            <p:cNvPr id="102" name="Google Shape;102;p12"/>
            <p:cNvCxnSpPr>
              <a:stCxn id="103" idx="1"/>
            </p:cNvCxnSpPr>
            <p:nvPr/>
          </p:nvCxnSpPr>
          <p:spPr>
            <a:xfrm rot="10800000">
              <a:off x="3884700" y="5258266"/>
              <a:ext cx="915900" cy="1842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03" name="Google Shape;103;p12"/>
            <p:cNvSpPr txBox="1"/>
            <p:nvPr/>
          </p:nvSpPr>
          <p:spPr>
            <a:xfrm>
              <a:off x="4800600" y="5257800"/>
              <a:ext cx="23782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This is the granularity</a:t>
              </a:r>
              <a:endParaRPr/>
            </a:p>
          </p:txBody>
        </p:sp>
      </p:grpSp>
      <p:sp>
        <p:nvSpPr>
          <p:cNvPr id="104" name="Google Shape;104;p12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Granularity of Event</a:t>
            </a:r>
            <a:endParaRPr/>
          </a:p>
        </p:txBody>
      </p:sp>
      <p:sp>
        <p:nvSpPr>
          <p:cNvPr id="110" name="Google Shape;110;p1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11" name="Google Shape;111;p13"/>
          <p:cNvGrpSpPr/>
          <p:nvPr/>
        </p:nvGrpSpPr>
        <p:grpSpPr>
          <a:xfrm>
            <a:off x="228600" y="1828800"/>
            <a:ext cx="3429000" cy="2514600"/>
            <a:chOff x="228600" y="1828800"/>
            <a:chExt cx="3429000" cy="2514600"/>
          </a:xfrm>
        </p:grpSpPr>
        <p:sp>
          <p:nvSpPr>
            <p:cNvPr id="112" name="Google Shape;112;p13"/>
            <p:cNvSpPr txBox="1"/>
            <p:nvPr/>
          </p:nvSpPr>
          <p:spPr>
            <a:xfrm>
              <a:off x="457200" y="1828800"/>
              <a:ext cx="3200400" cy="1524000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XYZ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After Update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&lt;tablename&gt;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t/>
              </a:r>
              <a:endParaRPr b="1" i="0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For each statement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113" name="Google Shape;113;p13"/>
            <p:cNvCxnSpPr/>
            <p:nvPr/>
          </p:nvCxnSpPr>
          <p:spPr>
            <a:xfrm flipH="1" rot="10800000">
              <a:off x="1676400" y="2971800"/>
              <a:ext cx="304800" cy="5334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14" name="Google Shape;114;p13"/>
            <p:cNvSpPr txBox="1"/>
            <p:nvPr/>
          </p:nvSpPr>
          <p:spPr>
            <a:xfrm>
              <a:off x="228600" y="3512403"/>
              <a:ext cx="32004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once (per UPDATE statement) after all records are updated</a:t>
              </a:r>
              <a:endParaRPr/>
            </a:p>
          </p:txBody>
        </p:sp>
      </p:grpSp>
      <p:grpSp>
        <p:nvGrpSpPr>
          <p:cNvPr id="115" name="Google Shape;115;p13"/>
          <p:cNvGrpSpPr/>
          <p:nvPr/>
        </p:nvGrpSpPr>
        <p:grpSpPr>
          <a:xfrm>
            <a:off x="4495800" y="1981200"/>
            <a:ext cx="3352800" cy="2184400"/>
            <a:chOff x="4495800" y="1981200"/>
            <a:chExt cx="3352800" cy="2184976"/>
          </a:xfrm>
        </p:grpSpPr>
        <p:sp>
          <p:nvSpPr>
            <p:cNvPr id="116" name="Google Shape;116;p13"/>
            <p:cNvSpPr txBox="1"/>
            <p:nvPr/>
          </p:nvSpPr>
          <p:spPr>
            <a:xfrm>
              <a:off x="4648200" y="1981200"/>
              <a:ext cx="3200400" cy="1524402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XYZ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Before Delete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&lt;tablename&gt;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t/>
              </a:r>
              <a:endParaRPr b="1" i="0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For each row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117" name="Google Shape;117;p13"/>
            <p:cNvCxnSpPr/>
            <p:nvPr/>
          </p:nvCxnSpPr>
          <p:spPr>
            <a:xfrm flipH="1" rot="10800000">
              <a:off x="5867400" y="3124501"/>
              <a:ext cx="304800" cy="53354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18" name="Google Shape;118;p13"/>
            <p:cNvSpPr txBox="1"/>
            <p:nvPr/>
          </p:nvSpPr>
          <p:spPr>
            <a:xfrm>
              <a:off x="4495800" y="3581400"/>
              <a:ext cx="3200400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before deleting each record</a:t>
              </a:r>
              <a:endParaRPr/>
            </a:p>
          </p:txBody>
        </p:sp>
      </p:grpSp>
      <p:sp>
        <p:nvSpPr>
          <p:cNvPr id="119" name="Google Shape;119;p13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Trigger: Condition(not supported in MySQL)</a:t>
            </a:r>
            <a:endParaRPr/>
          </a:p>
        </p:txBody>
      </p:sp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This component is </a:t>
            </a:r>
            <a:r>
              <a:rPr b="1" lang="en-US">
                <a:solidFill>
                  <a:srgbClr val="FF0000"/>
                </a:solidFill>
              </a:rPr>
              <a:t>optional 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304800" y="2438400"/>
            <a:ext cx="6248400" cy="19050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&lt;name&gt;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Before| After        Insert| Update| Delete On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&lt;tableName&gt;</a:t>
            </a: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 | For Each Statement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&lt;condition&gt;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127" name="Google Shape;127;p14"/>
          <p:cNvCxnSpPr>
            <a:stCxn id="128" idx="1"/>
          </p:cNvCxnSpPr>
          <p:nvPr/>
        </p:nvCxnSpPr>
        <p:spPr>
          <a:xfrm flipH="1">
            <a:off x="2209925" y="3766344"/>
            <a:ext cx="3235200" cy="44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128" name="Google Shape;128;p14"/>
          <p:cNvSpPr txBox="1"/>
          <p:nvPr/>
        </p:nvSpPr>
        <p:spPr>
          <a:xfrm>
            <a:off x="5445125" y="3581400"/>
            <a:ext cx="22510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That is the condition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304800" y="4419600"/>
            <a:ext cx="7162800" cy="457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employee salary &gt; 150,000 then some actions will be taken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752600" y="4932363"/>
            <a:ext cx="4876800" cy="1544637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EmpSal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After Insert or Update On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(new.salary &gt;150,000)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31" name="Google Shape;131;p14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Trigger: Action</a:t>
            </a:r>
            <a:endParaRPr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>
                <a:solidFill>
                  <a:srgbClr val="800000"/>
                </a:solidFill>
              </a:rPr>
              <a:t>Action depends on what you want to do, e.g.: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Check certain values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Fill in some values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Inserts/deletes/updates other records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Check that some business constraints are satisfied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Commit (approve the transaction) or roll back (cancel the transaction)</a:t>
            </a:r>
            <a:endParaRPr/>
          </a:p>
          <a:p>
            <a:pPr indent="-4318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>
                <a:solidFill>
                  <a:srgbClr val="800000"/>
                </a:solidFill>
              </a:rPr>
              <a:t>In the action, you may want to reference: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new values of inserted or updated records </a:t>
            </a:r>
            <a:r>
              <a:rPr b="1" i="1" lang="en-US">
                <a:solidFill>
                  <a:srgbClr val="FF0000"/>
                </a:solidFill>
              </a:rPr>
              <a:t>(new)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old values of deleted or updated records   </a:t>
            </a:r>
            <a:r>
              <a:rPr b="1" i="1" lang="en-US">
                <a:solidFill>
                  <a:srgbClr val="FF0000"/>
                </a:solidFill>
              </a:rPr>
              <a:t>(old)</a:t>
            </a:r>
            <a:endParaRPr/>
          </a:p>
        </p:txBody>
      </p:sp>
      <p:sp>
        <p:nvSpPr>
          <p:cNvPr id="138" name="Google Shape;138;p15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Trigger: Referencing Values</a:t>
            </a:r>
            <a:endParaRPr/>
          </a:p>
        </p:txBody>
      </p:sp>
      <p:sp>
        <p:nvSpPr>
          <p:cNvPr id="144" name="Google Shape;144;p16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>
                <a:solidFill>
                  <a:srgbClr val="800000"/>
                </a:solidFill>
              </a:rPr>
              <a:t>In the action, you may want to reference: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new values of inserted or updated records </a:t>
            </a:r>
            <a:r>
              <a:rPr b="1" i="1" lang="en-US">
                <a:solidFill>
                  <a:srgbClr val="FF0000"/>
                </a:solidFill>
              </a:rPr>
              <a:t>(new)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old values of deleted or updated records   </a:t>
            </a:r>
            <a:r>
              <a:rPr b="1" i="1" lang="en-US">
                <a:solidFill>
                  <a:srgbClr val="FF0000"/>
                </a:solidFill>
              </a:rPr>
              <a:t>(old)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600200" y="2971800"/>
            <a:ext cx="6553200" cy="3581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DELIMITER //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StudentAge</a:t>
            </a:r>
            <a:endParaRPr b="1" i="1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 Insert  On Students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IF (new.age &gt; 90) THEN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set new.`name` =concat (new.`name`,'..');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END IF;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End //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1085850" y="4621213"/>
            <a:ext cx="533400" cy="1169987"/>
          </a:xfrm>
          <a:prstGeom prst="leftBrace">
            <a:avLst>
              <a:gd fmla="val 8330" name="adj1"/>
              <a:gd fmla="val 50000" name="adj2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7625" y="4633913"/>
            <a:ext cx="17526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Trigger body</a:t>
            </a:r>
            <a:endParaRPr/>
          </a:p>
        </p:txBody>
      </p:sp>
      <p:sp>
        <p:nvSpPr>
          <p:cNvPr id="148" name="Google Shape;148;p16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600200" y="2971800"/>
            <a:ext cx="6553200" cy="3581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-- drop trigger studentage_u;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DELIMITER //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StudentAge_u</a:t>
            </a:r>
            <a:endParaRPr b="1" i="1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 update  On Students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set new.age = new.age/2+old.age/2;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End //</a:t>
            </a:r>
            <a:endParaRPr/>
          </a:p>
        </p:txBody>
      </p:sp>
      <p:sp>
        <p:nvSpPr>
          <p:cNvPr id="156" name="Google Shape;156;p17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Trigger: Referencing Values (Cont’d)</a:t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Insert Event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Has only :new defined </a:t>
            </a:r>
            <a:endParaRPr/>
          </a:p>
          <a:p>
            <a:pPr indent="-444500" lvl="1" marL="990600" rtl="0" algn="l">
              <a:spcBef>
                <a:spcPts val="28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 b="1" sz="1400">
              <a:solidFill>
                <a:srgbClr val="800000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b="1" lang="en-US" sz="1800">
                <a:solidFill>
                  <a:srgbClr val="800000"/>
                </a:solidFill>
              </a:rPr>
              <a:t>Delete Event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Has only :old defined</a:t>
            </a:r>
            <a:endParaRPr/>
          </a:p>
          <a:p>
            <a:pPr indent="-444500" lvl="1" marL="990600" rtl="0" algn="l">
              <a:spcBef>
                <a:spcPts val="28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 b="1" sz="1400">
              <a:solidFill>
                <a:srgbClr val="800000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b="1" lang="en-US" sz="1800">
                <a:solidFill>
                  <a:srgbClr val="800000"/>
                </a:solidFill>
              </a:rPr>
              <a:t>Update Event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Has both :new and :old defined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Before triggering (for insert/update)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Can update the values in :new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Changing :old values does not make sense 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After triggering</a:t>
            </a:r>
            <a:endParaRPr/>
          </a:p>
          <a:p>
            <a:pPr indent="-5334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US" sz="1600"/>
              <a:t>Should not change :new because the event is already done</a:t>
            </a:r>
            <a:endParaRPr/>
          </a:p>
        </p:txBody>
      </p:sp>
      <p:sp>
        <p:nvSpPr>
          <p:cNvPr id="163" name="Google Shape;163;p18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381000" y="1219200"/>
            <a:ext cx="7162800" cy="9906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increase the age by one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52400" y="2819400"/>
            <a:ext cx="7848600" cy="30480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DELIMITER 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Create Trigger StudentAge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update  On Students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		IF new.age!=old.age+1 then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			SIGNAL SQLSTATE '45000'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			SET MESSAGE_TEXT = 'Age can only increased by one';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  end if;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 // 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9"/>
          <p:cNvCxnSpPr/>
          <p:nvPr/>
        </p:nvCxnSpPr>
        <p:spPr>
          <a:xfrm flipH="1">
            <a:off x="1624013" y="2671763"/>
            <a:ext cx="457200" cy="381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cxnSp>
        <p:nvCxnSpPr>
          <p:cNvPr id="173" name="Google Shape;173;p19"/>
          <p:cNvCxnSpPr/>
          <p:nvPr/>
        </p:nvCxnSpPr>
        <p:spPr>
          <a:xfrm flipH="1">
            <a:off x="2667000" y="3505200"/>
            <a:ext cx="1524000" cy="381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174" name="Google Shape;174;p19"/>
          <p:cNvSpPr txBox="1"/>
          <p:nvPr/>
        </p:nvSpPr>
        <p:spPr>
          <a:xfrm>
            <a:off x="4114800" y="3276600"/>
            <a:ext cx="32988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Compare the old and new salaries</a:t>
            </a:r>
            <a:endParaRPr/>
          </a:p>
        </p:txBody>
      </p:sp>
      <p:cxnSp>
        <p:nvCxnSpPr>
          <p:cNvPr id="175" name="Google Shape;175;p19"/>
          <p:cNvCxnSpPr/>
          <p:nvPr/>
        </p:nvCxnSpPr>
        <p:spPr>
          <a:xfrm rot="10800000">
            <a:off x="457200" y="5519738"/>
            <a:ext cx="1600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176" name="Google Shape;176;p19"/>
          <p:cNvSpPr txBox="1"/>
          <p:nvPr/>
        </p:nvSpPr>
        <p:spPr>
          <a:xfrm>
            <a:off x="2057400" y="5334000"/>
            <a:ext cx="43465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Make sure to have the “/” to run the command</a:t>
            </a:r>
            <a:endParaRPr/>
          </a:p>
        </p:txBody>
      </p:sp>
      <p:sp>
        <p:nvSpPr>
          <p:cNvPr id="177" name="Google Shape;177;p19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2: Using Temp Variable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81000" y="1219200"/>
            <a:ext cx="7162800" cy="7620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newly inserted record in employee has null hireDate field, fill it in with the current date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52400" y="2286000"/>
            <a:ext cx="4114800" cy="38862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DELIMITER 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EmpDate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Insert On 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DECLARE current_day date;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Select now() into current_day 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IF (new.hireDate is null) Then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        set new.hireDate = current_day;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End IF;  	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2743200" y="4572000"/>
            <a:ext cx="4495800" cy="660400"/>
            <a:chOff x="2743200" y="5105400"/>
            <a:chExt cx="4495800" cy="661341"/>
          </a:xfrm>
        </p:grpSpPr>
        <p:cxnSp>
          <p:nvCxnSpPr>
            <p:cNvPr id="187" name="Google Shape;187;p20"/>
            <p:cNvCxnSpPr/>
            <p:nvPr/>
          </p:nvCxnSpPr>
          <p:spPr>
            <a:xfrm rot="10800000">
              <a:off x="2743200" y="5105400"/>
              <a:ext cx="1828800" cy="22892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88" name="Google Shape;188;p20"/>
            <p:cNvSpPr txBox="1"/>
            <p:nvPr/>
          </p:nvSpPr>
          <p:spPr>
            <a:xfrm>
              <a:off x="4572000" y="5181642"/>
              <a:ext cx="2667000" cy="585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Updating the new value of hireDate before inserting it</a:t>
              </a:r>
              <a:endParaRPr/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2362200" y="3357563"/>
            <a:ext cx="5638800" cy="338137"/>
            <a:chOff x="1524000" y="3581400"/>
            <a:chExt cx="6705600" cy="338554"/>
          </a:xfrm>
        </p:grpSpPr>
        <p:cxnSp>
          <p:nvCxnSpPr>
            <p:cNvPr id="190" name="Google Shape;190;p20"/>
            <p:cNvCxnSpPr/>
            <p:nvPr/>
          </p:nvCxnSpPr>
          <p:spPr>
            <a:xfrm flipH="1">
              <a:off x="1524000" y="3733988"/>
              <a:ext cx="3124372" cy="15258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91" name="Google Shape;191;p20"/>
            <p:cNvSpPr txBox="1"/>
            <p:nvPr/>
          </p:nvSpPr>
          <p:spPr>
            <a:xfrm>
              <a:off x="4648200" y="3581400"/>
              <a:ext cx="35814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Declare section to define variables</a:t>
              </a:r>
              <a:endParaRPr/>
            </a:p>
          </p:txBody>
        </p:sp>
      </p:grpSp>
      <p:sp>
        <p:nvSpPr>
          <p:cNvPr id="192" name="Google Shape;192;p20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3: Maintenance of Derived Attributes</a:t>
            </a:r>
            <a:endParaRPr/>
          </a:p>
        </p:txBody>
      </p:sp>
      <p:sp>
        <p:nvSpPr>
          <p:cNvPr id="198" name="Google Shape;198;p21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228600" y="1447800"/>
            <a:ext cx="7162800" cy="7620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the bonus attribute in Employee table always 3% of the salary attribute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52400" y="2743200"/>
            <a:ext cx="4114800" cy="2133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EmpBonus_1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Insert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set new.bonus = new.salary * 0.03;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21"/>
          <p:cNvGrpSpPr/>
          <p:nvPr/>
        </p:nvGrpSpPr>
        <p:grpSpPr>
          <a:xfrm>
            <a:off x="2133600" y="4114800"/>
            <a:ext cx="2895600" cy="1817688"/>
            <a:chOff x="4724400" y="3717770"/>
            <a:chExt cx="2895600" cy="1820051"/>
          </a:xfrm>
        </p:grpSpPr>
        <p:cxnSp>
          <p:nvCxnSpPr>
            <p:cNvPr id="202" name="Google Shape;202;p21"/>
            <p:cNvCxnSpPr/>
            <p:nvPr/>
          </p:nvCxnSpPr>
          <p:spPr>
            <a:xfrm rot="10800000">
              <a:off x="4724400" y="3717770"/>
              <a:ext cx="304800" cy="1463989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953000" y="4953045"/>
              <a:ext cx="2667000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The bonus value is always computed automatically</a:t>
              </a:r>
              <a:endParaRPr/>
            </a:p>
          </p:txBody>
        </p:sp>
      </p:grpSp>
      <p:cxnSp>
        <p:nvCxnSpPr>
          <p:cNvPr id="204" name="Google Shape;204;p21"/>
          <p:cNvCxnSpPr/>
          <p:nvPr/>
        </p:nvCxnSpPr>
        <p:spPr>
          <a:xfrm flipH="1" rot="10800000">
            <a:off x="2286000" y="2387600"/>
            <a:ext cx="1600200" cy="58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1"/>
          <p:cNvSpPr txBox="1"/>
          <p:nvPr/>
        </p:nvSpPr>
        <p:spPr>
          <a:xfrm>
            <a:off x="4572000" y="2794000"/>
            <a:ext cx="4114800" cy="2133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EmpBonus_2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Update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set new.bonus = new.salary * 0.03;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21"/>
          <p:cNvCxnSpPr/>
          <p:nvPr/>
        </p:nvCxnSpPr>
        <p:spPr>
          <a:xfrm flipH="1" rot="10800000">
            <a:off x="4995863" y="4087813"/>
            <a:ext cx="642937" cy="1322387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207" name="Google Shape;207;p21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Row-Level vs. Statement-Level Triggers </a:t>
            </a:r>
            <a:endParaRPr/>
          </a:p>
        </p:txBody>
      </p:sp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0000FF"/>
                </a:solidFill>
              </a:rPr>
              <a:t>Example: </a:t>
            </a:r>
            <a:r>
              <a:rPr i="1" lang="en-US" sz="2000"/>
              <a:t>Update emp set salary = 1.1 * salary;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Changes many rows (records)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Row-level triggers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Check individual values and can update them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Have access to </a:t>
            </a:r>
            <a:r>
              <a:rPr b="1" i="1" lang="en-US" sz="1800"/>
              <a:t>new </a:t>
            </a:r>
            <a:r>
              <a:rPr lang="en-US" sz="1800"/>
              <a:t>and </a:t>
            </a:r>
            <a:r>
              <a:rPr b="1" i="1" lang="en-US" sz="1800"/>
              <a:t>old </a:t>
            </a:r>
            <a:r>
              <a:rPr lang="en-US" sz="1800"/>
              <a:t>vectors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Statement-level triggers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Do not have access to </a:t>
            </a:r>
            <a:r>
              <a:rPr b="1" i="1" lang="en-US" sz="1800"/>
              <a:t>new</a:t>
            </a:r>
            <a:r>
              <a:rPr lang="en-US" sz="1800"/>
              <a:t> or </a:t>
            </a:r>
            <a:r>
              <a:rPr b="1" i="1" lang="en-US" sz="1800"/>
              <a:t>old</a:t>
            </a:r>
            <a:r>
              <a:rPr lang="en-US" sz="1800"/>
              <a:t> vectors (only for row-level)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Execute once for the entire statement regardless how many records are affected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Used for verification before or after the statement</a:t>
            </a:r>
            <a:endParaRPr/>
          </a:p>
        </p:txBody>
      </p:sp>
      <p:sp>
        <p:nvSpPr>
          <p:cNvPr id="214" name="Google Shape;214;p22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4: Statement-level Trigger</a:t>
            </a:r>
            <a:endParaRPr/>
          </a:p>
        </p:txBody>
      </p:sp>
      <p:sp>
        <p:nvSpPr>
          <p:cNvPr id="220" name="Google Shape;220;p2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228600" y="1447800"/>
            <a:ext cx="7162800" cy="5334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the count of employees having salary &gt; 100,000 in table R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52400" y="2743200"/>
            <a:ext cx="6553200" cy="2133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EmpBonus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After Insert Or Update of salary Or Delete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Statement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delete from R;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insert into R(cnt) Select count(*) from employee where salary &gt; 100,000;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23"/>
          <p:cNvGrpSpPr/>
          <p:nvPr/>
        </p:nvGrpSpPr>
        <p:grpSpPr>
          <a:xfrm>
            <a:off x="3048000" y="4343400"/>
            <a:ext cx="3548063" cy="1668463"/>
            <a:chOff x="3698461" y="4495573"/>
            <a:chExt cx="2725530" cy="1670191"/>
          </a:xfrm>
        </p:grpSpPr>
        <p:cxnSp>
          <p:nvCxnSpPr>
            <p:cNvPr id="224" name="Google Shape;224;p23"/>
            <p:cNvCxnSpPr/>
            <p:nvPr/>
          </p:nvCxnSpPr>
          <p:spPr>
            <a:xfrm rot="10800000">
              <a:off x="3698461" y="4495573"/>
              <a:ext cx="585349" cy="83906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25" name="Google Shape;225;p23"/>
            <p:cNvSpPr txBox="1"/>
            <p:nvPr/>
          </p:nvSpPr>
          <p:spPr>
            <a:xfrm>
              <a:off x="3756991" y="5334272"/>
              <a:ext cx="2667000" cy="831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Delete the existing record in R, and then insert the new count.</a:t>
              </a:r>
              <a:endParaRPr/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4038600" y="2209800"/>
            <a:ext cx="3884613" cy="685800"/>
            <a:chOff x="3200400" y="2438027"/>
            <a:chExt cx="4108938" cy="686476"/>
          </a:xfrm>
        </p:grpSpPr>
        <p:cxnSp>
          <p:nvCxnSpPr>
            <p:cNvPr id="227" name="Google Shape;227;p23"/>
            <p:cNvCxnSpPr/>
            <p:nvPr/>
          </p:nvCxnSpPr>
          <p:spPr>
            <a:xfrm flipH="1">
              <a:off x="3200400" y="2819403"/>
              <a:ext cx="1370206" cy="3051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28" name="Google Shape;228;p23"/>
            <p:cNvSpPr txBox="1"/>
            <p:nvPr/>
          </p:nvSpPr>
          <p:spPr>
            <a:xfrm>
              <a:off x="4489938" y="2438027"/>
              <a:ext cx="2819400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Indicate three events at the same time</a:t>
              </a:r>
              <a:endParaRPr/>
            </a:p>
          </p:txBody>
        </p:sp>
      </p:grpSp>
      <p:sp>
        <p:nvSpPr>
          <p:cNvPr id="229" name="Google Shape;229;p23"/>
          <p:cNvSpPr txBox="1"/>
          <p:nvPr/>
        </p:nvSpPr>
        <p:spPr>
          <a:xfrm>
            <a:off x="2514600" y="976313"/>
            <a:ext cx="3236913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not supported in mysql</a:t>
            </a:r>
            <a:endParaRPr/>
          </a:p>
        </p:txBody>
      </p:sp>
      <p:sp>
        <p:nvSpPr>
          <p:cNvPr id="230" name="Google Shape;230;p23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4: Statement-level Trigger</a:t>
            </a:r>
            <a:endParaRPr/>
          </a:p>
        </p:txBody>
      </p:sp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228600" y="1447800"/>
            <a:ext cx="7162800" cy="5334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the count of employees having salary &gt; 100,000 in table R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152400" y="2743200"/>
            <a:ext cx="6553200" cy="2895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Emp_count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After Insert  On 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SET SQL_SAFE_UPDATES = 0;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delete from R;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	SET SQL_SAFE_UPDATES = 1;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insert into R(cnt) Select count(*) from employee where salary &gt; 1000;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3048000" y="4343400"/>
            <a:ext cx="3548063" cy="1668463"/>
            <a:chOff x="3698461" y="4495573"/>
            <a:chExt cx="2725530" cy="1670191"/>
          </a:xfrm>
        </p:grpSpPr>
        <p:cxnSp>
          <p:nvCxnSpPr>
            <p:cNvPr id="240" name="Google Shape;240;p24"/>
            <p:cNvCxnSpPr/>
            <p:nvPr/>
          </p:nvCxnSpPr>
          <p:spPr>
            <a:xfrm rot="10800000">
              <a:off x="3698461" y="4495573"/>
              <a:ext cx="585349" cy="83906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41" name="Google Shape;241;p24"/>
            <p:cNvSpPr txBox="1"/>
            <p:nvPr/>
          </p:nvSpPr>
          <p:spPr>
            <a:xfrm>
              <a:off x="3756991" y="5334272"/>
              <a:ext cx="2667000" cy="831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Delete the existing record in R, and then insert the new count.</a:t>
              </a:r>
              <a:endParaRPr/>
            </a:p>
          </p:txBody>
        </p:sp>
      </p:grpSp>
      <p:sp>
        <p:nvSpPr>
          <p:cNvPr id="242" name="Google Shape;242;p24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Of Trigger Firing</a:t>
            </a:r>
            <a:endParaRPr/>
          </a:p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76200" y="3352800"/>
            <a:ext cx="1905000" cy="685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Trigger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(statement-level)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7010400" y="3352800"/>
            <a:ext cx="1905000" cy="685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Trigger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(statement-level)</a:t>
            </a:r>
            <a:endParaRPr/>
          </a:p>
        </p:txBody>
      </p:sp>
      <p:grpSp>
        <p:nvGrpSpPr>
          <p:cNvPr id="251" name="Google Shape;251;p25"/>
          <p:cNvGrpSpPr/>
          <p:nvPr/>
        </p:nvGrpSpPr>
        <p:grpSpPr>
          <a:xfrm>
            <a:off x="2133600" y="3352800"/>
            <a:ext cx="1825625" cy="838200"/>
            <a:chOff x="2762864" y="3124200"/>
            <a:chExt cx="1825367" cy="838200"/>
          </a:xfrm>
        </p:grpSpPr>
        <p:sp>
          <p:nvSpPr>
            <p:cNvPr id="252" name="Google Shape;252;p25"/>
            <p:cNvSpPr/>
            <p:nvPr/>
          </p:nvSpPr>
          <p:spPr>
            <a:xfrm>
              <a:off x="2820006" y="3124200"/>
              <a:ext cx="1752352" cy="838200"/>
            </a:xfrm>
            <a:prstGeom prst="ellipse">
              <a:avLst/>
            </a:prstGeom>
            <a:solidFill>
              <a:srgbClr val="FFFFC2"/>
            </a:solidFill>
            <a:ln cap="flat" cmpd="sng" w="9525">
              <a:solidFill>
                <a:srgbClr val="CCC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5"/>
            <p:cNvSpPr txBox="1"/>
            <p:nvPr/>
          </p:nvSpPr>
          <p:spPr>
            <a:xfrm>
              <a:off x="2762864" y="3225058"/>
              <a:ext cx="182536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Before Trigger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(row-level)</a:t>
              </a:r>
              <a:endParaRPr/>
            </a:p>
          </p:txBody>
        </p:sp>
      </p:grpSp>
      <p:grpSp>
        <p:nvGrpSpPr>
          <p:cNvPr id="254" name="Google Shape;254;p25"/>
          <p:cNvGrpSpPr/>
          <p:nvPr/>
        </p:nvGrpSpPr>
        <p:grpSpPr>
          <a:xfrm>
            <a:off x="5105400" y="3352800"/>
            <a:ext cx="1752600" cy="838200"/>
            <a:chOff x="2819400" y="3124200"/>
            <a:chExt cx="1752600" cy="838200"/>
          </a:xfrm>
        </p:grpSpPr>
        <p:sp>
          <p:nvSpPr>
            <p:cNvPr id="255" name="Google Shape;255;p25"/>
            <p:cNvSpPr/>
            <p:nvPr/>
          </p:nvSpPr>
          <p:spPr>
            <a:xfrm>
              <a:off x="2819400" y="3124200"/>
              <a:ext cx="1752600" cy="838200"/>
            </a:xfrm>
            <a:prstGeom prst="ellipse">
              <a:avLst/>
            </a:prstGeom>
            <a:solidFill>
              <a:srgbClr val="FFFFC2"/>
            </a:solidFill>
            <a:ln cap="flat" cmpd="sng" w="9525">
              <a:solidFill>
                <a:srgbClr val="CCC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5"/>
            <p:cNvSpPr txBox="1"/>
            <p:nvPr/>
          </p:nvSpPr>
          <p:spPr>
            <a:xfrm>
              <a:off x="2900791" y="3200400"/>
              <a:ext cx="16348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After Trigger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(row-level)</a:t>
              </a:r>
              <a:endParaRPr/>
            </a:p>
          </p:txBody>
        </p:sp>
      </p:grpSp>
      <p:sp>
        <p:nvSpPr>
          <p:cNvPr id="257" name="Google Shape;257;p25"/>
          <p:cNvSpPr/>
          <p:nvPr/>
        </p:nvSpPr>
        <p:spPr>
          <a:xfrm>
            <a:off x="4038600" y="3352800"/>
            <a:ext cx="990600" cy="762000"/>
          </a:xfrm>
          <a:prstGeom prst="hexagon">
            <a:avLst>
              <a:gd fmla="val 25001" name="adj"/>
              <a:gd fmla="val 115470" name="vf"/>
            </a:avLst>
          </a:prstGeom>
          <a:gradFill>
            <a:gsLst>
              <a:gs pos="0">
                <a:srgbClr val="FFFF85"/>
              </a:gs>
              <a:gs pos="100000">
                <a:srgbClr val="EBEB00"/>
              </a:gs>
            </a:gsLst>
            <a:lin ang="5400000" scaled="0"/>
          </a:gra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(row-level)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 rot="-5400000">
            <a:off x="4152900" y="723900"/>
            <a:ext cx="533400" cy="4572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2778125" y="2373313"/>
            <a:ext cx="36226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Loop over each affected record</a:t>
            </a:r>
            <a:endParaRPr/>
          </a:p>
        </p:txBody>
      </p:sp>
      <p:sp>
        <p:nvSpPr>
          <p:cNvPr id="260" name="Google Shape;260;p25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Other Operations</a:t>
            </a:r>
            <a:endParaRPr/>
          </a:p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/>
              <a:t>Dropping Trigger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/>
              <a:t>If creating trigger with errors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2743200" y="3276600"/>
            <a:ext cx="4724400" cy="533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SQL&gt; Create Trigger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&lt;trigger name&gt;;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2971800" y="3962400"/>
            <a:ext cx="3810000" cy="533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SQL &gt; Show errors;</a:t>
            </a:r>
            <a:endParaRPr b="0" i="1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2733773" y="2133600"/>
            <a:ext cx="4724400" cy="533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SQL&gt; Delete Trigger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&lt;trigger name&gt;;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Assertions</a:t>
            </a:r>
            <a:endParaRPr/>
          </a:p>
        </p:txBody>
      </p:sp>
      <p:sp>
        <p:nvSpPr>
          <p:cNvPr id="276" name="Google Shape;276;p27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7" name="Google Shape;277;p27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Assertions (not supported in MySQL)</a:t>
            </a:r>
            <a:endParaRPr/>
          </a:p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An expression that should be always true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When created, the expression must be true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DBMS checks the assertion after any change that may violate the expression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pSp>
        <p:nvGrpSpPr>
          <p:cNvPr id="284" name="Google Shape;284;p28"/>
          <p:cNvGrpSpPr/>
          <p:nvPr/>
        </p:nvGrpSpPr>
        <p:grpSpPr>
          <a:xfrm>
            <a:off x="1295400" y="4876800"/>
            <a:ext cx="6007100" cy="1055688"/>
            <a:chOff x="1295400" y="4876800"/>
            <a:chExt cx="6007100" cy="1055688"/>
          </a:xfrm>
        </p:grpSpPr>
        <p:pic>
          <p:nvPicPr>
            <p:cNvPr id="285" name="Google Shape;285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5400" y="4876800"/>
              <a:ext cx="6007100" cy="393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6" name="Google Shape;286;p28"/>
            <p:cNvCxnSpPr/>
            <p:nvPr/>
          </p:nvCxnSpPr>
          <p:spPr>
            <a:xfrm flipH="1" rot="10800000">
              <a:off x="5486400" y="5181600"/>
              <a:ext cx="1066800" cy="4572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87" name="Google Shape;287;p28"/>
            <p:cNvSpPr txBox="1"/>
            <p:nvPr/>
          </p:nvSpPr>
          <p:spPr>
            <a:xfrm>
              <a:off x="3429000" y="5562600"/>
              <a:ext cx="277653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Must return True or False</a:t>
              </a:r>
              <a:endParaRPr/>
            </a:p>
          </p:txBody>
        </p:sp>
      </p:grpSp>
      <p:sp>
        <p:nvSpPr>
          <p:cNvPr id="288" name="Google Shape;288;p28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294" name="Google Shape;294;p29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990600" y="3174435"/>
            <a:ext cx="6629400" cy="398463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Sum of loans taken by a customer does not exceed 100,000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923925"/>
            <a:ext cx="533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838200" y="4191000"/>
            <a:ext cx="5257800" cy="1981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Assertion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SumLoans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 100,000 &gt;= </a:t>
            </a:r>
            <a:r>
              <a:rPr b="1" i="0" lang="en-US" sz="1600" u="none" cap="none" strike="noStrik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Select   Sum(amount)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    borrower B , loan L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B.loan_number = L.loan_number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Group By customer_name );</a:t>
            </a:r>
            <a:endParaRPr/>
          </a:p>
        </p:txBody>
      </p:sp>
      <p:grpSp>
        <p:nvGrpSpPr>
          <p:cNvPr id="298" name="Google Shape;298;p29"/>
          <p:cNvGrpSpPr/>
          <p:nvPr/>
        </p:nvGrpSpPr>
        <p:grpSpPr>
          <a:xfrm>
            <a:off x="3467100" y="4191000"/>
            <a:ext cx="5181600" cy="646112"/>
            <a:chOff x="2819400" y="3621088"/>
            <a:chExt cx="5181600" cy="646112"/>
          </a:xfrm>
        </p:grpSpPr>
        <p:cxnSp>
          <p:nvCxnSpPr>
            <p:cNvPr id="299" name="Google Shape;299;p29"/>
            <p:cNvCxnSpPr>
              <a:stCxn id="300" idx="1"/>
            </p:cNvCxnSpPr>
            <p:nvPr/>
          </p:nvCxnSpPr>
          <p:spPr>
            <a:xfrm flipH="1">
              <a:off x="2819400" y="3944144"/>
              <a:ext cx="2286000" cy="1032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300" name="Google Shape;300;p29"/>
            <p:cNvSpPr txBox="1"/>
            <p:nvPr/>
          </p:nvSpPr>
          <p:spPr>
            <a:xfrm>
              <a:off x="5105400" y="3621088"/>
              <a:ext cx="2895600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Must return True or False (not a relation)</a:t>
              </a:r>
              <a:endParaRPr/>
            </a:p>
          </p:txBody>
        </p:sp>
      </p:grpSp>
      <p:sp>
        <p:nvSpPr>
          <p:cNvPr id="301" name="Google Shape;301;p29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2</a:t>
            </a:r>
            <a:endParaRPr/>
          </a:p>
        </p:txBody>
      </p:sp>
      <p:sp>
        <p:nvSpPr>
          <p:cNvPr id="307" name="Google Shape;307;p30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838200" y="3425858"/>
            <a:ext cx="6781800" cy="4572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Number of accounts for each customer in a given branch is at most two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990600"/>
            <a:ext cx="6781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1600200" y="4191000"/>
            <a:ext cx="5257800" cy="1981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Assertion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NumAccounts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 2 &gt;= ALL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Select   count(*)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    account A , depositor D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A.account_number = D.account_number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Group By customer_name, branch_name );</a:t>
            </a:r>
            <a:endParaRPr/>
          </a:p>
        </p:txBody>
      </p:sp>
      <p:sp>
        <p:nvSpPr>
          <p:cNvPr id="311" name="Google Shape;311;p30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3</a:t>
            </a:r>
            <a:endParaRPr/>
          </a:p>
        </p:txBody>
      </p:sp>
      <p:sp>
        <p:nvSpPr>
          <p:cNvPr id="318" name="Google Shape;318;p31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304800" y="3352800"/>
            <a:ext cx="4267200" cy="4572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Customer city is always not null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990600"/>
            <a:ext cx="6781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/>
          <p:nvPr/>
        </p:nvSpPr>
        <p:spPr>
          <a:xfrm>
            <a:off x="1600200" y="4038600"/>
            <a:ext cx="5257800" cy="1981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Assertion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CityCheck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 NOT EXISTS (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Select   *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    customer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customer_city is null));</a:t>
            </a:r>
            <a:endParaRPr/>
          </a:p>
        </p:txBody>
      </p:sp>
      <p:sp>
        <p:nvSpPr>
          <p:cNvPr id="322" name="Google Shape;322;p31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Assertions vs. Triggers</a:t>
            </a:r>
            <a:endParaRPr/>
          </a:p>
        </p:txBody>
      </p:sp>
      <p:sp>
        <p:nvSpPr>
          <p:cNvPr id="328" name="Google Shape;328;p32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Assertions do not modify the data, they only check certain conditions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Triggers are more powerful because they can check conditions and also modify the data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Assertions are not linked to specific tables in the database and not linked to specific events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Triggers are linked to specific tables and specific events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329" name="Google Shape;329;p32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Assertions vs. Triggers (Cont’d)</a:t>
            </a:r>
            <a:endParaRPr/>
          </a:p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All assertions can be implemented as triggers (one or more)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Not all triggers can be implemented as assertions 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Oracle does not have assertions </a:t>
            </a:r>
            <a:endParaRPr/>
          </a:p>
        </p:txBody>
      </p:sp>
      <p:sp>
        <p:nvSpPr>
          <p:cNvPr id="336" name="Google Shape;336;p33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Trigger vs. Assertion</a:t>
            </a:r>
            <a:endParaRPr/>
          </a:p>
        </p:txBody>
      </p:sp>
      <p:sp>
        <p:nvSpPr>
          <p:cNvPr id="342" name="Google Shape;342;p34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3" name="Google Shape;343;p34"/>
          <p:cNvSpPr txBox="1"/>
          <p:nvPr/>
        </p:nvSpPr>
        <p:spPr>
          <a:xfrm>
            <a:off x="152400" y="1447800"/>
            <a:ext cx="7696200" cy="7620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new customers opening an account must have opening balance &gt;= $100. However, once the account is opened their balance can fall below that amount.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34"/>
          <p:cNvGrpSpPr/>
          <p:nvPr/>
        </p:nvGrpSpPr>
        <p:grpSpPr>
          <a:xfrm>
            <a:off x="6350" y="2057400"/>
            <a:ext cx="4251325" cy="1100138"/>
            <a:chOff x="5587" y="2057400"/>
            <a:chExt cx="4252787" cy="1100554"/>
          </a:xfrm>
        </p:grpSpPr>
        <p:cxnSp>
          <p:nvCxnSpPr>
            <p:cNvPr id="345" name="Google Shape;345;p34"/>
            <p:cNvCxnSpPr/>
            <p:nvPr/>
          </p:nvCxnSpPr>
          <p:spPr>
            <a:xfrm rot="10800000">
              <a:off x="990175" y="2057400"/>
              <a:ext cx="0" cy="76228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346" name="Google Shape;346;p34"/>
            <p:cNvSpPr txBox="1"/>
            <p:nvPr/>
          </p:nvSpPr>
          <p:spPr>
            <a:xfrm>
              <a:off x="5587" y="2819400"/>
              <a:ext cx="42527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We need triggers, assertions cannot be used</a:t>
              </a:r>
              <a:endParaRPr/>
            </a:p>
          </p:txBody>
        </p:sp>
      </p:grpSp>
      <p:grpSp>
        <p:nvGrpSpPr>
          <p:cNvPr id="347" name="Google Shape;347;p34"/>
          <p:cNvGrpSpPr/>
          <p:nvPr/>
        </p:nvGrpSpPr>
        <p:grpSpPr>
          <a:xfrm>
            <a:off x="4648200" y="2057400"/>
            <a:ext cx="2697163" cy="947738"/>
            <a:chOff x="4648200" y="2057400"/>
            <a:chExt cx="2697373" cy="948154"/>
          </a:xfrm>
        </p:grpSpPr>
        <p:cxnSp>
          <p:nvCxnSpPr>
            <p:cNvPr id="348" name="Google Shape;348;p34"/>
            <p:cNvCxnSpPr/>
            <p:nvPr/>
          </p:nvCxnSpPr>
          <p:spPr>
            <a:xfrm flipH="1" rot="10800000">
              <a:off x="5105436" y="2057400"/>
              <a:ext cx="76206" cy="60986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349" name="Google Shape;349;p34"/>
            <p:cNvSpPr txBox="1"/>
            <p:nvPr/>
          </p:nvSpPr>
          <p:spPr>
            <a:xfrm>
              <a:off x="4648200" y="2667000"/>
              <a:ext cx="269737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Trigger Event: Before Insert</a:t>
              </a:r>
              <a:endParaRPr/>
            </a:p>
          </p:txBody>
        </p:sp>
      </p:grpSp>
      <p:sp>
        <p:nvSpPr>
          <p:cNvPr id="350" name="Google Shape;350;p34"/>
          <p:cNvSpPr txBox="1"/>
          <p:nvPr/>
        </p:nvSpPr>
        <p:spPr>
          <a:xfrm>
            <a:off x="457200" y="3276600"/>
            <a:ext cx="6705600" cy="2362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OpeningBal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Insert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IF (new.balance is null or  new.balance &lt; 100) Then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84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SIGNAL SQLSTATE '45000'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84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SET MESSAGE_TEXT = ‘Too low balance';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End IF;  	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Triggers &amp; Assertions</a:t>
            </a:r>
            <a:endParaRPr/>
          </a:p>
        </p:txBody>
      </p:sp>
      <p:sp>
        <p:nvSpPr>
          <p:cNvPr id="357" name="Google Shape;357;p35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question-mark-nothing.jpg" id="358" name="Google Shape;3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819400"/>
            <a:ext cx="3352800" cy="30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5"/>
          <p:cNvSpPr txBox="1"/>
          <p:nvPr/>
        </p:nvSpPr>
        <p:spPr>
          <a:xfrm>
            <a:off x="3048000" y="2362200"/>
            <a:ext cx="23558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Any Questions</a:t>
            </a:r>
            <a:endParaRPr/>
          </a:p>
        </p:txBody>
      </p:sp>
      <p:sp>
        <p:nvSpPr>
          <p:cNvPr id="360" name="Google Shape;360;p35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1">
  <a:themeElements>
    <a:clrScheme name="Custom 3">
      <a:dk1>
        <a:srgbClr val="000000"/>
      </a:dk1>
      <a:lt1>
        <a:srgbClr val="FEFFFF"/>
      </a:lt1>
      <a:dk2>
        <a:srgbClr val="000000"/>
      </a:dk2>
      <a:lt2>
        <a:srgbClr val="808080"/>
      </a:lt2>
      <a:accent1>
        <a:srgbClr val="3399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ADCAFF"/>
      </a:accent5>
      <a:accent6>
        <a:srgbClr val="FF2600"/>
      </a:accent6>
      <a:hlink>
        <a:srgbClr val="CC00CC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