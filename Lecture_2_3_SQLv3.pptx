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6858000" cx="12192000"/>
  <p:notesSz cx="6858000" cy="9144000"/>
  <p:embeddedFontLst>
    <p:embeddedFont>
      <p:font typeface="Noto Sans Symbols"/>
      <p:regular r:id="rId120"/>
      <p:bold r:id="rId1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86CC5F-FD31-41A2-AAF2-48CD0A2B1C9B}">
  <a:tblStyle styleId="{7586CC5F-FD31-41A2-AAF2-48CD0A2B1C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1A7B60-11E3-46ED-A6DF-87F52A89FE2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5E62EB5-318A-465F-9588-BD705BE6A5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1EB9A70-A845-4ED3-AFC4-C9D56260D424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NotoSansSymbols-bold.fntdata"/><Relationship Id="rId25" Type="http://schemas.openxmlformats.org/officeDocument/2006/relationships/slide" Target="slides/slide19.xml"/><Relationship Id="rId120" Type="http://schemas.openxmlformats.org/officeDocument/2006/relationships/font" Target="fonts/NotoSansSymbols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7" name="Google Shape;537;p44:notes"/>
          <p:cNvSpPr txBox="1"/>
          <p:nvPr>
            <p:ph idx="1" type="body"/>
          </p:nvPr>
        </p:nvSpPr>
        <p:spPr>
          <a:xfrm>
            <a:off x="913772" y="4343401"/>
            <a:ext cx="5030456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" name="Google Shape;54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A: max(lambda(x) – lambda(y), 0)</a:t>
            </a:r>
            <a:endParaRPr/>
          </a:p>
        </p:txBody>
      </p:sp>
      <p:sp>
        <p:nvSpPr>
          <p:cNvPr id="688" name="Google Shape;68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7" name="Google Shape;75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8" name="Google Shape;76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9" name="Google Shape;76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9" name="Google Shape;77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0" name="Google Shape;780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9" name="Google Shape;78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0" name="Google Shape;79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2" name="Google Shape;80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3" name="Google Shape;80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" name="Google Shape;81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5" name="Google Shape;84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0" name="Google Shape;86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3" name="Google Shape;89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4" name="Google Shape;89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5" name="Google Shape;90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7" name="Google Shape;91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8" name="Google Shape;91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8" name="Google Shape;928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0" name="Google Shape;94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1" name="Google Shape;94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1" name="Google Shape;951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2" name="Google Shape;952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1" name="Google Shape;961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2" name="Google Shape;97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4" name="Google Shape;98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5" name="Google Shape;99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6" name="Google Shape;996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4" name="Google Shape;100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5" name="Google Shape;100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" name="Google Shape;102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5" name="Google Shape;102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" name="Google Shape;1034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5" name="Google Shape;1035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3" name="Google Shape;104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4" name="Google Shape;104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4" name="Google Shape;1054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5" name="Google Shape;1055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5" name="Google Shape;106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6" name="Google Shape;106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7" name="Google Shape;1087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8" name="Google Shape;1088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9" name="Google Shape;109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0" name="Google Shape;110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4" name="Google Shape;1114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5" name="Google Shape;1115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2" name="Google Shape;1122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3" name="Google Shape;1123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0" name="Google Shape;1130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1" name="Google Shape;1131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1" name="Google Shape;1141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2" name="Google Shape;1142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1" name="Google Shape;1151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2" name="Google Shape;1152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1" name="Google Shape;1161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2" name="Google Shape;1162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4" name="Google Shape;1174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5" name="Google Shape;1175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7" name="Google Shape;118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7" name="Google Shape;1197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8" name="Google Shape;1198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2" name="Google Shape;1212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3" name="Google Shape;1213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6" name="Google Shape;1226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7" name="Google Shape;1227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0" name="Google Shape;1240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1" name="Google Shape;1241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9" name="Google Shape;1249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0" name="Google Shape;1250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6" name="Google Shape;1266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7" name="Google Shape;1267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6" name="Google Shape;1276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7" name="Google Shape;1277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4" name="Google Shape;1294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5" name="Google Shape;1295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Fall 2024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11900"/>
            <a:ext cx="866825" cy="546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ctrTitle"/>
          </p:nvPr>
        </p:nvSpPr>
        <p:spPr>
          <a:xfrm>
            <a:off x="1524000" y="180009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US"/>
            </a:br>
            <a:r>
              <a:rPr lang="en-US"/>
              <a:t>Introduction to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1524000" y="180009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SQL Part 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SQL Introduction &amp; Definitions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2209800" y="3048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Basic SQL</a:t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Introduction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838199" y="1825625"/>
            <a:ext cx="10295965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is a standard language for querying and manipulating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is a </a:t>
            </a:r>
            <a:r>
              <a:rPr b="1" lang="en-US"/>
              <a:t>very high-level </a:t>
            </a:r>
            <a:r>
              <a:rPr lang="en-US"/>
              <a:t>programming language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works because it is optimized well!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standards out there: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ANSI SQL,  SQL92 (a.k.a. SQL2),  SQL99 (a.k.a. SQL3), ….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Vendors support various subsets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1766047" y="5699909"/>
            <a:ext cx="8659906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Probably the world’s most successful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programming language (multicore?)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8395447" y="2457637"/>
            <a:ext cx="3572966" cy="83099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stands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tructured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uery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is a…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Definition Language (DDL)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Define relational </a:t>
            </a:r>
            <a:r>
              <a:rPr i="1" lang="en-US"/>
              <a:t>schemata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Create/alter/delete tables and their attributes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Manipulation Language (DML)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Insert/delete/modify tuples in tables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Query one or more tables – discussed next!</a:t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Tables in SQL</a:t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2980764" y="2606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20"/>
          <p:cNvSpPr txBox="1"/>
          <p:nvPr/>
        </p:nvSpPr>
        <p:spPr>
          <a:xfrm>
            <a:off x="2909046" y="2108779"/>
            <a:ext cx="11844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8229600" y="1690688"/>
            <a:ext cx="3124200" cy="156966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multiset of tuples having the attributes specified by the schema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8229600" y="3797140"/>
            <a:ext cx="3545030" cy="9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break this definition down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Tables in SQL</a:t>
            </a:r>
            <a:endParaRPr/>
          </a:p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0" name="Google Shape;150;p21"/>
          <p:cNvGraphicFramePr/>
          <p:nvPr/>
        </p:nvGraphicFramePr>
        <p:xfrm>
          <a:off x="2980764" y="2606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1"/>
          <p:cNvSpPr txBox="1"/>
          <p:nvPr/>
        </p:nvSpPr>
        <p:spPr>
          <a:xfrm>
            <a:off x="2909046" y="2108779"/>
            <a:ext cx="11844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8420100" y="1554781"/>
            <a:ext cx="3124200" cy="156966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unordered list (or: a set with multiple duplicate instances allowed)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8913317" y="3494668"/>
            <a:ext cx="21377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List:            [1, 1, 2, 3]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Set:            {1, 2, 3}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Multiset:   {1, 1, 2, 3}</a:t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8592844" y="4922597"/>
            <a:ext cx="2778709" cy="3693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no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next()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 methods!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Tables in SQL</a:t>
            </a:r>
            <a:endParaRPr/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2" name="Google Shape;162;p22"/>
          <p:cNvGraphicFramePr/>
          <p:nvPr/>
        </p:nvGraphicFramePr>
        <p:xfrm>
          <a:off x="2980764" y="2606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2"/>
          <p:cNvSpPr txBox="1"/>
          <p:nvPr/>
        </p:nvSpPr>
        <p:spPr>
          <a:xfrm>
            <a:off x="2909046" y="2108779"/>
            <a:ext cx="11844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5983941" y="2501154"/>
            <a:ext cx="1761565" cy="2649070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8073874" y="2108779"/>
            <a:ext cx="3279926" cy="156966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a typed data entry present in each tuple in the relation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8073874" y="4673314"/>
            <a:ext cx="3279926" cy="92333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NB: Attributes must have an </a:t>
            </a:r>
            <a:r>
              <a:rPr b="1" i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 in standard SQL, i.e. not a list, set, etc. </a:t>
            </a:r>
            <a:endParaRPr b="1" i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Tables in SQL</a:t>
            </a:r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p23"/>
          <p:cNvGraphicFramePr/>
          <p:nvPr/>
        </p:nvGraphicFramePr>
        <p:xfrm>
          <a:off x="2980764" y="2606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3"/>
          <p:cNvSpPr txBox="1"/>
          <p:nvPr/>
        </p:nvSpPr>
        <p:spPr>
          <a:xfrm>
            <a:off x="2909046" y="2108779"/>
            <a:ext cx="11844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2895599" y="4464424"/>
            <a:ext cx="4849907" cy="65890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8135470" y="4464424"/>
            <a:ext cx="3124200" cy="156966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single entry in the table having the attributes specified by the schema</a:t>
            </a:r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3501259" y="5664752"/>
            <a:ext cx="3796424" cy="3693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referred to sometimes as a </a:t>
            </a:r>
            <a:r>
              <a:rPr b="1" i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Tables in SQL</a:t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6" name="Google Shape;186;p24"/>
          <p:cNvGraphicFramePr/>
          <p:nvPr/>
        </p:nvGraphicFramePr>
        <p:xfrm>
          <a:off x="2724184" y="2349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4"/>
          <p:cNvSpPr txBox="1"/>
          <p:nvPr/>
        </p:nvSpPr>
        <p:spPr>
          <a:xfrm>
            <a:off x="2652466" y="1852219"/>
            <a:ext cx="11844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7553143" y="2274461"/>
            <a:ext cx="363893" cy="258695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8354020" y="3106272"/>
            <a:ext cx="2380860" cy="92333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tuples is the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relation</a:t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 rot="5400000">
            <a:off x="4842805" y="2828511"/>
            <a:ext cx="363893" cy="474457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870181" y="5541585"/>
            <a:ext cx="2380860" cy="92333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attributes is the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arity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relation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Types in SQL</a:t>
            </a:r>
            <a:endParaRPr/>
          </a:p>
        </p:txBody>
      </p:sp>
      <p:sp>
        <p:nvSpPr>
          <p:cNvPr id="198" name="Google Shape;198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Atomic types: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Characters: CHAR(20), VARCHAR(50)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Numbers: INT, BIGINT, SMALLINT, FLOAT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Others: MONEY, DATETIME, 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attribute must have an atomic 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Hence tables are flat</a:t>
            </a:r>
            <a:endParaRPr/>
          </a:p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Table Schemas</a:t>
            </a:r>
            <a:endParaRPr/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838200" y="1930373"/>
            <a:ext cx="10515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schema</a:t>
            </a:r>
            <a:r>
              <a:rPr lang="en-US"/>
              <a:t> of a table is the table name, its attributes, and their types: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/>
              <a:t>key</a:t>
            </a:r>
            <a:r>
              <a:rPr lang="en-US"/>
              <a:t> is an attribute whose values are unique; we underline a key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1207618" y="3119696"/>
            <a:ext cx="9279991" cy="7571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Product(Pname: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Category: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Manufacturer: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1207618" y="5181762"/>
            <a:ext cx="9279991" cy="7571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4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Category: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Manufacturer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constraints</a:t>
            </a:r>
            <a:endParaRPr/>
          </a:p>
        </p:txBody>
      </p: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838200" y="1946649"/>
            <a:ext cx="10515600" cy="491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key is an implicit constraint on which tuples can be in the relation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i.e. if two tuples agree on the values of the key, then they must be the same tuple!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6808694" y="5373505"/>
            <a:ext cx="49754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Which would you select as a key?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Is a key always guaranteed to exist?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Can we have more than one key?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1117880" y="1672031"/>
            <a:ext cx="7924800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subset of attributes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acts as a unique identifier for tuples in a relation</a:t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4699280" y="4905927"/>
            <a:ext cx="7084826" cy="4001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Students(sid:string, name:string, gpa: float)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 and NOT NULL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say “don’t know the value” we use </a:t>
            </a:r>
            <a:r>
              <a:rPr lang="en-US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NULL has (sometimes painful) semantics, more detail later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26" name="Google Shape;226;p28"/>
          <p:cNvGraphicFramePr/>
          <p:nvPr/>
        </p:nvGraphicFramePr>
        <p:xfrm>
          <a:off x="1905000" y="3820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990600"/>
                <a:gridCol w="1066800"/>
                <a:gridCol w="838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sid</a:t>
                      </a:r>
                      <a:endParaRPr sz="24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name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gpa</a:t>
                      </a:r>
                      <a:endParaRPr sz="24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Jim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NULL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8"/>
          <p:cNvSpPr txBox="1"/>
          <p:nvPr/>
        </p:nvSpPr>
        <p:spPr>
          <a:xfrm>
            <a:off x="5109882" y="4736847"/>
            <a:ext cx="488128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Say, Jim just enrolled in his first class. </a:t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1557068" y="5943600"/>
            <a:ext cx="9924547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SQL, we may constrain a column to be NOT NULL, e.g., “name” in this table</a:t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1905000" y="3053649"/>
            <a:ext cx="7084826" cy="4001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Students(sid:string, name:string, gpa: float)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Constraints</a:t>
            </a:r>
            <a:endParaRPr/>
          </a:p>
        </p:txBody>
      </p:sp>
      <p:sp>
        <p:nvSpPr>
          <p:cNvPr id="236" name="Google Shape;236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actually specify arbitrary assertions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 “</a:t>
            </a:r>
            <a:r>
              <a:rPr i="1" lang="en-US"/>
              <a:t>There cannot be 25 people in the DB class”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practice, we don’t specify many such constraints. Why?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u="sng"/>
              <a:t>Performance!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1434353" y="5357793"/>
            <a:ext cx="9323294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Whenever we do something ugly (or avoid doing something convenient) it’s for the sake of performance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 of Schema Information</a:t>
            </a:r>
            <a:endParaRPr/>
          </a:p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Schema and Constraints are how databases understand the semantics (meaning) of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are also useful for optimization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supports general constraints: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Keys and foreign keys are most important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We’ll give you a chance to write the others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Single-table queries</a:t>
            </a:r>
            <a:endParaRPr/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SFW query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Other useful operators: LIKE, DISTINCT, ORDER BY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Query</a:t>
            </a:r>
            <a:endParaRPr/>
          </a:p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896218" y="1572308"/>
            <a:ext cx="9184245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form (there are many many more bells and whistles)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5737063" y="4928421"/>
            <a:ext cx="4343400" cy="52322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this 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query.</a:t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2149926" y="2957303"/>
            <a:ext cx="6676828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&lt;attributes&gt;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&lt;one or more relations&gt;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&lt;conditions&gt;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SQL Query: Selection</a:t>
            </a:r>
            <a:endParaRPr/>
          </a:p>
        </p:txBody>
      </p:sp>
      <p:sp>
        <p:nvSpPr>
          <p:cNvPr id="275" name="Google Shape;27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6" name="Google Shape;276;p34"/>
          <p:cNvGraphicFramePr/>
          <p:nvPr/>
        </p:nvGraphicFramePr>
        <p:xfrm>
          <a:off x="4433598" y="1685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675925"/>
                <a:gridCol w="1273700"/>
                <a:gridCol w="1541850"/>
                <a:gridCol w="1742950"/>
              </a:tblGrid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34"/>
          <p:cNvSpPr/>
          <p:nvPr/>
        </p:nvSpPr>
        <p:spPr>
          <a:xfrm>
            <a:off x="7246000" y="3769659"/>
            <a:ext cx="609600" cy="1384995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34"/>
          <p:cNvGraphicFramePr/>
          <p:nvPr/>
        </p:nvGraphicFramePr>
        <p:xfrm>
          <a:off x="4433600" y="5410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668625"/>
                <a:gridCol w="1268975"/>
                <a:gridCol w="1558200"/>
                <a:gridCol w="1738600"/>
              </a:tblGrid>
              <a:tr h="30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34"/>
          <p:cNvSpPr/>
          <p:nvPr/>
        </p:nvSpPr>
        <p:spPr>
          <a:xfrm>
            <a:off x="1891398" y="3954324"/>
            <a:ext cx="4339650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Category = ‘Gadgets’</a:t>
            </a:r>
            <a:endParaRPr/>
          </a:p>
        </p:txBody>
      </p:sp>
      <p:sp>
        <p:nvSpPr>
          <p:cNvPr id="280" name="Google Shape;280;p34"/>
          <p:cNvSpPr txBox="1"/>
          <p:nvPr/>
        </p:nvSpPr>
        <p:spPr>
          <a:xfrm>
            <a:off x="340152" y="2130897"/>
            <a:ext cx="3407648" cy="1200329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operation of filtering a relation’s tuples on some condition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SQL Query: Projection</a:t>
            </a:r>
            <a:endParaRPr/>
          </a:p>
        </p:txBody>
      </p:sp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8" name="Google Shape;288;p35"/>
          <p:cNvGraphicFramePr/>
          <p:nvPr/>
        </p:nvGraphicFramePr>
        <p:xfrm>
          <a:off x="4433598" y="1685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675925"/>
                <a:gridCol w="1273700"/>
                <a:gridCol w="1541850"/>
                <a:gridCol w="1742950"/>
              </a:tblGrid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35"/>
          <p:cNvSpPr/>
          <p:nvPr/>
        </p:nvSpPr>
        <p:spPr>
          <a:xfrm>
            <a:off x="7246000" y="3769659"/>
            <a:ext cx="609600" cy="1384995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" name="Google Shape;290;p35"/>
          <p:cNvGraphicFramePr/>
          <p:nvPr/>
        </p:nvGraphicFramePr>
        <p:xfrm>
          <a:off x="5212704" y="5410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668625"/>
                <a:gridCol w="1268975"/>
                <a:gridCol w="1738600"/>
              </a:tblGrid>
              <a:tr h="30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35"/>
          <p:cNvSpPr/>
          <p:nvPr/>
        </p:nvSpPr>
        <p:spPr>
          <a:xfrm>
            <a:off x="1350316" y="3954324"/>
            <a:ext cx="5262979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Price, Manufacturer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Category = ‘Gadgets’</a:t>
            </a:r>
            <a:endParaRPr/>
          </a:p>
        </p:txBody>
      </p:sp>
      <p:sp>
        <p:nvSpPr>
          <p:cNvPr id="292" name="Google Shape;292;p35"/>
          <p:cNvSpPr txBox="1"/>
          <p:nvPr/>
        </p:nvSpPr>
        <p:spPr>
          <a:xfrm>
            <a:off x="340152" y="1853010"/>
            <a:ext cx="3407648" cy="1938992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operation of producing an output table with tuples that have a subset of their prior attributes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Notation</a:t>
            </a:r>
            <a:endParaRPr/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6733884" y="3171143"/>
            <a:ext cx="609600" cy="1384995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838200" y="3355808"/>
            <a:ext cx="5262979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Price, Manufacturer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Category = ‘Gadgets’</a:t>
            </a:r>
            <a:endParaRPr/>
          </a:p>
        </p:txBody>
      </p:sp>
      <p:sp>
        <p:nvSpPr>
          <p:cNvPr id="302" name="Google Shape;302;p36"/>
          <p:cNvSpPr/>
          <p:nvPr/>
        </p:nvSpPr>
        <p:spPr>
          <a:xfrm>
            <a:off x="3556783" y="2314478"/>
            <a:ext cx="696380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Price, Category, 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Manfacturer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03" name="Google Shape;303;p36"/>
          <p:cNvSpPr/>
          <p:nvPr/>
        </p:nvSpPr>
        <p:spPr>
          <a:xfrm>
            <a:off x="4286529" y="4748645"/>
            <a:ext cx="550430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Answer(PName, Price, Manfacturer)</a:t>
            </a:r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1204717" y="2323710"/>
            <a:ext cx="1861407" cy="46166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schema</a:t>
            </a:r>
            <a:endParaRPr/>
          </a:p>
        </p:txBody>
      </p:sp>
      <p:sp>
        <p:nvSpPr>
          <p:cNvPr id="305" name="Google Shape;305;p36"/>
          <p:cNvSpPr txBox="1"/>
          <p:nvPr/>
        </p:nvSpPr>
        <p:spPr>
          <a:xfrm>
            <a:off x="1204717" y="4790762"/>
            <a:ext cx="2089033" cy="46166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schema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Few Details</a:t>
            </a:r>
            <a:endParaRPr/>
          </a:p>
        </p:txBody>
      </p:sp>
      <p:sp>
        <p:nvSpPr>
          <p:cNvPr id="311" name="Google Shape;31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</a:t>
            </a:r>
            <a:r>
              <a:rPr b="1" lang="en-US"/>
              <a:t>commands</a:t>
            </a:r>
            <a:r>
              <a:rPr lang="en-US"/>
              <a:t> are case insensitive: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Same: SELECT,  Select,  select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Same: Product,   product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Values</a:t>
            </a:r>
            <a:r>
              <a:rPr lang="en-US"/>
              <a:t> are </a:t>
            </a:r>
            <a:r>
              <a:rPr b="1" lang="en-US"/>
              <a:t>not: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/>
              <a:t>Different:</a:t>
            </a:r>
            <a:r>
              <a:rPr lang="en-US"/>
              <a:t> ‘Seattle’,  ‘seattle’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MySQL uses case insensitive value.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single quotes for constants: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‘abc’  - yes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“abc” - no</a:t>
            </a:r>
            <a:endParaRPr/>
          </a:p>
        </p:txBody>
      </p:sp>
      <p:sp>
        <p:nvSpPr>
          <p:cNvPr id="312" name="Google Shape;31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LIKE: Simple String Pattern Matching</a:t>
            </a:r>
            <a:endParaRPr/>
          </a:p>
        </p:txBody>
      </p:sp>
      <p:sp>
        <p:nvSpPr>
          <p:cNvPr id="319" name="Google Shape;319;p38"/>
          <p:cNvSpPr txBox="1"/>
          <p:nvPr>
            <p:ph idx="1" type="body"/>
          </p:nvPr>
        </p:nvSpPr>
        <p:spPr>
          <a:xfrm>
            <a:off x="2936810" y="3711071"/>
            <a:ext cx="63183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 </a:t>
            </a:r>
            <a:r>
              <a:rPr b="1" lang="en-US"/>
              <a:t>LIKE</a:t>
            </a:r>
            <a:r>
              <a:rPr lang="en-US"/>
              <a:t> p:  pattern matching on strings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 may contain two special symbols: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%  = any sequence of characters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_   = any single character</a:t>
            </a:r>
            <a:endParaRPr/>
          </a:p>
        </p:txBody>
      </p:sp>
      <p:sp>
        <p:nvSpPr>
          <p:cNvPr id="320" name="Google Shape;32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38"/>
          <p:cNvSpPr/>
          <p:nvPr/>
        </p:nvSpPr>
        <p:spPr>
          <a:xfrm>
            <a:off x="3470989" y="2103438"/>
            <a:ext cx="5250022" cy="10895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Products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PName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‘%gizmo%’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DISTINCT: Eliminating Duplicates</a:t>
            </a:r>
            <a:endParaRPr/>
          </a:p>
        </p:txBody>
      </p:sp>
      <p:sp>
        <p:nvSpPr>
          <p:cNvPr id="328" name="Google Shape;3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9"/>
          <p:cNvSpPr/>
          <p:nvPr/>
        </p:nvSpPr>
        <p:spPr>
          <a:xfrm>
            <a:off x="1438472" y="2133601"/>
            <a:ext cx="4631797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Category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</p:txBody>
      </p:sp>
      <p:sp>
        <p:nvSpPr>
          <p:cNvPr id="330" name="Google Shape;330;p39"/>
          <p:cNvSpPr txBox="1"/>
          <p:nvPr/>
        </p:nvSpPr>
        <p:spPr>
          <a:xfrm>
            <a:off x="3133834" y="3600071"/>
            <a:ext cx="9903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Versus</a:t>
            </a:r>
            <a:endParaRPr/>
          </a:p>
        </p:txBody>
      </p:sp>
      <p:sp>
        <p:nvSpPr>
          <p:cNvPr id="331" name="Google Shape;331;p39"/>
          <p:cNvSpPr/>
          <p:nvPr/>
        </p:nvSpPr>
        <p:spPr>
          <a:xfrm>
            <a:off x="2374214" y="4697209"/>
            <a:ext cx="2964123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Category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</p:txBody>
      </p:sp>
      <p:graphicFrame>
        <p:nvGraphicFramePr>
          <p:cNvPr id="332" name="Google Shape;332;p39"/>
          <p:cNvGraphicFramePr/>
          <p:nvPr/>
        </p:nvGraphicFramePr>
        <p:xfrm>
          <a:off x="7772400" y="4163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981200"/>
              </a:tblGrid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3" name="Google Shape;333;p39"/>
          <p:cNvGraphicFramePr/>
          <p:nvPr/>
        </p:nvGraphicFramePr>
        <p:xfrm>
          <a:off x="77724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981200"/>
              </a:tblGrid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39"/>
          <p:cNvSpPr/>
          <p:nvPr/>
        </p:nvSpPr>
        <p:spPr>
          <a:xfrm>
            <a:off x="6657005" y="2343280"/>
            <a:ext cx="544287" cy="411637"/>
          </a:xfrm>
          <a:prstGeom prst="rightArrow">
            <a:avLst>
              <a:gd fmla="val 50000" name="adj1"/>
              <a:gd fmla="val 5024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6653508" y="4906888"/>
            <a:ext cx="544287" cy="411637"/>
          </a:xfrm>
          <a:prstGeom prst="rightArrow">
            <a:avLst>
              <a:gd fmla="val 50000" name="adj1"/>
              <a:gd fmla="val 5024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ORDER BY: Sorting the Results</a:t>
            </a:r>
            <a:endParaRPr/>
          </a:p>
        </p:txBody>
      </p:sp>
      <p:sp>
        <p:nvSpPr>
          <p:cNvPr id="342" name="Google Shape;34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2283840" y="2249201"/>
            <a:ext cx="7622600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PName, Price, Manufacturer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Category=‘gizmo’ AND Price &gt;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Price, PName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2746581" y="4458133"/>
            <a:ext cx="2690342" cy="132343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Ties are broken by the second attribute on the ORDER BY list, etc.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6580795" y="4458133"/>
            <a:ext cx="2690342" cy="132343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Ordering is ascending, unless you specify the DESC keyword.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Multi-table queries</a:t>
            </a:r>
            <a:endParaRPr/>
          </a:p>
        </p:txBody>
      </p:sp>
      <p:sp>
        <p:nvSpPr>
          <p:cNvPr id="351" name="Google Shape;35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358" name="Google Shape;358;p42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Foreign key constraints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Joins: basics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Joins: SQL semantics</a:t>
            </a:r>
            <a:endParaRPr/>
          </a:p>
        </p:txBody>
      </p:sp>
      <p:sp>
        <p:nvSpPr>
          <p:cNvPr id="359" name="Google Shape;35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Foreign Key constraints</a:t>
            </a:r>
            <a:endParaRPr/>
          </a:p>
        </p:txBody>
      </p:sp>
      <p:sp>
        <p:nvSpPr>
          <p:cNvPr id="366" name="Google Shape;366;p43"/>
          <p:cNvSpPr txBox="1"/>
          <p:nvPr>
            <p:ph idx="1" type="body"/>
          </p:nvPr>
        </p:nvSpPr>
        <p:spPr>
          <a:xfrm>
            <a:off x="838200" y="1604865"/>
            <a:ext cx="8427098" cy="43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we have the following schema: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we want to impose the following constraint: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/>
              <a:t>‘Only bona fide students may enroll in courses’</a:t>
            </a:r>
            <a:r>
              <a:rPr lang="en-US"/>
              <a:t> i.e. a student must appear in the Students table to enroll in a class</a:t>
            </a:r>
            <a:endParaRPr u="sng"/>
          </a:p>
        </p:txBody>
      </p:sp>
      <p:sp>
        <p:nvSpPr>
          <p:cNvPr id="367" name="Google Shape;367;p43"/>
          <p:cNvSpPr txBox="1"/>
          <p:nvPr/>
        </p:nvSpPr>
        <p:spPr>
          <a:xfrm>
            <a:off x="9265298" y="4260685"/>
            <a:ext cx="2530898" cy="646331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student_id alone is not a key- what is?</a:t>
            </a:r>
            <a:endParaRPr/>
          </a:p>
        </p:txBody>
      </p:sp>
      <p:graphicFrame>
        <p:nvGraphicFramePr>
          <p:cNvPr id="368" name="Google Shape;368;p43"/>
          <p:cNvGraphicFramePr/>
          <p:nvPr/>
        </p:nvGraphicFramePr>
        <p:xfrm>
          <a:off x="2743201" y="4765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{85E62EB5-318A-465F-9588-BD705BE6A5AA}</a:tableStyleId>
              </a:tblPr>
              <a:tblGrid>
                <a:gridCol w="614975"/>
                <a:gridCol w="799475"/>
                <a:gridCol w="614975"/>
              </a:tblGrid>
              <a:tr h="35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sid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</a:t>
                      </a:r>
                      <a:r>
                        <a:rPr b="1" lang="en-US" sz="1800"/>
                        <a:t>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gpa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Bob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Mary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3.8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" name="Google Shape;369;p43"/>
          <p:cNvGraphicFramePr/>
          <p:nvPr/>
        </p:nvGraphicFramePr>
        <p:xfrm>
          <a:off x="6088767" y="47653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{85E62EB5-318A-465F-9588-BD705BE6A5AA}</a:tableStyleId>
              </a:tblPr>
              <a:tblGrid>
                <a:gridCol w="1434275"/>
                <a:gridCol w="581575"/>
                <a:gridCol w="984275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student_id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grade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</a:tr>
              <a:tr h="27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564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27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537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A+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0" name="Google Shape;370;p43"/>
          <p:cNvSpPr txBox="1"/>
          <p:nvPr/>
        </p:nvSpPr>
        <p:spPr>
          <a:xfrm>
            <a:off x="2667001" y="4395990"/>
            <a:ext cx="10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6001678" y="4395990"/>
            <a:ext cx="9737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Enrolled</a:t>
            </a:r>
            <a:endParaRPr/>
          </a:p>
        </p:txBody>
      </p:sp>
      <p:sp>
        <p:nvSpPr>
          <p:cNvPr id="372" name="Google Shape;372;p43"/>
          <p:cNvSpPr txBox="1"/>
          <p:nvPr/>
        </p:nvSpPr>
        <p:spPr>
          <a:xfrm>
            <a:off x="1372920" y="6149632"/>
            <a:ext cx="9431694" cy="523220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say that student_id is 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refers to Students</a:t>
            </a:r>
            <a:endParaRPr/>
          </a:p>
        </p:txBody>
      </p:sp>
      <p:cxnSp>
        <p:nvCxnSpPr>
          <p:cNvPr id="373" name="Google Shape;373;p43"/>
          <p:cNvCxnSpPr/>
          <p:nvPr/>
        </p:nvCxnSpPr>
        <p:spPr>
          <a:xfrm flipH="1" rot="10800000">
            <a:off x="4772609" y="5321000"/>
            <a:ext cx="1316100" cy="36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4" name="Google Shape;374;p43"/>
          <p:cNvCxnSpPr/>
          <p:nvPr/>
        </p:nvCxnSpPr>
        <p:spPr>
          <a:xfrm>
            <a:off x="4772609" y="5688193"/>
            <a:ext cx="1316158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5" name="Google Shape;375;p43"/>
          <p:cNvSpPr/>
          <p:nvPr/>
        </p:nvSpPr>
        <p:spPr>
          <a:xfrm>
            <a:off x="2055830" y="2083217"/>
            <a:ext cx="886548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sid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string,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name: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gpa: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Enrolled(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student_id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string, 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grade: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Declaring Foreign Keys</a:t>
            </a:r>
            <a:endParaRPr/>
          </a:p>
        </p:txBody>
      </p:sp>
      <p:sp>
        <p:nvSpPr>
          <p:cNvPr id="381" name="Google Shape;381;p44"/>
          <p:cNvSpPr/>
          <p:nvPr/>
        </p:nvSpPr>
        <p:spPr>
          <a:xfrm>
            <a:off x="1451138" y="2077617"/>
            <a:ext cx="10219464" cy="360098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string,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string,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gpa: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Enrolled(student_id: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cid: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string,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grade: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Enrolled(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student_id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CHAR(20)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cid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 CHAR(20)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 CHAR(10)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PRIMARY KEY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(student_id, cid),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(student_id)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Students(sid)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Foreign Keys and update operations</a:t>
            </a:r>
            <a:endParaRPr/>
          </a:p>
        </p:txBody>
      </p:sp>
      <p:sp>
        <p:nvSpPr>
          <p:cNvPr id="388" name="Google Shape;388;p45"/>
          <p:cNvSpPr txBox="1"/>
          <p:nvPr>
            <p:ph idx="1" type="body"/>
          </p:nvPr>
        </p:nvSpPr>
        <p:spPr>
          <a:xfrm>
            <a:off x="838200" y="3116425"/>
            <a:ext cx="10515600" cy="457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if we insert a tuple into Enrolled, but no corresponding student?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is rejected (foreign keys are </a:t>
            </a:r>
            <a:r>
              <a:rPr lang="en-US" u="sng"/>
              <a:t>constraints</a:t>
            </a:r>
            <a:r>
              <a:rPr lang="en-US"/>
              <a:t>)!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if we delete a student?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Disallow the delete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Remove all of the courses for that student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i="1" lang="en-US"/>
              <a:t>SQL allows a third via NULL (not yet covered)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9" name="Google Shape;389;p45"/>
          <p:cNvSpPr txBox="1"/>
          <p:nvPr/>
        </p:nvSpPr>
        <p:spPr>
          <a:xfrm>
            <a:off x="5602714" y="4813041"/>
            <a:ext cx="3630094" cy="40011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DBA chooses (syntax in the book)</a:t>
            </a:r>
            <a:endParaRPr/>
          </a:p>
        </p:txBody>
      </p:sp>
      <p:sp>
        <p:nvSpPr>
          <p:cNvPr id="390" name="Google Shape;390;p45"/>
          <p:cNvSpPr/>
          <p:nvPr/>
        </p:nvSpPr>
        <p:spPr>
          <a:xfrm>
            <a:off x="1853756" y="1690688"/>
            <a:ext cx="886548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sid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string,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name: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gpa: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Enrolled(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student_id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string, 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grade: </a:t>
            </a:r>
            <a:r>
              <a:rPr i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Keys and Foreign Keys</a:t>
            </a:r>
            <a:endParaRPr/>
          </a:p>
        </p:txBody>
      </p:sp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98" name="Google Shape;398;p46"/>
          <p:cNvGraphicFramePr/>
          <p:nvPr/>
        </p:nvGraphicFramePr>
        <p:xfrm>
          <a:off x="1828800" y="449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702350"/>
                <a:gridCol w="1225675"/>
                <a:gridCol w="1770425"/>
                <a:gridCol w="1702350"/>
              </a:tblGrid>
              <a:tr h="37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Manufacturer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46"/>
          <p:cNvSpPr txBox="1"/>
          <p:nvPr/>
        </p:nvSpPr>
        <p:spPr>
          <a:xfrm>
            <a:off x="1828800" y="3962401"/>
            <a:ext cx="11649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400" name="Google Shape;400;p46"/>
          <p:cNvSpPr txBox="1"/>
          <p:nvPr/>
        </p:nvSpPr>
        <p:spPr>
          <a:xfrm>
            <a:off x="1905001" y="1594052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/>
          </a:p>
        </p:txBody>
      </p:sp>
      <p:graphicFrame>
        <p:nvGraphicFramePr>
          <p:cNvPr id="401" name="Google Shape;401;p46"/>
          <p:cNvGraphicFramePr/>
          <p:nvPr/>
        </p:nvGraphicFramePr>
        <p:xfrm>
          <a:off x="1828800" y="2124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437325"/>
                <a:gridCol w="1264850"/>
                <a:gridCol w="1207350"/>
              </a:tblGrid>
              <a:tr h="2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CName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GizmoWorks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2" name="Google Shape;402;p46"/>
          <p:cNvSpPr txBox="1"/>
          <p:nvPr/>
        </p:nvSpPr>
        <p:spPr>
          <a:xfrm>
            <a:off x="7128588" y="1975628"/>
            <a:ext cx="2438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foreign key vs. a key here?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</a:t>
            </a:r>
            <a:endParaRPr/>
          </a:p>
        </p:txBody>
      </p:sp>
      <p:sp>
        <p:nvSpPr>
          <p:cNvPr id="409" name="Google Shape;40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47"/>
          <p:cNvSpPr/>
          <p:nvPr/>
        </p:nvSpPr>
        <p:spPr>
          <a:xfrm>
            <a:off x="4953000" y="2571750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1" name="Google Shape;411;p47"/>
          <p:cNvSpPr/>
          <p:nvPr/>
        </p:nvSpPr>
        <p:spPr>
          <a:xfrm>
            <a:off x="1781888" y="2861524"/>
            <a:ext cx="7191375" cy="8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products under $200 manufactured in Japan;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their names and prices. </a:t>
            </a:r>
            <a:endParaRPr/>
          </a:p>
        </p:txBody>
      </p:sp>
      <p:sp>
        <p:nvSpPr>
          <p:cNvPr id="412" name="Google Shape;412;p47"/>
          <p:cNvSpPr/>
          <p:nvPr/>
        </p:nvSpPr>
        <p:spPr>
          <a:xfrm>
            <a:off x="3130806" y="4006756"/>
            <a:ext cx="4493538" cy="163121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 = 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AND Country=‘Japan’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AND Price &lt;= 200</a:t>
            </a:r>
            <a:endParaRPr/>
          </a:p>
        </p:txBody>
      </p:sp>
      <p:sp>
        <p:nvSpPr>
          <p:cNvPr id="413" name="Google Shape;413;p47"/>
          <p:cNvSpPr/>
          <p:nvPr/>
        </p:nvSpPr>
        <p:spPr>
          <a:xfrm>
            <a:off x="1699797" y="1678109"/>
            <a:ext cx="735555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Price, Category, Manufacturer)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StockPrice, Country)</a:t>
            </a:r>
            <a:endParaRPr/>
          </a:p>
        </p:txBody>
      </p:sp>
      <p:sp>
        <p:nvSpPr>
          <p:cNvPr id="414" name="Google Shape;414;p47"/>
          <p:cNvSpPr txBox="1"/>
          <p:nvPr/>
        </p:nvSpPr>
        <p:spPr>
          <a:xfrm>
            <a:off x="9429036" y="2372589"/>
            <a:ext cx="2617038" cy="14773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we will often omit attribute types in schema definitions for brevity, but assume attributes are always atomic types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</a:t>
            </a:r>
            <a:endParaRPr/>
          </a:p>
        </p:txBody>
      </p:sp>
      <p:sp>
        <p:nvSpPr>
          <p:cNvPr id="421" name="Google Shape;42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48"/>
          <p:cNvSpPr/>
          <p:nvPr/>
        </p:nvSpPr>
        <p:spPr>
          <a:xfrm>
            <a:off x="4953000" y="2571750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23" name="Google Shape;423;p48"/>
          <p:cNvSpPr/>
          <p:nvPr/>
        </p:nvSpPr>
        <p:spPr>
          <a:xfrm>
            <a:off x="2500312" y="2861524"/>
            <a:ext cx="7191375" cy="8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products under $200 manufactured in Japan;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their names and prices. </a:t>
            </a:r>
            <a:endParaRPr/>
          </a:p>
        </p:txBody>
      </p:sp>
      <p:sp>
        <p:nvSpPr>
          <p:cNvPr id="424" name="Google Shape;424;p48"/>
          <p:cNvSpPr/>
          <p:nvPr/>
        </p:nvSpPr>
        <p:spPr>
          <a:xfrm>
            <a:off x="1914832" y="4006756"/>
            <a:ext cx="4493538" cy="163121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 = 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AND Country=‘Japan’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AND Price &lt;= 200</a:t>
            </a:r>
            <a:endParaRPr/>
          </a:p>
        </p:txBody>
      </p:sp>
      <p:sp>
        <p:nvSpPr>
          <p:cNvPr id="425" name="Google Shape;425;p48"/>
          <p:cNvSpPr/>
          <p:nvPr/>
        </p:nvSpPr>
        <p:spPr>
          <a:xfrm>
            <a:off x="2929812" y="4634421"/>
            <a:ext cx="3340359" cy="331352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6813254" y="4037534"/>
            <a:ext cx="3796947" cy="156966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tables returns all unique combinations of their tuples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meet some specified join condition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2418221" y="1678109"/>
            <a:ext cx="735555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Price, Category, Manufacturer)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StockPrice, Country)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</a:t>
            </a:r>
            <a:endParaRPr/>
          </a:p>
        </p:txBody>
      </p:sp>
      <p:sp>
        <p:nvSpPr>
          <p:cNvPr id="434" name="Google Shape;43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49"/>
          <p:cNvSpPr/>
          <p:nvPr/>
        </p:nvSpPr>
        <p:spPr>
          <a:xfrm>
            <a:off x="4953000" y="2571750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36" name="Google Shape;436;p49"/>
          <p:cNvSpPr/>
          <p:nvPr/>
        </p:nvSpPr>
        <p:spPr>
          <a:xfrm>
            <a:off x="578245" y="3003672"/>
            <a:ext cx="7191375" cy="488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equivalent ways to write a basic join in SQL:</a:t>
            </a:r>
            <a:endParaRPr/>
          </a:p>
        </p:txBody>
      </p:sp>
      <p:sp>
        <p:nvSpPr>
          <p:cNvPr id="437" name="Google Shape;437;p49"/>
          <p:cNvSpPr/>
          <p:nvPr/>
        </p:nvSpPr>
        <p:spPr>
          <a:xfrm>
            <a:off x="671551" y="3826323"/>
            <a:ext cx="3937771" cy="14773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 = 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AND Country=‘Japan’</a:t>
            </a:r>
            <a:b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AND Price &lt;= 200</a:t>
            </a:r>
            <a:endParaRPr/>
          </a:p>
        </p:txBody>
      </p:sp>
      <p:sp>
        <p:nvSpPr>
          <p:cNvPr id="438" name="Google Shape;438;p49"/>
          <p:cNvSpPr/>
          <p:nvPr/>
        </p:nvSpPr>
        <p:spPr>
          <a:xfrm>
            <a:off x="4952999" y="3822144"/>
            <a:ext cx="6794241" cy="14773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JOIN  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 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 = 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      AND Country=‘Japan’</a:t>
            </a:r>
            <a:b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Price &lt;= 200</a:t>
            </a:r>
            <a:endParaRPr/>
          </a:p>
        </p:txBody>
      </p:sp>
      <p:sp>
        <p:nvSpPr>
          <p:cNvPr id="439" name="Google Shape;439;p49"/>
          <p:cNvSpPr txBox="1"/>
          <p:nvPr/>
        </p:nvSpPr>
        <p:spPr>
          <a:xfrm>
            <a:off x="7249886" y="5784980"/>
            <a:ext cx="2221121" cy="3693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few more later on…</a:t>
            </a:r>
            <a:endParaRPr/>
          </a:p>
        </p:txBody>
      </p:sp>
      <p:sp>
        <p:nvSpPr>
          <p:cNvPr id="440" name="Google Shape;440;p49"/>
          <p:cNvSpPr/>
          <p:nvPr/>
        </p:nvSpPr>
        <p:spPr>
          <a:xfrm>
            <a:off x="2418221" y="1678109"/>
            <a:ext cx="735555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Price, Category, Manufacturer)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StockPrice, Country)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/>
          <p:nvPr>
            <p:ph type="title"/>
          </p:nvPr>
        </p:nvSpPr>
        <p:spPr>
          <a:xfrm>
            <a:off x="1905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</a:t>
            </a:r>
            <a:endParaRPr/>
          </a:p>
        </p:txBody>
      </p:sp>
      <p:sp>
        <p:nvSpPr>
          <p:cNvPr id="447" name="Google Shape;44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48" name="Google Shape;448;p50"/>
          <p:cNvGraphicFramePr/>
          <p:nvPr/>
        </p:nvGraphicFramePr>
        <p:xfrm>
          <a:off x="1524000" y="17081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600200"/>
                <a:gridCol w="762000"/>
                <a:gridCol w="1524000"/>
                <a:gridCol w="1143000"/>
              </a:tblGrid>
              <a:tr h="37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</a:t>
                      </a:r>
                      <a:endParaRPr b="0" i="0" sz="20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9" name="Google Shape;449;p50"/>
          <p:cNvSpPr txBox="1"/>
          <p:nvPr/>
        </p:nvSpPr>
        <p:spPr>
          <a:xfrm>
            <a:off x="1524000" y="1244478"/>
            <a:ext cx="11649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450" name="Google Shape;450;p50"/>
          <p:cNvSpPr txBox="1"/>
          <p:nvPr/>
        </p:nvSpPr>
        <p:spPr>
          <a:xfrm>
            <a:off x="9347067" y="1489841"/>
            <a:ext cx="13644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/>
          </a:p>
        </p:txBody>
      </p:sp>
      <p:graphicFrame>
        <p:nvGraphicFramePr>
          <p:cNvPr id="451" name="Google Shape;451;p50"/>
          <p:cNvGraphicFramePr/>
          <p:nvPr/>
        </p:nvGraphicFramePr>
        <p:xfrm>
          <a:off x="6858000" y="19367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371600"/>
                <a:gridCol w="914400"/>
                <a:gridCol w="1524000"/>
              </a:tblGrid>
              <a:tr h="44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Cname</a:t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2" name="Google Shape;452;p50"/>
          <p:cNvGraphicFramePr/>
          <p:nvPr/>
        </p:nvGraphicFramePr>
        <p:xfrm>
          <a:off x="6858000" y="544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2171700"/>
                <a:gridCol w="1638300"/>
              </a:tblGrid>
              <a:tr h="1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$149.99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3" name="Google Shape;453;p50"/>
          <p:cNvSpPr/>
          <p:nvPr/>
        </p:nvSpPr>
        <p:spPr>
          <a:xfrm>
            <a:off x="8559282" y="4146550"/>
            <a:ext cx="366960" cy="458629"/>
          </a:xfrm>
          <a:prstGeom prst="downArrow">
            <a:avLst>
              <a:gd fmla="val 50000" name="adj1"/>
              <a:gd fmla="val 5024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50"/>
          <p:cNvCxnSpPr/>
          <p:nvPr/>
        </p:nvCxnSpPr>
        <p:spPr>
          <a:xfrm flipH="1" rot="-5400000">
            <a:off x="6515100" y="2279650"/>
            <a:ext cx="381000" cy="3048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50"/>
          <p:cNvCxnSpPr/>
          <p:nvPr/>
        </p:nvCxnSpPr>
        <p:spPr>
          <a:xfrm flipH="1" rot="10800000">
            <a:off x="6553200" y="2622550"/>
            <a:ext cx="304800" cy="152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50"/>
          <p:cNvCxnSpPr/>
          <p:nvPr/>
        </p:nvCxnSpPr>
        <p:spPr>
          <a:xfrm flipH="1" rot="10800000">
            <a:off x="6553200" y="3155950"/>
            <a:ext cx="304800" cy="152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" name="Google Shape;457;p50"/>
          <p:cNvCxnSpPr/>
          <p:nvPr/>
        </p:nvCxnSpPr>
        <p:spPr>
          <a:xfrm flipH="1" rot="10800000">
            <a:off x="6553200" y="3536950"/>
            <a:ext cx="304800" cy="152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50"/>
          <p:cNvSpPr/>
          <p:nvPr/>
        </p:nvSpPr>
        <p:spPr>
          <a:xfrm>
            <a:off x="3124200" y="2095018"/>
            <a:ext cx="838200" cy="1441932"/>
          </a:xfrm>
          <a:prstGeom prst="ellipse">
            <a:avLst/>
          </a:prstGeom>
          <a:noFill/>
          <a:ln cap="flat" cmpd="sng" w="635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9525000" y="2774950"/>
            <a:ext cx="838200" cy="1143000"/>
          </a:xfrm>
          <a:prstGeom prst="ellipse">
            <a:avLst/>
          </a:prstGeom>
          <a:noFill/>
          <a:ln cap="flat" cmpd="sng" w="635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1524000" y="4725134"/>
            <a:ext cx="4493538" cy="163121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 = 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AND Country=‘Japan’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AND Price &lt;= 200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Tuple Variable Ambiguity in Multi-Table</a:t>
            </a:r>
            <a:endParaRPr/>
          </a:p>
        </p:txBody>
      </p:sp>
      <p:sp>
        <p:nvSpPr>
          <p:cNvPr id="467" name="Google Shape;46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51"/>
          <p:cNvSpPr/>
          <p:nvPr/>
        </p:nvSpPr>
        <p:spPr>
          <a:xfrm>
            <a:off x="2680685" y="3959736"/>
            <a:ext cx="5109091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name, address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	    Person,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       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worksfor = name</a:t>
            </a:r>
            <a:endParaRPr/>
          </a:p>
        </p:txBody>
      </p:sp>
      <p:sp>
        <p:nvSpPr>
          <p:cNvPr id="469" name="Google Shape;469;p51"/>
          <p:cNvSpPr/>
          <p:nvPr/>
        </p:nvSpPr>
        <p:spPr>
          <a:xfrm>
            <a:off x="2590799" y="1900375"/>
            <a:ext cx="5288865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Person(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address, worksfor)</a:t>
            </a:r>
            <a:b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address)</a:t>
            </a:r>
            <a:endParaRPr/>
          </a:p>
        </p:txBody>
      </p:sp>
      <p:sp>
        <p:nvSpPr>
          <p:cNvPr id="470" name="Google Shape;470;p51"/>
          <p:cNvSpPr txBox="1"/>
          <p:nvPr/>
        </p:nvSpPr>
        <p:spPr>
          <a:xfrm>
            <a:off x="8470641" y="3682737"/>
            <a:ext cx="3167779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“address” does this refer to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“name”s??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Tuple Variable Ambiguity in Multi-Table</a:t>
            </a:r>
            <a:endParaRPr/>
          </a:p>
        </p:txBody>
      </p:sp>
      <p:sp>
        <p:nvSpPr>
          <p:cNvPr id="477" name="Google Shape;477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52"/>
          <p:cNvSpPr/>
          <p:nvPr/>
        </p:nvSpPr>
        <p:spPr>
          <a:xfrm>
            <a:off x="2590799" y="1900375"/>
            <a:ext cx="5288865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Person(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address, worksfor)</a:t>
            </a:r>
            <a:b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address)</a:t>
            </a:r>
            <a:endParaRPr/>
          </a:p>
        </p:txBody>
      </p:sp>
      <p:sp>
        <p:nvSpPr>
          <p:cNvPr id="479" name="Google Shape;479;p52"/>
          <p:cNvSpPr/>
          <p:nvPr/>
        </p:nvSpPr>
        <p:spPr>
          <a:xfrm>
            <a:off x="2590799" y="3275513"/>
            <a:ext cx="7417415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Person.name, Person.address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	    Person,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       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Person.worksfor = Company.name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2"/>
          <p:cNvSpPr/>
          <p:nvPr/>
        </p:nvSpPr>
        <p:spPr>
          <a:xfrm>
            <a:off x="2590799" y="4650651"/>
            <a:ext cx="5570756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p.name, p.address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	    Person p, Company c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       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p.worksfor = c.name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2"/>
          <p:cNvSpPr/>
          <p:nvPr/>
        </p:nvSpPr>
        <p:spPr>
          <a:xfrm>
            <a:off x="2146041" y="3116424"/>
            <a:ext cx="233265" cy="280851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373225" y="3853543"/>
            <a:ext cx="177281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equivalent ways to resolve variable ambiguity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Meaning (Semantics) of SQL Queries</a:t>
            </a:r>
            <a:endParaRPr/>
          </a:p>
        </p:txBody>
      </p:sp>
      <p:sp>
        <p:nvSpPr>
          <p:cNvPr id="489" name="Google Shape;489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53"/>
          <p:cNvSpPr txBox="1"/>
          <p:nvPr>
            <p:ph idx="4294967295" type="body"/>
          </p:nvPr>
        </p:nvSpPr>
        <p:spPr>
          <a:xfrm>
            <a:off x="0" y="1946275"/>
            <a:ext cx="5878513" cy="9239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.a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.a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…,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.a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  R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AS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AS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…, R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AS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 Conditions(x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,…, x</a:t>
            </a:r>
            <a:r>
              <a:rPr baseline="-25000" lang="en-US" sz="2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491" name="Google Shape;491;p53"/>
          <p:cNvSpPr/>
          <p:nvPr/>
        </p:nvSpPr>
        <p:spPr>
          <a:xfrm>
            <a:off x="838200" y="3178864"/>
            <a:ext cx="8153400" cy="27515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= {}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…..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Conditions(x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Answer = Answer ∪ {(x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x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Answer</a:t>
            </a:r>
            <a:endParaRPr/>
          </a:p>
        </p:txBody>
      </p:sp>
      <p:sp>
        <p:nvSpPr>
          <p:cNvPr id="492" name="Google Shape;492;p53"/>
          <p:cNvSpPr txBox="1"/>
          <p:nvPr/>
        </p:nvSpPr>
        <p:spPr>
          <a:xfrm>
            <a:off x="7572569" y="2057219"/>
            <a:ext cx="3241610" cy="707886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 never the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fastest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way to compute it!</a:t>
            </a:r>
            <a:endParaRPr/>
          </a:p>
        </p:txBody>
      </p:sp>
      <p:sp>
        <p:nvSpPr>
          <p:cNvPr id="493" name="Google Shape;493;p53"/>
          <p:cNvSpPr txBox="1"/>
          <p:nvPr/>
        </p:nvSpPr>
        <p:spPr>
          <a:xfrm>
            <a:off x="5784979" y="6125517"/>
            <a:ext cx="387220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</a:t>
            </a:r>
            <a:endParaRPr/>
          </a:p>
        </p:txBody>
      </p:sp>
      <p:sp>
        <p:nvSpPr>
          <p:cNvPr id="494" name="Google Shape;494;p53"/>
          <p:cNvSpPr/>
          <p:nvPr/>
        </p:nvSpPr>
        <p:spPr>
          <a:xfrm>
            <a:off x="5577232" y="5019357"/>
            <a:ext cx="609600" cy="649188"/>
          </a:xfrm>
          <a:prstGeom prst="ellipse">
            <a:avLst/>
          </a:prstGeom>
          <a:noFill/>
          <a:ln cap="flat" cmpd="sng" w="50800">
            <a:solidFill>
              <a:srgbClr val="FF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example of SQL semantics</a:t>
            </a:r>
            <a:endParaRPr/>
          </a:p>
        </p:txBody>
      </p:sp>
      <p:sp>
        <p:nvSpPr>
          <p:cNvPr id="500" name="Google Shape;50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54"/>
          <p:cNvSpPr txBox="1"/>
          <p:nvPr/>
        </p:nvSpPr>
        <p:spPr>
          <a:xfrm>
            <a:off x="3648901" y="1443866"/>
            <a:ext cx="2895600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 = S.B</a:t>
            </a:r>
            <a:endParaRPr/>
          </a:p>
        </p:txBody>
      </p:sp>
      <p:graphicFrame>
        <p:nvGraphicFramePr>
          <p:cNvPr id="502" name="Google Shape;502;p54"/>
          <p:cNvGraphicFramePr/>
          <p:nvPr/>
        </p:nvGraphicFramePr>
        <p:xfrm>
          <a:off x="974813" y="2590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E4D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3" name="Google Shape;503;p54"/>
          <p:cNvGraphicFramePr/>
          <p:nvPr/>
        </p:nvGraphicFramePr>
        <p:xfrm>
          <a:off x="974813" y="4511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457200"/>
                <a:gridCol w="5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04" name="Google Shape;504;p54"/>
          <p:cNvGraphicFramePr/>
          <p:nvPr/>
        </p:nvGraphicFramePr>
        <p:xfrm>
          <a:off x="4283532" y="2972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533400"/>
                <a:gridCol w="457200"/>
                <a:gridCol w="457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5" name="Google Shape;505;p54"/>
          <p:cNvSpPr/>
          <p:nvPr/>
        </p:nvSpPr>
        <p:spPr>
          <a:xfrm>
            <a:off x="2783744" y="4358167"/>
            <a:ext cx="956042" cy="49655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54"/>
          <p:cNvSpPr txBox="1"/>
          <p:nvPr/>
        </p:nvSpPr>
        <p:spPr>
          <a:xfrm>
            <a:off x="2658489" y="3368013"/>
            <a:ext cx="1219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Product</a:t>
            </a:r>
            <a:endParaRPr/>
          </a:p>
        </p:txBody>
      </p:sp>
      <p:graphicFrame>
        <p:nvGraphicFramePr>
          <p:cNvPr id="507" name="Google Shape;507;p54"/>
          <p:cNvGraphicFramePr/>
          <p:nvPr/>
        </p:nvGraphicFramePr>
        <p:xfrm>
          <a:off x="8033661" y="48018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533400"/>
                <a:gridCol w="457200"/>
                <a:gridCol w="457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8" name="Google Shape;508;p54"/>
          <p:cNvSpPr/>
          <p:nvPr/>
        </p:nvSpPr>
        <p:spPr>
          <a:xfrm>
            <a:off x="7041414" y="1849845"/>
            <a:ext cx="1021646" cy="45885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9" name="Google Shape;509;p54"/>
          <p:cNvGraphicFramePr/>
          <p:nvPr/>
        </p:nvGraphicFramePr>
        <p:xfrm>
          <a:off x="8559973" y="14601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{241A7B60-11E3-46ED-A6DF-87F52A89FE2B}</a:tableStyleId>
              </a:tblPr>
              <a:tblGrid>
                <a:gridCol w="5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0" name="Google Shape;510;p54"/>
          <p:cNvSpPr/>
          <p:nvPr/>
        </p:nvSpPr>
        <p:spPr>
          <a:xfrm>
            <a:off x="1889213" y="2436195"/>
            <a:ext cx="576944" cy="43405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4"/>
          <p:cNvSpPr/>
          <p:nvPr/>
        </p:nvSpPr>
        <p:spPr>
          <a:xfrm rot="-5400000">
            <a:off x="8508990" y="3591539"/>
            <a:ext cx="625778" cy="48164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54"/>
          <p:cNvSpPr txBox="1"/>
          <p:nvPr/>
        </p:nvSpPr>
        <p:spPr>
          <a:xfrm>
            <a:off x="9093374" y="3416864"/>
            <a:ext cx="15620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Projection</a:t>
            </a:r>
            <a:endParaRPr/>
          </a:p>
        </p:txBody>
      </p:sp>
      <p:sp>
        <p:nvSpPr>
          <p:cNvPr id="513" name="Google Shape;513;p54"/>
          <p:cNvSpPr/>
          <p:nvPr/>
        </p:nvSpPr>
        <p:spPr>
          <a:xfrm>
            <a:off x="6489229" y="5328730"/>
            <a:ext cx="956042" cy="49655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54"/>
          <p:cNvSpPr txBox="1"/>
          <p:nvPr/>
        </p:nvSpPr>
        <p:spPr>
          <a:xfrm>
            <a:off x="6081068" y="3900801"/>
            <a:ext cx="17613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Selections / Conditions</a:t>
            </a:r>
            <a:endParaRPr/>
          </a:p>
        </p:txBody>
      </p:sp>
      <p:sp>
        <p:nvSpPr>
          <p:cNvPr id="515" name="Google Shape;515;p54"/>
          <p:cNvSpPr txBox="1"/>
          <p:nvPr/>
        </p:nvSpPr>
        <p:spPr>
          <a:xfrm>
            <a:off x="6770103" y="1381851"/>
            <a:ext cx="15620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 the </a:t>
            </a:r>
            <a:r>
              <a:rPr b="1" i="1" lang="en-US"/>
              <a:t>semantics</a:t>
            </a:r>
            <a:r>
              <a:rPr lang="en-US"/>
              <a:t> of a join</a:t>
            </a:r>
            <a:endParaRPr/>
          </a:p>
        </p:txBody>
      </p:sp>
      <p:sp>
        <p:nvSpPr>
          <p:cNvPr id="521" name="Google Shape;521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55"/>
          <p:cNvSpPr txBox="1"/>
          <p:nvPr/>
        </p:nvSpPr>
        <p:spPr>
          <a:xfrm>
            <a:off x="8808730" y="675025"/>
            <a:ext cx="2895600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 = S.B</a:t>
            </a:r>
            <a:endParaRPr/>
          </a:p>
        </p:txBody>
      </p:sp>
      <p:sp>
        <p:nvSpPr>
          <p:cNvPr id="523" name="Google Shape;523;p55"/>
          <p:cNvSpPr txBox="1"/>
          <p:nvPr/>
        </p:nvSpPr>
        <p:spPr>
          <a:xfrm>
            <a:off x="6875105" y="1888246"/>
            <a:ext cx="4478695" cy="14773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Cross product (A X B) is the set of all unique tuples in A,B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{a,b,c} X {1,2}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= {(a,1), (a,2), (b,1), (b,2), (c,1), (c,2)}</a:t>
            </a:r>
            <a:endParaRPr/>
          </a:p>
        </p:txBody>
      </p:sp>
      <p:sp>
        <p:nvSpPr>
          <p:cNvPr id="524" name="Google Shape;524;p55"/>
          <p:cNvSpPr txBox="1"/>
          <p:nvPr/>
        </p:nvSpPr>
        <p:spPr>
          <a:xfrm>
            <a:off x="6875105" y="3693743"/>
            <a:ext cx="150781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Filtering!</a:t>
            </a:r>
            <a:endParaRPr/>
          </a:p>
        </p:txBody>
      </p:sp>
      <p:sp>
        <p:nvSpPr>
          <p:cNvPr id="525" name="Google Shape;525;p55"/>
          <p:cNvSpPr txBox="1"/>
          <p:nvPr/>
        </p:nvSpPr>
        <p:spPr>
          <a:xfrm>
            <a:off x="6875105" y="4793117"/>
            <a:ext cx="3541892" cy="40011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Returning only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attributes</a:t>
            </a:r>
            <a:endParaRPr/>
          </a:p>
        </p:txBody>
      </p:sp>
      <p:sp>
        <p:nvSpPr>
          <p:cNvPr id="526" name="Google Shape;526;p55"/>
          <p:cNvSpPr txBox="1"/>
          <p:nvPr/>
        </p:nvSpPr>
        <p:spPr>
          <a:xfrm>
            <a:off x="2921575" y="6013589"/>
            <a:ext cx="6348850" cy="707886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Remembering this order is critical to understanding the output of certain queries (see later on…)</a:t>
            </a:r>
            <a:endParaRPr/>
          </a:p>
        </p:txBody>
      </p:sp>
      <p:sp>
        <p:nvSpPr>
          <p:cNvPr id="527" name="Google Shape;527;p55"/>
          <p:cNvSpPr txBox="1"/>
          <p:nvPr/>
        </p:nvSpPr>
        <p:spPr>
          <a:xfrm>
            <a:off x="923731" y="1991625"/>
            <a:ext cx="6979298" cy="36009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Note: we say “semantics” not “execution order”</a:t>
            </a:r>
            <a:endParaRPr/>
          </a:p>
        </p:txBody>
      </p:sp>
      <p:sp>
        <p:nvSpPr>
          <p:cNvPr id="533" name="Google Shape;533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preceding slides show </a:t>
            </a:r>
            <a:r>
              <a:rPr i="1" lang="en-US"/>
              <a:t>what a join means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actually how the DBMS executes it under the covers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Subtlety about Joins</a:t>
            </a:r>
            <a:endParaRPr/>
          </a:p>
        </p:txBody>
      </p:sp>
      <p:sp>
        <p:nvSpPr>
          <p:cNvPr id="540" name="Google Shape;54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p57"/>
          <p:cNvSpPr/>
          <p:nvPr/>
        </p:nvSpPr>
        <p:spPr>
          <a:xfrm>
            <a:off x="4953000" y="2760008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42" name="Google Shape;542;p57"/>
          <p:cNvSpPr/>
          <p:nvPr/>
        </p:nvSpPr>
        <p:spPr>
          <a:xfrm>
            <a:off x="2704714" y="3218829"/>
            <a:ext cx="6573819" cy="967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countries that manufacture some product in the ‘Gadgets’ category.</a:t>
            </a:r>
            <a:endParaRPr/>
          </a:p>
        </p:txBody>
      </p:sp>
      <p:sp>
        <p:nvSpPr>
          <p:cNvPr id="543" name="Google Shape;543;p57"/>
          <p:cNvSpPr/>
          <p:nvPr/>
        </p:nvSpPr>
        <p:spPr>
          <a:xfrm>
            <a:off x="2233404" y="4523209"/>
            <a:ext cx="7725192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Country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Manufacturer=CName AND Category=‘Gadgets’</a:t>
            </a:r>
            <a:endParaRPr/>
          </a:p>
        </p:txBody>
      </p:sp>
      <p:sp>
        <p:nvSpPr>
          <p:cNvPr id="544" name="Google Shape;544;p57"/>
          <p:cNvSpPr/>
          <p:nvPr/>
        </p:nvSpPr>
        <p:spPr>
          <a:xfrm>
            <a:off x="2418221" y="1782787"/>
            <a:ext cx="735555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Price, Category, Manufacturer)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StockPrice, Country)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 txBox="1"/>
          <p:nvPr>
            <p:ph type="title"/>
          </p:nvPr>
        </p:nvSpPr>
        <p:spPr>
          <a:xfrm>
            <a:off x="1905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subtlety about Joins</a:t>
            </a:r>
            <a:endParaRPr/>
          </a:p>
        </p:txBody>
      </p:sp>
      <p:sp>
        <p:nvSpPr>
          <p:cNvPr id="551" name="Google Shape;551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52" name="Google Shape;552;p58"/>
          <p:cNvGraphicFramePr/>
          <p:nvPr/>
        </p:nvGraphicFramePr>
        <p:xfrm>
          <a:off x="1819835" y="19118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363450"/>
                <a:gridCol w="649250"/>
                <a:gridCol w="1298525"/>
                <a:gridCol w="973900"/>
              </a:tblGrid>
              <a:tr h="31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Manuf</a:t>
                      </a:r>
                      <a:endParaRPr b="0" i="0" sz="16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Powergizmo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MultiTouch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Household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3" name="Google Shape;553;p58"/>
          <p:cNvSpPr txBox="1"/>
          <p:nvPr/>
        </p:nvSpPr>
        <p:spPr>
          <a:xfrm>
            <a:off x="1819835" y="1424627"/>
            <a:ext cx="11649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554" name="Google Shape;554;p58"/>
          <p:cNvSpPr txBox="1"/>
          <p:nvPr/>
        </p:nvSpPr>
        <p:spPr>
          <a:xfrm>
            <a:off x="7112774" y="1450219"/>
            <a:ext cx="13644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/>
          </a:p>
        </p:txBody>
      </p:sp>
      <p:graphicFrame>
        <p:nvGraphicFramePr>
          <p:cNvPr id="555" name="Google Shape;555;p58"/>
          <p:cNvGraphicFramePr/>
          <p:nvPr/>
        </p:nvGraphicFramePr>
        <p:xfrm>
          <a:off x="7124700" y="19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973825"/>
                <a:gridCol w="649225"/>
                <a:gridCol w="1082050"/>
              </a:tblGrid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Cname</a:t>
                      </a:r>
                      <a:endParaRPr b="0" i="0" sz="16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GWorks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Hitachi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6" name="Google Shape;556;p58"/>
          <p:cNvGraphicFramePr/>
          <p:nvPr/>
        </p:nvGraphicFramePr>
        <p:xfrm>
          <a:off x="7391400" y="4421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2171700"/>
              </a:tblGrid>
              <a:tr h="1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7" name="Google Shape;557;p58"/>
          <p:cNvSpPr/>
          <p:nvPr/>
        </p:nvSpPr>
        <p:spPr>
          <a:xfrm>
            <a:off x="8293770" y="3630137"/>
            <a:ext cx="366960" cy="458629"/>
          </a:xfrm>
          <a:prstGeom prst="downArrow">
            <a:avLst>
              <a:gd fmla="val 50000" name="adj1"/>
              <a:gd fmla="val 5024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8" name="Google Shape;558;p58"/>
          <p:cNvCxnSpPr/>
          <p:nvPr/>
        </p:nvCxnSpPr>
        <p:spPr>
          <a:xfrm flipH="1" rot="10800000">
            <a:off x="6096000" y="2414636"/>
            <a:ext cx="1028700" cy="417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58"/>
          <p:cNvCxnSpPr/>
          <p:nvPr/>
        </p:nvCxnSpPr>
        <p:spPr>
          <a:xfrm flipH="1" rot="10800000">
            <a:off x="6096000" y="2784532"/>
            <a:ext cx="1028700" cy="425400"/>
          </a:xfrm>
          <a:prstGeom prst="bentConnector3">
            <a:avLst>
              <a:gd fmla="val 6359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58"/>
          <p:cNvCxnSpPr/>
          <p:nvPr/>
        </p:nvCxnSpPr>
        <p:spPr>
          <a:xfrm flipH="1" rot="10800000">
            <a:off x="6096000" y="3122545"/>
            <a:ext cx="1028700" cy="567000"/>
          </a:xfrm>
          <a:prstGeom prst="bentConnector3">
            <a:avLst>
              <a:gd fmla="val 86601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1" name="Google Shape;561;p58"/>
          <p:cNvSpPr/>
          <p:nvPr/>
        </p:nvSpPr>
        <p:spPr>
          <a:xfrm>
            <a:off x="1869518" y="4421326"/>
            <a:ext cx="4185761" cy="13234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Country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Company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Manufacturer=Cname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AND Category=‘Gadgets’</a:t>
            </a:r>
            <a:endParaRPr/>
          </a:p>
        </p:txBody>
      </p:sp>
      <p:sp>
        <p:nvSpPr>
          <p:cNvPr id="562" name="Google Shape;562;p58"/>
          <p:cNvSpPr txBox="1"/>
          <p:nvPr/>
        </p:nvSpPr>
        <p:spPr>
          <a:xfrm>
            <a:off x="1905000" y="5943600"/>
            <a:ext cx="4114800" cy="72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problem ?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What’s the solution ?</a:t>
            </a:r>
            <a:endParaRPr/>
          </a:p>
        </p:txBody>
      </p:sp>
      <p:sp>
        <p:nvSpPr>
          <p:cNvPr id="563" name="Google Shape;563;p58"/>
          <p:cNvSpPr/>
          <p:nvPr/>
        </p:nvSpPr>
        <p:spPr>
          <a:xfrm>
            <a:off x="3829722" y="2269533"/>
            <a:ext cx="1290918" cy="797859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4" name="Google Shape;564;p58"/>
          <p:cNvCxnSpPr/>
          <p:nvPr/>
        </p:nvCxnSpPr>
        <p:spPr>
          <a:xfrm>
            <a:off x="6096000" y="2414762"/>
            <a:ext cx="1028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9"/>
          <p:cNvSpPr txBox="1"/>
          <p:nvPr>
            <p:ph type="ctrTitle"/>
          </p:nvPr>
        </p:nvSpPr>
        <p:spPr>
          <a:xfrm>
            <a:off x="1524000" y="185194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Lecture 3: SQL Part II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Set Operators &amp; Nested Queries</a:t>
            </a:r>
            <a:endParaRPr/>
          </a:p>
        </p:txBody>
      </p:sp>
      <p:sp>
        <p:nvSpPr>
          <p:cNvPr id="576" name="Google Shape;576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583" name="Google Shape;583;p61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Multiset operators in SQL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Nested queries</a:t>
            </a:r>
            <a:endParaRPr/>
          </a:p>
        </p:txBody>
      </p:sp>
      <p:sp>
        <p:nvSpPr>
          <p:cNvPr id="584" name="Google Shape;58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 txBox="1"/>
          <p:nvPr>
            <p:ph type="title"/>
          </p:nvPr>
        </p:nvSpPr>
        <p:spPr>
          <a:xfrm>
            <a:off x="838200" y="179305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Multiset Operations</a:t>
            </a:r>
            <a:endParaRPr/>
          </a:p>
        </p:txBody>
      </p:sp>
      <p:sp>
        <p:nvSpPr>
          <p:cNvPr id="590" name="Google Shape;59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62"/>
          <p:cNvSpPr txBox="1"/>
          <p:nvPr/>
        </p:nvSpPr>
        <p:spPr>
          <a:xfrm>
            <a:off x="2225407" y="591605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 Multisets</a:t>
            </a:r>
            <a:endParaRPr/>
          </a:p>
        </p:txBody>
      </p:sp>
      <p:sp>
        <p:nvSpPr>
          <p:cNvPr id="597" name="Google Shape;59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98" name="Google Shape;598;p63"/>
          <p:cNvGraphicFramePr/>
          <p:nvPr/>
        </p:nvGraphicFramePr>
        <p:xfrm>
          <a:off x="2222041" y="1966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1045675"/>
              </a:tblGrid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b)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d)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d)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9" name="Google Shape;599;p63"/>
          <p:cNvGraphicFramePr/>
          <p:nvPr/>
        </p:nvGraphicFramePr>
        <p:xfrm>
          <a:off x="7767504" y="2579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00" name="Google Shape;600;p63"/>
          <p:cNvSpPr/>
          <p:nvPr/>
        </p:nvSpPr>
        <p:spPr>
          <a:xfrm>
            <a:off x="4939229" y="3316076"/>
            <a:ext cx="1156771" cy="462709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3"/>
          <p:cNvSpPr txBox="1"/>
          <p:nvPr/>
        </p:nvSpPr>
        <p:spPr>
          <a:xfrm>
            <a:off x="4371860" y="4040427"/>
            <a:ext cx="2291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 Representations of 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</a:t>
            </a:r>
            <a:endParaRPr b="1"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63"/>
          <p:cNvSpPr txBox="1"/>
          <p:nvPr/>
        </p:nvSpPr>
        <p:spPr>
          <a:xfrm>
            <a:off x="7767504" y="2103978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sp>
        <p:nvSpPr>
          <p:cNvPr id="603" name="Google Shape;603;p63"/>
          <p:cNvSpPr txBox="1"/>
          <p:nvPr/>
        </p:nvSpPr>
        <p:spPr>
          <a:xfrm>
            <a:off x="2131285" y="1566384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sp>
        <p:nvSpPr>
          <p:cNvPr id="604" name="Google Shape;604;p63"/>
          <p:cNvSpPr txBox="1"/>
          <p:nvPr/>
        </p:nvSpPr>
        <p:spPr>
          <a:xfrm>
            <a:off x="7988412" y="5404174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In a set all counts are {0,1}.</a:t>
            </a:r>
            <a:endParaRPr/>
          </a:p>
        </p:txBody>
      </p:sp>
      <p:sp>
        <p:nvSpPr>
          <p:cNvPr id="605" name="Google Shape;605;p63"/>
          <p:cNvSpPr txBox="1"/>
          <p:nvPr/>
        </p:nvSpPr>
        <p:spPr>
          <a:xfrm>
            <a:off x="7767504" y="676049"/>
            <a:ext cx="3557265" cy="12003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Generalizing Set Operations to Multiset Operations</a:t>
            </a:r>
            <a:endParaRPr/>
          </a:p>
        </p:txBody>
      </p:sp>
      <p:sp>
        <p:nvSpPr>
          <p:cNvPr id="611" name="Google Shape;61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12" name="Google Shape;612;p64"/>
          <p:cNvGraphicFramePr/>
          <p:nvPr/>
        </p:nvGraphicFramePr>
        <p:xfrm>
          <a:off x="83820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13" name="Google Shape;613;p64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graphicFrame>
        <p:nvGraphicFramePr>
          <p:cNvPr id="614" name="Google Shape;614;p64"/>
          <p:cNvGraphicFramePr/>
          <p:nvPr/>
        </p:nvGraphicFramePr>
        <p:xfrm>
          <a:off x="4796163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15" name="Google Shape;615;p64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Y</a:t>
            </a:r>
            <a:endParaRPr/>
          </a:p>
        </p:txBody>
      </p:sp>
      <p:graphicFrame>
        <p:nvGraphicFramePr>
          <p:cNvPr id="616" name="Google Shape;616;p64"/>
          <p:cNvGraphicFramePr/>
          <p:nvPr/>
        </p:nvGraphicFramePr>
        <p:xfrm>
          <a:off x="883155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17" name="Google Shape;617;p64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Z</a:t>
            </a:r>
            <a:endParaRPr/>
          </a:p>
        </p:txBody>
      </p:sp>
      <p:sp>
        <p:nvSpPr>
          <p:cNvPr id="618" name="Google Shape;618;p64"/>
          <p:cNvSpPr txBox="1"/>
          <p:nvPr/>
        </p:nvSpPr>
        <p:spPr>
          <a:xfrm>
            <a:off x="3802830" y="3056289"/>
            <a:ext cx="628377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9" name="Google Shape;619;p64"/>
          <p:cNvSpPr txBox="1"/>
          <p:nvPr/>
        </p:nvSpPr>
        <p:spPr>
          <a:xfrm>
            <a:off x="7760793" y="3056289"/>
            <a:ext cx="67486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0" name="Google Shape;620;p64"/>
          <p:cNvSpPr/>
          <p:nvPr/>
        </p:nvSpPr>
        <p:spPr>
          <a:xfrm>
            <a:off x="4061981" y="5252887"/>
            <a:ext cx="4068037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1" name="Google Shape;621;p64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sets, this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Generalizing Set Operations to Multiset Operations</a:t>
            </a:r>
            <a:endParaRPr/>
          </a:p>
        </p:txBody>
      </p:sp>
      <p:sp>
        <p:nvSpPr>
          <p:cNvPr id="627" name="Google Shape;62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28" name="Google Shape;628;p65"/>
          <p:cNvGraphicFramePr/>
          <p:nvPr/>
        </p:nvGraphicFramePr>
        <p:xfrm>
          <a:off x="83820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9" name="Google Shape;629;p65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graphicFrame>
        <p:nvGraphicFramePr>
          <p:cNvPr id="630" name="Google Shape;630;p65"/>
          <p:cNvGraphicFramePr/>
          <p:nvPr/>
        </p:nvGraphicFramePr>
        <p:xfrm>
          <a:off x="4796163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31" name="Google Shape;631;p65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Y</a:t>
            </a:r>
            <a:endParaRPr/>
          </a:p>
        </p:txBody>
      </p:sp>
      <p:graphicFrame>
        <p:nvGraphicFramePr>
          <p:cNvPr id="632" name="Google Shape;632;p65"/>
          <p:cNvGraphicFramePr/>
          <p:nvPr/>
        </p:nvGraphicFramePr>
        <p:xfrm>
          <a:off x="883155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{71EB9A70-A845-4ED3-AFC4-C9D56260D424}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33" name="Google Shape;633;p65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Z</a:t>
            </a:r>
            <a:endParaRPr/>
          </a:p>
        </p:txBody>
      </p:sp>
      <p:sp>
        <p:nvSpPr>
          <p:cNvPr id="634" name="Google Shape;634;p65"/>
          <p:cNvSpPr txBox="1"/>
          <p:nvPr/>
        </p:nvSpPr>
        <p:spPr>
          <a:xfrm>
            <a:off x="3777553" y="2810068"/>
            <a:ext cx="628377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5" name="Google Shape;635;p65"/>
          <p:cNvSpPr txBox="1"/>
          <p:nvPr/>
        </p:nvSpPr>
        <p:spPr>
          <a:xfrm>
            <a:off x="7760793" y="3056289"/>
            <a:ext cx="67486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6" name="Google Shape;636;p65"/>
          <p:cNvSpPr/>
          <p:nvPr/>
        </p:nvSpPr>
        <p:spPr>
          <a:xfrm>
            <a:off x="4374407" y="5297258"/>
            <a:ext cx="3443186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7" name="Google Shape;637;p65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sets,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Multiset Operations in SQL</a:t>
            </a:r>
            <a:endParaRPr/>
          </a:p>
        </p:txBody>
      </p:sp>
      <p:sp>
        <p:nvSpPr>
          <p:cNvPr id="643" name="Google Shape;64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66"/>
          <p:cNvSpPr txBox="1"/>
          <p:nvPr/>
        </p:nvSpPr>
        <p:spPr>
          <a:xfrm>
            <a:off x="2225407" y="591605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Explicit Set Operators: INTERSECT</a:t>
            </a:r>
            <a:endParaRPr/>
          </a:p>
        </p:txBody>
      </p:sp>
      <p:sp>
        <p:nvSpPr>
          <p:cNvPr id="650" name="Google Shape;65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67"/>
          <p:cNvSpPr txBox="1"/>
          <p:nvPr/>
        </p:nvSpPr>
        <p:spPr>
          <a:xfrm>
            <a:off x="1308704" y="2283268"/>
            <a:ext cx="294008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R.A=T.A</a:t>
            </a:r>
            <a:endParaRPr/>
          </a:p>
        </p:txBody>
      </p:sp>
      <p:cxnSp>
        <p:nvCxnSpPr>
          <p:cNvPr id="652" name="Google Shape;652;p67"/>
          <p:cNvCxnSpPr/>
          <p:nvPr/>
        </p:nvCxnSpPr>
        <p:spPr>
          <a:xfrm>
            <a:off x="6744800" y="3582527"/>
            <a:ext cx="0" cy="87141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53" name="Google Shape;653;p67"/>
          <p:cNvGrpSpPr/>
          <p:nvPr/>
        </p:nvGrpSpPr>
        <p:grpSpPr>
          <a:xfrm>
            <a:off x="5588059" y="3955228"/>
            <a:ext cx="2305614" cy="1381688"/>
            <a:chOff x="8905312" y="3952260"/>
            <a:chExt cx="2305614" cy="1381688"/>
          </a:xfrm>
        </p:grpSpPr>
        <p:sp>
          <p:nvSpPr>
            <p:cNvPr id="654" name="Google Shape;654;p67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55" name="Google Shape;655;p67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656" name="Google Shape;656;p67"/>
          <p:cNvSpPr txBox="1"/>
          <p:nvPr/>
        </p:nvSpPr>
        <p:spPr>
          <a:xfrm>
            <a:off x="5338549" y="3257677"/>
            <a:ext cx="3647793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6069" l="0" r="-1838" t="-1434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7" name="Google Shape;657;p67"/>
          <p:cNvSpPr txBox="1"/>
          <p:nvPr/>
        </p:nvSpPr>
        <p:spPr>
          <a:xfrm>
            <a:off x="4124325" y="6067425"/>
            <a:ext cx="3420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http://sqlfiddle.com/#!17/96ef0/9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UNION</a:t>
            </a:r>
            <a:endParaRPr/>
          </a:p>
        </p:txBody>
      </p:sp>
      <p:sp>
        <p:nvSpPr>
          <p:cNvPr id="663" name="Google Shape;663;p68"/>
          <p:cNvSpPr txBox="1"/>
          <p:nvPr>
            <p:ph idx="12" type="sldNum"/>
          </p:nvPr>
        </p:nvSpPr>
        <p:spPr>
          <a:xfrm>
            <a:off x="8685551" y="422774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4" name="Google Shape;664;p68"/>
          <p:cNvSpPr txBox="1"/>
          <p:nvPr/>
        </p:nvSpPr>
        <p:spPr>
          <a:xfrm>
            <a:off x="1243025" y="2280300"/>
            <a:ext cx="294008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R.A=T.A</a:t>
            </a:r>
            <a:endParaRPr/>
          </a:p>
        </p:txBody>
      </p:sp>
      <p:grpSp>
        <p:nvGrpSpPr>
          <p:cNvPr id="665" name="Google Shape;665;p68"/>
          <p:cNvGrpSpPr/>
          <p:nvPr/>
        </p:nvGrpSpPr>
        <p:grpSpPr>
          <a:xfrm>
            <a:off x="5597331" y="1823656"/>
            <a:ext cx="2305614" cy="1381688"/>
            <a:chOff x="8905312" y="3952260"/>
            <a:chExt cx="2305614" cy="1381688"/>
          </a:xfrm>
        </p:grpSpPr>
        <p:sp>
          <p:nvSpPr>
            <p:cNvPr id="666" name="Google Shape;666;p68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67" name="Google Shape;667;p68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668" name="Google Shape;668;p68"/>
          <p:cNvSpPr txBox="1"/>
          <p:nvPr/>
        </p:nvSpPr>
        <p:spPr>
          <a:xfrm>
            <a:off x="5347821" y="1384379"/>
            <a:ext cx="3646704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6069" l="0" r="-1838" t="-1434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68"/>
          <p:cNvSpPr txBox="1"/>
          <p:nvPr/>
        </p:nvSpPr>
        <p:spPr>
          <a:xfrm>
            <a:off x="8548147" y="1940360"/>
            <a:ext cx="2667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aren’t there duplicates?</a:t>
            </a:r>
            <a:endParaRPr/>
          </a:p>
        </p:txBody>
      </p:sp>
      <p:sp>
        <p:nvSpPr>
          <p:cNvPr id="670" name="Google Shape;670;p68"/>
          <p:cNvSpPr txBox="1"/>
          <p:nvPr/>
        </p:nvSpPr>
        <p:spPr>
          <a:xfrm>
            <a:off x="8548147" y="3083360"/>
            <a:ext cx="339901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uses set semantics!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want duplicates?</a:t>
            </a:r>
            <a:endParaRPr/>
          </a:p>
        </p:txBody>
      </p:sp>
      <p:sp>
        <p:nvSpPr>
          <p:cNvPr id="671" name="Google Shape;671;p68"/>
          <p:cNvSpPr txBox="1"/>
          <p:nvPr/>
        </p:nvSpPr>
        <p:spPr>
          <a:xfrm>
            <a:off x="4286250" y="616596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http://sqlfiddle.com/#!17/96ef0/9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UNION ALL</a:t>
            </a:r>
            <a:endParaRPr/>
          </a:p>
        </p:txBody>
      </p:sp>
      <p:sp>
        <p:nvSpPr>
          <p:cNvPr id="677" name="Google Shape;67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" name="Google Shape;678;p69"/>
          <p:cNvSpPr txBox="1"/>
          <p:nvPr/>
        </p:nvSpPr>
        <p:spPr>
          <a:xfrm>
            <a:off x="1247799" y="2280300"/>
            <a:ext cx="294008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 ALL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R.A=T.A</a:t>
            </a:r>
            <a:endParaRPr/>
          </a:p>
        </p:txBody>
      </p:sp>
      <p:grpSp>
        <p:nvGrpSpPr>
          <p:cNvPr id="679" name="Google Shape;679;p69"/>
          <p:cNvGrpSpPr/>
          <p:nvPr/>
        </p:nvGrpSpPr>
        <p:grpSpPr>
          <a:xfrm>
            <a:off x="5527154" y="3952260"/>
            <a:ext cx="2305614" cy="1381688"/>
            <a:chOff x="8905312" y="3952260"/>
            <a:chExt cx="2305614" cy="1381688"/>
          </a:xfrm>
        </p:grpSpPr>
        <p:sp>
          <p:nvSpPr>
            <p:cNvPr id="680" name="Google Shape;680;p69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81" name="Google Shape;681;p69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682" name="Google Shape;682;p69"/>
          <p:cNvSpPr txBox="1"/>
          <p:nvPr/>
        </p:nvSpPr>
        <p:spPr>
          <a:xfrm>
            <a:off x="5277644" y="3512983"/>
            <a:ext cx="3646704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6069" l="0" r="-1838" t="-1434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3" name="Google Shape;683;p69"/>
          <p:cNvSpPr txBox="1"/>
          <p:nvPr/>
        </p:nvSpPr>
        <p:spPr>
          <a:xfrm>
            <a:off x="8610600" y="4257056"/>
            <a:ext cx="2301342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indicates Multiset operations</a:t>
            </a:r>
            <a:endParaRPr/>
          </a:p>
        </p:txBody>
      </p:sp>
      <p:sp>
        <p:nvSpPr>
          <p:cNvPr id="684" name="Google Shape;684;p69"/>
          <p:cNvSpPr txBox="1"/>
          <p:nvPr/>
        </p:nvSpPr>
        <p:spPr>
          <a:xfrm>
            <a:off x="3790950" y="617168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http://sqlfiddle.com/#!17/96ef0/9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EXCEPT</a:t>
            </a:r>
            <a:endParaRPr/>
          </a:p>
        </p:txBody>
      </p:sp>
      <p:sp>
        <p:nvSpPr>
          <p:cNvPr id="691" name="Google Shape;691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70"/>
          <p:cNvSpPr txBox="1"/>
          <p:nvPr/>
        </p:nvSpPr>
        <p:spPr>
          <a:xfrm>
            <a:off x="1259420" y="2280300"/>
            <a:ext cx="294008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EXCEPT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R.A=T.A</a:t>
            </a:r>
            <a:endParaRPr/>
          </a:p>
        </p:txBody>
      </p:sp>
      <p:grpSp>
        <p:nvGrpSpPr>
          <p:cNvPr id="693" name="Google Shape;693;p70"/>
          <p:cNvGrpSpPr/>
          <p:nvPr/>
        </p:nvGrpSpPr>
        <p:grpSpPr>
          <a:xfrm>
            <a:off x="5538775" y="3952260"/>
            <a:ext cx="2305614" cy="1381688"/>
            <a:chOff x="8905312" y="3952260"/>
            <a:chExt cx="2305614" cy="1381688"/>
          </a:xfrm>
        </p:grpSpPr>
        <p:sp>
          <p:nvSpPr>
            <p:cNvPr id="694" name="Google Shape;694;p70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695" name="Google Shape;695;p70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aseline="-25000" lang="en-US" sz="1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696" name="Google Shape;696;p70"/>
          <p:cNvSpPr txBox="1"/>
          <p:nvPr/>
        </p:nvSpPr>
        <p:spPr>
          <a:xfrm>
            <a:off x="5417705" y="3480628"/>
            <a:ext cx="345062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2202" l="0" r="-1940" t="-1466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7" name="Google Shape;697;p70"/>
          <p:cNvSpPr txBox="1"/>
          <p:nvPr/>
        </p:nvSpPr>
        <p:spPr>
          <a:xfrm>
            <a:off x="8531975" y="4356636"/>
            <a:ext cx="2821825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multiset version?</a:t>
            </a:r>
            <a:endParaRPr/>
          </a:p>
        </p:txBody>
      </p:sp>
      <p:sp>
        <p:nvSpPr>
          <p:cNvPr id="698" name="Google Shape;698;p70"/>
          <p:cNvSpPr txBox="1"/>
          <p:nvPr/>
        </p:nvSpPr>
        <p:spPr>
          <a:xfrm>
            <a:off x="3872463" y="612354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http://sqlfiddle.com/#!17/96ef0/9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INTERSECT: Still some subtle problems…</a:t>
            </a:r>
            <a:endParaRPr/>
          </a:p>
        </p:txBody>
      </p:sp>
      <p:sp>
        <p:nvSpPr>
          <p:cNvPr id="704" name="Google Shape;704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5" name="Google Shape;705;p71"/>
          <p:cNvSpPr/>
          <p:nvPr/>
        </p:nvSpPr>
        <p:spPr>
          <a:xfrm>
            <a:off x="1676400" y="1589048"/>
            <a:ext cx="5416868" cy="70788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hq_city)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maker, factory_loc)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1"/>
          <p:cNvSpPr txBox="1"/>
          <p:nvPr/>
        </p:nvSpPr>
        <p:spPr>
          <a:xfrm>
            <a:off x="1676400" y="2592358"/>
            <a:ext cx="5416868" cy="28623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hq_city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AND factory_loc = ‘US’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hq_city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AND factory_loc = ‘China’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71"/>
          <p:cNvSpPr txBox="1"/>
          <p:nvPr/>
        </p:nvSpPr>
        <p:spPr>
          <a:xfrm>
            <a:off x="2171700" y="5714640"/>
            <a:ext cx="7848600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two companies have HQ in US: BUT one has factory in China (but not US) and vice versa?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goes wrong?</a:t>
            </a:r>
            <a:endParaRPr/>
          </a:p>
        </p:txBody>
      </p:sp>
      <p:sp>
        <p:nvSpPr>
          <p:cNvPr id="708" name="Google Shape;708;p71"/>
          <p:cNvSpPr txBox="1"/>
          <p:nvPr/>
        </p:nvSpPr>
        <p:spPr>
          <a:xfrm>
            <a:off x="7785100" y="2592358"/>
            <a:ext cx="30099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“Headquarters of companies which make gizmos in US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China”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INTERSECT: Remember the semantics!</a:t>
            </a:r>
            <a:endParaRPr/>
          </a:p>
        </p:txBody>
      </p:sp>
      <p:sp>
        <p:nvSpPr>
          <p:cNvPr id="714" name="Google Shape;714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5" name="Google Shape;715;p72"/>
          <p:cNvSpPr/>
          <p:nvPr/>
        </p:nvSpPr>
        <p:spPr>
          <a:xfrm>
            <a:off x="468985" y="1589048"/>
            <a:ext cx="3975693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1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hq_city) AS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1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maker, factory_loc) AS 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72"/>
          <p:cNvSpPr txBox="1"/>
          <p:nvPr/>
        </p:nvSpPr>
        <p:spPr>
          <a:xfrm>
            <a:off x="468986" y="2755572"/>
            <a:ext cx="3547430" cy="25853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hq_city</a:t>
            </a:r>
            <a:endParaRPr sz="1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factory_loc=‘US’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hq_city</a:t>
            </a:r>
            <a:endParaRPr sz="1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factory_loc=‘China’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2"/>
          <p:cNvSpPr txBox="1"/>
          <p:nvPr/>
        </p:nvSpPr>
        <p:spPr>
          <a:xfrm>
            <a:off x="4960396" y="1409035"/>
            <a:ext cx="48347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 C  JOIN  P on maker = name</a:t>
            </a:r>
            <a:endParaRPr/>
          </a:p>
        </p:txBody>
      </p:sp>
      <p:graphicFrame>
        <p:nvGraphicFramePr>
          <p:cNvPr id="718" name="Google Shape;718;p72"/>
          <p:cNvGraphicFramePr/>
          <p:nvPr/>
        </p:nvGraphicFramePr>
        <p:xfrm>
          <a:off x="4960396" y="187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{85E62EB5-318A-465F-9588-BD705BE6A5AA}</a:tableStyleId>
              </a:tblPr>
              <a:tblGrid>
                <a:gridCol w="1350625"/>
                <a:gridCol w="1350625"/>
                <a:gridCol w="1350625"/>
                <a:gridCol w="1266000"/>
                <a:gridCol w="1435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C.hq_city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P.pname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P.maker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P.factory_loc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Co.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Seattle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Co.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U.S.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 Inc.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Seattle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r>
                        <a:rPr lang="en-US" sz="1800"/>
                        <a:t> Inc.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9" name="Google Shape;719;p72"/>
          <p:cNvSpPr/>
          <p:nvPr/>
        </p:nvSpPr>
        <p:spPr>
          <a:xfrm>
            <a:off x="370390" y="3078866"/>
            <a:ext cx="3738623" cy="868101"/>
          </a:xfrm>
          <a:prstGeom prst="roundRect">
            <a:avLst>
              <a:gd fmla="val 16667" name="adj"/>
            </a:avLst>
          </a:prstGeom>
          <a:solidFill>
            <a:schemeClr val="accent1">
              <a:alpha val="29803"/>
            </a:scheme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72"/>
          <p:cNvSpPr/>
          <p:nvPr/>
        </p:nvSpPr>
        <p:spPr>
          <a:xfrm>
            <a:off x="373389" y="4438069"/>
            <a:ext cx="3738623" cy="868101"/>
          </a:xfrm>
          <a:prstGeom prst="roundRect">
            <a:avLst>
              <a:gd fmla="val 16667" name="adj"/>
            </a:avLst>
          </a:prstGeom>
          <a:solidFill>
            <a:srgbClr val="C00000">
              <a:alpha val="29803"/>
            </a:srgbClr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72"/>
          <p:cNvSpPr/>
          <p:nvPr/>
        </p:nvSpPr>
        <p:spPr>
          <a:xfrm>
            <a:off x="4871977" y="2210766"/>
            <a:ext cx="6934200" cy="416688"/>
          </a:xfrm>
          <a:prstGeom prst="roundRect">
            <a:avLst>
              <a:gd fmla="val 16667" name="adj"/>
            </a:avLst>
          </a:prstGeom>
          <a:solidFill>
            <a:schemeClr val="accent1">
              <a:alpha val="29803"/>
            </a:scheme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72"/>
          <p:cNvSpPr/>
          <p:nvPr/>
        </p:nvSpPr>
        <p:spPr>
          <a:xfrm>
            <a:off x="4867799" y="2627454"/>
            <a:ext cx="6938378" cy="429202"/>
          </a:xfrm>
          <a:prstGeom prst="roundRect">
            <a:avLst>
              <a:gd fmla="val 16667" name="adj"/>
            </a:avLst>
          </a:prstGeom>
          <a:solidFill>
            <a:srgbClr val="C00000">
              <a:alpha val="29803"/>
            </a:srgbClr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INTERSECT: Remember the semantics!</a:t>
            </a:r>
            <a:endParaRPr/>
          </a:p>
        </p:txBody>
      </p:sp>
      <p:sp>
        <p:nvSpPr>
          <p:cNvPr id="728" name="Google Shape;728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73"/>
          <p:cNvSpPr/>
          <p:nvPr/>
        </p:nvSpPr>
        <p:spPr>
          <a:xfrm>
            <a:off x="468985" y="1589048"/>
            <a:ext cx="3975693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1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hq_city) AS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18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maker, factory_loc) AS 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73"/>
          <p:cNvSpPr txBox="1"/>
          <p:nvPr/>
        </p:nvSpPr>
        <p:spPr>
          <a:xfrm>
            <a:off x="468986" y="2755572"/>
            <a:ext cx="3547430" cy="258532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hq_city</a:t>
            </a:r>
            <a:endParaRPr sz="1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factory_loc=‘US’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hq_city</a:t>
            </a:r>
            <a:endParaRPr sz="1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factory_loc=‘China’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3"/>
          <p:cNvSpPr txBox="1"/>
          <p:nvPr/>
        </p:nvSpPr>
        <p:spPr>
          <a:xfrm>
            <a:off x="4960396" y="1409035"/>
            <a:ext cx="49950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 C  JOIN  P on maker = name</a:t>
            </a:r>
            <a:endParaRPr/>
          </a:p>
        </p:txBody>
      </p:sp>
      <p:graphicFrame>
        <p:nvGraphicFramePr>
          <p:cNvPr id="732" name="Google Shape;732;p73"/>
          <p:cNvGraphicFramePr/>
          <p:nvPr/>
        </p:nvGraphicFramePr>
        <p:xfrm>
          <a:off x="4960396" y="187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{85E62EB5-318A-465F-9588-BD705BE6A5AA}</a:tableStyleId>
              </a:tblPr>
              <a:tblGrid>
                <a:gridCol w="1350625"/>
                <a:gridCol w="1350625"/>
                <a:gridCol w="1350625"/>
                <a:gridCol w="1266000"/>
                <a:gridCol w="1435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C.hq_city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P.pname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P.maker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P.factory_loc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Co.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Seattle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Co.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U.S.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 Inc.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Seattle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r>
                        <a:rPr lang="en-US" sz="1800"/>
                        <a:t> Inc.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3" name="Google Shape;733;p73"/>
          <p:cNvSpPr/>
          <p:nvPr/>
        </p:nvSpPr>
        <p:spPr>
          <a:xfrm>
            <a:off x="370390" y="3078866"/>
            <a:ext cx="3738623" cy="868101"/>
          </a:xfrm>
          <a:prstGeom prst="roundRect">
            <a:avLst>
              <a:gd fmla="val 16667" name="adj"/>
            </a:avLst>
          </a:prstGeom>
          <a:solidFill>
            <a:schemeClr val="accent1">
              <a:alpha val="29803"/>
            </a:scheme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73"/>
          <p:cNvSpPr/>
          <p:nvPr/>
        </p:nvSpPr>
        <p:spPr>
          <a:xfrm>
            <a:off x="373389" y="4438069"/>
            <a:ext cx="3738623" cy="868101"/>
          </a:xfrm>
          <a:prstGeom prst="roundRect">
            <a:avLst>
              <a:gd fmla="val 16667" name="adj"/>
            </a:avLst>
          </a:prstGeom>
          <a:solidFill>
            <a:srgbClr val="C00000">
              <a:alpha val="29803"/>
            </a:srgbClr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73"/>
          <p:cNvSpPr/>
          <p:nvPr/>
        </p:nvSpPr>
        <p:spPr>
          <a:xfrm>
            <a:off x="4871977" y="2210766"/>
            <a:ext cx="6934200" cy="416688"/>
          </a:xfrm>
          <a:prstGeom prst="roundRect">
            <a:avLst>
              <a:gd fmla="val 16667" name="adj"/>
            </a:avLst>
          </a:prstGeom>
          <a:solidFill>
            <a:schemeClr val="accent1">
              <a:alpha val="29803"/>
            </a:scheme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4867799" y="2627454"/>
            <a:ext cx="6938378" cy="429202"/>
          </a:xfrm>
          <a:prstGeom prst="roundRect">
            <a:avLst>
              <a:gd fmla="val 16667" name="adj"/>
            </a:avLst>
          </a:prstGeom>
          <a:solidFill>
            <a:srgbClr val="C00000">
              <a:alpha val="29803"/>
            </a:srgbClr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49763" y="3661844"/>
            <a:ext cx="6174449" cy="156966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Co has a factory in the US (but not China)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Inc. has a factory in China (but not 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Seattle is returned by the query!</a:t>
            </a:r>
            <a:endParaRPr/>
          </a:p>
        </p:txBody>
      </p:sp>
      <p:sp>
        <p:nvSpPr>
          <p:cNvPr id="738" name="Google Shape;738;p73"/>
          <p:cNvSpPr txBox="1"/>
          <p:nvPr/>
        </p:nvSpPr>
        <p:spPr>
          <a:xfrm>
            <a:off x="2950369" y="5647750"/>
            <a:ext cx="3727048" cy="95410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did the INTERSECT on the wrong attributes!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Solution: </a:t>
            </a:r>
            <a:r>
              <a:rPr b="1" lang="en-US"/>
              <a:t>Nested Queries</a:t>
            </a:r>
            <a:endParaRPr/>
          </a:p>
        </p:txBody>
      </p:sp>
      <p:sp>
        <p:nvSpPr>
          <p:cNvPr id="744" name="Google Shape;744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5" name="Google Shape;745;p74"/>
          <p:cNvSpPr/>
          <p:nvPr/>
        </p:nvSpPr>
        <p:spPr>
          <a:xfrm>
            <a:off x="1676400" y="1589048"/>
            <a:ext cx="5416868" cy="70788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hq_city)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maker, factory_loc)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74"/>
          <p:cNvSpPr txBox="1"/>
          <p:nvPr/>
        </p:nvSpPr>
        <p:spPr>
          <a:xfrm>
            <a:off x="1676400" y="2592358"/>
            <a:ext cx="6540500" cy="34778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hq_city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name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maker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  	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	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factory_loc = ‘US’)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AND name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maker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  	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	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factory_loc = ‘China’)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74"/>
          <p:cNvSpPr txBox="1"/>
          <p:nvPr/>
        </p:nvSpPr>
        <p:spPr>
          <a:xfrm>
            <a:off x="8610600" y="1770546"/>
            <a:ext cx="30099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“Headquarters of companies which make gizmos in US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China”</a:t>
            </a:r>
            <a:endParaRPr/>
          </a:p>
        </p:txBody>
      </p:sp>
      <p:sp>
        <p:nvSpPr>
          <p:cNvPr id="748" name="Google Shape;748;p74"/>
          <p:cNvSpPr txBox="1"/>
          <p:nvPr/>
        </p:nvSpPr>
        <p:spPr>
          <a:xfrm>
            <a:off x="8727311" y="3946967"/>
            <a:ext cx="2893189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If we hadn’t used DISTINCT here, how many copies of each hq_city would have been returned?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High-level note on nested queries</a:t>
            </a:r>
            <a:endParaRPr/>
          </a:p>
        </p:txBody>
      </p:sp>
      <p:sp>
        <p:nvSpPr>
          <p:cNvPr id="754" name="Google Shape;754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 nested queries because SQL is </a:t>
            </a:r>
            <a:r>
              <a:rPr b="1" i="1" lang="en-US"/>
              <a:t>compositional: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Everything (inputs / outputs) is represented as multisets- the output of one query can thus be used as the input to another (nesting)!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</a:t>
            </a:r>
            <a:r>
              <a:rPr lang="en-US" u="sng"/>
              <a:t>extremely</a:t>
            </a:r>
            <a:r>
              <a:rPr lang="en-US"/>
              <a:t> powerful!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queries: Sub-queries Return Relations</a:t>
            </a:r>
            <a:endParaRPr/>
          </a:p>
        </p:txBody>
      </p:sp>
      <p:sp>
        <p:nvSpPr>
          <p:cNvPr id="761" name="Google Shape;761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2" name="Google Shape;762;p76"/>
          <p:cNvSpPr txBox="1"/>
          <p:nvPr/>
        </p:nvSpPr>
        <p:spPr>
          <a:xfrm>
            <a:off x="1281570" y="3436008"/>
            <a:ext cx="6756400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c.city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c.name  </a:t>
            </a:r>
            <a:r>
              <a:rPr lang="en-US" sz="24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pr.maker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 p, Product pr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p.product = pr.name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AND p.buyer = ‘Joe Blow‘)</a:t>
            </a:r>
            <a:endParaRPr/>
          </a:p>
        </p:txBody>
      </p:sp>
      <p:sp>
        <p:nvSpPr>
          <p:cNvPr id="763" name="Google Shape;763;p76"/>
          <p:cNvSpPr txBox="1"/>
          <p:nvPr/>
        </p:nvSpPr>
        <p:spPr>
          <a:xfrm>
            <a:off x="8901570" y="3436008"/>
            <a:ext cx="2452230" cy="238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“Cities where one   can find companies that manufacture products bought by Joe Blow”</a:t>
            </a:r>
            <a:endParaRPr/>
          </a:p>
        </p:txBody>
      </p:sp>
      <p:sp>
        <p:nvSpPr>
          <p:cNvPr id="764" name="Google Shape;764;p76"/>
          <p:cNvSpPr/>
          <p:nvPr/>
        </p:nvSpPr>
        <p:spPr>
          <a:xfrm>
            <a:off x="1981201" y="1823413"/>
            <a:ext cx="4493538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city)</a:t>
            </a:r>
            <a:b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maker)</a:t>
            </a:r>
            <a:b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Purchase(</a:t>
            </a:r>
            <a:r>
              <a:rPr lang="en-US" sz="20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product, buyer)</a:t>
            </a:r>
            <a:endParaRPr/>
          </a:p>
        </p:txBody>
      </p:sp>
      <p:sp>
        <p:nvSpPr>
          <p:cNvPr id="765" name="Google Shape;765;p76"/>
          <p:cNvSpPr txBox="1"/>
          <p:nvPr/>
        </p:nvSpPr>
        <p:spPr>
          <a:xfrm>
            <a:off x="533400" y="1823413"/>
            <a:ext cx="11556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Queries</a:t>
            </a:r>
            <a:endParaRPr/>
          </a:p>
        </p:txBody>
      </p:sp>
      <p:sp>
        <p:nvSpPr>
          <p:cNvPr id="772" name="Google Shape;772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3" name="Google Shape;773;p77"/>
          <p:cNvSpPr txBox="1"/>
          <p:nvPr/>
        </p:nvSpPr>
        <p:spPr>
          <a:xfrm>
            <a:off x="6366067" y="2453921"/>
            <a:ext cx="5391219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c.city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 c,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Product pr,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Purchase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c.name = pr.maker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 pr.name = p.product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 p.buyer = ‘Joe Blow’</a:t>
            </a:r>
            <a:endParaRPr/>
          </a:p>
        </p:txBody>
      </p:sp>
      <p:sp>
        <p:nvSpPr>
          <p:cNvPr id="774" name="Google Shape;774;p77"/>
          <p:cNvSpPr txBox="1"/>
          <p:nvPr/>
        </p:nvSpPr>
        <p:spPr>
          <a:xfrm>
            <a:off x="3620384" y="1770546"/>
            <a:ext cx="44723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these queries equivalent?</a:t>
            </a:r>
            <a:endParaRPr/>
          </a:p>
        </p:txBody>
      </p:sp>
      <p:sp>
        <p:nvSpPr>
          <p:cNvPr id="775" name="Google Shape;775;p77"/>
          <p:cNvSpPr/>
          <p:nvPr/>
        </p:nvSpPr>
        <p:spPr>
          <a:xfrm>
            <a:off x="4099298" y="5884287"/>
            <a:ext cx="3993401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Beware of duplicates! </a:t>
            </a:r>
            <a:endParaRPr sz="1800">
              <a:solidFill>
                <a:srgbClr val="FF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77"/>
          <p:cNvSpPr txBox="1"/>
          <p:nvPr/>
        </p:nvSpPr>
        <p:spPr>
          <a:xfrm>
            <a:off x="352180" y="2457803"/>
            <a:ext cx="555394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c.city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c.name  </a:t>
            </a:r>
            <a:r>
              <a:rPr lang="en-US" sz="24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pr.maker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 p, Product pr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p.name = pr.product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p.buyer = ‘Joe Blow‘)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Queries</a:t>
            </a:r>
            <a:endParaRPr/>
          </a:p>
        </p:txBody>
      </p:sp>
      <p:sp>
        <p:nvSpPr>
          <p:cNvPr id="783" name="Google Shape;783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4" name="Google Shape;784;p78"/>
          <p:cNvSpPr txBox="1"/>
          <p:nvPr/>
        </p:nvSpPr>
        <p:spPr>
          <a:xfrm>
            <a:off x="428590" y="2243574"/>
            <a:ext cx="4493538" cy="224676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c.city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 c,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Product pr,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Purchase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c.name = pr.maker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 pr.name = p.product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 p.buyer = ‘Joe Blow’</a:t>
            </a:r>
            <a:endParaRPr/>
          </a:p>
        </p:txBody>
      </p:sp>
      <p:sp>
        <p:nvSpPr>
          <p:cNvPr id="785" name="Google Shape;785;p78"/>
          <p:cNvSpPr/>
          <p:nvPr/>
        </p:nvSpPr>
        <p:spPr>
          <a:xfrm>
            <a:off x="1928809" y="5125220"/>
            <a:ext cx="833439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they are equivalent (both use set semantics)</a:t>
            </a:r>
            <a:endParaRPr sz="1800">
              <a:solidFill>
                <a:srgbClr val="FF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78"/>
          <p:cNvSpPr txBox="1"/>
          <p:nvPr/>
        </p:nvSpPr>
        <p:spPr>
          <a:xfrm>
            <a:off x="5489609" y="2232097"/>
            <a:ext cx="6059030" cy="224676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c.city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c.name  </a:t>
            </a:r>
            <a:r>
              <a:rPr lang="en-US" sz="20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pr.maker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 p, Product pr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p.product = pr.name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AND p.buyer = ‘Joe Blow‘)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Subqueries Return Relations</a:t>
            </a:r>
            <a:endParaRPr/>
          </a:p>
        </p:txBody>
      </p:sp>
      <p:sp>
        <p:nvSpPr>
          <p:cNvPr id="793" name="Google Shape;793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4" name="Google Shape;794;p79"/>
          <p:cNvSpPr txBox="1"/>
          <p:nvPr/>
        </p:nvSpPr>
        <p:spPr>
          <a:xfrm>
            <a:off x="1531259" y="4197709"/>
            <a:ext cx="6506909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price &gt; </a:t>
            </a:r>
            <a:r>
              <a:rPr lang="en-US" sz="24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maker = ‘Gizmo-Works’)</a:t>
            </a:r>
            <a:endParaRPr/>
          </a:p>
        </p:txBody>
      </p:sp>
      <p:sp>
        <p:nvSpPr>
          <p:cNvPr id="795" name="Google Shape;795;p79"/>
          <p:cNvSpPr txBox="1"/>
          <p:nvPr/>
        </p:nvSpPr>
        <p:spPr>
          <a:xfrm>
            <a:off x="1531259" y="3482089"/>
            <a:ext cx="5878532" cy="4001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maker)</a:t>
            </a:r>
            <a:endParaRPr/>
          </a:p>
        </p:txBody>
      </p:sp>
      <p:sp>
        <p:nvSpPr>
          <p:cNvPr id="796" name="Google Shape;796;p79"/>
          <p:cNvSpPr txBox="1"/>
          <p:nvPr/>
        </p:nvSpPr>
        <p:spPr>
          <a:xfrm>
            <a:off x="838200" y="1596919"/>
            <a:ext cx="52345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use operations of the form:   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&gt; ALL R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&lt; ANY R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EXISTS R</a:t>
            </a:r>
            <a:endParaRPr/>
          </a:p>
        </p:txBody>
      </p:sp>
      <p:sp>
        <p:nvSpPr>
          <p:cNvPr id="797" name="Google Shape;797;p79"/>
          <p:cNvSpPr/>
          <p:nvPr/>
        </p:nvSpPr>
        <p:spPr>
          <a:xfrm>
            <a:off x="8633536" y="4232567"/>
            <a:ext cx="269732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products that are more expensive than all those produced by “Gizmo-Works”</a:t>
            </a:r>
            <a:endParaRPr/>
          </a:p>
        </p:txBody>
      </p:sp>
      <p:sp>
        <p:nvSpPr>
          <p:cNvPr id="798" name="Google Shape;798;p79"/>
          <p:cNvSpPr/>
          <p:nvPr/>
        </p:nvSpPr>
        <p:spPr>
          <a:xfrm>
            <a:off x="838200" y="3482089"/>
            <a:ext cx="26973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</a:t>
            </a:r>
            <a:endParaRPr/>
          </a:p>
        </p:txBody>
      </p:sp>
      <p:sp>
        <p:nvSpPr>
          <p:cNvPr id="799" name="Google Shape;799;p79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and ALL not supported by SQLite.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Subqueries Returning Relations</a:t>
            </a:r>
            <a:endParaRPr/>
          </a:p>
        </p:txBody>
      </p:sp>
      <p:sp>
        <p:nvSpPr>
          <p:cNvPr id="806" name="Google Shape;806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" name="Google Shape;807;p80"/>
          <p:cNvSpPr txBox="1"/>
          <p:nvPr/>
        </p:nvSpPr>
        <p:spPr>
          <a:xfrm>
            <a:off x="1180923" y="4132015"/>
            <a:ext cx="6032421" cy="25545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p1.name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p1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p1.maker = ‘Gizmo-Works’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0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 EXISTS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p2.name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p2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p2.maker &lt;&gt; ‘Gizmo-Works’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AND p1.name = p2.name)</a:t>
            </a:r>
            <a:endParaRPr/>
          </a:p>
        </p:txBody>
      </p:sp>
      <p:sp>
        <p:nvSpPr>
          <p:cNvPr id="808" name="Google Shape;808;p80"/>
          <p:cNvSpPr txBox="1"/>
          <p:nvPr/>
        </p:nvSpPr>
        <p:spPr>
          <a:xfrm>
            <a:off x="1180923" y="3416395"/>
            <a:ext cx="5878532" cy="4001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maker)</a:t>
            </a:r>
            <a:endParaRPr/>
          </a:p>
        </p:txBody>
      </p:sp>
      <p:sp>
        <p:nvSpPr>
          <p:cNvPr id="809" name="Google Shape;809;p80"/>
          <p:cNvSpPr txBox="1"/>
          <p:nvPr/>
        </p:nvSpPr>
        <p:spPr>
          <a:xfrm>
            <a:off x="838200" y="1596919"/>
            <a:ext cx="546797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use operations of the form:   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&gt; ALL R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&lt; ANY R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EXISTS R</a:t>
            </a:r>
            <a:endParaRPr/>
          </a:p>
        </p:txBody>
      </p:sp>
      <p:sp>
        <p:nvSpPr>
          <p:cNvPr id="810" name="Google Shape;810;p80"/>
          <p:cNvSpPr/>
          <p:nvPr/>
        </p:nvSpPr>
        <p:spPr>
          <a:xfrm>
            <a:off x="8950737" y="3968931"/>
            <a:ext cx="269732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‘copycat’ products, i.e. products made by competitors with the same names as products made by “Gizmo-Works”</a:t>
            </a:r>
            <a:endParaRPr/>
          </a:p>
        </p:txBody>
      </p:sp>
      <p:sp>
        <p:nvSpPr>
          <p:cNvPr id="811" name="Google Shape;811;p80"/>
          <p:cNvSpPr/>
          <p:nvPr/>
        </p:nvSpPr>
        <p:spPr>
          <a:xfrm>
            <a:off x="487864" y="3416395"/>
            <a:ext cx="26973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</a:t>
            </a:r>
            <a:endParaRPr/>
          </a:p>
        </p:txBody>
      </p:sp>
      <p:sp>
        <p:nvSpPr>
          <p:cNvPr id="812" name="Google Shape;812;p80"/>
          <p:cNvSpPr/>
          <p:nvPr/>
        </p:nvSpPr>
        <p:spPr>
          <a:xfrm>
            <a:off x="7397280" y="5858392"/>
            <a:ext cx="1370067" cy="3693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&lt;&gt; means !=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1"/>
          <p:cNvSpPr txBox="1"/>
          <p:nvPr>
            <p:ph type="title"/>
          </p:nvPr>
        </p:nvSpPr>
        <p:spPr>
          <a:xfrm>
            <a:off x="838200" y="67138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queries as alternatives to INTERSECT and EXCEPT</a:t>
            </a:r>
            <a:endParaRPr/>
          </a:p>
        </p:txBody>
      </p:sp>
      <p:sp>
        <p:nvSpPr>
          <p:cNvPr id="819" name="Google Shape;819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0" name="Google Shape;820;p81"/>
          <p:cNvSpPr/>
          <p:nvPr/>
        </p:nvSpPr>
        <p:spPr>
          <a:xfrm>
            <a:off x="838200" y="2594508"/>
            <a:ext cx="2416046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R)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S.A,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S)</a:t>
            </a:r>
            <a:endParaRPr/>
          </a:p>
        </p:txBody>
      </p:sp>
      <p:sp>
        <p:nvSpPr>
          <p:cNvPr id="821" name="Google Shape;821;p81"/>
          <p:cNvSpPr/>
          <p:nvPr/>
        </p:nvSpPr>
        <p:spPr>
          <a:xfrm>
            <a:off x="4343399" y="2594508"/>
            <a:ext cx="4786888" cy="15881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EXISTS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	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R.A=S.A AND R.B=S.B)</a:t>
            </a:r>
            <a:endParaRPr/>
          </a:p>
        </p:txBody>
      </p:sp>
      <p:sp>
        <p:nvSpPr>
          <p:cNvPr id="822" name="Google Shape;822;p81"/>
          <p:cNvSpPr/>
          <p:nvPr/>
        </p:nvSpPr>
        <p:spPr>
          <a:xfrm>
            <a:off x="3609816" y="3163791"/>
            <a:ext cx="504984" cy="443010"/>
          </a:xfrm>
          <a:prstGeom prst="rightArrow">
            <a:avLst>
              <a:gd fmla="val 50000" name="adj1"/>
              <a:gd fmla="val 5024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81"/>
          <p:cNvSpPr/>
          <p:nvPr/>
        </p:nvSpPr>
        <p:spPr>
          <a:xfrm>
            <a:off x="4419599" y="4804308"/>
            <a:ext cx="4786888" cy="15881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EXISTS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R.A=S.A AND R.B=S.B)</a:t>
            </a:r>
            <a:endParaRPr/>
          </a:p>
        </p:txBody>
      </p:sp>
      <p:sp>
        <p:nvSpPr>
          <p:cNvPr id="824" name="Google Shape;824;p81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 and EXCEPT not in some DBMSs!</a:t>
            </a:r>
            <a:endParaRPr/>
          </a:p>
        </p:txBody>
      </p:sp>
      <p:sp>
        <p:nvSpPr>
          <p:cNvPr id="825" name="Google Shape;825;p81"/>
          <p:cNvSpPr/>
          <p:nvPr/>
        </p:nvSpPr>
        <p:spPr>
          <a:xfrm>
            <a:off x="9664700" y="3688104"/>
            <a:ext cx="1955800" cy="14773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R, S have no duplicates, then can write without sub-queries (HOW?)</a:t>
            </a:r>
            <a:endParaRPr/>
          </a:p>
        </p:txBody>
      </p:sp>
      <p:sp>
        <p:nvSpPr>
          <p:cNvPr id="826" name="Google Shape;826;p81"/>
          <p:cNvSpPr/>
          <p:nvPr/>
        </p:nvSpPr>
        <p:spPr>
          <a:xfrm>
            <a:off x="838200" y="4804308"/>
            <a:ext cx="2416046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R)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EXCEPT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S.A,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S)</a:t>
            </a:r>
            <a:endParaRPr/>
          </a:p>
        </p:txBody>
      </p:sp>
      <p:sp>
        <p:nvSpPr>
          <p:cNvPr id="827" name="Google Shape;827;p81"/>
          <p:cNvSpPr/>
          <p:nvPr/>
        </p:nvSpPr>
        <p:spPr>
          <a:xfrm>
            <a:off x="3609816" y="5373591"/>
            <a:ext cx="504984" cy="443010"/>
          </a:xfrm>
          <a:prstGeom prst="rightArrow">
            <a:avLst>
              <a:gd fmla="val 50000" name="adj1"/>
              <a:gd fmla="val 5024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2"/>
          <p:cNvSpPr txBox="1"/>
          <p:nvPr>
            <p:ph type="title"/>
          </p:nvPr>
        </p:nvSpPr>
        <p:spPr>
          <a:xfrm>
            <a:off x="838200" y="67138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queries as alternatives to INTERSECT and EXCEPT</a:t>
            </a:r>
            <a:endParaRPr/>
          </a:p>
        </p:txBody>
      </p:sp>
      <p:sp>
        <p:nvSpPr>
          <p:cNvPr id="834" name="Google Shape;834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5" name="Google Shape;835;p82"/>
          <p:cNvSpPr/>
          <p:nvPr/>
        </p:nvSpPr>
        <p:spPr>
          <a:xfrm>
            <a:off x="838200" y="2594508"/>
            <a:ext cx="2416046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R)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INTERSECT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S.A,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S)</a:t>
            </a:r>
            <a:endParaRPr/>
          </a:p>
        </p:txBody>
      </p:sp>
      <p:sp>
        <p:nvSpPr>
          <p:cNvPr id="836" name="Google Shape;836;p82"/>
          <p:cNvSpPr/>
          <p:nvPr/>
        </p:nvSpPr>
        <p:spPr>
          <a:xfrm>
            <a:off x="4343399" y="2594508"/>
            <a:ext cx="3199915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(A,B) </a:t>
            </a: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	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S.A, S,B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S)</a:t>
            </a:r>
            <a:endParaRPr/>
          </a:p>
        </p:txBody>
      </p:sp>
      <p:sp>
        <p:nvSpPr>
          <p:cNvPr id="837" name="Google Shape;837;p82"/>
          <p:cNvSpPr/>
          <p:nvPr/>
        </p:nvSpPr>
        <p:spPr>
          <a:xfrm>
            <a:off x="3609816" y="3163791"/>
            <a:ext cx="504984" cy="443010"/>
          </a:xfrm>
          <a:prstGeom prst="rightArrow">
            <a:avLst>
              <a:gd fmla="val 50000" name="adj1"/>
              <a:gd fmla="val 5024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82"/>
          <p:cNvSpPr/>
          <p:nvPr/>
        </p:nvSpPr>
        <p:spPr>
          <a:xfrm>
            <a:off x="4419599" y="4804308"/>
            <a:ext cx="2834430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(A,B) </a:t>
            </a: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NOT 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A,B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S)</a:t>
            </a:r>
            <a:endParaRPr/>
          </a:p>
        </p:txBody>
      </p:sp>
      <p:sp>
        <p:nvSpPr>
          <p:cNvPr id="839" name="Google Shape;839;p82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 and EXCEPT not in some DBMSs!</a:t>
            </a:r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9664700" y="3688104"/>
            <a:ext cx="1955800" cy="14773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R, S have no duplicates, then can write without sub-queries (HOW?)</a:t>
            </a:r>
            <a:endParaRPr/>
          </a:p>
        </p:txBody>
      </p:sp>
      <p:sp>
        <p:nvSpPr>
          <p:cNvPr id="841" name="Google Shape;841;p82"/>
          <p:cNvSpPr/>
          <p:nvPr/>
        </p:nvSpPr>
        <p:spPr>
          <a:xfrm>
            <a:off x="838200" y="4804308"/>
            <a:ext cx="2416046" cy="13388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 R.B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R)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EXCEPT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S.A,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S)</a:t>
            </a:r>
            <a:endParaRPr/>
          </a:p>
        </p:txBody>
      </p:sp>
      <p:sp>
        <p:nvSpPr>
          <p:cNvPr id="842" name="Google Shape;842;p82"/>
          <p:cNvSpPr/>
          <p:nvPr/>
        </p:nvSpPr>
        <p:spPr>
          <a:xfrm>
            <a:off x="3609816" y="5373591"/>
            <a:ext cx="504984" cy="443010"/>
          </a:xfrm>
          <a:prstGeom prst="rightArrow">
            <a:avLst>
              <a:gd fmla="val 50000" name="adj1"/>
              <a:gd fmla="val 5024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Correlated Queries </a:t>
            </a:r>
            <a:r>
              <a:rPr lang="en-US" sz="2400"/>
              <a:t>Using External Vars in Internal Subquery</a:t>
            </a:r>
            <a:endParaRPr/>
          </a:p>
        </p:txBody>
      </p:sp>
      <p:sp>
        <p:nvSpPr>
          <p:cNvPr id="849" name="Google Shape;849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0" name="Google Shape;850;p83"/>
          <p:cNvSpPr txBox="1"/>
          <p:nvPr/>
        </p:nvSpPr>
        <p:spPr>
          <a:xfrm>
            <a:off x="834172" y="2624882"/>
            <a:ext cx="6882834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Movie AS </a:t>
            </a: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year &lt;&gt;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year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Movie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title =  </a:t>
            </a: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.title)</a:t>
            </a:r>
            <a:endParaRPr/>
          </a:p>
        </p:txBody>
      </p:sp>
      <p:sp>
        <p:nvSpPr>
          <p:cNvPr id="851" name="Google Shape;851;p83"/>
          <p:cNvSpPr txBox="1"/>
          <p:nvPr/>
        </p:nvSpPr>
        <p:spPr>
          <a:xfrm>
            <a:off x="838200" y="1716236"/>
            <a:ext cx="6878806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Movie(</a:t>
            </a:r>
            <a:r>
              <a:rPr lang="en-US" sz="24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title,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year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director, length)</a:t>
            </a:r>
            <a:endParaRPr/>
          </a:p>
        </p:txBody>
      </p:sp>
      <p:sp>
        <p:nvSpPr>
          <p:cNvPr id="852" name="Google Shape;852;p83"/>
          <p:cNvSpPr txBox="1"/>
          <p:nvPr/>
        </p:nvSpPr>
        <p:spPr>
          <a:xfrm>
            <a:off x="3038368" y="5380187"/>
            <a:ext cx="6115264" cy="40011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also: this can still be expressed as single SFW query…</a:t>
            </a:r>
            <a:endParaRPr/>
          </a:p>
        </p:txBody>
      </p:sp>
      <p:sp>
        <p:nvSpPr>
          <p:cNvPr id="853" name="Google Shape;853;p83"/>
          <p:cNvSpPr/>
          <p:nvPr/>
        </p:nvSpPr>
        <p:spPr>
          <a:xfrm>
            <a:off x="8390587" y="2177901"/>
            <a:ext cx="27219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movies whose title appears more than once.</a:t>
            </a:r>
            <a:endParaRPr/>
          </a:p>
        </p:txBody>
      </p:sp>
      <p:sp>
        <p:nvSpPr>
          <p:cNvPr id="854" name="Google Shape;854;p83"/>
          <p:cNvSpPr/>
          <p:nvPr/>
        </p:nvSpPr>
        <p:spPr>
          <a:xfrm>
            <a:off x="2129713" y="3009045"/>
            <a:ext cx="1997788" cy="369186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83"/>
          <p:cNvSpPr/>
          <p:nvPr/>
        </p:nvSpPr>
        <p:spPr>
          <a:xfrm>
            <a:off x="4098212" y="4135660"/>
            <a:ext cx="1146888" cy="369186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83"/>
          <p:cNvSpPr/>
          <p:nvPr/>
        </p:nvSpPr>
        <p:spPr>
          <a:xfrm>
            <a:off x="5622212" y="4482478"/>
            <a:ext cx="1489788" cy="369186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3"/>
          <p:cNvSpPr txBox="1"/>
          <p:nvPr/>
        </p:nvSpPr>
        <p:spPr>
          <a:xfrm>
            <a:off x="8390587" y="3865443"/>
            <a:ext cx="2370446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the scoping of the variables!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 Correlated Query</a:t>
            </a:r>
            <a:endParaRPr/>
          </a:p>
        </p:txBody>
      </p:sp>
      <p:sp>
        <p:nvSpPr>
          <p:cNvPr id="864" name="Google Shape;864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5" name="Google Shape;865;p84"/>
          <p:cNvSpPr/>
          <p:nvPr/>
        </p:nvSpPr>
        <p:spPr>
          <a:xfrm>
            <a:off x="838200" y="2544279"/>
            <a:ext cx="6692858" cy="24191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x.name, x.maker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AS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x.price &gt;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y.price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AS 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x.maker = y.maker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AND y.year &lt; 1972)</a:t>
            </a:r>
            <a:endParaRPr/>
          </a:p>
        </p:txBody>
      </p:sp>
      <p:sp>
        <p:nvSpPr>
          <p:cNvPr id="866" name="Google Shape;866;p84"/>
          <p:cNvSpPr/>
          <p:nvPr/>
        </p:nvSpPr>
        <p:spPr>
          <a:xfrm>
            <a:off x="8267658" y="2544279"/>
            <a:ext cx="3200442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products (and their manufacturers) that are more expensive than all products made by the same manufacturer before 1972</a:t>
            </a:r>
            <a:endParaRPr/>
          </a:p>
        </p:txBody>
      </p:sp>
      <p:sp>
        <p:nvSpPr>
          <p:cNvPr id="867" name="Google Shape;867;p84"/>
          <p:cNvSpPr/>
          <p:nvPr/>
        </p:nvSpPr>
        <p:spPr>
          <a:xfrm>
            <a:off x="838200" y="1632929"/>
            <a:ext cx="680186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maker, year)</a:t>
            </a:r>
            <a:endParaRPr/>
          </a:p>
        </p:txBody>
      </p:sp>
      <p:sp>
        <p:nvSpPr>
          <p:cNvPr id="868" name="Google Shape;868;p84"/>
          <p:cNvSpPr txBox="1"/>
          <p:nvPr/>
        </p:nvSpPr>
        <p:spPr>
          <a:xfrm>
            <a:off x="2718504" y="5790006"/>
            <a:ext cx="6754991" cy="46166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very powerful (also much harder to optimize)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SQL Summary</a:t>
            </a:r>
            <a:endParaRPr/>
          </a:p>
        </p:txBody>
      </p:sp>
      <p:sp>
        <p:nvSpPr>
          <p:cNvPr id="875" name="Google Shape;875;p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provides a high-level declarative language for manipulating data (DML)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workhorse is the SFW block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Set operators are powerful but have some subtleties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Powerful, nested queries also allowed.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76" name="Google Shape;876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Aggregation &amp; GROUP BY</a:t>
            </a:r>
            <a:endParaRPr/>
          </a:p>
        </p:txBody>
      </p:sp>
      <p:sp>
        <p:nvSpPr>
          <p:cNvPr id="882" name="Google Shape;882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889" name="Google Shape;889;p87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Aggregation operators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GROUP BY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GROUP BY: with HAVING, semantics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Aggregation</a:t>
            </a:r>
            <a:endParaRPr/>
          </a:p>
        </p:txBody>
      </p:sp>
      <p:sp>
        <p:nvSpPr>
          <p:cNvPr id="897" name="Google Shape;89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8" name="Google Shape;898;p88"/>
          <p:cNvSpPr txBox="1"/>
          <p:nvPr/>
        </p:nvSpPr>
        <p:spPr>
          <a:xfrm>
            <a:off x="6084982" y="1904999"/>
            <a:ext cx="3531736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year &gt; 1995</a:t>
            </a:r>
            <a:endParaRPr/>
          </a:p>
        </p:txBody>
      </p:sp>
      <p:sp>
        <p:nvSpPr>
          <p:cNvPr id="899" name="Google Shape;899;p88"/>
          <p:cNvSpPr/>
          <p:nvPr/>
        </p:nvSpPr>
        <p:spPr>
          <a:xfrm>
            <a:off x="6578601" y="4572971"/>
            <a:ext cx="4419599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COUNT, all aggregations apply to a single attribute</a:t>
            </a:r>
            <a:endParaRPr/>
          </a:p>
        </p:txBody>
      </p:sp>
      <p:sp>
        <p:nvSpPr>
          <p:cNvPr id="900" name="Google Shape;900;p88"/>
          <p:cNvSpPr txBox="1"/>
          <p:nvPr/>
        </p:nvSpPr>
        <p:spPr>
          <a:xfrm>
            <a:off x="838200" y="1904999"/>
            <a:ext cx="4461478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maker = “Toyota”</a:t>
            </a:r>
            <a:endParaRPr/>
          </a:p>
        </p:txBody>
      </p:sp>
      <p:sp>
        <p:nvSpPr>
          <p:cNvPr id="901" name="Google Shape;901;p88"/>
          <p:cNvSpPr txBox="1"/>
          <p:nvPr/>
        </p:nvSpPr>
        <p:spPr>
          <a:xfrm>
            <a:off x="838200" y="3657601"/>
            <a:ext cx="81610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supports several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operations: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SUM, COUNT, MIN, MAX, AVG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88"/>
          <p:cNvSpPr/>
          <p:nvPr/>
        </p:nvSpPr>
        <p:spPr>
          <a:xfrm>
            <a:off x="5576047" y="415784"/>
            <a:ext cx="5199529" cy="3693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https://teachingow.github.io/DBMS-SQL-Labs/Lab2_3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Aggregation: COUNT</a:t>
            </a:r>
            <a:endParaRPr/>
          </a:p>
        </p:txBody>
      </p:sp>
      <p:sp>
        <p:nvSpPr>
          <p:cNvPr id="909" name="Google Shape;909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0" name="Google Shape;910;p89"/>
          <p:cNvSpPr txBox="1"/>
          <p:nvPr/>
        </p:nvSpPr>
        <p:spPr>
          <a:xfrm>
            <a:off x="825500" y="1941733"/>
            <a:ext cx="843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applies to duplicates, unless otherwise stated</a:t>
            </a:r>
            <a:endParaRPr/>
          </a:p>
        </p:txBody>
      </p:sp>
      <p:sp>
        <p:nvSpPr>
          <p:cNvPr id="911" name="Google Shape;911;p89"/>
          <p:cNvSpPr txBox="1"/>
          <p:nvPr/>
        </p:nvSpPr>
        <p:spPr>
          <a:xfrm>
            <a:off x="854988" y="2823189"/>
            <a:ext cx="4461478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COUNT(category)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year &gt; 1995</a:t>
            </a:r>
            <a:endParaRPr/>
          </a:p>
        </p:txBody>
      </p:sp>
      <p:sp>
        <p:nvSpPr>
          <p:cNvPr id="912" name="Google Shape;912;p89"/>
          <p:cNvSpPr/>
          <p:nvPr/>
        </p:nvSpPr>
        <p:spPr>
          <a:xfrm>
            <a:off x="5906593" y="2823189"/>
            <a:ext cx="2704007" cy="646331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Same as COUNT(*).  Why?</a:t>
            </a:r>
            <a:endParaRPr/>
          </a:p>
        </p:txBody>
      </p:sp>
      <p:sp>
        <p:nvSpPr>
          <p:cNvPr id="913" name="Google Shape;913;p89"/>
          <p:cNvSpPr/>
          <p:nvPr/>
        </p:nvSpPr>
        <p:spPr>
          <a:xfrm>
            <a:off x="838200" y="4343400"/>
            <a:ext cx="314817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probably want:</a:t>
            </a:r>
            <a:endParaRPr/>
          </a:p>
        </p:txBody>
      </p:sp>
      <p:sp>
        <p:nvSpPr>
          <p:cNvPr id="914" name="Google Shape;914;p89"/>
          <p:cNvSpPr txBox="1"/>
          <p:nvPr/>
        </p:nvSpPr>
        <p:spPr>
          <a:xfrm>
            <a:off x="838200" y="5169932"/>
            <a:ext cx="594906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COUNT(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category)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year &gt; 1995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921" name="Google Shape;921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2" name="Google Shape;922;p90"/>
          <p:cNvSpPr txBox="1"/>
          <p:nvPr/>
        </p:nvSpPr>
        <p:spPr>
          <a:xfrm>
            <a:off x="838200" y="1891736"/>
            <a:ext cx="7622600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Purchase(product, date, price, quantity)</a:t>
            </a:r>
            <a:endParaRPr/>
          </a:p>
        </p:txBody>
      </p:sp>
      <p:sp>
        <p:nvSpPr>
          <p:cNvPr id="923" name="Google Shape;923;p90"/>
          <p:cNvSpPr txBox="1"/>
          <p:nvPr/>
        </p:nvSpPr>
        <p:spPr>
          <a:xfrm>
            <a:off x="838200" y="3060701"/>
            <a:ext cx="5391219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SUM(price * quantity)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</a:t>
            </a:r>
            <a:endParaRPr/>
          </a:p>
        </p:txBody>
      </p:sp>
      <p:sp>
        <p:nvSpPr>
          <p:cNvPr id="924" name="Google Shape;924;p90"/>
          <p:cNvSpPr txBox="1"/>
          <p:nvPr/>
        </p:nvSpPr>
        <p:spPr>
          <a:xfrm>
            <a:off x="838200" y="4737100"/>
            <a:ext cx="5391219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SUM(price * quantity)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 = ‘bagel’</a:t>
            </a:r>
            <a:endParaRPr/>
          </a:p>
        </p:txBody>
      </p:sp>
      <p:sp>
        <p:nvSpPr>
          <p:cNvPr id="925" name="Google Shape;925;p90"/>
          <p:cNvSpPr txBox="1"/>
          <p:nvPr/>
        </p:nvSpPr>
        <p:spPr>
          <a:xfrm>
            <a:off x="7251700" y="4046324"/>
            <a:ext cx="33714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 these mean?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Aggregations</a:t>
            </a:r>
            <a:endParaRPr/>
          </a:p>
        </p:txBody>
      </p:sp>
      <p:sp>
        <p:nvSpPr>
          <p:cNvPr id="932" name="Google Shape;932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" name="Google Shape;933;p91"/>
          <p:cNvSpPr/>
          <p:nvPr/>
        </p:nvSpPr>
        <p:spPr>
          <a:xfrm>
            <a:off x="3084472" y="1546840"/>
            <a:ext cx="17001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Purchase</a:t>
            </a:r>
            <a:endParaRPr/>
          </a:p>
        </p:txBody>
      </p:sp>
      <p:graphicFrame>
        <p:nvGraphicFramePr>
          <p:cNvPr id="934" name="Google Shape;934;p91"/>
          <p:cNvGraphicFramePr/>
          <p:nvPr/>
        </p:nvGraphicFramePr>
        <p:xfrm>
          <a:off x="3155950" y="2191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470025"/>
                <a:gridCol w="1470025"/>
                <a:gridCol w="1470025"/>
                <a:gridCol w="1470025"/>
              </a:tblGrid>
              <a:tr h="49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5" name="Google Shape;935;p91"/>
          <p:cNvSpPr txBox="1"/>
          <p:nvPr/>
        </p:nvSpPr>
        <p:spPr>
          <a:xfrm>
            <a:off x="838200" y="5105341"/>
            <a:ext cx="5372099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SUM(price * quantity)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 = ‘bagel’</a:t>
            </a:r>
            <a:endParaRPr/>
          </a:p>
        </p:txBody>
      </p:sp>
      <p:sp>
        <p:nvSpPr>
          <p:cNvPr id="936" name="Google Shape;936;p91"/>
          <p:cNvSpPr/>
          <p:nvPr/>
        </p:nvSpPr>
        <p:spPr>
          <a:xfrm>
            <a:off x="6584176" y="5400645"/>
            <a:ext cx="1041400" cy="609720"/>
          </a:xfrm>
          <a:prstGeom prst="rightArrow">
            <a:avLst>
              <a:gd fmla="val 50000" name="adj1"/>
              <a:gd fmla="val 50245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91"/>
          <p:cNvSpPr/>
          <p:nvPr/>
        </p:nvSpPr>
        <p:spPr>
          <a:xfrm>
            <a:off x="7883992" y="5418239"/>
            <a:ext cx="35088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 (= 1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+ 1.50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Grouping and Aggregation</a:t>
            </a:r>
            <a:endParaRPr/>
          </a:p>
        </p:txBody>
      </p:sp>
      <p:sp>
        <p:nvSpPr>
          <p:cNvPr id="944" name="Google Shape;944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  <p:sp>
        <p:nvSpPr>
          <p:cNvPr id="945" name="Google Shape;945;p92"/>
          <p:cNvSpPr/>
          <p:nvPr/>
        </p:nvSpPr>
        <p:spPr>
          <a:xfrm>
            <a:off x="838200" y="3007611"/>
            <a:ext cx="8334583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SUM(price * quantity) AS TotalSales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</p:txBody>
      </p:sp>
      <p:sp>
        <p:nvSpPr>
          <p:cNvPr id="946" name="Google Shape;946;p92"/>
          <p:cNvSpPr txBox="1"/>
          <p:nvPr/>
        </p:nvSpPr>
        <p:spPr>
          <a:xfrm>
            <a:off x="4038609" y="5722003"/>
            <a:ext cx="41147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see what this means…</a:t>
            </a:r>
            <a:endParaRPr/>
          </a:p>
        </p:txBody>
      </p:sp>
      <p:sp>
        <p:nvSpPr>
          <p:cNvPr id="947" name="Google Shape;947;p92"/>
          <p:cNvSpPr/>
          <p:nvPr/>
        </p:nvSpPr>
        <p:spPr>
          <a:xfrm>
            <a:off x="9438481" y="3007611"/>
            <a:ext cx="24336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total sales after 10/1/2005 per product.</a:t>
            </a:r>
            <a:endParaRPr/>
          </a:p>
        </p:txBody>
      </p:sp>
      <p:sp>
        <p:nvSpPr>
          <p:cNvPr id="948" name="Google Shape;948;p92"/>
          <p:cNvSpPr txBox="1"/>
          <p:nvPr/>
        </p:nvSpPr>
        <p:spPr>
          <a:xfrm>
            <a:off x="838200" y="1770546"/>
            <a:ext cx="7622600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Purchase(product, date, price, quantity)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Grouping and Aggregation</a:t>
            </a:r>
            <a:endParaRPr/>
          </a:p>
        </p:txBody>
      </p:sp>
      <p:sp>
        <p:nvSpPr>
          <p:cNvPr id="955" name="Google Shape;955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6" name="Google Shape;956;p93"/>
          <p:cNvSpPr txBox="1"/>
          <p:nvPr/>
        </p:nvSpPr>
        <p:spPr>
          <a:xfrm>
            <a:off x="838200" y="2654300"/>
            <a:ext cx="1051560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Compute the 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clauses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Group by the attributes in the 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Compute the 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clause: grouped attributes and aggregates</a:t>
            </a:r>
            <a:endParaRPr/>
          </a:p>
        </p:txBody>
      </p:sp>
      <p:sp>
        <p:nvSpPr>
          <p:cNvPr id="957" name="Google Shape;957;p93"/>
          <p:cNvSpPr txBox="1"/>
          <p:nvPr/>
        </p:nvSpPr>
        <p:spPr>
          <a:xfrm>
            <a:off x="838200" y="1690688"/>
            <a:ext cx="40923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Semantics of the query: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4"/>
          <p:cNvSpPr txBox="1"/>
          <p:nvPr>
            <p:ph type="title"/>
          </p:nvPr>
        </p:nvSpPr>
        <p:spPr>
          <a:xfrm>
            <a:off x="806450" y="622300"/>
            <a:ext cx="100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Compute the </a:t>
            </a:r>
            <a:r>
              <a:rPr lang="en-US">
                <a:solidFill>
                  <a:schemeClr val="accent2"/>
                </a:solidFill>
              </a:rPr>
              <a:t>FROM</a:t>
            </a:r>
            <a:r>
              <a:rPr lang="en-US"/>
              <a:t> and </a:t>
            </a:r>
            <a:r>
              <a:rPr lang="en-US">
                <a:solidFill>
                  <a:schemeClr val="accent2"/>
                </a:solidFill>
              </a:rPr>
              <a:t>WHERE</a:t>
            </a:r>
            <a:r>
              <a:rPr lang="en-US"/>
              <a:t> clauses</a:t>
            </a:r>
            <a:endParaRPr sz="3200"/>
          </a:p>
        </p:txBody>
      </p:sp>
      <p:sp>
        <p:nvSpPr>
          <p:cNvPr id="964" name="Google Shape;964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65" name="Google Shape;965;p94"/>
          <p:cNvGraphicFramePr/>
          <p:nvPr/>
        </p:nvGraphicFramePr>
        <p:xfrm>
          <a:off x="3638550" y="3807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095375"/>
                <a:gridCol w="1095375"/>
                <a:gridCol w="1095375"/>
                <a:gridCol w="1095375"/>
              </a:tblGrid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6" name="Google Shape;966;p94"/>
          <p:cNvSpPr/>
          <p:nvPr/>
        </p:nvSpPr>
        <p:spPr>
          <a:xfrm>
            <a:off x="2095500" y="4431386"/>
            <a:ext cx="905874" cy="733663"/>
          </a:xfrm>
          <a:prstGeom prst="rightArrow">
            <a:avLst>
              <a:gd fmla="val 50000" name="adj1"/>
              <a:gd fmla="val 50245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4"/>
          <p:cNvSpPr/>
          <p:nvPr/>
        </p:nvSpPr>
        <p:spPr>
          <a:xfrm>
            <a:off x="806451" y="1760656"/>
            <a:ext cx="732689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SELECT   product, SUM(price*quantity) AS TotalSales</a:t>
            </a:r>
            <a:endParaRPr sz="1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GROUP BY product</a:t>
            </a:r>
            <a:endParaRPr/>
          </a:p>
        </p:txBody>
      </p:sp>
      <p:sp>
        <p:nvSpPr>
          <p:cNvPr id="968" name="Google Shape;968;p94"/>
          <p:cNvSpPr/>
          <p:nvPr/>
        </p:nvSpPr>
        <p:spPr>
          <a:xfrm>
            <a:off x="2095500" y="4062054"/>
            <a:ext cx="7405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4" name="Google Shape;974;p95"/>
          <p:cNvGraphicFramePr/>
          <p:nvPr/>
        </p:nvGraphicFramePr>
        <p:xfrm>
          <a:off x="240440" y="3939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095375"/>
                <a:gridCol w="1095375"/>
                <a:gridCol w="1095375"/>
                <a:gridCol w="1095375"/>
              </a:tblGrid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5" name="Google Shape;975;p95"/>
          <p:cNvSpPr txBox="1"/>
          <p:nvPr>
            <p:ph type="title"/>
          </p:nvPr>
        </p:nvSpPr>
        <p:spPr>
          <a:xfrm>
            <a:off x="806450" y="622300"/>
            <a:ext cx="100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Group by the attributes in the </a:t>
            </a:r>
            <a:r>
              <a:rPr lang="en-US">
                <a:solidFill>
                  <a:schemeClr val="accent2"/>
                </a:solidFill>
              </a:rPr>
              <a:t>GROUP BY</a:t>
            </a:r>
            <a:endParaRPr/>
          </a:p>
        </p:txBody>
      </p:sp>
      <p:sp>
        <p:nvSpPr>
          <p:cNvPr id="976" name="Google Shape;976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7" name="Google Shape;977;p95"/>
          <p:cNvSpPr/>
          <p:nvPr/>
        </p:nvSpPr>
        <p:spPr>
          <a:xfrm>
            <a:off x="4952050" y="4431385"/>
            <a:ext cx="905874" cy="733663"/>
          </a:xfrm>
          <a:prstGeom prst="rightArrow">
            <a:avLst>
              <a:gd fmla="val 50000" name="adj1"/>
              <a:gd fmla="val 50245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5"/>
          <p:cNvSpPr/>
          <p:nvPr/>
        </p:nvSpPr>
        <p:spPr>
          <a:xfrm>
            <a:off x="806450" y="2094051"/>
            <a:ext cx="7288409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SELECT   product, SUM(price*quantity) AS TotalSales</a:t>
            </a:r>
            <a:endParaRPr sz="1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FROM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WHERE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979" name="Google Shape;979;p95"/>
          <p:cNvSpPr/>
          <p:nvPr/>
        </p:nvSpPr>
        <p:spPr>
          <a:xfrm>
            <a:off x="4709524" y="4073486"/>
            <a:ext cx="1300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0" name="Google Shape;980;p95"/>
          <p:cNvGraphicFramePr/>
          <p:nvPr/>
        </p:nvGraphicFramePr>
        <p:xfrm>
          <a:off x="6096000" y="3939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095375"/>
                <a:gridCol w="1095375"/>
                <a:gridCol w="1095375"/>
                <a:gridCol w="10953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96"/>
          <p:cNvSpPr txBox="1"/>
          <p:nvPr>
            <p:ph type="title"/>
          </p:nvPr>
        </p:nvSpPr>
        <p:spPr>
          <a:xfrm>
            <a:off x="806450" y="622300"/>
            <a:ext cx="100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3. Compute the </a:t>
            </a:r>
            <a:r>
              <a:rPr lang="en-US">
                <a:solidFill>
                  <a:schemeClr val="accent2"/>
                </a:solidFill>
              </a:rPr>
              <a:t>SELECT</a:t>
            </a:r>
            <a:r>
              <a:rPr lang="en-US"/>
              <a:t> clause: grouped attributes and aggregates</a:t>
            </a:r>
            <a:endParaRPr/>
          </a:p>
        </p:txBody>
      </p:sp>
      <p:sp>
        <p:nvSpPr>
          <p:cNvPr id="987" name="Google Shape;987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8" name="Google Shape;988;p96"/>
          <p:cNvSpPr/>
          <p:nvPr/>
        </p:nvSpPr>
        <p:spPr>
          <a:xfrm>
            <a:off x="6453610" y="4300000"/>
            <a:ext cx="905874" cy="733663"/>
          </a:xfrm>
          <a:prstGeom prst="rightArrow">
            <a:avLst>
              <a:gd fmla="val 50000" name="adj1"/>
              <a:gd fmla="val 50245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6"/>
          <p:cNvSpPr/>
          <p:nvPr/>
        </p:nvSpPr>
        <p:spPr>
          <a:xfrm>
            <a:off x="806450" y="1986284"/>
            <a:ext cx="7272281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SUM(price*quantity) AS TotalSales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FROM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WHERE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GROUP BY product</a:t>
            </a:r>
            <a:endParaRPr/>
          </a:p>
        </p:txBody>
      </p:sp>
      <p:graphicFrame>
        <p:nvGraphicFramePr>
          <p:cNvPr id="990" name="Google Shape;990;p96"/>
          <p:cNvGraphicFramePr/>
          <p:nvPr/>
        </p:nvGraphicFramePr>
        <p:xfrm>
          <a:off x="7771442" y="3776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905000"/>
              </a:tblGrid>
              <a:tr h="6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TotalSales</a:t>
                      </a:r>
                      <a:endParaRPr b="0" i="0" sz="2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1" name="Google Shape;991;p96"/>
          <p:cNvSpPr/>
          <p:nvPr/>
        </p:nvSpPr>
        <p:spPr>
          <a:xfrm>
            <a:off x="6340981" y="3930668"/>
            <a:ext cx="10185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2" name="Google Shape;992;p96"/>
          <p:cNvGraphicFramePr/>
          <p:nvPr/>
        </p:nvGraphicFramePr>
        <p:xfrm>
          <a:off x="806450" y="3776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095375"/>
                <a:gridCol w="1095375"/>
                <a:gridCol w="1095375"/>
                <a:gridCol w="10953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7"/>
          <p:cNvSpPr txBox="1"/>
          <p:nvPr>
            <p:ph type="title"/>
          </p:nvPr>
        </p:nvSpPr>
        <p:spPr>
          <a:xfrm>
            <a:off x="2209800" y="35849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 BY v.s. Nested Quereis</a:t>
            </a:r>
            <a:endParaRPr/>
          </a:p>
        </p:txBody>
      </p:sp>
      <p:sp>
        <p:nvSpPr>
          <p:cNvPr id="999" name="Google Shape;999;p97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0" name="Google Shape;1000;p97"/>
          <p:cNvSpPr txBox="1"/>
          <p:nvPr/>
        </p:nvSpPr>
        <p:spPr>
          <a:xfrm>
            <a:off x="1008382" y="1685919"/>
            <a:ext cx="9668031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product, Sum(price*quantity)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TotalSales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</p:txBody>
      </p:sp>
      <p:sp>
        <p:nvSpPr>
          <p:cNvPr id="1001" name="Google Shape;1001;p97"/>
          <p:cNvSpPr txBox="1"/>
          <p:nvPr/>
        </p:nvSpPr>
        <p:spPr>
          <a:xfrm>
            <a:off x="1008382" y="3673781"/>
            <a:ext cx="9668031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x.product,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(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Sum(y.price*y.quantity)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 y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x.product = y.product 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AND y.date &gt; ‘10/1/2005’)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TotalSales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Purchase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x.date &gt; ‘10/1/2005’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HAVING Clause</a:t>
            </a:r>
            <a:endParaRPr/>
          </a:p>
        </p:txBody>
      </p:sp>
      <p:sp>
        <p:nvSpPr>
          <p:cNvPr id="1008" name="Google Shape;1008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9" name="Google Shape;1009;p98"/>
          <p:cNvSpPr txBox="1"/>
          <p:nvPr/>
        </p:nvSpPr>
        <p:spPr>
          <a:xfrm>
            <a:off x="8305800" y="2360063"/>
            <a:ext cx="29337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query as before, except that we consider only products that have more than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items</a:t>
            </a:r>
            <a:endParaRPr/>
          </a:p>
        </p:txBody>
      </p:sp>
      <p:sp>
        <p:nvSpPr>
          <p:cNvPr id="1010" name="Google Shape;1010;p98"/>
          <p:cNvSpPr txBox="1"/>
          <p:nvPr/>
        </p:nvSpPr>
        <p:spPr>
          <a:xfrm>
            <a:off x="838200" y="4809119"/>
            <a:ext cx="6576289" cy="46166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clauses contains conditions on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aggregates</a:t>
            </a:r>
            <a:endParaRPr/>
          </a:p>
        </p:txBody>
      </p:sp>
      <p:sp>
        <p:nvSpPr>
          <p:cNvPr id="1011" name="Google Shape;1011;p98"/>
          <p:cNvSpPr txBox="1"/>
          <p:nvPr/>
        </p:nvSpPr>
        <p:spPr>
          <a:xfrm>
            <a:off x="838200" y="2381482"/>
            <a:ext cx="7064755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product, SUM(price*quantity)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SUM(quantity) &gt; 20</a:t>
            </a:r>
            <a:endParaRPr/>
          </a:p>
        </p:txBody>
      </p:sp>
      <p:sp>
        <p:nvSpPr>
          <p:cNvPr id="1012" name="Google Shape;1012;p98"/>
          <p:cNvSpPr txBox="1"/>
          <p:nvPr/>
        </p:nvSpPr>
        <p:spPr>
          <a:xfrm>
            <a:off x="838200" y="5759429"/>
            <a:ext cx="710425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Whereas WHERE clauses condition on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tuples…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8" name="Google Shape;1018;p99"/>
          <p:cNvSpPr/>
          <p:nvPr/>
        </p:nvSpPr>
        <p:spPr>
          <a:xfrm>
            <a:off x="6453610" y="4300000"/>
            <a:ext cx="905874" cy="733663"/>
          </a:xfrm>
          <a:prstGeom prst="rightArrow">
            <a:avLst>
              <a:gd fmla="val 50000" name="adj1"/>
              <a:gd fmla="val 50245" name="adj2"/>
            </a:avLst>
          </a:prstGeom>
          <a:solidFill>
            <a:srgbClr val="C0C0C0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9" name="Google Shape;1019;p99"/>
          <p:cNvGraphicFramePr/>
          <p:nvPr/>
        </p:nvGraphicFramePr>
        <p:xfrm>
          <a:off x="7771442" y="3776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905000"/>
              </a:tblGrid>
              <a:tr h="6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TotalSales</a:t>
                      </a:r>
                      <a:endParaRPr b="0" i="0" sz="2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0" name="Google Shape;1020;p99"/>
          <p:cNvGraphicFramePr/>
          <p:nvPr/>
        </p:nvGraphicFramePr>
        <p:xfrm>
          <a:off x="806450" y="3776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095375"/>
                <a:gridCol w="1095375"/>
                <a:gridCol w="1095375"/>
                <a:gridCol w="10953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Bagel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9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1" name="Google Shape;1021;p99"/>
          <p:cNvSpPr txBox="1"/>
          <p:nvPr/>
        </p:nvSpPr>
        <p:spPr>
          <a:xfrm>
            <a:off x="1186543" y="1223243"/>
            <a:ext cx="7064755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product, SUM(price*quantity)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Purchase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&gt; ‘10/1/2005’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SUM(quantity) &gt; 30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0"/>
          <p:cNvSpPr txBox="1"/>
          <p:nvPr>
            <p:ph type="title"/>
          </p:nvPr>
        </p:nvSpPr>
        <p:spPr>
          <a:xfrm>
            <a:off x="838200" y="4646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form of Grouping and Aggregation</a:t>
            </a:r>
            <a:endParaRPr/>
          </a:p>
        </p:txBody>
      </p:sp>
      <p:sp>
        <p:nvSpPr>
          <p:cNvPr id="1028" name="Google Shape;1028;p100"/>
          <p:cNvSpPr txBox="1"/>
          <p:nvPr>
            <p:ph idx="1" type="body"/>
          </p:nvPr>
        </p:nvSpPr>
        <p:spPr>
          <a:xfrm>
            <a:off x="838200" y="4637361"/>
            <a:ext cx="10515600" cy="122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 = Can ONLY contain attributes a</a:t>
            </a:r>
            <a:r>
              <a:rPr baseline="-25000" lang="en-US" sz="2400"/>
              <a:t>1</a:t>
            </a:r>
            <a:r>
              <a:rPr lang="en-US" sz="2400"/>
              <a:t>,…,a</a:t>
            </a:r>
            <a:r>
              <a:rPr baseline="-25000" lang="en-US" sz="2400"/>
              <a:t>k</a:t>
            </a:r>
            <a:r>
              <a:rPr lang="en-US" sz="2400"/>
              <a:t> and/or aggregates over other attributes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</a:t>
            </a:r>
            <a:r>
              <a:rPr baseline="-25000" lang="en-US" sz="2400"/>
              <a:t>1</a:t>
            </a:r>
            <a:r>
              <a:rPr lang="en-US" sz="2400"/>
              <a:t> = is any condition on the attributes in R</a:t>
            </a:r>
            <a:r>
              <a:rPr baseline="-25000" lang="en-US" sz="2400"/>
              <a:t>1</a:t>
            </a:r>
            <a:r>
              <a:rPr lang="en-US" sz="2400"/>
              <a:t>,…,R</a:t>
            </a:r>
            <a:r>
              <a:rPr baseline="-25000" lang="en-US" sz="2400"/>
              <a:t>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</a:t>
            </a:r>
            <a:r>
              <a:rPr baseline="-25000" lang="en-US" sz="2400"/>
              <a:t>2</a:t>
            </a:r>
            <a:r>
              <a:rPr lang="en-US" sz="2400"/>
              <a:t> = is any condition on the aggregate expressions</a:t>
            </a:r>
            <a:endParaRPr/>
          </a:p>
        </p:txBody>
      </p:sp>
      <p:sp>
        <p:nvSpPr>
          <p:cNvPr id="1029" name="Google Shape;1029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0" name="Google Shape;1030;p100"/>
          <p:cNvSpPr/>
          <p:nvPr/>
        </p:nvSpPr>
        <p:spPr>
          <a:xfrm>
            <a:off x="3956050" y="2002685"/>
            <a:ext cx="4279900" cy="2031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R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,…,R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C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aseline="-25000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C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31" name="Google Shape;1031;p100"/>
          <p:cNvSpPr txBox="1"/>
          <p:nvPr/>
        </p:nvSpPr>
        <p:spPr>
          <a:xfrm>
            <a:off x="10986817" y="4264842"/>
            <a:ext cx="89248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01"/>
          <p:cNvSpPr txBox="1"/>
          <p:nvPr>
            <p:ph type="title"/>
          </p:nvPr>
        </p:nvSpPr>
        <p:spPr>
          <a:xfrm>
            <a:off x="838200" y="4646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form of Grouping and Aggregation</a:t>
            </a:r>
            <a:endParaRPr/>
          </a:p>
        </p:txBody>
      </p:sp>
      <p:sp>
        <p:nvSpPr>
          <p:cNvPr id="1038" name="Google Shape;1038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9" name="Google Shape;1039;p101"/>
          <p:cNvSpPr/>
          <p:nvPr/>
        </p:nvSpPr>
        <p:spPr>
          <a:xfrm>
            <a:off x="3956050" y="1790217"/>
            <a:ext cx="4279900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C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C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40" name="Google Shape;1040;p101"/>
          <p:cNvSpPr txBox="1"/>
          <p:nvPr/>
        </p:nvSpPr>
        <p:spPr>
          <a:xfrm>
            <a:off x="2133601" y="3809998"/>
            <a:ext cx="8240486" cy="2605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steps: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FROM-WHERE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apply condition C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 attributes in 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attributes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Apply condition C</a:t>
            </a:r>
            <a:r>
              <a:rPr baseline="-25000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to each group (may have aggregates)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aggregates in S and return the result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Group-by v.s. Nested Query</a:t>
            </a:r>
            <a:endParaRPr/>
          </a:p>
        </p:txBody>
      </p:sp>
      <p:sp>
        <p:nvSpPr>
          <p:cNvPr id="1047" name="Google Shape;1047;p102"/>
          <p:cNvSpPr txBox="1"/>
          <p:nvPr>
            <p:ph idx="1" type="body"/>
          </p:nvPr>
        </p:nvSpPr>
        <p:spPr>
          <a:xfrm>
            <a:off x="838200" y="2842614"/>
            <a:ext cx="7772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authors who wrote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/>
              <a:t> 10 documents: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1: with nested queries</a:t>
            </a:r>
            <a:endParaRPr/>
          </a:p>
        </p:txBody>
      </p:sp>
      <p:sp>
        <p:nvSpPr>
          <p:cNvPr id="1048" name="Google Shape;1048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9" name="Google Shape;1049;p102"/>
          <p:cNvSpPr txBox="1"/>
          <p:nvPr/>
        </p:nvSpPr>
        <p:spPr>
          <a:xfrm>
            <a:off x="838200" y="4048026"/>
            <a:ext cx="836639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Author.name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Wrote.url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Wrote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Author.login = Wrote.login) &gt; 10</a:t>
            </a:r>
            <a:endParaRPr/>
          </a:p>
        </p:txBody>
      </p:sp>
      <p:sp>
        <p:nvSpPr>
          <p:cNvPr id="1050" name="Google Shape;1050;p102"/>
          <p:cNvSpPr/>
          <p:nvPr/>
        </p:nvSpPr>
        <p:spPr>
          <a:xfrm>
            <a:off x="838200" y="1668629"/>
            <a:ext cx="3717684" cy="9048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Author(</a:t>
            </a:r>
            <a:r>
              <a:rPr lang="en-US" sz="24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name)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Wrote(login, url)</a:t>
            </a:r>
            <a:endParaRPr/>
          </a:p>
        </p:txBody>
      </p:sp>
      <p:sp>
        <p:nvSpPr>
          <p:cNvPr id="1051" name="Google Shape;1051;p102"/>
          <p:cNvSpPr/>
          <p:nvPr/>
        </p:nvSpPr>
        <p:spPr>
          <a:xfrm>
            <a:off x="9893300" y="4129084"/>
            <a:ext cx="1079500" cy="92333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by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Group-by v.s. Nested Query</a:t>
            </a:r>
            <a:endParaRPr/>
          </a:p>
        </p:txBody>
      </p:sp>
      <p:sp>
        <p:nvSpPr>
          <p:cNvPr id="1058" name="Google Shape;1058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all authors who wrote at least 10 documents: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2: SQL style (with GROUP BY)</a:t>
            </a:r>
            <a:endParaRPr/>
          </a:p>
        </p:txBody>
      </p:sp>
      <p:sp>
        <p:nvSpPr>
          <p:cNvPr id="1059" name="Google Shape;1059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0" name="Google Shape;1060;p103"/>
          <p:cNvSpPr txBox="1"/>
          <p:nvPr/>
        </p:nvSpPr>
        <p:spPr>
          <a:xfrm>
            <a:off x="838200" y="3161320"/>
            <a:ext cx="669285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Author.name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Author, Wrote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Author.login = Wrote.login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Author.name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HAVING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COUNT(Wrote.url) &gt; 10</a:t>
            </a:r>
            <a:endParaRPr/>
          </a:p>
        </p:txBody>
      </p:sp>
      <p:sp>
        <p:nvSpPr>
          <p:cNvPr id="1061" name="Google Shape;1061;p103"/>
          <p:cNvSpPr txBox="1"/>
          <p:nvPr/>
        </p:nvSpPr>
        <p:spPr>
          <a:xfrm>
            <a:off x="784788" y="5509071"/>
            <a:ext cx="67462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for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automatically from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/>
          </a:p>
        </p:txBody>
      </p:sp>
      <p:sp>
        <p:nvSpPr>
          <p:cNvPr id="1062" name="Google Shape;1062;p103"/>
          <p:cNvSpPr/>
          <p:nvPr/>
        </p:nvSpPr>
        <p:spPr>
          <a:xfrm>
            <a:off x="8674079" y="3190036"/>
            <a:ext cx="1536700" cy="92333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 by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expert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Group-by v.s. Nested Query</a:t>
            </a:r>
            <a:endParaRPr/>
          </a:p>
        </p:txBody>
      </p:sp>
      <p:sp>
        <p:nvSpPr>
          <p:cNvPr id="1069" name="Google Shape;1069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all authors who wrote at least 10 documents: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2: SQL style (with GROUP BY)</a:t>
            </a:r>
            <a:endParaRPr/>
          </a:p>
        </p:txBody>
      </p:sp>
      <p:sp>
        <p:nvSpPr>
          <p:cNvPr id="1070" name="Google Shape;1070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1" name="Google Shape;1071;p104"/>
          <p:cNvSpPr txBox="1"/>
          <p:nvPr/>
        </p:nvSpPr>
        <p:spPr>
          <a:xfrm>
            <a:off x="838200" y="3161320"/>
            <a:ext cx="9834744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Author.name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Author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login in (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wrote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	   GROUP BY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count(*)&gt;10)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Group-by vs. Nested Query</a:t>
            </a:r>
            <a:endParaRPr/>
          </a:p>
        </p:txBody>
      </p:sp>
      <p:sp>
        <p:nvSpPr>
          <p:cNvPr id="1077" name="Google Shape;1077;p10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Which way is more efficient?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#1- </a:t>
            </a:r>
            <a:r>
              <a:rPr i="1" lang="en-US"/>
              <a:t>With nested: </a:t>
            </a:r>
            <a:r>
              <a:rPr lang="en-US"/>
              <a:t>How many times do we do a SFW query over all of the Wrote relations?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 #2- </a:t>
            </a:r>
            <a:r>
              <a:rPr i="1" lang="en-US"/>
              <a:t>With group-by</a:t>
            </a:r>
            <a:r>
              <a:rPr lang="en-US"/>
              <a:t>: How about when written this way?</a:t>
            </a:r>
            <a:endParaRPr/>
          </a:p>
        </p:txBody>
      </p:sp>
      <p:sp>
        <p:nvSpPr>
          <p:cNvPr id="1078" name="Google Shape;1078;p105"/>
          <p:cNvSpPr txBox="1"/>
          <p:nvPr/>
        </p:nvSpPr>
        <p:spPr>
          <a:xfrm>
            <a:off x="3121275" y="5801380"/>
            <a:ext cx="6600525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GROUP BY can be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efficient!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Advanced SQL-izing</a:t>
            </a:r>
            <a:endParaRPr/>
          </a:p>
        </p:txBody>
      </p:sp>
      <p:sp>
        <p:nvSpPr>
          <p:cNvPr id="1084" name="Google Shape;1084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Quantifiers</a:t>
            </a:r>
            <a:endParaRPr/>
          </a:p>
        </p:txBody>
      </p:sp>
      <p:sp>
        <p:nvSpPr>
          <p:cNvPr id="1091" name="Google Shape;1091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2" name="Google Shape;1092;p107"/>
          <p:cNvSpPr/>
          <p:nvPr/>
        </p:nvSpPr>
        <p:spPr>
          <a:xfrm>
            <a:off x="838200" y="1688069"/>
            <a:ext cx="5577168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company)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Company(name, city)</a:t>
            </a:r>
            <a:endParaRPr/>
          </a:p>
        </p:txBody>
      </p:sp>
      <p:sp>
        <p:nvSpPr>
          <p:cNvPr id="1093" name="Google Shape;1093;p107"/>
          <p:cNvSpPr txBox="1"/>
          <p:nvPr/>
        </p:nvSpPr>
        <p:spPr>
          <a:xfrm>
            <a:off x="8610026" y="3054200"/>
            <a:ext cx="2743774" cy="157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companies that make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products with price &lt; 100</a:t>
            </a:r>
            <a:endParaRPr/>
          </a:p>
        </p:txBody>
      </p:sp>
      <p:sp>
        <p:nvSpPr>
          <p:cNvPr id="1094" name="Google Shape;1094;p107"/>
          <p:cNvSpPr/>
          <p:nvPr/>
        </p:nvSpPr>
        <p:spPr>
          <a:xfrm>
            <a:off x="838200" y="3131046"/>
            <a:ext cx="7149985" cy="14219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Company.name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Company, Product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Company.name = Product.company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Product.price &lt; 100</a:t>
            </a:r>
            <a:endParaRPr/>
          </a:p>
        </p:txBody>
      </p:sp>
      <p:sp>
        <p:nvSpPr>
          <p:cNvPr id="1095" name="Google Shape;1095;p107"/>
          <p:cNvSpPr txBox="1"/>
          <p:nvPr/>
        </p:nvSpPr>
        <p:spPr>
          <a:xfrm>
            <a:off x="6511926" y="5419985"/>
            <a:ext cx="27474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Existential: easy  ! ☺</a:t>
            </a:r>
            <a:endParaRPr sz="2400">
              <a:solidFill>
                <a:srgbClr val="FF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07"/>
          <p:cNvSpPr txBox="1"/>
          <p:nvPr/>
        </p:nvSpPr>
        <p:spPr>
          <a:xfrm>
            <a:off x="838200" y="5050654"/>
            <a:ext cx="3695700" cy="1200329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existential quantifier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logical quantifier (roughly) of the form “there exists”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0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Quantifiers</a:t>
            </a:r>
            <a:endParaRPr/>
          </a:p>
        </p:txBody>
      </p:sp>
      <p:sp>
        <p:nvSpPr>
          <p:cNvPr id="1103" name="Google Shape;1103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4" name="Google Shape;1104;p108"/>
          <p:cNvSpPr/>
          <p:nvPr/>
        </p:nvSpPr>
        <p:spPr>
          <a:xfrm>
            <a:off x="838200" y="1688069"/>
            <a:ext cx="5577168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company)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Company(name, city)</a:t>
            </a:r>
            <a:endParaRPr/>
          </a:p>
        </p:txBody>
      </p:sp>
      <p:sp>
        <p:nvSpPr>
          <p:cNvPr id="1105" name="Google Shape;1105;p108"/>
          <p:cNvSpPr txBox="1"/>
          <p:nvPr/>
        </p:nvSpPr>
        <p:spPr>
          <a:xfrm>
            <a:off x="8610026" y="1454717"/>
            <a:ext cx="274377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companies with products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having price &lt; 100</a:t>
            </a:r>
            <a:endParaRPr/>
          </a:p>
        </p:txBody>
      </p:sp>
      <p:sp>
        <p:nvSpPr>
          <p:cNvPr id="1106" name="Google Shape;1106;p108"/>
          <p:cNvSpPr/>
          <p:nvPr/>
        </p:nvSpPr>
        <p:spPr>
          <a:xfrm>
            <a:off x="838200" y="3155025"/>
            <a:ext cx="7149985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Company.cname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Company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Company.name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SELECT Product.company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FROM Product.price &gt;= 100)</a:t>
            </a:r>
            <a:endParaRPr/>
          </a:p>
        </p:txBody>
      </p:sp>
      <p:sp>
        <p:nvSpPr>
          <p:cNvPr id="1107" name="Google Shape;1107;p108"/>
          <p:cNvSpPr txBox="1"/>
          <p:nvPr/>
        </p:nvSpPr>
        <p:spPr>
          <a:xfrm>
            <a:off x="838200" y="5309307"/>
            <a:ext cx="3695700" cy="83099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quantifier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of the form “for all”</a:t>
            </a:r>
            <a:endParaRPr/>
          </a:p>
        </p:txBody>
      </p:sp>
      <p:sp>
        <p:nvSpPr>
          <p:cNvPr id="1108" name="Google Shape;1108;p108"/>
          <p:cNvSpPr txBox="1"/>
          <p:nvPr/>
        </p:nvSpPr>
        <p:spPr>
          <a:xfrm>
            <a:off x="6339053" y="5652838"/>
            <a:ext cx="2650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5050"/>
                </a:solidFill>
                <a:latin typeface="Calibri"/>
                <a:ea typeface="Calibri"/>
                <a:cs typeface="Calibri"/>
                <a:sym typeface="Calibri"/>
              </a:rPr>
              <a:t>Universal: hard !  ☹</a:t>
            </a:r>
            <a:endParaRPr sz="2400">
              <a:solidFill>
                <a:srgbClr val="FF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08"/>
          <p:cNvSpPr txBox="1"/>
          <p:nvPr/>
        </p:nvSpPr>
        <p:spPr>
          <a:xfrm>
            <a:off x="8610026" y="3669194"/>
            <a:ext cx="274377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companies that make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 with price &lt; 100</a:t>
            </a:r>
            <a:endParaRPr/>
          </a:p>
        </p:txBody>
      </p:sp>
      <p:sp>
        <p:nvSpPr>
          <p:cNvPr id="1110" name="Google Shape;1110;p108"/>
          <p:cNvSpPr/>
          <p:nvPr/>
        </p:nvSpPr>
        <p:spPr>
          <a:xfrm>
            <a:off x="9823019" y="3024377"/>
            <a:ext cx="317787" cy="468815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08"/>
          <p:cNvSpPr txBox="1"/>
          <p:nvPr/>
        </p:nvSpPr>
        <p:spPr>
          <a:xfrm>
            <a:off x="10210010" y="3056015"/>
            <a:ext cx="1166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NULLS in SQL</a:t>
            </a:r>
            <a:endParaRPr/>
          </a:p>
        </p:txBody>
      </p:sp>
      <p:sp>
        <p:nvSpPr>
          <p:cNvPr id="1118" name="Google Shape;1118;p109"/>
          <p:cNvSpPr txBox="1"/>
          <p:nvPr>
            <p:ph idx="1" type="body"/>
          </p:nvPr>
        </p:nvSpPr>
        <p:spPr>
          <a:xfrm>
            <a:off x="838200" y="1600200"/>
            <a:ext cx="10515600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Whenever we don’t have a value, we can put a NULL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mean many things: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Value does not exists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Value exists but is unknown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Value not applicable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schema specifies for each attribute if can be null (</a:t>
            </a:r>
            <a:r>
              <a:rPr i="1" lang="en-US"/>
              <a:t>nullable </a:t>
            </a:r>
            <a:r>
              <a:rPr lang="en-US"/>
              <a:t>attribute) or not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does SQL cope with tables that have NULLs?</a:t>
            </a:r>
            <a:endParaRPr/>
          </a:p>
        </p:txBody>
      </p:sp>
      <p:sp>
        <p:nvSpPr>
          <p:cNvPr id="1119" name="Google Shape;1119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 Values</a:t>
            </a:r>
            <a:endParaRPr/>
          </a:p>
        </p:txBody>
      </p:sp>
      <p:sp>
        <p:nvSpPr>
          <p:cNvPr id="1126" name="Google Shape;1126;p1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For numerical operations, </a:t>
            </a:r>
            <a:r>
              <a:rPr lang="en-US"/>
              <a:t>NULL -&gt; NULL: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x = NULL then 4*(3-x)/7 is still NULL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For boolean operations, </a:t>
            </a:r>
            <a:r>
              <a:rPr lang="en-US"/>
              <a:t>in SQL there are three values: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/>
              <a:t>FALSE             = 	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/>
              <a:t>UNKNOWN    = 	0.5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/>
              <a:t>TRUE               = 	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x= NULL then x=“Joe” is UNKNOWN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7" name="Google Shape;1127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 Values</a:t>
            </a:r>
            <a:endParaRPr/>
          </a:p>
        </p:txBody>
      </p:sp>
      <p:sp>
        <p:nvSpPr>
          <p:cNvPr id="1134" name="Google Shape;1134;p111"/>
          <p:cNvSpPr txBox="1"/>
          <p:nvPr>
            <p:ph idx="1" type="body"/>
          </p:nvPr>
        </p:nvSpPr>
        <p:spPr>
          <a:xfrm>
            <a:off x="838200" y="1793054"/>
            <a:ext cx="7772400" cy="3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C1 AND C2   =  min(C1, C2)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C1  OR   C2   =  max(C1, C2)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C1         =  1 – C1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35" name="Google Shape;1135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6" name="Google Shape;1136;p111"/>
          <p:cNvSpPr/>
          <p:nvPr/>
        </p:nvSpPr>
        <p:spPr>
          <a:xfrm>
            <a:off x="2286000" y="3581401"/>
            <a:ext cx="6692858" cy="14219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Person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(age &lt; 25)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(height &gt; 6 AND weight &gt; 190)</a:t>
            </a:r>
            <a:endParaRPr/>
          </a:p>
        </p:txBody>
      </p:sp>
      <p:sp>
        <p:nvSpPr>
          <p:cNvPr id="1137" name="Google Shape;1137;p111"/>
          <p:cNvSpPr txBox="1"/>
          <p:nvPr/>
        </p:nvSpPr>
        <p:spPr>
          <a:xfrm>
            <a:off x="9299538" y="3679890"/>
            <a:ext cx="1975477" cy="1323439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Won’t return e.g.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(age=20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height=NULL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weight=200)!</a:t>
            </a:r>
            <a:endParaRPr/>
          </a:p>
        </p:txBody>
      </p:sp>
      <p:sp>
        <p:nvSpPr>
          <p:cNvPr id="1138" name="Google Shape;1138;p111"/>
          <p:cNvSpPr/>
          <p:nvPr/>
        </p:nvSpPr>
        <p:spPr>
          <a:xfrm>
            <a:off x="2544660" y="5708134"/>
            <a:ext cx="6625981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in SQL: include only tuples that yield TRUE (1.0)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 Values</a:t>
            </a:r>
            <a:endParaRPr/>
          </a:p>
        </p:txBody>
      </p:sp>
      <p:sp>
        <p:nvSpPr>
          <p:cNvPr id="1145" name="Google Shape;1145;p112"/>
          <p:cNvSpPr txBox="1"/>
          <p:nvPr>
            <p:ph idx="1" type="body"/>
          </p:nvPr>
        </p:nvSpPr>
        <p:spPr>
          <a:xfrm>
            <a:off x="838200" y="1793054"/>
            <a:ext cx="7772400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Unexpected behavior: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6" name="Google Shape;1146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7" name="Google Shape;1147;p112"/>
          <p:cNvSpPr/>
          <p:nvPr/>
        </p:nvSpPr>
        <p:spPr>
          <a:xfrm>
            <a:off x="2209800" y="2823189"/>
            <a:ext cx="5391219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Person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age &lt; 25 OR age &gt;= 25</a:t>
            </a:r>
            <a:endParaRPr/>
          </a:p>
        </p:txBody>
      </p:sp>
      <p:sp>
        <p:nvSpPr>
          <p:cNvPr id="1148" name="Google Shape;1148;p112"/>
          <p:cNvSpPr/>
          <p:nvPr/>
        </p:nvSpPr>
        <p:spPr>
          <a:xfrm>
            <a:off x="2822434" y="4591988"/>
            <a:ext cx="4165949" cy="46166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Persons are not included 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Null Values</a:t>
            </a:r>
            <a:endParaRPr/>
          </a:p>
        </p:txBody>
      </p:sp>
      <p:sp>
        <p:nvSpPr>
          <p:cNvPr id="1155" name="Google Shape;1155;p113"/>
          <p:cNvSpPr txBox="1"/>
          <p:nvPr>
            <p:ph idx="1" type="body"/>
          </p:nvPr>
        </p:nvSpPr>
        <p:spPr>
          <a:xfrm>
            <a:off x="838200" y="1793054"/>
            <a:ext cx="8229600" cy="2575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Can test for NULL explicitly: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x IS NULL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x IS NOT NULL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6" name="Google Shape;1156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7" name="Google Shape;1157;p113"/>
          <p:cNvSpPr/>
          <p:nvPr/>
        </p:nvSpPr>
        <p:spPr>
          <a:xfrm>
            <a:off x="2133600" y="3505201"/>
            <a:ext cx="5577168" cy="14219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Person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age &lt; 25 OR age &gt;= 25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OR age </a:t>
            </a:r>
            <a:r>
              <a:rPr lang="en-US" sz="24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IS NULL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13"/>
          <p:cNvSpPr/>
          <p:nvPr/>
        </p:nvSpPr>
        <p:spPr>
          <a:xfrm>
            <a:off x="3143043" y="5656215"/>
            <a:ext cx="3558282" cy="4247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it includes all Persons!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RECAP: Inner Joins</a:t>
            </a:r>
            <a:endParaRPr/>
          </a:p>
        </p:txBody>
      </p:sp>
      <p:sp>
        <p:nvSpPr>
          <p:cNvPr id="1165" name="Google Shape;1165;p114"/>
          <p:cNvSpPr txBox="1"/>
          <p:nvPr>
            <p:ph idx="1" type="body"/>
          </p:nvPr>
        </p:nvSpPr>
        <p:spPr>
          <a:xfrm>
            <a:off x="838200" y="1666876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By</a:t>
            </a:r>
            <a:r>
              <a:rPr i="1" lang="en-US" sz="2400"/>
              <a:t> </a:t>
            </a:r>
            <a:r>
              <a:rPr lang="en-US" sz="2400"/>
              <a:t>default, joins in SQL are </a:t>
            </a:r>
            <a:r>
              <a:rPr b="1" lang="en-US" sz="2400"/>
              <a:t>“inner joins”: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     </a:t>
            </a:r>
            <a:endParaRPr sz="2400"/>
          </a:p>
        </p:txBody>
      </p:sp>
      <p:sp>
        <p:nvSpPr>
          <p:cNvPr id="1166" name="Google Shape;1166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7" name="Google Shape;1167;p114"/>
          <p:cNvSpPr/>
          <p:nvPr/>
        </p:nvSpPr>
        <p:spPr>
          <a:xfrm>
            <a:off x="838200" y="3166591"/>
            <a:ext cx="8032968" cy="1046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JOIN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Product.name = Purchase.prodName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114"/>
          <p:cNvSpPr/>
          <p:nvPr/>
        </p:nvSpPr>
        <p:spPr>
          <a:xfrm>
            <a:off x="838200" y="4539602"/>
            <a:ext cx="6186309" cy="1046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Purchase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Product.name = Purchase.prodName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114"/>
          <p:cNvSpPr/>
          <p:nvPr/>
        </p:nvSpPr>
        <p:spPr>
          <a:xfrm>
            <a:off x="838200" y="2245855"/>
            <a:ext cx="4073294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category)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Purchase(prodName, store)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114"/>
          <p:cNvSpPr/>
          <p:nvPr/>
        </p:nvSpPr>
        <p:spPr>
          <a:xfrm>
            <a:off x="9156700" y="3049350"/>
            <a:ext cx="368300" cy="273232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14"/>
          <p:cNvSpPr txBox="1"/>
          <p:nvPr/>
        </p:nvSpPr>
        <p:spPr>
          <a:xfrm>
            <a:off x="9726791" y="4237484"/>
            <a:ext cx="19431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equivalent: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INNER JOINS!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Inner Joins + NULLS = Lost data?</a:t>
            </a:r>
            <a:endParaRPr/>
          </a:p>
        </p:txBody>
      </p:sp>
      <p:sp>
        <p:nvSpPr>
          <p:cNvPr id="1178" name="Google Shape;1178;p115"/>
          <p:cNvSpPr txBox="1"/>
          <p:nvPr>
            <p:ph idx="1" type="body"/>
          </p:nvPr>
        </p:nvSpPr>
        <p:spPr>
          <a:xfrm>
            <a:off x="838200" y="1666876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By</a:t>
            </a:r>
            <a:r>
              <a:rPr i="1" lang="en-US" sz="2400"/>
              <a:t> </a:t>
            </a:r>
            <a:r>
              <a:rPr lang="en-US" sz="2400"/>
              <a:t>default, joins in SQL are </a:t>
            </a:r>
            <a:r>
              <a:rPr b="1" lang="en-US" sz="2400"/>
              <a:t>“inner joins”: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     </a:t>
            </a:r>
            <a:endParaRPr sz="2400"/>
          </a:p>
        </p:txBody>
      </p:sp>
      <p:sp>
        <p:nvSpPr>
          <p:cNvPr id="1179" name="Google Shape;1179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0" name="Google Shape;1180;p115"/>
          <p:cNvSpPr/>
          <p:nvPr/>
        </p:nvSpPr>
        <p:spPr>
          <a:xfrm>
            <a:off x="1527794" y="5910103"/>
            <a:ext cx="9024225" cy="43088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However: Products that never sold (with no Purchase tuple) will be lost!</a:t>
            </a:r>
            <a:endParaRPr/>
          </a:p>
        </p:txBody>
      </p:sp>
      <p:sp>
        <p:nvSpPr>
          <p:cNvPr id="1181" name="Google Shape;1181;p115"/>
          <p:cNvSpPr/>
          <p:nvPr/>
        </p:nvSpPr>
        <p:spPr>
          <a:xfrm>
            <a:off x="838200" y="3166591"/>
            <a:ext cx="8032968" cy="1046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JOIN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Product.name = Purchase.prodName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15"/>
          <p:cNvSpPr/>
          <p:nvPr/>
        </p:nvSpPr>
        <p:spPr>
          <a:xfrm>
            <a:off x="838200" y="4539602"/>
            <a:ext cx="6186309" cy="1046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Product, Purchase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Product.name = Purchase.prodName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115"/>
          <p:cNvSpPr/>
          <p:nvPr/>
        </p:nvSpPr>
        <p:spPr>
          <a:xfrm>
            <a:off x="838200" y="2245855"/>
            <a:ext cx="4073294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category)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Purchase(prodName, store)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Outer Joins</a:t>
            </a:r>
            <a:endParaRPr/>
          </a:p>
        </p:txBody>
      </p:sp>
      <p:sp>
        <p:nvSpPr>
          <p:cNvPr id="1190" name="Google Shape;1190;p116"/>
          <p:cNvSpPr txBox="1"/>
          <p:nvPr>
            <p:ph idx="1" type="body"/>
          </p:nvPr>
        </p:nvSpPr>
        <p:spPr>
          <a:xfrm>
            <a:off x="838200" y="1828800"/>
            <a:ext cx="9601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</a:t>
            </a:r>
            <a:r>
              <a:rPr b="1" lang="en-US" sz="2400"/>
              <a:t>outer join</a:t>
            </a:r>
            <a:r>
              <a:rPr lang="en-US" sz="2400"/>
              <a:t> returns tuples from the joined relations that don’t have a corresponding tuple in the other relations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I.e. If we join relations A and B on a.X = b.X, and there is an entry in A with X=5, but none in B with X=5…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 LEFT OUTER JOIN will return a tuple (a, NULL)!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Left outer joins in SQL:</a:t>
            </a:r>
            <a:r>
              <a:rPr lang="en-US" sz="2400">
                <a:solidFill>
                  <a:schemeClr val="accent2"/>
                </a:solidFill>
              </a:rPr>
              <a:t>	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1191" name="Google Shape;1191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2" name="Google Shape;1192;p116"/>
          <p:cNvSpPr/>
          <p:nvPr/>
        </p:nvSpPr>
        <p:spPr>
          <a:xfrm>
            <a:off x="4851400" y="4072483"/>
            <a:ext cx="6032421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OUTER JOIN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Product.name = Purchase.prodName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16"/>
          <p:cNvSpPr/>
          <p:nvPr/>
        </p:nvSpPr>
        <p:spPr>
          <a:xfrm>
            <a:off x="3210017" y="5937609"/>
            <a:ext cx="5771965" cy="4247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we’ll get products even if they didn’t sell</a:t>
            </a:r>
            <a:endParaRPr/>
          </a:p>
        </p:txBody>
      </p:sp>
      <p:sp>
        <p:nvSpPr>
          <p:cNvPr id="1194" name="Google Shape;1194;p116"/>
          <p:cNvSpPr/>
          <p:nvPr/>
        </p:nvSpPr>
        <p:spPr>
          <a:xfrm>
            <a:off x="5004928" y="597040"/>
            <a:ext cx="6792244" cy="42473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https://teachingow.github.io/DBMS-SQL-Labs/Lab2_4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17"/>
          <p:cNvSpPr txBox="1"/>
          <p:nvPr>
            <p:ph type="title"/>
          </p:nvPr>
        </p:nvSpPr>
        <p:spPr>
          <a:xfrm>
            <a:off x="914400" y="4586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INNER JOIN:</a:t>
            </a:r>
            <a:endParaRPr/>
          </a:p>
        </p:txBody>
      </p:sp>
      <p:sp>
        <p:nvSpPr>
          <p:cNvPr id="1201" name="Google Shape;1201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02" name="Google Shape;1202;p117"/>
          <p:cNvGraphicFramePr/>
          <p:nvPr/>
        </p:nvGraphicFramePr>
        <p:xfrm>
          <a:off x="1981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OneClick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3" name="Google Shape;1203;p117"/>
          <p:cNvGraphicFramePr/>
          <p:nvPr/>
        </p:nvGraphicFramePr>
        <p:xfrm>
          <a:off x="6553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prodName</a:t>
                      </a:r>
                      <a:endParaRPr b="0" i="0" sz="16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Ritz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4" name="Google Shape;1204;p117"/>
          <p:cNvGraphicFramePr/>
          <p:nvPr/>
        </p:nvGraphicFramePr>
        <p:xfrm>
          <a:off x="7620000" y="418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Ritz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5" name="Google Shape;1205;p117"/>
          <p:cNvSpPr/>
          <p:nvPr/>
        </p:nvSpPr>
        <p:spPr>
          <a:xfrm>
            <a:off x="1981201" y="1295401"/>
            <a:ext cx="11639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206" name="Google Shape;1206;p117"/>
          <p:cNvSpPr/>
          <p:nvPr/>
        </p:nvSpPr>
        <p:spPr>
          <a:xfrm>
            <a:off x="6553200" y="1295401"/>
            <a:ext cx="13217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Purchase</a:t>
            </a:r>
            <a:endParaRPr/>
          </a:p>
        </p:txBody>
      </p:sp>
      <p:sp>
        <p:nvSpPr>
          <p:cNvPr id="1207" name="Google Shape;1207;p117"/>
          <p:cNvSpPr/>
          <p:nvPr/>
        </p:nvSpPr>
        <p:spPr>
          <a:xfrm>
            <a:off x="564060" y="4478277"/>
            <a:ext cx="5989140" cy="12557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INNER JOIN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ON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Product.name = Purchase.prodName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17"/>
          <p:cNvSpPr txBox="1"/>
          <p:nvPr/>
        </p:nvSpPr>
        <p:spPr>
          <a:xfrm>
            <a:off x="564060" y="5929458"/>
            <a:ext cx="4122240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another equivalent way to write an INNER JOIN!</a:t>
            </a:r>
            <a:endParaRPr/>
          </a:p>
        </p:txBody>
      </p:sp>
      <p:sp>
        <p:nvSpPr>
          <p:cNvPr id="1209" name="Google Shape;1209;p117"/>
          <p:cNvSpPr/>
          <p:nvPr/>
        </p:nvSpPr>
        <p:spPr>
          <a:xfrm>
            <a:off x="6807200" y="5051912"/>
            <a:ext cx="584200" cy="279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18"/>
          <p:cNvSpPr txBox="1"/>
          <p:nvPr>
            <p:ph type="title"/>
          </p:nvPr>
        </p:nvSpPr>
        <p:spPr>
          <a:xfrm>
            <a:off x="914400" y="4586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LEFT OUTER JOIN:</a:t>
            </a:r>
            <a:endParaRPr/>
          </a:p>
        </p:txBody>
      </p:sp>
      <p:sp>
        <p:nvSpPr>
          <p:cNvPr id="1216" name="Google Shape;1216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17" name="Google Shape;1217;p118"/>
          <p:cNvGraphicFramePr/>
          <p:nvPr/>
        </p:nvGraphicFramePr>
        <p:xfrm>
          <a:off x="1981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gadget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OneClick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8" name="Google Shape;1218;p118"/>
          <p:cNvGraphicFramePr/>
          <p:nvPr/>
        </p:nvGraphicFramePr>
        <p:xfrm>
          <a:off x="6553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prodName</a:t>
                      </a:r>
                      <a:endParaRPr b="0" i="0" sz="16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Ritz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9" name="Google Shape;1219;p118"/>
          <p:cNvGraphicFramePr/>
          <p:nvPr/>
        </p:nvGraphicFramePr>
        <p:xfrm>
          <a:off x="7620000" y="418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{7586CC5F-FD31-41A2-AAF2-48CD0A2B1C9B}</a:tableStyleId>
              </a:tblPr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Gizmo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Ritz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Wiz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OneClick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505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5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0" name="Google Shape;1220;p118"/>
          <p:cNvSpPr/>
          <p:nvPr/>
        </p:nvSpPr>
        <p:spPr>
          <a:xfrm>
            <a:off x="1981201" y="1295401"/>
            <a:ext cx="11639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221" name="Google Shape;1221;p118"/>
          <p:cNvSpPr/>
          <p:nvPr/>
        </p:nvSpPr>
        <p:spPr>
          <a:xfrm>
            <a:off x="6553200" y="1295401"/>
            <a:ext cx="13217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Purchase</a:t>
            </a:r>
            <a:endParaRPr/>
          </a:p>
        </p:txBody>
      </p:sp>
      <p:sp>
        <p:nvSpPr>
          <p:cNvPr id="1222" name="Google Shape;1222;p118"/>
          <p:cNvSpPr/>
          <p:nvPr/>
        </p:nvSpPr>
        <p:spPr>
          <a:xfrm>
            <a:off x="564060" y="4798977"/>
            <a:ext cx="5989140" cy="12557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Product.name, Purchase.store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Product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OUTER JOIN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ON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Product.name = Purchase.prodName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18"/>
          <p:cNvSpPr/>
          <p:nvPr/>
        </p:nvSpPr>
        <p:spPr>
          <a:xfrm>
            <a:off x="6807200" y="5321300"/>
            <a:ext cx="584200" cy="279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Outer Joins</a:t>
            </a:r>
            <a:endParaRPr/>
          </a:p>
        </p:txBody>
      </p:sp>
      <p:sp>
        <p:nvSpPr>
          <p:cNvPr id="1230" name="Google Shape;1230;p1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Left outer join: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Include the left tuple even if there’s no match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Right outer join: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Include the right tuple even if there’s no match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Full outer join: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Include the both left and right tuples even if there’s no match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31" name="Google Shape;1231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7" name="Google Shape;1237;p1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Unintuitive Query</a:t>
            </a:r>
            <a:endParaRPr/>
          </a:p>
        </p:txBody>
      </p:sp>
      <p:sp>
        <p:nvSpPr>
          <p:cNvPr id="1244" name="Google Shape;1244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5" name="Google Shape;1245;p121"/>
          <p:cNvSpPr txBox="1"/>
          <p:nvPr/>
        </p:nvSpPr>
        <p:spPr>
          <a:xfrm>
            <a:off x="3606432" y="1935869"/>
            <a:ext cx="483337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 OR R.A=T.A</a:t>
            </a:r>
            <a:endParaRPr/>
          </a:p>
        </p:txBody>
      </p:sp>
      <p:sp>
        <p:nvSpPr>
          <p:cNvPr id="1246" name="Google Shape;1246;p121"/>
          <p:cNvSpPr/>
          <p:nvPr/>
        </p:nvSpPr>
        <p:spPr>
          <a:xfrm>
            <a:off x="4437063" y="3655425"/>
            <a:ext cx="31721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does it compute?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Unintuitive Query</a:t>
            </a:r>
            <a:endParaRPr/>
          </a:p>
        </p:txBody>
      </p:sp>
      <p:sp>
        <p:nvSpPr>
          <p:cNvPr id="1253" name="Google Shape;1253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4" name="Google Shape;1254;p122"/>
          <p:cNvSpPr txBox="1"/>
          <p:nvPr/>
        </p:nvSpPr>
        <p:spPr>
          <a:xfrm>
            <a:off x="3606432" y="1935869"/>
            <a:ext cx="483337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 OR R.A=T.A</a:t>
            </a:r>
            <a:endParaRPr/>
          </a:p>
        </p:txBody>
      </p:sp>
      <p:sp>
        <p:nvSpPr>
          <p:cNvPr id="1255" name="Google Shape;1255;p122"/>
          <p:cNvSpPr/>
          <p:nvPr/>
        </p:nvSpPr>
        <p:spPr>
          <a:xfrm>
            <a:off x="1841362" y="5517826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R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T)</a:t>
            </a:r>
            <a:endParaRPr/>
          </a:p>
        </p:txBody>
      </p:sp>
      <p:sp>
        <p:nvSpPr>
          <p:cNvPr id="1256" name="Google Shape;1256;p122"/>
          <p:cNvSpPr/>
          <p:nvPr/>
        </p:nvSpPr>
        <p:spPr>
          <a:xfrm>
            <a:off x="7629402" y="4729648"/>
            <a:ext cx="2359240" cy="46166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what if S =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257" name="Google Shape;1257;p122"/>
          <p:cNvSpPr/>
          <p:nvPr/>
        </p:nvSpPr>
        <p:spPr>
          <a:xfrm>
            <a:off x="4870312" y="3636168"/>
            <a:ext cx="1381688" cy="1381688"/>
          </a:xfrm>
          <a:prstGeom prst="ellipse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122"/>
          <p:cNvSpPr/>
          <p:nvPr/>
        </p:nvSpPr>
        <p:spPr>
          <a:xfrm>
            <a:off x="5794238" y="3636168"/>
            <a:ext cx="1381688" cy="1381688"/>
          </a:xfrm>
          <a:prstGeom prst="ellipse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122"/>
          <p:cNvSpPr/>
          <p:nvPr/>
        </p:nvSpPr>
        <p:spPr>
          <a:xfrm>
            <a:off x="5332275" y="4382617"/>
            <a:ext cx="1381688" cy="1381688"/>
          </a:xfrm>
          <a:prstGeom prst="ellipse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0" name="Google Shape;1260;p122"/>
          <p:cNvCxnSpPr>
            <a:stCxn id="1255" idx="0"/>
          </p:cNvCxnSpPr>
          <p:nvPr/>
        </p:nvCxnSpPr>
        <p:spPr>
          <a:xfrm flipH="1" rot="10800000">
            <a:off x="3355837" y="5017726"/>
            <a:ext cx="1968000" cy="500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1" name="Google Shape;1261;p122"/>
          <p:cNvSpPr txBox="1"/>
          <p:nvPr/>
        </p:nvSpPr>
        <p:spPr>
          <a:xfrm>
            <a:off x="7629402" y="5517826"/>
            <a:ext cx="2858668" cy="40011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back to the semantics!</a:t>
            </a:r>
            <a:endParaRPr/>
          </a:p>
        </p:txBody>
      </p:sp>
      <p:sp>
        <p:nvSpPr>
          <p:cNvPr id="1262" name="Google Shape;1262;p122"/>
          <p:cNvSpPr/>
          <p:nvPr/>
        </p:nvSpPr>
        <p:spPr>
          <a:xfrm>
            <a:off x="5333847" y="4385342"/>
            <a:ext cx="1373561" cy="637476"/>
          </a:xfrm>
          <a:custGeom>
            <a:rect b="b" l="l" r="r" t="t"/>
            <a:pathLst>
              <a:path extrusionOk="0" h="637476" w="1373561">
                <a:moveTo>
                  <a:pt x="3008" y="589795"/>
                </a:moveTo>
                <a:cubicBezTo>
                  <a:pt x="22305" y="513811"/>
                  <a:pt x="111554" y="264753"/>
                  <a:pt x="230955" y="166456"/>
                </a:cubicBezTo>
                <a:cubicBezTo>
                  <a:pt x="350356" y="68159"/>
                  <a:pt x="566845" y="-1191"/>
                  <a:pt x="719413" y="15"/>
                </a:cubicBezTo>
                <a:cubicBezTo>
                  <a:pt x="871981" y="1221"/>
                  <a:pt x="1038418" y="84441"/>
                  <a:pt x="1146361" y="173692"/>
                </a:cubicBezTo>
                <a:cubicBezTo>
                  <a:pt x="1254304" y="262943"/>
                  <a:pt x="1342348" y="462552"/>
                  <a:pt x="1367072" y="535521"/>
                </a:cubicBezTo>
                <a:cubicBezTo>
                  <a:pt x="1391797" y="608490"/>
                  <a:pt x="1341142" y="594620"/>
                  <a:pt x="1294708" y="611505"/>
                </a:cubicBezTo>
                <a:cubicBezTo>
                  <a:pt x="1248274" y="628390"/>
                  <a:pt x="1148773" y="640451"/>
                  <a:pt x="1088470" y="636833"/>
                </a:cubicBezTo>
                <a:cubicBezTo>
                  <a:pt x="1028167" y="633215"/>
                  <a:pt x="993190" y="615123"/>
                  <a:pt x="932887" y="589795"/>
                </a:cubicBezTo>
                <a:cubicBezTo>
                  <a:pt x="872584" y="564467"/>
                  <a:pt x="767052" y="508987"/>
                  <a:pt x="726649" y="484865"/>
                </a:cubicBezTo>
                <a:cubicBezTo>
                  <a:pt x="686246" y="460743"/>
                  <a:pt x="698306" y="451697"/>
                  <a:pt x="690467" y="445064"/>
                </a:cubicBezTo>
                <a:cubicBezTo>
                  <a:pt x="682628" y="438431"/>
                  <a:pt x="684437" y="442049"/>
                  <a:pt x="679613" y="445064"/>
                </a:cubicBezTo>
                <a:cubicBezTo>
                  <a:pt x="674789" y="448079"/>
                  <a:pt x="688056" y="443254"/>
                  <a:pt x="661522" y="463155"/>
                </a:cubicBezTo>
                <a:cubicBezTo>
                  <a:pt x="634989" y="483055"/>
                  <a:pt x="577700" y="537933"/>
                  <a:pt x="520412" y="564467"/>
                </a:cubicBezTo>
                <a:cubicBezTo>
                  <a:pt x="463124" y="591001"/>
                  <a:pt x="385332" y="612710"/>
                  <a:pt x="317792" y="622359"/>
                </a:cubicBezTo>
                <a:cubicBezTo>
                  <a:pt x="250252" y="632008"/>
                  <a:pt x="168842" y="627183"/>
                  <a:pt x="115172" y="622359"/>
                </a:cubicBezTo>
                <a:cubicBezTo>
                  <a:pt x="61502" y="617535"/>
                  <a:pt x="-16289" y="665779"/>
                  <a:pt x="3008" y="589795"/>
                </a:cubicBezTo>
                <a:close/>
              </a:path>
            </a:pathLst>
          </a:custGeom>
          <a:solidFill>
            <a:srgbClr val="F7CAAC">
              <a:alpha val="60000"/>
            </a:srgbClr>
          </a:solidFill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122"/>
          <p:cNvSpPr txBox="1"/>
          <p:nvPr/>
        </p:nvSpPr>
        <p:spPr>
          <a:xfrm>
            <a:off x="3248526" y="301063"/>
            <a:ext cx="6311280" cy="40011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https://teachingow.github.io/DBMS-SQL-Labs/inclass/Lab2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Unintuitive Query</a:t>
            </a:r>
            <a:endParaRPr/>
          </a:p>
        </p:txBody>
      </p:sp>
      <p:sp>
        <p:nvSpPr>
          <p:cNvPr id="1270" name="Google Shape;1270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1" name="Google Shape;1271;p123"/>
          <p:cNvSpPr txBox="1"/>
          <p:nvPr/>
        </p:nvSpPr>
        <p:spPr>
          <a:xfrm>
            <a:off x="3606432" y="1935869"/>
            <a:ext cx="483337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 OR R.A=T.A</a:t>
            </a:r>
            <a:endParaRPr/>
          </a:p>
        </p:txBody>
      </p:sp>
      <p:sp>
        <p:nvSpPr>
          <p:cNvPr id="1272" name="Google Shape;1272;p123"/>
          <p:cNvSpPr txBox="1"/>
          <p:nvPr/>
        </p:nvSpPr>
        <p:spPr>
          <a:xfrm>
            <a:off x="838200" y="3381379"/>
            <a:ext cx="10782300" cy="207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semantics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cross-product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 = {}, then the cross product of R, S, T = {}, and the query result = {}!</a:t>
            </a:r>
            <a:endParaRPr/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123"/>
          <p:cNvSpPr txBox="1"/>
          <p:nvPr/>
        </p:nvSpPr>
        <p:spPr>
          <a:xfrm>
            <a:off x="2181779" y="5758715"/>
            <a:ext cx="7682680" cy="83099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consider semantics here.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there more explicit way to do set operations like this?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does this look like in Python?</a:t>
            </a:r>
            <a:endParaRPr/>
          </a:p>
        </p:txBody>
      </p:sp>
      <p:sp>
        <p:nvSpPr>
          <p:cNvPr id="1280" name="Google Shape;1280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1" name="Google Shape;1281;p124"/>
          <p:cNvSpPr txBox="1"/>
          <p:nvPr/>
        </p:nvSpPr>
        <p:spPr>
          <a:xfrm>
            <a:off x="760732" y="1883335"/>
            <a:ext cx="483337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 OR R.A=T.A</a:t>
            </a:r>
            <a:endParaRPr/>
          </a:p>
        </p:txBody>
      </p:sp>
      <p:sp>
        <p:nvSpPr>
          <p:cNvPr id="1282" name="Google Shape;1282;p124"/>
          <p:cNvSpPr txBox="1"/>
          <p:nvPr/>
        </p:nvSpPr>
        <p:spPr>
          <a:xfrm>
            <a:off x="838200" y="3381379"/>
            <a:ext cx="5408364" cy="3195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Semantics: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cross-product</a:t>
            </a:r>
            <a:endParaRPr/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endParaRPr/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124"/>
          <p:cNvSpPr/>
          <p:nvPr/>
        </p:nvSpPr>
        <p:spPr>
          <a:xfrm>
            <a:off x="6023119" y="3608020"/>
            <a:ext cx="5597381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Joins / cross-products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just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for loops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 simplest implementation)!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124"/>
          <p:cNvSpPr/>
          <p:nvPr/>
        </p:nvSpPr>
        <p:spPr>
          <a:xfrm>
            <a:off x="6023119" y="4982316"/>
            <a:ext cx="2587481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If-then statements!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5" name="Google Shape;1285;p124"/>
          <p:cNvGrpSpPr/>
          <p:nvPr/>
        </p:nvGrpSpPr>
        <p:grpSpPr>
          <a:xfrm>
            <a:off x="7447783" y="1023698"/>
            <a:ext cx="4172717" cy="2128137"/>
            <a:chOff x="3003209" y="3636168"/>
            <a:chExt cx="4172717" cy="2128137"/>
          </a:xfrm>
        </p:grpSpPr>
        <p:sp>
          <p:nvSpPr>
            <p:cNvPr id="1286" name="Google Shape;1286;p124"/>
            <p:cNvSpPr/>
            <p:nvPr/>
          </p:nvSpPr>
          <p:spPr>
            <a:xfrm>
              <a:off x="3003209" y="5034039"/>
              <a:ext cx="15760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 </a:t>
              </a: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∩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(S </a:t>
              </a: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∪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T)</a:t>
              </a:r>
              <a:endParaRPr/>
            </a:p>
          </p:txBody>
        </p:sp>
        <p:sp>
          <p:nvSpPr>
            <p:cNvPr id="1287" name="Google Shape;1287;p124"/>
            <p:cNvSpPr/>
            <p:nvPr/>
          </p:nvSpPr>
          <p:spPr>
            <a:xfrm>
              <a:off x="4870312" y="3636168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24"/>
            <p:cNvSpPr/>
            <p:nvPr/>
          </p:nvSpPr>
          <p:spPr>
            <a:xfrm>
              <a:off x="5794238" y="3636168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24"/>
            <p:cNvSpPr/>
            <p:nvPr/>
          </p:nvSpPr>
          <p:spPr>
            <a:xfrm>
              <a:off x="5332275" y="4382617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0" name="Google Shape;1290;p124"/>
            <p:cNvCxnSpPr/>
            <p:nvPr/>
          </p:nvCxnSpPr>
          <p:spPr>
            <a:xfrm flipH="1" rot="10800000">
              <a:off x="4579281" y="5017856"/>
              <a:ext cx="744507" cy="206199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91" name="Google Shape;1291;p124"/>
            <p:cNvSpPr/>
            <p:nvPr/>
          </p:nvSpPr>
          <p:spPr>
            <a:xfrm>
              <a:off x="5333847" y="4385342"/>
              <a:ext cx="1373561" cy="637476"/>
            </a:xfrm>
            <a:custGeom>
              <a:rect b="b" l="l" r="r" t="t"/>
              <a:pathLst>
                <a:path extrusionOk="0" h="637476" w="1373561">
                  <a:moveTo>
                    <a:pt x="3008" y="589795"/>
                  </a:moveTo>
                  <a:cubicBezTo>
                    <a:pt x="22305" y="513811"/>
                    <a:pt x="111554" y="264753"/>
                    <a:pt x="230955" y="166456"/>
                  </a:cubicBezTo>
                  <a:cubicBezTo>
                    <a:pt x="350356" y="68159"/>
                    <a:pt x="566845" y="-1191"/>
                    <a:pt x="719413" y="15"/>
                  </a:cubicBezTo>
                  <a:cubicBezTo>
                    <a:pt x="871981" y="1221"/>
                    <a:pt x="1038418" y="84441"/>
                    <a:pt x="1146361" y="173692"/>
                  </a:cubicBezTo>
                  <a:cubicBezTo>
                    <a:pt x="1254304" y="262943"/>
                    <a:pt x="1342348" y="462552"/>
                    <a:pt x="1367072" y="535521"/>
                  </a:cubicBezTo>
                  <a:cubicBezTo>
                    <a:pt x="1391797" y="608490"/>
                    <a:pt x="1341142" y="594620"/>
                    <a:pt x="1294708" y="611505"/>
                  </a:cubicBezTo>
                  <a:cubicBezTo>
                    <a:pt x="1248274" y="628390"/>
                    <a:pt x="1148773" y="640451"/>
                    <a:pt x="1088470" y="636833"/>
                  </a:cubicBezTo>
                  <a:cubicBezTo>
                    <a:pt x="1028167" y="633215"/>
                    <a:pt x="993190" y="615123"/>
                    <a:pt x="932887" y="589795"/>
                  </a:cubicBezTo>
                  <a:cubicBezTo>
                    <a:pt x="872584" y="564467"/>
                    <a:pt x="767052" y="508987"/>
                    <a:pt x="726649" y="484865"/>
                  </a:cubicBezTo>
                  <a:cubicBezTo>
                    <a:pt x="686246" y="460743"/>
                    <a:pt x="698306" y="451697"/>
                    <a:pt x="690467" y="445064"/>
                  </a:cubicBezTo>
                  <a:cubicBezTo>
                    <a:pt x="682628" y="438431"/>
                    <a:pt x="684437" y="442049"/>
                    <a:pt x="679613" y="445064"/>
                  </a:cubicBezTo>
                  <a:cubicBezTo>
                    <a:pt x="674789" y="448079"/>
                    <a:pt x="688056" y="443254"/>
                    <a:pt x="661522" y="463155"/>
                  </a:cubicBezTo>
                  <a:cubicBezTo>
                    <a:pt x="634989" y="483055"/>
                    <a:pt x="577700" y="537933"/>
                    <a:pt x="520412" y="564467"/>
                  </a:cubicBezTo>
                  <a:cubicBezTo>
                    <a:pt x="463124" y="591001"/>
                    <a:pt x="385332" y="612710"/>
                    <a:pt x="317792" y="622359"/>
                  </a:cubicBezTo>
                  <a:cubicBezTo>
                    <a:pt x="250252" y="632008"/>
                    <a:pt x="168842" y="627183"/>
                    <a:pt x="115172" y="622359"/>
                  </a:cubicBezTo>
                  <a:cubicBezTo>
                    <a:pt x="61502" y="617535"/>
                    <a:pt x="-16289" y="665779"/>
                    <a:pt x="3008" y="589795"/>
                  </a:cubicBezTo>
                  <a:close/>
                </a:path>
              </a:pathLst>
            </a:custGeom>
            <a:solidFill>
              <a:srgbClr val="F7CAAC">
                <a:alpha val="60000"/>
              </a:srgbClr>
            </a:solidFill>
            <a:ln cap="flat" cmpd="sng" w="9525">
              <a:solidFill>
                <a:srgbClr val="ED7D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does this look like in Python?</a:t>
            </a:r>
            <a:endParaRPr/>
          </a:p>
        </p:txBody>
      </p:sp>
      <p:sp>
        <p:nvSpPr>
          <p:cNvPr id="1298" name="Google Shape;1298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9" name="Google Shape;1299;p125"/>
          <p:cNvSpPr txBox="1"/>
          <p:nvPr/>
        </p:nvSpPr>
        <p:spPr>
          <a:xfrm>
            <a:off x="760732" y="1883335"/>
            <a:ext cx="4833374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S, 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R.A=S.A OR R.A=T.A</a:t>
            </a:r>
            <a:endParaRPr/>
          </a:p>
        </p:txBody>
      </p:sp>
      <p:grpSp>
        <p:nvGrpSpPr>
          <p:cNvPr id="1300" name="Google Shape;1300;p125"/>
          <p:cNvGrpSpPr/>
          <p:nvPr/>
        </p:nvGrpSpPr>
        <p:grpSpPr>
          <a:xfrm>
            <a:off x="7447783" y="1023698"/>
            <a:ext cx="4172717" cy="2128137"/>
            <a:chOff x="3003209" y="3636168"/>
            <a:chExt cx="4172717" cy="2128137"/>
          </a:xfrm>
        </p:grpSpPr>
        <p:sp>
          <p:nvSpPr>
            <p:cNvPr id="1301" name="Google Shape;1301;p125"/>
            <p:cNvSpPr/>
            <p:nvPr/>
          </p:nvSpPr>
          <p:spPr>
            <a:xfrm>
              <a:off x="3003209" y="5034039"/>
              <a:ext cx="15760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 </a:t>
              </a: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∩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(S </a:t>
              </a: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∪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T)</a:t>
              </a:r>
              <a:endParaRPr/>
            </a:p>
          </p:txBody>
        </p:sp>
        <p:sp>
          <p:nvSpPr>
            <p:cNvPr id="1302" name="Google Shape;1302;p125"/>
            <p:cNvSpPr/>
            <p:nvPr/>
          </p:nvSpPr>
          <p:spPr>
            <a:xfrm>
              <a:off x="4870312" y="3636168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25"/>
            <p:cNvSpPr/>
            <p:nvPr/>
          </p:nvSpPr>
          <p:spPr>
            <a:xfrm>
              <a:off x="5794238" y="3636168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25"/>
            <p:cNvSpPr/>
            <p:nvPr/>
          </p:nvSpPr>
          <p:spPr>
            <a:xfrm>
              <a:off x="5332275" y="4382617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aseline="-2500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5" name="Google Shape;1305;p125"/>
            <p:cNvCxnSpPr/>
            <p:nvPr/>
          </p:nvCxnSpPr>
          <p:spPr>
            <a:xfrm flipH="1" rot="10800000">
              <a:off x="4579281" y="5017856"/>
              <a:ext cx="744507" cy="206199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06" name="Google Shape;1306;p125"/>
            <p:cNvSpPr/>
            <p:nvPr/>
          </p:nvSpPr>
          <p:spPr>
            <a:xfrm>
              <a:off x="5333847" y="4385342"/>
              <a:ext cx="1373561" cy="637476"/>
            </a:xfrm>
            <a:custGeom>
              <a:rect b="b" l="l" r="r" t="t"/>
              <a:pathLst>
                <a:path extrusionOk="0" h="637476" w="1373561">
                  <a:moveTo>
                    <a:pt x="3008" y="589795"/>
                  </a:moveTo>
                  <a:cubicBezTo>
                    <a:pt x="22305" y="513811"/>
                    <a:pt x="111554" y="264753"/>
                    <a:pt x="230955" y="166456"/>
                  </a:cubicBezTo>
                  <a:cubicBezTo>
                    <a:pt x="350356" y="68159"/>
                    <a:pt x="566845" y="-1191"/>
                    <a:pt x="719413" y="15"/>
                  </a:cubicBezTo>
                  <a:cubicBezTo>
                    <a:pt x="871981" y="1221"/>
                    <a:pt x="1038418" y="84441"/>
                    <a:pt x="1146361" y="173692"/>
                  </a:cubicBezTo>
                  <a:cubicBezTo>
                    <a:pt x="1254304" y="262943"/>
                    <a:pt x="1342348" y="462552"/>
                    <a:pt x="1367072" y="535521"/>
                  </a:cubicBezTo>
                  <a:cubicBezTo>
                    <a:pt x="1391797" y="608490"/>
                    <a:pt x="1341142" y="594620"/>
                    <a:pt x="1294708" y="611505"/>
                  </a:cubicBezTo>
                  <a:cubicBezTo>
                    <a:pt x="1248274" y="628390"/>
                    <a:pt x="1148773" y="640451"/>
                    <a:pt x="1088470" y="636833"/>
                  </a:cubicBezTo>
                  <a:cubicBezTo>
                    <a:pt x="1028167" y="633215"/>
                    <a:pt x="993190" y="615123"/>
                    <a:pt x="932887" y="589795"/>
                  </a:cubicBezTo>
                  <a:cubicBezTo>
                    <a:pt x="872584" y="564467"/>
                    <a:pt x="767052" y="508987"/>
                    <a:pt x="726649" y="484865"/>
                  </a:cubicBezTo>
                  <a:cubicBezTo>
                    <a:pt x="686246" y="460743"/>
                    <a:pt x="698306" y="451697"/>
                    <a:pt x="690467" y="445064"/>
                  </a:cubicBezTo>
                  <a:cubicBezTo>
                    <a:pt x="682628" y="438431"/>
                    <a:pt x="684437" y="442049"/>
                    <a:pt x="679613" y="445064"/>
                  </a:cubicBezTo>
                  <a:cubicBezTo>
                    <a:pt x="674789" y="448079"/>
                    <a:pt x="688056" y="443254"/>
                    <a:pt x="661522" y="463155"/>
                  </a:cubicBezTo>
                  <a:cubicBezTo>
                    <a:pt x="634989" y="483055"/>
                    <a:pt x="577700" y="537933"/>
                    <a:pt x="520412" y="564467"/>
                  </a:cubicBezTo>
                  <a:cubicBezTo>
                    <a:pt x="463124" y="591001"/>
                    <a:pt x="385332" y="612710"/>
                    <a:pt x="317792" y="622359"/>
                  </a:cubicBezTo>
                  <a:cubicBezTo>
                    <a:pt x="250252" y="632008"/>
                    <a:pt x="168842" y="627183"/>
                    <a:pt x="115172" y="622359"/>
                  </a:cubicBezTo>
                  <a:cubicBezTo>
                    <a:pt x="61502" y="617535"/>
                    <a:pt x="-16289" y="665779"/>
                    <a:pt x="3008" y="589795"/>
                  </a:cubicBezTo>
                  <a:close/>
                </a:path>
              </a:pathLst>
            </a:custGeom>
            <a:solidFill>
              <a:srgbClr val="F7CAAC">
                <a:alpha val="60000"/>
              </a:srgbClr>
            </a:solidFill>
            <a:ln cap="flat" cmpd="sng" w="9525">
              <a:solidFill>
                <a:srgbClr val="ED7D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7" name="Google Shape;1307;p125"/>
          <p:cNvSpPr/>
          <p:nvPr/>
        </p:nvSpPr>
        <p:spPr>
          <a:xfrm>
            <a:off x="838200" y="3404459"/>
            <a:ext cx="10782300" cy="255454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 =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r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for s in 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for t in 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if r[‘A’] == s[‘A’] or r[‘A’] == t[‘A’]: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output.add(r[‘A’])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return list(output)</a:t>
            </a:r>
            <a:endParaRPr/>
          </a:p>
        </p:txBody>
      </p:sp>
      <p:sp>
        <p:nvSpPr>
          <p:cNvPr id="1308" name="Google Shape;1308;p125"/>
          <p:cNvSpPr txBox="1"/>
          <p:nvPr/>
        </p:nvSpPr>
        <p:spPr>
          <a:xfrm>
            <a:off x="1683099" y="6279799"/>
            <a:ext cx="519821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see now what happens if S = []?</a:t>
            </a:r>
            <a:endParaRPr/>
          </a:p>
        </p:txBody>
      </p:sp>
      <p:sp>
        <p:nvSpPr>
          <p:cNvPr id="1309" name="Google Shape;1309;p125"/>
          <p:cNvSpPr txBox="1"/>
          <p:nvPr/>
        </p:nvSpPr>
        <p:spPr>
          <a:xfrm>
            <a:off x="7771557" y="6279799"/>
            <a:ext cx="2997744" cy="369332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bonus activity on website!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315" name="Google Shape;1315;p126"/>
          <p:cNvSpPr txBox="1"/>
          <p:nvPr>
            <p:ph idx="1" type="body"/>
          </p:nvPr>
        </p:nvSpPr>
        <p:spPr>
          <a:xfrm>
            <a:off x="1981200" y="3191070"/>
            <a:ext cx="8229600" cy="143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700"/>
              <a:t>SQL is a rich programming language that handles the way data is processed </a:t>
            </a:r>
            <a:r>
              <a:rPr i="1" lang="en-US" sz="4700" u="sng"/>
              <a:t>declaratively</a:t>
            </a:r>
            <a:endParaRPr sz="4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u="sng"/>
          </a:p>
        </p:txBody>
      </p:sp>
      <p:sp>
        <p:nvSpPr>
          <p:cNvPr id="1316" name="Google Shape;1316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