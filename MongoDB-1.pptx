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144000"/>
  <p:notesSz cx="6858000" cy="9144000"/>
  <p:embeddedFontLst>
    <p:embeddedFont>
      <p:font typeface="Constantia"/>
      <p:regular r:id="rId58"/>
      <p:bold r:id="rId59"/>
      <p:italic r:id="rId60"/>
      <p:boldItalic r:id="rId61"/>
    </p:embeddedFont>
    <p:embeddedFont>
      <p:font typeface="Garamond"/>
      <p:regular r:id="rId62"/>
      <p:bold r:id="rId63"/>
      <p:italic r:id="rId64"/>
      <p:boldItalic r:id="rId65"/>
    </p:embeddedFont>
    <p:embeddedFont>
      <p:font typeface="Courgette"/>
      <p:regular r:id="rId66"/>
    </p:embeddedFont>
    <p:embeddedFont>
      <p:font typeface="Lustria"/>
      <p:regular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aramond-regular.fntdata"/><Relationship Id="rId61" Type="http://schemas.openxmlformats.org/officeDocument/2006/relationships/font" Target="fonts/Constantia-boldItalic.fntdata"/><Relationship Id="rId20" Type="http://schemas.openxmlformats.org/officeDocument/2006/relationships/slide" Target="slides/slide15.xml"/><Relationship Id="rId64" Type="http://schemas.openxmlformats.org/officeDocument/2006/relationships/font" Target="fonts/Garamond-italic.fntdata"/><Relationship Id="rId63" Type="http://schemas.openxmlformats.org/officeDocument/2006/relationships/font" Target="fonts/Garamond-bold.fntdata"/><Relationship Id="rId22" Type="http://schemas.openxmlformats.org/officeDocument/2006/relationships/slide" Target="slides/slide17.xml"/><Relationship Id="rId66" Type="http://schemas.openxmlformats.org/officeDocument/2006/relationships/font" Target="fonts/Courgette-regular.fntdata"/><Relationship Id="rId21" Type="http://schemas.openxmlformats.org/officeDocument/2006/relationships/slide" Target="slides/slide16.xml"/><Relationship Id="rId65" Type="http://schemas.openxmlformats.org/officeDocument/2006/relationships/font" Target="fonts/Garamon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Lustria-regular.fntdata"/><Relationship Id="rId60" Type="http://schemas.openxmlformats.org/officeDocument/2006/relationships/font" Target="fonts/Constantia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onstantia-bold.fntdata"/><Relationship Id="rId14" Type="http://schemas.openxmlformats.org/officeDocument/2006/relationships/slide" Target="slides/slide9.xml"/><Relationship Id="rId58" Type="http://schemas.openxmlformats.org/officeDocument/2006/relationships/font" Target="fonts/Constanti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2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7" name="Google Shape;17;p2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cap="flat" cmpd="sng" w="12700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9" name="Google Shape;19;p2"/>
            <p:cNvCxnSpPr/>
            <p:nvPr/>
          </p:nvCxnSpPr>
          <p:spPr>
            <a:xfrm>
              <a:off x="562842" y="6133646"/>
              <a:ext cx="7982712" cy="1472"/>
            </a:xfrm>
            <a:prstGeom prst="straightConnector1">
              <a:avLst/>
            </a:prstGeom>
            <a:noFill/>
            <a:ln cap="flat" cmpd="sng" w="12700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1" name="Google Shape;21;p2"/>
          <p:cNvSpPr txBox="1"/>
          <p:nvPr>
            <p:ph type="ctrTitle"/>
          </p:nvPr>
        </p:nvSpPr>
        <p:spPr>
          <a:xfrm>
            <a:off x="914400" y="1123950"/>
            <a:ext cx="7342188" cy="192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Lustria"/>
              <a:buNone/>
              <a:defRPr sz="5400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914400" y="3429000"/>
            <a:ext cx="734218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573741" y="6122894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5638800" y="6122894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4191000" y="6122894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8" name="Google Shape;28;p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29" name="Google Shape;29;p3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31" name="Google Shape;31;p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" name="Google Shape;32;p3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rgbClr val="C9D1D5"/>
              </a:solidFill>
              <a:ln cap="flat" cmpd="sng" w="9525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33" name="Google Shape;33;p3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40" name="Google Shape;40;p4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41" name="Google Shape;41;p4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42" name="Google Shape;42;p4"/>
              <p:cNvSpPr/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43" name="Google Shape;43;p4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4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5" name="Google Shape;45;p4"/>
          <p:cNvSpPr txBox="1"/>
          <p:nvPr>
            <p:ph type="ctrTitle"/>
          </p:nvPr>
        </p:nvSpPr>
        <p:spPr>
          <a:xfrm>
            <a:off x="900113" y="3442447"/>
            <a:ext cx="7345362" cy="15329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Lustria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" type="subTitle"/>
          </p:nvPr>
        </p:nvSpPr>
        <p:spPr>
          <a:xfrm>
            <a:off x="900113" y="5029200"/>
            <a:ext cx="734536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0" type="dt"/>
          </p:nvPr>
        </p:nvSpPr>
        <p:spPr>
          <a:xfrm>
            <a:off x="569259" y="6122894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1" type="ftr"/>
          </p:nvPr>
        </p:nvSpPr>
        <p:spPr>
          <a:xfrm>
            <a:off x="5638800" y="612440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/>
          <p:nvPr>
            <p:ph idx="2" type="pic"/>
          </p:nvPr>
        </p:nvSpPr>
        <p:spPr>
          <a:xfrm>
            <a:off x="636493" y="533400"/>
            <a:ext cx="7836408" cy="28289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52" name="Google Shape;52;p5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53" name="Google Shape;53;p5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55" name="Google Shape;55;p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6" name="Google Shape;56;p5"/>
          <p:cNvSpPr txBox="1"/>
          <p:nvPr>
            <p:ph type="title"/>
          </p:nvPr>
        </p:nvSpPr>
        <p:spPr>
          <a:xfrm>
            <a:off x="900113" y="1371600"/>
            <a:ext cx="734536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Lustria"/>
              <a:buNone/>
              <a:defRPr b="0" i="0" sz="54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900113" y="3134566"/>
            <a:ext cx="734536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6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63" name="Google Shape;63;p6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64" name="Google Shape;64;p6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65" name="Google Shape;65;p6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66" name="Google Shape;66;p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" name="Google Shape;67;p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rgbClr val="C9D1D5"/>
              </a:solidFill>
              <a:ln cap="flat" cmpd="sng" w="9525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68" name="Google Shape;68;p6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900111" y="2147888"/>
            <a:ext cx="3566160" cy="392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2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4648199" y="2147888"/>
            <a:ext cx="3566160" cy="392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2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76" name="Google Shape;76;p7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77" name="Google Shape;77;p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63500" sx="101000" rotWithShape="0" algn="ctr" sy="101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grpSp>
            <p:nvGrpSpPr>
              <p:cNvPr id="78" name="Google Shape;78;p7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79" name="Google Shape;79;p7"/>
                <p:cNvSpPr/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cxnSp>
              <p:nvCxnSpPr>
                <p:cNvPr id="80" name="Google Shape;80;p7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1" name="Google Shape;81;p7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rgbClr val="C9D1D5"/>
                </a:solidFill>
                <a:ln cap="flat" cmpd="sng" w="9525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</p:grpSp>
        </p:grpSp>
        <p:cxnSp>
          <p:nvCxnSpPr>
            <p:cNvPr id="82" name="Google Shape;82;p7"/>
            <p:cNvCxnSpPr/>
            <p:nvPr/>
          </p:nvCxnSpPr>
          <p:spPr>
            <a:xfrm flipH="1" rot="-5400000">
              <a:off x="2217480" y="4026438"/>
              <a:ext cx="4711326" cy="2286"/>
            </a:xfrm>
            <a:prstGeom prst="straightConnector1">
              <a:avLst/>
            </a:prstGeom>
            <a:noFill/>
            <a:ln cap="flat" cmpd="sng" w="12700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632301" y="1708990"/>
            <a:ext cx="3566160" cy="832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7"/>
          <p:cNvSpPr txBox="1"/>
          <p:nvPr>
            <p:ph idx="2" type="body"/>
          </p:nvPr>
        </p:nvSpPr>
        <p:spPr>
          <a:xfrm>
            <a:off x="632301" y="2590801"/>
            <a:ext cx="3566160" cy="348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2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86" name="Google Shape;86;p7"/>
          <p:cNvSpPr txBox="1"/>
          <p:nvPr>
            <p:ph idx="3" type="body"/>
          </p:nvPr>
        </p:nvSpPr>
        <p:spPr>
          <a:xfrm>
            <a:off x="4945539" y="1708990"/>
            <a:ext cx="3566160" cy="832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7"/>
          <p:cNvSpPr txBox="1"/>
          <p:nvPr>
            <p:ph idx="4" type="body"/>
          </p:nvPr>
        </p:nvSpPr>
        <p:spPr>
          <a:xfrm>
            <a:off x="4945539" y="2590801"/>
            <a:ext cx="3566160" cy="348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2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7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93" name="Google Shape;93;p8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94" name="Google Shape;94;p8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96" name="Google Shape;96;p8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8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rgbClr val="C9D1D5"/>
              </a:solidFill>
              <a:ln cap="flat" cmpd="sng" w="9525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98" name="Google Shape;98;p8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04" name="Google Shape;104;p9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105" name="Google Shape;105;p9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06" name="Google Shape;106;p9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107" name="Google Shape;107;p9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8" name="Google Shape;108;p9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13" name="Google Shape;113;p10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14" name="Google Shape;114;p10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63500" sx="101000" rotWithShape="0" algn="ctr" sy="101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grpSp>
            <p:nvGrpSpPr>
              <p:cNvPr id="115" name="Google Shape;115;p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16" name="Google Shape;116;p10"/>
                <p:cNvSpPr/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cxnSp>
              <p:nvCxnSpPr>
                <p:cNvPr id="117" name="Google Shape;117;p1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18" name="Google Shape;118;p10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19" name="Google Shape;119;p10"/>
          <p:cNvSpPr txBox="1"/>
          <p:nvPr>
            <p:ph type="title"/>
          </p:nvPr>
        </p:nvSpPr>
        <p:spPr>
          <a:xfrm>
            <a:off x="530225" y="1169892"/>
            <a:ext cx="30083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ustria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4328319" y="609600"/>
            <a:ext cx="4114800" cy="546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spcBef>
                <a:spcPts val="600"/>
              </a:spcBef>
              <a:spcAft>
                <a:spcPts val="0"/>
              </a:spcAft>
              <a:buSzPts val="2200"/>
              <a:buChar char="•"/>
              <a:defRPr sz="22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p10"/>
          <p:cNvSpPr txBox="1"/>
          <p:nvPr>
            <p:ph idx="2" type="body"/>
          </p:nvPr>
        </p:nvSpPr>
        <p:spPr>
          <a:xfrm>
            <a:off x="530225" y="2147888"/>
            <a:ext cx="3008313" cy="326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2" name="Google Shape;122;p10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1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27" name="Google Shape;127;p11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128" name="Google Shape;128;p11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129" name="Google Shape;129;p11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63500" sx="101000" rotWithShape="0" algn="ctr" sy="101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grpSp>
              <p:nvGrpSpPr>
                <p:cNvPr id="130" name="Google Shape;130;p11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131" name="Google Shape;131;p11"/>
                  <p:cNvSpPr/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rgbClr val="C6C5B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Lustria"/>
                      <a:ea typeface="Lustria"/>
                      <a:cs typeface="Lustria"/>
                      <a:sym typeface="Lustria"/>
                    </a:endParaRPr>
                  </a:p>
                </p:txBody>
              </p:sp>
              <p:cxnSp>
                <p:nvCxnSpPr>
                  <p:cNvPr id="132" name="Google Shape;132;p1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C6C5B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133" name="Google Shape;133;p11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rgbClr val="C9D1D5"/>
              </a:solidFill>
              <a:ln cap="flat" cmpd="sng" w="9525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134" name="Google Shape;134;p11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35" name="Google Shape;135;p11"/>
          <p:cNvSpPr txBox="1"/>
          <p:nvPr>
            <p:ph type="title"/>
          </p:nvPr>
        </p:nvSpPr>
        <p:spPr>
          <a:xfrm>
            <a:off x="530225" y="1694329"/>
            <a:ext cx="30083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ustria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4328319" y="609600"/>
            <a:ext cx="4114800" cy="546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spcBef>
                <a:spcPts val="600"/>
              </a:spcBef>
              <a:spcAft>
                <a:spcPts val="0"/>
              </a:spcAft>
              <a:buSzPts val="2200"/>
              <a:buChar char="•"/>
              <a:defRPr sz="22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37" name="Google Shape;137;p11"/>
          <p:cNvSpPr txBox="1"/>
          <p:nvPr>
            <p:ph idx="2" type="body"/>
          </p:nvPr>
        </p:nvSpPr>
        <p:spPr>
          <a:xfrm>
            <a:off x="530225" y="2672323"/>
            <a:ext cx="3008313" cy="340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8" name="Google Shape;138;p11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1"/>
          <p:cNvSpPr/>
          <p:nvPr>
            <p:ph idx="3" type="pic"/>
          </p:nvPr>
        </p:nvSpPr>
        <p:spPr>
          <a:xfrm>
            <a:off x="352892" y="310123"/>
            <a:ext cx="3398837" cy="12049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4" name="Google Shape;144;p12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45" name="Google Shape;145;p12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63500" sx="101000" rotWithShape="0" algn="ctr" sy="101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grpSp>
            <p:nvGrpSpPr>
              <p:cNvPr id="146" name="Google Shape;146;p12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47" name="Google Shape;147;p12"/>
                <p:cNvSpPr/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cxnSp>
              <p:nvCxnSpPr>
                <p:cNvPr id="148" name="Google Shape;148;p1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49" name="Google Shape;149;p1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50" name="Google Shape;150;p12"/>
          <p:cNvSpPr txBox="1"/>
          <p:nvPr>
            <p:ph type="title"/>
          </p:nvPr>
        </p:nvSpPr>
        <p:spPr>
          <a:xfrm>
            <a:off x="530352" y="1691640"/>
            <a:ext cx="30083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ustria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2"/>
          <p:cNvSpPr/>
          <p:nvPr>
            <p:ph idx="2" type="pic"/>
          </p:nvPr>
        </p:nvSpPr>
        <p:spPr>
          <a:xfrm>
            <a:off x="4338559" y="612775"/>
            <a:ext cx="4114800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530352" y="2670048"/>
            <a:ext cx="3008376" cy="340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3" name="Google Shape;153;p12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2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>
  <p:cSld name="Picture above Captio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3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58" name="Google Shape;158;p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9" name="Google Shape;159;p13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63500" sx="101000" rotWithShape="0" algn="ctr" sy="101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grpSp>
            <p:nvGrpSpPr>
              <p:cNvPr id="160" name="Google Shape;160;p13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61" name="Google Shape;161;p13"/>
                <p:cNvSpPr/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cxnSp>
              <p:nvCxnSpPr>
                <p:cNvPr id="162" name="Google Shape;162;p13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63" name="Google Shape;163;p13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64" name="Google Shape;164;p13"/>
          <p:cNvSpPr txBox="1"/>
          <p:nvPr>
            <p:ph type="title"/>
          </p:nvPr>
        </p:nvSpPr>
        <p:spPr>
          <a:xfrm>
            <a:off x="530351" y="4287819"/>
            <a:ext cx="8021977" cy="9161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Lustria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/>
          <p:nvPr>
            <p:ph idx="2" type="pic"/>
          </p:nvPr>
        </p:nvSpPr>
        <p:spPr>
          <a:xfrm>
            <a:off x="356347" y="331694"/>
            <a:ext cx="8421624" cy="3783106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3"/>
          <p:cNvSpPr txBox="1"/>
          <p:nvPr>
            <p:ph idx="1" type="body"/>
          </p:nvPr>
        </p:nvSpPr>
        <p:spPr>
          <a:xfrm>
            <a:off x="530351" y="5271247"/>
            <a:ext cx="8021977" cy="1013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13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72" name="Google Shape;172;p14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grpSp>
          <p:nvGrpSpPr>
            <p:cNvPr id="173" name="Google Shape;173;p14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74" name="Google Shape;174;p14"/>
              <p:cNvSpPr/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cxnSp>
            <p:nvCxnSpPr>
              <p:cNvPr id="175" name="Google Shape;175;p14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6" name="Google Shape;176;p1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rgbClr val="C9D1D5"/>
              </a:solidFill>
              <a:ln cap="flat" cmpd="sng" w="9525">
                <a:solidFill>
                  <a:srgbClr val="C6C5B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</p:grpSp>
      <p:sp>
        <p:nvSpPr>
          <p:cNvPr id="177" name="Google Shape;177;p14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 rot="5400000">
            <a:off x="2606834" y="426879"/>
            <a:ext cx="3931920" cy="734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4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4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4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5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84" name="Google Shape;184;p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5" name="Google Shape;185;p15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63500" sx="101000" rotWithShape="0" algn="ctr" sy="1010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grpSp>
            <p:nvGrpSpPr>
              <p:cNvPr id="186" name="Google Shape;186;p15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87" name="Google Shape;187;p15"/>
                <p:cNvSpPr/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endParaRPr>
                </a:p>
              </p:txBody>
            </p:sp>
            <p:cxnSp>
              <p:nvCxnSpPr>
                <p:cNvPr id="188" name="Google Shape;188;p15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C6C5B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89" name="Google Shape;189;p15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rgbClr val="C9D1D5"/>
            </a:solidFill>
            <a:ln cap="flat" cmpd="sng" w="9525">
              <a:solidFill>
                <a:srgbClr val="C6C5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90" name="Google Shape;190;p15"/>
          <p:cNvSpPr txBox="1"/>
          <p:nvPr>
            <p:ph type="title"/>
          </p:nvPr>
        </p:nvSpPr>
        <p:spPr>
          <a:xfrm rot="5400000">
            <a:off x="5341329" y="2659670"/>
            <a:ext cx="5516563" cy="1416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Lustria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 rot="5400000">
            <a:off x="959829" y="227993"/>
            <a:ext cx="5516563" cy="627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15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5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  <a:defRPr b="0" i="0" sz="4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683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B0BBBF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429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B0BB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429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B0BB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B0BB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F3F3F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0BBBF"/>
                </a:solidFill>
                <a:latin typeface="Courgette"/>
                <a:ea typeface="Courgette"/>
                <a:cs typeface="Courgette"/>
                <a:sym typeface="Courgett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0BBBF"/>
                </a:solidFill>
                <a:latin typeface="Courgette"/>
                <a:ea typeface="Courgette"/>
                <a:cs typeface="Courgette"/>
                <a:sym typeface="Courgett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0BBBF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hyperlink" Target="http://www.mongodb.org" TargetMode="External"/><Relationship Id="rId7" Type="http://schemas.openxmlformats.org/officeDocument/2006/relationships/hyperlink" Target="http://docs.mongodb.org/master/MongoDB-manual.pdf" TargetMode="External"/><Relationship Id="rId8" Type="http://schemas.openxmlformats.org/officeDocument/2006/relationships/hyperlink" Target="http://docs.mongodb.org/manual/reference/bios-example-collection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4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53.png"/><Relationship Id="rId7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Relationship Id="rId4" Type="http://schemas.openxmlformats.org/officeDocument/2006/relationships/image" Target="../media/image44.png"/><Relationship Id="rId5" Type="http://schemas.openxmlformats.org/officeDocument/2006/relationships/image" Target="../media/image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png"/><Relationship Id="rId4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Relationship Id="rId4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ctrTitle"/>
          </p:nvPr>
        </p:nvSpPr>
        <p:spPr>
          <a:xfrm>
            <a:off x="659173" y="578700"/>
            <a:ext cx="7781442" cy="24594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ustria"/>
              <a:buNone/>
            </a:pPr>
            <a:r>
              <a:t/>
            </a:r>
            <a:endParaRPr sz="2800"/>
          </a:p>
        </p:txBody>
      </p:sp>
      <p:sp>
        <p:nvSpPr>
          <p:cNvPr id="200" name="Google Shape;200;p16"/>
          <p:cNvSpPr txBox="1"/>
          <p:nvPr>
            <p:ph idx="1" type="subTitle"/>
          </p:nvPr>
        </p:nvSpPr>
        <p:spPr>
          <a:xfrm>
            <a:off x="914400" y="3428999"/>
            <a:ext cx="7342188" cy="2358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00"/>
              <a:buFont typeface="Arial"/>
              <a:buNone/>
            </a:pPr>
            <a:r>
              <a:rPr b="1" lang="en-US" sz="4300">
                <a:solidFill>
                  <a:srgbClr val="800000"/>
                </a:solidFill>
              </a:rPr>
              <a:t>MongoDB-1</a:t>
            </a:r>
            <a:endParaRPr/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800000"/>
              </a:solidFill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Arial"/>
              <a:buNone/>
            </a:pPr>
            <a:r>
              <a:rPr lang="en-US" sz="3000"/>
              <a:t>WPI, Mohamed Eltabakh</a:t>
            </a:r>
            <a:endParaRPr b="1" sz="3000">
              <a:solidFill>
                <a:srgbClr val="800000"/>
              </a:solidFill>
            </a:endParaRPr>
          </a:p>
        </p:txBody>
      </p:sp>
      <p:sp>
        <p:nvSpPr>
          <p:cNvPr id="201" name="Google Shape;201;p16"/>
          <p:cNvSpPr txBox="1"/>
          <p:nvPr>
            <p:ph idx="12" type="sldNum"/>
          </p:nvPr>
        </p:nvSpPr>
        <p:spPr>
          <a:xfrm>
            <a:off x="4191000" y="6122894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900112" y="265433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High-Level Overview</a:t>
            </a:r>
            <a:endParaRPr/>
          </a:p>
        </p:txBody>
      </p:sp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Name comes from “Hu</a:t>
            </a:r>
            <a:r>
              <a:rPr b="1" lang="en-US">
                <a:solidFill>
                  <a:srgbClr val="FF0000"/>
                </a:solidFill>
              </a:rPr>
              <a:t>mongo</a:t>
            </a:r>
            <a:r>
              <a:rPr lang="en-US"/>
              <a:t>us” &amp; huge data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Written in C++, developed in 2009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Creator: 10gen, former doublick</a:t>
            </a:r>
            <a:endParaRPr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6240" y="244158"/>
            <a:ext cx="4056081" cy="123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MongoDB: Goal</a:t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731648" y="1861483"/>
            <a:ext cx="7963656" cy="1365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Goal: 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bridge the gap between key-value stores (which are fast and scalable) and relational databases (which have rich functionality).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hart-10gen.png"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693" y="3065839"/>
            <a:ext cx="5873655" cy="319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800"/>
              <a:buFont typeface="Calibri"/>
              <a:buNone/>
            </a:pPr>
            <a:r>
              <a:rPr lang="en-US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What is MongoDB?</a:t>
            </a:r>
            <a:endParaRPr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544266" y="1900358"/>
            <a:ext cx="7956657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Defination: 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MongoDB is an </a:t>
            </a:r>
            <a:r>
              <a:rPr b="1" lang="en-US">
                <a:solidFill>
                  <a:srgbClr val="008000"/>
                </a:solidFill>
                <a:latin typeface="Constantia"/>
                <a:ea typeface="Constantia"/>
                <a:cs typeface="Constantia"/>
                <a:sym typeface="Constantia"/>
              </a:rPr>
              <a:t>open source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, </a:t>
            </a:r>
            <a:r>
              <a:rPr b="1" lang="en-US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rPr>
              <a:t>document-oriented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database designed with both scalability and developer agility in mind. 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Instead of storing your data</a:t>
            </a: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in </a:t>
            </a:r>
            <a:r>
              <a:rPr lang="en-US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tables and rows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as you would with a relational database, in MongoDB you store </a:t>
            </a:r>
            <a:r>
              <a:rPr b="1" lang="en-US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JSON-like documents 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with </a:t>
            </a:r>
            <a:r>
              <a:rPr b="1" lang="en-US">
                <a:solidFill>
                  <a:srgbClr val="800000"/>
                </a:solidFill>
                <a:latin typeface="Constantia"/>
                <a:ea typeface="Constantia"/>
                <a:cs typeface="Constantia"/>
                <a:sym typeface="Constantia"/>
              </a:rPr>
              <a:t>dynamic schemas (schema-free, schemaless)</a:t>
            </a: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.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What is MongoDB? (Cont’d)</a:t>
            </a:r>
            <a:endParaRPr/>
          </a:p>
        </p:txBody>
      </p:sp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757566" y="1848525"/>
            <a:ext cx="7345363" cy="1365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>
                <a:solidFill>
                  <a:srgbClr val="800000"/>
                </a:solidFill>
              </a:rPr>
              <a:t>Document-Oriented DB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Unit object is a document instead of a row (tuple) in relational DBs</a:t>
            </a:r>
            <a:endParaRPr/>
          </a:p>
        </p:txBody>
      </p:sp>
      <p:sp>
        <p:nvSpPr>
          <p:cNvPr id="236" name="Google Shape;236;p2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29.20 AM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447" y="3083995"/>
            <a:ext cx="6050585" cy="267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670" y="2199706"/>
            <a:ext cx="4284006" cy="415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Is It Fast?</a:t>
            </a:r>
            <a:endParaRPr/>
          </a:p>
        </p:txBody>
      </p:sp>
      <p:sp>
        <p:nvSpPr>
          <p:cNvPr id="244" name="Google Shape;244;p22"/>
          <p:cNvSpPr txBox="1"/>
          <p:nvPr>
            <p:ph idx="1" type="body"/>
          </p:nvPr>
        </p:nvSpPr>
        <p:spPr>
          <a:xfrm>
            <a:off x="660896" y="1865947"/>
            <a:ext cx="7584580" cy="583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For semi-structured &amp; complex relationships: Yes</a:t>
            </a:r>
            <a:endParaRPr/>
          </a:p>
        </p:txBody>
      </p:sp>
      <p:sp>
        <p:nvSpPr>
          <p:cNvPr id="245" name="Google Shape;245;p22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22.33 AM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375" y="2449056"/>
            <a:ext cx="5838015" cy="3826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title"/>
          </p:nvPr>
        </p:nvSpPr>
        <p:spPr>
          <a:xfrm>
            <a:off x="900113" y="244158"/>
            <a:ext cx="7345362" cy="1019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It is Growing Fast</a:t>
            </a:r>
            <a:endParaRPr/>
          </a:p>
        </p:txBody>
      </p:sp>
      <p:sp>
        <p:nvSpPr>
          <p:cNvPr id="252" name="Google Shape;252;p2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25.34 AM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94" y="1192132"/>
            <a:ext cx="8715427" cy="532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Integration with Others</a:t>
            </a:r>
            <a:endParaRPr/>
          </a:p>
        </p:txBody>
      </p:sp>
      <p:sp>
        <p:nvSpPr>
          <p:cNvPr id="259" name="Google Shape;259;p24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05.59 AM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417" y="1883208"/>
            <a:ext cx="3760583" cy="4038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1930" y="1999317"/>
            <a:ext cx="5526212" cy="392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title"/>
          </p:nvPr>
        </p:nvSpPr>
        <p:spPr>
          <a:xfrm>
            <a:off x="900112" y="265433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NoSQL DBs</a:t>
            </a:r>
            <a:endParaRPr/>
          </a:p>
        </p:txBody>
      </p:sp>
      <p:sp>
        <p:nvSpPr>
          <p:cNvPr id="267" name="Google Shape;267;p2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NoSQL: Categories</a:t>
            </a:r>
            <a:endParaRPr/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40.43 AM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195" y="1734028"/>
            <a:ext cx="7345362" cy="4544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What is NoSQL</a:t>
            </a:r>
            <a:endParaRPr/>
          </a:p>
        </p:txBody>
      </p:sp>
      <p:sp>
        <p:nvSpPr>
          <p:cNvPr id="280" name="Google Shape;280;p2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27"/>
          <p:cNvSpPr txBox="1"/>
          <p:nvPr>
            <p:ph idx="1" type="body"/>
          </p:nvPr>
        </p:nvSpPr>
        <p:spPr>
          <a:xfrm>
            <a:off x="757566" y="1917778"/>
            <a:ext cx="7345363" cy="4082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1313" lvl="0" marL="34131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800"/>
              <a:t>Stands for </a:t>
            </a:r>
            <a:r>
              <a:rPr b="1" lang="en-US" sz="2800">
                <a:solidFill>
                  <a:srgbClr val="FF0000"/>
                </a:solidFill>
              </a:rPr>
              <a:t>N</a:t>
            </a:r>
            <a:r>
              <a:rPr lang="en-US" sz="2800"/>
              <a:t>ot </a:t>
            </a:r>
            <a:r>
              <a:rPr b="1" lang="en-US" sz="2800">
                <a:solidFill>
                  <a:srgbClr val="FF0000"/>
                </a:solidFill>
              </a:rPr>
              <a:t>O</a:t>
            </a:r>
            <a:r>
              <a:rPr lang="en-US" sz="2800"/>
              <a:t>nly </a:t>
            </a:r>
            <a:r>
              <a:rPr b="1" lang="en-US" sz="2800">
                <a:solidFill>
                  <a:srgbClr val="FF0000"/>
                </a:solidFill>
              </a:rPr>
              <a:t>SQL</a:t>
            </a:r>
            <a:r>
              <a:rPr b="1" lang="en-US" sz="2800"/>
              <a:t>??</a:t>
            </a:r>
            <a:endParaRPr/>
          </a:p>
          <a:p>
            <a:pPr indent="-234410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None/>
            </a:pPr>
            <a:r>
              <a:t/>
            </a:r>
            <a:endParaRPr sz="2800"/>
          </a:p>
          <a:p>
            <a:pPr indent="-341313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800"/>
              <a:t>Class of non-relational data storage systems</a:t>
            </a:r>
            <a:endParaRPr/>
          </a:p>
          <a:p>
            <a:pPr indent="-234410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None/>
            </a:pPr>
            <a:r>
              <a:t/>
            </a:r>
            <a:endParaRPr sz="2800"/>
          </a:p>
          <a:p>
            <a:pPr indent="-341313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800"/>
              <a:t>Usually do not require a fixed table schema nor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None/>
            </a:pPr>
            <a:r>
              <a:rPr lang="en-US" sz="2800"/>
              <a:t>       do they use the concept of joins</a:t>
            </a:r>
            <a:endParaRPr/>
          </a:p>
          <a:p>
            <a:pPr indent="-341313" lvl="1" marL="74136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400"/>
              <a:t>Distributed data storage systems</a:t>
            </a:r>
            <a:endParaRPr/>
          </a:p>
          <a:p>
            <a:pPr indent="-234410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None/>
            </a:pPr>
            <a:r>
              <a:t/>
            </a:r>
            <a:endParaRPr sz="2800"/>
          </a:p>
          <a:p>
            <a:pPr indent="-341313" lvl="0" marL="341313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800"/>
              <a:t>All NoSQL offerings relax one or more of the ACID properties </a:t>
            </a:r>
            <a:endParaRPr/>
          </a:p>
          <a:p>
            <a:pPr indent="-341313" lvl="1" marL="577851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ct val="64999"/>
              <a:buFont typeface="Noto Sans Symbols"/>
              <a:buChar char="■"/>
            </a:pPr>
            <a:r>
              <a:rPr lang="en-US" sz="2600"/>
              <a:t>will talk about the CAP theorem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Example of Column-Family</a:t>
            </a:r>
            <a:br>
              <a:rPr lang="en-US"/>
            </a:br>
            <a:r>
              <a:rPr lang="en-US"/>
              <a:t>(E.g., Hbase)</a:t>
            </a:r>
            <a:endParaRPr/>
          </a:p>
        </p:txBody>
      </p:sp>
      <p:sp>
        <p:nvSpPr>
          <p:cNvPr id="287" name="Google Shape;287;p2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05" y="1948973"/>
            <a:ext cx="6259666" cy="346745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589105" y="5597839"/>
            <a:ext cx="6669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Typical APIs: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get(key), put(key, value), delete(key), …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4953001" y="3317237"/>
            <a:ext cx="3599758" cy="1671577"/>
          </a:xfrm>
          <a:prstGeom prst="wedgeEllipseCallout">
            <a:avLst>
              <a:gd fmla="val -51305" name="adj1"/>
              <a:gd fmla="val 93508" name="adj2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MongoDB has more flexible data model &amp; stronger querying interface</a:t>
            </a:r>
            <a:endParaRPr/>
          </a:p>
        </p:txBody>
      </p:sp>
      <p:pic>
        <p:nvPicPr>
          <p:cNvPr descr="chart-10gen.png" id="291" name="Google Shape;29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211" y="2399960"/>
            <a:ext cx="5873655" cy="319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CAP Theorem</a:t>
            </a:r>
            <a:endParaRPr/>
          </a:p>
        </p:txBody>
      </p:sp>
      <p:sp>
        <p:nvSpPr>
          <p:cNvPr id="297" name="Google Shape;297;p29"/>
          <p:cNvSpPr txBox="1"/>
          <p:nvPr>
            <p:ph idx="1" type="body"/>
          </p:nvPr>
        </p:nvSpPr>
        <p:spPr>
          <a:xfrm>
            <a:off x="627979" y="1848525"/>
            <a:ext cx="8041408" cy="4151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34131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lang="en-US" sz="2800"/>
              <a:t>Three properties of a system</a:t>
            </a:r>
            <a:endParaRPr/>
          </a:p>
          <a:p>
            <a:pPr indent="-325438" lvl="1" marL="66833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B812F"/>
              </a:buClr>
              <a:buSzPts val="1440"/>
              <a:buFont typeface="Noto Sans Symbols"/>
              <a:buChar char="❑"/>
            </a:pPr>
            <a:r>
              <a:rPr b="1" lang="en-US" sz="2400">
                <a:solidFill>
                  <a:srgbClr val="800000"/>
                </a:solidFill>
              </a:rPr>
              <a:t>Consistency</a:t>
            </a:r>
            <a:r>
              <a:rPr lang="en-US" sz="2400"/>
              <a:t> (all copies have same value)</a:t>
            </a:r>
            <a:endParaRPr/>
          </a:p>
          <a:p>
            <a:pPr indent="-325438" lvl="1" marL="66833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B812F"/>
              </a:buClr>
              <a:buSzPts val="1440"/>
              <a:buFont typeface="Noto Sans Symbols"/>
              <a:buChar char="❑"/>
            </a:pPr>
            <a:r>
              <a:rPr b="1" lang="en-US" sz="2400">
                <a:solidFill>
                  <a:srgbClr val="800000"/>
                </a:solidFill>
              </a:rPr>
              <a:t>Availability</a:t>
            </a:r>
            <a:r>
              <a:rPr lang="en-US" sz="2400"/>
              <a:t> (system can run even if parts have failed)</a:t>
            </a:r>
            <a:endParaRPr/>
          </a:p>
          <a:p>
            <a:pPr indent="-325438" lvl="2" marL="106838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B812F"/>
              </a:buClr>
              <a:buSzPts val="1200"/>
              <a:buFont typeface="Noto Sans Symbols"/>
              <a:buChar char="❑"/>
            </a:pPr>
            <a:r>
              <a:rPr lang="en-US"/>
              <a:t>All nodes can still accept reads and writes </a:t>
            </a:r>
            <a:endParaRPr/>
          </a:p>
          <a:p>
            <a:pPr indent="-325438" lvl="1" marL="66833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B812F"/>
              </a:buClr>
              <a:buSzPts val="1440"/>
              <a:buFont typeface="Noto Sans Symbols"/>
              <a:buChar char="❑"/>
            </a:pPr>
            <a:r>
              <a:rPr b="1" lang="en-US" sz="2400">
                <a:solidFill>
                  <a:srgbClr val="800000"/>
                </a:solidFill>
              </a:rPr>
              <a:t>Partition Tolerance</a:t>
            </a:r>
            <a:r>
              <a:rPr lang="en-US" sz="2400"/>
              <a:t> (Even if part is down, others can take over)</a:t>
            </a:r>
            <a:endParaRPr/>
          </a:p>
          <a:p>
            <a:pPr indent="-233997" lvl="1" marL="66833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B812F"/>
              </a:buClr>
              <a:buSzPts val="1440"/>
              <a:buFont typeface="Noto Sans Symbols"/>
              <a:buNone/>
            </a:pPr>
            <a:r>
              <a:t/>
            </a:r>
            <a:endParaRPr sz="2400"/>
          </a:p>
          <a:p>
            <a:pPr indent="-341313" lvl="0" marL="341313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lang="en-US" sz="2800"/>
              <a:t>CAP “Theorem”: </a:t>
            </a:r>
            <a:endParaRPr/>
          </a:p>
          <a:p>
            <a:pPr indent="-341313" lvl="1" marL="577851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ts val="1690"/>
              <a:buFont typeface="Noto Sans Symbols"/>
              <a:buChar char="■"/>
            </a:pPr>
            <a:r>
              <a:rPr lang="en-US" sz="2600"/>
              <a:t>You can have at most two of these three properties for any system</a:t>
            </a:r>
            <a:endParaRPr/>
          </a:p>
          <a:p>
            <a:pPr indent="-341313" lvl="1" marL="577851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9900"/>
              </a:buClr>
              <a:buSzPts val="1690"/>
              <a:buFont typeface="Noto Sans Symbols"/>
              <a:buChar char="■"/>
            </a:pPr>
            <a:r>
              <a:rPr lang="en-US" sz="2600"/>
              <a:t>Pick two !!!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8" name="Google Shape;298;p2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CAP Theorem</a:t>
            </a:r>
            <a:endParaRPr/>
          </a:p>
        </p:txBody>
      </p:sp>
      <p:sp>
        <p:nvSpPr>
          <p:cNvPr id="304" name="Google Shape;304;p3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535" y="1696533"/>
            <a:ext cx="6852292" cy="458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11" name="Google Shape;311;p3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31 at 12.26.41 PM.png" id="312" name="Google Shape;3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0193" y="1856126"/>
            <a:ext cx="4833604" cy="31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/>
        </p:nvSpPr>
        <p:spPr>
          <a:xfrm>
            <a:off x="5639812" y="2703490"/>
            <a:ext cx="11533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Network Failure </a:t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547033" y="5157417"/>
            <a:ext cx="58913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If select Availability 🡺 Loose Consistency (AP Design)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If select Consistency 🡺 Loose Availability (CP Design) 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 rot="-692411">
            <a:off x="382665" y="2407782"/>
            <a:ext cx="43696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In distributed systems, CA is not a choice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8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Either select AP or CP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/>
        </p:nvSpPr>
        <p:spPr>
          <a:xfrm>
            <a:off x="512763" y="333375"/>
            <a:ext cx="81184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200"/>
              <a:buFont typeface="Garamond"/>
              <a:buNone/>
            </a:pPr>
            <a:r>
              <a:rPr lang="en-US" sz="4200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rPr>
              <a:t>Availability</a:t>
            </a:r>
            <a:endParaRPr/>
          </a:p>
        </p:txBody>
      </p:sp>
      <p:sp>
        <p:nvSpPr>
          <p:cNvPr id="322" name="Google Shape;322;p32"/>
          <p:cNvSpPr txBox="1"/>
          <p:nvPr>
            <p:ph idx="4294967295" type="body"/>
          </p:nvPr>
        </p:nvSpPr>
        <p:spPr>
          <a:xfrm>
            <a:off x="457200" y="1762283"/>
            <a:ext cx="8229600" cy="3757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1333" lvl="0" marL="341313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ct val="64999"/>
              <a:buFont typeface="Noto Sans Symbols"/>
              <a:buChar char="■"/>
            </a:pPr>
            <a:r>
              <a:rPr lang="en-US" sz="3100"/>
              <a:t>Traditionally, thought of as the server/process available five 9’s (99.999 %).</a:t>
            </a:r>
            <a:endParaRPr/>
          </a:p>
          <a:p>
            <a:pPr indent="-341333" lvl="1" marL="577851" rtl="0" algn="l">
              <a:spcBef>
                <a:spcPts val="775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Noto Sans Symbols"/>
              <a:buChar char="■"/>
            </a:pPr>
            <a:r>
              <a:rPr lang="en-US" sz="2900"/>
              <a:t>Failures are rare</a:t>
            </a:r>
            <a:endParaRPr/>
          </a:p>
          <a:p>
            <a:pPr indent="-222977" lvl="0" marL="341313" rtl="0" algn="l">
              <a:spcBef>
                <a:spcPts val="775"/>
              </a:spcBef>
              <a:spcAft>
                <a:spcPts val="0"/>
              </a:spcAft>
              <a:buClr>
                <a:srgbClr val="CC9900"/>
              </a:buClr>
              <a:buSzPct val="64999"/>
              <a:buFont typeface="Noto Sans Symbols"/>
              <a:buNone/>
            </a:pPr>
            <a:r>
              <a:t/>
            </a:r>
            <a:endParaRPr sz="3100"/>
          </a:p>
          <a:p>
            <a:pPr indent="-341333" lvl="0" marL="341313" rtl="0" algn="l">
              <a:spcBef>
                <a:spcPts val="775"/>
              </a:spcBef>
              <a:spcAft>
                <a:spcPts val="0"/>
              </a:spcAft>
              <a:buClr>
                <a:srgbClr val="CC9900"/>
              </a:buClr>
              <a:buSzPct val="64999"/>
              <a:buFont typeface="Noto Sans Symbols"/>
              <a:buChar char="■"/>
            </a:pPr>
            <a:r>
              <a:rPr lang="en-US" sz="3100"/>
              <a:t>In modern commodity distributed systems:</a:t>
            </a:r>
            <a:endParaRPr/>
          </a:p>
          <a:p>
            <a:pPr indent="-325457" lvl="1" marL="668338" rtl="0" algn="l">
              <a:spcBef>
                <a:spcPts val="725"/>
              </a:spcBef>
              <a:spcAft>
                <a:spcPts val="0"/>
              </a:spcAft>
              <a:buClr>
                <a:srgbClr val="3B812F"/>
              </a:buClr>
              <a:buSzPct val="59999"/>
              <a:buFont typeface="Noto Sans Symbols"/>
              <a:buChar char="❑"/>
            </a:pPr>
            <a:r>
              <a:rPr lang="en-US" sz="2900"/>
              <a:t>Want a system that is resilient in the face of network disruption</a:t>
            </a:r>
            <a:endParaRPr/>
          </a:p>
          <a:p>
            <a:pPr indent="-325457" lvl="1" marL="668338" rtl="0" algn="l">
              <a:spcBef>
                <a:spcPts val="725"/>
              </a:spcBef>
              <a:spcAft>
                <a:spcPts val="0"/>
              </a:spcAft>
              <a:buClr>
                <a:srgbClr val="3B812F"/>
              </a:buClr>
              <a:buSzPct val="59999"/>
              <a:buFont typeface="Noto Sans Symbols"/>
              <a:buChar char="❑"/>
            </a:pPr>
            <a:r>
              <a:rPr lang="en-US" sz="2900">
                <a:solidFill>
                  <a:srgbClr val="800000"/>
                </a:solidFill>
              </a:rPr>
              <a:t>Use Replication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/>
          <p:nvPr/>
        </p:nvSpPr>
        <p:spPr>
          <a:xfrm>
            <a:off x="457200" y="514786"/>
            <a:ext cx="81184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200"/>
              <a:buFont typeface="Garamond"/>
              <a:buNone/>
            </a:pPr>
            <a:r>
              <a:rPr lang="en-US" sz="4200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rPr>
              <a:t>Eventual Consistency</a:t>
            </a:r>
            <a:endParaRPr/>
          </a:p>
        </p:txBody>
      </p:sp>
      <p:sp>
        <p:nvSpPr>
          <p:cNvPr id="329" name="Google Shape;329;p33"/>
          <p:cNvSpPr txBox="1"/>
          <p:nvPr>
            <p:ph idx="4294967295" type="body"/>
          </p:nvPr>
        </p:nvSpPr>
        <p:spPr>
          <a:xfrm>
            <a:off x="457200" y="1840030"/>
            <a:ext cx="8229600" cy="46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341313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95"/>
              <a:buFont typeface="Noto Sans Symbols"/>
              <a:buChar char="■"/>
            </a:pPr>
            <a:r>
              <a:rPr lang="en-US" sz="2300"/>
              <a:t>When no updates occur for a long period of time: </a:t>
            </a:r>
            <a:endParaRPr/>
          </a:p>
          <a:p>
            <a:pPr indent="-341313" lvl="1" marL="577851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365"/>
              <a:buFont typeface="Noto Sans Symbols"/>
              <a:buChar char="■"/>
            </a:pPr>
            <a:r>
              <a:rPr lang="en-US" sz="2100"/>
              <a:t>Eventually all updates will propagate through the system and all the nodes will be consistent</a:t>
            </a:r>
            <a:endParaRPr/>
          </a:p>
          <a:p>
            <a:pPr indent="-246380" lvl="0" marL="341313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495"/>
              <a:buFont typeface="Noto Sans Symbols"/>
              <a:buNone/>
            </a:pPr>
            <a:r>
              <a:t/>
            </a:r>
            <a:endParaRPr sz="2300"/>
          </a:p>
          <a:p>
            <a:pPr indent="-246380" lvl="0" marL="341313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495"/>
              <a:buFont typeface="Noto Sans Symbols"/>
              <a:buNone/>
            </a:pPr>
            <a:r>
              <a:t/>
            </a:r>
            <a:endParaRPr sz="2300"/>
          </a:p>
          <a:p>
            <a:pPr indent="-341313" lvl="0" marL="341313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495"/>
              <a:buFont typeface="Noto Sans Symbols"/>
              <a:buChar char="■"/>
            </a:pPr>
            <a:r>
              <a:rPr lang="en-US" sz="2300"/>
              <a:t>For a given accepted update and a given node:</a:t>
            </a:r>
            <a:endParaRPr/>
          </a:p>
          <a:p>
            <a:pPr indent="-341313" lvl="1" marL="577851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365"/>
              <a:buFont typeface="Noto Sans Symbols"/>
              <a:buChar char="■"/>
            </a:pPr>
            <a:r>
              <a:rPr lang="en-US" sz="2100"/>
              <a:t>Eventually either the update reaches the node or the node is removed from service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/>
        </p:nvSpPr>
        <p:spPr>
          <a:xfrm>
            <a:off x="457200" y="514786"/>
            <a:ext cx="81184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200"/>
              <a:buFont typeface="Garamond"/>
              <a:buNone/>
            </a:pPr>
            <a:r>
              <a:rPr lang="en-US" sz="4200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rPr>
              <a:t>Eventual Consistency</a:t>
            </a:r>
            <a:endParaRPr/>
          </a:p>
        </p:txBody>
      </p:sp>
      <p:sp>
        <p:nvSpPr>
          <p:cNvPr id="336" name="Google Shape;336;p34"/>
          <p:cNvSpPr txBox="1"/>
          <p:nvPr>
            <p:ph idx="4294967295" type="body"/>
          </p:nvPr>
        </p:nvSpPr>
        <p:spPr>
          <a:xfrm>
            <a:off x="457200" y="1840030"/>
            <a:ext cx="8229600" cy="46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341313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95"/>
              <a:buFont typeface="Noto Sans Symbols"/>
              <a:buChar char="■"/>
            </a:pPr>
            <a:r>
              <a:rPr b="1" i="1" lang="en-US" sz="2300">
                <a:solidFill>
                  <a:srgbClr val="800000"/>
                </a:solidFill>
              </a:rPr>
              <a:t>BASE</a:t>
            </a:r>
            <a:r>
              <a:rPr lang="en-US" sz="2300"/>
              <a:t> Concept</a:t>
            </a:r>
            <a:endParaRPr/>
          </a:p>
          <a:p>
            <a:pPr indent="-341313" lvl="1" marL="577851" rtl="0" algn="l">
              <a:spcBef>
                <a:spcPts val="575"/>
              </a:spcBef>
              <a:spcAft>
                <a:spcPts val="0"/>
              </a:spcAft>
              <a:buClr>
                <a:srgbClr val="CC9900"/>
              </a:buClr>
              <a:buSzPts val="1365"/>
              <a:buFont typeface="Noto Sans Symbols"/>
              <a:buChar char="■"/>
            </a:pPr>
            <a:r>
              <a:rPr b="1" lang="en-US" sz="2100">
                <a:solidFill>
                  <a:srgbClr val="800000"/>
                </a:solidFill>
              </a:rPr>
              <a:t>B</a:t>
            </a:r>
            <a:r>
              <a:rPr lang="en-US" sz="2100"/>
              <a:t>asically </a:t>
            </a:r>
            <a:r>
              <a:rPr b="1" lang="en-US" sz="2100">
                <a:solidFill>
                  <a:srgbClr val="800000"/>
                </a:solidFill>
              </a:rPr>
              <a:t>A</a:t>
            </a:r>
            <a:r>
              <a:rPr lang="en-US" sz="2100"/>
              <a:t>vailable, </a:t>
            </a:r>
            <a:r>
              <a:rPr b="1" lang="en-US" sz="2100">
                <a:solidFill>
                  <a:srgbClr val="800000"/>
                </a:solidFill>
              </a:rPr>
              <a:t>S</a:t>
            </a:r>
            <a:r>
              <a:rPr lang="en-US" sz="2100"/>
              <a:t>oft state, </a:t>
            </a:r>
            <a:r>
              <a:rPr b="1" lang="en-US" sz="2100">
                <a:solidFill>
                  <a:srgbClr val="800000"/>
                </a:solidFill>
              </a:rPr>
              <a:t>E</a:t>
            </a:r>
            <a:r>
              <a:rPr lang="en-US" sz="2100"/>
              <a:t>ventual consistency</a:t>
            </a:r>
            <a:endParaRPr/>
          </a:p>
          <a:p>
            <a:pPr indent="-325438" lvl="1" marL="668338" rtl="0" algn="l">
              <a:spcBef>
                <a:spcPts val="550"/>
              </a:spcBef>
              <a:spcAft>
                <a:spcPts val="0"/>
              </a:spcAft>
              <a:buClr>
                <a:srgbClr val="3B812F"/>
              </a:buClr>
              <a:buSzPts val="1320"/>
              <a:buFont typeface="Noto Sans Symbols"/>
              <a:buChar char="❑"/>
            </a:pPr>
            <a:r>
              <a:rPr lang="en-US" sz="2200"/>
              <a:t>As opposed to ACID in RDBMS</a:t>
            </a:r>
            <a:endParaRPr/>
          </a:p>
          <a:p>
            <a:pPr indent="-325438" lvl="1" marL="668338" rtl="0" algn="l">
              <a:spcBef>
                <a:spcPts val="550"/>
              </a:spcBef>
              <a:spcAft>
                <a:spcPts val="0"/>
              </a:spcAft>
              <a:buClr>
                <a:srgbClr val="3B812F"/>
              </a:buClr>
              <a:buSzPts val="1320"/>
              <a:buFont typeface="Noto Sans Symbols"/>
              <a:buChar char="❑"/>
            </a:pPr>
            <a:r>
              <a:rPr lang="en-US"/>
              <a:t>Soft state: copies of a data item may be inconsistent</a:t>
            </a:r>
            <a:endParaRPr/>
          </a:p>
          <a:p>
            <a:pPr indent="-325438" lvl="1" marL="668338" rtl="0" algn="l">
              <a:spcBef>
                <a:spcPts val="550"/>
              </a:spcBef>
              <a:spcAft>
                <a:spcPts val="0"/>
              </a:spcAft>
              <a:buClr>
                <a:srgbClr val="3B812F"/>
              </a:buClr>
              <a:buSzPts val="1320"/>
              <a:buFont typeface="Noto Sans Symbols"/>
              <a:buChar char="❑"/>
            </a:pPr>
            <a:r>
              <a:rPr lang="en-US" sz="2200"/>
              <a:t>Eventually Consistent – copies becomes consistent at some later time if there are no more updates to that data item</a:t>
            </a:r>
            <a:br>
              <a:rPr lang="en-US" sz="2200"/>
            </a:b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>
            <p:ph type="title"/>
          </p:nvPr>
        </p:nvSpPr>
        <p:spPr>
          <a:xfrm>
            <a:off x="388762" y="244158"/>
            <a:ext cx="8319501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What does NoSQL Not Provide</a:t>
            </a:r>
            <a:endParaRPr/>
          </a:p>
        </p:txBody>
      </p:sp>
      <p:sp>
        <p:nvSpPr>
          <p:cNvPr id="342" name="Google Shape;342;p35"/>
          <p:cNvSpPr txBox="1"/>
          <p:nvPr>
            <p:ph idx="1" type="body"/>
          </p:nvPr>
        </p:nvSpPr>
        <p:spPr>
          <a:xfrm>
            <a:off x="505390" y="1943694"/>
            <a:ext cx="3926493" cy="3576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No built-in join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No ACID transactions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No SQL</a:t>
            </a:r>
            <a:endParaRPr/>
          </a:p>
        </p:txBody>
      </p:sp>
      <p:sp>
        <p:nvSpPr>
          <p:cNvPr id="343" name="Google Shape;343;p3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4" name="Google Shape;344;p35"/>
          <p:cNvGrpSpPr/>
          <p:nvPr/>
        </p:nvGrpSpPr>
        <p:grpSpPr>
          <a:xfrm>
            <a:off x="5455624" y="1295794"/>
            <a:ext cx="3244866" cy="5208396"/>
            <a:chOff x="5455624" y="1295794"/>
            <a:chExt cx="3244866" cy="5208396"/>
          </a:xfrm>
        </p:grpSpPr>
        <p:pic>
          <p:nvPicPr>
            <p:cNvPr id="345" name="Google Shape;34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59293" y="1295794"/>
              <a:ext cx="2401729" cy="79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2322" y="2949554"/>
              <a:ext cx="25400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5"/>
            <p:cNvSpPr/>
            <p:nvPr/>
          </p:nvSpPr>
          <p:spPr>
            <a:xfrm>
              <a:off x="6686702" y="2092254"/>
              <a:ext cx="544266" cy="654832"/>
            </a:xfrm>
            <a:prstGeom prst="downArrow">
              <a:avLst>
                <a:gd fmla="val 50000" name="adj1"/>
                <a:gd fmla="val 50000" name="adj2"/>
              </a:avLst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48575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6686702" y="3734819"/>
              <a:ext cx="544266" cy="654832"/>
            </a:xfrm>
            <a:prstGeom prst="downArrow">
              <a:avLst>
                <a:gd fmla="val 50000" name="adj1"/>
                <a:gd fmla="val 50000" name="adj2"/>
              </a:avLst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48575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49" name="Google Shape;349;p35"/>
            <p:cNvSpPr txBox="1"/>
            <p:nvPr/>
          </p:nvSpPr>
          <p:spPr>
            <a:xfrm>
              <a:off x="7256885" y="2180190"/>
              <a:ext cx="5822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ISA</a:t>
              </a:r>
              <a:endParaRPr/>
            </a:p>
          </p:txBody>
        </p:sp>
        <p:sp>
          <p:nvSpPr>
            <p:cNvPr id="350" name="Google Shape;350;p35"/>
            <p:cNvSpPr txBox="1"/>
            <p:nvPr/>
          </p:nvSpPr>
          <p:spPr>
            <a:xfrm>
              <a:off x="7256885" y="3835713"/>
              <a:ext cx="9534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Follows</a:t>
              </a:r>
              <a:endParaRPr/>
            </a:p>
          </p:txBody>
        </p:sp>
        <p:pic>
          <p:nvPicPr>
            <p:cNvPr id="351" name="Google Shape;351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55624" y="4331191"/>
              <a:ext cx="3244866" cy="2172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>
            <p:ph type="title"/>
          </p:nvPr>
        </p:nvSpPr>
        <p:spPr>
          <a:xfrm>
            <a:off x="900112" y="265433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Data Model</a:t>
            </a:r>
            <a:endParaRPr/>
          </a:p>
        </p:txBody>
      </p:sp>
      <p:sp>
        <p:nvSpPr>
          <p:cNvPr id="357" name="Google Shape;357;p3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Data Model</a:t>
            </a:r>
            <a:endParaRPr/>
          </a:p>
        </p:txBody>
      </p:sp>
      <p:sp>
        <p:nvSpPr>
          <p:cNvPr id="363" name="Google Shape;363;p37"/>
          <p:cNvSpPr txBox="1"/>
          <p:nvPr>
            <p:ph idx="1" type="body"/>
          </p:nvPr>
        </p:nvSpPr>
        <p:spPr>
          <a:xfrm>
            <a:off x="692772" y="1796693"/>
            <a:ext cx="7821110" cy="43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⚫"/>
            </a:pP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BSON format (binary JSON)</a:t>
            </a:r>
            <a:endParaRPr/>
          </a:p>
          <a:p>
            <a:pPr indent="-198120" lvl="0" marL="342900" rtl="0" algn="l">
              <a:spcBef>
                <a:spcPts val="65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t/>
            </a:r>
            <a:endParaRPr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42900" lvl="0" marL="342900" rtl="0" algn="l">
              <a:spcBef>
                <a:spcPts val="65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⚫"/>
            </a:pP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Developers can easily map to modern object-oriented languages without a complicated ORM layer. </a:t>
            </a:r>
            <a:endParaRPr/>
          </a:p>
          <a:p>
            <a:pPr indent="-198120" lvl="0" marL="342900" rtl="0" algn="l">
              <a:spcBef>
                <a:spcPts val="65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t/>
            </a:r>
            <a:endParaRPr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42900" lvl="0" marL="342900" rtl="0" algn="l">
              <a:spcBef>
                <a:spcPts val="65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⚫"/>
            </a:pPr>
            <a:r>
              <a:rPr lang="en-US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lightweight,  traversable,  efficient</a:t>
            </a:r>
            <a:endParaRPr/>
          </a:p>
          <a:p>
            <a:pPr indent="-190500" lvl="0" marL="342900" rtl="0" algn="l">
              <a:spcBef>
                <a:spcPts val="2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4" name="Google Shape;364;p3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362844" y="244158"/>
            <a:ext cx="8436130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Lustria"/>
              <a:buNone/>
            </a:pPr>
            <a:r>
              <a:rPr lang="en-US" sz="4000"/>
              <a:t>Terms Mapping (DB vs. MongoDB)</a:t>
            </a:r>
            <a:endParaRPr/>
          </a:p>
        </p:txBody>
      </p:sp>
      <p:sp>
        <p:nvSpPr>
          <p:cNvPr id="370" name="Google Shape;370;p3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30.59 AM.png" id="371" name="Google Shape;3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52" y="1950425"/>
            <a:ext cx="7606771" cy="340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JSON</a:t>
            </a:r>
            <a:endParaRPr/>
          </a:p>
        </p:txBody>
      </p:sp>
      <p:sp>
        <p:nvSpPr>
          <p:cNvPr id="377" name="Google Shape;377;p3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27.04 AM.png" id="378" name="Google Shape;37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282" y="1788160"/>
            <a:ext cx="3924636" cy="4456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39"/>
          <p:cNvCxnSpPr/>
          <p:nvPr/>
        </p:nvCxnSpPr>
        <p:spPr>
          <a:xfrm>
            <a:off x="1146895" y="2794000"/>
            <a:ext cx="446387" cy="528320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39"/>
          <p:cNvSpPr txBox="1"/>
          <p:nvPr/>
        </p:nvSpPr>
        <p:spPr>
          <a:xfrm>
            <a:off x="116696" y="2455446"/>
            <a:ext cx="1476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document</a:t>
            </a:r>
            <a:endParaRPr/>
          </a:p>
        </p:txBody>
      </p:sp>
      <p:cxnSp>
        <p:nvCxnSpPr>
          <p:cNvPr id="381" name="Google Shape;381;p39"/>
          <p:cNvCxnSpPr/>
          <p:nvPr/>
        </p:nvCxnSpPr>
        <p:spPr>
          <a:xfrm>
            <a:off x="1898735" y="1493520"/>
            <a:ext cx="507347" cy="618808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2" name="Google Shape;382;p39"/>
          <p:cNvSpPr txBox="1"/>
          <p:nvPr/>
        </p:nvSpPr>
        <p:spPr>
          <a:xfrm>
            <a:off x="1122536" y="1175286"/>
            <a:ext cx="12182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Field Name</a:t>
            </a:r>
            <a:endParaRPr/>
          </a:p>
        </p:txBody>
      </p:sp>
      <p:cxnSp>
        <p:nvCxnSpPr>
          <p:cNvPr id="383" name="Google Shape;383;p39"/>
          <p:cNvCxnSpPr/>
          <p:nvPr/>
        </p:nvCxnSpPr>
        <p:spPr>
          <a:xfrm flipH="1">
            <a:off x="3615775" y="1662797"/>
            <a:ext cx="944880" cy="449531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4" name="Google Shape;384;p39"/>
          <p:cNvSpPr txBox="1"/>
          <p:nvPr/>
        </p:nvSpPr>
        <p:spPr>
          <a:xfrm>
            <a:off x="4129354" y="1344563"/>
            <a:ext cx="11740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Field Value</a:t>
            </a:r>
            <a:endParaRPr/>
          </a:p>
        </p:txBody>
      </p:sp>
      <p:sp>
        <p:nvSpPr>
          <p:cNvPr id="385" name="Google Shape;385;p39"/>
          <p:cNvSpPr txBox="1"/>
          <p:nvPr>
            <p:ph idx="1" type="body"/>
          </p:nvPr>
        </p:nvSpPr>
        <p:spPr>
          <a:xfrm>
            <a:off x="5212081" y="2016760"/>
            <a:ext cx="331216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1" lang="en-US" sz="1800">
                <a:solidFill>
                  <a:srgbClr val="800000"/>
                </a:solidFill>
              </a:rPr>
              <a:t>Field Value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Scalar (Int, Boolean, String, Date, …)</a:t>
            </a:r>
            <a:endParaRPr/>
          </a:p>
          <a:p>
            <a:pPr indent="-127000" lvl="1" marL="579438" rtl="0" algn="l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Document (Embedding or Nesting)</a:t>
            </a:r>
            <a:endParaRPr/>
          </a:p>
          <a:p>
            <a:pPr indent="-127000" lvl="1" marL="579438" rtl="0" algn="l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Array of JSON objects</a:t>
            </a:r>
            <a:endParaRPr/>
          </a:p>
          <a:p>
            <a:pPr indent="-127000" lvl="1" marL="579438" rtl="0" algn="l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27000" lvl="1" marL="579438" rtl="0" algn="l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Another Example</a:t>
            </a:r>
            <a:endParaRPr/>
          </a:p>
        </p:txBody>
      </p:sp>
      <p:sp>
        <p:nvSpPr>
          <p:cNvPr id="391" name="Google Shape;391;p4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55.16 AM.png" id="392" name="Google Shape;39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058" y="1937004"/>
            <a:ext cx="3686671" cy="36951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40"/>
          <p:cNvGrpSpPr/>
          <p:nvPr/>
        </p:nvGrpSpPr>
        <p:grpSpPr>
          <a:xfrm>
            <a:off x="4191000" y="2428293"/>
            <a:ext cx="4054475" cy="1972350"/>
            <a:chOff x="4191000" y="2428293"/>
            <a:chExt cx="4054475" cy="1972350"/>
          </a:xfrm>
        </p:grpSpPr>
        <p:sp>
          <p:nvSpPr>
            <p:cNvPr id="394" name="Google Shape;394;p40"/>
            <p:cNvSpPr/>
            <p:nvPr/>
          </p:nvSpPr>
          <p:spPr>
            <a:xfrm>
              <a:off x="4191000" y="3331400"/>
              <a:ext cx="762000" cy="895314"/>
            </a:xfrm>
            <a:prstGeom prst="rightArrow">
              <a:avLst>
                <a:gd fmla="val 50000" name="adj1"/>
                <a:gd fmla="val 50000" name="adj2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48575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5" name="Google Shape;395;p40"/>
            <p:cNvSpPr txBox="1"/>
            <p:nvPr/>
          </p:nvSpPr>
          <p:spPr>
            <a:xfrm>
              <a:off x="5128942" y="2428293"/>
              <a:ext cx="31165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800000"/>
                  </a:solidFill>
                  <a:latin typeface="Lustria"/>
                  <a:ea typeface="Lustria"/>
                  <a:cs typeface="Lustria"/>
                  <a:sym typeface="Lustria"/>
                </a:rPr>
                <a:t>Remember it is stored in binary formats (BSON)</a:t>
              </a:r>
              <a:endParaRPr/>
            </a:p>
          </p:txBody>
        </p:sp>
        <p:pic>
          <p:nvPicPr>
            <p:cNvPr descr="Screen Shot 2015-03-13 at 10.58.00 AM.png" id="396" name="Google Shape;396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57117" y="3093701"/>
              <a:ext cx="2525645" cy="1306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MongoDB Model</a:t>
            </a:r>
            <a:endParaRPr/>
          </a:p>
        </p:txBody>
      </p:sp>
      <p:sp>
        <p:nvSpPr>
          <p:cNvPr id="402" name="Google Shape;402;p4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41"/>
          <p:cNvSpPr txBox="1"/>
          <p:nvPr/>
        </p:nvSpPr>
        <p:spPr>
          <a:xfrm>
            <a:off x="294641" y="1673860"/>
            <a:ext cx="4371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</a:t>
            </a:r>
            <a:r>
              <a:rPr b="1" i="1"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document</a:t>
            </a: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(e.g., one </a:t>
            </a:r>
            <a:r>
              <a:rPr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tuple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 RDBMS)</a:t>
            </a:r>
            <a:endParaRPr/>
          </a:p>
        </p:txBody>
      </p:sp>
      <p:pic>
        <p:nvPicPr>
          <p:cNvPr descr="Screen Shot 2015-03-13 at 10.37.50 AM.png" id="404" name="Google Shape;4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" y="2063512"/>
            <a:ext cx="3535680" cy="13538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creen Shot 2015-03-13 at 10.39.29 AM.png" id="405" name="Google Shape;40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41" y="4069218"/>
            <a:ext cx="4612639" cy="228713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1"/>
          <p:cNvSpPr txBox="1"/>
          <p:nvPr/>
        </p:nvSpPr>
        <p:spPr>
          <a:xfrm>
            <a:off x="294641" y="3805208"/>
            <a:ext cx="4458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</a:t>
            </a:r>
            <a:r>
              <a:rPr b="1" i="1"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Collection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(e.g., one </a:t>
            </a:r>
            <a:r>
              <a:rPr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Table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 RDBMS)</a:t>
            </a:r>
            <a:endParaRPr/>
          </a:p>
        </p:txBody>
      </p:sp>
      <p:sp>
        <p:nvSpPr>
          <p:cNvPr id="407" name="Google Shape;407;p41"/>
          <p:cNvSpPr txBox="1"/>
          <p:nvPr/>
        </p:nvSpPr>
        <p:spPr>
          <a:xfrm>
            <a:off x="5201921" y="1712761"/>
            <a:ext cx="341375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group of similar documents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a collection, each document must have a unique 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8" name="Google Shape;408;p41"/>
          <p:cNvSpPr/>
          <p:nvPr/>
        </p:nvSpPr>
        <p:spPr>
          <a:xfrm>
            <a:off x="5334000" y="4028578"/>
            <a:ext cx="3098800" cy="9753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00"/>
                </a:solidFill>
                <a:latin typeface="Lustria"/>
                <a:ea typeface="Lustria"/>
                <a:cs typeface="Lustria"/>
                <a:sym typeface="Lustria"/>
              </a:rPr>
              <a:t>Unlike RDBMS: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00"/>
                </a:solidFill>
                <a:latin typeface="Lustria"/>
                <a:ea typeface="Lustria"/>
                <a:cs typeface="Lustria"/>
                <a:sym typeface="Lustria"/>
              </a:rPr>
              <a:t>No Integrity Constraints in MongoDB</a:t>
            </a:r>
            <a:endParaRPr b="1" sz="1800">
              <a:solidFill>
                <a:srgbClr val="FFFF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MongoDB Model</a:t>
            </a:r>
            <a:endParaRPr/>
          </a:p>
        </p:txBody>
      </p:sp>
      <p:sp>
        <p:nvSpPr>
          <p:cNvPr id="414" name="Google Shape;414;p42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p42"/>
          <p:cNvSpPr txBox="1"/>
          <p:nvPr/>
        </p:nvSpPr>
        <p:spPr>
          <a:xfrm>
            <a:off x="294641" y="1673860"/>
            <a:ext cx="4371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</a:t>
            </a:r>
            <a:r>
              <a:rPr b="1" i="1"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document</a:t>
            </a:r>
            <a:r>
              <a:rPr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(e.g., one </a:t>
            </a:r>
            <a:r>
              <a:rPr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tuple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 RDBMS)</a:t>
            </a:r>
            <a:endParaRPr/>
          </a:p>
        </p:txBody>
      </p:sp>
      <p:pic>
        <p:nvPicPr>
          <p:cNvPr descr="Screen Shot 2015-03-13 at 10.37.50 AM.png" id="416" name="Google Shape;4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" y="2063512"/>
            <a:ext cx="3535680" cy="13538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creen Shot 2015-03-13 at 10.39.29 AM.png" id="417" name="Google Shape;41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41" y="4069218"/>
            <a:ext cx="4612639" cy="228713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2"/>
          <p:cNvSpPr txBox="1"/>
          <p:nvPr/>
        </p:nvSpPr>
        <p:spPr>
          <a:xfrm>
            <a:off x="294641" y="3805208"/>
            <a:ext cx="4458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One </a:t>
            </a:r>
            <a:r>
              <a:rPr b="1" i="1" lang="en-US" sz="18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Collection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(e.g., one </a:t>
            </a:r>
            <a:r>
              <a:rPr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Table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 RDBMS)</a:t>
            </a:r>
            <a:endParaRPr/>
          </a:p>
        </p:txBody>
      </p:sp>
      <p:sp>
        <p:nvSpPr>
          <p:cNvPr id="419" name="Google Shape;419;p42"/>
          <p:cNvSpPr txBox="1"/>
          <p:nvPr/>
        </p:nvSpPr>
        <p:spPr>
          <a:xfrm>
            <a:off x="5201921" y="1712761"/>
            <a:ext cx="341375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field names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start with the </a:t>
            </a: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character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field names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 the </a:t>
            </a: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character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size of single document 16MB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"/>
          <p:cNvSpPr txBox="1"/>
          <p:nvPr>
            <p:ph type="title"/>
          </p:nvPr>
        </p:nvSpPr>
        <p:spPr>
          <a:xfrm>
            <a:off x="4686613" y="244158"/>
            <a:ext cx="390430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Lustria"/>
              <a:buNone/>
            </a:pPr>
            <a:r>
              <a:rPr lang="en-US" sz="3200"/>
              <a:t>Example Document in MongoDB</a:t>
            </a:r>
            <a:endParaRPr sz="3200"/>
          </a:p>
        </p:txBody>
      </p:sp>
      <p:sp>
        <p:nvSpPr>
          <p:cNvPr id="425" name="Google Shape;425;p4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33.16 AM.png" id="426" name="Google Shape;4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82" y="244158"/>
            <a:ext cx="4199089" cy="638365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3"/>
          <p:cNvSpPr txBox="1"/>
          <p:nvPr/>
        </p:nvSpPr>
        <p:spPr>
          <a:xfrm>
            <a:off x="4561471" y="1917779"/>
            <a:ext cx="4302297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_id is a special column in each document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Unique within each collection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_id 🡸🡺 Primary Key in RDBMS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_id is 12 Bytes, you can set it yourself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Or: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4 bytes 🡺 timestamp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Next 3 bytes 🡺 machine id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Next 2 bytes 🡺 Process id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Last 3 bytes 🡺 incremental values</a:t>
            </a:r>
            <a:endParaRPr b="0" i="0" sz="18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8" name="Google Shape;428;p43"/>
          <p:cNvSpPr/>
          <p:nvPr/>
        </p:nvSpPr>
        <p:spPr>
          <a:xfrm>
            <a:off x="375920" y="457200"/>
            <a:ext cx="2651760" cy="48768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No Defined Schema </a:t>
            </a:r>
            <a:br>
              <a:rPr lang="en-US"/>
            </a:br>
            <a:r>
              <a:rPr lang="en-US"/>
              <a:t>(Schema-free Or Schema-less)</a:t>
            </a:r>
            <a:endParaRPr/>
          </a:p>
        </p:txBody>
      </p:sp>
      <p:sp>
        <p:nvSpPr>
          <p:cNvPr id="434" name="Google Shape;434;p44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1.09.27 AM.png" id="435" name="Google Shape;43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783" y="1800062"/>
            <a:ext cx="78613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type="title"/>
          </p:nvPr>
        </p:nvSpPr>
        <p:spPr>
          <a:xfrm>
            <a:off x="900113" y="289591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Data Model Comparison</a:t>
            </a:r>
            <a:br>
              <a:rPr lang="en-US"/>
            </a:br>
            <a:r>
              <a:rPr lang="en-US" sz="3100"/>
              <a:t>Relational DB vs. NoSQL</a:t>
            </a:r>
            <a:endParaRPr/>
          </a:p>
        </p:txBody>
      </p:sp>
      <p:sp>
        <p:nvSpPr>
          <p:cNvPr id="441" name="Google Shape;441;p4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6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t/>
            </a:r>
            <a:endParaRPr/>
          </a:p>
        </p:txBody>
      </p:sp>
      <p:sp>
        <p:nvSpPr>
          <p:cNvPr id="447" name="Google Shape;447;p4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10.04 AM.png" id="448" name="Google Shape;44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2852"/>
            <a:ext cx="7991205" cy="642002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6"/>
          <p:cNvSpPr/>
          <p:nvPr/>
        </p:nvSpPr>
        <p:spPr>
          <a:xfrm>
            <a:off x="294640" y="4287520"/>
            <a:ext cx="3423920" cy="14224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Complex relationships</a:t>
            </a:r>
            <a:endParaRPr/>
          </a:p>
          <a:p>
            <a:pPr indent="-2857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Dynamic environment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RDBMS are not the best choice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t/>
            </a:r>
            <a:endParaRPr/>
          </a:p>
        </p:txBody>
      </p:sp>
      <p:sp>
        <p:nvSpPr>
          <p:cNvPr id="455" name="Google Shape;455;p4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10.28 AM.png" id="456" name="Google Shape;45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20" y="534629"/>
            <a:ext cx="7985760" cy="573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Key-Value Data Model</a:t>
            </a:r>
            <a:endParaRPr/>
          </a:p>
        </p:txBody>
      </p:sp>
      <p:sp>
        <p:nvSpPr>
          <p:cNvPr id="462" name="Google Shape;462;p4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12.17 AM.png" id="463" name="Google Shape;4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873" y="1851967"/>
            <a:ext cx="7189849" cy="4111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Relational Data Model</a:t>
            </a:r>
            <a:endParaRPr/>
          </a:p>
        </p:txBody>
      </p:sp>
      <p:sp>
        <p:nvSpPr>
          <p:cNvPr id="469" name="Google Shape;469;p4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12.26 AM.png" id="470" name="Google Shape;47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835589"/>
            <a:ext cx="7075487" cy="412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Document Data Model</a:t>
            </a:r>
            <a:endParaRPr/>
          </a:p>
        </p:txBody>
      </p:sp>
      <p:sp>
        <p:nvSpPr>
          <p:cNvPr id="476" name="Google Shape;476;p5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12.36 AM.png" id="477" name="Google Shape;4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880" y="1893366"/>
            <a:ext cx="6884808" cy="433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Document vs. Relational Models</a:t>
            </a:r>
            <a:endParaRPr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798513" y="1991361"/>
            <a:ext cx="5490527" cy="2793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>
                <a:solidFill>
                  <a:srgbClr val="800000"/>
                </a:solidFill>
              </a:rPr>
              <a:t>Relational 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Focus on data storage 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At query time 🡺 build your business objects</a:t>
            </a:r>
            <a:endParaRPr sz="1800"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>
                <a:solidFill>
                  <a:srgbClr val="800000"/>
                </a:solidFill>
              </a:rPr>
              <a:t>Document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Focus on data usage</a:t>
            </a:r>
            <a:endParaRPr/>
          </a:p>
          <a:p>
            <a:pPr indent="-228600" lvl="1" marL="579438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Always maintain your business object</a:t>
            </a:r>
            <a:endParaRPr/>
          </a:p>
        </p:txBody>
      </p:sp>
      <p:sp>
        <p:nvSpPr>
          <p:cNvPr id="484" name="Google Shape;484;p5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0.23.15 AM.png" id="485" name="Google Shape;4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3239489"/>
            <a:ext cx="3506058" cy="2902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Tradeoff: Normalization vs. Easy Usage</a:t>
            </a:r>
            <a:endParaRPr/>
          </a:p>
        </p:txBody>
      </p:sp>
      <p:sp>
        <p:nvSpPr>
          <p:cNvPr id="491" name="Google Shape;491;p52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1.01.46 AM.png" id="492" name="Google Shape;4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299" y="1857008"/>
            <a:ext cx="7932521" cy="412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Complex Join Queries</a:t>
            </a:r>
            <a:endParaRPr/>
          </a:p>
        </p:txBody>
      </p:sp>
      <p:sp>
        <p:nvSpPr>
          <p:cNvPr id="498" name="Google Shape;498;p53"/>
          <p:cNvSpPr txBox="1"/>
          <p:nvPr>
            <p:ph idx="1" type="body"/>
          </p:nvPr>
        </p:nvSpPr>
        <p:spPr>
          <a:xfrm>
            <a:off x="362166" y="1706764"/>
            <a:ext cx="5228075" cy="489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Relational DBs</a:t>
            </a:r>
            <a:endParaRPr/>
          </a:p>
        </p:txBody>
      </p:sp>
      <p:sp>
        <p:nvSpPr>
          <p:cNvPr id="499" name="Google Shape;499;p5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1.11.39 AM.png" id="500" name="Google Shape;50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2899" y="2196641"/>
            <a:ext cx="6607824" cy="412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No Joins in MongoDB</a:t>
            </a:r>
            <a:endParaRPr/>
          </a:p>
        </p:txBody>
      </p:sp>
      <p:sp>
        <p:nvSpPr>
          <p:cNvPr id="506" name="Google Shape;506;p54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1.13.15 AM.png" id="507" name="Google Shape;50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687" y="2088452"/>
            <a:ext cx="6287720" cy="3863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03-13 at 11.13.57 AM.png" id="508" name="Google Shape;50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014" y="2236392"/>
            <a:ext cx="2807732" cy="2258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 txBox="1"/>
          <p:nvPr>
            <p:ph type="title"/>
          </p:nvPr>
        </p:nvSpPr>
        <p:spPr>
          <a:xfrm>
            <a:off x="900112" y="265433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Updates &amp; Querying</a:t>
            </a:r>
            <a:endParaRPr/>
          </a:p>
        </p:txBody>
      </p:sp>
      <p:sp>
        <p:nvSpPr>
          <p:cNvPr id="514" name="Google Shape;514;p5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Must Practice It</a:t>
            </a:r>
            <a:endParaRPr/>
          </a:p>
        </p:txBody>
      </p:sp>
      <p:sp>
        <p:nvSpPr>
          <p:cNvPr id="520" name="Google Shape;520;p5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1" name="Google Shape;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2095501"/>
            <a:ext cx="1712016" cy="11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3480" y="1742440"/>
            <a:ext cx="1727200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1894840"/>
            <a:ext cx="1300480" cy="136892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6"/>
          <p:cNvSpPr txBox="1"/>
          <p:nvPr/>
        </p:nvSpPr>
        <p:spPr>
          <a:xfrm>
            <a:off x="1302030" y="3523734"/>
            <a:ext cx="992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Install it</a:t>
            </a:r>
            <a:endParaRPr/>
          </a:p>
        </p:txBody>
      </p:sp>
      <p:sp>
        <p:nvSpPr>
          <p:cNvPr id="525" name="Google Shape;525;p56"/>
          <p:cNvSpPr txBox="1"/>
          <p:nvPr/>
        </p:nvSpPr>
        <p:spPr>
          <a:xfrm>
            <a:off x="3516910" y="3523734"/>
            <a:ext cx="21723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Practice simple stuff</a:t>
            </a:r>
            <a:endParaRPr/>
          </a:p>
        </p:txBody>
      </p:sp>
      <p:sp>
        <p:nvSpPr>
          <p:cNvPr id="526" name="Google Shape;526;p56"/>
          <p:cNvSpPr txBox="1"/>
          <p:nvPr/>
        </p:nvSpPr>
        <p:spPr>
          <a:xfrm>
            <a:off x="6229630" y="3491468"/>
            <a:ext cx="23903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Move to complex stuff</a:t>
            </a:r>
            <a:endParaRPr/>
          </a:p>
        </p:txBody>
      </p:sp>
      <p:sp>
        <p:nvSpPr>
          <p:cNvPr id="527" name="Google Shape;527;p56"/>
          <p:cNvSpPr/>
          <p:nvPr/>
        </p:nvSpPr>
        <p:spPr>
          <a:xfrm>
            <a:off x="647104" y="4189214"/>
            <a:ext cx="4839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Install it from here:  </a:t>
            </a:r>
            <a:r>
              <a:rPr lang="en-US" sz="1800" u="sng">
                <a:solidFill>
                  <a:schemeClr val="hlink"/>
                </a:solidFill>
                <a:latin typeface="Lustria"/>
                <a:ea typeface="Lustria"/>
                <a:cs typeface="Lustria"/>
                <a:sym typeface="Lustria"/>
                <a:hlinkClick r:id="rId6"/>
              </a:rPr>
              <a:t>http://www.mongodb.org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28" name="Google Shape;528;p56"/>
          <p:cNvSpPr/>
          <p:nvPr/>
        </p:nvSpPr>
        <p:spPr>
          <a:xfrm>
            <a:off x="647104" y="4727863"/>
            <a:ext cx="73949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Manual: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Lustria"/>
                <a:ea typeface="Lustria"/>
                <a:cs typeface="Lustria"/>
                <a:sym typeface="Lustria"/>
                <a:hlinkClick r:id="rId7"/>
              </a:rPr>
              <a:t>http://docs.mongodb.org/master/MongoDB-manual.pdf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	(Focus on Ch. 3, 4 for now)</a:t>
            </a:r>
            <a:endParaRPr/>
          </a:p>
        </p:txBody>
      </p:sp>
      <p:sp>
        <p:nvSpPr>
          <p:cNvPr id="529" name="Google Shape;529;p56"/>
          <p:cNvSpPr/>
          <p:nvPr/>
        </p:nvSpPr>
        <p:spPr>
          <a:xfrm>
            <a:off x="640080" y="5527041"/>
            <a:ext cx="8290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Dataset:  </a:t>
            </a:r>
            <a:r>
              <a:rPr lang="en-US" sz="1800" u="sng">
                <a:solidFill>
                  <a:schemeClr val="hlink"/>
                </a:solidFill>
                <a:latin typeface="Lustria"/>
                <a:ea typeface="Lustria"/>
                <a:cs typeface="Lustria"/>
                <a:sym typeface="Lustria"/>
                <a:hlinkClick r:id="rId8"/>
              </a:rPr>
              <a:t>http://docs.mongodb.org/manual/reference/bios-example-collection/</a:t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CRUD</a:t>
            </a:r>
            <a:endParaRPr/>
          </a:p>
        </p:txBody>
      </p:sp>
      <p:sp>
        <p:nvSpPr>
          <p:cNvPr id="535" name="Google Shape;535;p57"/>
          <p:cNvSpPr txBox="1"/>
          <p:nvPr>
            <p:ph idx="1" type="body"/>
          </p:nvPr>
        </p:nvSpPr>
        <p:spPr>
          <a:xfrm>
            <a:off x="679814" y="1749325"/>
            <a:ext cx="7565661" cy="4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reate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db.collection.insert( &lt;document&gt; ) 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db.collection.save( &lt;document&gt; ) 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db.collection.update( &lt;query&gt;, &lt;update&gt;, { upsert: true } ) 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ct val="100000"/>
              <a:buChar char="•"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ead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db.collection.find( &lt;query&gt;, &lt;projection&gt; )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db.collection.findOne( &lt;query&gt;, &lt;projection&gt; ) 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ct val="100000"/>
              <a:buChar char="•"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pdate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db.collection.update( &lt;query&gt;, &lt;update&gt;, &lt;options&gt; ) 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ct val="100000"/>
              <a:buChar char="•"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elete</a:t>
            </a:r>
            <a:endParaRPr/>
          </a:p>
          <a:p>
            <a:pPr indent="-228599" lvl="1" marL="579438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db.collection.remove( &lt;query&gt;, &lt;justOne&gt; ) </a:t>
            </a:r>
            <a:endParaRPr/>
          </a:p>
          <a:p>
            <a:pPr indent="-201930" lvl="0" marL="342900" rtl="0" algn="l"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36" name="Google Shape;536;p5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8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CRUD Examples</a:t>
            </a:r>
            <a:endParaRPr/>
          </a:p>
        </p:txBody>
      </p:sp>
      <p:sp>
        <p:nvSpPr>
          <p:cNvPr id="542" name="Google Shape;542;p58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8.44.15 AM.png" id="543" name="Google Shape;54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590" y="1760990"/>
            <a:ext cx="6491547" cy="44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549" name="Google Shape;549;p59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1.21.28 AM.png" id="550" name="Google Shape;5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78" y="2169617"/>
            <a:ext cx="2993387" cy="1749077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9"/>
          <p:cNvSpPr txBox="1"/>
          <p:nvPr/>
        </p:nvSpPr>
        <p:spPr>
          <a:xfrm>
            <a:off x="1022798" y="1749252"/>
            <a:ext cx="13250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In RDBMS</a:t>
            </a:r>
            <a:endParaRPr/>
          </a:p>
        </p:txBody>
      </p:sp>
      <p:pic>
        <p:nvPicPr>
          <p:cNvPr descr="Screen Shot 2015-03-13 at 11.22.08 AM.png" id="552" name="Google Shape;552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5355" y="2531564"/>
            <a:ext cx="2616200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03-13 at 11.22.16 AM.png" id="553" name="Google Shape;553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1828" y="4187543"/>
            <a:ext cx="313690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9"/>
          <p:cNvSpPr txBox="1"/>
          <p:nvPr/>
        </p:nvSpPr>
        <p:spPr>
          <a:xfrm>
            <a:off x="5672376" y="1706306"/>
            <a:ext cx="1528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In MongoDB</a:t>
            </a:r>
            <a:endParaRPr b="1" sz="1800">
              <a:solidFill>
                <a:srgbClr val="8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55" name="Google Shape;555;p59"/>
          <p:cNvSpPr txBox="1"/>
          <p:nvPr/>
        </p:nvSpPr>
        <p:spPr>
          <a:xfrm>
            <a:off x="5164655" y="2116326"/>
            <a:ext cx="2936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Either insert the 1</a:t>
            </a:r>
            <a:r>
              <a:rPr b="1" baseline="30000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st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docuement</a:t>
            </a:r>
            <a:endParaRPr b="1"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56" name="Google Shape;556;p59"/>
          <p:cNvSpPr txBox="1"/>
          <p:nvPr/>
        </p:nvSpPr>
        <p:spPr>
          <a:xfrm>
            <a:off x="4953000" y="3754708"/>
            <a:ext cx="36400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Or create “Users” collection explicitly</a:t>
            </a:r>
            <a:endParaRPr/>
          </a:p>
        </p:txBody>
      </p:sp>
      <p:grpSp>
        <p:nvGrpSpPr>
          <p:cNvPr id="557" name="Google Shape;557;p59"/>
          <p:cNvGrpSpPr/>
          <p:nvPr/>
        </p:nvGrpSpPr>
        <p:grpSpPr>
          <a:xfrm>
            <a:off x="487639" y="5308081"/>
            <a:ext cx="6904672" cy="419100"/>
            <a:chOff x="487639" y="5308081"/>
            <a:chExt cx="6904672" cy="419100"/>
          </a:xfrm>
        </p:grpSpPr>
        <p:pic>
          <p:nvPicPr>
            <p:cNvPr descr="Screen Shot 2015-03-13 at 11.24.03 AM.png" id="558" name="Google Shape;558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7639" y="5308081"/>
              <a:ext cx="19812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reen Shot 2015-03-13 at 11.24.53 AM.png" id="559" name="Google Shape;559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74611" y="5308081"/>
              <a:ext cx="1917700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565" name="Google Shape;565;p60"/>
          <p:cNvSpPr txBox="1"/>
          <p:nvPr>
            <p:ph idx="1" type="body"/>
          </p:nvPr>
        </p:nvSpPr>
        <p:spPr>
          <a:xfrm>
            <a:off x="712730" y="5414682"/>
            <a:ext cx="7345363" cy="86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collection “users” is created automatically if it does not exist</a:t>
            </a:r>
            <a:endParaRPr/>
          </a:p>
        </p:txBody>
      </p:sp>
      <p:sp>
        <p:nvSpPr>
          <p:cNvPr id="566" name="Google Shape;566;p60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7" name="Google Shape;56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240" y="1361440"/>
            <a:ext cx="6370320" cy="4156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Lustria"/>
              <a:buNone/>
            </a:pPr>
            <a:r>
              <a:rPr lang="en-US" sz="3600"/>
              <a:t>Multi-Document Insertion</a:t>
            </a:r>
            <a:br>
              <a:rPr lang="en-US" sz="3600"/>
            </a:br>
            <a:r>
              <a:rPr lang="en-US" sz="3600"/>
              <a:t>(Use of Arrays)</a:t>
            </a:r>
            <a:endParaRPr/>
          </a:p>
        </p:txBody>
      </p:sp>
      <p:sp>
        <p:nvSpPr>
          <p:cNvPr id="573" name="Google Shape;573;p61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4" name="Google Shape;57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909" y="1584008"/>
            <a:ext cx="6766181" cy="36421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creen Shot 2015-03-13 at 11.35.11 AM.png" id="575" name="Google Shape;57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909" y="5403115"/>
            <a:ext cx="3695700" cy="38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6" name="Google Shape;576;p61"/>
          <p:cNvSpPr txBox="1"/>
          <p:nvPr/>
        </p:nvSpPr>
        <p:spPr>
          <a:xfrm>
            <a:off x="5538840" y="5227880"/>
            <a:ext cx="25296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All the documents are inserted at once</a:t>
            </a:r>
            <a:endParaRPr/>
          </a:p>
        </p:txBody>
      </p:sp>
      <p:sp>
        <p:nvSpPr>
          <p:cNvPr id="577" name="Google Shape;577;p61"/>
          <p:cNvSpPr/>
          <p:nvPr/>
        </p:nvSpPr>
        <p:spPr>
          <a:xfrm>
            <a:off x="4653330" y="5226135"/>
            <a:ext cx="811991" cy="645459"/>
          </a:xfrm>
          <a:prstGeom prst="leftArrow">
            <a:avLst>
              <a:gd fmla="val 50000" name="adj1"/>
              <a:gd fmla="val 50000" name="adj2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2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Lustria"/>
              <a:buNone/>
            </a:pPr>
            <a:r>
              <a:rPr lang="en-US" sz="3200"/>
              <a:t>Multi-Document Insertion </a:t>
            </a:r>
            <a:br>
              <a:rPr lang="en-US" sz="3200"/>
            </a:br>
            <a:r>
              <a:rPr lang="en-US" sz="3200"/>
              <a:t>(Bulk Operation)</a:t>
            </a:r>
            <a:endParaRPr/>
          </a:p>
        </p:txBody>
      </p:sp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2308" y="1707339"/>
            <a:ext cx="4778247" cy="728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 temporary object in memory</a:t>
            </a:r>
            <a:endParaRPr/>
          </a:p>
          <a:p>
            <a:pPr indent="-342900" lvl="0" marL="342900" rtl="0" algn="l">
              <a:spcBef>
                <a:spcPts val="2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Holds your insertions and uploads them at once</a:t>
            </a:r>
            <a:endParaRPr/>
          </a:p>
        </p:txBody>
      </p:sp>
      <p:sp>
        <p:nvSpPr>
          <p:cNvPr id="584" name="Google Shape;584;p62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5" name="Google Shape;58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13" y="2540189"/>
            <a:ext cx="6018613" cy="38161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86" name="Google Shape;586;p62"/>
          <p:cNvGrpSpPr/>
          <p:nvPr/>
        </p:nvGrpSpPr>
        <p:grpSpPr>
          <a:xfrm>
            <a:off x="4818983" y="1832270"/>
            <a:ext cx="3330629" cy="838893"/>
            <a:chOff x="4818983" y="1832270"/>
            <a:chExt cx="3330629" cy="838893"/>
          </a:xfrm>
        </p:grpSpPr>
        <p:sp>
          <p:nvSpPr>
            <p:cNvPr id="587" name="Google Shape;587;p62"/>
            <p:cNvSpPr/>
            <p:nvPr/>
          </p:nvSpPr>
          <p:spPr>
            <a:xfrm rot="-2909803">
              <a:off x="4804276" y="2275016"/>
              <a:ext cx="572557" cy="218623"/>
            </a:xfrm>
            <a:prstGeom prst="leftArrow">
              <a:avLst>
                <a:gd fmla="val 50000" name="adj1"/>
                <a:gd fmla="val 50000" name="adj2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48575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88" name="Google Shape;588;p62"/>
            <p:cNvSpPr txBox="1"/>
            <p:nvPr/>
          </p:nvSpPr>
          <p:spPr>
            <a:xfrm>
              <a:off x="4861532" y="1832270"/>
              <a:ext cx="32880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There is also </a:t>
              </a:r>
              <a:r>
                <a:rPr i="1" lang="en-US" sz="1800">
                  <a:solidFill>
                    <a:srgbClr val="FF0000"/>
                  </a:solidFill>
                  <a:latin typeface="Lustria"/>
                  <a:ea typeface="Lustria"/>
                  <a:cs typeface="Lustria"/>
                  <a:sym typeface="Lustria"/>
                </a:rPr>
                <a:t>Bulk Ordered</a:t>
              </a:r>
              <a:r>
                <a:rPr lang="en-US" sz="1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object</a:t>
              </a:r>
              <a:endParaRPr/>
            </a:p>
          </p:txBody>
        </p:sp>
      </p:grpSp>
      <p:sp>
        <p:nvSpPr>
          <p:cNvPr id="589" name="Google Shape;589;p62"/>
          <p:cNvSpPr/>
          <p:nvPr/>
        </p:nvSpPr>
        <p:spPr>
          <a:xfrm>
            <a:off x="5465319" y="3851932"/>
            <a:ext cx="2998119" cy="791207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Lustria"/>
                <a:ea typeface="Lustria"/>
                <a:cs typeface="Lustria"/>
                <a:sym typeface="Lustria"/>
              </a:rPr>
              <a:t>_id</a:t>
            </a:r>
            <a:r>
              <a:rPr lang="en-US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column is added automatically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3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Lustria"/>
              <a:buNone/>
            </a:pPr>
            <a:r>
              <a:rPr lang="en-US"/>
              <a:t>Deletion</a:t>
            </a:r>
            <a:br>
              <a:rPr lang="en-US"/>
            </a:br>
            <a:r>
              <a:rPr lang="en-US"/>
              <a:t>(Remove Operation)</a:t>
            </a:r>
            <a:endParaRPr/>
          </a:p>
        </p:txBody>
      </p:sp>
      <p:sp>
        <p:nvSpPr>
          <p:cNvPr id="595" name="Google Shape;595;p63"/>
          <p:cNvSpPr txBox="1"/>
          <p:nvPr>
            <p:ph idx="1" type="body"/>
          </p:nvPr>
        </p:nvSpPr>
        <p:spPr>
          <a:xfrm>
            <a:off x="374766" y="1801038"/>
            <a:ext cx="8067852" cy="72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You can put condition on any field in the document (even </a:t>
            </a:r>
            <a:r>
              <a:rPr b="1" i="1" lang="en-US">
                <a:solidFill>
                  <a:srgbClr val="800000"/>
                </a:solidFill>
              </a:rPr>
              <a:t>_id</a:t>
            </a:r>
            <a:r>
              <a:rPr lang="en-US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596" name="Google Shape;596;p63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12.06.07 PM.png" id="597" name="Google Shape;59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12" y="2331982"/>
            <a:ext cx="5652702" cy="2154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8" name="Google Shape;598;p63"/>
          <p:cNvSpPr txBox="1"/>
          <p:nvPr/>
        </p:nvSpPr>
        <p:spPr>
          <a:xfrm>
            <a:off x="530916" y="5142849"/>
            <a:ext cx="2011826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db.users.remove ( )</a:t>
            </a:r>
            <a:endParaRPr/>
          </a:p>
        </p:txBody>
      </p:sp>
      <p:sp>
        <p:nvSpPr>
          <p:cNvPr id="599" name="Google Shape;599;p63"/>
          <p:cNvSpPr txBox="1"/>
          <p:nvPr/>
        </p:nvSpPr>
        <p:spPr>
          <a:xfrm>
            <a:off x="3091809" y="5116576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Removes all documents from </a:t>
            </a:r>
            <a:r>
              <a:rPr i="1"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users </a:t>
            </a: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collection</a:t>
            </a:r>
            <a:endParaRPr/>
          </a:p>
        </p:txBody>
      </p:sp>
      <p:sp>
        <p:nvSpPr>
          <p:cNvPr id="600" name="Google Shape;600;p63"/>
          <p:cNvSpPr/>
          <p:nvPr/>
        </p:nvSpPr>
        <p:spPr>
          <a:xfrm>
            <a:off x="2696224" y="5142849"/>
            <a:ext cx="395585" cy="363881"/>
          </a:xfrm>
          <a:prstGeom prst="rightArrow">
            <a:avLst>
              <a:gd fmla="val 50000" name="adj1"/>
              <a:gd fmla="val 50000" name="adj2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48575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4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Update</a:t>
            </a:r>
            <a:endParaRPr/>
          </a:p>
        </p:txBody>
      </p:sp>
      <p:sp>
        <p:nvSpPr>
          <p:cNvPr id="606" name="Google Shape;606;p64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7" name="Google Shape;60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1869440"/>
            <a:ext cx="6380480" cy="159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3" y="4419600"/>
            <a:ext cx="6553200" cy="1310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64"/>
          <p:cNvCxnSpPr/>
          <p:nvPr/>
        </p:nvCxnSpPr>
        <p:spPr>
          <a:xfrm rot="10800000">
            <a:off x="2773680" y="3129280"/>
            <a:ext cx="792480" cy="264160"/>
          </a:xfrm>
          <a:prstGeom prst="straightConnector1">
            <a:avLst/>
          </a:prstGeom>
          <a:noFill/>
          <a:ln cap="flat" cmpd="sng" w="31750">
            <a:solidFill>
              <a:srgbClr val="8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10" name="Google Shape;610;p64"/>
          <p:cNvSpPr txBox="1"/>
          <p:nvPr/>
        </p:nvSpPr>
        <p:spPr>
          <a:xfrm>
            <a:off x="2072640" y="3376394"/>
            <a:ext cx="51053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Otherwise, it will update only the 1</a:t>
            </a:r>
            <a:r>
              <a:rPr baseline="30000"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st</a:t>
            </a: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 matching document</a:t>
            </a:r>
            <a:endParaRPr/>
          </a:p>
        </p:txBody>
      </p:sp>
      <p:sp>
        <p:nvSpPr>
          <p:cNvPr id="611" name="Google Shape;611;p64"/>
          <p:cNvSpPr txBox="1"/>
          <p:nvPr/>
        </p:nvSpPr>
        <p:spPr>
          <a:xfrm>
            <a:off x="369506" y="4124948"/>
            <a:ext cx="2404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00000"/>
                </a:solidFill>
                <a:latin typeface="Lustria"/>
                <a:ea typeface="Lustria"/>
                <a:cs typeface="Lustria"/>
                <a:sym typeface="Lustria"/>
              </a:rPr>
              <a:t>Equivalent to in SQL: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5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Update (Cont’d)</a:t>
            </a:r>
            <a:endParaRPr/>
          </a:p>
        </p:txBody>
      </p:sp>
      <p:sp>
        <p:nvSpPr>
          <p:cNvPr id="617" name="Google Shape;617;p65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3.15.04 PM.png" id="618" name="Google Shape;61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50" y="1805193"/>
            <a:ext cx="5651500" cy="185599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creen Shot 2015-03-13 at 3.15.47 PM.png" id="619" name="Google Shape;61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" y="4094480"/>
            <a:ext cx="7833361" cy="927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0" name="Google Shape;620;p65"/>
          <p:cNvCxnSpPr/>
          <p:nvPr/>
        </p:nvCxnSpPr>
        <p:spPr>
          <a:xfrm flipH="1" rot="10800000">
            <a:off x="1625600" y="2509520"/>
            <a:ext cx="1076960" cy="264160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1" name="Google Shape;621;p65"/>
          <p:cNvCxnSpPr/>
          <p:nvPr/>
        </p:nvCxnSpPr>
        <p:spPr>
          <a:xfrm>
            <a:off x="1625600" y="2773680"/>
            <a:ext cx="1076960" cy="355600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2" name="Google Shape;622;p65"/>
          <p:cNvSpPr txBox="1"/>
          <p:nvPr/>
        </p:nvSpPr>
        <p:spPr>
          <a:xfrm>
            <a:off x="721360" y="2481292"/>
            <a:ext cx="1087120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Two operators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6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Replace a document</a:t>
            </a:r>
            <a:endParaRPr/>
          </a:p>
        </p:txBody>
      </p:sp>
      <p:sp>
        <p:nvSpPr>
          <p:cNvPr id="628" name="Google Shape;628;p66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3.18.26 PM.png" id="629" name="Google Shape;62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215" y="2010410"/>
            <a:ext cx="7078345" cy="18803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0" name="Google Shape;630;p66"/>
          <p:cNvSpPr txBox="1"/>
          <p:nvPr/>
        </p:nvSpPr>
        <p:spPr>
          <a:xfrm>
            <a:off x="497840" y="4328160"/>
            <a:ext cx="7661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For the document having item = “BE10”, replace it with the given document</a:t>
            </a:r>
            <a:endParaRPr/>
          </a:p>
        </p:txBody>
      </p:sp>
      <p:cxnSp>
        <p:nvCxnSpPr>
          <p:cNvPr id="631" name="Google Shape;631;p66"/>
          <p:cNvCxnSpPr/>
          <p:nvPr/>
        </p:nvCxnSpPr>
        <p:spPr>
          <a:xfrm flipH="1">
            <a:off x="3015226" y="2228645"/>
            <a:ext cx="934064" cy="188452"/>
          </a:xfrm>
          <a:prstGeom prst="straightConnector1">
            <a:avLst/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2" name="Google Shape;632;p66"/>
          <p:cNvSpPr txBox="1"/>
          <p:nvPr/>
        </p:nvSpPr>
        <p:spPr>
          <a:xfrm>
            <a:off x="3949290" y="2010410"/>
            <a:ext cx="1674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Query Condition</a:t>
            </a:r>
            <a:endParaRPr/>
          </a:p>
        </p:txBody>
      </p:sp>
      <p:sp>
        <p:nvSpPr>
          <p:cNvPr id="633" name="Google Shape;633;p66"/>
          <p:cNvSpPr txBox="1"/>
          <p:nvPr/>
        </p:nvSpPr>
        <p:spPr>
          <a:xfrm>
            <a:off x="304156" y="2704525"/>
            <a:ext cx="598441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New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doc</a:t>
            </a:r>
            <a:endParaRPr/>
          </a:p>
        </p:txBody>
      </p:sp>
      <p:sp>
        <p:nvSpPr>
          <p:cNvPr id="634" name="Google Shape;634;p66"/>
          <p:cNvSpPr/>
          <p:nvPr/>
        </p:nvSpPr>
        <p:spPr>
          <a:xfrm>
            <a:off x="900113" y="2564581"/>
            <a:ext cx="214671" cy="99141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1750">
            <a:solidFill>
              <a:srgbClr val="475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7"/>
          <p:cNvSpPr txBox="1"/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ustria"/>
              <a:buNone/>
            </a:pPr>
            <a:r>
              <a:rPr lang="en-US"/>
              <a:t>Insert or Replace</a:t>
            </a:r>
            <a:endParaRPr/>
          </a:p>
        </p:txBody>
      </p:sp>
      <p:sp>
        <p:nvSpPr>
          <p:cNvPr id="640" name="Google Shape;640;p67"/>
          <p:cNvSpPr txBox="1"/>
          <p:nvPr>
            <p:ph idx="12" type="sldNum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Shot 2015-03-13 at 3.20.21 PM.png" id="641" name="Google Shape;64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1776730"/>
            <a:ext cx="7200900" cy="22815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2" name="Google Shape;642;p67"/>
          <p:cNvSpPr txBox="1"/>
          <p:nvPr/>
        </p:nvSpPr>
        <p:spPr>
          <a:xfrm>
            <a:off x="623356" y="4888914"/>
            <a:ext cx="71352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If the document having item = “TBD1” is in the DB, it will be replaced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Otherwise, it will be inserted.</a:t>
            </a:r>
            <a:endParaRPr/>
          </a:p>
        </p:txBody>
      </p:sp>
      <p:cxnSp>
        <p:nvCxnSpPr>
          <p:cNvPr id="643" name="Google Shape;643;p67"/>
          <p:cNvCxnSpPr>
            <a:stCxn id="644" idx="0"/>
          </p:cNvCxnSpPr>
          <p:nvPr/>
        </p:nvCxnSpPr>
        <p:spPr>
          <a:xfrm rot="10800000">
            <a:off x="2123567" y="3799979"/>
            <a:ext cx="1823100" cy="459600"/>
          </a:xfrm>
          <a:prstGeom prst="straightConnector1">
            <a:avLst/>
          </a:prstGeom>
          <a:noFill/>
          <a:ln cap="flat" cmpd="sng" w="31750">
            <a:solidFill>
              <a:srgbClr val="8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4" name="Google Shape;644;p67"/>
          <p:cNvSpPr txBox="1"/>
          <p:nvPr/>
        </p:nvSpPr>
        <p:spPr>
          <a:xfrm>
            <a:off x="3078480" y="4259579"/>
            <a:ext cx="173637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The </a:t>
            </a:r>
            <a:r>
              <a:rPr b="1" i="1" lang="en-US" sz="16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upsert</a:t>
            </a:r>
            <a:r>
              <a:rPr lang="en-US" sz="16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600">
                <a:solidFill>
                  <a:srgbClr val="FF6600"/>
                </a:solidFill>
                <a:latin typeface="Lustria"/>
                <a:ea typeface="Lustria"/>
                <a:cs typeface="Lustria"/>
                <a:sym typeface="Lustria"/>
              </a:rPr>
              <a:t>option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pital">
  <a:themeElements>
    <a:clrScheme name="Capital">
      <a:dk1>
        <a:srgbClr val="000000"/>
      </a:dk1>
      <a:lt1>
        <a:srgbClr val="FFFFFF"/>
      </a:lt1>
      <a:dk2>
        <a:srgbClr val="6F6D5D"/>
      </a:dk2>
      <a:lt2>
        <a:srgbClr val="7C8F97"/>
      </a:lt2>
      <a:accent1>
        <a:srgbClr val="4B5A60"/>
      </a:accent1>
      <a:accent2>
        <a:srgbClr val="9C5238"/>
      </a:accent2>
      <a:accent3>
        <a:srgbClr val="504539"/>
      </a:accent3>
      <a:accent4>
        <a:srgbClr val="C1AD79"/>
      </a:accent4>
      <a:accent5>
        <a:srgbClr val="667559"/>
      </a:accent5>
      <a:accent6>
        <a:srgbClr val="BAD6AD"/>
      </a:accent6>
      <a:hlink>
        <a:srgbClr val="524A82"/>
      </a:hlink>
      <a:folHlink>
        <a:srgbClr val="8F995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