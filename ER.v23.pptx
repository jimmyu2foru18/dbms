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C2B67F-B50F-4591-89C8-ECE6B8A8AB73}">
  <a:tblStyle styleId="{6FC2B67F-B50F-4591-89C8-ECE6B8A8AB73}" styleName="Table_0">
    <a:wholeTbl>
      <a:tcTxStyle b="off" i="off">
        <a:font>
          <a:latin typeface="Calibri"/>
          <a:ea typeface="Calibri"/>
          <a:cs typeface="Calibri"/>
        </a:font>
        <a:schemeClr val="dk1"/>
      </a:tcTxStyle>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tcBdr>
      </a:tcStyle>
    </a:band1H>
    <a:band2H>
      <a:tcTxStyle/>
    </a:band2H>
    <a:band1V>
      <a:tcTxStyle/>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cBdr>
      </a:tcStyle>
    </a:band1V>
    <a:band2V>
      <a:tcTxStyle/>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4"/>
              </a:solidFill>
              <a:prstDash val="solid"/>
              <a:round/>
              <a:headEnd len="sm" w="sm" type="none"/>
              <a:tailEnd len="sm" w="sm" type="none"/>
            </a:ln>
          </a:top>
        </a:tcBdr>
      </a:tcStyle>
    </a:lastRow>
    <a:seCell>
      <a:tcTxStyle/>
    </a:seCell>
    <a:swCell>
      <a:tcTxStyle/>
    </a:swCell>
    <a:firstRow>
      <a:tcTxStyle b="on" i="off">
        <a:font>
          <a:latin typeface="Calibri"/>
          <a:ea typeface="Calibri"/>
          <a:cs typeface="Calibri"/>
        </a:font>
        <a:schemeClr val="lt1"/>
      </a:tcTxStyle>
      <a:tcStyle>
        <a:fill>
          <a:solidFill>
            <a:schemeClr val="accent4"/>
          </a:solidFill>
        </a:fill>
      </a:tcStyle>
    </a:firstRow>
    <a:neCell>
      <a:tcTxStyle/>
    </a:neCell>
    <a:nwCell>
      <a:tcTxStyle/>
    </a:nwCell>
  </a:tblStyle>
  <a:tblStyle styleId="{CB8B14D9-80D3-47F0-B131-A9B4214C1CD3}"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76483B8C-9486-497F-8D0B-44230879F61F}"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29" Type="http://schemas.openxmlformats.org/officeDocument/2006/relationships/slide" Target="slides/slide122.xml"/><Relationship Id="rId128" Type="http://schemas.openxmlformats.org/officeDocument/2006/relationships/slide" Target="slides/slide121.xml"/><Relationship Id="rId127" Type="http://schemas.openxmlformats.org/officeDocument/2006/relationships/slide" Target="slides/slide120.xml"/><Relationship Id="rId126" Type="http://schemas.openxmlformats.org/officeDocument/2006/relationships/slide" Target="slides/slide119.xml"/><Relationship Id="rId26" Type="http://schemas.openxmlformats.org/officeDocument/2006/relationships/slide" Target="slides/slide19.xml"/><Relationship Id="rId121" Type="http://schemas.openxmlformats.org/officeDocument/2006/relationships/slide" Target="slides/slide114.xml"/><Relationship Id="rId25" Type="http://schemas.openxmlformats.org/officeDocument/2006/relationships/slide" Target="slides/slide18.xml"/><Relationship Id="rId120" Type="http://schemas.openxmlformats.org/officeDocument/2006/relationships/slide" Target="slides/slide113.xml"/><Relationship Id="rId28" Type="http://schemas.openxmlformats.org/officeDocument/2006/relationships/slide" Target="slides/slide21.xml"/><Relationship Id="rId27" Type="http://schemas.openxmlformats.org/officeDocument/2006/relationships/slide" Target="slides/slide20.xml"/><Relationship Id="rId125" Type="http://schemas.openxmlformats.org/officeDocument/2006/relationships/slide" Target="slides/slide118.xml"/><Relationship Id="rId29" Type="http://schemas.openxmlformats.org/officeDocument/2006/relationships/slide" Target="slides/slide22.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slide" Target="slides/slide112.xml"/><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slide" Target="slides/slide107.xml"/><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41" Type="http://schemas.openxmlformats.org/officeDocument/2006/relationships/slide" Target="slides/slide134.xml"/><Relationship Id="rId140" Type="http://schemas.openxmlformats.org/officeDocument/2006/relationships/slide" Target="slides/slide133.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slide" Target="slides/slide132.xml"/><Relationship Id="rId138" Type="http://schemas.openxmlformats.org/officeDocument/2006/relationships/slide" Target="slides/slide131.xml"/><Relationship Id="rId137" Type="http://schemas.openxmlformats.org/officeDocument/2006/relationships/slide" Target="slides/slide130.xml"/><Relationship Id="rId132" Type="http://schemas.openxmlformats.org/officeDocument/2006/relationships/slide" Target="slides/slide125.xml"/><Relationship Id="rId131" Type="http://schemas.openxmlformats.org/officeDocument/2006/relationships/slide" Target="slides/slide124.xml"/><Relationship Id="rId130" Type="http://schemas.openxmlformats.org/officeDocument/2006/relationships/slide" Target="slides/slide123.xml"/><Relationship Id="rId136" Type="http://schemas.openxmlformats.org/officeDocument/2006/relationships/slide" Target="slides/slide129.xml"/><Relationship Id="rId135" Type="http://schemas.openxmlformats.org/officeDocument/2006/relationships/slide" Target="slides/slide128.xml"/><Relationship Id="rId134" Type="http://schemas.openxmlformats.org/officeDocument/2006/relationships/slide" Target="slides/slide127.xml"/><Relationship Id="rId133" Type="http://schemas.openxmlformats.org/officeDocument/2006/relationships/slide" Target="slides/slide126.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115" name="Google Shape;1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16" name="Google Shape;116;p3:notes"/>
          <p:cNvSpPr txBox="1"/>
          <p:nvPr>
            <p:ph idx="1" type="body"/>
          </p:nvPr>
        </p:nvSpPr>
        <p:spPr>
          <a:xfrm>
            <a:off x="685800" y="4400550"/>
            <a:ext cx="5486400" cy="360045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311" name="Google Shape;31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12" name="Google Shape;312;p15:notes"/>
          <p:cNvSpPr txBox="1"/>
          <p:nvPr>
            <p:ph idx="1" type="body"/>
          </p:nvPr>
        </p:nvSpPr>
        <p:spPr>
          <a:xfrm>
            <a:off x="685800" y="4400550"/>
            <a:ext cx="5486400" cy="360045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332" name="Google Shape;33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33" name="Google Shape;333;p16:notes"/>
          <p:cNvSpPr txBox="1"/>
          <p:nvPr>
            <p:ph idx="1" type="body"/>
          </p:nvPr>
        </p:nvSpPr>
        <p:spPr>
          <a:xfrm>
            <a:off x="685800" y="4400550"/>
            <a:ext cx="5486400" cy="360045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364" name="Google Shape;36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65" name="Google Shape;365;p17:notes"/>
          <p:cNvSpPr txBox="1"/>
          <p:nvPr>
            <p:ph idx="1" type="body"/>
          </p:nvPr>
        </p:nvSpPr>
        <p:spPr>
          <a:xfrm>
            <a:off x="685800" y="4400550"/>
            <a:ext cx="5486400" cy="360045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388" name="Google Shape;38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89" name="Google Shape;389;p18:notes"/>
          <p:cNvSpPr txBox="1"/>
          <p:nvPr>
            <p:ph idx="1" type="body"/>
          </p:nvPr>
        </p:nvSpPr>
        <p:spPr>
          <a:xfrm>
            <a:off x="685800" y="4400550"/>
            <a:ext cx="5486400" cy="360045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 name="Google Shape;58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623" name="Google Shape;62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624" name="Google Shape;624;p28:notes"/>
          <p:cNvSpPr txBox="1"/>
          <p:nvPr>
            <p:ph idx="1" type="body"/>
          </p:nvPr>
        </p:nvSpPr>
        <p:spPr>
          <a:xfrm>
            <a:off x="685800" y="4400550"/>
            <a:ext cx="5486400" cy="360045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7" name="Google Shape;68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4" name="Google Shape;69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724" name="Google Shape;72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725" name="Google Shape;725;p32:notes"/>
          <p:cNvSpPr txBox="1"/>
          <p:nvPr>
            <p:ph idx="1" type="body"/>
          </p:nvPr>
        </p:nvSpPr>
        <p:spPr>
          <a:xfrm>
            <a:off x="685800" y="4400550"/>
            <a:ext cx="5486400" cy="360045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768" name="Google Shape;76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769" name="Google Shape;769;p33:notes"/>
          <p:cNvSpPr txBox="1"/>
          <p:nvPr>
            <p:ph idx="1" type="body"/>
          </p:nvPr>
        </p:nvSpPr>
        <p:spPr>
          <a:xfrm>
            <a:off x="685800" y="4400550"/>
            <a:ext cx="5486400" cy="360045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rPr lang="en-US"/>
              <a:t>a person may be employed by at most one company</a:t>
            </a:r>
            <a:endParaRPr/>
          </a:p>
          <a:p>
            <a:pPr indent="0" lvl="0" marL="0" rtl="0" algn="l">
              <a:spcBef>
                <a:spcPts val="0"/>
              </a:spcBef>
              <a:spcAft>
                <a:spcPts val="0"/>
              </a:spcAft>
              <a:buNone/>
            </a:pPr>
            <a:r>
              <a:rPr lang="en-US"/>
              <a:t>a product may be made by at most one company</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4" name="Google Shape;80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836" name="Google Shape;83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837" name="Google Shape;837;p35:notes"/>
          <p:cNvSpPr txBox="1"/>
          <p:nvPr>
            <p:ph idx="1" type="body"/>
          </p:nvPr>
        </p:nvSpPr>
        <p:spPr>
          <a:xfrm>
            <a:off x="685800" y="4400550"/>
            <a:ext cx="5486400" cy="360045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rPr lang="en-US"/>
              <a:t>need to identify purchases by all three keys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852" name="Google Shape;85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853" name="Google Shape;853;p36:notes"/>
          <p:cNvSpPr txBox="1"/>
          <p:nvPr>
            <p:ph idx="1" type="body"/>
          </p:nvPr>
        </p:nvSpPr>
        <p:spPr>
          <a:xfrm>
            <a:off x="685800" y="4400550"/>
            <a:ext cx="5486400" cy="360045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rPr lang="en-US"/>
              <a:t>given a person, can determine what they bought and the store where they bought it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869" name="Google Shape;86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870" name="Google Shape;870;p37:notes"/>
          <p:cNvSpPr txBox="1"/>
          <p:nvPr>
            <p:ph idx="1" type="body"/>
          </p:nvPr>
        </p:nvSpPr>
        <p:spPr>
          <a:xfrm>
            <a:off x="685800" y="4400550"/>
            <a:ext cx="5486400" cy="360045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given a store, can determine who shopped there and the product they bought</a:t>
            </a:r>
            <a:endParaRPr/>
          </a:p>
          <a:p>
            <a:pPr indent="0" lvl="0" marL="0" rtl="0" algn="l">
              <a:spcBef>
                <a:spcPts val="0"/>
              </a:spcBef>
              <a:spcAft>
                <a:spcPts val="0"/>
              </a:spcAft>
              <a:buNone/>
            </a:pPr>
            <a:r>
              <a:rPr lang="en-US"/>
              <a:t>each store sells one product and to one person, ever</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885" name="Google Shape;88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886" name="Google Shape;886;p38:notes"/>
          <p:cNvSpPr txBox="1"/>
          <p:nvPr>
            <p:ph idx="1" type="body"/>
          </p:nvPr>
        </p:nvSpPr>
        <p:spPr>
          <a:xfrm>
            <a:off x="685800" y="4400550"/>
            <a:ext cx="5486400" cy="360045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rPr lang="en-US"/>
              <a:t>our representation is not complete! trade-off between complexity and abstraction</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2" name="Google Shape;90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5" name="Google Shape;92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9" name="Google Shape;94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5" name="Google Shape;985;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product buys only one product, then out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multiple presidents, also may want to require country to have president</a:t>
            </a:r>
            <a:endParaRPr/>
          </a:p>
        </p:txBody>
      </p:sp>
      <p:sp>
        <p:nvSpPr>
          <p:cNvPr id="986" name="Google Shape;986;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5" name="Google Shape;1005;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maybe people should be entitites!</a:t>
            </a:r>
            <a:endParaRPr/>
          </a:p>
        </p:txBody>
      </p:sp>
      <p:sp>
        <p:nvSpPr>
          <p:cNvPr id="1006" name="Google Shape;1006;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3" name="Google Shape;1023;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dates don’t need to be an entity by themselves</a:t>
            </a:r>
            <a:endParaRPr/>
          </a:p>
        </p:txBody>
      </p:sp>
      <p:sp>
        <p:nvSpPr>
          <p:cNvPr id="1024" name="Google Shape;1024;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1" name="Google Shape;1041;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employee has _exactly_ two addresses!</a:t>
            </a:r>
            <a:endParaRPr/>
          </a:p>
        </p:txBody>
      </p:sp>
      <p:sp>
        <p:nvSpPr>
          <p:cNvPr id="1042" name="Google Shape;1042;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6" name="Google Shape;106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0" name="Google Shape;1080;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5" name="Google Shape;110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1" name="Google Shape;1111;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8" name="Google Shape;1128;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8" name="Google Shape;1178;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7" name="Google Shape;1247;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4" name="Google Shape;1344;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8" name="Google Shape;1378;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9" name="Google Shape;1389;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5" name="Google Shape;1415;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0" name="Google Shape;1450;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7" name="Shape 1457"/>
        <p:cNvGrpSpPr/>
        <p:nvPr/>
      </p:nvGrpSpPr>
      <p:grpSpPr>
        <a:xfrm>
          <a:off x="0" y="0"/>
          <a:ext cx="0" cy="0"/>
          <a:chOff x="0" y="0"/>
          <a:chExt cx="0" cy="0"/>
        </a:xfrm>
      </p:grpSpPr>
      <p:sp>
        <p:nvSpPr>
          <p:cNvPr id="1458" name="Google Shape;1458;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9" name="Google Shape;1459;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 name="Shape 1465"/>
        <p:cNvGrpSpPr/>
        <p:nvPr/>
      </p:nvGrpSpPr>
      <p:grpSpPr>
        <a:xfrm>
          <a:off x="0" y="0"/>
          <a:ext cx="0" cy="0"/>
          <a:chOff x="0" y="0"/>
          <a:chExt cx="0" cy="0"/>
        </a:xfrm>
      </p:grpSpPr>
      <p:sp>
        <p:nvSpPr>
          <p:cNvPr id="1466" name="Google Shape;1466;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7" name="Google Shape;1467;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4" name="Google Shape;1474;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2" name="Google Shape;1492;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9" name="Google Shape;1509;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6" name="Shape 1536"/>
        <p:cNvGrpSpPr/>
        <p:nvPr/>
      </p:nvGrpSpPr>
      <p:grpSpPr>
        <a:xfrm>
          <a:off x="0" y="0"/>
          <a:ext cx="0" cy="0"/>
          <a:chOff x="0" y="0"/>
          <a:chExt cx="0" cy="0"/>
        </a:xfrm>
      </p:grpSpPr>
      <p:sp>
        <p:nvSpPr>
          <p:cNvPr id="1537" name="Google Shape;1537;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8" name="Google Shape;1538;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9" name="Google Shape;1539;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7" name="Google Shape;1567;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7" name="Shape 1597"/>
        <p:cNvGrpSpPr/>
        <p:nvPr/>
      </p:nvGrpSpPr>
      <p:grpSpPr>
        <a:xfrm>
          <a:off x="0" y="0"/>
          <a:ext cx="0" cy="0"/>
          <a:chOff x="0" y="0"/>
          <a:chExt cx="0" cy="0"/>
        </a:xfrm>
      </p:grpSpPr>
      <p:sp>
        <p:nvSpPr>
          <p:cNvPr id="1598" name="Google Shape;1598;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9" name="Google Shape;1599;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https://lucid.app/lucidchart/5fe930d0-f318-48fb-bf7d-afcdb68bb8df/edit?invitationId=inv_bd1fdd51-cc4e-4f0d-a9ba-b60c4288c492&amp;page=0_0#</a:t>
            </a:r>
            <a:endParaRPr/>
          </a:p>
        </p:txBody>
      </p:sp>
      <p:sp>
        <p:nvSpPr>
          <p:cNvPr id="1600" name="Google Shape;1600;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6" name="Shape 1606"/>
        <p:cNvGrpSpPr/>
        <p:nvPr/>
      </p:nvGrpSpPr>
      <p:grpSpPr>
        <a:xfrm>
          <a:off x="0" y="0"/>
          <a:ext cx="0" cy="0"/>
          <a:chOff x="0" y="0"/>
          <a:chExt cx="0" cy="0"/>
        </a:xfrm>
      </p:grpSpPr>
      <p:sp>
        <p:nvSpPr>
          <p:cNvPr id="1607" name="Google Shape;1607;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8" name="Google Shape;1608;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create table Employee(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ssn primary key</a:t>
            </a:r>
            <a:endParaRPr/>
          </a:p>
          <a:p>
            <a:pPr indent="0" lvl="0" marL="0" rtl="0" algn="l">
              <a:spcBef>
                <a:spcPts val="0"/>
              </a:spcBef>
              <a:spcAft>
                <a:spcPts val="0"/>
              </a:spcAft>
              <a:buNone/>
            </a:pPr>
            <a:r>
              <a:rPr lang="en-US"/>
              <a:t>bdate</a:t>
            </a:r>
            <a:endParaRPr/>
          </a:p>
          <a:p>
            <a:pPr indent="0" lvl="0" marL="0" rtl="0" algn="l">
              <a:spcBef>
                <a:spcPts val="0"/>
              </a:spcBef>
              <a:spcAft>
                <a:spcPts val="0"/>
              </a:spcAft>
              <a:buNone/>
            </a:pPr>
            <a:r>
              <a:rPr lang="en-US"/>
              <a:t>fname</a:t>
            </a:r>
            <a:endParaRPr/>
          </a:p>
          <a:p>
            <a:pPr indent="0" lvl="0" marL="0" rtl="0" algn="l">
              <a:spcBef>
                <a:spcPts val="0"/>
              </a:spcBef>
              <a:spcAft>
                <a:spcPts val="0"/>
              </a:spcAft>
              <a:buNone/>
            </a:pPr>
            <a:r>
              <a:rPr lang="en-US"/>
              <a:t>midint</a:t>
            </a:r>
            <a:endParaRPr/>
          </a:p>
          <a:p>
            <a:pPr indent="0" lvl="0" marL="0" rtl="0" algn="l">
              <a:spcBef>
                <a:spcPts val="0"/>
              </a:spcBef>
              <a:spcAft>
                <a:spcPts val="0"/>
              </a:spcAft>
              <a:buNone/>
            </a:pPr>
            <a:r>
              <a:rPr lang="en-US"/>
              <a:t>laname</a:t>
            </a:r>
            <a:endParaRPr/>
          </a:p>
          <a:p>
            <a:pPr indent="0" lvl="0" marL="0" rtl="0" algn="l">
              <a:spcBef>
                <a:spcPts val="0"/>
              </a:spcBef>
              <a:spcAft>
                <a:spcPts val="0"/>
              </a:spcAft>
              <a:buNone/>
            </a:pPr>
            <a:r>
              <a:rPr lang="en-US"/>
              <a:t>address</a:t>
            </a:r>
            <a:endParaRPr/>
          </a:p>
          <a:p>
            <a:pPr indent="0" lvl="0" marL="0" rtl="0" algn="l">
              <a:spcBef>
                <a:spcPts val="0"/>
              </a:spcBef>
              <a:spcAft>
                <a:spcPts val="0"/>
              </a:spcAft>
              <a:buNone/>
            </a:pPr>
            <a:r>
              <a:rPr lang="en-US"/>
              <a:t>salary</a:t>
            </a:r>
            <a:endParaRPr/>
          </a:p>
          <a:p>
            <a:pPr indent="0" lvl="0" marL="0" rtl="0" algn="l">
              <a:spcBef>
                <a:spcPts val="0"/>
              </a:spcBef>
              <a:spcAft>
                <a:spcPts val="0"/>
              </a:spcAft>
              <a:buNone/>
            </a:pPr>
            <a:r>
              <a:rPr lang="en-US"/>
              <a:t>gender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supervisor_ssn</a:t>
            </a:r>
            <a:endParaRPr/>
          </a:p>
          <a:p>
            <a:pPr indent="0" lvl="0" marL="0" rtl="0" algn="l">
              <a:spcBef>
                <a:spcPts val="0"/>
              </a:spcBef>
              <a:spcAft>
                <a:spcPts val="0"/>
              </a:spcAft>
              <a:buNone/>
            </a:pPr>
            <a:r>
              <a:rPr lang="en-US"/>
              <a:t>dnumber NOT NULL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foreign key supervisor_ssn references employee(ssn)</a:t>
            </a:r>
            <a:endParaRPr/>
          </a:p>
          <a:p>
            <a:pPr indent="0" lvl="0" marL="0" rtl="0" algn="l">
              <a:spcBef>
                <a:spcPts val="0"/>
              </a:spcBef>
              <a:spcAft>
                <a:spcPts val="0"/>
              </a:spcAft>
              <a:buNone/>
            </a:pPr>
            <a:r>
              <a:rPr lang="en-US"/>
              <a:t>foreign key dnumber references Department(number)</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CREATE TABLE Dept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Name</a:t>
            </a:r>
            <a:endParaRPr/>
          </a:p>
          <a:p>
            <a:pPr indent="0" lvl="0" marL="0" rtl="0" algn="l">
              <a:spcBef>
                <a:spcPts val="0"/>
              </a:spcBef>
              <a:spcAft>
                <a:spcPts val="0"/>
              </a:spcAft>
              <a:buNone/>
            </a:pPr>
            <a:r>
              <a:rPr lang="en-US"/>
              <a:t>Number primary key</a:t>
            </a:r>
            <a:endParaRPr/>
          </a:p>
          <a:p>
            <a:pPr indent="0" lvl="0" marL="0" rtl="0" algn="l">
              <a:spcBef>
                <a:spcPts val="0"/>
              </a:spcBef>
              <a:spcAft>
                <a:spcPts val="0"/>
              </a:spcAft>
              <a:buNone/>
            </a:pPr>
            <a:r>
              <a:rPr lang="en-US"/>
              <a:t>mgrssn  NOT NULL</a:t>
            </a:r>
            <a:endParaRPr/>
          </a:p>
          <a:p>
            <a:pPr indent="0" lvl="0" marL="0" rtl="0" algn="l">
              <a:spcBef>
                <a:spcPts val="0"/>
              </a:spcBef>
              <a:spcAft>
                <a:spcPts val="0"/>
              </a:spcAft>
              <a:buNone/>
            </a:pPr>
            <a:r>
              <a:rPr lang="en-US"/>
              <a:t>mgr_sdate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foreign key mgrss REFERENCES Employee(ssn)</a:t>
            </a:r>
            <a:endParaRPr/>
          </a:p>
          <a:p>
            <a:pPr indent="0" lvl="0" marL="0" rtl="0" algn="l">
              <a:spcBef>
                <a:spcPts val="0"/>
              </a:spcBef>
              <a:spcAft>
                <a:spcPts val="0"/>
              </a:spcAft>
              <a:buNone/>
            </a:pPr>
            <a:r>
              <a:rPr lang="en-US"/>
              <a:t>unique(mgrssn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CREATE TABLE Dept_location(</a:t>
            </a:r>
            <a:endParaRPr/>
          </a:p>
          <a:p>
            <a:pPr indent="0" lvl="0" marL="0" rtl="0" algn="l">
              <a:spcBef>
                <a:spcPts val="0"/>
              </a:spcBef>
              <a:spcAft>
                <a:spcPts val="0"/>
              </a:spcAft>
              <a:buNone/>
            </a:pPr>
            <a:r>
              <a:rPr lang="en-US"/>
              <a:t>dnumber ,</a:t>
            </a:r>
            <a:endParaRPr/>
          </a:p>
          <a:p>
            <a:pPr indent="0" lvl="0" marL="0" rtl="0" algn="l">
              <a:spcBef>
                <a:spcPts val="0"/>
              </a:spcBef>
              <a:spcAft>
                <a:spcPts val="0"/>
              </a:spcAft>
              <a:buNone/>
            </a:pPr>
            <a:r>
              <a:rPr lang="en-US"/>
              <a:t>location ,</a:t>
            </a:r>
            <a:endParaRPr/>
          </a:p>
          <a:p>
            <a:pPr indent="0" lvl="0" marL="0" rtl="0" algn="l">
              <a:spcBef>
                <a:spcPts val="0"/>
              </a:spcBef>
              <a:spcAft>
                <a:spcPts val="0"/>
              </a:spcAft>
              <a:buNone/>
            </a:pPr>
            <a:r>
              <a:rPr lang="en-US"/>
              <a:t>Primary key (number, location),</a:t>
            </a:r>
            <a:endParaRPr/>
          </a:p>
          <a:p>
            <a:pPr indent="0" lvl="0" marL="0" rtl="0" algn="l">
              <a:spcBef>
                <a:spcPts val="0"/>
              </a:spcBef>
              <a:spcAft>
                <a:spcPts val="0"/>
              </a:spcAft>
              <a:buNone/>
            </a:pPr>
            <a:r>
              <a:rPr lang="en-US"/>
              <a:t>foreign key dnumber references Dept(Number)</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CREATE TABLE Project(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Name</a:t>
            </a:r>
            <a:endParaRPr/>
          </a:p>
          <a:p>
            <a:pPr indent="0" lvl="0" marL="0" rtl="0" algn="l">
              <a:spcBef>
                <a:spcPts val="0"/>
              </a:spcBef>
              <a:spcAft>
                <a:spcPts val="0"/>
              </a:spcAft>
              <a:buNone/>
            </a:pPr>
            <a:r>
              <a:rPr lang="en-US"/>
              <a:t>Number primary key</a:t>
            </a:r>
            <a:endParaRPr/>
          </a:p>
          <a:p>
            <a:pPr indent="0" lvl="0" marL="0" rtl="0" algn="l">
              <a:spcBef>
                <a:spcPts val="0"/>
              </a:spcBef>
              <a:spcAft>
                <a:spcPts val="0"/>
              </a:spcAft>
              <a:buNone/>
            </a:pPr>
            <a:r>
              <a:rPr lang="en-US"/>
              <a:t>Location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cdept NOT NULL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foreign key cdept references Dept(number)</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create TABLE works_on(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Pnumber </a:t>
            </a:r>
            <a:endParaRPr/>
          </a:p>
          <a:p>
            <a:pPr indent="0" lvl="0" marL="0" rtl="0" algn="l">
              <a:spcBef>
                <a:spcPts val="0"/>
              </a:spcBef>
              <a:spcAft>
                <a:spcPts val="0"/>
              </a:spcAft>
              <a:buNone/>
            </a:pPr>
            <a:r>
              <a:rPr lang="en-US"/>
              <a:t>essn </a:t>
            </a:r>
            <a:endParaRPr/>
          </a:p>
          <a:p>
            <a:pPr indent="0" lvl="0" marL="0" rtl="0" algn="l">
              <a:spcBef>
                <a:spcPts val="0"/>
              </a:spcBef>
              <a:spcAft>
                <a:spcPts val="0"/>
              </a:spcAft>
              <a:buNone/>
            </a:pPr>
            <a:r>
              <a:rPr lang="en-US"/>
              <a:t>hours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primary key (pnumber, essn),</a:t>
            </a:r>
            <a:endParaRPr/>
          </a:p>
          <a:p>
            <a:pPr indent="0" lvl="0" marL="0" rtl="0" algn="l">
              <a:spcBef>
                <a:spcPts val="0"/>
              </a:spcBef>
              <a:spcAft>
                <a:spcPts val="0"/>
              </a:spcAft>
              <a:buNone/>
            </a:pPr>
            <a:r>
              <a:rPr lang="en-US"/>
              <a:t>foregin key pnumber references Project(number),</a:t>
            </a:r>
            <a:endParaRPr/>
          </a:p>
          <a:p>
            <a:pPr indent="0" lvl="0" marL="0" rtl="0" algn="l">
              <a:spcBef>
                <a:spcPts val="0"/>
              </a:spcBef>
              <a:spcAft>
                <a:spcPts val="0"/>
              </a:spcAft>
              <a:buNone/>
            </a:pPr>
            <a:r>
              <a:rPr lang="en-US"/>
              <a:t>foreign key essn references Employee(ssn)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09" name="Google Shape;1609;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4" name="Shape 1614"/>
        <p:cNvGrpSpPr/>
        <p:nvPr/>
      </p:nvGrpSpPr>
      <p:grpSpPr>
        <a:xfrm>
          <a:off x="0" y="0"/>
          <a:ext cx="0" cy="0"/>
          <a:chOff x="0" y="0"/>
          <a:chExt cx="0" cy="0"/>
        </a:xfrm>
      </p:grpSpPr>
      <p:sp>
        <p:nvSpPr>
          <p:cNvPr id="1615" name="Google Shape;1615;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6" name="Google Shape;1616;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3" name="Google Shape;1623;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9" name="Shape 1629"/>
        <p:cNvGrpSpPr/>
        <p:nvPr/>
      </p:nvGrpSpPr>
      <p:grpSpPr>
        <a:xfrm>
          <a:off x="0" y="0"/>
          <a:ext cx="0" cy="0"/>
          <a:chOff x="0" y="0"/>
          <a:chExt cx="0" cy="0"/>
        </a:xfrm>
      </p:grpSpPr>
      <p:sp>
        <p:nvSpPr>
          <p:cNvPr id="1630" name="Google Shape;1630;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1" name="Google Shape;1631;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6" name="Shape 1636"/>
        <p:cNvGrpSpPr/>
        <p:nvPr/>
      </p:nvGrpSpPr>
      <p:grpSpPr>
        <a:xfrm>
          <a:off x="0" y="0"/>
          <a:ext cx="0" cy="0"/>
          <a:chOff x="0" y="0"/>
          <a:chExt cx="0" cy="0"/>
        </a:xfrm>
      </p:grpSpPr>
      <p:sp>
        <p:nvSpPr>
          <p:cNvPr id="1637" name="Google Shape;1637;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8" name="Google Shape;1638;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3" name="Shape 1643"/>
        <p:cNvGrpSpPr/>
        <p:nvPr/>
      </p:nvGrpSpPr>
      <p:grpSpPr>
        <a:xfrm>
          <a:off x="0" y="0"/>
          <a:ext cx="0" cy="0"/>
          <a:chOff x="0" y="0"/>
          <a:chExt cx="0" cy="0"/>
        </a:xfrm>
      </p:grpSpPr>
      <p:sp>
        <p:nvSpPr>
          <p:cNvPr id="1644" name="Google Shape;1644;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5" name="Google Shape;1645;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0" name="Shape 1650"/>
        <p:cNvGrpSpPr/>
        <p:nvPr/>
      </p:nvGrpSpPr>
      <p:grpSpPr>
        <a:xfrm>
          <a:off x="0" y="0"/>
          <a:ext cx="0" cy="0"/>
          <a:chOff x="0" y="0"/>
          <a:chExt cx="0" cy="0"/>
        </a:xfrm>
      </p:grpSpPr>
      <p:sp>
        <p:nvSpPr>
          <p:cNvPr id="1651" name="Google Shape;1651;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2" name="Google Shape;1652;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9" name="Google Shape;1659;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4" name="Shape 1664"/>
        <p:cNvGrpSpPr/>
        <p:nvPr/>
      </p:nvGrpSpPr>
      <p:grpSpPr>
        <a:xfrm>
          <a:off x="0" y="0"/>
          <a:ext cx="0" cy="0"/>
          <a:chOff x="0" y="0"/>
          <a:chExt cx="0" cy="0"/>
        </a:xfrm>
      </p:grpSpPr>
      <p:sp>
        <p:nvSpPr>
          <p:cNvPr id="1665" name="Google Shape;1665;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6" name="Google Shape;1666;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2" name="Shape 1672"/>
        <p:cNvGrpSpPr/>
        <p:nvPr/>
      </p:nvGrpSpPr>
      <p:grpSpPr>
        <a:xfrm>
          <a:off x="0" y="0"/>
          <a:ext cx="0" cy="0"/>
          <a:chOff x="0" y="0"/>
          <a:chExt cx="0" cy="0"/>
        </a:xfrm>
      </p:grpSpPr>
      <p:sp>
        <p:nvSpPr>
          <p:cNvPr id="1673" name="Google Shape;1673;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4" name="Google Shape;1674;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8" name="Shape 1678"/>
        <p:cNvGrpSpPr/>
        <p:nvPr/>
      </p:nvGrpSpPr>
      <p:grpSpPr>
        <a:xfrm>
          <a:off x="0" y="0"/>
          <a:ext cx="0" cy="0"/>
          <a:chOff x="0" y="0"/>
          <a:chExt cx="0" cy="0"/>
        </a:xfrm>
      </p:grpSpPr>
      <p:sp>
        <p:nvSpPr>
          <p:cNvPr id="1679" name="Google Shape;1679;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0" name="Google Shape;1680;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5" name="Shape 1685"/>
        <p:cNvGrpSpPr/>
        <p:nvPr/>
      </p:nvGrpSpPr>
      <p:grpSpPr>
        <a:xfrm>
          <a:off x="0" y="0"/>
          <a:ext cx="0" cy="0"/>
          <a:chOff x="0" y="0"/>
          <a:chExt cx="0" cy="0"/>
        </a:xfrm>
      </p:grpSpPr>
      <p:sp>
        <p:nvSpPr>
          <p:cNvPr id="1686" name="Google Shape;1686;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7" name="Google Shape;1687;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6" name="Shape 1696"/>
        <p:cNvGrpSpPr/>
        <p:nvPr/>
      </p:nvGrpSpPr>
      <p:grpSpPr>
        <a:xfrm>
          <a:off x="0" y="0"/>
          <a:ext cx="0" cy="0"/>
          <a:chOff x="0" y="0"/>
          <a:chExt cx="0" cy="0"/>
        </a:xfrm>
      </p:grpSpPr>
      <p:sp>
        <p:nvSpPr>
          <p:cNvPr id="1697" name="Google Shape;1697;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8" name="Google Shape;1698;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3" name="Shape 1703"/>
        <p:cNvGrpSpPr/>
        <p:nvPr/>
      </p:nvGrpSpPr>
      <p:grpSpPr>
        <a:xfrm>
          <a:off x="0" y="0"/>
          <a:ext cx="0" cy="0"/>
          <a:chOff x="0" y="0"/>
          <a:chExt cx="0" cy="0"/>
        </a:xfrm>
      </p:grpSpPr>
      <p:sp>
        <p:nvSpPr>
          <p:cNvPr id="1704" name="Google Shape;1704;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5" name="Google Shape;1705;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0" name="Shape 1710"/>
        <p:cNvGrpSpPr/>
        <p:nvPr/>
      </p:nvGrpSpPr>
      <p:grpSpPr>
        <a:xfrm>
          <a:off x="0" y="0"/>
          <a:ext cx="0" cy="0"/>
          <a:chOff x="0" y="0"/>
          <a:chExt cx="0" cy="0"/>
        </a:xfrm>
      </p:grpSpPr>
      <p:sp>
        <p:nvSpPr>
          <p:cNvPr id="1711" name="Google Shape;1711;p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2" name="Google Shape;1712;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7" name="Shape 1717"/>
        <p:cNvGrpSpPr/>
        <p:nvPr/>
      </p:nvGrpSpPr>
      <p:grpSpPr>
        <a:xfrm>
          <a:off x="0" y="0"/>
          <a:ext cx="0" cy="0"/>
          <a:chOff x="0" y="0"/>
          <a:chExt cx="0" cy="0"/>
        </a:xfrm>
      </p:grpSpPr>
      <p:sp>
        <p:nvSpPr>
          <p:cNvPr id="1718" name="Google Shape;1718;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9" name="Google Shape;1719;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3" name="Shape 1723"/>
        <p:cNvGrpSpPr/>
        <p:nvPr/>
      </p:nvGrpSpPr>
      <p:grpSpPr>
        <a:xfrm>
          <a:off x="0" y="0"/>
          <a:ext cx="0" cy="0"/>
          <a:chOff x="0" y="0"/>
          <a:chExt cx="0" cy="0"/>
        </a:xfrm>
      </p:grpSpPr>
      <p:sp>
        <p:nvSpPr>
          <p:cNvPr id="1724" name="Google Shape;1724;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5" name="Google Shape;1725;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6" name="Google Shape;1726;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3" name="Google Shape;1733;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4" name="Shape 1744"/>
        <p:cNvGrpSpPr/>
        <p:nvPr/>
      </p:nvGrpSpPr>
      <p:grpSpPr>
        <a:xfrm>
          <a:off x="0" y="0"/>
          <a:ext cx="0" cy="0"/>
          <a:chOff x="0" y="0"/>
          <a:chExt cx="0" cy="0"/>
        </a:xfrm>
      </p:grpSpPr>
      <p:sp>
        <p:nvSpPr>
          <p:cNvPr id="1745" name="Google Shape;1745;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6" name="Google Shape;1746;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1" name="Shape 1771"/>
        <p:cNvGrpSpPr/>
        <p:nvPr/>
      </p:nvGrpSpPr>
      <p:grpSpPr>
        <a:xfrm>
          <a:off x="0" y="0"/>
          <a:ext cx="0" cy="0"/>
          <a:chOff x="0" y="0"/>
          <a:chExt cx="0" cy="0"/>
        </a:xfrm>
      </p:grpSpPr>
      <p:sp>
        <p:nvSpPr>
          <p:cNvPr id="1772" name="Google Shape;1772;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3" name="Google Shape;1773;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6" name="Shape 1826"/>
        <p:cNvGrpSpPr/>
        <p:nvPr/>
      </p:nvGrpSpPr>
      <p:grpSpPr>
        <a:xfrm>
          <a:off x="0" y="0"/>
          <a:ext cx="0" cy="0"/>
          <a:chOff x="0" y="0"/>
          <a:chExt cx="0" cy="0"/>
        </a:xfrm>
      </p:grpSpPr>
      <p:sp>
        <p:nvSpPr>
          <p:cNvPr id="1827" name="Google Shape;1827;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8" name="Google Shape;1828;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4" name="Shape 1854"/>
        <p:cNvGrpSpPr/>
        <p:nvPr/>
      </p:nvGrpSpPr>
      <p:grpSpPr>
        <a:xfrm>
          <a:off x="0" y="0"/>
          <a:ext cx="0" cy="0"/>
          <a:chOff x="0" y="0"/>
          <a:chExt cx="0" cy="0"/>
        </a:xfrm>
      </p:grpSpPr>
      <p:sp>
        <p:nvSpPr>
          <p:cNvPr id="1855" name="Google Shape;1855;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6" name="Google Shape;1856;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1" name="Shape 1861"/>
        <p:cNvGrpSpPr/>
        <p:nvPr/>
      </p:nvGrpSpPr>
      <p:grpSpPr>
        <a:xfrm>
          <a:off x="0" y="0"/>
          <a:ext cx="0" cy="0"/>
          <a:chOff x="0" y="0"/>
          <a:chExt cx="0" cy="0"/>
        </a:xfrm>
      </p:grpSpPr>
      <p:sp>
        <p:nvSpPr>
          <p:cNvPr id="1862" name="Google Shape;1862;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3" name="Google Shape;1863;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1" name="Shape 1871"/>
        <p:cNvGrpSpPr/>
        <p:nvPr/>
      </p:nvGrpSpPr>
      <p:grpSpPr>
        <a:xfrm>
          <a:off x="0" y="0"/>
          <a:ext cx="0" cy="0"/>
          <a:chOff x="0" y="0"/>
          <a:chExt cx="0" cy="0"/>
        </a:xfrm>
      </p:grpSpPr>
      <p:sp>
        <p:nvSpPr>
          <p:cNvPr id="1872" name="Google Shape;1872;p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3" name="Google Shape;1873;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7" name="Shape 1887"/>
        <p:cNvGrpSpPr/>
        <p:nvPr/>
      </p:nvGrpSpPr>
      <p:grpSpPr>
        <a:xfrm>
          <a:off x="0" y="0"/>
          <a:ext cx="0" cy="0"/>
          <a:chOff x="0" y="0"/>
          <a:chExt cx="0" cy="0"/>
        </a:xfrm>
      </p:grpSpPr>
      <p:sp>
        <p:nvSpPr>
          <p:cNvPr id="1888" name="Google Shape;1888;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9" name="Google Shape;1889;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p9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8" name="Google Shape;1908;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4" name="Shape 1914"/>
        <p:cNvGrpSpPr/>
        <p:nvPr/>
      </p:nvGrpSpPr>
      <p:grpSpPr>
        <a:xfrm>
          <a:off x="0" y="0"/>
          <a:ext cx="0" cy="0"/>
          <a:chOff x="0" y="0"/>
          <a:chExt cx="0" cy="0"/>
        </a:xfrm>
      </p:grpSpPr>
      <p:sp>
        <p:nvSpPr>
          <p:cNvPr id="1915" name="Google Shape;1915;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6" name="Google Shape;1916;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5" name="Shape 1935"/>
        <p:cNvGrpSpPr/>
        <p:nvPr/>
      </p:nvGrpSpPr>
      <p:grpSpPr>
        <a:xfrm>
          <a:off x="0" y="0"/>
          <a:ext cx="0" cy="0"/>
          <a:chOff x="0" y="0"/>
          <a:chExt cx="0" cy="0"/>
        </a:xfrm>
      </p:grpSpPr>
      <p:sp>
        <p:nvSpPr>
          <p:cNvPr id="1936" name="Google Shape;1936;p9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7" name="Google Shape;1937;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0" name="Shape 1960"/>
        <p:cNvGrpSpPr/>
        <p:nvPr/>
      </p:nvGrpSpPr>
      <p:grpSpPr>
        <a:xfrm>
          <a:off x="0" y="0"/>
          <a:ext cx="0" cy="0"/>
          <a:chOff x="0" y="0"/>
          <a:chExt cx="0" cy="0"/>
        </a:xfrm>
      </p:grpSpPr>
      <p:sp>
        <p:nvSpPr>
          <p:cNvPr id="1961" name="Google Shape;1961;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2" name="Google Shape;1962;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4" name="Shape 1974"/>
        <p:cNvGrpSpPr/>
        <p:nvPr/>
      </p:nvGrpSpPr>
      <p:grpSpPr>
        <a:xfrm>
          <a:off x="0" y="0"/>
          <a:ext cx="0" cy="0"/>
          <a:chOff x="0" y="0"/>
          <a:chExt cx="0" cy="0"/>
        </a:xfrm>
      </p:grpSpPr>
      <p:sp>
        <p:nvSpPr>
          <p:cNvPr id="1975" name="Google Shape;1975;p9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6" name="Google Shape;1976;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4" name="Shape 1994"/>
        <p:cNvGrpSpPr/>
        <p:nvPr/>
      </p:nvGrpSpPr>
      <p:grpSpPr>
        <a:xfrm>
          <a:off x="0" y="0"/>
          <a:ext cx="0" cy="0"/>
          <a:chOff x="0" y="0"/>
          <a:chExt cx="0" cy="0"/>
        </a:xfrm>
      </p:grpSpPr>
      <p:sp>
        <p:nvSpPr>
          <p:cNvPr id="1995" name="Google Shape;1995;p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6" name="Google Shape;1996;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7" name="Shape 2017"/>
        <p:cNvGrpSpPr/>
        <p:nvPr/>
      </p:nvGrpSpPr>
      <p:grpSpPr>
        <a:xfrm>
          <a:off x="0" y="0"/>
          <a:ext cx="0" cy="0"/>
          <a:chOff x="0" y="0"/>
          <a:chExt cx="0" cy="0"/>
        </a:xfrm>
      </p:grpSpPr>
      <p:sp>
        <p:nvSpPr>
          <p:cNvPr id="2018" name="Google Shape;2018;p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9" name="Google Shape;2019;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8" name="Shape 2038"/>
        <p:cNvGrpSpPr/>
        <p:nvPr/>
      </p:nvGrpSpPr>
      <p:grpSpPr>
        <a:xfrm>
          <a:off x="0" y="0"/>
          <a:ext cx="0" cy="0"/>
          <a:chOff x="0" y="0"/>
          <a:chExt cx="0" cy="0"/>
        </a:xfrm>
      </p:grpSpPr>
      <p:sp>
        <p:nvSpPr>
          <p:cNvPr id="2039" name="Google Shape;2039;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0" name="Google Shape;2040;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5" name="Shape 2045"/>
        <p:cNvGrpSpPr/>
        <p:nvPr/>
      </p:nvGrpSpPr>
      <p:grpSpPr>
        <a:xfrm>
          <a:off x="0" y="0"/>
          <a:ext cx="0" cy="0"/>
          <a:chOff x="0" y="0"/>
          <a:chExt cx="0" cy="0"/>
        </a:xfrm>
      </p:grpSpPr>
      <p:sp>
        <p:nvSpPr>
          <p:cNvPr id="2046" name="Google Shape;2046;p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7" name="Google Shape;2047;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1" name="Shape 2051"/>
        <p:cNvGrpSpPr/>
        <p:nvPr/>
      </p:nvGrpSpPr>
      <p:grpSpPr>
        <a:xfrm>
          <a:off x="0" y="0"/>
          <a:ext cx="0" cy="0"/>
          <a:chOff x="0" y="0"/>
          <a:chExt cx="0" cy="0"/>
        </a:xfrm>
      </p:grpSpPr>
      <p:sp>
        <p:nvSpPr>
          <p:cNvPr id="2052" name="Google Shape;2052;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3" name="Google Shape;2053;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0" name="Shape 2060"/>
        <p:cNvGrpSpPr/>
        <p:nvPr/>
      </p:nvGrpSpPr>
      <p:grpSpPr>
        <a:xfrm>
          <a:off x="0" y="0"/>
          <a:ext cx="0" cy="0"/>
          <a:chOff x="0" y="0"/>
          <a:chExt cx="0" cy="0"/>
        </a:xfrm>
      </p:grpSpPr>
      <p:sp>
        <p:nvSpPr>
          <p:cNvPr id="2061" name="Google Shape;2061;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2" name="Google Shape;2062;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Make weight weak entity </a:t>
            </a:r>
            <a:endParaRPr/>
          </a:p>
        </p:txBody>
      </p:sp>
      <p:sp>
        <p:nvSpPr>
          <p:cNvPr id="2063" name="Google Shape;2063;p1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6" name="Shape 2116"/>
        <p:cNvGrpSpPr/>
        <p:nvPr/>
      </p:nvGrpSpPr>
      <p:grpSpPr>
        <a:xfrm>
          <a:off x="0" y="0"/>
          <a:ext cx="0" cy="0"/>
          <a:chOff x="0" y="0"/>
          <a:chExt cx="0" cy="0"/>
        </a:xfrm>
      </p:grpSpPr>
      <p:sp>
        <p:nvSpPr>
          <p:cNvPr id="2117" name="Google Shape;2117;p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8" name="Google Shape;2118;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1" name="Shape 2131"/>
        <p:cNvGrpSpPr/>
        <p:nvPr/>
      </p:nvGrpSpPr>
      <p:grpSpPr>
        <a:xfrm>
          <a:off x="0" y="0"/>
          <a:ext cx="0" cy="0"/>
          <a:chOff x="0" y="0"/>
          <a:chExt cx="0" cy="0"/>
        </a:xfrm>
      </p:grpSpPr>
      <p:sp>
        <p:nvSpPr>
          <p:cNvPr id="2132" name="Google Shape;2132;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3" name="Google Shape;2133;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5" name="Shape 2165"/>
        <p:cNvGrpSpPr/>
        <p:nvPr/>
      </p:nvGrpSpPr>
      <p:grpSpPr>
        <a:xfrm>
          <a:off x="0" y="0"/>
          <a:ext cx="0" cy="0"/>
          <a:chOff x="0" y="0"/>
          <a:chExt cx="0" cy="0"/>
        </a:xfrm>
      </p:grpSpPr>
      <p:sp>
        <p:nvSpPr>
          <p:cNvPr id="2166" name="Google Shape;2166;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7" name="Google Shape;2167;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4" name="Shape 2274"/>
        <p:cNvGrpSpPr/>
        <p:nvPr/>
      </p:nvGrpSpPr>
      <p:grpSpPr>
        <a:xfrm>
          <a:off x="0" y="0"/>
          <a:ext cx="0" cy="0"/>
          <a:chOff x="0" y="0"/>
          <a:chExt cx="0" cy="0"/>
        </a:xfrm>
      </p:grpSpPr>
      <p:sp>
        <p:nvSpPr>
          <p:cNvPr id="2275" name="Google Shape;2275;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6" name="Google Shape;2276;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1" name="Shape 2281"/>
        <p:cNvGrpSpPr/>
        <p:nvPr/>
      </p:nvGrpSpPr>
      <p:grpSpPr>
        <a:xfrm>
          <a:off x="0" y="0"/>
          <a:ext cx="0" cy="0"/>
          <a:chOff x="0" y="0"/>
          <a:chExt cx="0" cy="0"/>
        </a:xfrm>
      </p:grpSpPr>
      <p:sp>
        <p:nvSpPr>
          <p:cNvPr id="2282" name="Google Shape;2282;p10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3" name="Google Shape;2283;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2" name="Shape 2322"/>
        <p:cNvGrpSpPr/>
        <p:nvPr/>
      </p:nvGrpSpPr>
      <p:grpSpPr>
        <a:xfrm>
          <a:off x="0" y="0"/>
          <a:ext cx="0" cy="0"/>
          <a:chOff x="0" y="0"/>
          <a:chExt cx="0" cy="0"/>
        </a:xfrm>
      </p:grpSpPr>
      <p:sp>
        <p:nvSpPr>
          <p:cNvPr id="2323" name="Google Shape;2323;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4" name="Google Shape;2324;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9" name="Shape 2329"/>
        <p:cNvGrpSpPr/>
        <p:nvPr/>
      </p:nvGrpSpPr>
      <p:grpSpPr>
        <a:xfrm>
          <a:off x="0" y="0"/>
          <a:ext cx="0" cy="0"/>
          <a:chOff x="0" y="0"/>
          <a:chExt cx="0" cy="0"/>
        </a:xfrm>
      </p:grpSpPr>
      <p:sp>
        <p:nvSpPr>
          <p:cNvPr id="2330" name="Google Shape;2330;p10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1" name="Google Shape;2331;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6" name="Shape 2356"/>
        <p:cNvGrpSpPr/>
        <p:nvPr/>
      </p:nvGrpSpPr>
      <p:grpSpPr>
        <a:xfrm>
          <a:off x="0" y="0"/>
          <a:ext cx="0" cy="0"/>
          <a:chOff x="0" y="0"/>
          <a:chExt cx="0" cy="0"/>
        </a:xfrm>
      </p:grpSpPr>
      <p:sp>
        <p:nvSpPr>
          <p:cNvPr id="2357" name="Google Shape;2357;p1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8" name="Google Shape;2358;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2" name="Shape 2382"/>
        <p:cNvGrpSpPr/>
        <p:nvPr/>
      </p:nvGrpSpPr>
      <p:grpSpPr>
        <a:xfrm>
          <a:off x="0" y="0"/>
          <a:ext cx="0" cy="0"/>
          <a:chOff x="0" y="0"/>
          <a:chExt cx="0" cy="0"/>
        </a:xfrm>
      </p:grpSpPr>
      <p:sp>
        <p:nvSpPr>
          <p:cNvPr id="2383" name="Google Shape;2383;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4" name="Google Shape;2384;p1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8-b and 8-c and 8-d</a:t>
            </a:r>
            <a:endParaRPr/>
          </a:p>
        </p:txBody>
      </p:sp>
      <p:sp>
        <p:nvSpPr>
          <p:cNvPr id="2385" name="Google Shape;2385;p1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0" name="Shape 2390"/>
        <p:cNvGrpSpPr/>
        <p:nvPr/>
      </p:nvGrpSpPr>
      <p:grpSpPr>
        <a:xfrm>
          <a:off x="0" y="0"/>
          <a:ext cx="0" cy="0"/>
          <a:chOff x="0" y="0"/>
          <a:chExt cx="0" cy="0"/>
        </a:xfrm>
      </p:grpSpPr>
      <p:sp>
        <p:nvSpPr>
          <p:cNvPr id="2391" name="Google Shape;2391;p1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2" name="Google Shape;2392;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7" name="Shape 2397"/>
        <p:cNvGrpSpPr/>
        <p:nvPr/>
      </p:nvGrpSpPr>
      <p:grpSpPr>
        <a:xfrm>
          <a:off x="0" y="0"/>
          <a:ext cx="0" cy="0"/>
          <a:chOff x="0" y="0"/>
          <a:chExt cx="0" cy="0"/>
        </a:xfrm>
      </p:grpSpPr>
      <p:sp>
        <p:nvSpPr>
          <p:cNvPr id="2398" name="Google Shape;2398;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9" name="Google Shape;2399;p1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b="1" lang="en-US" sz="1800">
                <a:latin typeface="Calibri"/>
                <a:ea typeface="Calibri"/>
                <a:cs typeface="Calibri"/>
                <a:sym typeface="Calibri"/>
              </a:rPr>
              <a:t>Option 1</a:t>
            </a:r>
            <a:endParaRPr sz="1800">
              <a:latin typeface="Calibri"/>
              <a:ea typeface="Calibri"/>
              <a:cs typeface="Calibri"/>
              <a:sym typeface="Calibri"/>
            </a:endParaRPr>
          </a:p>
          <a:p>
            <a:pPr indent="0" lvl="0" marL="0" marR="0" rtl="0" algn="l">
              <a:lnSpc>
                <a:spcPct val="107000"/>
              </a:lnSpc>
              <a:spcBef>
                <a:spcPts val="800"/>
              </a:spcBef>
              <a:spcAft>
                <a:spcPts val="0"/>
              </a:spcAft>
              <a:buNone/>
            </a:pPr>
            <a:r>
              <a:rPr lang="en-US" sz="1800">
                <a:latin typeface="Calibri"/>
                <a:ea typeface="Calibri"/>
                <a:cs typeface="Calibri"/>
                <a:sym typeface="Calibri"/>
              </a:rPr>
              <a:t>owner(</a:t>
            </a:r>
            <a:r>
              <a:rPr lang="en-US" sz="1800" u="sng">
                <a:latin typeface="Calibri"/>
                <a:ea typeface="Calibri"/>
                <a:cs typeface="Calibri"/>
                <a:sym typeface="Calibri"/>
              </a:rPr>
              <a:t>owner_id</a:t>
            </a:r>
            <a:r>
              <a:rPr lang="en-US" sz="1800">
                <a:latin typeface="Calibri"/>
                <a:ea typeface="Calibri"/>
                <a:cs typeface="Calibri"/>
                <a:sym typeface="Calibri"/>
              </a:rPr>
              <a:t>)</a:t>
            </a:r>
            <a:endParaRPr/>
          </a:p>
          <a:p>
            <a:pPr indent="0" lvl="0" marL="0" marR="0" rtl="0" algn="l">
              <a:lnSpc>
                <a:spcPct val="107000"/>
              </a:lnSpc>
              <a:spcBef>
                <a:spcPts val="800"/>
              </a:spcBef>
              <a:spcAft>
                <a:spcPts val="0"/>
              </a:spcAft>
              <a:buNone/>
            </a:pPr>
            <a:r>
              <a:rPr lang="en-US" sz="1800">
                <a:latin typeface="Calibri"/>
                <a:ea typeface="Calibri"/>
                <a:cs typeface="Calibri"/>
                <a:sym typeface="Calibri"/>
              </a:rPr>
              <a:t>Company(</a:t>
            </a:r>
            <a:r>
              <a:rPr lang="en-US" sz="1800" u="sng">
                <a:latin typeface="Calibri"/>
                <a:ea typeface="Calibri"/>
                <a:cs typeface="Calibri"/>
                <a:sym typeface="Calibri"/>
              </a:rPr>
              <a:t>cname</a:t>
            </a:r>
            <a:r>
              <a:rPr lang="en-US" sz="1800">
                <a:latin typeface="Calibri"/>
                <a:ea typeface="Calibri"/>
                <a:cs typeface="Calibri"/>
                <a:sym typeface="Calibri"/>
              </a:rPr>
              <a:t>,owner_id)</a:t>
            </a:r>
            <a:endParaRPr/>
          </a:p>
          <a:p>
            <a:pPr indent="0" lvl="0" marL="0" marR="0" rtl="0" algn="l">
              <a:lnSpc>
                <a:spcPct val="107000"/>
              </a:lnSpc>
              <a:spcBef>
                <a:spcPts val="800"/>
              </a:spcBef>
              <a:spcAft>
                <a:spcPts val="0"/>
              </a:spcAft>
              <a:buNone/>
            </a:pPr>
            <a:r>
              <a:rPr lang="en-US" sz="1800">
                <a:latin typeface="Calibri"/>
                <a:ea typeface="Calibri"/>
                <a:cs typeface="Calibri"/>
                <a:sym typeface="Calibri"/>
              </a:rPr>
              <a:t>Bank(</a:t>
            </a:r>
            <a:r>
              <a:rPr lang="en-US" sz="1800" u="sng">
                <a:latin typeface="Calibri"/>
                <a:ea typeface="Calibri"/>
                <a:cs typeface="Calibri"/>
                <a:sym typeface="Calibri"/>
              </a:rPr>
              <a:t>bname</a:t>
            </a:r>
            <a:r>
              <a:rPr lang="en-US" sz="1800">
                <a:latin typeface="Calibri"/>
                <a:ea typeface="Calibri"/>
                <a:cs typeface="Calibri"/>
                <a:sym typeface="Calibri"/>
              </a:rPr>
              <a:t>, owner_id)</a:t>
            </a:r>
            <a:endParaRPr/>
          </a:p>
          <a:p>
            <a:pPr indent="0" lvl="0" marL="0" marR="0" rtl="0" algn="l">
              <a:lnSpc>
                <a:spcPct val="107000"/>
              </a:lnSpc>
              <a:spcBef>
                <a:spcPts val="800"/>
              </a:spcBef>
              <a:spcAft>
                <a:spcPts val="0"/>
              </a:spcAft>
              <a:buNone/>
            </a:pPr>
            <a:r>
              <a:rPr lang="en-US" sz="1800">
                <a:latin typeface="Calibri"/>
                <a:ea typeface="Calibri"/>
                <a:cs typeface="Calibri"/>
                <a:sym typeface="Calibri"/>
              </a:rPr>
              <a:t>Person(</a:t>
            </a:r>
            <a:r>
              <a:rPr lang="en-US" sz="1800" u="sng">
                <a:latin typeface="Calibri"/>
                <a:ea typeface="Calibri"/>
                <a:cs typeface="Calibri"/>
                <a:sym typeface="Calibri"/>
              </a:rPr>
              <a:t>ssn</a:t>
            </a:r>
            <a:r>
              <a:rPr lang="en-US" sz="1800">
                <a:latin typeface="Calibri"/>
                <a:ea typeface="Calibri"/>
                <a:cs typeface="Calibri"/>
                <a:sym typeface="Calibri"/>
              </a:rPr>
              <a:t>, owner_id)</a:t>
            </a:r>
            <a:endParaRPr/>
          </a:p>
          <a:p>
            <a:pPr indent="0" lvl="0" marL="0" marR="0" rtl="0" algn="l">
              <a:lnSpc>
                <a:spcPct val="107000"/>
              </a:lnSpc>
              <a:spcBef>
                <a:spcPts val="800"/>
              </a:spcBef>
              <a:spcAft>
                <a:spcPts val="0"/>
              </a:spcAft>
              <a:buNone/>
            </a:pPr>
            <a:r>
              <a:rPr lang="en-US" sz="1800">
                <a:latin typeface="Calibri"/>
                <a:ea typeface="Calibri"/>
                <a:cs typeface="Calibri"/>
                <a:sym typeface="Calibri"/>
              </a:rPr>
              <a:t>registered_vechile(</a:t>
            </a:r>
            <a:r>
              <a:rPr lang="en-US" sz="1800" u="sng">
                <a:latin typeface="Calibri"/>
                <a:ea typeface="Calibri"/>
                <a:cs typeface="Calibri"/>
                <a:sym typeface="Calibri"/>
              </a:rPr>
              <a:t>vid</a:t>
            </a:r>
            <a:r>
              <a:rPr lang="en-US" sz="1800">
                <a:latin typeface="Calibri"/>
                <a:ea typeface="Calibri"/>
                <a:cs typeface="Calibri"/>
                <a:sym typeface="Calibri"/>
              </a:rPr>
              <a:t>, platenumber)</a:t>
            </a:r>
            <a:endParaRPr/>
          </a:p>
          <a:p>
            <a:pPr indent="0" lvl="0" marL="0" marR="0" rtl="0" algn="l">
              <a:lnSpc>
                <a:spcPct val="107000"/>
              </a:lnSpc>
              <a:spcBef>
                <a:spcPts val="800"/>
              </a:spcBef>
              <a:spcAft>
                <a:spcPts val="0"/>
              </a:spcAft>
              <a:buNone/>
            </a:pPr>
            <a:r>
              <a:rPr lang="en-US" sz="1800">
                <a:latin typeface="Calibri"/>
                <a:ea typeface="Calibri"/>
                <a:cs typeface="Calibri"/>
                <a:sym typeface="Calibri"/>
              </a:rPr>
              <a:t>car(</a:t>
            </a:r>
            <a:r>
              <a:rPr lang="en-US" sz="1800" u="sng">
                <a:latin typeface="Calibri"/>
                <a:ea typeface="Calibri"/>
                <a:cs typeface="Calibri"/>
                <a:sym typeface="Calibri"/>
              </a:rPr>
              <a:t>vid</a:t>
            </a:r>
            <a:r>
              <a:rPr lang="en-US" sz="1800">
                <a:latin typeface="Calibri"/>
                <a:ea typeface="Calibri"/>
                <a:cs typeface="Calibri"/>
                <a:sym typeface="Calibri"/>
              </a:rPr>
              <a:t>, style)</a:t>
            </a:r>
            <a:endParaRPr/>
          </a:p>
          <a:p>
            <a:pPr indent="0" lvl="0" marL="0" marR="0" rtl="0" algn="l">
              <a:lnSpc>
                <a:spcPct val="107000"/>
              </a:lnSpc>
              <a:spcBef>
                <a:spcPts val="800"/>
              </a:spcBef>
              <a:spcAft>
                <a:spcPts val="0"/>
              </a:spcAft>
              <a:buNone/>
            </a:pPr>
            <a:r>
              <a:rPr lang="en-US" sz="1800">
                <a:latin typeface="Calibri"/>
                <a:ea typeface="Calibri"/>
                <a:cs typeface="Calibri"/>
                <a:sym typeface="Calibri"/>
              </a:rPr>
              <a:t>trunk(</a:t>
            </a:r>
            <a:r>
              <a:rPr lang="en-US" sz="1800" u="sng">
                <a:latin typeface="Calibri"/>
                <a:ea typeface="Calibri"/>
                <a:cs typeface="Calibri"/>
                <a:sym typeface="Calibri"/>
              </a:rPr>
              <a:t>vid</a:t>
            </a:r>
            <a:r>
              <a:rPr lang="en-US" sz="1800">
                <a:latin typeface="Calibri"/>
                <a:ea typeface="Calibri"/>
                <a:cs typeface="Calibri"/>
                <a:sym typeface="Calibri"/>
              </a:rPr>
              <a:t>, tonnage)</a:t>
            </a:r>
            <a:endParaRPr/>
          </a:p>
          <a:p>
            <a:pPr indent="0" lvl="0" marL="0" marR="0" rtl="0" algn="l">
              <a:lnSpc>
                <a:spcPct val="107000"/>
              </a:lnSpc>
              <a:spcBef>
                <a:spcPts val="800"/>
              </a:spcBef>
              <a:spcAft>
                <a:spcPts val="0"/>
              </a:spcAft>
              <a:buNone/>
            </a:pPr>
            <a:r>
              <a:rPr lang="en-US" sz="1800">
                <a:latin typeface="Calibri"/>
                <a:ea typeface="Calibri"/>
                <a:cs typeface="Calibri"/>
                <a:sym typeface="Calibri"/>
              </a:rPr>
              <a:t>Owns(</a:t>
            </a:r>
            <a:r>
              <a:rPr lang="en-US" sz="1800" u="sng">
                <a:latin typeface="Calibri"/>
                <a:ea typeface="Calibri"/>
                <a:cs typeface="Calibri"/>
                <a:sym typeface="Calibri"/>
              </a:rPr>
              <a:t>owner_id, vid,</a:t>
            </a:r>
            <a:r>
              <a:rPr lang="en-US" sz="1800">
                <a:latin typeface="Calibri"/>
                <a:ea typeface="Calibri"/>
                <a:cs typeface="Calibri"/>
                <a:sym typeface="Calibri"/>
              </a:rPr>
              <a:t> purchase_date)</a:t>
            </a:r>
            <a:endParaRPr/>
          </a:p>
          <a:p>
            <a:pPr indent="0" lvl="0" marL="0" marR="0" rtl="0" algn="l">
              <a:lnSpc>
                <a:spcPct val="107000"/>
              </a:lnSpc>
              <a:spcBef>
                <a:spcPts val="800"/>
              </a:spcBef>
              <a:spcAft>
                <a:spcPts val="0"/>
              </a:spcAft>
              <a:buNone/>
            </a:pPr>
            <a:r>
              <a:rPr b="1" lang="en-US" sz="1800">
                <a:latin typeface="Calibri"/>
                <a:ea typeface="Calibri"/>
                <a:cs typeface="Calibri"/>
                <a:sym typeface="Calibri"/>
              </a:rPr>
              <a:t>Option 2</a:t>
            </a:r>
            <a:endParaRPr sz="1800">
              <a:latin typeface="Calibri"/>
              <a:ea typeface="Calibri"/>
              <a:cs typeface="Calibri"/>
              <a:sym typeface="Calibri"/>
            </a:endParaRPr>
          </a:p>
          <a:p>
            <a:pPr indent="0" lvl="0" marL="0" marR="0" rtl="0" algn="l">
              <a:lnSpc>
                <a:spcPct val="107000"/>
              </a:lnSpc>
              <a:spcBef>
                <a:spcPts val="800"/>
              </a:spcBef>
              <a:spcAft>
                <a:spcPts val="0"/>
              </a:spcAft>
              <a:buNone/>
            </a:pPr>
            <a:r>
              <a:rPr lang="en-US" sz="1800">
                <a:latin typeface="Calibri"/>
                <a:ea typeface="Calibri"/>
                <a:cs typeface="Calibri"/>
                <a:sym typeface="Calibri"/>
              </a:rPr>
              <a:t>Company(</a:t>
            </a:r>
            <a:r>
              <a:rPr lang="en-US" sz="1800" u="sng">
                <a:latin typeface="Calibri"/>
                <a:ea typeface="Calibri"/>
                <a:cs typeface="Calibri"/>
                <a:sym typeface="Calibri"/>
              </a:rPr>
              <a:t>cname</a:t>
            </a:r>
            <a:r>
              <a:rPr lang="en-US" sz="1800">
                <a:latin typeface="Calibri"/>
                <a:ea typeface="Calibri"/>
                <a:cs typeface="Calibri"/>
                <a:sym typeface="Calibri"/>
              </a:rPr>
              <a:t>,owner_id)</a:t>
            </a:r>
            <a:endParaRPr/>
          </a:p>
          <a:p>
            <a:pPr indent="0" lvl="0" marL="0" marR="0" rtl="0" algn="l">
              <a:lnSpc>
                <a:spcPct val="107000"/>
              </a:lnSpc>
              <a:spcBef>
                <a:spcPts val="800"/>
              </a:spcBef>
              <a:spcAft>
                <a:spcPts val="0"/>
              </a:spcAft>
              <a:buNone/>
            </a:pPr>
            <a:r>
              <a:rPr lang="en-US" sz="1800">
                <a:latin typeface="Calibri"/>
                <a:ea typeface="Calibri"/>
                <a:cs typeface="Calibri"/>
                <a:sym typeface="Calibri"/>
              </a:rPr>
              <a:t>Bank(</a:t>
            </a:r>
            <a:r>
              <a:rPr lang="en-US" sz="1800" u="sng">
                <a:latin typeface="Calibri"/>
                <a:ea typeface="Calibri"/>
                <a:cs typeface="Calibri"/>
                <a:sym typeface="Calibri"/>
              </a:rPr>
              <a:t>bname</a:t>
            </a:r>
            <a:r>
              <a:rPr lang="en-US" sz="1800">
                <a:latin typeface="Calibri"/>
                <a:ea typeface="Calibri"/>
                <a:cs typeface="Calibri"/>
                <a:sym typeface="Calibri"/>
              </a:rPr>
              <a:t>, owner_id)</a:t>
            </a:r>
            <a:endParaRPr/>
          </a:p>
          <a:p>
            <a:pPr indent="0" lvl="0" marL="0" marR="0" rtl="0" algn="l">
              <a:lnSpc>
                <a:spcPct val="107000"/>
              </a:lnSpc>
              <a:spcBef>
                <a:spcPts val="800"/>
              </a:spcBef>
              <a:spcAft>
                <a:spcPts val="0"/>
              </a:spcAft>
              <a:buNone/>
            </a:pPr>
            <a:r>
              <a:rPr lang="en-US" sz="1800">
                <a:latin typeface="Calibri"/>
                <a:ea typeface="Calibri"/>
                <a:cs typeface="Calibri"/>
                <a:sym typeface="Calibri"/>
              </a:rPr>
              <a:t>Person(</a:t>
            </a:r>
            <a:r>
              <a:rPr lang="en-US" sz="1800" u="sng">
                <a:latin typeface="Calibri"/>
                <a:ea typeface="Calibri"/>
                <a:cs typeface="Calibri"/>
                <a:sym typeface="Calibri"/>
              </a:rPr>
              <a:t>ssn</a:t>
            </a:r>
            <a:r>
              <a:rPr lang="en-US" sz="1800">
                <a:latin typeface="Calibri"/>
                <a:ea typeface="Calibri"/>
                <a:cs typeface="Calibri"/>
                <a:sym typeface="Calibri"/>
              </a:rPr>
              <a:t>, owner_id)</a:t>
            </a:r>
            <a:endParaRPr/>
          </a:p>
          <a:p>
            <a:pPr indent="0" lvl="0" marL="0" marR="0" rtl="0" algn="l">
              <a:lnSpc>
                <a:spcPct val="107000"/>
              </a:lnSpc>
              <a:spcBef>
                <a:spcPts val="800"/>
              </a:spcBef>
              <a:spcAft>
                <a:spcPts val="0"/>
              </a:spcAft>
              <a:buNone/>
            </a:pPr>
            <a:r>
              <a:rPr lang="en-US" sz="1800">
                <a:latin typeface="Calibri"/>
                <a:ea typeface="Calibri"/>
                <a:cs typeface="Calibri"/>
                <a:sym typeface="Calibri"/>
              </a:rPr>
              <a:t>registered_vechile(</a:t>
            </a:r>
            <a:r>
              <a:rPr lang="en-US" sz="1800" u="sng">
                <a:latin typeface="Calibri"/>
                <a:ea typeface="Calibri"/>
                <a:cs typeface="Calibri"/>
                <a:sym typeface="Calibri"/>
              </a:rPr>
              <a:t>vid</a:t>
            </a:r>
            <a:r>
              <a:rPr lang="en-US" sz="1800">
                <a:latin typeface="Calibri"/>
                <a:ea typeface="Calibri"/>
                <a:cs typeface="Calibri"/>
                <a:sym typeface="Calibri"/>
              </a:rPr>
              <a:t>, platenumber)</a:t>
            </a:r>
            <a:endParaRPr/>
          </a:p>
          <a:p>
            <a:pPr indent="0" lvl="0" marL="0" marR="0" rtl="0" algn="l">
              <a:lnSpc>
                <a:spcPct val="107000"/>
              </a:lnSpc>
              <a:spcBef>
                <a:spcPts val="800"/>
              </a:spcBef>
              <a:spcAft>
                <a:spcPts val="0"/>
              </a:spcAft>
              <a:buNone/>
            </a:pPr>
            <a:r>
              <a:rPr lang="en-US" sz="1800">
                <a:latin typeface="Calibri"/>
                <a:ea typeface="Calibri"/>
                <a:cs typeface="Calibri"/>
                <a:sym typeface="Calibri"/>
              </a:rPr>
              <a:t>car(</a:t>
            </a:r>
            <a:r>
              <a:rPr lang="en-US" sz="1800" u="sng">
                <a:latin typeface="Calibri"/>
                <a:ea typeface="Calibri"/>
                <a:cs typeface="Calibri"/>
                <a:sym typeface="Calibri"/>
              </a:rPr>
              <a:t>vid</a:t>
            </a:r>
            <a:r>
              <a:rPr lang="en-US" sz="1800">
                <a:latin typeface="Calibri"/>
                <a:ea typeface="Calibri"/>
                <a:cs typeface="Calibri"/>
                <a:sym typeface="Calibri"/>
              </a:rPr>
              <a:t>, style)</a:t>
            </a:r>
            <a:endParaRPr/>
          </a:p>
          <a:p>
            <a:pPr indent="0" lvl="0" marL="0" marR="0" rtl="0" algn="l">
              <a:lnSpc>
                <a:spcPct val="107000"/>
              </a:lnSpc>
              <a:spcBef>
                <a:spcPts val="800"/>
              </a:spcBef>
              <a:spcAft>
                <a:spcPts val="0"/>
              </a:spcAft>
              <a:buNone/>
            </a:pPr>
            <a:r>
              <a:rPr lang="en-US" sz="1800">
                <a:latin typeface="Calibri"/>
                <a:ea typeface="Calibri"/>
                <a:cs typeface="Calibri"/>
                <a:sym typeface="Calibri"/>
              </a:rPr>
              <a:t>trunk(</a:t>
            </a:r>
            <a:r>
              <a:rPr lang="en-US" sz="1800" u="sng">
                <a:latin typeface="Calibri"/>
                <a:ea typeface="Calibri"/>
                <a:cs typeface="Calibri"/>
                <a:sym typeface="Calibri"/>
              </a:rPr>
              <a:t>vid</a:t>
            </a:r>
            <a:r>
              <a:rPr lang="en-US" sz="1800">
                <a:latin typeface="Calibri"/>
                <a:ea typeface="Calibri"/>
                <a:cs typeface="Calibri"/>
                <a:sym typeface="Calibri"/>
              </a:rPr>
              <a:t>, tonnage)</a:t>
            </a:r>
            <a:endParaRPr/>
          </a:p>
          <a:p>
            <a:pPr indent="0" lvl="0" marL="0" marR="0" rtl="0" algn="l">
              <a:lnSpc>
                <a:spcPct val="107000"/>
              </a:lnSpc>
              <a:spcBef>
                <a:spcPts val="800"/>
              </a:spcBef>
              <a:spcAft>
                <a:spcPts val="0"/>
              </a:spcAft>
              <a:buNone/>
            </a:pPr>
            <a:r>
              <a:rPr lang="en-US" sz="1800">
                <a:latin typeface="Calibri"/>
                <a:ea typeface="Calibri"/>
                <a:cs typeface="Calibri"/>
                <a:sym typeface="Calibri"/>
              </a:rPr>
              <a:t>Owns(</a:t>
            </a:r>
            <a:r>
              <a:rPr lang="en-US" sz="1800" u="sng">
                <a:latin typeface="Calibri"/>
                <a:ea typeface="Calibri"/>
                <a:cs typeface="Calibri"/>
                <a:sym typeface="Calibri"/>
              </a:rPr>
              <a:t>owner_id, vid,</a:t>
            </a:r>
            <a:r>
              <a:rPr lang="en-US" sz="1800">
                <a:latin typeface="Calibri"/>
                <a:ea typeface="Calibri"/>
                <a:cs typeface="Calibri"/>
                <a:sym typeface="Calibri"/>
              </a:rPr>
              <a:t> purchase_date)</a:t>
            </a:r>
            <a:endParaRPr/>
          </a:p>
          <a:p>
            <a:pPr indent="0" lvl="0" marL="0" marR="0" rtl="0" algn="l">
              <a:lnSpc>
                <a:spcPct val="107000"/>
              </a:lnSpc>
              <a:spcBef>
                <a:spcPts val="800"/>
              </a:spcBef>
              <a:spcAft>
                <a:spcPts val="0"/>
              </a:spcAft>
              <a:buNone/>
            </a:pPr>
            <a:r>
              <a:rPr lang="en-US" sz="1800">
                <a:latin typeface="Calibri"/>
                <a:ea typeface="Calibri"/>
                <a:cs typeface="Calibri"/>
                <a:sym typeface="Calibri"/>
              </a:rPr>
              <a:t> </a:t>
            </a:r>
            <a:endParaRPr/>
          </a:p>
          <a:p>
            <a:pPr indent="0" lvl="0" marL="0" rtl="0" algn="l">
              <a:spcBef>
                <a:spcPts val="800"/>
              </a:spcBef>
              <a:spcAft>
                <a:spcPts val="0"/>
              </a:spcAft>
              <a:buNone/>
            </a:pPr>
            <a:r>
              <a:t/>
            </a:r>
            <a:endParaRPr/>
          </a:p>
        </p:txBody>
      </p:sp>
      <p:sp>
        <p:nvSpPr>
          <p:cNvPr id="2400" name="Google Shape;2400;p1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1" name="Shape 2441"/>
        <p:cNvGrpSpPr/>
        <p:nvPr/>
      </p:nvGrpSpPr>
      <p:grpSpPr>
        <a:xfrm>
          <a:off x="0" y="0"/>
          <a:ext cx="0" cy="0"/>
          <a:chOff x="0" y="0"/>
          <a:chExt cx="0" cy="0"/>
        </a:xfrm>
      </p:grpSpPr>
      <p:sp>
        <p:nvSpPr>
          <p:cNvPr id="2442" name="Google Shape;2442;p1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3" name="Google Shape;2443;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4" name="Shape 2484"/>
        <p:cNvGrpSpPr/>
        <p:nvPr/>
      </p:nvGrpSpPr>
      <p:grpSpPr>
        <a:xfrm>
          <a:off x="0" y="0"/>
          <a:ext cx="0" cy="0"/>
          <a:chOff x="0" y="0"/>
          <a:chExt cx="0" cy="0"/>
        </a:xfrm>
      </p:grpSpPr>
      <p:sp>
        <p:nvSpPr>
          <p:cNvPr id="2485" name="Google Shape;2485;p1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6" name="Google Shape;2486;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8" name="Shape 2498"/>
        <p:cNvGrpSpPr/>
        <p:nvPr/>
      </p:nvGrpSpPr>
      <p:grpSpPr>
        <a:xfrm>
          <a:off x="0" y="0"/>
          <a:ext cx="0" cy="0"/>
          <a:chOff x="0" y="0"/>
          <a:chExt cx="0" cy="0"/>
        </a:xfrm>
      </p:grpSpPr>
      <p:sp>
        <p:nvSpPr>
          <p:cNvPr id="2499" name="Google Shape;2499;p1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0" name="Google Shape;2500;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4" name="Shape 2504"/>
        <p:cNvGrpSpPr/>
        <p:nvPr/>
      </p:nvGrpSpPr>
      <p:grpSpPr>
        <a:xfrm>
          <a:off x="0" y="0"/>
          <a:ext cx="0" cy="0"/>
          <a:chOff x="0" y="0"/>
          <a:chExt cx="0" cy="0"/>
        </a:xfrm>
      </p:grpSpPr>
      <p:sp>
        <p:nvSpPr>
          <p:cNvPr id="2505" name="Google Shape;2505;p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6" name="Google Shape;2506;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1" name="Shape 2511"/>
        <p:cNvGrpSpPr/>
        <p:nvPr/>
      </p:nvGrpSpPr>
      <p:grpSpPr>
        <a:xfrm>
          <a:off x="0" y="0"/>
          <a:ext cx="0" cy="0"/>
          <a:chOff x="0" y="0"/>
          <a:chExt cx="0" cy="0"/>
        </a:xfrm>
      </p:grpSpPr>
      <p:sp>
        <p:nvSpPr>
          <p:cNvPr id="2512" name="Google Shape;2512;p1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3" name="Google Shape;2513;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8" name="Shape 2518"/>
        <p:cNvGrpSpPr/>
        <p:nvPr/>
      </p:nvGrpSpPr>
      <p:grpSpPr>
        <a:xfrm>
          <a:off x="0" y="0"/>
          <a:ext cx="0" cy="0"/>
          <a:chOff x="0" y="0"/>
          <a:chExt cx="0" cy="0"/>
        </a:xfrm>
      </p:grpSpPr>
      <p:sp>
        <p:nvSpPr>
          <p:cNvPr id="2519" name="Google Shape;2519;p1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0" name="Google Shape;2520;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5" name="Shape 2525"/>
        <p:cNvGrpSpPr/>
        <p:nvPr/>
      </p:nvGrpSpPr>
      <p:grpSpPr>
        <a:xfrm>
          <a:off x="0" y="0"/>
          <a:ext cx="0" cy="0"/>
          <a:chOff x="0" y="0"/>
          <a:chExt cx="0" cy="0"/>
        </a:xfrm>
      </p:grpSpPr>
      <p:sp>
        <p:nvSpPr>
          <p:cNvPr id="2526" name="Google Shape;2526;p1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7" name="Google Shape;2527;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2" name="Shape 2532"/>
        <p:cNvGrpSpPr/>
        <p:nvPr/>
      </p:nvGrpSpPr>
      <p:grpSpPr>
        <a:xfrm>
          <a:off x="0" y="0"/>
          <a:ext cx="0" cy="0"/>
          <a:chOff x="0" y="0"/>
          <a:chExt cx="0" cy="0"/>
        </a:xfrm>
      </p:grpSpPr>
      <p:sp>
        <p:nvSpPr>
          <p:cNvPr id="2533" name="Google Shape;2533;p1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4" name="Google Shape;2534;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9" name="Shape 2539"/>
        <p:cNvGrpSpPr/>
        <p:nvPr/>
      </p:nvGrpSpPr>
      <p:grpSpPr>
        <a:xfrm>
          <a:off x="0" y="0"/>
          <a:ext cx="0" cy="0"/>
          <a:chOff x="0" y="0"/>
          <a:chExt cx="0" cy="0"/>
        </a:xfrm>
      </p:grpSpPr>
      <p:sp>
        <p:nvSpPr>
          <p:cNvPr id="2540" name="Google Shape;2540;p1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1" name="Google Shape;2541;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6" name="Shape 2546"/>
        <p:cNvGrpSpPr/>
        <p:nvPr/>
      </p:nvGrpSpPr>
      <p:grpSpPr>
        <a:xfrm>
          <a:off x="0" y="0"/>
          <a:ext cx="0" cy="0"/>
          <a:chOff x="0" y="0"/>
          <a:chExt cx="0" cy="0"/>
        </a:xfrm>
      </p:grpSpPr>
      <p:sp>
        <p:nvSpPr>
          <p:cNvPr id="2547" name="Google Shape;2547;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8" name="Google Shape;2548;p1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Change the example</a:t>
            </a:r>
            <a:endParaRPr/>
          </a:p>
        </p:txBody>
      </p:sp>
      <p:sp>
        <p:nvSpPr>
          <p:cNvPr id="2549" name="Google Shape;2549;p1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3" name="Shape 2583"/>
        <p:cNvGrpSpPr/>
        <p:nvPr/>
      </p:nvGrpSpPr>
      <p:grpSpPr>
        <a:xfrm>
          <a:off x="0" y="0"/>
          <a:ext cx="0" cy="0"/>
          <a:chOff x="0" y="0"/>
          <a:chExt cx="0" cy="0"/>
        </a:xfrm>
      </p:grpSpPr>
      <p:sp>
        <p:nvSpPr>
          <p:cNvPr id="2584" name="Google Shape;2584;p1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5" name="Google Shape;2585;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9" name="Shape 2589"/>
        <p:cNvGrpSpPr/>
        <p:nvPr/>
      </p:nvGrpSpPr>
      <p:grpSpPr>
        <a:xfrm>
          <a:off x="0" y="0"/>
          <a:ext cx="0" cy="0"/>
          <a:chOff x="0" y="0"/>
          <a:chExt cx="0" cy="0"/>
        </a:xfrm>
      </p:grpSpPr>
      <p:sp>
        <p:nvSpPr>
          <p:cNvPr id="2590" name="Google Shape;2590;p1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1" name="Google Shape;2591;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6" name="Shape 2596"/>
        <p:cNvGrpSpPr/>
        <p:nvPr/>
      </p:nvGrpSpPr>
      <p:grpSpPr>
        <a:xfrm>
          <a:off x="0" y="0"/>
          <a:ext cx="0" cy="0"/>
          <a:chOff x="0" y="0"/>
          <a:chExt cx="0" cy="0"/>
        </a:xfrm>
      </p:grpSpPr>
      <p:sp>
        <p:nvSpPr>
          <p:cNvPr id="2597" name="Google Shape;2597;p1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8" name="Google Shape;2598;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5" name="Shape 2605"/>
        <p:cNvGrpSpPr/>
        <p:nvPr/>
      </p:nvGrpSpPr>
      <p:grpSpPr>
        <a:xfrm>
          <a:off x="0" y="0"/>
          <a:ext cx="0" cy="0"/>
          <a:chOff x="0" y="0"/>
          <a:chExt cx="0" cy="0"/>
        </a:xfrm>
      </p:grpSpPr>
      <p:sp>
        <p:nvSpPr>
          <p:cNvPr id="2606" name="Google Shape;2606;p1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7" name="Google Shape;2607;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2" name="Shape 2612"/>
        <p:cNvGrpSpPr/>
        <p:nvPr/>
      </p:nvGrpSpPr>
      <p:grpSpPr>
        <a:xfrm>
          <a:off x="0" y="0"/>
          <a:ext cx="0" cy="0"/>
          <a:chOff x="0" y="0"/>
          <a:chExt cx="0" cy="0"/>
        </a:xfrm>
      </p:grpSpPr>
      <p:sp>
        <p:nvSpPr>
          <p:cNvPr id="2613" name="Google Shape;2613;p1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4" name="Google Shape;2614;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9" name="Shape 2619"/>
        <p:cNvGrpSpPr/>
        <p:nvPr/>
      </p:nvGrpSpPr>
      <p:grpSpPr>
        <a:xfrm>
          <a:off x="0" y="0"/>
          <a:ext cx="0" cy="0"/>
          <a:chOff x="0" y="0"/>
          <a:chExt cx="0" cy="0"/>
        </a:xfrm>
      </p:grpSpPr>
      <p:sp>
        <p:nvSpPr>
          <p:cNvPr id="2620" name="Google Shape;2620;p1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1" name="Google Shape;2621;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7" name="Shape 2627"/>
        <p:cNvGrpSpPr/>
        <p:nvPr/>
      </p:nvGrpSpPr>
      <p:grpSpPr>
        <a:xfrm>
          <a:off x="0" y="0"/>
          <a:ext cx="0" cy="0"/>
          <a:chOff x="0" y="0"/>
          <a:chExt cx="0" cy="0"/>
        </a:xfrm>
      </p:grpSpPr>
      <p:sp>
        <p:nvSpPr>
          <p:cNvPr id="2628" name="Google Shape;2628;p1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9" name="Google Shape;2629;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4" name="Shape 2634"/>
        <p:cNvGrpSpPr/>
        <p:nvPr/>
      </p:nvGrpSpPr>
      <p:grpSpPr>
        <a:xfrm>
          <a:off x="0" y="0"/>
          <a:ext cx="0" cy="0"/>
          <a:chOff x="0" y="0"/>
          <a:chExt cx="0" cy="0"/>
        </a:xfrm>
      </p:grpSpPr>
      <p:sp>
        <p:nvSpPr>
          <p:cNvPr id="2635" name="Google Shape;2635;p1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6" name="Google Shape;2636;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1" name="Shape 2641"/>
        <p:cNvGrpSpPr/>
        <p:nvPr/>
      </p:nvGrpSpPr>
      <p:grpSpPr>
        <a:xfrm>
          <a:off x="0" y="0"/>
          <a:ext cx="0" cy="0"/>
          <a:chOff x="0" y="0"/>
          <a:chExt cx="0" cy="0"/>
        </a:xfrm>
      </p:grpSpPr>
      <p:sp>
        <p:nvSpPr>
          <p:cNvPr id="2642" name="Google Shape;2642;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3" name="Google Shape;2643;p1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digraph BankER {</a:t>
            </a:r>
            <a:endParaRPr/>
          </a:p>
          <a:p>
            <a:pPr indent="0" lvl="0" marL="0" rtl="0" algn="l">
              <a:spcBef>
                <a:spcPts val="0"/>
              </a:spcBef>
              <a:spcAft>
                <a:spcPts val="0"/>
              </a:spcAft>
              <a:buNone/>
            </a:pPr>
            <a:r>
              <a:rPr lang="en-US"/>
              <a:t>  // Entity style</a:t>
            </a:r>
            <a:endParaRPr/>
          </a:p>
          <a:p>
            <a:pPr indent="0" lvl="0" marL="0" rtl="0" algn="l">
              <a:spcBef>
                <a:spcPts val="0"/>
              </a:spcBef>
              <a:spcAft>
                <a:spcPts val="0"/>
              </a:spcAft>
              <a:buNone/>
            </a:pPr>
            <a:r>
              <a:rPr lang="en-US"/>
              <a:t>  node [shape=box,  fontcolor=black, fontsize=12];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 Entities</a:t>
            </a:r>
            <a:endParaRPr/>
          </a:p>
          <a:p>
            <a:pPr indent="0" lvl="0" marL="0" rtl="0" algn="l">
              <a:spcBef>
                <a:spcPts val="0"/>
              </a:spcBef>
              <a:spcAft>
                <a:spcPts val="0"/>
              </a:spcAft>
              <a:buNone/>
            </a:pPr>
            <a:r>
              <a:rPr lang="en-US"/>
              <a:t>  BANK [label="BANK", penwidth=1];</a:t>
            </a:r>
            <a:endParaRPr/>
          </a:p>
          <a:p>
            <a:pPr indent="0" lvl="0" marL="0" rtl="0" algn="l">
              <a:spcBef>
                <a:spcPts val="0"/>
              </a:spcBef>
              <a:spcAft>
                <a:spcPts val="0"/>
              </a:spcAft>
              <a:buNone/>
            </a:pPr>
            <a:r>
              <a:rPr lang="en-US"/>
              <a:t>  BRANCHES [label="BRANCHES", shape=diamond];</a:t>
            </a:r>
            <a:endParaRPr/>
          </a:p>
          <a:p>
            <a:pPr indent="0" lvl="0" marL="0" rtl="0" algn="l">
              <a:spcBef>
                <a:spcPts val="0"/>
              </a:spcBef>
              <a:spcAft>
                <a:spcPts val="0"/>
              </a:spcAft>
              <a:buNone/>
            </a:pPr>
            <a:r>
              <a:rPr lang="en-US"/>
              <a:t>  BANK_BRANCH [label="BANK_BRANCH", penwidth=3];</a:t>
            </a:r>
            <a:endParaRPr/>
          </a:p>
          <a:p>
            <a:pPr indent="0" lvl="0" marL="0" rtl="0" algn="l">
              <a:spcBef>
                <a:spcPts val="0"/>
              </a:spcBef>
              <a:spcAft>
                <a:spcPts val="0"/>
              </a:spcAft>
              <a:buNone/>
            </a:pPr>
            <a:r>
              <a:rPr lang="en-US"/>
              <a:t>  ACCTS [label="ACCTS", shape=diamond];</a:t>
            </a:r>
            <a:endParaRPr/>
          </a:p>
          <a:p>
            <a:pPr indent="0" lvl="0" marL="0" rtl="0" algn="l">
              <a:spcBef>
                <a:spcPts val="0"/>
              </a:spcBef>
              <a:spcAft>
                <a:spcPts val="0"/>
              </a:spcAft>
              <a:buNone/>
            </a:pPr>
            <a:r>
              <a:rPr lang="en-US"/>
              <a:t>  ACCOUNT [label="ACCOUNT"];</a:t>
            </a:r>
            <a:endParaRPr/>
          </a:p>
          <a:p>
            <a:pPr indent="0" lvl="0" marL="0" rtl="0" algn="l">
              <a:spcBef>
                <a:spcPts val="0"/>
              </a:spcBef>
              <a:spcAft>
                <a:spcPts val="0"/>
              </a:spcAft>
              <a:buNone/>
            </a:pPr>
            <a:r>
              <a:rPr lang="en-US"/>
              <a:t>  LOANS [label="LOANS", shape=diamond];</a:t>
            </a:r>
            <a:endParaRPr/>
          </a:p>
          <a:p>
            <a:pPr indent="0" lvl="0" marL="0" rtl="0" algn="l">
              <a:spcBef>
                <a:spcPts val="0"/>
              </a:spcBef>
              <a:spcAft>
                <a:spcPts val="0"/>
              </a:spcAft>
              <a:buNone/>
            </a:pPr>
            <a:r>
              <a:rPr lang="en-US"/>
              <a:t>  LOAN [label="LOAN"];</a:t>
            </a:r>
            <a:endParaRPr/>
          </a:p>
          <a:p>
            <a:pPr indent="0" lvl="0" marL="0" rtl="0" algn="l">
              <a:spcBef>
                <a:spcPts val="0"/>
              </a:spcBef>
              <a:spcAft>
                <a:spcPts val="0"/>
              </a:spcAft>
              <a:buNone/>
            </a:pPr>
            <a:r>
              <a:rPr lang="en-US"/>
              <a:t>  CUSTOMER [label="CUSTOMER"];</a:t>
            </a:r>
            <a:endParaRPr/>
          </a:p>
          <a:p>
            <a:pPr indent="0" lvl="0" marL="0" rtl="0" algn="l">
              <a:spcBef>
                <a:spcPts val="0"/>
              </a:spcBef>
              <a:spcAft>
                <a:spcPts val="0"/>
              </a:spcAft>
              <a:buNone/>
            </a:pPr>
            <a:r>
              <a:rPr lang="en-US"/>
              <a:t>  A_C [label="A_C", shape=diamond];</a:t>
            </a:r>
            <a:endParaRPr/>
          </a:p>
          <a:p>
            <a:pPr indent="0" lvl="0" marL="0" rtl="0" algn="l">
              <a:spcBef>
                <a:spcPts val="0"/>
              </a:spcBef>
              <a:spcAft>
                <a:spcPts val="0"/>
              </a:spcAft>
              <a:buNone/>
            </a:pPr>
            <a:r>
              <a:rPr lang="en-US"/>
              <a:t>  L_C [label="L_C", shape=diamond];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 Attributes (ellipses)</a:t>
            </a:r>
            <a:endParaRPr/>
          </a:p>
          <a:p>
            <a:pPr indent="0" lvl="0" marL="0" rtl="0" algn="l">
              <a:spcBef>
                <a:spcPts val="0"/>
              </a:spcBef>
              <a:spcAft>
                <a:spcPts val="0"/>
              </a:spcAft>
              <a:buNone/>
            </a:pPr>
            <a:r>
              <a:rPr lang="en-US"/>
              <a:t>  BANK_CODE [label="Code", shape=ellipse];</a:t>
            </a:r>
            <a:endParaRPr/>
          </a:p>
          <a:p>
            <a:pPr indent="0" lvl="0" marL="0" rtl="0" algn="l">
              <a:spcBef>
                <a:spcPts val="0"/>
              </a:spcBef>
              <a:spcAft>
                <a:spcPts val="0"/>
              </a:spcAft>
              <a:buNone/>
            </a:pPr>
            <a:r>
              <a:rPr lang="en-US"/>
              <a:t>  BANK_NAME [label="Name", shape=ellipse];</a:t>
            </a:r>
            <a:endParaRPr/>
          </a:p>
          <a:p>
            <a:pPr indent="0" lvl="0" marL="0" rtl="0" algn="l">
              <a:spcBef>
                <a:spcPts val="0"/>
              </a:spcBef>
              <a:spcAft>
                <a:spcPts val="0"/>
              </a:spcAft>
              <a:buNone/>
            </a:pPr>
            <a:r>
              <a:rPr lang="en-US"/>
              <a:t>  BANK_ADDR [label="Addr", shape=ellipse];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BRANCH_NO [label="Branch_no", shape=ellipse];</a:t>
            </a:r>
            <a:endParaRPr/>
          </a:p>
          <a:p>
            <a:pPr indent="0" lvl="0" marL="0" rtl="0" algn="l">
              <a:spcBef>
                <a:spcPts val="0"/>
              </a:spcBef>
              <a:spcAft>
                <a:spcPts val="0"/>
              </a:spcAft>
              <a:buNone/>
            </a:pPr>
            <a:r>
              <a:rPr lang="en-US"/>
              <a:t>  BRANCH_ADDR [label="Addr", shape=ellipse];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ACCT_NO [label="Acct_no", shape=ellipse];</a:t>
            </a:r>
            <a:endParaRPr/>
          </a:p>
          <a:p>
            <a:pPr indent="0" lvl="0" marL="0" rtl="0" algn="l">
              <a:spcBef>
                <a:spcPts val="0"/>
              </a:spcBef>
              <a:spcAft>
                <a:spcPts val="0"/>
              </a:spcAft>
              <a:buNone/>
            </a:pPr>
            <a:r>
              <a:rPr lang="en-US"/>
              <a:t>  BALANCE [label="Balance", shape=ellipse];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LOAN_NO [label="Loan_no", shape=ellipse];</a:t>
            </a:r>
            <a:endParaRPr/>
          </a:p>
          <a:p>
            <a:pPr indent="0" lvl="0" marL="0" rtl="0" algn="l">
              <a:spcBef>
                <a:spcPts val="0"/>
              </a:spcBef>
              <a:spcAft>
                <a:spcPts val="0"/>
              </a:spcAft>
              <a:buNone/>
            </a:pPr>
            <a:r>
              <a:rPr lang="en-US"/>
              <a:t>  AMOUNT [label="Amount", shape=ellipse];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ACCT_TYPE [label="Type", shape=ellipse];</a:t>
            </a:r>
            <a:endParaRPr/>
          </a:p>
          <a:p>
            <a:pPr indent="0" lvl="0" marL="0" rtl="0" algn="l">
              <a:spcBef>
                <a:spcPts val="0"/>
              </a:spcBef>
              <a:spcAft>
                <a:spcPts val="0"/>
              </a:spcAft>
              <a:buNone/>
            </a:pPr>
            <a:r>
              <a:rPr lang="en-US"/>
              <a:t>  LOAN_TYPE [label="Type", shape=ellipse];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CUSTOMER_SSN [label="Ssn", shape=ellipse];</a:t>
            </a:r>
            <a:endParaRPr/>
          </a:p>
          <a:p>
            <a:pPr indent="0" lvl="0" marL="0" rtl="0" algn="l">
              <a:spcBef>
                <a:spcPts val="0"/>
              </a:spcBef>
              <a:spcAft>
                <a:spcPts val="0"/>
              </a:spcAft>
              <a:buNone/>
            </a:pPr>
            <a:r>
              <a:rPr lang="en-US"/>
              <a:t>  CUSTOMER_NAME [label="Name", shape=ellipse];</a:t>
            </a:r>
            <a:endParaRPr/>
          </a:p>
          <a:p>
            <a:pPr indent="0" lvl="0" marL="0" rtl="0" algn="l">
              <a:spcBef>
                <a:spcPts val="0"/>
              </a:spcBef>
              <a:spcAft>
                <a:spcPts val="0"/>
              </a:spcAft>
              <a:buNone/>
            </a:pPr>
            <a:r>
              <a:rPr lang="en-US"/>
              <a:t>  CUSTOMER_PHONE [label="Phone", shape=ellipse];</a:t>
            </a:r>
            <a:endParaRPr/>
          </a:p>
          <a:p>
            <a:pPr indent="0" lvl="0" marL="0" rtl="0" algn="l">
              <a:spcBef>
                <a:spcPts val="0"/>
              </a:spcBef>
              <a:spcAft>
                <a:spcPts val="0"/>
              </a:spcAft>
              <a:buNone/>
            </a:pPr>
            <a:r>
              <a:rPr lang="en-US"/>
              <a:t>  CUSTOMER_ADDR [label="Addr", shape=ellipse];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 Relationships</a:t>
            </a:r>
            <a:endParaRPr/>
          </a:p>
          <a:p>
            <a:pPr indent="0" lvl="0" marL="0" rtl="0" algn="l">
              <a:spcBef>
                <a:spcPts val="0"/>
              </a:spcBef>
              <a:spcAft>
                <a:spcPts val="0"/>
              </a:spcAft>
              <a:buNone/>
            </a:pPr>
            <a:r>
              <a:rPr lang="en-US"/>
              <a:t>  BANK -&gt; BANK_CODE [dir="none"];</a:t>
            </a:r>
            <a:endParaRPr/>
          </a:p>
          <a:p>
            <a:pPr indent="0" lvl="0" marL="0" rtl="0" algn="l">
              <a:spcBef>
                <a:spcPts val="0"/>
              </a:spcBef>
              <a:spcAft>
                <a:spcPts val="0"/>
              </a:spcAft>
              <a:buNone/>
            </a:pPr>
            <a:r>
              <a:rPr lang="en-US"/>
              <a:t>  BANK -&gt; BANK_NAME [dir="none"];</a:t>
            </a:r>
            <a:endParaRPr/>
          </a:p>
          <a:p>
            <a:pPr indent="0" lvl="0" marL="0" rtl="0" algn="l">
              <a:spcBef>
                <a:spcPts val="0"/>
              </a:spcBef>
              <a:spcAft>
                <a:spcPts val="0"/>
              </a:spcAft>
              <a:buNone/>
            </a:pPr>
            <a:r>
              <a:rPr lang="en-US"/>
              <a:t>  BANK -&gt; BANK_ADDR [dir="none"];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BANK_BRANCH -&gt; BRANCH_NO [dir="none"];</a:t>
            </a:r>
            <a:endParaRPr/>
          </a:p>
          <a:p>
            <a:pPr indent="0" lvl="0" marL="0" rtl="0" algn="l">
              <a:spcBef>
                <a:spcPts val="0"/>
              </a:spcBef>
              <a:spcAft>
                <a:spcPts val="0"/>
              </a:spcAft>
              <a:buNone/>
            </a:pPr>
            <a:r>
              <a:rPr lang="en-US"/>
              <a:t>  BANK_BRANCH -&gt; BRANCH_ADDR [dir="none"];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ACCOUNT -&gt; ACCT_NO [dir="none"];</a:t>
            </a:r>
            <a:endParaRPr/>
          </a:p>
          <a:p>
            <a:pPr indent="0" lvl="0" marL="0" rtl="0" algn="l">
              <a:spcBef>
                <a:spcPts val="0"/>
              </a:spcBef>
              <a:spcAft>
                <a:spcPts val="0"/>
              </a:spcAft>
              <a:buNone/>
            </a:pPr>
            <a:r>
              <a:rPr lang="en-US"/>
              <a:t>  ACCOUNT -&gt; BALANCE [dir="none"];</a:t>
            </a:r>
            <a:endParaRPr/>
          </a:p>
          <a:p>
            <a:pPr indent="0" lvl="0" marL="0" rtl="0" algn="l">
              <a:spcBef>
                <a:spcPts val="0"/>
              </a:spcBef>
              <a:spcAft>
                <a:spcPts val="0"/>
              </a:spcAft>
              <a:buNone/>
            </a:pPr>
            <a:r>
              <a:rPr lang="en-US"/>
              <a:t>  ACCOUNT -&gt; ACCT_TYPE [dir="none"];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LOAN -&gt; LOAN_NO [dir="none"];</a:t>
            </a:r>
            <a:endParaRPr/>
          </a:p>
          <a:p>
            <a:pPr indent="0" lvl="0" marL="0" rtl="0" algn="l">
              <a:spcBef>
                <a:spcPts val="0"/>
              </a:spcBef>
              <a:spcAft>
                <a:spcPts val="0"/>
              </a:spcAft>
              <a:buNone/>
            </a:pPr>
            <a:r>
              <a:rPr lang="en-US"/>
              <a:t>  LOAN -&gt; AMOUNT [dir="none"];</a:t>
            </a:r>
            <a:endParaRPr/>
          </a:p>
          <a:p>
            <a:pPr indent="0" lvl="0" marL="0" rtl="0" algn="l">
              <a:spcBef>
                <a:spcPts val="0"/>
              </a:spcBef>
              <a:spcAft>
                <a:spcPts val="0"/>
              </a:spcAft>
              <a:buNone/>
            </a:pPr>
            <a:r>
              <a:rPr lang="en-US"/>
              <a:t>  LOAN -&gt; LOAN_TYPE [dir="none"];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CUSTOMER -&gt; CUSTOMER_SSN [dir="none"];</a:t>
            </a:r>
            <a:endParaRPr/>
          </a:p>
          <a:p>
            <a:pPr indent="0" lvl="0" marL="0" rtl="0" algn="l">
              <a:spcBef>
                <a:spcPts val="0"/>
              </a:spcBef>
              <a:spcAft>
                <a:spcPts val="0"/>
              </a:spcAft>
              <a:buNone/>
            </a:pPr>
            <a:r>
              <a:rPr lang="en-US"/>
              <a:t>  CUSTOMER -&gt; CUSTOMER_NAME [dir="none"];</a:t>
            </a:r>
            <a:endParaRPr/>
          </a:p>
          <a:p>
            <a:pPr indent="0" lvl="0" marL="0" rtl="0" algn="l">
              <a:spcBef>
                <a:spcPts val="0"/>
              </a:spcBef>
              <a:spcAft>
                <a:spcPts val="0"/>
              </a:spcAft>
              <a:buNone/>
            </a:pPr>
            <a:r>
              <a:rPr lang="en-US"/>
              <a:t>  CUSTOMER -&gt; CUSTOMER_PHONE [dir="none"];</a:t>
            </a:r>
            <a:endParaRPr/>
          </a:p>
          <a:p>
            <a:pPr indent="0" lvl="0" marL="0" rtl="0" algn="l">
              <a:spcBef>
                <a:spcPts val="0"/>
              </a:spcBef>
              <a:spcAft>
                <a:spcPts val="0"/>
              </a:spcAft>
              <a:buNone/>
            </a:pPr>
            <a:r>
              <a:rPr lang="en-US"/>
              <a:t>  CUSTOMER -&gt; CUSTOMER_ADDR [dir="none"];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 Relationships between entities</a:t>
            </a:r>
            <a:endParaRPr/>
          </a:p>
          <a:p>
            <a:pPr indent="0" lvl="0" marL="0" rtl="0" algn="l">
              <a:spcBef>
                <a:spcPts val="0"/>
              </a:spcBef>
              <a:spcAft>
                <a:spcPts val="0"/>
              </a:spcAft>
              <a:buNone/>
            </a:pPr>
            <a:r>
              <a:rPr lang="en-US"/>
              <a:t>  BANK -&gt; BRANCHES [];</a:t>
            </a:r>
            <a:endParaRPr/>
          </a:p>
          <a:p>
            <a:pPr indent="0" lvl="0" marL="0" rtl="0" algn="l">
              <a:spcBef>
                <a:spcPts val="0"/>
              </a:spcBef>
              <a:spcAft>
                <a:spcPts val="0"/>
              </a:spcAft>
              <a:buNone/>
            </a:pPr>
            <a:r>
              <a:rPr lang="en-US"/>
              <a:t>  BRANCHES -&gt; BANK_BRANCH [penwidth=2, dir="none"];</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BANK_BRANCH -&gt; ACCTS [label="1", dir="none"];</a:t>
            </a:r>
            <a:endParaRPr/>
          </a:p>
          <a:p>
            <a:pPr indent="0" lvl="0" marL="0" rtl="0" algn="l">
              <a:spcBef>
                <a:spcPts val="0"/>
              </a:spcBef>
              <a:spcAft>
                <a:spcPts val="0"/>
              </a:spcAft>
              <a:buNone/>
            </a:pPr>
            <a:r>
              <a:rPr lang="en-US"/>
              <a:t>  ACCTS -&gt; ACCOUNT [label="N", dir="none"];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BANK_BRANCH -&gt; LOANS [label="1", dir="none"];</a:t>
            </a:r>
            <a:endParaRPr/>
          </a:p>
          <a:p>
            <a:pPr indent="0" lvl="0" marL="0" rtl="0" algn="l">
              <a:spcBef>
                <a:spcPts val="0"/>
              </a:spcBef>
              <a:spcAft>
                <a:spcPts val="0"/>
              </a:spcAft>
              <a:buNone/>
            </a:pPr>
            <a:r>
              <a:rPr lang="en-US"/>
              <a:t>  LOANS -&gt; LOAN [label="N", dir="none"];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ACCOUNT -&gt; A_C [label="M", dir="none"];</a:t>
            </a:r>
            <a:endParaRPr/>
          </a:p>
          <a:p>
            <a:pPr indent="0" lvl="0" marL="0" rtl="0" algn="l">
              <a:spcBef>
                <a:spcPts val="0"/>
              </a:spcBef>
              <a:spcAft>
                <a:spcPts val="0"/>
              </a:spcAft>
              <a:buNone/>
            </a:pPr>
            <a:r>
              <a:rPr lang="en-US"/>
              <a:t>  A_C -&gt; CUSTOMER [label="N", dir="none"];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LOAN -&gt; L_C [label="M", dir="none"];</a:t>
            </a:r>
            <a:endParaRPr/>
          </a:p>
          <a:p>
            <a:pPr indent="0" lvl="0" marL="0" rtl="0" algn="l">
              <a:spcBef>
                <a:spcPts val="0"/>
              </a:spcBef>
              <a:spcAft>
                <a:spcPts val="0"/>
              </a:spcAft>
              <a:buNone/>
            </a:pPr>
            <a:r>
              <a:rPr lang="en-US"/>
              <a:t>  L_C -&gt; CUSTOMER [label="N", dir="none"];</a:t>
            </a:r>
            <a:endParaRPr/>
          </a:p>
          <a:p>
            <a:pPr indent="0" lvl="0" marL="0" rtl="0" algn="l">
              <a:spcBef>
                <a:spcPts val="0"/>
              </a:spcBef>
              <a:spcAft>
                <a:spcPts val="0"/>
              </a:spcAft>
              <a:buNone/>
            </a:pPr>
            <a:r>
              <a:rPr lang="en-US"/>
              <a:t>}</a:t>
            </a:r>
            <a:endParaRPr/>
          </a:p>
        </p:txBody>
      </p:sp>
      <p:sp>
        <p:nvSpPr>
          <p:cNvPr id="2644" name="Google Shape;2644;p1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9" name="Shape 2649"/>
        <p:cNvGrpSpPr/>
        <p:nvPr/>
      </p:nvGrpSpPr>
      <p:grpSpPr>
        <a:xfrm>
          <a:off x="0" y="0"/>
          <a:ext cx="0" cy="0"/>
          <a:chOff x="0" y="0"/>
          <a:chExt cx="0" cy="0"/>
        </a:xfrm>
      </p:grpSpPr>
      <p:sp>
        <p:nvSpPr>
          <p:cNvPr id="2650" name="Google Shape;2650;p1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1" name="Google Shape;2651;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5" name="Shape 2655"/>
        <p:cNvGrpSpPr/>
        <p:nvPr/>
      </p:nvGrpSpPr>
      <p:grpSpPr>
        <a:xfrm>
          <a:off x="0" y="0"/>
          <a:ext cx="0" cy="0"/>
          <a:chOff x="0" y="0"/>
          <a:chExt cx="0" cy="0"/>
        </a:xfrm>
      </p:grpSpPr>
      <p:sp>
        <p:nvSpPr>
          <p:cNvPr id="2656" name="Google Shape;2656;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7" name="Google Shape;2657;p1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Item. (parts) can be persiable or non perishable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pershiable item we need to store the expiration date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parts are stored in data warehouse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sku</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658" name="Google Shape;2658;p1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3" name="Shape 2663"/>
        <p:cNvGrpSpPr/>
        <p:nvPr/>
      </p:nvGrpSpPr>
      <p:grpSpPr>
        <a:xfrm>
          <a:off x="0" y="0"/>
          <a:ext cx="0" cy="0"/>
          <a:chOff x="0" y="0"/>
          <a:chExt cx="0" cy="0"/>
        </a:xfrm>
      </p:grpSpPr>
      <p:sp>
        <p:nvSpPr>
          <p:cNvPr id="2664" name="Google Shape;2664;p1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5" name="Google Shape;2665;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0" name="Shape 40"/>
        <p:cNvGrpSpPr/>
        <p:nvPr/>
      </p:nvGrpSpPr>
      <p:grpSpPr>
        <a:xfrm>
          <a:off x="0" y="0"/>
          <a:ext cx="0" cy="0"/>
          <a:chOff x="0" y="0"/>
          <a:chExt cx="0" cy="0"/>
        </a:xfrm>
      </p:grpSpPr>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3" name="Google Shape;6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4" name="Google Shape;64;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0"/>
          <p:cNvSpPr/>
          <p:nvPr>
            <p:ph idx="2" type="pic"/>
          </p:nvPr>
        </p:nvSpPr>
        <p:spPr>
          <a:xfrm>
            <a:off x="5183188" y="987425"/>
            <a:ext cx="6172200" cy="4873625"/>
          </a:xfrm>
          <a:prstGeom prst="rect">
            <a:avLst/>
          </a:prstGeom>
          <a:noFill/>
          <a:ln>
            <a:noFill/>
          </a:ln>
        </p:spPr>
      </p:sp>
      <p:sp>
        <p:nvSpPr>
          <p:cNvPr id="70" name="Google Shape;7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4" name="Shape 94"/>
        <p:cNvGrpSpPr/>
        <p:nvPr/>
      </p:nvGrpSpPr>
      <p:grpSpPr>
        <a:xfrm>
          <a:off x="0" y="0"/>
          <a:ext cx="0" cy="0"/>
          <a:chOff x="0" y="0"/>
          <a:chExt cx="0" cy="0"/>
        </a:xfrm>
      </p:grpSpPr>
      <p:sp>
        <p:nvSpPr>
          <p:cNvPr id="95" name="Google Shape;95;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7" name="Google Shape;97;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
          <p:cNvSpPr/>
          <p:nvPr/>
        </p:nvSpPr>
        <p:spPr>
          <a:xfrm>
            <a:off x="0" y="-49167"/>
            <a:ext cx="12192000" cy="262759"/>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1" i="1" lang="en-US" sz="1400" u="none" cap="none" strike="noStrike">
                <a:solidFill>
                  <a:srgbClr val="595959"/>
                </a:solidFill>
                <a:latin typeface="Calibri"/>
                <a:ea typeface="Calibri"/>
                <a:cs typeface="Calibri"/>
                <a:sym typeface="Calibri"/>
              </a:rPr>
              <a:t>  Fall 2024</a:t>
            </a:r>
            <a:endParaRPr/>
          </a:p>
        </p:txBody>
      </p:sp>
      <p:pic>
        <p:nvPicPr>
          <p:cNvPr id="16" name="Google Shape;16;p1"/>
          <p:cNvPicPr preferRelativeResize="0"/>
          <p:nvPr/>
        </p:nvPicPr>
        <p:blipFill rotWithShape="1">
          <a:blip r:embed="rId1">
            <a:alphaModFix/>
          </a:blip>
          <a:srcRect b="0" l="0" r="0" t="0"/>
          <a:stretch/>
        </p:blipFill>
        <p:spPr>
          <a:xfrm>
            <a:off x="0" y="6311900"/>
            <a:ext cx="866825" cy="5461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6" name="Shape 86"/>
        <p:cNvGrpSpPr/>
        <p:nvPr/>
      </p:nvGrpSpPr>
      <p:grpSpPr>
        <a:xfrm>
          <a:off x="0" y="0"/>
          <a:ext cx="0" cy="0"/>
          <a:chOff x="0" y="0"/>
          <a:chExt cx="0" cy="0"/>
        </a:xfrm>
      </p:grpSpPr>
      <p:sp>
        <p:nvSpPr>
          <p:cNvPr id="87" name="Google Shape;87;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8" name="Google Shape;88;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89" name="Google Shape;89;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90" name="Google Shape;90;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91" name="Google Shape;91;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sz="1200" u="none">
                <a:solidFill>
                  <a:schemeClr val="lt1"/>
                </a:solidFill>
                <a:latin typeface="Calibri"/>
                <a:ea typeface="Calibri"/>
                <a:cs typeface="Calibri"/>
                <a:sym typeface="Calibri"/>
              </a:defRPr>
            </a:lvl1pPr>
            <a:lvl2pPr indent="0" lvl="1" marL="0" marR="0" rtl="0" algn="r">
              <a:spcBef>
                <a:spcPts val="0"/>
              </a:spcBef>
              <a:buNone/>
              <a:defRPr b="0" sz="1200" u="none">
                <a:solidFill>
                  <a:schemeClr val="lt1"/>
                </a:solidFill>
                <a:latin typeface="Calibri"/>
                <a:ea typeface="Calibri"/>
                <a:cs typeface="Calibri"/>
                <a:sym typeface="Calibri"/>
              </a:defRPr>
            </a:lvl2pPr>
            <a:lvl3pPr indent="0" lvl="2" marL="0" marR="0" rtl="0" algn="r">
              <a:spcBef>
                <a:spcPts val="0"/>
              </a:spcBef>
              <a:buNone/>
              <a:defRPr b="0" sz="1200" u="none">
                <a:solidFill>
                  <a:schemeClr val="lt1"/>
                </a:solidFill>
                <a:latin typeface="Calibri"/>
                <a:ea typeface="Calibri"/>
                <a:cs typeface="Calibri"/>
                <a:sym typeface="Calibri"/>
              </a:defRPr>
            </a:lvl3pPr>
            <a:lvl4pPr indent="0" lvl="3" marL="0" marR="0" rtl="0" algn="r">
              <a:spcBef>
                <a:spcPts val="0"/>
              </a:spcBef>
              <a:buNone/>
              <a:defRPr b="0" sz="1200" u="none">
                <a:solidFill>
                  <a:schemeClr val="lt1"/>
                </a:solidFill>
                <a:latin typeface="Calibri"/>
                <a:ea typeface="Calibri"/>
                <a:cs typeface="Calibri"/>
                <a:sym typeface="Calibri"/>
              </a:defRPr>
            </a:lvl4pPr>
            <a:lvl5pPr indent="0" lvl="4" marL="0" marR="0" rtl="0" algn="r">
              <a:spcBef>
                <a:spcPts val="0"/>
              </a:spcBef>
              <a:buNone/>
              <a:defRPr b="0" sz="1200" u="none">
                <a:solidFill>
                  <a:schemeClr val="lt1"/>
                </a:solidFill>
                <a:latin typeface="Calibri"/>
                <a:ea typeface="Calibri"/>
                <a:cs typeface="Calibri"/>
                <a:sym typeface="Calibri"/>
              </a:defRPr>
            </a:lvl5pPr>
            <a:lvl6pPr indent="0" lvl="5" marL="0" marR="0" rtl="0" algn="r">
              <a:spcBef>
                <a:spcPts val="0"/>
              </a:spcBef>
              <a:buNone/>
              <a:defRPr b="0" sz="1200" u="none">
                <a:solidFill>
                  <a:schemeClr val="lt1"/>
                </a:solidFill>
                <a:latin typeface="Calibri"/>
                <a:ea typeface="Calibri"/>
                <a:cs typeface="Calibri"/>
                <a:sym typeface="Calibri"/>
              </a:defRPr>
            </a:lvl6pPr>
            <a:lvl7pPr indent="0" lvl="6" marL="0" marR="0" rtl="0" algn="r">
              <a:spcBef>
                <a:spcPts val="0"/>
              </a:spcBef>
              <a:buNone/>
              <a:defRPr b="0" sz="1200" u="none">
                <a:solidFill>
                  <a:schemeClr val="lt1"/>
                </a:solidFill>
                <a:latin typeface="Calibri"/>
                <a:ea typeface="Calibri"/>
                <a:cs typeface="Calibri"/>
                <a:sym typeface="Calibri"/>
              </a:defRPr>
            </a:lvl7pPr>
            <a:lvl8pPr indent="0" lvl="7" marL="0" marR="0" rtl="0" algn="r">
              <a:spcBef>
                <a:spcPts val="0"/>
              </a:spcBef>
              <a:buNone/>
              <a:defRPr b="0" sz="1200" u="none">
                <a:solidFill>
                  <a:schemeClr val="lt1"/>
                </a:solidFill>
                <a:latin typeface="Calibri"/>
                <a:ea typeface="Calibri"/>
                <a:cs typeface="Calibri"/>
                <a:sym typeface="Calibri"/>
              </a:defRPr>
            </a:lvl8pPr>
            <a:lvl9pPr indent="0" lvl="8" marL="0" marR="0" rtl="0" algn="r">
              <a:spcBef>
                <a:spcPts val="0"/>
              </a:spcBef>
              <a:buNone/>
              <a:defRPr b="0" sz="1200" u="non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13"/>
          <p:cNvSpPr/>
          <p:nvPr/>
        </p:nvSpPr>
        <p:spPr>
          <a:xfrm>
            <a:off x="0" y="-49167"/>
            <a:ext cx="12192000" cy="262759"/>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1" i="1" lang="en-US" sz="1400">
                <a:solidFill>
                  <a:srgbClr val="FEFEFE"/>
                </a:solidFill>
                <a:latin typeface="Calibri"/>
                <a:ea typeface="Calibri"/>
                <a:cs typeface="Calibri"/>
                <a:sym typeface="Calibri"/>
              </a:rPr>
              <a:t>  Fall 2024</a:t>
            </a:r>
            <a:endParaRPr/>
          </a:p>
        </p:txBody>
      </p:sp>
      <p:pic>
        <p:nvPicPr>
          <p:cNvPr id="93" name="Google Shape;93;p13"/>
          <p:cNvPicPr preferRelativeResize="0"/>
          <p:nvPr/>
        </p:nvPicPr>
        <p:blipFill rotWithShape="1">
          <a:blip r:embed="rId1">
            <a:alphaModFix/>
          </a:blip>
          <a:srcRect b="0" l="0" r="0" t="0"/>
          <a:stretch/>
        </p:blipFill>
        <p:spPr>
          <a:xfrm>
            <a:off x="0" y="6311900"/>
            <a:ext cx="866825" cy="5461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0" Type="http://schemas.openxmlformats.org/officeDocument/2006/relationships/image" Target="../media/image7.png"/><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5.png"/><Relationship Id="rId5" Type="http://schemas.openxmlformats.org/officeDocument/2006/relationships/image" Target="../media/image11.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59.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19.png"/><Relationship Id="rId7" Type="http://schemas.openxmlformats.org/officeDocument/2006/relationships/image" Target="../media/image2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4.png"/><Relationship Id="rId4" Type="http://schemas.openxmlformats.org/officeDocument/2006/relationships/image" Target="../media/image21.png"/><Relationship Id="rId5" Type="http://schemas.openxmlformats.org/officeDocument/2006/relationships/image" Target="../media/image2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 Id="rId3"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image" Target="../media/image3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image" Target="../media/image31.png"/><Relationship Id="rId4" Type="http://schemas.openxmlformats.org/officeDocument/2006/relationships/image" Target="../media/image6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6.png"/><Relationship Id="rId4" Type="http://schemas.openxmlformats.org/officeDocument/2006/relationships/image" Target="../media/image3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 Id="rId3" Type="http://schemas.openxmlformats.org/officeDocument/2006/relationships/image" Target="../media/image36.png"/><Relationship Id="rId4" Type="http://schemas.openxmlformats.org/officeDocument/2006/relationships/image" Target="../media/image3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 Id="rId3" Type="http://schemas.openxmlformats.org/officeDocument/2006/relationships/image" Target="../media/image27.png"/><Relationship Id="rId4" Type="http://schemas.openxmlformats.org/officeDocument/2006/relationships/image" Target="../media/image2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39.png"/><Relationship Id="rId4" Type="http://schemas.openxmlformats.org/officeDocument/2006/relationships/hyperlink" Target="https://oldwestburyedu-my.sharepoint.com/:u:/g/personal/khalefam_oldwestbury_edu/EXfDXUfl_0tIrq2_Qzo48m0Bqj4ou2pLqbRaqTt8Hg6TBA?e=sNkipb"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3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3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3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4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1.xml"/><Relationship Id="rId3" Type="http://schemas.openxmlformats.org/officeDocument/2006/relationships/image" Target="../media/image60.png"/><Relationship Id="rId4" Type="http://schemas.openxmlformats.org/officeDocument/2006/relationships/image" Target="../media/image40.png"/><Relationship Id="rId5" Type="http://schemas.openxmlformats.org/officeDocument/2006/relationships/image" Target="../media/image5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45.png"/><Relationship Id="rId4" Type="http://schemas.openxmlformats.org/officeDocument/2006/relationships/image" Target="../media/image48.png"/><Relationship Id="rId5" Type="http://schemas.openxmlformats.org/officeDocument/2006/relationships/image" Target="../media/image61.png"/><Relationship Id="rId6" Type="http://schemas.openxmlformats.org/officeDocument/2006/relationships/image" Target="../media/image4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3.xml"/><Relationship Id="rId3" Type="http://schemas.openxmlformats.org/officeDocument/2006/relationships/image" Target="../media/image4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4.xml"/><Relationship Id="rId3" Type="http://schemas.openxmlformats.org/officeDocument/2006/relationships/image" Target="../media/image42.png"/><Relationship Id="rId4" Type="http://schemas.openxmlformats.org/officeDocument/2006/relationships/image" Target="../media/image68.png"/><Relationship Id="rId5" Type="http://schemas.openxmlformats.org/officeDocument/2006/relationships/image" Target="../media/image43.png"/><Relationship Id="rId6" Type="http://schemas.openxmlformats.org/officeDocument/2006/relationships/image" Target="../media/image5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4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2.xml"/><Relationship Id="rId3" Type="http://schemas.openxmlformats.org/officeDocument/2006/relationships/image" Target="../media/image6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66.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54.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50.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 Id="rId3" Type="http://schemas.openxmlformats.org/officeDocument/2006/relationships/image" Target="../media/image55.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58.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53.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56.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6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64.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 Id="rId3" Type="http://schemas.openxmlformats.org/officeDocument/2006/relationships/image" Target="../media/image67.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57.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65.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The E/R Model</a:t>
            </a:r>
            <a:endParaRPr/>
          </a:p>
        </p:txBody>
      </p:sp>
      <p:sp>
        <p:nvSpPr>
          <p:cNvPr id="105" name="Google Shape;105;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
        <p:nvSpPr>
          <p:cNvPr id="106" name="Google Shape;10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1. E/R Basics: Entities &amp; Relations</a:t>
            </a:r>
            <a:endParaRPr/>
          </a:p>
        </p:txBody>
      </p:sp>
      <p:sp>
        <p:nvSpPr>
          <p:cNvPr id="112" name="Google Shape;11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Database Design</a:t>
            </a:r>
            <a:endParaRPr/>
          </a:p>
        </p:txBody>
      </p:sp>
      <p:sp>
        <p:nvSpPr>
          <p:cNvPr id="119" name="Google Shape;119;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b="1" lang="en-US" sz="2400"/>
              <a:t>Database design: Why do we need it?</a:t>
            </a:r>
            <a:endParaRPr/>
          </a:p>
          <a:p>
            <a:pPr indent="-228600" lvl="1" marL="685800" rtl="0" algn="l">
              <a:lnSpc>
                <a:spcPct val="90000"/>
              </a:lnSpc>
              <a:spcBef>
                <a:spcPts val="500"/>
              </a:spcBef>
              <a:spcAft>
                <a:spcPts val="0"/>
              </a:spcAft>
              <a:buClr>
                <a:schemeClr val="dk1"/>
              </a:buClr>
              <a:buSzPts val="2000"/>
              <a:buChar char="•"/>
            </a:pPr>
            <a:r>
              <a:rPr lang="en-US" sz="2000"/>
              <a:t> Agree on structure of the database before deciding on a particular implementation</a:t>
            </a:r>
            <a:endParaRPr/>
          </a:p>
          <a:p>
            <a:pPr indent="0" lvl="1" marL="457200" rtl="0" algn="l">
              <a:lnSpc>
                <a:spcPct val="90000"/>
              </a:lnSpc>
              <a:spcBef>
                <a:spcPts val="5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400"/>
              <a:buChar char="•"/>
            </a:pPr>
            <a:r>
              <a:rPr b="1" lang="en-US" sz="2400"/>
              <a:t>Consider issues such as:</a:t>
            </a:r>
            <a:endParaRPr/>
          </a:p>
          <a:p>
            <a:pPr indent="-228600" lvl="1" marL="685800" rtl="0" algn="l">
              <a:lnSpc>
                <a:spcPct val="90000"/>
              </a:lnSpc>
              <a:spcBef>
                <a:spcPts val="500"/>
              </a:spcBef>
              <a:spcAft>
                <a:spcPts val="0"/>
              </a:spcAft>
              <a:buClr>
                <a:schemeClr val="dk1"/>
              </a:buClr>
              <a:buSzPts val="2000"/>
              <a:buChar char="•"/>
            </a:pPr>
            <a:r>
              <a:rPr lang="en-US" sz="2000"/>
              <a:t>What entities to model</a:t>
            </a:r>
            <a:endParaRPr/>
          </a:p>
          <a:p>
            <a:pPr indent="-228600" lvl="1" marL="685800" rtl="0" algn="l">
              <a:lnSpc>
                <a:spcPct val="90000"/>
              </a:lnSpc>
              <a:spcBef>
                <a:spcPts val="500"/>
              </a:spcBef>
              <a:spcAft>
                <a:spcPts val="0"/>
              </a:spcAft>
              <a:buClr>
                <a:schemeClr val="dk1"/>
              </a:buClr>
              <a:buSzPts val="2000"/>
              <a:buChar char="•"/>
            </a:pPr>
            <a:r>
              <a:rPr lang="en-US" sz="2000"/>
              <a:t>How entities are related</a:t>
            </a:r>
            <a:endParaRPr/>
          </a:p>
          <a:p>
            <a:pPr indent="-228600" lvl="1" marL="685800" rtl="0" algn="l">
              <a:lnSpc>
                <a:spcPct val="90000"/>
              </a:lnSpc>
              <a:spcBef>
                <a:spcPts val="500"/>
              </a:spcBef>
              <a:spcAft>
                <a:spcPts val="0"/>
              </a:spcAft>
              <a:buClr>
                <a:schemeClr val="dk1"/>
              </a:buClr>
              <a:buSzPts val="2000"/>
              <a:buChar char="•"/>
            </a:pPr>
            <a:r>
              <a:rPr lang="en-US" sz="2000"/>
              <a:t>What constraints exist in the domain</a:t>
            </a:r>
            <a:endParaRPr/>
          </a:p>
          <a:p>
            <a:pPr indent="-228600" lvl="1" marL="685800" rtl="0" algn="l">
              <a:lnSpc>
                <a:spcPct val="90000"/>
              </a:lnSpc>
              <a:spcBef>
                <a:spcPts val="500"/>
              </a:spcBef>
              <a:spcAft>
                <a:spcPts val="0"/>
              </a:spcAft>
              <a:buClr>
                <a:schemeClr val="dk1"/>
              </a:buClr>
              <a:buSzPts val="2000"/>
              <a:buChar char="•"/>
            </a:pPr>
            <a:r>
              <a:rPr lang="en-US" sz="2000"/>
              <a:t>How to achieve </a:t>
            </a:r>
            <a:r>
              <a:rPr lang="en-US" sz="2000" u="sng"/>
              <a:t>good</a:t>
            </a:r>
            <a:r>
              <a:rPr lang="en-US" sz="2000"/>
              <a:t> designs</a:t>
            </a:r>
            <a:endParaRPr/>
          </a:p>
          <a:p>
            <a:pPr indent="0" lvl="1" marL="457200" rtl="0" algn="l">
              <a:lnSpc>
                <a:spcPct val="90000"/>
              </a:lnSpc>
              <a:spcBef>
                <a:spcPts val="5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400"/>
              <a:buChar char="•"/>
            </a:pPr>
            <a:r>
              <a:rPr b="1" lang="en-US" sz="2400"/>
              <a:t>Several formalisms exist</a:t>
            </a:r>
            <a:endParaRPr/>
          </a:p>
          <a:p>
            <a:pPr indent="-228600" lvl="1" marL="685800" rtl="0" algn="l">
              <a:lnSpc>
                <a:spcPct val="90000"/>
              </a:lnSpc>
              <a:spcBef>
                <a:spcPts val="500"/>
              </a:spcBef>
              <a:spcAft>
                <a:spcPts val="0"/>
              </a:spcAft>
              <a:buClr>
                <a:schemeClr val="dk1"/>
              </a:buClr>
              <a:buSzPts val="2000"/>
              <a:buChar char="•"/>
            </a:pPr>
            <a:r>
              <a:rPr lang="en-US" sz="2000"/>
              <a:t>We discuss one flavor of E/R diagrams</a:t>
            </a:r>
            <a:endParaRPr/>
          </a:p>
        </p:txBody>
      </p:sp>
      <p:sp>
        <p:nvSpPr>
          <p:cNvPr id="120" name="Google Shape;12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Database Design Process</a:t>
            </a:r>
            <a:endParaRPr/>
          </a:p>
        </p:txBody>
      </p:sp>
      <p:sp>
        <p:nvSpPr>
          <p:cNvPr id="126" name="Google Shape;126;p18"/>
          <p:cNvSpPr txBox="1"/>
          <p:nvPr>
            <p:ph idx="1" type="body"/>
          </p:nvPr>
        </p:nvSpPr>
        <p:spPr>
          <a:xfrm>
            <a:off x="914400" y="2531360"/>
            <a:ext cx="10363200" cy="4114800"/>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3200"/>
              <a:buAutoNum type="arabicPeriod"/>
            </a:pPr>
            <a:r>
              <a:rPr b="1" lang="en-US" sz="3200"/>
              <a:t>Requirements analysis</a:t>
            </a:r>
            <a:endParaRPr/>
          </a:p>
          <a:p>
            <a:pPr indent="-101600" lvl="1" marL="685800" rtl="0" algn="l">
              <a:lnSpc>
                <a:spcPct val="90000"/>
              </a:lnSpc>
              <a:spcBef>
                <a:spcPts val="0"/>
              </a:spcBef>
              <a:spcAft>
                <a:spcPts val="0"/>
              </a:spcAft>
              <a:buClr>
                <a:schemeClr val="dk1"/>
              </a:buClr>
              <a:buSzPts val="2000"/>
              <a:buNone/>
            </a:pPr>
            <a:r>
              <a:t/>
            </a:r>
            <a:endParaRPr sz="2000">
              <a:solidFill>
                <a:srgbClr val="000000"/>
              </a:solidFill>
            </a:endParaRPr>
          </a:p>
          <a:p>
            <a:pPr indent="-228600" lvl="1" marL="685800" rtl="0" algn="l">
              <a:lnSpc>
                <a:spcPct val="90000"/>
              </a:lnSpc>
              <a:spcBef>
                <a:spcPts val="0"/>
              </a:spcBef>
              <a:spcAft>
                <a:spcPts val="0"/>
              </a:spcAft>
              <a:buClr>
                <a:srgbClr val="000000"/>
              </a:buClr>
              <a:buSzPts val="2800"/>
              <a:buChar char="•"/>
            </a:pPr>
            <a:r>
              <a:rPr lang="en-US" sz="2800">
                <a:solidFill>
                  <a:srgbClr val="000000"/>
                </a:solidFill>
              </a:rPr>
              <a:t>What is going to be stored? </a:t>
            </a:r>
            <a:endParaRPr/>
          </a:p>
          <a:p>
            <a:pPr indent="-50800" lvl="0" marL="228600" rtl="0" algn="l">
              <a:lnSpc>
                <a:spcPct val="90000"/>
              </a:lnSpc>
              <a:spcBef>
                <a:spcPts val="0"/>
              </a:spcBef>
              <a:spcAft>
                <a:spcPts val="0"/>
              </a:spcAft>
              <a:buClr>
                <a:schemeClr val="dk1"/>
              </a:buClr>
              <a:buSzPts val="2800"/>
              <a:buNone/>
            </a:pPr>
            <a:r>
              <a:t/>
            </a:r>
            <a:endParaRPr>
              <a:solidFill>
                <a:srgbClr val="000000"/>
              </a:solidFill>
            </a:endParaRPr>
          </a:p>
          <a:p>
            <a:pPr indent="-228600" lvl="1" marL="685800" rtl="0" algn="l">
              <a:lnSpc>
                <a:spcPct val="90000"/>
              </a:lnSpc>
              <a:spcBef>
                <a:spcPts val="0"/>
              </a:spcBef>
              <a:spcAft>
                <a:spcPts val="0"/>
              </a:spcAft>
              <a:buClr>
                <a:srgbClr val="000000"/>
              </a:buClr>
              <a:buSzPts val="2800"/>
              <a:buChar char="•"/>
            </a:pPr>
            <a:r>
              <a:rPr lang="en-US" sz="2800">
                <a:solidFill>
                  <a:srgbClr val="000000"/>
                </a:solidFill>
              </a:rPr>
              <a:t>How is it going to be used?</a:t>
            </a:r>
            <a:endParaRPr/>
          </a:p>
          <a:p>
            <a:pPr indent="-50800" lvl="0" marL="228600" rtl="0" algn="l">
              <a:lnSpc>
                <a:spcPct val="90000"/>
              </a:lnSpc>
              <a:spcBef>
                <a:spcPts val="0"/>
              </a:spcBef>
              <a:spcAft>
                <a:spcPts val="0"/>
              </a:spcAft>
              <a:buClr>
                <a:schemeClr val="dk1"/>
              </a:buClr>
              <a:buSzPts val="2800"/>
              <a:buNone/>
            </a:pPr>
            <a:r>
              <a:t/>
            </a:r>
            <a:endParaRPr>
              <a:solidFill>
                <a:srgbClr val="000000"/>
              </a:solidFill>
            </a:endParaRPr>
          </a:p>
          <a:p>
            <a:pPr indent="-228600" lvl="1" marL="685800" rtl="0" algn="l">
              <a:lnSpc>
                <a:spcPct val="90000"/>
              </a:lnSpc>
              <a:spcBef>
                <a:spcPts val="0"/>
              </a:spcBef>
              <a:spcAft>
                <a:spcPts val="0"/>
              </a:spcAft>
              <a:buClr>
                <a:srgbClr val="000000"/>
              </a:buClr>
              <a:buSzPts val="2800"/>
              <a:buChar char="•"/>
            </a:pPr>
            <a:r>
              <a:rPr lang="en-US" sz="2800">
                <a:solidFill>
                  <a:srgbClr val="000000"/>
                </a:solidFill>
              </a:rPr>
              <a:t>What are we going to do with the data?</a:t>
            </a:r>
            <a:endParaRPr/>
          </a:p>
          <a:p>
            <a:pPr indent="-50800" lvl="0" marL="228600" rtl="0" algn="l">
              <a:lnSpc>
                <a:spcPct val="90000"/>
              </a:lnSpc>
              <a:spcBef>
                <a:spcPts val="0"/>
              </a:spcBef>
              <a:spcAft>
                <a:spcPts val="0"/>
              </a:spcAft>
              <a:buClr>
                <a:schemeClr val="dk1"/>
              </a:buClr>
              <a:buSzPts val="2800"/>
              <a:buNone/>
            </a:pPr>
            <a:r>
              <a:t/>
            </a:r>
            <a:endParaRPr>
              <a:solidFill>
                <a:srgbClr val="000000"/>
              </a:solidFill>
            </a:endParaRPr>
          </a:p>
          <a:p>
            <a:pPr indent="-228600" lvl="1" marL="685800" rtl="0" algn="l">
              <a:lnSpc>
                <a:spcPct val="90000"/>
              </a:lnSpc>
              <a:spcBef>
                <a:spcPts val="0"/>
              </a:spcBef>
              <a:spcAft>
                <a:spcPts val="0"/>
              </a:spcAft>
              <a:buClr>
                <a:srgbClr val="000000"/>
              </a:buClr>
              <a:buSzPts val="2800"/>
              <a:buChar char="•"/>
            </a:pPr>
            <a:r>
              <a:rPr lang="en-US" sz="2800">
                <a:solidFill>
                  <a:srgbClr val="000000"/>
                </a:solidFill>
              </a:rPr>
              <a:t>Who should access the data?</a:t>
            </a:r>
            <a:endParaRPr/>
          </a:p>
          <a:p>
            <a:pPr indent="-361950" lvl="1" marL="971550" rtl="0" algn="l">
              <a:lnSpc>
                <a:spcPct val="90000"/>
              </a:lnSpc>
              <a:spcBef>
                <a:spcPts val="500"/>
              </a:spcBef>
              <a:spcAft>
                <a:spcPts val="0"/>
              </a:spcAft>
              <a:buClr>
                <a:schemeClr val="dk1"/>
              </a:buClr>
              <a:buSzPts val="2400"/>
              <a:buNone/>
            </a:pPr>
            <a:r>
              <a:t/>
            </a:r>
            <a:endParaRPr/>
          </a:p>
          <a:p>
            <a:pPr indent="-361950" lvl="1" marL="914400" rtl="0" algn="l">
              <a:lnSpc>
                <a:spcPct val="90000"/>
              </a:lnSpc>
              <a:spcBef>
                <a:spcPts val="500"/>
              </a:spcBef>
              <a:spcAft>
                <a:spcPts val="0"/>
              </a:spcAft>
              <a:buClr>
                <a:schemeClr val="dk1"/>
              </a:buClr>
              <a:buSzPts val="2400"/>
              <a:buNone/>
            </a:pPr>
            <a:r>
              <a:t/>
            </a:r>
            <a:endParaRPr/>
          </a:p>
          <a:p>
            <a:pPr indent="-336550" lvl="0" marL="514350" rtl="0" algn="l">
              <a:lnSpc>
                <a:spcPct val="90000"/>
              </a:lnSpc>
              <a:spcBef>
                <a:spcPts val="1000"/>
              </a:spcBef>
              <a:spcAft>
                <a:spcPts val="0"/>
              </a:spcAft>
              <a:buClr>
                <a:schemeClr val="dk1"/>
              </a:buClr>
              <a:buSzPts val="2800"/>
              <a:buNone/>
            </a:pPr>
            <a:r>
              <a:t/>
            </a:r>
            <a:endParaRPr/>
          </a:p>
          <a:p>
            <a:pPr indent="-76200" lvl="1" marL="685800" rtl="0" algn="l">
              <a:lnSpc>
                <a:spcPct val="90000"/>
              </a:lnSpc>
              <a:spcBef>
                <a:spcPts val="500"/>
              </a:spcBef>
              <a:spcAft>
                <a:spcPts val="0"/>
              </a:spcAft>
              <a:buClr>
                <a:schemeClr val="dk1"/>
              </a:buClr>
              <a:buSzPts val="2400"/>
              <a:buNone/>
            </a:pPr>
            <a:r>
              <a:t/>
            </a:r>
            <a:endParaRPr/>
          </a:p>
        </p:txBody>
      </p:sp>
      <p:sp>
        <p:nvSpPr>
          <p:cNvPr id="127" name="Google Shape;127;p18"/>
          <p:cNvSpPr txBox="1"/>
          <p:nvPr/>
        </p:nvSpPr>
        <p:spPr>
          <a:xfrm>
            <a:off x="7422776" y="2531360"/>
            <a:ext cx="3429000" cy="1200329"/>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Technical and non-technical people are involved</a:t>
            </a:r>
            <a:endParaRPr/>
          </a:p>
        </p:txBody>
      </p:sp>
      <p:sp>
        <p:nvSpPr>
          <p:cNvPr id="128" name="Google Shape;128;p18"/>
          <p:cNvSpPr/>
          <p:nvPr/>
        </p:nvSpPr>
        <p:spPr>
          <a:xfrm>
            <a:off x="914400" y="1650182"/>
            <a:ext cx="3411375" cy="460841"/>
          </a:xfrm>
          <a:prstGeom prst="homePlate">
            <a:avLst>
              <a:gd fmla="val 50000" name="adj"/>
            </a:avLst>
          </a:prstGeom>
          <a:solidFill>
            <a:srgbClr val="A8D08C"/>
          </a:solidFill>
          <a:ln>
            <a:noFill/>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1. Requirements Analysis</a:t>
            </a:r>
            <a:endParaRPr/>
          </a:p>
        </p:txBody>
      </p:sp>
      <p:sp>
        <p:nvSpPr>
          <p:cNvPr id="129" name="Google Shape;129;p18"/>
          <p:cNvSpPr/>
          <p:nvPr/>
        </p:nvSpPr>
        <p:spPr>
          <a:xfrm>
            <a:off x="4177400" y="1650182"/>
            <a:ext cx="3411375" cy="460841"/>
          </a:xfrm>
          <a:prstGeom prst="chevron">
            <a:avLst>
              <a:gd fmla="val 50000" name="adj"/>
            </a:avLst>
          </a:prstGeom>
          <a:solidFill>
            <a:srgbClr val="D8D8D8"/>
          </a:solidFill>
          <a:ln>
            <a:noFill/>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7F7F7F"/>
                </a:solidFill>
                <a:latin typeface="Calibri"/>
                <a:ea typeface="Calibri"/>
                <a:cs typeface="Calibri"/>
                <a:sym typeface="Calibri"/>
              </a:rPr>
              <a:t>2. Conceptual Design </a:t>
            </a:r>
            <a:endParaRPr/>
          </a:p>
        </p:txBody>
      </p:sp>
      <p:sp>
        <p:nvSpPr>
          <p:cNvPr id="130" name="Google Shape;130;p18"/>
          <p:cNvSpPr/>
          <p:nvPr/>
        </p:nvSpPr>
        <p:spPr>
          <a:xfrm>
            <a:off x="7440401" y="1650182"/>
            <a:ext cx="3411375" cy="460841"/>
          </a:xfrm>
          <a:prstGeom prst="chevron">
            <a:avLst>
              <a:gd fmla="val 50000" name="adj"/>
            </a:avLst>
          </a:prstGeom>
          <a:solidFill>
            <a:srgbClr val="D8D8D8"/>
          </a:solidFill>
          <a:ln>
            <a:noFill/>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rgbClr val="7F7F7F"/>
                </a:solidFill>
                <a:latin typeface="Calibri"/>
                <a:ea typeface="Calibri"/>
                <a:cs typeface="Calibri"/>
                <a:sym typeface="Calibri"/>
              </a:rPr>
              <a:t>3. Logical, Physical, Security, etc.</a:t>
            </a:r>
            <a:endParaRPr/>
          </a:p>
        </p:txBody>
      </p:sp>
      <p:sp>
        <p:nvSpPr>
          <p:cNvPr id="131" name="Google Shape;131;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Database Design Process</a:t>
            </a:r>
            <a:endParaRPr/>
          </a:p>
        </p:txBody>
      </p:sp>
      <p:sp>
        <p:nvSpPr>
          <p:cNvPr id="137" name="Google Shape;137;p19"/>
          <p:cNvSpPr txBox="1"/>
          <p:nvPr>
            <p:ph idx="1" type="body"/>
          </p:nvPr>
        </p:nvSpPr>
        <p:spPr>
          <a:xfrm>
            <a:off x="914400" y="2474973"/>
            <a:ext cx="10363200" cy="375057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2. Conceptual Design</a:t>
            </a:r>
            <a:endParaRPr/>
          </a:p>
          <a:p>
            <a:pPr indent="-50800" lvl="1" marL="685800" rtl="0" algn="l">
              <a:lnSpc>
                <a:spcPct val="90000"/>
              </a:lnSpc>
              <a:spcBef>
                <a:spcPts val="500"/>
              </a:spcBef>
              <a:spcAft>
                <a:spcPts val="0"/>
              </a:spcAft>
              <a:buClr>
                <a:schemeClr val="dk1"/>
              </a:buClr>
              <a:buSzPts val="2800"/>
              <a:buNone/>
            </a:pPr>
            <a:r>
              <a:t/>
            </a:r>
            <a:endParaRPr sz="2800">
              <a:solidFill>
                <a:srgbClr val="000000"/>
              </a:solidFill>
            </a:endParaRPr>
          </a:p>
          <a:p>
            <a:pPr indent="-228600" lvl="1" marL="685800" rtl="0" algn="l">
              <a:lnSpc>
                <a:spcPct val="90000"/>
              </a:lnSpc>
              <a:spcBef>
                <a:spcPts val="500"/>
              </a:spcBef>
              <a:spcAft>
                <a:spcPts val="0"/>
              </a:spcAft>
              <a:buClr>
                <a:srgbClr val="000000"/>
              </a:buClr>
              <a:buSzPts val="2800"/>
              <a:buChar char="•"/>
            </a:pPr>
            <a:r>
              <a:rPr lang="en-US" sz="2800">
                <a:solidFill>
                  <a:srgbClr val="000000"/>
                </a:solidFill>
              </a:rPr>
              <a:t>A </a:t>
            </a:r>
            <a:r>
              <a:rPr lang="en-US" sz="2800" u="sng">
                <a:solidFill>
                  <a:srgbClr val="000000"/>
                </a:solidFill>
              </a:rPr>
              <a:t>high-level description</a:t>
            </a:r>
            <a:r>
              <a:rPr lang="en-US" sz="2800">
                <a:solidFill>
                  <a:srgbClr val="000000"/>
                </a:solidFill>
              </a:rPr>
              <a:t> of the database</a:t>
            </a:r>
            <a:endParaRPr/>
          </a:p>
          <a:p>
            <a:pPr indent="-50800" lvl="1" marL="685800" rtl="0" algn="l">
              <a:lnSpc>
                <a:spcPct val="90000"/>
              </a:lnSpc>
              <a:spcBef>
                <a:spcPts val="500"/>
              </a:spcBef>
              <a:spcAft>
                <a:spcPts val="0"/>
              </a:spcAft>
              <a:buClr>
                <a:schemeClr val="dk1"/>
              </a:buClr>
              <a:buSzPts val="2800"/>
              <a:buNone/>
            </a:pPr>
            <a:r>
              <a:t/>
            </a:r>
            <a:endParaRPr sz="2800">
              <a:solidFill>
                <a:srgbClr val="000000"/>
              </a:solidFill>
            </a:endParaRPr>
          </a:p>
          <a:p>
            <a:pPr indent="-228600" lvl="1" marL="685800" rtl="0" algn="l">
              <a:lnSpc>
                <a:spcPct val="90000"/>
              </a:lnSpc>
              <a:spcBef>
                <a:spcPts val="500"/>
              </a:spcBef>
              <a:spcAft>
                <a:spcPts val="0"/>
              </a:spcAft>
              <a:buClr>
                <a:srgbClr val="000000"/>
              </a:buClr>
              <a:buSzPts val="2800"/>
              <a:buChar char="•"/>
            </a:pPr>
            <a:r>
              <a:rPr lang="en-US" sz="2800">
                <a:solidFill>
                  <a:srgbClr val="000000"/>
                </a:solidFill>
              </a:rPr>
              <a:t>Sufficiently </a:t>
            </a:r>
            <a:r>
              <a:rPr lang="en-US" sz="2800" u="sng">
                <a:solidFill>
                  <a:srgbClr val="000000"/>
                </a:solidFill>
              </a:rPr>
              <a:t>precise</a:t>
            </a:r>
            <a:r>
              <a:rPr lang="en-US" sz="2800">
                <a:solidFill>
                  <a:srgbClr val="000000"/>
                </a:solidFill>
              </a:rPr>
              <a:t> that technical people can understand it</a:t>
            </a:r>
            <a:endParaRPr/>
          </a:p>
          <a:p>
            <a:pPr indent="-50800" lvl="1" marL="685800" rtl="0" algn="l">
              <a:lnSpc>
                <a:spcPct val="90000"/>
              </a:lnSpc>
              <a:spcBef>
                <a:spcPts val="500"/>
              </a:spcBef>
              <a:spcAft>
                <a:spcPts val="0"/>
              </a:spcAft>
              <a:buClr>
                <a:schemeClr val="dk1"/>
              </a:buClr>
              <a:buSzPts val="2800"/>
              <a:buNone/>
            </a:pPr>
            <a:r>
              <a:t/>
            </a:r>
            <a:endParaRPr sz="2800">
              <a:solidFill>
                <a:srgbClr val="000000"/>
              </a:solidFill>
            </a:endParaRPr>
          </a:p>
          <a:p>
            <a:pPr indent="-228600" lvl="1" marL="685800" rtl="0" algn="l">
              <a:lnSpc>
                <a:spcPct val="90000"/>
              </a:lnSpc>
              <a:spcBef>
                <a:spcPts val="500"/>
              </a:spcBef>
              <a:spcAft>
                <a:spcPts val="0"/>
              </a:spcAft>
              <a:buClr>
                <a:srgbClr val="000000"/>
              </a:buClr>
              <a:buSzPts val="2800"/>
              <a:buChar char="•"/>
            </a:pPr>
            <a:r>
              <a:rPr lang="en-US" sz="2800">
                <a:solidFill>
                  <a:srgbClr val="000000"/>
                </a:solidFill>
              </a:rPr>
              <a:t>But, </a:t>
            </a:r>
            <a:r>
              <a:rPr lang="en-US" sz="2800" u="sng">
                <a:solidFill>
                  <a:srgbClr val="000000"/>
                </a:solidFill>
              </a:rPr>
              <a:t>not so precise that non-technical people can’t participate</a:t>
            </a:r>
            <a:endParaRPr/>
          </a:p>
          <a:p>
            <a:pPr indent="-50800" lvl="0" marL="228600" rtl="0" algn="l">
              <a:lnSpc>
                <a:spcPct val="90000"/>
              </a:lnSpc>
              <a:spcBef>
                <a:spcPts val="1000"/>
              </a:spcBef>
              <a:spcAft>
                <a:spcPts val="0"/>
              </a:spcAft>
              <a:buClr>
                <a:schemeClr val="dk1"/>
              </a:buClr>
              <a:buSzPts val="2800"/>
              <a:buNone/>
            </a:pPr>
            <a:r>
              <a:t/>
            </a:r>
            <a:endParaRPr/>
          </a:p>
          <a:p>
            <a:pPr indent="-336550" lvl="0" marL="514350" rtl="0" algn="l">
              <a:lnSpc>
                <a:spcPct val="90000"/>
              </a:lnSpc>
              <a:spcBef>
                <a:spcPts val="1000"/>
              </a:spcBef>
              <a:spcAft>
                <a:spcPts val="0"/>
              </a:spcAft>
              <a:buClr>
                <a:schemeClr val="dk1"/>
              </a:buClr>
              <a:buSzPts val="2800"/>
              <a:buNone/>
            </a:pPr>
            <a:r>
              <a:t/>
            </a:r>
            <a:endParaRPr/>
          </a:p>
          <a:p>
            <a:pPr indent="-336550" lvl="0" marL="514350" rtl="0" algn="l">
              <a:lnSpc>
                <a:spcPct val="90000"/>
              </a:lnSpc>
              <a:spcBef>
                <a:spcPts val="1000"/>
              </a:spcBef>
              <a:spcAft>
                <a:spcPts val="0"/>
              </a:spcAft>
              <a:buClr>
                <a:schemeClr val="dk1"/>
              </a:buClr>
              <a:buSzPts val="2800"/>
              <a:buNone/>
            </a:pPr>
            <a:r>
              <a:t/>
            </a:r>
            <a:endParaRPr/>
          </a:p>
          <a:p>
            <a:pPr indent="-76200" lvl="1" marL="685800" rtl="0" algn="l">
              <a:lnSpc>
                <a:spcPct val="90000"/>
              </a:lnSpc>
              <a:spcBef>
                <a:spcPts val="500"/>
              </a:spcBef>
              <a:spcAft>
                <a:spcPts val="0"/>
              </a:spcAft>
              <a:buClr>
                <a:schemeClr val="dk1"/>
              </a:buClr>
              <a:buSzPts val="2400"/>
              <a:buNone/>
            </a:pPr>
            <a:r>
              <a:t/>
            </a:r>
            <a:endParaRPr/>
          </a:p>
        </p:txBody>
      </p:sp>
      <p:sp>
        <p:nvSpPr>
          <p:cNvPr id="138" name="Google Shape;138;p19"/>
          <p:cNvSpPr txBox="1"/>
          <p:nvPr/>
        </p:nvSpPr>
        <p:spPr>
          <a:xfrm>
            <a:off x="3441326" y="6094740"/>
            <a:ext cx="5309347" cy="523220"/>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rgbClr val="000000"/>
                </a:solidFill>
                <a:latin typeface="Calibri"/>
                <a:ea typeface="Calibri"/>
                <a:cs typeface="Calibri"/>
                <a:sym typeface="Calibri"/>
              </a:rPr>
              <a:t>This is where E/R fits in.</a:t>
            </a:r>
            <a:endParaRPr/>
          </a:p>
        </p:txBody>
      </p:sp>
      <p:sp>
        <p:nvSpPr>
          <p:cNvPr id="139" name="Google Shape;139;p19"/>
          <p:cNvSpPr/>
          <p:nvPr/>
        </p:nvSpPr>
        <p:spPr>
          <a:xfrm>
            <a:off x="914400" y="1650182"/>
            <a:ext cx="3411375" cy="460841"/>
          </a:xfrm>
          <a:prstGeom prst="homePlate">
            <a:avLst>
              <a:gd fmla="val 50000" name="adj"/>
            </a:avLst>
          </a:prstGeom>
          <a:solidFill>
            <a:srgbClr val="D8D8D8"/>
          </a:solidFill>
          <a:ln>
            <a:noFill/>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7F7F7F"/>
                </a:solidFill>
                <a:latin typeface="Calibri"/>
                <a:ea typeface="Calibri"/>
                <a:cs typeface="Calibri"/>
                <a:sym typeface="Calibri"/>
              </a:rPr>
              <a:t>1. Requirements Analysis</a:t>
            </a:r>
            <a:endParaRPr/>
          </a:p>
        </p:txBody>
      </p:sp>
      <p:sp>
        <p:nvSpPr>
          <p:cNvPr id="140" name="Google Shape;140;p19"/>
          <p:cNvSpPr/>
          <p:nvPr/>
        </p:nvSpPr>
        <p:spPr>
          <a:xfrm>
            <a:off x="4177400" y="1650182"/>
            <a:ext cx="3411375" cy="460841"/>
          </a:xfrm>
          <a:prstGeom prst="chevron">
            <a:avLst>
              <a:gd fmla="val 50000" name="adj"/>
            </a:avLst>
          </a:prstGeom>
          <a:solidFill>
            <a:srgbClr val="A8D08C"/>
          </a:solidFill>
          <a:ln>
            <a:noFill/>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2. Conceptual Design </a:t>
            </a:r>
            <a:endParaRPr/>
          </a:p>
        </p:txBody>
      </p:sp>
      <p:sp>
        <p:nvSpPr>
          <p:cNvPr id="141" name="Google Shape;141;p19"/>
          <p:cNvSpPr/>
          <p:nvPr/>
        </p:nvSpPr>
        <p:spPr>
          <a:xfrm>
            <a:off x="7440401" y="1650182"/>
            <a:ext cx="3411375" cy="460841"/>
          </a:xfrm>
          <a:prstGeom prst="chevron">
            <a:avLst>
              <a:gd fmla="val 50000" name="adj"/>
            </a:avLst>
          </a:prstGeom>
          <a:solidFill>
            <a:srgbClr val="D8D8D8"/>
          </a:solidFill>
          <a:ln>
            <a:noFill/>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rgbClr val="7F7F7F"/>
                </a:solidFill>
                <a:latin typeface="Calibri"/>
                <a:ea typeface="Calibri"/>
                <a:cs typeface="Calibri"/>
                <a:sym typeface="Calibri"/>
              </a:rPr>
              <a:t>3. Logical, Physical, Security, etc.</a:t>
            </a:r>
            <a:endParaRPr/>
          </a:p>
        </p:txBody>
      </p:sp>
      <p:sp>
        <p:nvSpPr>
          <p:cNvPr id="142" name="Google Shape;14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Database Design Process</a:t>
            </a:r>
            <a:endParaRPr/>
          </a:p>
        </p:txBody>
      </p:sp>
      <p:sp>
        <p:nvSpPr>
          <p:cNvPr id="148" name="Google Shape;148;p20"/>
          <p:cNvSpPr/>
          <p:nvPr/>
        </p:nvSpPr>
        <p:spPr>
          <a:xfrm>
            <a:off x="914400" y="1650182"/>
            <a:ext cx="3411375" cy="460841"/>
          </a:xfrm>
          <a:prstGeom prst="homePlate">
            <a:avLst>
              <a:gd fmla="val 50000" name="adj"/>
            </a:avLst>
          </a:prstGeom>
          <a:solidFill>
            <a:srgbClr val="D8D8D8"/>
          </a:solidFill>
          <a:ln>
            <a:noFill/>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7F7F7F"/>
                </a:solidFill>
                <a:latin typeface="Calibri"/>
                <a:ea typeface="Calibri"/>
                <a:cs typeface="Calibri"/>
                <a:sym typeface="Calibri"/>
              </a:rPr>
              <a:t>1. Requirements Analysis</a:t>
            </a:r>
            <a:endParaRPr/>
          </a:p>
        </p:txBody>
      </p:sp>
      <p:sp>
        <p:nvSpPr>
          <p:cNvPr id="149" name="Google Shape;149;p20"/>
          <p:cNvSpPr/>
          <p:nvPr/>
        </p:nvSpPr>
        <p:spPr>
          <a:xfrm>
            <a:off x="4177400" y="1650182"/>
            <a:ext cx="3411375" cy="460841"/>
          </a:xfrm>
          <a:prstGeom prst="chevron">
            <a:avLst>
              <a:gd fmla="val 50000" name="adj"/>
            </a:avLst>
          </a:prstGeom>
          <a:solidFill>
            <a:srgbClr val="D8D8D8"/>
          </a:solidFill>
          <a:ln>
            <a:noFill/>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7F7F7F"/>
                </a:solidFill>
                <a:latin typeface="Calibri"/>
                <a:ea typeface="Calibri"/>
                <a:cs typeface="Calibri"/>
                <a:sym typeface="Calibri"/>
              </a:rPr>
              <a:t>2. Conceptual Design </a:t>
            </a:r>
            <a:endParaRPr/>
          </a:p>
        </p:txBody>
      </p:sp>
      <p:sp>
        <p:nvSpPr>
          <p:cNvPr id="150" name="Google Shape;150;p20"/>
          <p:cNvSpPr/>
          <p:nvPr/>
        </p:nvSpPr>
        <p:spPr>
          <a:xfrm>
            <a:off x="7440401" y="1650182"/>
            <a:ext cx="3411375" cy="460841"/>
          </a:xfrm>
          <a:prstGeom prst="chevron">
            <a:avLst>
              <a:gd fmla="val 50000" name="adj"/>
            </a:avLst>
          </a:prstGeom>
          <a:solidFill>
            <a:srgbClr val="A8D08C"/>
          </a:solidFill>
          <a:ln>
            <a:noFill/>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lt1"/>
                </a:solidFill>
                <a:latin typeface="Calibri"/>
                <a:ea typeface="Calibri"/>
                <a:cs typeface="Calibri"/>
                <a:sym typeface="Calibri"/>
              </a:rPr>
              <a:t>3. Logical, Physical, Security, etc.</a:t>
            </a:r>
            <a:endParaRPr/>
          </a:p>
        </p:txBody>
      </p:sp>
      <p:sp>
        <p:nvSpPr>
          <p:cNvPr id="151" name="Google Shape;151;p20"/>
          <p:cNvSpPr txBox="1"/>
          <p:nvPr/>
        </p:nvSpPr>
        <p:spPr>
          <a:xfrm>
            <a:off x="914400" y="2531360"/>
            <a:ext cx="103632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Arial"/>
              <a:buNone/>
            </a:pPr>
            <a:r>
              <a:rPr b="1" i="0" lang="en-US" sz="3200" u="none" cap="none" strike="noStrike">
                <a:solidFill>
                  <a:schemeClr val="dk1"/>
                </a:solidFill>
                <a:latin typeface="Calibri"/>
                <a:ea typeface="Calibri"/>
                <a:cs typeface="Calibri"/>
                <a:sym typeface="Calibri"/>
              </a:rPr>
              <a:t>3. More: </a:t>
            </a:r>
            <a:endParaRPr b="0" i="0" sz="3200" u="none" cap="none" strike="noStrike">
              <a:solidFill>
                <a:schemeClr val="dk1"/>
              </a:solidFill>
              <a:latin typeface="Calibri"/>
              <a:ea typeface="Calibri"/>
              <a:cs typeface="Calibri"/>
              <a:sym typeface="Calibri"/>
            </a:endParaRPr>
          </a:p>
          <a:p>
            <a:pPr indent="-101600" lvl="1" marL="685800" marR="0" rtl="0" algn="l">
              <a:lnSpc>
                <a:spcPct val="90000"/>
              </a:lnSpc>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Logical Database Design</a:t>
            </a:r>
            <a:endParaRPr/>
          </a:p>
          <a:p>
            <a:pPr indent="-50800" lvl="1" marL="685800" marR="0" rtl="0" algn="l">
              <a:lnSpc>
                <a:spcPct val="90000"/>
              </a:lnSpc>
              <a:spcBef>
                <a:spcPts val="5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Physical Database Design</a:t>
            </a:r>
            <a:endParaRPr/>
          </a:p>
          <a:p>
            <a:pPr indent="-50800" lvl="1" marL="685800" marR="0" rtl="0" algn="l">
              <a:lnSpc>
                <a:spcPct val="90000"/>
              </a:lnSpc>
              <a:spcBef>
                <a:spcPts val="5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1" marL="685800" marR="0" rtl="0" algn="l">
              <a:lnSpc>
                <a:spcPct val="9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Security Design</a:t>
            </a:r>
            <a:endParaRPr/>
          </a:p>
          <a:p>
            <a:pPr indent="-361950" lvl="1" marL="971550" marR="0" rtl="0" algn="l">
              <a:lnSpc>
                <a:spcPct val="90000"/>
              </a:lnSpc>
              <a:spcBef>
                <a:spcPts val="5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361950" lvl="1" marL="914400" marR="0" rtl="0" algn="l">
              <a:lnSpc>
                <a:spcPct val="90000"/>
              </a:lnSpc>
              <a:spcBef>
                <a:spcPts val="5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336550" lvl="0" marL="51435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76200" lvl="1" marL="685800" marR="0" rtl="0" algn="l">
              <a:lnSpc>
                <a:spcPct val="90000"/>
              </a:lnSpc>
              <a:spcBef>
                <a:spcPts val="5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52" name="Google Shape;15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1"/>
          <p:cNvSpPr txBox="1"/>
          <p:nvPr/>
        </p:nvSpPr>
        <p:spPr>
          <a:xfrm>
            <a:off x="9491129" y="2480986"/>
            <a:ext cx="2209800" cy="1200329"/>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rgbClr val="000000"/>
                </a:solidFill>
                <a:latin typeface="Calibri"/>
                <a:ea typeface="Calibri"/>
                <a:cs typeface="Calibri"/>
                <a:sym typeface="Calibri"/>
              </a:rPr>
              <a:t>This process is iterated </a:t>
            </a:r>
            <a:r>
              <a:rPr b="1" i="0" lang="en-US" sz="2400" u="none" cap="none" strike="noStrike">
                <a:solidFill>
                  <a:srgbClr val="000000"/>
                </a:solidFill>
                <a:latin typeface="Calibri"/>
                <a:ea typeface="Calibri"/>
                <a:cs typeface="Calibri"/>
                <a:sym typeface="Calibri"/>
              </a:rPr>
              <a:t>many</a:t>
            </a:r>
            <a:r>
              <a:rPr b="0" i="0" lang="en-US" sz="2400" u="none" cap="none" strike="noStrike">
                <a:solidFill>
                  <a:srgbClr val="000000"/>
                </a:solidFill>
                <a:latin typeface="Calibri"/>
                <a:ea typeface="Calibri"/>
                <a:cs typeface="Calibri"/>
                <a:sym typeface="Calibri"/>
              </a:rPr>
              <a:t> times</a:t>
            </a:r>
            <a:endParaRPr/>
          </a:p>
        </p:txBody>
      </p:sp>
      <p:sp>
        <p:nvSpPr>
          <p:cNvPr id="158" name="Google Shape;158;p21"/>
          <p:cNvSpPr txBox="1"/>
          <p:nvPr/>
        </p:nvSpPr>
        <p:spPr>
          <a:xfrm>
            <a:off x="1313890" y="5355973"/>
            <a:ext cx="9564219" cy="954107"/>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rgbClr val="000000"/>
                </a:solidFill>
                <a:latin typeface="Calibri"/>
                <a:ea typeface="Calibri"/>
                <a:cs typeface="Calibri"/>
                <a:sym typeface="Calibri"/>
              </a:rPr>
              <a:t>E/R is a </a:t>
            </a:r>
            <a:r>
              <a:rPr b="0" i="1" lang="en-US" sz="2800" u="none" cap="none" strike="noStrike">
                <a:solidFill>
                  <a:srgbClr val="000000"/>
                </a:solidFill>
                <a:latin typeface="Calibri"/>
                <a:ea typeface="Calibri"/>
                <a:cs typeface="Calibri"/>
                <a:sym typeface="Calibri"/>
              </a:rPr>
              <a:t>visual syntax </a:t>
            </a:r>
            <a:r>
              <a:rPr b="0" i="0" lang="en-US" sz="2800" u="none" cap="none" strike="noStrike">
                <a:solidFill>
                  <a:srgbClr val="000000"/>
                </a:solidFill>
                <a:latin typeface="Calibri"/>
                <a:ea typeface="Calibri"/>
                <a:cs typeface="Calibri"/>
                <a:sym typeface="Calibri"/>
              </a:rPr>
              <a:t>for DB design which is </a:t>
            </a:r>
            <a:r>
              <a:rPr b="1" i="1" lang="en-US" sz="2800" u="none" cap="none" strike="noStrike">
                <a:solidFill>
                  <a:srgbClr val="000000"/>
                </a:solidFill>
                <a:latin typeface="Calibri"/>
                <a:ea typeface="Calibri"/>
                <a:cs typeface="Calibri"/>
                <a:sym typeface="Calibri"/>
              </a:rPr>
              <a:t>precise enough</a:t>
            </a:r>
            <a:r>
              <a:rPr b="0" i="0" lang="en-US" sz="2800" u="none" cap="none" strike="noStrike">
                <a:solidFill>
                  <a:srgbClr val="000000"/>
                </a:solidFill>
                <a:latin typeface="Calibri"/>
                <a:ea typeface="Calibri"/>
                <a:cs typeface="Calibri"/>
                <a:sym typeface="Calibri"/>
              </a:rPr>
              <a:t> for technical points, but </a:t>
            </a:r>
            <a:r>
              <a:rPr b="1" i="1" lang="en-US" sz="2800" u="none" cap="none" strike="noStrike">
                <a:solidFill>
                  <a:srgbClr val="000000"/>
                </a:solidFill>
                <a:latin typeface="Calibri"/>
                <a:ea typeface="Calibri"/>
                <a:cs typeface="Calibri"/>
                <a:sym typeface="Calibri"/>
              </a:rPr>
              <a:t>abstracted enough</a:t>
            </a:r>
            <a:r>
              <a:rPr b="0" i="0" lang="en-US" sz="2800" u="none" cap="none" strike="noStrike">
                <a:solidFill>
                  <a:srgbClr val="000000"/>
                </a:solidFill>
                <a:latin typeface="Calibri"/>
                <a:ea typeface="Calibri"/>
                <a:cs typeface="Calibri"/>
                <a:sym typeface="Calibri"/>
              </a:rPr>
              <a:t> for non-technical people</a:t>
            </a:r>
            <a:endParaRPr/>
          </a:p>
        </p:txBody>
      </p:sp>
      <p:sp>
        <p:nvSpPr>
          <p:cNvPr id="159" name="Google Shape;15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Database Design Process</a:t>
            </a:r>
            <a:endParaRPr/>
          </a:p>
        </p:txBody>
      </p:sp>
      <p:sp>
        <p:nvSpPr>
          <p:cNvPr id="160" name="Google Shape;160;p21"/>
          <p:cNvSpPr/>
          <p:nvPr/>
        </p:nvSpPr>
        <p:spPr>
          <a:xfrm>
            <a:off x="914400" y="1650182"/>
            <a:ext cx="3411375" cy="460841"/>
          </a:xfrm>
          <a:prstGeom prst="homePlate">
            <a:avLst>
              <a:gd fmla="val 50000" name="adj"/>
            </a:avLst>
          </a:prstGeom>
          <a:solidFill>
            <a:srgbClr val="A8D08C"/>
          </a:solidFill>
          <a:ln>
            <a:noFill/>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1. Requirements Analysis</a:t>
            </a:r>
            <a:endParaRPr/>
          </a:p>
        </p:txBody>
      </p:sp>
      <p:sp>
        <p:nvSpPr>
          <p:cNvPr id="161" name="Google Shape;161;p21"/>
          <p:cNvSpPr/>
          <p:nvPr/>
        </p:nvSpPr>
        <p:spPr>
          <a:xfrm>
            <a:off x="4177400" y="1650182"/>
            <a:ext cx="3411375" cy="460841"/>
          </a:xfrm>
          <a:prstGeom prst="chevron">
            <a:avLst>
              <a:gd fmla="val 50000" name="adj"/>
            </a:avLst>
          </a:prstGeom>
          <a:solidFill>
            <a:srgbClr val="A8D08C"/>
          </a:solidFill>
          <a:ln>
            <a:noFill/>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2. Conceptual Design </a:t>
            </a:r>
            <a:endParaRPr/>
          </a:p>
        </p:txBody>
      </p:sp>
      <p:sp>
        <p:nvSpPr>
          <p:cNvPr id="162" name="Google Shape;162;p21"/>
          <p:cNvSpPr/>
          <p:nvPr/>
        </p:nvSpPr>
        <p:spPr>
          <a:xfrm>
            <a:off x="7440401" y="1650182"/>
            <a:ext cx="3411375" cy="460841"/>
          </a:xfrm>
          <a:prstGeom prst="chevron">
            <a:avLst>
              <a:gd fmla="val 50000" name="adj"/>
            </a:avLst>
          </a:prstGeom>
          <a:solidFill>
            <a:srgbClr val="A8D08C"/>
          </a:solidFill>
          <a:ln>
            <a:noFill/>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lt1"/>
                </a:solidFill>
                <a:latin typeface="Calibri"/>
                <a:ea typeface="Calibri"/>
                <a:cs typeface="Calibri"/>
                <a:sym typeface="Calibri"/>
              </a:rPr>
              <a:t>3. Logical, Physical, Security, etc.</a:t>
            </a:r>
            <a:endParaRPr/>
          </a:p>
        </p:txBody>
      </p:sp>
      <p:grpSp>
        <p:nvGrpSpPr>
          <p:cNvPr id="163" name="Google Shape;163;p21"/>
          <p:cNvGrpSpPr/>
          <p:nvPr/>
        </p:nvGrpSpPr>
        <p:grpSpPr>
          <a:xfrm>
            <a:off x="3253585" y="3303060"/>
            <a:ext cx="5931921" cy="1482998"/>
            <a:chOff x="3408827" y="3320627"/>
            <a:chExt cx="5607941" cy="1402002"/>
          </a:xfrm>
        </p:grpSpPr>
        <p:sp>
          <p:nvSpPr>
            <p:cNvPr id="164" name="Google Shape;164;p21"/>
            <p:cNvSpPr/>
            <p:nvPr/>
          </p:nvSpPr>
          <p:spPr>
            <a:xfrm>
              <a:off x="5932432" y="4208562"/>
              <a:ext cx="1121602" cy="420601"/>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rgbClr val="7F7F7F"/>
                  </a:solidFill>
                  <a:latin typeface="Calibri"/>
                  <a:ea typeface="Calibri"/>
                  <a:cs typeface="Calibri"/>
                  <a:sym typeface="Calibri"/>
                </a:rPr>
                <a:t>Makes</a:t>
              </a:r>
              <a:endParaRPr/>
            </a:p>
          </p:txBody>
        </p:sp>
        <p:sp>
          <p:nvSpPr>
            <p:cNvPr id="165" name="Google Shape;165;p21"/>
            <p:cNvSpPr/>
            <p:nvPr/>
          </p:nvSpPr>
          <p:spPr>
            <a:xfrm>
              <a:off x="4764096" y="4255295"/>
              <a:ext cx="747735" cy="327134"/>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rgbClr val="7F7F7F"/>
                  </a:solidFill>
                  <a:latin typeface="Calibri"/>
                  <a:ea typeface="Calibri"/>
                  <a:cs typeface="Calibri"/>
                  <a:sym typeface="Calibri"/>
                </a:rPr>
                <a:t>Product</a:t>
              </a:r>
              <a:endParaRPr/>
            </a:p>
          </p:txBody>
        </p:sp>
        <p:sp>
          <p:nvSpPr>
            <p:cNvPr id="166" name="Google Shape;166;p21"/>
            <p:cNvSpPr/>
            <p:nvPr/>
          </p:nvSpPr>
          <p:spPr>
            <a:xfrm>
              <a:off x="4063095" y="3554294"/>
              <a:ext cx="887935" cy="420601"/>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sng" cap="none" strike="noStrike">
                  <a:solidFill>
                    <a:srgbClr val="7F7F7F"/>
                  </a:solidFill>
                  <a:latin typeface="Calibri"/>
                  <a:ea typeface="Calibri"/>
                  <a:cs typeface="Calibri"/>
                  <a:sym typeface="Calibri"/>
                </a:rPr>
                <a:t>name</a:t>
              </a:r>
              <a:endParaRPr/>
            </a:p>
          </p:txBody>
        </p:sp>
        <p:sp>
          <p:nvSpPr>
            <p:cNvPr id="167" name="Google Shape;167;p21"/>
            <p:cNvSpPr/>
            <p:nvPr/>
          </p:nvSpPr>
          <p:spPr>
            <a:xfrm>
              <a:off x="5044497" y="3601027"/>
              <a:ext cx="887935" cy="420601"/>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rgbClr val="7F7F7F"/>
                  </a:solidFill>
                  <a:latin typeface="Calibri"/>
                  <a:ea typeface="Calibri"/>
                  <a:cs typeface="Calibri"/>
                  <a:sym typeface="Calibri"/>
                </a:rPr>
                <a:t>category</a:t>
              </a:r>
              <a:endParaRPr/>
            </a:p>
          </p:txBody>
        </p:sp>
        <p:sp>
          <p:nvSpPr>
            <p:cNvPr id="168" name="Google Shape;168;p21"/>
            <p:cNvSpPr/>
            <p:nvPr/>
          </p:nvSpPr>
          <p:spPr>
            <a:xfrm>
              <a:off x="3408827" y="3928161"/>
              <a:ext cx="887935" cy="420601"/>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rgbClr val="7F7F7F"/>
                  </a:solidFill>
                  <a:latin typeface="Calibri"/>
                  <a:ea typeface="Calibri"/>
                  <a:cs typeface="Calibri"/>
                  <a:sym typeface="Calibri"/>
                </a:rPr>
                <a:t>price</a:t>
              </a:r>
              <a:endParaRPr/>
            </a:p>
          </p:txBody>
        </p:sp>
        <p:cxnSp>
          <p:nvCxnSpPr>
            <p:cNvPr id="169" name="Google Shape;169;p21"/>
            <p:cNvCxnSpPr>
              <a:stCxn id="170" idx="5"/>
              <a:endCxn id="171" idx="1"/>
            </p:cNvCxnSpPr>
            <p:nvPr/>
          </p:nvCxnSpPr>
          <p:spPr>
            <a:xfrm>
              <a:off x="8419468" y="3679632"/>
              <a:ext cx="597300" cy="1317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71" name="Google Shape;171;p21"/>
            <p:cNvCxnSpPr>
              <a:stCxn id="172" idx="5"/>
              <a:endCxn id="171" idx="0"/>
            </p:cNvCxnSpPr>
            <p:nvPr/>
          </p:nvCxnSpPr>
          <p:spPr>
            <a:xfrm>
              <a:off x="4820996" y="3913299"/>
              <a:ext cx="317100" cy="342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72" name="Google Shape;172;p21"/>
            <p:cNvCxnSpPr>
              <a:stCxn id="173" idx="4"/>
              <a:endCxn id="171" idx="0"/>
            </p:cNvCxnSpPr>
            <p:nvPr/>
          </p:nvCxnSpPr>
          <p:spPr>
            <a:xfrm flipH="1">
              <a:off x="5138064" y="4021628"/>
              <a:ext cx="350400" cy="2337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173" name="Google Shape;173;p21"/>
            <p:cNvSpPr/>
            <p:nvPr/>
          </p:nvSpPr>
          <p:spPr>
            <a:xfrm>
              <a:off x="7427901" y="4255295"/>
              <a:ext cx="1355269" cy="467334"/>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rgbClr val="7F7F7F"/>
                  </a:solidFill>
                  <a:latin typeface="Calibri"/>
                  <a:ea typeface="Calibri"/>
                  <a:cs typeface="Calibri"/>
                  <a:sym typeface="Calibri"/>
                </a:rPr>
                <a:t>Company</a:t>
              </a:r>
              <a:endParaRPr/>
            </a:p>
          </p:txBody>
        </p:sp>
        <p:sp>
          <p:nvSpPr>
            <p:cNvPr id="170" name="Google Shape;170;p21"/>
            <p:cNvSpPr/>
            <p:nvPr/>
          </p:nvSpPr>
          <p:spPr>
            <a:xfrm>
              <a:off x="7661568" y="3320627"/>
              <a:ext cx="887935" cy="420601"/>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sng" cap="none" strike="noStrike">
                  <a:solidFill>
                    <a:srgbClr val="7F7F7F"/>
                  </a:solidFill>
                  <a:latin typeface="Calibri"/>
                  <a:ea typeface="Calibri"/>
                  <a:cs typeface="Calibri"/>
                  <a:sym typeface="Calibri"/>
                </a:rPr>
                <a:t>name</a:t>
              </a:r>
              <a:endParaRPr/>
            </a:p>
          </p:txBody>
        </p:sp>
        <p:cxnSp>
          <p:nvCxnSpPr>
            <p:cNvPr id="174" name="Google Shape;174;p21"/>
            <p:cNvCxnSpPr/>
            <p:nvPr/>
          </p:nvCxnSpPr>
          <p:spPr>
            <a:xfrm rot="5400000">
              <a:off x="7974671" y="3810497"/>
              <a:ext cx="575663" cy="313932"/>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75" name="Google Shape;175;p21"/>
            <p:cNvCxnSpPr>
              <a:stCxn id="171" idx="3"/>
              <a:endCxn id="167" idx="1"/>
            </p:cNvCxnSpPr>
            <p:nvPr/>
          </p:nvCxnSpPr>
          <p:spPr>
            <a:xfrm>
              <a:off x="4753932" y="3661723"/>
              <a:ext cx="420600" cy="9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76" name="Google Shape;176;p21"/>
            <p:cNvCxnSpPr>
              <a:stCxn id="167" idx="3"/>
            </p:cNvCxnSpPr>
            <p:nvPr/>
          </p:nvCxnSpPr>
          <p:spPr>
            <a:xfrm>
              <a:off x="5174532" y="3960032"/>
              <a:ext cx="373800" cy="702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177" name="Google Shape;177;p21"/>
          <p:cNvSpPr/>
          <p:nvPr/>
        </p:nvSpPr>
        <p:spPr>
          <a:xfrm rot="5400000">
            <a:off x="4672881" y="-1233708"/>
            <a:ext cx="484051" cy="7335184"/>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21"/>
          <p:cNvSpPr txBox="1"/>
          <p:nvPr/>
        </p:nvSpPr>
        <p:spPr>
          <a:xfrm>
            <a:off x="3432801" y="2687656"/>
            <a:ext cx="305718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Calibri"/>
                <a:ea typeface="Calibri"/>
                <a:cs typeface="Calibri"/>
                <a:sym typeface="Calibri"/>
              </a:rPr>
              <a:t>E/R Model &amp; Diagrams used</a:t>
            </a:r>
            <a:endParaRPr/>
          </a:p>
        </p:txBody>
      </p:sp>
      <p:sp>
        <p:nvSpPr>
          <p:cNvPr id="179" name="Google Shape;17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Interlude: Impact of the ER model</a:t>
            </a:r>
            <a:endParaRPr/>
          </a:p>
        </p:txBody>
      </p:sp>
      <p:sp>
        <p:nvSpPr>
          <p:cNvPr id="185" name="Google Shape;185;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The E/R model is one of the most cited articles in Computer Science </a:t>
            </a:r>
            <a:endParaRPr/>
          </a:p>
          <a:p>
            <a:pPr indent="-228600" lvl="1" marL="685800" rtl="0" algn="l">
              <a:lnSpc>
                <a:spcPct val="90000"/>
              </a:lnSpc>
              <a:spcBef>
                <a:spcPts val="500"/>
              </a:spcBef>
              <a:spcAft>
                <a:spcPts val="0"/>
              </a:spcAft>
              <a:buClr>
                <a:schemeClr val="dk1"/>
              </a:buClr>
              <a:buSzPts val="2400"/>
              <a:buChar char="•"/>
            </a:pPr>
            <a:r>
              <a:rPr i="1" lang="en-US"/>
              <a:t>“The Entity-Relationship model – toward a unified view of data” </a:t>
            </a:r>
            <a:r>
              <a:rPr lang="en-US"/>
              <a:t>Peter Chen, 1976</a:t>
            </a:r>
            <a:endParaRPr/>
          </a:p>
          <a:p>
            <a:pPr indent="-25400" lvl="0" marL="228600" rtl="0" algn="l">
              <a:lnSpc>
                <a:spcPct val="90000"/>
              </a:lnSpc>
              <a:spcBef>
                <a:spcPts val="1000"/>
              </a:spcBef>
              <a:spcAft>
                <a:spcPts val="0"/>
              </a:spcAft>
              <a:buClr>
                <a:schemeClr val="dk1"/>
              </a:buClr>
              <a:buSzPts val="3200"/>
              <a:buNone/>
            </a:pPr>
            <a:r>
              <a:t/>
            </a:r>
            <a:endParaRPr sz="3200"/>
          </a:p>
          <a:p>
            <a:pPr indent="-228600" lvl="0" marL="228600" rtl="0" algn="l">
              <a:lnSpc>
                <a:spcPct val="90000"/>
              </a:lnSpc>
              <a:spcBef>
                <a:spcPts val="1000"/>
              </a:spcBef>
              <a:spcAft>
                <a:spcPts val="0"/>
              </a:spcAft>
              <a:buClr>
                <a:schemeClr val="dk1"/>
              </a:buClr>
              <a:buSzPts val="3200"/>
              <a:buChar char="•"/>
            </a:pPr>
            <a:r>
              <a:rPr lang="en-US" sz="3200"/>
              <a:t>Used by companies big and small</a:t>
            </a:r>
            <a:endParaRPr/>
          </a:p>
          <a:p>
            <a:pPr indent="-228600" lvl="1" marL="685800" rtl="0" algn="l">
              <a:lnSpc>
                <a:spcPct val="90000"/>
              </a:lnSpc>
              <a:spcBef>
                <a:spcPts val="500"/>
              </a:spcBef>
              <a:spcAft>
                <a:spcPts val="0"/>
              </a:spcAft>
              <a:buClr>
                <a:schemeClr val="dk1"/>
              </a:buClr>
              <a:buSzPts val="2400"/>
              <a:buChar char="•"/>
            </a:pPr>
            <a:r>
              <a:rPr lang="en-US"/>
              <a:t>You’ll know it soon enough</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86" name="Google Shape;186;p22"/>
          <p:cNvPicPr preferRelativeResize="0"/>
          <p:nvPr/>
        </p:nvPicPr>
        <p:blipFill rotWithShape="1">
          <a:blip r:embed="rId3">
            <a:alphaModFix/>
          </a:blip>
          <a:srcRect b="0" l="0" r="0" t="0"/>
          <a:stretch/>
        </p:blipFill>
        <p:spPr>
          <a:xfrm>
            <a:off x="9072380" y="3763963"/>
            <a:ext cx="1819639" cy="2413000"/>
          </a:xfrm>
          <a:prstGeom prst="rect">
            <a:avLst/>
          </a:prstGeom>
          <a:noFill/>
          <a:ln>
            <a:noFill/>
          </a:ln>
        </p:spPr>
      </p:pic>
      <p:sp>
        <p:nvSpPr>
          <p:cNvPr id="187" name="Google Shape;18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7" st="7"/>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Entities and Entity Sets</a:t>
            </a:r>
            <a:endParaRPr/>
          </a:p>
        </p:txBody>
      </p:sp>
      <p:sp>
        <p:nvSpPr>
          <p:cNvPr id="193" name="Google Shape;193;p23"/>
          <p:cNvSpPr txBox="1"/>
          <p:nvPr>
            <p:ph idx="1" type="body"/>
          </p:nvPr>
        </p:nvSpPr>
        <p:spPr>
          <a:xfrm>
            <a:off x="914400" y="2078182"/>
            <a:ext cx="7016620" cy="401781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b="1" lang="en-US"/>
              <a:t>Entities</a:t>
            </a:r>
            <a:r>
              <a:rPr lang="en-US"/>
              <a:t> &amp; </a:t>
            </a:r>
            <a:r>
              <a:rPr b="1" lang="en-US"/>
              <a:t>entity sets</a:t>
            </a:r>
            <a:r>
              <a:rPr lang="en-US"/>
              <a:t> are the primitive unit of the E/R model</a:t>
            </a:r>
            <a:endParaRPr/>
          </a:p>
          <a:p>
            <a:pPr indent="-87630" lvl="1" marL="685800" rtl="0" algn="l">
              <a:lnSpc>
                <a:spcPct val="90000"/>
              </a:lnSpc>
              <a:spcBef>
                <a:spcPts val="500"/>
              </a:spcBef>
              <a:spcAft>
                <a:spcPts val="0"/>
              </a:spcAft>
              <a:buClr>
                <a:schemeClr val="dk1"/>
              </a:buClr>
              <a:buSzPct val="100000"/>
              <a:buNone/>
            </a:pPr>
            <a:r>
              <a:t/>
            </a:r>
            <a:endParaRPr u="sng"/>
          </a:p>
          <a:p>
            <a:pPr indent="-228600" lvl="1" marL="685800" rtl="0" algn="l">
              <a:lnSpc>
                <a:spcPct val="90000"/>
              </a:lnSpc>
              <a:spcBef>
                <a:spcPts val="500"/>
              </a:spcBef>
              <a:spcAft>
                <a:spcPts val="0"/>
              </a:spcAft>
              <a:buClr>
                <a:schemeClr val="dk1"/>
              </a:buClr>
              <a:buSzPct val="100000"/>
              <a:buChar char="•"/>
            </a:pPr>
            <a:r>
              <a:rPr lang="en-US" u="sng"/>
              <a:t>Entities</a:t>
            </a:r>
            <a:r>
              <a:rPr lang="en-US"/>
              <a:t> are the individual objects, which are members of entity sets</a:t>
            </a:r>
            <a:endParaRPr u="sng"/>
          </a:p>
          <a:p>
            <a:pPr indent="-228600" lvl="2" marL="1143000" rtl="0" algn="l">
              <a:lnSpc>
                <a:spcPct val="90000"/>
              </a:lnSpc>
              <a:spcBef>
                <a:spcPts val="500"/>
              </a:spcBef>
              <a:spcAft>
                <a:spcPts val="0"/>
              </a:spcAft>
              <a:buClr>
                <a:schemeClr val="dk1"/>
              </a:buClr>
              <a:buSzPct val="100000"/>
              <a:buChar char="•"/>
            </a:pPr>
            <a:r>
              <a:rPr lang="en-US"/>
              <a:t>Ex: A specific person or product</a:t>
            </a:r>
            <a:endParaRPr/>
          </a:p>
          <a:p>
            <a:pPr indent="-87630" lvl="1" marL="685800" rtl="0" algn="l">
              <a:lnSpc>
                <a:spcPct val="90000"/>
              </a:lnSpc>
              <a:spcBef>
                <a:spcPts val="500"/>
              </a:spcBef>
              <a:spcAft>
                <a:spcPts val="0"/>
              </a:spcAft>
              <a:buClr>
                <a:schemeClr val="dk1"/>
              </a:buClr>
              <a:buSzPct val="100000"/>
              <a:buNone/>
            </a:pPr>
            <a:r>
              <a:t/>
            </a:r>
            <a:endParaRPr u="sng"/>
          </a:p>
          <a:p>
            <a:pPr indent="-228600" lvl="1" marL="685800" rtl="0" algn="l">
              <a:lnSpc>
                <a:spcPct val="90000"/>
              </a:lnSpc>
              <a:spcBef>
                <a:spcPts val="500"/>
              </a:spcBef>
              <a:spcAft>
                <a:spcPts val="0"/>
              </a:spcAft>
              <a:buClr>
                <a:schemeClr val="dk1"/>
              </a:buClr>
              <a:buSzPct val="100000"/>
              <a:buChar char="•"/>
            </a:pPr>
            <a:r>
              <a:rPr lang="en-US" u="sng"/>
              <a:t>Entity sets</a:t>
            </a:r>
            <a:r>
              <a:rPr lang="en-US"/>
              <a:t> are the </a:t>
            </a:r>
            <a:r>
              <a:rPr i="1" lang="en-US"/>
              <a:t>classes </a:t>
            </a:r>
            <a:r>
              <a:rPr lang="en-US"/>
              <a:t>or </a:t>
            </a:r>
            <a:r>
              <a:rPr i="1" lang="en-US"/>
              <a:t>types</a:t>
            </a:r>
            <a:r>
              <a:rPr lang="en-US"/>
              <a:t> of objects in our model</a:t>
            </a:r>
            <a:endParaRPr/>
          </a:p>
          <a:p>
            <a:pPr indent="-228600" lvl="2" marL="1143000" rtl="0" algn="l">
              <a:lnSpc>
                <a:spcPct val="90000"/>
              </a:lnSpc>
              <a:spcBef>
                <a:spcPts val="500"/>
              </a:spcBef>
              <a:spcAft>
                <a:spcPts val="0"/>
              </a:spcAft>
              <a:buClr>
                <a:schemeClr val="dk1"/>
              </a:buClr>
              <a:buSzPct val="100000"/>
              <a:buChar char="•"/>
            </a:pPr>
            <a:r>
              <a:rPr lang="en-US"/>
              <a:t>Ex: Person, Product</a:t>
            </a:r>
            <a:endParaRPr/>
          </a:p>
          <a:p>
            <a:pPr indent="-228600" lvl="2" marL="1143000" rtl="0" algn="l">
              <a:lnSpc>
                <a:spcPct val="90000"/>
              </a:lnSpc>
              <a:spcBef>
                <a:spcPts val="500"/>
              </a:spcBef>
              <a:spcAft>
                <a:spcPts val="0"/>
              </a:spcAft>
              <a:buClr>
                <a:schemeClr val="dk1"/>
              </a:buClr>
              <a:buSzPct val="100000"/>
              <a:buChar char="•"/>
            </a:pPr>
            <a:r>
              <a:rPr i="1" lang="en-US"/>
              <a:t>These are what is shown in E/R diagrams - as rectangles</a:t>
            </a:r>
            <a:endParaRPr/>
          </a:p>
          <a:p>
            <a:pPr indent="-228600" lvl="2" marL="1143000" rtl="0" algn="l">
              <a:lnSpc>
                <a:spcPct val="90000"/>
              </a:lnSpc>
              <a:spcBef>
                <a:spcPts val="500"/>
              </a:spcBef>
              <a:spcAft>
                <a:spcPts val="0"/>
              </a:spcAft>
              <a:buClr>
                <a:schemeClr val="dk1"/>
              </a:buClr>
              <a:buSzPct val="100000"/>
              <a:buChar char="•"/>
            </a:pPr>
            <a:r>
              <a:rPr i="1" lang="en-US"/>
              <a:t>Entity sets represent the sets of all possible entities</a:t>
            </a:r>
            <a:endParaRPr/>
          </a:p>
          <a:p>
            <a:pPr indent="-111125" lvl="2" marL="1143000" rtl="0" algn="l">
              <a:lnSpc>
                <a:spcPct val="90000"/>
              </a:lnSpc>
              <a:spcBef>
                <a:spcPts val="500"/>
              </a:spcBef>
              <a:spcAft>
                <a:spcPts val="0"/>
              </a:spcAft>
              <a:buClr>
                <a:schemeClr val="dk1"/>
              </a:buClr>
              <a:buSzPct val="100000"/>
              <a:buNone/>
            </a:pPr>
            <a:r>
              <a:t/>
            </a:r>
            <a:endParaRPr i="1"/>
          </a:p>
          <a:p>
            <a:pPr indent="-111125" lvl="2" marL="1143000" rtl="0" algn="l">
              <a:lnSpc>
                <a:spcPct val="90000"/>
              </a:lnSpc>
              <a:spcBef>
                <a:spcPts val="500"/>
              </a:spcBef>
              <a:spcAft>
                <a:spcPts val="0"/>
              </a:spcAft>
              <a:buClr>
                <a:schemeClr val="dk1"/>
              </a:buClr>
              <a:buSzPct val="100000"/>
              <a:buNone/>
            </a:pPr>
            <a:r>
              <a:t/>
            </a:r>
            <a:endParaRPr u="sng"/>
          </a:p>
        </p:txBody>
      </p:sp>
      <p:sp>
        <p:nvSpPr>
          <p:cNvPr id="194" name="Google Shape;194;p23"/>
          <p:cNvSpPr/>
          <p:nvPr/>
        </p:nvSpPr>
        <p:spPr>
          <a:xfrm>
            <a:off x="8494760" y="3712971"/>
            <a:ext cx="1219200"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195" name="Google Shape;195;p23"/>
          <p:cNvSpPr/>
          <p:nvPr/>
        </p:nvSpPr>
        <p:spPr>
          <a:xfrm>
            <a:off x="10277700" y="4194631"/>
            <a:ext cx="1219200"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a:t>
            </a:r>
            <a:endParaRPr/>
          </a:p>
        </p:txBody>
      </p:sp>
      <p:sp>
        <p:nvSpPr>
          <p:cNvPr id="196" name="Google Shape;196;p23"/>
          <p:cNvSpPr txBox="1"/>
          <p:nvPr/>
        </p:nvSpPr>
        <p:spPr>
          <a:xfrm>
            <a:off x="8494760" y="5116694"/>
            <a:ext cx="2694777" cy="369332"/>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These represent </a:t>
            </a:r>
            <a:r>
              <a:rPr b="1" lang="en-US" sz="1800" u="sng">
                <a:solidFill>
                  <a:schemeClr val="dk1"/>
                </a:solidFill>
                <a:latin typeface="Calibri"/>
                <a:ea typeface="Calibri"/>
                <a:cs typeface="Calibri"/>
                <a:sym typeface="Calibri"/>
              </a:rPr>
              <a:t>entity sets</a:t>
            </a:r>
            <a:endParaRPr/>
          </a:p>
        </p:txBody>
      </p:sp>
      <p:cxnSp>
        <p:nvCxnSpPr>
          <p:cNvPr id="197" name="Google Shape;197;p23"/>
          <p:cNvCxnSpPr/>
          <p:nvPr/>
        </p:nvCxnSpPr>
        <p:spPr>
          <a:xfrm flipH="1" rot="10800000">
            <a:off x="7704083" y="4403834"/>
            <a:ext cx="906517" cy="1082192"/>
          </a:xfrm>
          <a:prstGeom prst="straightConnector1">
            <a:avLst/>
          </a:prstGeom>
          <a:noFill/>
          <a:ln cap="flat" cmpd="sng" w="44450">
            <a:solidFill>
              <a:schemeClr val="accent2"/>
            </a:solidFill>
            <a:prstDash val="solid"/>
            <a:miter lim="800000"/>
            <a:headEnd len="sm" w="sm" type="none"/>
            <a:tailEnd len="med" w="med" type="triangle"/>
          </a:ln>
        </p:spPr>
      </p:cxnSp>
      <p:sp>
        <p:nvSpPr>
          <p:cNvPr id="198" name="Google Shape;198;p23"/>
          <p:cNvSpPr txBox="1"/>
          <p:nvPr/>
        </p:nvSpPr>
        <p:spPr>
          <a:xfrm>
            <a:off x="9713960" y="5486026"/>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Entities and Entity Sets</a:t>
            </a:r>
            <a:endParaRPr/>
          </a:p>
        </p:txBody>
      </p:sp>
      <p:sp>
        <p:nvSpPr>
          <p:cNvPr id="205" name="Google Shape;205;p24"/>
          <p:cNvSpPr txBox="1"/>
          <p:nvPr>
            <p:ph idx="1" type="body"/>
          </p:nvPr>
        </p:nvSpPr>
        <p:spPr>
          <a:xfrm>
            <a:off x="914400" y="1818214"/>
            <a:ext cx="6553200" cy="427778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An entity set has </a:t>
            </a:r>
            <a:r>
              <a:rPr b="1" lang="en-US"/>
              <a:t>attributes</a:t>
            </a:r>
            <a:endParaRPr/>
          </a:p>
          <a:p>
            <a:pPr indent="-228600" lvl="1" marL="685800" rtl="0" algn="l">
              <a:lnSpc>
                <a:spcPct val="90000"/>
              </a:lnSpc>
              <a:spcBef>
                <a:spcPts val="500"/>
              </a:spcBef>
              <a:spcAft>
                <a:spcPts val="0"/>
              </a:spcAft>
              <a:buClr>
                <a:schemeClr val="dk1"/>
              </a:buClr>
              <a:buSzPts val="2400"/>
              <a:buChar char="•"/>
            </a:pPr>
            <a:r>
              <a:rPr lang="en-US" u="sng"/>
              <a:t>Represented by ovals attached to an entity set</a:t>
            </a:r>
            <a:endParaRPr/>
          </a:p>
          <a:p>
            <a:pPr indent="0" lvl="0" marL="0" rtl="0" algn="l">
              <a:lnSpc>
                <a:spcPct val="90000"/>
              </a:lnSpc>
              <a:spcBef>
                <a:spcPts val="1000"/>
              </a:spcBef>
              <a:spcAft>
                <a:spcPts val="0"/>
              </a:spcAft>
              <a:buClr>
                <a:schemeClr val="dk1"/>
              </a:buClr>
              <a:buSzPts val="2800"/>
              <a:buNone/>
            </a:pPr>
            <a:r>
              <a:t/>
            </a:r>
            <a:endParaRPr/>
          </a:p>
        </p:txBody>
      </p:sp>
      <p:grpSp>
        <p:nvGrpSpPr>
          <p:cNvPr id="206" name="Google Shape;206;p24"/>
          <p:cNvGrpSpPr/>
          <p:nvPr/>
        </p:nvGrpSpPr>
        <p:grpSpPr>
          <a:xfrm>
            <a:off x="4038600" y="3649837"/>
            <a:ext cx="4114800" cy="1676400"/>
            <a:chOff x="2133600" y="4648200"/>
            <a:chExt cx="4114800" cy="1676400"/>
          </a:xfrm>
        </p:grpSpPr>
        <p:sp>
          <p:nvSpPr>
            <p:cNvPr id="207" name="Google Shape;207;p24"/>
            <p:cNvSpPr/>
            <p:nvPr/>
          </p:nvSpPr>
          <p:spPr>
            <a:xfrm>
              <a:off x="4343400" y="5791200"/>
              <a:ext cx="1219200"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208" name="Google Shape;208;p24"/>
            <p:cNvSpPr/>
            <p:nvPr/>
          </p:nvSpPr>
          <p:spPr>
            <a:xfrm>
              <a:off x="3200400" y="46482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u="sng">
                  <a:solidFill>
                    <a:srgbClr val="000000"/>
                  </a:solidFill>
                  <a:latin typeface="Calibri"/>
                  <a:ea typeface="Calibri"/>
                  <a:cs typeface="Calibri"/>
                  <a:sym typeface="Calibri"/>
                </a:rPr>
                <a:t>name</a:t>
              </a:r>
              <a:endParaRPr/>
            </a:p>
          </p:txBody>
        </p:sp>
        <p:sp>
          <p:nvSpPr>
            <p:cNvPr id="209" name="Google Shape;209;p24"/>
            <p:cNvSpPr/>
            <p:nvPr/>
          </p:nvSpPr>
          <p:spPr>
            <a:xfrm>
              <a:off x="4800600" y="47244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category</a:t>
              </a:r>
              <a:endParaRPr/>
            </a:p>
          </p:txBody>
        </p:sp>
        <p:sp>
          <p:nvSpPr>
            <p:cNvPr id="210" name="Google Shape;210;p24"/>
            <p:cNvSpPr/>
            <p:nvPr/>
          </p:nvSpPr>
          <p:spPr>
            <a:xfrm>
              <a:off x="2133600" y="52578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price</a:t>
              </a:r>
              <a:endParaRPr/>
            </a:p>
          </p:txBody>
        </p:sp>
        <p:cxnSp>
          <p:nvCxnSpPr>
            <p:cNvPr id="211" name="Google Shape;211;p24"/>
            <p:cNvCxnSpPr>
              <a:stCxn id="210" idx="5"/>
              <a:endCxn id="207" idx="1"/>
            </p:cNvCxnSpPr>
            <p:nvPr/>
          </p:nvCxnSpPr>
          <p:spPr>
            <a:xfrm>
              <a:off x="3369375" y="5843167"/>
              <a:ext cx="974100" cy="2148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212" name="Google Shape;212;p24"/>
            <p:cNvCxnSpPr>
              <a:stCxn id="208" idx="5"/>
              <a:endCxn id="207" idx="0"/>
            </p:cNvCxnSpPr>
            <p:nvPr/>
          </p:nvCxnSpPr>
          <p:spPr>
            <a:xfrm>
              <a:off x="4436175" y="5233567"/>
              <a:ext cx="516900" cy="5577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213" name="Google Shape;213;p24"/>
            <p:cNvCxnSpPr>
              <a:stCxn id="209" idx="4"/>
              <a:endCxn id="207" idx="0"/>
            </p:cNvCxnSpPr>
            <p:nvPr/>
          </p:nvCxnSpPr>
          <p:spPr>
            <a:xfrm flipH="1">
              <a:off x="4953000" y="5410200"/>
              <a:ext cx="571500" cy="381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214" name="Google Shape;214;p24"/>
          <p:cNvSpPr txBox="1"/>
          <p:nvPr/>
        </p:nvSpPr>
        <p:spPr>
          <a:xfrm>
            <a:off x="8641406" y="3041923"/>
            <a:ext cx="3048000" cy="830997"/>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Shapes </a:t>
            </a:r>
            <a:r>
              <a:rPr b="1" lang="en-US" sz="2400" u="sng">
                <a:solidFill>
                  <a:srgbClr val="000000"/>
                </a:solidFill>
                <a:latin typeface="Calibri"/>
                <a:ea typeface="Calibri"/>
                <a:cs typeface="Calibri"/>
                <a:sym typeface="Calibri"/>
              </a:rPr>
              <a:t>are</a:t>
            </a:r>
            <a:r>
              <a:rPr lang="en-US" sz="2400">
                <a:solidFill>
                  <a:srgbClr val="000000"/>
                </a:solidFill>
                <a:latin typeface="Calibri"/>
                <a:ea typeface="Calibri"/>
                <a:cs typeface="Calibri"/>
                <a:sym typeface="Calibri"/>
              </a:rPr>
              <a:t> important. Colors </a:t>
            </a:r>
            <a:r>
              <a:rPr b="1" lang="en-US" sz="2400" u="sng">
                <a:solidFill>
                  <a:srgbClr val="000000"/>
                </a:solidFill>
                <a:latin typeface="Calibri"/>
                <a:ea typeface="Calibri"/>
                <a:cs typeface="Calibri"/>
                <a:sym typeface="Calibri"/>
              </a:rPr>
              <a:t>are not</a:t>
            </a:r>
            <a:r>
              <a:rPr b="1" lang="en-US" sz="2400">
                <a:solidFill>
                  <a:srgbClr val="000000"/>
                </a:solidFill>
                <a:latin typeface="Calibri"/>
                <a:ea typeface="Calibri"/>
                <a:cs typeface="Calibri"/>
                <a:sym typeface="Calibri"/>
              </a:rPr>
              <a:t>.</a:t>
            </a:r>
            <a:endParaRPr/>
          </a:p>
        </p:txBody>
      </p:sp>
      <p:sp>
        <p:nvSpPr>
          <p:cNvPr id="215" name="Google Shape;215;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Entities vs. Entity Sets</a:t>
            </a:r>
            <a:endParaRPr/>
          </a:p>
        </p:txBody>
      </p:sp>
      <p:sp>
        <p:nvSpPr>
          <p:cNvPr id="221" name="Google Shape;221;p25"/>
          <p:cNvSpPr txBox="1"/>
          <p:nvPr>
            <p:ph idx="1" type="body"/>
          </p:nvPr>
        </p:nvSpPr>
        <p:spPr>
          <a:xfrm>
            <a:off x="914400" y="1818214"/>
            <a:ext cx="2286000" cy="61034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i="1" lang="en-US"/>
              <a:t>Example:</a:t>
            </a:r>
            <a:endParaRPr/>
          </a:p>
        </p:txBody>
      </p:sp>
      <p:grpSp>
        <p:nvGrpSpPr>
          <p:cNvPr id="222" name="Google Shape;222;p25"/>
          <p:cNvGrpSpPr/>
          <p:nvPr/>
        </p:nvGrpSpPr>
        <p:grpSpPr>
          <a:xfrm>
            <a:off x="7688019" y="2903322"/>
            <a:ext cx="4114800" cy="1676400"/>
            <a:chOff x="2133600" y="4648200"/>
            <a:chExt cx="4114800" cy="1676400"/>
          </a:xfrm>
        </p:grpSpPr>
        <p:sp>
          <p:nvSpPr>
            <p:cNvPr id="223" name="Google Shape;223;p25"/>
            <p:cNvSpPr/>
            <p:nvPr/>
          </p:nvSpPr>
          <p:spPr>
            <a:xfrm>
              <a:off x="4343400" y="5791200"/>
              <a:ext cx="1219200"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224" name="Google Shape;224;p25"/>
            <p:cNvSpPr/>
            <p:nvPr/>
          </p:nvSpPr>
          <p:spPr>
            <a:xfrm>
              <a:off x="3200400" y="46482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u="sng">
                  <a:solidFill>
                    <a:srgbClr val="000000"/>
                  </a:solidFill>
                  <a:latin typeface="Calibri"/>
                  <a:ea typeface="Calibri"/>
                  <a:cs typeface="Calibri"/>
                  <a:sym typeface="Calibri"/>
                </a:rPr>
                <a:t>name</a:t>
              </a:r>
              <a:endParaRPr/>
            </a:p>
          </p:txBody>
        </p:sp>
        <p:sp>
          <p:nvSpPr>
            <p:cNvPr id="225" name="Google Shape;225;p25"/>
            <p:cNvSpPr/>
            <p:nvPr/>
          </p:nvSpPr>
          <p:spPr>
            <a:xfrm>
              <a:off x="4800600" y="47244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category</a:t>
              </a:r>
              <a:endParaRPr/>
            </a:p>
          </p:txBody>
        </p:sp>
        <p:sp>
          <p:nvSpPr>
            <p:cNvPr id="226" name="Google Shape;226;p25"/>
            <p:cNvSpPr/>
            <p:nvPr/>
          </p:nvSpPr>
          <p:spPr>
            <a:xfrm>
              <a:off x="2133600" y="52578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price</a:t>
              </a:r>
              <a:endParaRPr/>
            </a:p>
          </p:txBody>
        </p:sp>
        <p:cxnSp>
          <p:nvCxnSpPr>
            <p:cNvPr id="227" name="Google Shape;227;p25"/>
            <p:cNvCxnSpPr>
              <a:stCxn id="226" idx="5"/>
              <a:endCxn id="223" idx="1"/>
            </p:cNvCxnSpPr>
            <p:nvPr/>
          </p:nvCxnSpPr>
          <p:spPr>
            <a:xfrm>
              <a:off x="3369375" y="5843167"/>
              <a:ext cx="974100" cy="2148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228" name="Google Shape;228;p25"/>
            <p:cNvCxnSpPr>
              <a:stCxn id="224" idx="5"/>
              <a:endCxn id="223" idx="0"/>
            </p:cNvCxnSpPr>
            <p:nvPr/>
          </p:nvCxnSpPr>
          <p:spPr>
            <a:xfrm>
              <a:off x="4436175" y="5233567"/>
              <a:ext cx="516900" cy="5577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229" name="Google Shape;229;p25"/>
            <p:cNvCxnSpPr>
              <a:stCxn id="225" idx="4"/>
              <a:endCxn id="223" idx="0"/>
            </p:cNvCxnSpPr>
            <p:nvPr/>
          </p:nvCxnSpPr>
          <p:spPr>
            <a:xfrm flipH="1">
              <a:off x="4953000" y="5410200"/>
              <a:ext cx="571500" cy="381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230" name="Google Shape;230;p25"/>
          <p:cNvSpPr/>
          <p:nvPr/>
        </p:nvSpPr>
        <p:spPr>
          <a:xfrm>
            <a:off x="1107450" y="3166579"/>
            <a:ext cx="4593021" cy="1784350"/>
          </a:xfrm>
          <a:prstGeom prst="ellipse">
            <a:avLst/>
          </a:prstGeom>
          <a:solidFill>
            <a:srgbClr val="FFF2CC">
              <a:alpha val="49803"/>
            </a:srgbClr>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 name="Google Shape;231;p25"/>
          <p:cNvSpPr txBox="1"/>
          <p:nvPr/>
        </p:nvSpPr>
        <p:spPr>
          <a:xfrm>
            <a:off x="6085821" y="5435064"/>
            <a:ext cx="13746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Entity Set</a:t>
            </a:r>
            <a:endParaRPr/>
          </a:p>
        </p:txBody>
      </p:sp>
      <p:sp>
        <p:nvSpPr>
          <p:cNvPr id="232" name="Google Shape;232;p25"/>
          <p:cNvSpPr txBox="1"/>
          <p:nvPr/>
        </p:nvSpPr>
        <p:spPr>
          <a:xfrm>
            <a:off x="2894782" y="4899635"/>
            <a:ext cx="101835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2"/>
                </a:solidFill>
                <a:latin typeface="Calibri"/>
                <a:ea typeface="Calibri"/>
                <a:cs typeface="Calibri"/>
                <a:sym typeface="Calibri"/>
              </a:rPr>
              <a:t>Product</a:t>
            </a:r>
            <a:endParaRPr/>
          </a:p>
        </p:txBody>
      </p:sp>
      <p:grpSp>
        <p:nvGrpSpPr>
          <p:cNvPr id="233" name="Google Shape;233;p25"/>
          <p:cNvGrpSpPr/>
          <p:nvPr/>
        </p:nvGrpSpPr>
        <p:grpSpPr>
          <a:xfrm>
            <a:off x="1564116" y="3367721"/>
            <a:ext cx="1957952" cy="1436409"/>
            <a:chOff x="5226068" y="5426834"/>
            <a:chExt cx="2792109" cy="2274137"/>
          </a:xfrm>
        </p:grpSpPr>
        <p:pic>
          <p:nvPicPr>
            <p:cNvPr id="234" name="Google Shape;234;p25"/>
            <p:cNvPicPr preferRelativeResize="0"/>
            <p:nvPr/>
          </p:nvPicPr>
          <p:blipFill rotWithShape="1">
            <a:blip r:embed="rId3">
              <a:alphaModFix/>
            </a:blip>
            <a:srcRect b="0" l="0" r="0" t="0"/>
            <a:stretch/>
          </p:blipFill>
          <p:spPr>
            <a:xfrm>
              <a:off x="6053512" y="5426834"/>
              <a:ext cx="1137221" cy="630020"/>
            </a:xfrm>
            <a:prstGeom prst="rect">
              <a:avLst/>
            </a:prstGeom>
            <a:noFill/>
            <a:ln>
              <a:noFill/>
            </a:ln>
          </p:spPr>
        </p:pic>
        <p:sp>
          <p:nvSpPr>
            <p:cNvPr id="235" name="Google Shape;235;p25"/>
            <p:cNvSpPr txBox="1"/>
            <p:nvPr/>
          </p:nvSpPr>
          <p:spPr>
            <a:xfrm>
              <a:off x="5226068" y="6190419"/>
              <a:ext cx="2792109" cy="15105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400">
                  <a:solidFill>
                    <a:schemeClr val="dk1"/>
                  </a:solidFill>
                  <a:latin typeface="Calibri"/>
                  <a:ea typeface="Calibri"/>
                  <a:cs typeface="Calibri"/>
                  <a:sym typeface="Calibri"/>
                </a:rPr>
                <a:t>Name</a:t>
              </a:r>
              <a:r>
                <a:rPr lang="en-US" sz="1400">
                  <a:solidFill>
                    <a:schemeClr val="dk1"/>
                  </a:solidFill>
                  <a:latin typeface="Calibri"/>
                  <a:ea typeface="Calibri"/>
                  <a:cs typeface="Calibri"/>
                  <a:sym typeface="Calibri"/>
                </a:rPr>
                <a:t>: Xbox</a:t>
              </a:r>
              <a:endParaRPr/>
            </a:p>
            <a:p>
              <a:pPr indent="0" lvl="0" marL="0" marR="0" rtl="0" algn="ctr">
                <a:spcBef>
                  <a:spcPts val="0"/>
                </a:spcBef>
                <a:spcAft>
                  <a:spcPts val="0"/>
                </a:spcAft>
                <a:buNone/>
              </a:pPr>
              <a:r>
                <a:rPr i="1" lang="en-US" sz="1400">
                  <a:solidFill>
                    <a:schemeClr val="dk1"/>
                  </a:solidFill>
                  <a:latin typeface="Calibri"/>
                  <a:ea typeface="Calibri"/>
                  <a:cs typeface="Calibri"/>
                  <a:sym typeface="Calibri"/>
                </a:rPr>
                <a:t>Category</a:t>
              </a:r>
              <a:r>
                <a:rPr lang="en-US" sz="1400">
                  <a:solidFill>
                    <a:schemeClr val="dk1"/>
                  </a:solidFill>
                  <a:latin typeface="Calibri"/>
                  <a:ea typeface="Calibri"/>
                  <a:cs typeface="Calibri"/>
                  <a:sym typeface="Calibri"/>
                </a:rPr>
                <a:t>: Total Multimedia System</a:t>
              </a:r>
              <a:endParaRPr/>
            </a:p>
            <a:p>
              <a:pPr indent="0" lvl="0" marL="0" marR="0" rtl="0" algn="ctr">
                <a:spcBef>
                  <a:spcPts val="0"/>
                </a:spcBef>
                <a:spcAft>
                  <a:spcPts val="0"/>
                </a:spcAft>
                <a:buNone/>
              </a:pPr>
              <a:r>
                <a:rPr i="1" lang="en-US" sz="1400">
                  <a:solidFill>
                    <a:schemeClr val="dk1"/>
                  </a:solidFill>
                  <a:latin typeface="Calibri"/>
                  <a:ea typeface="Calibri"/>
                  <a:cs typeface="Calibri"/>
                  <a:sym typeface="Calibri"/>
                </a:rPr>
                <a:t>Price</a:t>
              </a:r>
              <a:r>
                <a:rPr lang="en-US" sz="1400">
                  <a:solidFill>
                    <a:schemeClr val="dk1"/>
                  </a:solidFill>
                  <a:latin typeface="Calibri"/>
                  <a:ea typeface="Calibri"/>
                  <a:cs typeface="Calibri"/>
                  <a:sym typeface="Calibri"/>
                </a:rPr>
                <a:t>: $250</a:t>
              </a:r>
              <a:endParaRPr/>
            </a:p>
          </p:txBody>
        </p:sp>
      </p:grpSp>
      <p:grpSp>
        <p:nvGrpSpPr>
          <p:cNvPr id="236" name="Google Shape;236;p25"/>
          <p:cNvGrpSpPr/>
          <p:nvPr/>
        </p:nvGrpSpPr>
        <p:grpSpPr>
          <a:xfrm>
            <a:off x="3436607" y="3421121"/>
            <a:ext cx="2042483" cy="1354333"/>
            <a:chOff x="8112441" y="5382402"/>
            <a:chExt cx="2862527" cy="1898089"/>
          </a:xfrm>
        </p:grpSpPr>
        <p:pic>
          <p:nvPicPr>
            <p:cNvPr id="237" name="Google Shape;237;p25"/>
            <p:cNvPicPr preferRelativeResize="0"/>
            <p:nvPr/>
          </p:nvPicPr>
          <p:blipFill rotWithShape="1">
            <a:blip r:embed="rId4">
              <a:alphaModFix/>
            </a:blip>
            <a:srcRect b="0" l="0" r="0" t="0"/>
            <a:stretch/>
          </p:blipFill>
          <p:spPr>
            <a:xfrm>
              <a:off x="9052710" y="5382402"/>
              <a:ext cx="842907" cy="842909"/>
            </a:xfrm>
            <a:prstGeom prst="rect">
              <a:avLst/>
            </a:prstGeom>
            <a:noFill/>
            <a:ln>
              <a:noFill/>
            </a:ln>
          </p:spPr>
        </p:pic>
        <p:sp>
          <p:nvSpPr>
            <p:cNvPr id="238" name="Google Shape;238;p25"/>
            <p:cNvSpPr txBox="1"/>
            <p:nvPr/>
          </p:nvSpPr>
          <p:spPr>
            <a:xfrm>
              <a:off x="8112441" y="6245258"/>
              <a:ext cx="2862527" cy="103523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400">
                  <a:solidFill>
                    <a:schemeClr val="dk1"/>
                  </a:solidFill>
                  <a:latin typeface="Calibri"/>
                  <a:ea typeface="Calibri"/>
                  <a:cs typeface="Calibri"/>
                  <a:sym typeface="Calibri"/>
                </a:rPr>
                <a:t>Name</a:t>
              </a:r>
              <a:r>
                <a:rPr lang="en-US" sz="1400">
                  <a:solidFill>
                    <a:schemeClr val="dk1"/>
                  </a:solidFill>
                  <a:latin typeface="Calibri"/>
                  <a:ea typeface="Calibri"/>
                  <a:cs typeface="Calibri"/>
                  <a:sym typeface="Calibri"/>
                </a:rPr>
                <a:t>: My Little Pony Doll</a:t>
              </a:r>
              <a:endParaRPr/>
            </a:p>
            <a:p>
              <a:pPr indent="0" lvl="0" marL="0" marR="0" rtl="0" algn="ctr">
                <a:spcBef>
                  <a:spcPts val="0"/>
                </a:spcBef>
                <a:spcAft>
                  <a:spcPts val="0"/>
                </a:spcAft>
                <a:buNone/>
              </a:pPr>
              <a:r>
                <a:rPr i="1" lang="en-US" sz="1400">
                  <a:solidFill>
                    <a:schemeClr val="dk1"/>
                  </a:solidFill>
                  <a:latin typeface="Calibri"/>
                  <a:ea typeface="Calibri"/>
                  <a:cs typeface="Calibri"/>
                  <a:sym typeface="Calibri"/>
                </a:rPr>
                <a:t>Category</a:t>
              </a:r>
              <a:r>
                <a:rPr lang="en-US" sz="1400">
                  <a:solidFill>
                    <a:schemeClr val="dk1"/>
                  </a:solidFill>
                  <a:latin typeface="Calibri"/>
                  <a:ea typeface="Calibri"/>
                  <a:cs typeface="Calibri"/>
                  <a:sym typeface="Calibri"/>
                </a:rPr>
                <a:t>: Toy</a:t>
              </a:r>
              <a:endParaRPr/>
            </a:p>
            <a:p>
              <a:pPr indent="0" lvl="0" marL="0" marR="0" rtl="0" algn="ctr">
                <a:spcBef>
                  <a:spcPts val="0"/>
                </a:spcBef>
                <a:spcAft>
                  <a:spcPts val="0"/>
                </a:spcAft>
                <a:buNone/>
              </a:pPr>
              <a:r>
                <a:rPr i="1" lang="en-US" sz="1400">
                  <a:solidFill>
                    <a:schemeClr val="dk1"/>
                  </a:solidFill>
                  <a:latin typeface="Calibri"/>
                  <a:ea typeface="Calibri"/>
                  <a:cs typeface="Calibri"/>
                  <a:sym typeface="Calibri"/>
                </a:rPr>
                <a:t>Price</a:t>
              </a:r>
              <a:r>
                <a:rPr lang="en-US" sz="1400">
                  <a:solidFill>
                    <a:schemeClr val="dk1"/>
                  </a:solidFill>
                  <a:latin typeface="Calibri"/>
                  <a:ea typeface="Calibri"/>
                  <a:cs typeface="Calibri"/>
                  <a:sym typeface="Calibri"/>
                </a:rPr>
                <a:t>: $25</a:t>
              </a:r>
              <a:endParaRPr/>
            </a:p>
          </p:txBody>
        </p:sp>
      </p:grpSp>
      <p:sp>
        <p:nvSpPr>
          <p:cNvPr id="239" name="Google Shape;239;p25"/>
          <p:cNvSpPr txBox="1"/>
          <p:nvPr/>
        </p:nvSpPr>
        <p:spPr>
          <a:xfrm>
            <a:off x="6206248" y="2688923"/>
            <a:ext cx="89845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Entity</a:t>
            </a:r>
            <a:endParaRPr/>
          </a:p>
        </p:txBody>
      </p:sp>
      <p:cxnSp>
        <p:nvCxnSpPr>
          <p:cNvPr id="240" name="Google Shape;240;p25"/>
          <p:cNvCxnSpPr/>
          <p:nvPr/>
        </p:nvCxnSpPr>
        <p:spPr>
          <a:xfrm flipH="1">
            <a:off x="4801722" y="3048000"/>
            <a:ext cx="1446678" cy="637111"/>
          </a:xfrm>
          <a:prstGeom prst="straightConnector1">
            <a:avLst/>
          </a:prstGeom>
          <a:noFill/>
          <a:ln cap="flat" cmpd="sng" w="38100">
            <a:solidFill>
              <a:schemeClr val="accent2"/>
            </a:solidFill>
            <a:prstDash val="solid"/>
            <a:miter lim="800000"/>
            <a:headEnd len="sm" w="sm" type="none"/>
            <a:tailEnd len="med" w="med" type="triangle"/>
          </a:ln>
        </p:spPr>
      </p:cxnSp>
      <p:sp>
        <p:nvSpPr>
          <p:cNvPr id="241" name="Google Shape;241;p25"/>
          <p:cNvSpPr txBox="1"/>
          <p:nvPr/>
        </p:nvSpPr>
        <p:spPr>
          <a:xfrm>
            <a:off x="6085821" y="3871879"/>
            <a:ext cx="177393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Entity Attribute</a:t>
            </a:r>
            <a:endParaRPr/>
          </a:p>
        </p:txBody>
      </p:sp>
      <p:cxnSp>
        <p:nvCxnSpPr>
          <p:cNvPr id="242" name="Google Shape;242;p25"/>
          <p:cNvCxnSpPr/>
          <p:nvPr/>
        </p:nvCxnSpPr>
        <p:spPr>
          <a:xfrm flipH="1">
            <a:off x="5021782" y="4314266"/>
            <a:ext cx="1137074" cy="91856"/>
          </a:xfrm>
          <a:prstGeom prst="straightConnector1">
            <a:avLst/>
          </a:prstGeom>
          <a:noFill/>
          <a:ln cap="flat" cmpd="sng" w="38100">
            <a:solidFill>
              <a:schemeClr val="accent2"/>
            </a:solidFill>
            <a:prstDash val="solid"/>
            <a:miter lim="800000"/>
            <a:headEnd len="sm" w="sm" type="none"/>
            <a:tailEnd len="med" w="med" type="triangle"/>
          </a:ln>
        </p:spPr>
      </p:cxnSp>
      <p:cxnSp>
        <p:nvCxnSpPr>
          <p:cNvPr id="243" name="Google Shape;243;p25"/>
          <p:cNvCxnSpPr/>
          <p:nvPr/>
        </p:nvCxnSpPr>
        <p:spPr>
          <a:xfrm flipH="1" rot="10800000">
            <a:off x="7066774" y="4007520"/>
            <a:ext cx="551286" cy="279857"/>
          </a:xfrm>
          <a:prstGeom prst="straightConnector1">
            <a:avLst/>
          </a:prstGeom>
          <a:noFill/>
          <a:ln cap="flat" cmpd="sng" w="38100">
            <a:solidFill>
              <a:schemeClr val="accent2"/>
            </a:solidFill>
            <a:prstDash val="solid"/>
            <a:miter lim="800000"/>
            <a:headEnd len="sm" w="sm" type="none"/>
            <a:tailEnd len="med" w="med" type="triangle"/>
          </a:ln>
        </p:spPr>
      </p:cxnSp>
      <p:cxnSp>
        <p:nvCxnSpPr>
          <p:cNvPr id="244" name="Google Shape;244;p25"/>
          <p:cNvCxnSpPr/>
          <p:nvPr/>
        </p:nvCxnSpPr>
        <p:spPr>
          <a:xfrm rot="10800000">
            <a:off x="3886200" y="5181600"/>
            <a:ext cx="2203588" cy="451154"/>
          </a:xfrm>
          <a:prstGeom prst="straightConnector1">
            <a:avLst/>
          </a:prstGeom>
          <a:noFill/>
          <a:ln cap="flat" cmpd="sng" w="38100">
            <a:solidFill>
              <a:schemeClr val="accent2"/>
            </a:solidFill>
            <a:prstDash val="solid"/>
            <a:miter lim="800000"/>
            <a:headEnd len="sm" w="sm" type="none"/>
            <a:tailEnd len="med" w="med" type="triangle"/>
          </a:ln>
        </p:spPr>
      </p:cxnSp>
      <p:cxnSp>
        <p:nvCxnSpPr>
          <p:cNvPr id="245" name="Google Shape;245;p25"/>
          <p:cNvCxnSpPr>
            <a:stCxn id="231" idx="3"/>
          </p:cNvCxnSpPr>
          <p:nvPr/>
        </p:nvCxnSpPr>
        <p:spPr>
          <a:xfrm flipH="1" rot="10800000">
            <a:off x="7460428" y="4473997"/>
            <a:ext cx="2342400" cy="1191900"/>
          </a:xfrm>
          <a:prstGeom prst="straightConnector1">
            <a:avLst/>
          </a:prstGeom>
          <a:noFill/>
          <a:ln cap="flat" cmpd="sng" w="38100">
            <a:solidFill>
              <a:schemeClr val="accent2"/>
            </a:solidFill>
            <a:prstDash val="solid"/>
            <a:miter lim="800000"/>
            <a:headEnd len="sm" w="sm" type="none"/>
            <a:tailEnd len="med" w="med" type="triangle"/>
          </a:ln>
        </p:spPr>
      </p:cxnSp>
      <p:sp>
        <p:nvSpPr>
          <p:cNvPr id="246" name="Google Shape;246;p25"/>
          <p:cNvSpPr txBox="1"/>
          <p:nvPr/>
        </p:nvSpPr>
        <p:spPr>
          <a:xfrm>
            <a:off x="7349682" y="1665206"/>
            <a:ext cx="3820305" cy="830997"/>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Entities are </a:t>
            </a:r>
            <a:r>
              <a:rPr b="1" lang="en-US" sz="2400" u="sng">
                <a:solidFill>
                  <a:schemeClr val="dk1"/>
                </a:solidFill>
                <a:latin typeface="Calibri"/>
                <a:ea typeface="Calibri"/>
                <a:cs typeface="Calibri"/>
                <a:sym typeface="Calibri"/>
              </a:rPr>
              <a:t>not</a:t>
            </a:r>
            <a:r>
              <a:rPr lang="en-US" sz="2400">
                <a:solidFill>
                  <a:schemeClr val="dk1"/>
                </a:solidFill>
                <a:latin typeface="Calibri"/>
                <a:ea typeface="Calibri"/>
                <a:cs typeface="Calibri"/>
                <a:sym typeface="Calibri"/>
              </a:rPr>
              <a:t> explicitly represented in E/R diagrams!</a:t>
            </a:r>
            <a:endParaRPr/>
          </a:p>
        </p:txBody>
      </p:sp>
      <p:sp>
        <p:nvSpPr>
          <p:cNvPr id="247" name="Google Shape;24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par>
                                <p:cTn fill="hold" nodeType="with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Keys</a:t>
            </a:r>
            <a:endParaRPr/>
          </a:p>
        </p:txBody>
      </p:sp>
      <p:sp>
        <p:nvSpPr>
          <p:cNvPr id="254" name="Google Shape;254;p26"/>
          <p:cNvSpPr txBox="1"/>
          <p:nvPr>
            <p:ph idx="1" type="body"/>
          </p:nvPr>
        </p:nvSpPr>
        <p:spPr>
          <a:xfrm>
            <a:off x="838200" y="1793054"/>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a:t>
            </a:r>
            <a:r>
              <a:rPr i="1" lang="en-US" u="sng"/>
              <a:t>key</a:t>
            </a:r>
            <a:r>
              <a:rPr lang="en-US"/>
              <a:t> is a </a:t>
            </a:r>
            <a:r>
              <a:rPr b="1" lang="en-US"/>
              <a:t>minimal </a:t>
            </a:r>
            <a:r>
              <a:rPr lang="en-US"/>
              <a:t>set of attributes that uniquely identifies an entity.</a:t>
            </a:r>
            <a:endParaRPr/>
          </a:p>
        </p:txBody>
      </p:sp>
      <p:grpSp>
        <p:nvGrpSpPr>
          <p:cNvPr id="255" name="Google Shape;255;p26"/>
          <p:cNvGrpSpPr/>
          <p:nvPr/>
        </p:nvGrpSpPr>
        <p:grpSpPr>
          <a:xfrm>
            <a:off x="2111829" y="3735771"/>
            <a:ext cx="4114800" cy="1676400"/>
            <a:chOff x="2111829" y="3735771"/>
            <a:chExt cx="4114800" cy="1676400"/>
          </a:xfrm>
        </p:grpSpPr>
        <p:sp>
          <p:nvSpPr>
            <p:cNvPr id="256" name="Google Shape;256;p26"/>
            <p:cNvSpPr/>
            <p:nvPr/>
          </p:nvSpPr>
          <p:spPr>
            <a:xfrm>
              <a:off x="4321629" y="4878771"/>
              <a:ext cx="1219200"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257" name="Google Shape;257;p26"/>
            <p:cNvSpPr/>
            <p:nvPr/>
          </p:nvSpPr>
          <p:spPr>
            <a:xfrm>
              <a:off x="3178629" y="3735771"/>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u="sng">
                  <a:solidFill>
                    <a:srgbClr val="000000"/>
                  </a:solidFill>
                  <a:latin typeface="Calibri"/>
                  <a:ea typeface="Calibri"/>
                  <a:cs typeface="Calibri"/>
                  <a:sym typeface="Calibri"/>
                </a:rPr>
                <a:t>name</a:t>
              </a:r>
              <a:endParaRPr/>
            </a:p>
          </p:txBody>
        </p:sp>
        <p:sp>
          <p:nvSpPr>
            <p:cNvPr id="258" name="Google Shape;258;p26"/>
            <p:cNvSpPr/>
            <p:nvPr/>
          </p:nvSpPr>
          <p:spPr>
            <a:xfrm>
              <a:off x="4778829" y="3811971"/>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category</a:t>
              </a:r>
              <a:endParaRPr/>
            </a:p>
          </p:txBody>
        </p:sp>
        <p:sp>
          <p:nvSpPr>
            <p:cNvPr id="259" name="Google Shape;259;p26"/>
            <p:cNvSpPr/>
            <p:nvPr/>
          </p:nvSpPr>
          <p:spPr>
            <a:xfrm>
              <a:off x="2111829" y="4345371"/>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price</a:t>
              </a:r>
              <a:endParaRPr/>
            </a:p>
          </p:txBody>
        </p:sp>
        <p:cxnSp>
          <p:nvCxnSpPr>
            <p:cNvPr id="260" name="Google Shape;260;p26"/>
            <p:cNvCxnSpPr>
              <a:stCxn id="259" idx="5"/>
              <a:endCxn id="256" idx="1"/>
            </p:cNvCxnSpPr>
            <p:nvPr/>
          </p:nvCxnSpPr>
          <p:spPr>
            <a:xfrm>
              <a:off x="3347604" y="4930738"/>
              <a:ext cx="974100" cy="2148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261" name="Google Shape;261;p26"/>
            <p:cNvCxnSpPr>
              <a:stCxn id="257" idx="5"/>
              <a:endCxn id="256" idx="0"/>
            </p:cNvCxnSpPr>
            <p:nvPr/>
          </p:nvCxnSpPr>
          <p:spPr>
            <a:xfrm>
              <a:off x="4414404" y="4321138"/>
              <a:ext cx="516900" cy="5577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262" name="Google Shape;262;p26"/>
            <p:cNvCxnSpPr>
              <a:stCxn id="258" idx="4"/>
              <a:endCxn id="256" idx="0"/>
            </p:cNvCxnSpPr>
            <p:nvPr/>
          </p:nvCxnSpPr>
          <p:spPr>
            <a:xfrm flipH="1">
              <a:off x="4931229" y="4497771"/>
              <a:ext cx="571500" cy="381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263" name="Google Shape;263;p26"/>
          <p:cNvSpPr txBox="1"/>
          <p:nvPr/>
        </p:nvSpPr>
        <p:spPr>
          <a:xfrm>
            <a:off x="587829" y="2872662"/>
            <a:ext cx="2971800" cy="707886"/>
          </a:xfrm>
          <a:prstGeom prst="rect">
            <a:avLst/>
          </a:prstGeom>
          <a:solidFill>
            <a:srgbClr val="DDEAF6"/>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Calibri"/>
                <a:ea typeface="Calibri"/>
                <a:cs typeface="Calibri"/>
                <a:sym typeface="Calibri"/>
              </a:rPr>
              <a:t>Denote elements of the primary key by </a:t>
            </a:r>
            <a:r>
              <a:rPr lang="en-US" sz="2000" u="sng">
                <a:solidFill>
                  <a:srgbClr val="000000"/>
                </a:solidFill>
                <a:latin typeface="Calibri"/>
                <a:ea typeface="Calibri"/>
                <a:cs typeface="Calibri"/>
                <a:sym typeface="Calibri"/>
              </a:rPr>
              <a:t>underlining</a:t>
            </a:r>
            <a:r>
              <a:rPr lang="en-US" sz="2000">
                <a:solidFill>
                  <a:srgbClr val="000000"/>
                </a:solidFill>
                <a:latin typeface="Calibri"/>
                <a:ea typeface="Calibri"/>
                <a:cs typeface="Calibri"/>
                <a:sym typeface="Calibri"/>
              </a:rPr>
              <a:t>.</a:t>
            </a:r>
            <a:endParaRPr/>
          </a:p>
        </p:txBody>
      </p:sp>
      <p:sp>
        <p:nvSpPr>
          <p:cNvPr id="264" name="Google Shape;264;p26"/>
          <p:cNvSpPr txBox="1"/>
          <p:nvPr/>
        </p:nvSpPr>
        <p:spPr>
          <a:xfrm>
            <a:off x="6841426" y="2842159"/>
            <a:ext cx="4876799"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Here, {name, category} is </a:t>
            </a:r>
            <a:r>
              <a:rPr b="1" lang="en-US" sz="2400" u="sng">
                <a:solidFill>
                  <a:srgbClr val="000000"/>
                </a:solidFill>
                <a:latin typeface="Calibri"/>
                <a:ea typeface="Calibri"/>
                <a:cs typeface="Calibri"/>
                <a:sym typeface="Calibri"/>
              </a:rPr>
              <a:t>not</a:t>
            </a:r>
            <a:r>
              <a:rPr lang="en-US" sz="2400">
                <a:solidFill>
                  <a:srgbClr val="000000"/>
                </a:solidFill>
                <a:latin typeface="Calibri"/>
                <a:ea typeface="Calibri"/>
                <a:cs typeface="Calibri"/>
                <a:sym typeface="Calibri"/>
              </a:rPr>
              <a:t> a key (it is not </a:t>
            </a:r>
            <a:r>
              <a:rPr i="1" lang="en-US" sz="2400">
                <a:solidFill>
                  <a:srgbClr val="000000"/>
                </a:solidFill>
                <a:latin typeface="Calibri"/>
                <a:ea typeface="Calibri"/>
                <a:cs typeface="Calibri"/>
                <a:sym typeface="Calibri"/>
              </a:rPr>
              <a:t>minimal</a:t>
            </a:r>
            <a:r>
              <a:rPr lang="en-US" sz="2400">
                <a:solidFill>
                  <a:srgbClr val="000000"/>
                </a:solidFill>
                <a:latin typeface="Calibri"/>
                <a:ea typeface="Calibri"/>
                <a:cs typeface="Calibri"/>
                <a:sym typeface="Calibri"/>
              </a:rPr>
              <a:t>). </a:t>
            </a:r>
            <a:endParaRPr/>
          </a:p>
          <a:p>
            <a:pPr indent="0" lvl="0" marL="0" marR="0" rtl="0" algn="l">
              <a:spcBef>
                <a:spcPts val="0"/>
              </a:spcBef>
              <a:spcAft>
                <a:spcPts val="0"/>
              </a:spcAft>
              <a:buNone/>
            </a:pPr>
            <a:r>
              <a:t/>
            </a:r>
            <a:endParaRPr i="1" sz="2400">
              <a:solidFill>
                <a:srgbClr val="000000"/>
              </a:solidFill>
              <a:latin typeface="Calibri"/>
              <a:ea typeface="Calibri"/>
              <a:cs typeface="Calibri"/>
              <a:sym typeface="Calibri"/>
            </a:endParaRPr>
          </a:p>
          <a:p>
            <a:pPr indent="0" lvl="0" marL="0" marR="0" rtl="0" algn="l">
              <a:spcBef>
                <a:spcPts val="0"/>
              </a:spcBef>
              <a:spcAft>
                <a:spcPts val="0"/>
              </a:spcAft>
              <a:buNone/>
            </a:pPr>
            <a:r>
              <a:rPr i="1" lang="en-US" sz="2400">
                <a:solidFill>
                  <a:srgbClr val="000000"/>
                </a:solidFill>
                <a:latin typeface="Calibri"/>
                <a:ea typeface="Calibri"/>
                <a:cs typeface="Calibri"/>
                <a:sym typeface="Calibri"/>
              </a:rPr>
              <a:t>If it were, what would it mean?</a:t>
            </a:r>
            <a:endParaRPr/>
          </a:p>
        </p:txBody>
      </p:sp>
      <p:sp>
        <p:nvSpPr>
          <p:cNvPr id="265" name="Google Shape;265;p26"/>
          <p:cNvSpPr txBox="1"/>
          <p:nvPr/>
        </p:nvSpPr>
        <p:spPr>
          <a:xfrm>
            <a:off x="1481673" y="5721207"/>
            <a:ext cx="9228653" cy="830997"/>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The E/R model forces us to designate a single </a:t>
            </a:r>
            <a:r>
              <a:rPr b="1" lang="en-US" sz="2400" u="sng">
                <a:solidFill>
                  <a:schemeClr val="dk1"/>
                </a:solidFill>
                <a:latin typeface="Calibri"/>
                <a:ea typeface="Calibri"/>
                <a:cs typeface="Calibri"/>
                <a:sym typeface="Calibri"/>
              </a:rPr>
              <a:t>primary</a:t>
            </a:r>
            <a:r>
              <a:rPr b="1" lang="en-US" sz="2400">
                <a:solidFill>
                  <a:schemeClr val="dk1"/>
                </a:solidFill>
                <a:latin typeface="Calibri"/>
                <a:ea typeface="Calibri"/>
                <a:cs typeface="Calibri"/>
                <a:sym typeface="Calibri"/>
              </a:rPr>
              <a:t> </a:t>
            </a:r>
            <a:r>
              <a:rPr lang="en-US" sz="2400">
                <a:solidFill>
                  <a:schemeClr val="dk1"/>
                </a:solidFill>
                <a:latin typeface="Calibri"/>
                <a:ea typeface="Calibri"/>
                <a:cs typeface="Calibri"/>
                <a:sym typeface="Calibri"/>
              </a:rPr>
              <a:t>key, though there may be multiple candidate keys</a:t>
            </a:r>
            <a:endParaRPr/>
          </a:p>
        </p:txBody>
      </p:sp>
      <p:sp>
        <p:nvSpPr>
          <p:cNvPr id="266" name="Google Shape;26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7"/>
          <p:cNvSpPr txBox="1"/>
          <p:nvPr>
            <p:ph type="title"/>
          </p:nvPr>
        </p:nvSpPr>
        <p:spPr>
          <a:xfrm>
            <a:off x="801858" y="613230"/>
            <a:ext cx="8342142" cy="69378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chemeClr val="dk1"/>
              </a:buClr>
              <a:buSzPts val="4400"/>
              <a:buFont typeface="Calibri"/>
              <a:buNone/>
            </a:pPr>
            <a:r>
              <a:rPr lang="en-US"/>
              <a:t>Multivalued and Derived Attributes</a:t>
            </a:r>
            <a:endParaRPr/>
          </a:p>
        </p:txBody>
      </p:sp>
      <p:pic>
        <p:nvPicPr>
          <p:cNvPr id="273" name="Google Shape;273;p27"/>
          <p:cNvPicPr preferRelativeResize="0"/>
          <p:nvPr/>
        </p:nvPicPr>
        <p:blipFill rotWithShape="1">
          <a:blip r:embed="rId3">
            <a:alphaModFix/>
          </a:blip>
          <a:srcRect b="0" l="0" r="0" t="0"/>
          <a:stretch/>
        </p:blipFill>
        <p:spPr>
          <a:xfrm>
            <a:off x="6595534" y="3005666"/>
            <a:ext cx="3420533" cy="1270000"/>
          </a:xfrm>
          <a:prstGeom prst="rect">
            <a:avLst/>
          </a:prstGeom>
          <a:noFill/>
          <a:ln>
            <a:noFill/>
          </a:ln>
        </p:spPr>
      </p:pic>
      <p:pic>
        <p:nvPicPr>
          <p:cNvPr id="274" name="Google Shape;274;p27"/>
          <p:cNvPicPr preferRelativeResize="0"/>
          <p:nvPr/>
        </p:nvPicPr>
        <p:blipFill rotWithShape="1">
          <a:blip r:embed="rId4">
            <a:alphaModFix/>
          </a:blip>
          <a:srcRect b="0" l="0" r="0" t="0"/>
          <a:stretch/>
        </p:blipFill>
        <p:spPr>
          <a:xfrm>
            <a:off x="2108201" y="2929467"/>
            <a:ext cx="3733799" cy="1380067"/>
          </a:xfrm>
          <a:prstGeom prst="rect">
            <a:avLst/>
          </a:prstGeom>
          <a:noFill/>
          <a:ln>
            <a:noFill/>
          </a:ln>
        </p:spPr>
      </p:pic>
      <p:grpSp>
        <p:nvGrpSpPr>
          <p:cNvPr id="275" name="Google Shape;275;p27"/>
          <p:cNvGrpSpPr/>
          <p:nvPr/>
        </p:nvGrpSpPr>
        <p:grpSpPr>
          <a:xfrm>
            <a:off x="2904067" y="4842933"/>
            <a:ext cx="2362200" cy="567266"/>
            <a:chOff x="1380067" y="4842933"/>
            <a:chExt cx="2362200" cy="567266"/>
          </a:xfrm>
        </p:grpSpPr>
        <p:pic>
          <p:nvPicPr>
            <p:cNvPr id="276" name="Google Shape;276;p27"/>
            <p:cNvPicPr preferRelativeResize="0"/>
            <p:nvPr/>
          </p:nvPicPr>
          <p:blipFill rotWithShape="1">
            <a:blip r:embed="rId5">
              <a:alphaModFix/>
            </a:blip>
            <a:srcRect b="0" l="0" r="0" t="0"/>
            <a:stretch/>
          </p:blipFill>
          <p:spPr>
            <a:xfrm>
              <a:off x="1413932" y="4859866"/>
              <a:ext cx="2294467" cy="474133"/>
            </a:xfrm>
            <a:prstGeom prst="rect">
              <a:avLst/>
            </a:prstGeom>
            <a:noFill/>
            <a:ln>
              <a:noFill/>
            </a:ln>
          </p:spPr>
        </p:pic>
        <p:pic>
          <p:nvPicPr>
            <p:cNvPr id="277" name="Google Shape;277;p27"/>
            <p:cNvPicPr preferRelativeResize="0"/>
            <p:nvPr/>
          </p:nvPicPr>
          <p:blipFill rotWithShape="1">
            <a:blip r:embed="rId6">
              <a:alphaModFix/>
            </a:blip>
            <a:srcRect b="0" l="0" r="0" t="0"/>
            <a:stretch/>
          </p:blipFill>
          <p:spPr>
            <a:xfrm>
              <a:off x="1380067" y="4842933"/>
              <a:ext cx="2362200" cy="567266"/>
            </a:xfrm>
            <a:prstGeom prst="rect">
              <a:avLst/>
            </a:prstGeom>
            <a:noFill/>
            <a:ln>
              <a:noFill/>
            </a:ln>
          </p:spPr>
        </p:pic>
        <p:pic>
          <p:nvPicPr>
            <p:cNvPr id="278" name="Google Shape;278;p27"/>
            <p:cNvPicPr preferRelativeResize="0"/>
            <p:nvPr/>
          </p:nvPicPr>
          <p:blipFill rotWithShape="1">
            <a:blip r:embed="rId7">
              <a:alphaModFix/>
            </a:blip>
            <a:srcRect b="0" l="0" r="0" t="0"/>
            <a:stretch/>
          </p:blipFill>
          <p:spPr>
            <a:xfrm>
              <a:off x="1466490" y="4882551"/>
              <a:ext cx="2191109" cy="379561"/>
            </a:xfrm>
            <a:prstGeom prst="rect">
              <a:avLst/>
            </a:prstGeom>
            <a:noFill/>
            <a:ln>
              <a:noFill/>
            </a:ln>
          </p:spPr>
        </p:pic>
      </p:grpSp>
      <p:sp>
        <p:nvSpPr>
          <p:cNvPr id="279" name="Google Shape;279;p27"/>
          <p:cNvSpPr txBox="1"/>
          <p:nvPr/>
        </p:nvSpPr>
        <p:spPr>
          <a:xfrm>
            <a:off x="2990491" y="4882551"/>
            <a:ext cx="2191385" cy="313547"/>
          </a:xfrm>
          <a:prstGeom prst="rect">
            <a:avLst/>
          </a:prstGeom>
          <a:noFill/>
          <a:ln cap="flat" cmpd="sng" w="9525">
            <a:solidFill>
              <a:srgbClr val="4A7EBB"/>
            </a:solidFill>
            <a:prstDash val="solid"/>
            <a:round/>
            <a:headEnd len="sm" w="sm" type="none"/>
            <a:tailEnd len="sm" w="sm" type="none"/>
          </a:ln>
        </p:spPr>
        <p:txBody>
          <a:bodyPr anchorCtr="0" anchor="t" bIns="0" lIns="0" spcFirstLastPara="1" rIns="0" wrap="square" tIns="36175">
            <a:spAutoFit/>
          </a:bodyPr>
          <a:lstStyle/>
          <a:p>
            <a:pPr indent="0" lvl="0" marL="93980" marR="0" rtl="0" algn="l">
              <a:spcBef>
                <a:spcPts val="0"/>
              </a:spcBef>
              <a:spcAft>
                <a:spcPts val="0"/>
              </a:spcAft>
              <a:buNone/>
            </a:pPr>
            <a:r>
              <a:rPr lang="en-US" sz="1800">
                <a:solidFill>
                  <a:srgbClr val="FFFFFF"/>
                </a:solidFill>
                <a:latin typeface="Calibri"/>
                <a:ea typeface="Calibri"/>
                <a:cs typeface="Calibri"/>
                <a:sym typeface="Calibri"/>
              </a:rPr>
              <a:t>Multivalued Attribute</a:t>
            </a:r>
            <a:endParaRPr sz="1800">
              <a:solidFill>
                <a:schemeClr val="dk1"/>
              </a:solidFill>
              <a:latin typeface="Calibri"/>
              <a:ea typeface="Calibri"/>
              <a:cs typeface="Calibri"/>
              <a:sym typeface="Calibri"/>
            </a:endParaRPr>
          </a:p>
        </p:txBody>
      </p:sp>
      <p:grpSp>
        <p:nvGrpSpPr>
          <p:cNvPr id="280" name="Google Shape;280;p27"/>
          <p:cNvGrpSpPr/>
          <p:nvPr/>
        </p:nvGrpSpPr>
        <p:grpSpPr>
          <a:xfrm>
            <a:off x="7128933" y="4961466"/>
            <a:ext cx="2286000" cy="558800"/>
            <a:chOff x="5604933" y="4961466"/>
            <a:chExt cx="2286000" cy="558800"/>
          </a:xfrm>
        </p:grpSpPr>
        <p:pic>
          <p:nvPicPr>
            <p:cNvPr id="281" name="Google Shape;281;p27"/>
            <p:cNvPicPr preferRelativeResize="0"/>
            <p:nvPr/>
          </p:nvPicPr>
          <p:blipFill rotWithShape="1">
            <a:blip r:embed="rId8">
              <a:alphaModFix/>
            </a:blip>
            <a:srcRect b="0" l="0" r="0" t="0"/>
            <a:stretch/>
          </p:blipFill>
          <p:spPr>
            <a:xfrm>
              <a:off x="5604933" y="4969933"/>
              <a:ext cx="2286000" cy="474133"/>
            </a:xfrm>
            <a:prstGeom prst="rect">
              <a:avLst/>
            </a:prstGeom>
            <a:noFill/>
            <a:ln>
              <a:noFill/>
            </a:ln>
          </p:spPr>
        </p:pic>
        <p:pic>
          <p:nvPicPr>
            <p:cNvPr id="282" name="Google Shape;282;p27"/>
            <p:cNvPicPr preferRelativeResize="0"/>
            <p:nvPr/>
          </p:nvPicPr>
          <p:blipFill rotWithShape="1">
            <a:blip r:embed="rId9">
              <a:alphaModFix/>
            </a:blip>
            <a:srcRect b="0" l="0" r="0" t="0"/>
            <a:stretch/>
          </p:blipFill>
          <p:spPr>
            <a:xfrm>
              <a:off x="5757333" y="4961466"/>
              <a:ext cx="1972732" cy="558800"/>
            </a:xfrm>
            <a:prstGeom prst="rect">
              <a:avLst/>
            </a:prstGeom>
            <a:noFill/>
            <a:ln>
              <a:noFill/>
            </a:ln>
          </p:spPr>
        </p:pic>
        <p:pic>
          <p:nvPicPr>
            <p:cNvPr id="283" name="Google Shape;283;p27"/>
            <p:cNvPicPr preferRelativeResize="0"/>
            <p:nvPr/>
          </p:nvPicPr>
          <p:blipFill rotWithShape="1">
            <a:blip r:embed="rId10">
              <a:alphaModFix/>
            </a:blip>
            <a:srcRect b="0" l="0" r="0" t="0"/>
            <a:stretch/>
          </p:blipFill>
          <p:spPr>
            <a:xfrm>
              <a:off x="5650584" y="4994945"/>
              <a:ext cx="2191109" cy="379561"/>
            </a:xfrm>
            <a:prstGeom prst="rect">
              <a:avLst/>
            </a:prstGeom>
            <a:noFill/>
            <a:ln>
              <a:noFill/>
            </a:ln>
          </p:spPr>
        </p:pic>
      </p:grpSp>
      <p:sp>
        <p:nvSpPr>
          <p:cNvPr id="284" name="Google Shape;284;p27"/>
          <p:cNvSpPr txBox="1"/>
          <p:nvPr/>
        </p:nvSpPr>
        <p:spPr>
          <a:xfrm>
            <a:off x="7174585" y="4994945"/>
            <a:ext cx="2191385" cy="311624"/>
          </a:xfrm>
          <a:prstGeom prst="rect">
            <a:avLst/>
          </a:prstGeom>
          <a:noFill/>
          <a:ln cap="flat" cmpd="sng" w="9525">
            <a:solidFill>
              <a:srgbClr val="4A7EBB"/>
            </a:solidFill>
            <a:prstDash val="solid"/>
            <a:round/>
            <a:headEnd len="sm" w="sm" type="none"/>
            <a:tailEnd len="sm" w="sm" type="none"/>
          </a:ln>
        </p:spPr>
        <p:txBody>
          <a:bodyPr anchorCtr="0" anchor="t" bIns="0" lIns="0" spcFirstLastPara="1" rIns="0" wrap="square" tIns="34275">
            <a:spAutoFit/>
          </a:bodyPr>
          <a:lstStyle/>
          <a:p>
            <a:pPr indent="0" lvl="0" marL="289560" marR="0" rtl="0" algn="l">
              <a:spcBef>
                <a:spcPts val="0"/>
              </a:spcBef>
              <a:spcAft>
                <a:spcPts val="0"/>
              </a:spcAft>
              <a:buNone/>
            </a:pPr>
            <a:r>
              <a:rPr lang="en-US" sz="1800">
                <a:solidFill>
                  <a:srgbClr val="FFFFFF"/>
                </a:solidFill>
                <a:latin typeface="Calibri"/>
                <a:ea typeface="Calibri"/>
                <a:cs typeface="Calibri"/>
                <a:sym typeface="Calibri"/>
              </a:rPr>
              <a:t>Derived Attribute</a:t>
            </a:r>
            <a:endParaRPr sz="1800">
              <a:solidFill>
                <a:schemeClr val="dk1"/>
              </a:solidFill>
              <a:latin typeface="Calibri"/>
              <a:ea typeface="Calibri"/>
              <a:cs typeface="Calibri"/>
              <a:sym typeface="Calibri"/>
            </a:endParaRPr>
          </a:p>
        </p:txBody>
      </p:sp>
      <p:sp>
        <p:nvSpPr>
          <p:cNvPr id="285" name="Google Shape;285;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R in E/R: </a:t>
            </a:r>
            <a:r>
              <a:rPr b="1" lang="en-US"/>
              <a:t>Relationships</a:t>
            </a:r>
            <a:endParaRPr/>
          </a:p>
        </p:txBody>
      </p:sp>
      <p:sp>
        <p:nvSpPr>
          <p:cNvPr id="291" name="Google Shape;291;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a:t>
            </a:r>
            <a:r>
              <a:rPr b="1" lang="en-US"/>
              <a:t>relationship</a:t>
            </a:r>
            <a:r>
              <a:rPr lang="en-US"/>
              <a:t> is between two entities</a:t>
            </a:r>
            <a:endParaRPr/>
          </a:p>
        </p:txBody>
      </p:sp>
      <p:grpSp>
        <p:nvGrpSpPr>
          <p:cNvPr id="292" name="Google Shape;292;p28"/>
          <p:cNvGrpSpPr/>
          <p:nvPr/>
        </p:nvGrpSpPr>
        <p:grpSpPr>
          <a:xfrm>
            <a:off x="1824318" y="3048000"/>
            <a:ext cx="4114800" cy="1676400"/>
            <a:chOff x="1824318" y="3048000"/>
            <a:chExt cx="4114800" cy="1676400"/>
          </a:xfrm>
        </p:grpSpPr>
        <p:sp>
          <p:nvSpPr>
            <p:cNvPr id="293" name="Google Shape;293;p28"/>
            <p:cNvSpPr/>
            <p:nvPr/>
          </p:nvSpPr>
          <p:spPr>
            <a:xfrm>
              <a:off x="4034118" y="4191000"/>
              <a:ext cx="1219200"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294" name="Google Shape;294;p28"/>
            <p:cNvSpPr/>
            <p:nvPr/>
          </p:nvSpPr>
          <p:spPr>
            <a:xfrm>
              <a:off x="2891118" y="30480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u="sng">
                  <a:solidFill>
                    <a:srgbClr val="000000"/>
                  </a:solidFill>
                  <a:latin typeface="Calibri"/>
                  <a:ea typeface="Calibri"/>
                  <a:cs typeface="Calibri"/>
                  <a:sym typeface="Calibri"/>
                </a:rPr>
                <a:t>name</a:t>
              </a:r>
              <a:endParaRPr/>
            </a:p>
          </p:txBody>
        </p:sp>
        <p:sp>
          <p:nvSpPr>
            <p:cNvPr id="295" name="Google Shape;295;p28"/>
            <p:cNvSpPr/>
            <p:nvPr/>
          </p:nvSpPr>
          <p:spPr>
            <a:xfrm>
              <a:off x="4491318" y="31242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category</a:t>
              </a:r>
              <a:endParaRPr/>
            </a:p>
          </p:txBody>
        </p:sp>
        <p:sp>
          <p:nvSpPr>
            <p:cNvPr id="296" name="Google Shape;296;p28"/>
            <p:cNvSpPr/>
            <p:nvPr/>
          </p:nvSpPr>
          <p:spPr>
            <a:xfrm>
              <a:off x="1824318" y="36576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price</a:t>
              </a:r>
              <a:endParaRPr/>
            </a:p>
          </p:txBody>
        </p:sp>
        <p:cxnSp>
          <p:nvCxnSpPr>
            <p:cNvPr id="297" name="Google Shape;297;p28"/>
            <p:cNvCxnSpPr>
              <a:stCxn id="296" idx="5"/>
              <a:endCxn id="293" idx="1"/>
            </p:cNvCxnSpPr>
            <p:nvPr/>
          </p:nvCxnSpPr>
          <p:spPr>
            <a:xfrm>
              <a:off x="3060093" y="4242967"/>
              <a:ext cx="974100" cy="2148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298" name="Google Shape;298;p28"/>
            <p:cNvCxnSpPr>
              <a:stCxn id="294" idx="5"/>
              <a:endCxn id="293" idx="0"/>
            </p:cNvCxnSpPr>
            <p:nvPr/>
          </p:nvCxnSpPr>
          <p:spPr>
            <a:xfrm>
              <a:off x="4126893" y="3633367"/>
              <a:ext cx="516900" cy="5577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299" name="Google Shape;299;p28"/>
            <p:cNvCxnSpPr>
              <a:stCxn id="295" idx="4"/>
              <a:endCxn id="293" idx="0"/>
            </p:cNvCxnSpPr>
            <p:nvPr/>
          </p:nvCxnSpPr>
          <p:spPr>
            <a:xfrm flipH="1">
              <a:off x="4643718" y="3810000"/>
              <a:ext cx="571500" cy="381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grpSp>
        <p:nvGrpSpPr>
          <p:cNvPr id="300" name="Google Shape;300;p28"/>
          <p:cNvGrpSpPr/>
          <p:nvPr/>
        </p:nvGrpSpPr>
        <p:grpSpPr>
          <a:xfrm>
            <a:off x="8377518" y="2947566"/>
            <a:ext cx="1828800" cy="1809706"/>
            <a:chOff x="8377518" y="2947566"/>
            <a:chExt cx="1828800" cy="1809706"/>
          </a:xfrm>
        </p:grpSpPr>
        <p:sp>
          <p:nvSpPr>
            <p:cNvPr id="301" name="Google Shape;301;p28"/>
            <p:cNvSpPr/>
            <p:nvPr/>
          </p:nvSpPr>
          <p:spPr>
            <a:xfrm>
              <a:off x="8377518" y="4191000"/>
              <a:ext cx="1642188" cy="566272"/>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Company</a:t>
              </a:r>
              <a:endParaRPr/>
            </a:p>
          </p:txBody>
        </p:sp>
        <p:sp>
          <p:nvSpPr>
            <p:cNvPr id="302" name="Google Shape;302;p28"/>
            <p:cNvSpPr/>
            <p:nvPr/>
          </p:nvSpPr>
          <p:spPr>
            <a:xfrm>
              <a:off x="8758518" y="2947566"/>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u="sng">
                  <a:solidFill>
                    <a:srgbClr val="000000"/>
                  </a:solidFill>
                  <a:latin typeface="Calibri"/>
                  <a:ea typeface="Calibri"/>
                  <a:cs typeface="Calibri"/>
                  <a:sym typeface="Calibri"/>
                </a:rPr>
                <a:t>name</a:t>
              </a:r>
              <a:endParaRPr/>
            </a:p>
          </p:txBody>
        </p:sp>
        <p:cxnSp>
          <p:nvCxnSpPr>
            <p:cNvPr id="303" name="Google Shape;303;p28"/>
            <p:cNvCxnSpPr>
              <a:stCxn id="302" idx="4"/>
              <a:endCxn id="301" idx="0"/>
            </p:cNvCxnSpPr>
            <p:nvPr/>
          </p:nvCxnSpPr>
          <p:spPr>
            <a:xfrm flipH="1">
              <a:off x="9198618" y="3633366"/>
              <a:ext cx="283800" cy="5577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grpSp>
        <p:nvGrpSpPr>
          <p:cNvPr id="304" name="Google Shape;304;p28"/>
          <p:cNvGrpSpPr/>
          <p:nvPr/>
        </p:nvGrpSpPr>
        <p:grpSpPr>
          <a:xfrm>
            <a:off x="5253318" y="4114800"/>
            <a:ext cx="3124200" cy="685800"/>
            <a:chOff x="5253318" y="4114800"/>
            <a:chExt cx="3124200" cy="685800"/>
          </a:xfrm>
        </p:grpSpPr>
        <p:sp>
          <p:nvSpPr>
            <p:cNvPr id="305" name="Google Shape;305;p28"/>
            <p:cNvSpPr/>
            <p:nvPr/>
          </p:nvSpPr>
          <p:spPr>
            <a:xfrm>
              <a:off x="5939118" y="4114800"/>
              <a:ext cx="1828800" cy="6858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Makes</a:t>
              </a:r>
              <a:endParaRPr/>
            </a:p>
          </p:txBody>
        </p:sp>
        <p:cxnSp>
          <p:nvCxnSpPr>
            <p:cNvPr id="306" name="Google Shape;306;p28"/>
            <p:cNvCxnSpPr>
              <a:stCxn id="293" idx="3"/>
              <a:endCxn id="305" idx="1"/>
            </p:cNvCxnSpPr>
            <p:nvPr/>
          </p:nvCxnSpPr>
          <p:spPr>
            <a:xfrm>
              <a:off x="5253318" y="4457700"/>
              <a:ext cx="685800" cy="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307" name="Google Shape;307;p28"/>
            <p:cNvCxnSpPr>
              <a:stCxn id="305" idx="3"/>
              <a:endCxn id="301" idx="1"/>
            </p:cNvCxnSpPr>
            <p:nvPr/>
          </p:nvCxnSpPr>
          <p:spPr>
            <a:xfrm>
              <a:off x="7767918" y="4457700"/>
              <a:ext cx="609600" cy="16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308" name="Google Shape;308;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a Relationship?</a:t>
            </a:r>
            <a:endParaRPr/>
          </a:p>
        </p:txBody>
      </p:sp>
      <p:sp>
        <p:nvSpPr>
          <p:cNvPr id="315" name="Google Shape;315;p29"/>
          <p:cNvSpPr txBox="1"/>
          <p:nvPr>
            <p:ph idx="1" type="body"/>
          </p:nvPr>
        </p:nvSpPr>
        <p:spPr>
          <a:xfrm>
            <a:off x="838200" y="1905000"/>
            <a:ext cx="8763000" cy="4114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i="1" lang="en-US"/>
              <a:t>A mathematical definition:</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Let A, B be sets</a:t>
            </a:r>
            <a:endParaRPr/>
          </a:p>
          <a:p>
            <a:pPr indent="-228600" lvl="2" marL="1143000" rtl="0" algn="l">
              <a:lnSpc>
                <a:spcPct val="90000"/>
              </a:lnSpc>
              <a:spcBef>
                <a:spcPts val="500"/>
              </a:spcBef>
              <a:spcAft>
                <a:spcPts val="0"/>
              </a:spcAft>
              <a:buClr>
                <a:schemeClr val="dk1"/>
              </a:buClr>
              <a:buSzPts val="2000"/>
              <a:buChar char="•"/>
            </a:pPr>
            <a:r>
              <a:rPr i="1" lang="en-US"/>
              <a:t>A={1,2,3},   B={a,b,c,d}</a:t>
            </a:r>
            <a:endParaRPr/>
          </a:p>
          <a:p>
            <a:pPr indent="-101600" lvl="2" marL="1143000" rtl="0" algn="l">
              <a:lnSpc>
                <a:spcPct val="90000"/>
              </a:lnSpc>
              <a:spcBef>
                <a:spcPts val="500"/>
              </a:spcBef>
              <a:spcAft>
                <a:spcPts val="0"/>
              </a:spcAft>
              <a:buClr>
                <a:schemeClr val="dk1"/>
              </a:buClr>
              <a:buSzPts val="2000"/>
              <a:buNone/>
            </a:pPr>
            <a:r>
              <a:t/>
            </a:r>
            <a:endParaRPr/>
          </a:p>
        </p:txBody>
      </p:sp>
      <p:grpSp>
        <p:nvGrpSpPr>
          <p:cNvPr id="316" name="Google Shape;316;p29"/>
          <p:cNvGrpSpPr/>
          <p:nvPr/>
        </p:nvGrpSpPr>
        <p:grpSpPr>
          <a:xfrm>
            <a:off x="7895319" y="2364468"/>
            <a:ext cx="3136900" cy="2514600"/>
            <a:chOff x="7895319" y="2364468"/>
            <a:chExt cx="3136900" cy="2514600"/>
          </a:xfrm>
        </p:grpSpPr>
        <p:grpSp>
          <p:nvGrpSpPr>
            <p:cNvPr id="317" name="Google Shape;317;p29"/>
            <p:cNvGrpSpPr/>
            <p:nvPr/>
          </p:nvGrpSpPr>
          <p:grpSpPr>
            <a:xfrm>
              <a:off x="7895319" y="2558143"/>
              <a:ext cx="3136900" cy="2320925"/>
              <a:chOff x="1144" y="2858"/>
              <a:chExt cx="1976" cy="1462"/>
            </a:xfrm>
          </p:grpSpPr>
          <p:sp>
            <p:nvSpPr>
              <p:cNvPr id="318" name="Google Shape;318;p29"/>
              <p:cNvSpPr txBox="1"/>
              <p:nvPr/>
            </p:nvSpPr>
            <p:spPr>
              <a:xfrm>
                <a:off x="1670" y="2858"/>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1</a:t>
                </a:r>
                <a:endParaRPr/>
              </a:p>
            </p:txBody>
          </p:sp>
          <p:sp>
            <p:nvSpPr>
              <p:cNvPr id="319" name="Google Shape;319;p29"/>
              <p:cNvSpPr txBox="1"/>
              <p:nvPr/>
            </p:nvSpPr>
            <p:spPr>
              <a:xfrm>
                <a:off x="1670" y="3277"/>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2</a:t>
                </a:r>
                <a:endParaRPr/>
              </a:p>
            </p:txBody>
          </p:sp>
          <p:sp>
            <p:nvSpPr>
              <p:cNvPr id="320" name="Google Shape;320;p29"/>
              <p:cNvSpPr txBox="1"/>
              <p:nvPr/>
            </p:nvSpPr>
            <p:spPr>
              <a:xfrm>
                <a:off x="1670" y="3696"/>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3</a:t>
                </a:r>
                <a:endParaRPr/>
              </a:p>
            </p:txBody>
          </p:sp>
          <p:sp>
            <p:nvSpPr>
              <p:cNvPr id="321" name="Google Shape;321;p29"/>
              <p:cNvSpPr txBox="1"/>
              <p:nvPr/>
            </p:nvSpPr>
            <p:spPr>
              <a:xfrm>
                <a:off x="2726" y="2858"/>
                <a:ext cx="20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a</a:t>
                </a:r>
                <a:endParaRPr/>
              </a:p>
            </p:txBody>
          </p:sp>
          <p:sp>
            <p:nvSpPr>
              <p:cNvPr id="322" name="Google Shape;322;p29"/>
              <p:cNvSpPr txBox="1"/>
              <p:nvPr/>
            </p:nvSpPr>
            <p:spPr>
              <a:xfrm>
                <a:off x="2726" y="3226"/>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b</a:t>
                </a:r>
                <a:endParaRPr/>
              </a:p>
            </p:txBody>
          </p:sp>
          <p:sp>
            <p:nvSpPr>
              <p:cNvPr id="323" name="Google Shape;323;p29"/>
              <p:cNvSpPr txBox="1"/>
              <p:nvPr/>
            </p:nvSpPr>
            <p:spPr>
              <a:xfrm>
                <a:off x="2726" y="3594"/>
                <a:ext cx="20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c</a:t>
                </a:r>
                <a:endParaRPr/>
              </a:p>
            </p:txBody>
          </p:sp>
          <p:sp>
            <p:nvSpPr>
              <p:cNvPr id="324" name="Google Shape;324;p29"/>
              <p:cNvSpPr txBox="1"/>
              <p:nvPr/>
            </p:nvSpPr>
            <p:spPr>
              <a:xfrm>
                <a:off x="2726" y="3962"/>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d</a:t>
                </a:r>
                <a:endParaRPr/>
              </a:p>
            </p:txBody>
          </p:sp>
          <p:sp>
            <p:nvSpPr>
              <p:cNvPr id="325" name="Google Shape;325;p29"/>
              <p:cNvSpPr/>
              <p:nvPr/>
            </p:nvSpPr>
            <p:spPr>
              <a:xfrm>
                <a:off x="1488" y="2880"/>
                <a:ext cx="576" cy="115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p:txBody>
          </p:sp>
          <p:sp>
            <p:nvSpPr>
              <p:cNvPr id="326" name="Google Shape;326;p29"/>
              <p:cNvSpPr/>
              <p:nvPr/>
            </p:nvSpPr>
            <p:spPr>
              <a:xfrm>
                <a:off x="2544" y="2880"/>
                <a:ext cx="576" cy="144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p:txBody>
          </p:sp>
          <p:sp>
            <p:nvSpPr>
              <p:cNvPr id="327" name="Google Shape;327;p29"/>
              <p:cNvSpPr txBox="1"/>
              <p:nvPr/>
            </p:nvSpPr>
            <p:spPr>
              <a:xfrm>
                <a:off x="1144" y="2858"/>
                <a:ext cx="36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A=</a:t>
                </a:r>
                <a:endParaRPr/>
              </a:p>
            </p:txBody>
          </p:sp>
        </p:grpSp>
        <p:sp>
          <p:nvSpPr>
            <p:cNvPr id="328" name="Google Shape;328;p29"/>
            <p:cNvSpPr txBox="1"/>
            <p:nvPr/>
          </p:nvSpPr>
          <p:spPr>
            <a:xfrm>
              <a:off x="9725707" y="2364468"/>
              <a:ext cx="558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B=</a:t>
              </a:r>
              <a:endParaRPr/>
            </a:p>
          </p:txBody>
        </p:sp>
      </p:grpSp>
      <p:sp>
        <p:nvSpPr>
          <p:cNvPr id="329" name="Google Shape;32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a Relationship?</a:t>
            </a:r>
            <a:endParaRPr/>
          </a:p>
        </p:txBody>
      </p:sp>
      <p:sp>
        <p:nvSpPr>
          <p:cNvPr id="336" name="Google Shape;336;p30"/>
          <p:cNvSpPr txBox="1"/>
          <p:nvPr>
            <p:ph idx="1" type="body"/>
          </p:nvPr>
        </p:nvSpPr>
        <p:spPr>
          <a:xfrm>
            <a:off x="838200" y="1905000"/>
            <a:ext cx="6945994" cy="4114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i="1" lang="en-US"/>
              <a:t>A mathematical definition:</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Let A, B be sets</a:t>
            </a:r>
            <a:endParaRPr/>
          </a:p>
          <a:p>
            <a:pPr indent="-228600" lvl="2" marL="1143000" rtl="0" algn="l">
              <a:lnSpc>
                <a:spcPct val="90000"/>
              </a:lnSpc>
              <a:spcBef>
                <a:spcPts val="500"/>
              </a:spcBef>
              <a:spcAft>
                <a:spcPts val="0"/>
              </a:spcAft>
              <a:buClr>
                <a:schemeClr val="dk1"/>
              </a:buClr>
              <a:buSzPts val="2000"/>
              <a:buChar char="•"/>
            </a:pPr>
            <a:r>
              <a:rPr i="1" lang="en-US"/>
              <a:t>A={1,2,3},   B={a,b,c,d}</a:t>
            </a:r>
            <a:endParaRPr/>
          </a:p>
          <a:p>
            <a:pPr indent="0" lvl="1" marL="4572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A x B (the </a:t>
            </a:r>
            <a:r>
              <a:rPr b="1" i="1" lang="en-US"/>
              <a:t>cross-product</a:t>
            </a:r>
            <a:r>
              <a:rPr lang="en-US"/>
              <a:t>) is the set of all pairs (a,b)</a:t>
            </a:r>
            <a:endParaRPr/>
          </a:p>
          <a:p>
            <a:pPr indent="-228600" lvl="2" marL="1143000" rtl="0" algn="l">
              <a:lnSpc>
                <a:spcPct val="90000"/>
              </a:lnSpc>
              <a:spcBef>
                <a:spcPts val="500"/>
              </a:spcBef>
              <a:spcAft>
                <a:spcPts val="0"/>
              </a:spcAft>
              <a:buClr>
                <a:schemeClr val="dk1"/>
              </a:buClr>
              <a:buSzPts val="2000"/>
              <a:buChar char="•"/>
            </a:pPr>
            <a:r>
              <a:rPr i="1" lang="en-US"/>
              <a:t>A × B = {(1,a), (1,b), (1,c), (1,d), (2,a), (2,b), (2,c), (2,d), (3,a), (3,b), (3,c), (3,d)}</a:t>
            </a:r>
            <a:endParaRPr/>
          </a:p>
          <a:p>
            <a:pPr indent="-101600" lvl="2" marL="1143000" rtl="0" algn="l">
              <a:lnSpc>
                <a:spcPct val="90000"/>
              </a:lnSpc>
              <a:spcBef>
                <a:spcPts val="500"/>
              </a:spcBef>
              <a:spcAft>
                <a:spcPts val="0"/>
              </a:spcAft>
              <a:buClr>
                <a:schemeClr val="dk1"/>
              </a:buClr>
              <a:buSzPts val="2000"/>
              <a:buNone/>
            </a:pPr>
            <a:r>
              <a:t/>
            </a:r>
            <a:endParaRPr i="1"/>
          </a:p>
        </p:txBody>
      </p:sp>
      <p:grpSp>
        <p:nvGrpSpPr>
          <p:cNvPr id="337" name="Google Shape;337;p30"/>
          <p:cNvGrpSpPr/>
          <p:nvPr/>
        </p:nvGrpSpPr>
        <p:grpSpPr>
          <a:xfrm>
            <a:off x="7895319" y="2364468"/>
            <a:ext cx="3136900" cy="2514600"/>
            <a:chOff x="1144" y="2736"/>
            <a:chExt cx="1976" cy="1584"/>
          </a:xfrm>
        </p:grpSpPr>
        <p:sp>
          <p:nvSpPr>
            <p:cNvPr id="338" name="Google Shape;338;p30"/>
            <p:cNvSpPr txBox="1"/>
            <p:nvPr/>
          </p:nvSpPr>
          <p:spPr>
            <a:xfrm>
              <a:off x="1670" y="2858"/>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1</a:t>
              </a:r>
              <a:endParaRPr/>
            </a:p>
          </p:txBody>
        </p:sp>
        <p:sp>
          <p:nvSpPr>
            <p:cNvPr id="339" name="Google Shape;339;p30"/>
            <p:cNvSpPr txBox="1"/>
            <p:nvPr/>
          </p:nvSpPr>
          <p:spPr>
            <a:xfrm>
              <a:off x="1670" y="3277"/>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2</a:t>
              </a:r>
              <a:endParaRPr/>
            </a:p>
          </p:txBody>
        </p:sp>
        <p:sp>
          <p:nvSpPr>
            <p:cNvPr id="340" name="Google Shape;340;p30"/>
            <p:cNvSpPr txBox="1"/>
            <p:nvPr/>
          </p:nvSpPr>
          <p:spPr>
            <a:xfrm>
              <a:off x="1670" y="3696"/>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3</a:t>
              </a:r>
              <a:endParaRPr/>
            </a:p>
          </p:txBody>
        </p:sp>
        <p:sp>
          <p:nvSpPr>
            <p:cNvPr id="341" name="Google Shape;341;p30"/>
            <p:cNvSpPr txBox="1"/>
            <p:nvPr/>
          </p:nvSpPr>
          <p:spPr>
            <a:xfrm>
              <a:off x="2726" y="2858"/>
              <a:ext cx="20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a</a:t>
              </a:r>
              <a:endParaRPr/>
            </a:p>
          </p:txBody>
        </p:sp>
        <p:sp>
          <p:nvSpPr>
            <p:cNvPr id="342" name="Google Shape;342;p30"/>
            <p:cNvSpPr txBox="1"/>
            <p:nvPr/>
          </p:nvSpPr>
          <p:spPr>
            <a:xfrm>
              <a:off x="2726" y="3226"/>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b</a:t>
              </a:r>
              <a:endParaRPr/>
            </a:p>
          </p:txBody>
        </p:sp>
        <p:sp>
          <p:nvSpPr>
            <p:cNvPr id="343" name="Google Shape;343;p30"/>
            <p:cNvSpPr txBox="1"/>
            <p:nvPr/>
          </p:nvSpPr>
          <p:spPr>
            <a:xfrm>
              <a:off x="2726" y="3594"/>
              <a:ext cx="20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c</a:t>
              </a:r>
              <a:endParaRPr/>
            </a:p>
          </p:txBody>
        </p:sp>
        <p:sp>
          <p:nvSpPr>
            <p:cNvPr id="344" name="Google Shape;344;p30"/>
            <p:cNvSpPr txBox="1"/>
            <p:nvPr/>
          </p:nvSpPr>
          <p:spPr>
            <a:xfrm>
              <a:off x="2726" y="3962"/>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d</a:t>
              </a:r>
              <a:endParaRPr/>
            </a:p>
          </p:txBody>
        </p:sp>
        <p:sp>
          <p:nvSpPr>
            <p:cNvPr id="345" name="Google Shape;345;p30"/>
            <p:cNvSpPr/>
            <p:nvPr/>
          </p:nvSpPr>
          <p:spPr>
            <a:xfrm>
              <a:off x="1488" y="2880"/>
              <a:ext cx="576" cy="115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p:txBody>
        </p:sp>
        <p:sp>
          <p:nvSpPr>
            <p:cNvPr id="346" name="Google Shape;346;p30"/>
            <p:cNvSpPr/>
            <p:nvPr/>
          </p:nvSpPr>
          <p:spPr>
            <a:xfrm>
              <a:off x="2544" y="2880"/>
              <a:ext cx="576" cy="144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p:txBody>
        </p:sp>
        <p:sp>
          <p:nvSpPr>
            <p:cNvPr id="347" name="Google Shape;347;p30"/>
            <p:cNvSpPr txBox="1"/>
            <p:nvPr/>
          </p:nvSpPr>
          <p:spPr>
            <a:xfrm>
              <a:off x="1144" y="2858"/>
              <a:ext cx="36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A=</a:t>
              </a:r>
              <a:endParaRPr/>
            </a:p>
          </p:txBody>
        </p:sp>
        <p:sp>
          <p:nvSpPr>
            <p:cNvPr id="348" name="Google Shape;348;p30"/>
            <p:cNvSpPr txBox="1"/>
            <p:nvPr/>
          </p:nvSpPr>
          <p:spPr>
            <a:xfrm>
              <a:off x="2297" y="2736"/>
              <a:ext cx="35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B=</a:t>
              </a:r>
              <a:endParaRPr/>
            </a:p>
          </p:txBody>
        </p:sp>
      </p:grpSp>
      <p:cxnSp>
        <p:nvCxnSpPr>
          <p:cNvPr id="349" name="Google Shape;349;p30"/>
          <p:cNvCxnSpPr>
            <a:stCxn id="338" idx="3"/>
            <a:endCxn id="341" idx="1"/>
          </p:cNvCxnSpPr>
          <p:nvPr/>
        </p:nvCxnSpPr>
        <p:spPr>
          <a:xfrm>
            <a:off x="9066894" y="2786743"/>
            <a:ext cx="1339800" cy="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350" name="Google Shape;350;p30"/>
          <p:cNvCxnSpPr>
            <a:stCxn id="338" idx="3"/>
            <a:endCxn id="342" idx="1"/>
          </p:cNvCxnSpPr>
          <p:nvPr/>
        </p:nvCxnSpPr>
        <p:spPr>
          <a:xfrm>
            <a:off x="9066894" y="2786743"/>
            <a:ext cx="1339800" cy="5841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351" name="Google Shape;351;p30"/>
          <p:cNvCxnSpPr>
            <a:stCxn id="338" idx="3"/>
            <a:endCxn id="343" idx="1"/>
          </p:cNvCxnSpPr>
          <p:nvPr/>
        </p:nvCxnSpPr>
        <p:spPr>
          <a:xfrm>
            <a:off x="9066894" y="2786743"/>
            <a:ext cx="1339800" cy="1168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352" name="Google Shape;352;p30"/>
          <p:cNvCxnSpPr>
            <a:stCxn id="338" idx="3"/>
            <a:endCxn id="344" idx="1"/>
          </p:cNvCxnSpPr>
          <p:nvPr/>
        </p:nvCxnSpPr>
        <p:spPr>
          <a:xfrm>
            <a:off x="9066894" y="2786743"/>
            <a:ext cx="1339800" cy="17526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353" name="Google Shape;353;p30"/>
          <p:cNvCxnSpPr>
            <a:stCxn id="339" idx="3"/>
            <a:endCxn id="341" idx="1"/>
          </p:cNvCxnSpPr>
          <p:nvPr/>
        </p:nvCxnSpPr>
        <p:spPr>
          <a:xfrm flipH="1" rot="10800000">
            <a:off x="9066894" y="2786806"/>
            <a:ext cx="1339800" cy="6651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354" name="Google Shape;354;p30"/>
          <p:cNvCxnSpPr>
            <a:stCxn id="339" idx="3"/>
            <a:endCxn id="342" idx="1"/>
          </p:cNvCxnSpPr>
          <p:nvPr/>
        </p:nvCxnSpPr>
        <p:spPr>
          <a:xfrm flipH="1" rot="10800000">
            <a:off x="9066894" y="3370906"/>
            <a:ext cx="1339800" cy="81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355" name="Google Shape;355;p30"/>
          <p:cNvCxnSpPr>
            <a:stCxn id="339" idx="3"/>
            <a:endCxn id="343" idx="1"/>
          </p:cNvCxnSpPr>
          <p:nvPr/>
        </p:nvCxnSpPr>
        <p:spPr>
          <a:xfrm>
            <a:off x="9066894" y="3451906"/>
            <a:ext cx="1339800" cy="5031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356" name="Google Shape;356;p30"/>
          <p:cNvCxnSpPr>
            <a:stCxn id="340" idx="3"/>
            <a:endCxn id="341" idx="1"/>
          </p:cNvCxnSpPr>
          <p:nvPr/>
        </p:nvCxnSpPr>
        <p:spPr>
          <a:xfrm flipH="1" rot="10800000">
            <a:off x="9066894" y="2786868"/>
            <a:ext cx="1339800" cy="13302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357" name="Google Shape;357;p30"/>
          <p:cNvCxnSpPr>
            <a:stCxn id="339" idx="3"/>
            <a:endCxn id="344" idx="1"/>
          </p:cNvCxnSpPr>
          <p:nvPr/>
        </p:nvCxnSpPr>
        <p:spPr>
          <a:xfrm>
            <a:off x="9066894" y="3451906"/>
            <a:ext cx="1339800" cy="1087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358" name="Google Shape;358;p30"/>
          <p:cNvCxnSpPr>
            <a:stCxn id="340" idx="3"/>
            <a:endCxn id="342" idx="1"/>
          </p:cNvCxnSpPr>
          <p:nvPr/>
        </p:nvCxnSpPr>
        <p:spPr>
          <a:xfrm flipH="1" rot="10800000">
            <a:off x="9066894" y="3370968"/>
            <a:ext cx="1339800" cy="7461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359" name="Google Shape;359;p30"/>
          <p:cNvCxnSpPr>
            <a:stCxn id="340" idx="3"/>
            <a:endCxn id="343" idx="1"/>
          </p:cNvCxnSpPr>
          <p:nvPr/>
        </p:nvCxnSpPr>
        <p:spPr>
          <a:xfrm flipH="1" rot="10800000">
            <a:off x="9066894" y="3955068"/>
            <a:ext cx="1339800" cy="162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360" name="Google Shape;360;p30"/>
          <p:cNvCxnSpPr>
            <a:stCxn id="340" idx="3"/>
            <a:endCxn id="344" idx="1"/>
          </p:cNvCxnSpPr>
          <p:nvPr/>
        </p:nvCxnSpPr>
        <p:spPr>
          <a:xfrm>
            <a:off x="9066894" y="4117068"/>
            <a:ext cx="1339800" cy="4224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361" name="Google Shape;3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a Relationship?</a:t>
            </a:r>
            <a:endParaRPr/>
          </a:p>
        </p:txBody>
      </p:sp>
      <p:sp>
        <p:nvSpPr>
          <p:cNvPr id="368" name="Google Shape;368;p31"/>
          <p:cNvSpPr txBox="1"/>
          <p:nvPr>
            <p:ph idx="1" type="body"/>
          </p:nvPr>
        </p:nvSpPr>
        <p:spPr>
          <a:xfrm>
            <a:off x="838201" y="1905000"/>
            <a:ext cx="7266668" cy="4114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i="1" lang="en-US"/>
              <a:t>A mathematical definition:</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Let A, B be sets</a:t>
            </a:r>
            <a:endParaRPr/>
          </a:p>
          <a:p>
            <a:pPr indent="-228600" lvl="2" marL="1143000" rtl="0" algn="l">
              <a:lnSpc>
                <a:spcPct val="90000"/>
              </a:lnSpc>
              <a:spcBef>
                <a:spcPts val="500"/>
              </a:spcBef>
              <a:spcAft>
                <a:spcPts val="0"/>
              </a:spcAft>
              <a:buClr>
                <a:schemeClr val="dk1"/>
              </a:buClr>
              <a:buSzPts val="2000"/>
              <a:buChar char="•"/>
            </a:pPr>
            <a:r>
              <a:rPr i="1" lang="en-US"/>
              <a:t>A={1,2,3},   B={a,b,c,d},</a:t>
            </a:r>
            <a:endParaRPr/>
          </a:p>
          <a:p>
            <a:pPr indent="0" lvl="1" marL="4572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A x B (the </a:t>
            </a:r>
            <a:r>
              <a:rPr b="1" i="1" lang="en-US"/>
              <a:t>cross-product</a:t>
            </a:r>
            <a:r>
              <a:rPr lang="en-US"/>
              <a:t>) is the set of all pairs (a,b)</a:t>
            </a:r>
            <a:endParaRPr/>
          </a:p>
          <a:p>
            <a:pPr indent="-228600" lvl="2" marL="1143000" rtl="0" algn="l">
              <a:lnSpc>
                <a:spcPct val="90000"/>
              </a:lnSpc>
              <a:spcBef>
                <a:spcPts val="500"/>
              </a:spcBef>
              <a:spcAft>
                <a:spcPts val="0"/>
              </a:spcAft>
              <a:buClr>
                <a:schemeClr val="dk1"/>
              </a:buClr>
              <a:buSzPts val="2000"/>
              <a:buChar char="•"/>
            </a:pPr>
            <a:r>
              <a:rPr i="1" lang="en-US"/>
              <a:t>A × B = {(1,a), (1,b), (1,c), (1,d), (2,a), (2,b), (2,c), (2,d), (3,a), (3,b), (3,c), (3,d)}</a:t>
            </a:r>
            <a:endParaRPr/>
          </a:p>
          <a:p>
            <a:pPr indent="-114300" lvl="3" marL="1600200" rtl="0" algn="l">
              <a:lnSpc>
                <a:spcPct val="90000"/>
              </a:lnSpc>
              <a:spcBef>
                <a:spcPts val="500"/>
              </a:spcBef>
              <a:spcAft>
                <a:spcPts val="0"/>
              </a:spcAft>
              <a:buClr>
                <a:schemeClr val="dk1"/>
              </a:buClr>
              <a:buSzPts val="1800"/>
              <a:buNone/>
            </a:pPr>
            <a:r>
              <a:t/>
            </a:r>
            <a:endParaRPr/>
          </a:p>
          <a:p>
            <a:pPr indent="-228600" lvl="1" marL="685800" rtl="0" algn="l">
              <a:lnSpc>
                <a:spcPct val="90000"/>
              </a:lnSpc>
              <a:spcBef>
                <a:spcPts val="500"/>
              </a:spcBef>
              <a:spcAft>
                <a:spcPts val="0"/>
              </a:spcAft>
              <a:buClr>
                <a:schemeClr val="dk1"/>
              </a:buClr>
              <a:buSzPts val="2400"/>
              <a:buChar char="•"/>
            </a:pPr>
            <a:r>
              <a:rPr b="1" lang="en-US"/>
              <a:t>We define a </a:t>
            </a:r>
            <a:r>
              <a:rPr b="1" lang="en-US" u="sng"/>
              <a:t>relationship</a:t>
            </a:r>
            <a:r>
              <a:rPr b="1" lang="en-US"/>
              <a:t> to be a subset of A x B</a:t>
            </a:r>
            <a:endParaRPr/>
          </a:p>
          <a:p>
            <a:pPr indent="-228600" lvl="2" marL="1143000" rtl="0" algn="l">
              <a:lnSpc>
                <a:spcPct val="90000"/>
              </a:lnSpc>
              <a:spcBef>
                <a:spcPts val="500"/>
              </a:spcBef>
              <a:spcAft>
                <a:spcPts val="0"/>
              </a:spcAft>
              <a:buClr>
                <a:schemeClr val="dk1"/>
              </a:buClr>
              <a:buSzPts val="2000"/>
              <a:buChar char="•"/>
            </a:pPr>
            <a:r>
              <a:rPr i="1" lang="en-US"/>
              <a:t>R = {(1,a), (2,c), (2,d), (3,b)}</a:t>
            </a:r>
            <a:endParaRPr/>
          </a:p>
          <a:p>
            <a:pPr indent="-114300" lvl="3" marL="1600200" rtl="0" algn="l">
              <a:lnSpc>
                <a:spcPct val="90000"/>
              </a:lnSpc>
              <a:spcBef>
                <a:spcPts val="500"/>
              </a:spcBef>
              <a:spcAft>
                <a:spcPts val="0"/>
              </a:spcAft>
              <a:buClr>
                <a:schemeClr val="dk1"/>
              </a:buClr>
              <a:buSzPts val="1800"/>
              <a:buNone/>
            </a:pPr>
            <a:r>
              <a:t/>
            </a:r>
            <a:endParaRPr i="1"/>
          </a:p>
        </p:txBody>
      </p:sp>
      <p:grpSp>
        <p:nvGrpSpPr>
          <p:cNvPr id="369" name="Google Shape;369;p31"/>
          <p:cNvGrpSpPr/>
          <p:nvPr/>
        </p:nvGrpSpPr>
        <p:grpSpPr>
          <a:xfrm>
            <a:off x="7895319" y="2364468"/>
            <a:ext cx="3136900" cy="2514600"/>
            <a:chOff x="1144" y="2736"/>
            <a:chExt cx="1976" cy="1584"/>
          </a:xfrm>
        </p:grpSpPr>
        <p:sp>
          <p:nvSpPr>
            <p:cNvPr id="370" name="Google Shape;370;p31"/>
            <p:cNvSpPr txBox="1"/>
            <p:nvPr/>
          </p:nvSpPr>
          <p:spPr>
            <a:xfrm>
              <a:off x="1670" y="2858"/>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1</a:t>
              </a:r>
              <a:endParaRPr/>
            </a:p>
          </p:txBody>
        </p:sp>
        <p:sp>
          <p:nvSpPr>
            <p:cNvPr id="371" name="Google Shape;371;p31"/>
            <p:cNvSpPr txBox="1"/>
            <p:nvPr/>
          </p:nvSpPr>
          <p:spPr>
            <a:xfrm>
              <a:off x="1670" y="3277"/>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2</a:t>
              </a:r>
              <a:endParaRPr/>
            </a:p>
          </p:txBody>
        </p:sp>
        <p:sp>
          <p:nvSpPr>
            <p:cNvPr id="372" name="Google Shape;372;p31"/>
            <p:cNvSpPr txBox="1"/>
            <p:nvPr/>
          </p:nvSpPr>
          <p:spPr>
            <a:xfrm>
              <a:off x="1670" y="3696"/>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3</a:t>
              </a:r>
              <a:endParaRPr/>
            </a:p>
          </p:txBody>
        </p:sp>
        <p:sp>
          <p:nvSpPr>
            <p:cNvPr id="373" name="Google Shape;373;p31"/>
            <p:cNvSpPr txBox="1"/>
            <p:nvPr/>
          </p:nvSpPr>
          <p:spPr>
            <a:xfrm>
              <a:off x="2726" y="2858"/>
              <a:ext cx="20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a</a:t>
              </a:r>
              <a:endParaRPr/>
            </a:p>
          </p:txBody>
        </p:sp>
        <p:sp>
          <p:nvSpPr>
            <p:cNvPr id="374" name="Google Shape;374;p31"/>
            <p:cNvSpPr txBox="1"/>
            <p:nvPr/>
          </p:nvSpPr>
          <p:spPr>
            <a:xfrm>
              <a:off x="2726" y="3226"/>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b</a:t>
              </a:r>
              <a:endParaRPr/>
            </a:p>
          </p:txBody>
        </p:sp>
        <p:sp>
          <p:nvSpPr>
            <p:cNvPr id="375" name="Google Shape;375;p31"/>
            <p:cNvSpPr txBox="1"/>
            <p:nvPr/>
          </p:nvSpPr>
          <p:spPr>
            <a:xfrm>
              <a:off x="2726" y="3594"/>
              <a:ext cx="20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c</a:t>
              </a:r>
              <a:endParaRPr/>
            </a:p>
          </p:txBody>
        </p:sp>
        <p:sp>
          <p:nvSpPr>
            <p:cNvPr id="376" name="Google Shape;376;p31"/>
            <p:cNvSpPr txBox="1"/>
            <p:nvPr/>
          </p:nvSpPr>
          <p:spPr>
            <a:xfrm>
              <a:off x="2726" y="3962"/>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d</a:t>
              </a:r>
              <a:endParaRPr/>
            </a:p>
          </p:txBody>
        </p:sp>
        <p:sp>
          <p:nvSpPr>
            <p:cNvPr id="377" name="Google Shape;377;p31"/>
            <p:cNvSpPr/>
            <p:nvPr/>
          </p:nvSpPr>
          <p:spPr>
            <a:xfrm>
              <a:off x="1488" y="2880"/>
              <a:ext cx="576" cy="115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p:txBody>
        </p:sp>
        <p:sp>
          <p:nvSpPr>
            <p:cNvPr id="378" name="Google Shape;378;p31"/>
            <p:cNvSpPr/>
            <p:nvPr/>
          </p:nvSpPr>
          <p:spPr>
            <a:xfrm>
              <a:off x="2544" y="2880"/>
              <a:ext cx="576" cy="144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p:txBody>
        </p:sp>
        <p:sp>
          <p:nvSpPr>
            <p:cNvPr id="379" name="Google Shape;379;p31"/>
            <p:cNvSpPr txBox="1"/>
            <p:nvPr/>
          </p:nvSpPr>
          <p:spPr>
            <a:xfrm>
              <a:off x="1144" y="2858"/>
              <a:ext cx="36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A=</a:t>
              </a:r>
              <a:endParaRPr/>
            </a:p>
          </p:txBody>
        </p:sp>
        <p:sp>
          <p:nvSpPr>
            <p:cNvPr id="380" name="Google Shape;380;p31"/>
            <p:cNvSpPr txBox="1"/>
            <p:nvPr/>
          </p:nvSpPr>
          <p:spPr>
            <a:xfrm>
              <a:off x="2297" y="2736"/>
              <a:ext cx="35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B=</a:t>
              </a:r>
              <a:endParaRPr/>
            </a:p>
          </p:txBody>
        </p:sp>
      </p:grpSp>
      <p:cxnSp>
        <p:nvCxnSpPr>
          <p:cNvPr id="381" name="Google Shape;381;p31"/>
          <p:cNvCxnSpPr>
            <a:stCxn id="370" idx="3"/>
            <a:endCxn id="373" idx="1"/>
          </p:cNvCxnSpPr>
          <p:nvPr/>
        </p:nvCxnSpPr>
        <p:spPr>
          <a:xfrm>
            <a:off x="9066894" y="2786743"/>
            <a:ext cx="1339800" cy="0"/>
          </a:xfrm>
          <a:prstGeom prst="straightConnector1">
            <a:avLst/>
          </a:prstGeom>
          <a:noFill/>
          <a:ln cap="flat" cmpd="sng" w="19050">
            <a:solidFill>
              <a:schemeClr val="accent1"/>
            </a:solidFill>
            <a:prstDash val="solid"/>
            <a:miter lim="800000"/>
            <a:headEnd len="sm" w="sm" type="none"/>
            <a:tailEnd len="sm" w="sm" type="none"/>
          </a:ln>
        </p:spPr>
      </p:cxnSp>
      <p:cxnSp>
        <p:nvCxnSpPr>
          <p:cNvPr id="382" name="Google Shape;382;p31"/>
          <p:cNvCxnSpPr>
            <a:stCxn id="371" idx="3"/>
            <a:endCxn id="375" idx="1"/>
          </p:cNvCxnSpPr>
          <p:nvPr/>
        </p:nvCxnSpPr>
        <p:spPr>
          <a:xfrm>
            <a:off x="9066894" y="3451906"/>
            <a:ext cx="1339800" cy="503100"/>
          </a:xfrm>
          <a:prstGeom prst="straightConnector1">
            <a:avLst/>
          </a:prstGeom>
          <a:noFill/>
          <a:ln cap="flat" cmpd="sng" w="19050">
            <a:solidFill>
              <a:schemeClr val="accent1"/>
            </a:solidFill>
            <a:prstDash val="solid"/>
            <a:miter lim="800000"/>
            <a:headEnd len="sm" w="sm" type="none"/>
            <a:tailEnd len="sm" w="sm" type="none"/>
          </a:ln>
        </p:spPr>
      </p:cxnSp>
      <p:cxnSp>
        <p:nvCxnSpPr>
          <p:cNvPr id="383" name="Google Shape;383;p31"/>
          <p:cNvCxnSpPr>
            <a:stCxn id="371" idx="3"/>
            <a:endCxn id="376" idx="1"/>
          </p:cNvCxnSpPr>
          <p:nvPr/>
        </p:nvCxnSpPr>
        <p:spPr>
          <a:xfrm>
            <a:off x="9066894" y="3451906"/>
            <a:ext cx="1339800" cy="1087500"/>
          </a:xfrm>
          <a:prstGeom prst="straightConnector1">
            <a:avLst/>
          </a:prstGeom>
          <a:noFill/>
          <a:ln cap="flat" cmpd="sng" w="19050">
            <a:solidFill>
              <a:schemeClr val="accent1"/>
            </a:solidFill>
            <a:prstDash val="solid"/>
            <a:miter lim="800000"/>
            <a:headEnd len="sm" w="sm" type="none"/>
            <a:tailEnd len="sm" w="sm" type="none"/>
          </a:ln>
        </p:spPr>
      </p:cxnSp>
      <p:cxnSp>
        <p:nvCxnSpPr>
          <p:cNvPr id="384" name="Google Shape;384;p31"/>
          <p:cNvCxnSpPr>
            <a:stCxn id="372" idx="3"/>
            <a:endCxn id="374" idx="1"/>
          </p:cNvCxnSpPr>
          <p:nvPr/>
        </p:nvCxnSpPr>
        <p:spPr>
          <a:xfrm flipH="1" rot="10800000">
            <a:off x="9066894" y="3370968"/>
            <a:ext cx="1339800" cy="746100"/>
          </a:xfrm>
          <a:prstGeom prst="straightConnector1">
            <a:avLst/>
          </a:prstGeom>
          <a:noFill/>
          <a:ln cap="flat" cmpd="sng" w="19050">
            <a:solidFill>
              <a:schemeClr val="accent1"/>
            </a:solidFill>
            <a:prstDash val="solid"/>
            <a:miter lim="800000"/>
            <a:headEnd len="sm" w="sm" type="none"/>
            <a:tailEnd len="sm" w="sm" type="none"/>
          </a:ln>
        </p:spPr>
      </p:cxnSp>
      <p:sp>
        <p:nvSpPr>
          <p:cNvPr id="385" name="Google Shape;385;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a Relationship?</a:t>
            </a:r>
            <a:endParaRPr/>
          </a:p>
        </p:txBody>
      </p:sp>
      <p:sp>
        <p:nvSpPr>
          <p:cNvPr id="392" name="Google Shape;392;p32"/>
          <p:cNvSpPr txBox="1"/>
          <p:nvPr>
            <p:ph idx="1" type="body"/>
          </p:nvPr>
        </p:nvSpPr>
        <p:spPr>
          <a:xfrm>
            <a:off x="838200" y="1904999"/>
            <a:ext cx="6945994" cy="446774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i="1" lang="en-US"/>
              <a:t>A mathematical definition:</a:t>
            </a:r>
            <a:endParaRPr/>
          </a:p>
          <a:p>
            <a:pPr indent="-228600" lvl="1" marL="685800" rtl="0" algn="l">
              <a:lnSpc>
                <a:spcPct val="90000"/>
              </a:lnSpc>
              <a:spcBef>
                <a:spcPts val="500"/>
              </a:spcBef>
              <a:spcAft>
                <a:spcPts val="0"/>
              </a:spcAft>
              <a:buClr>
                <a:schemeClr val="dk1"/>
              </a:buClr>
              <a:buSzPts val="2400"/>
              <a:buChar char="•"/>
            </a:pPr>
            <a:r>
              <a:rPr lang="en-US"/>
              <a:t>Let A, B be sets</a:t>
            </a:r>
            <a:endParaRPr/>
          </a:p>
          <a:p>
            <a:pPr indent="-228600" lvl="1" marL="685800" rtl="0" algn="l">
              <a:lnSpc>
                <a:spcPct val="90000"/>
              </a:lnSpc>
              <a:spcBef>
                <a:spcPts val="500"/>
              </a:spcBef>
              <a:spcAft>
                <a:spcPts val="0"/>
              </a:spcAft>
              <a:buClr>
                <a:schemeClr val="dk1"/>
              </a:buClr>
              <a:buSzPts val="2400"/>
              <a:buChar char="•"/>
            </a:pPr>
            <a:r>
              <a:rPr lang="en-US"/>
              <a:t>A x B (the </a:t>
            </a:r>
            <a:r>
              <a:rPr b="1" i="1" lang="en-US"/>
              <a:t>cross-product</a:t>
            </a:r>
            <a:r>
              <a:rPr lang="en-US"/>
              <a:t>) is the set of all pairs</a:t>
            </a:r>
            <a:endParaRPr/>
          </a:p>
          <a:p>
            <a:pPr indent="-228600" lvl="1" marL="685800" rtl="0" algn="l">
              <a:lnSpc>
                <a:spcPct val="90000"/>
              </a:lnSpc>
              <a:spcBef>
                <a:spcPts val="500"/>
              </a:spcBef>
              <a:spcAft>
                <a:spcPts val="0"/>
              </a:spcAft>
              <a:buClr>
                <a:schemeClr val="dk1"/>
              </a:buClr>
              <a:buSzPts val="2400"/>
              <a:buChar char="•"/>
            </a:pPr>
            <a:r>
              <a:rPr lang="en-US"/>
              <a:t>A </a:t>
            </a:r>
            <a:r>
              <a:rPr lang="en-US" u="sng"/>
              <a:t>relationship</a:t>
            </a:r>
            <a:r>
              <a:rPr lang="en-US"/>
              <a:t> is a subset of A x B</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b="1" lang="en-US"/>
              <a:t>Makes</a:t>
            </a:r>
            <a:r>
              <a:rPr lang="en-US"/>
              <a:t> is relationship- it is a </a:t>
            </a:r>
            <a:r>
              <a:rPr b="1" i="1" lang="en-US"/>
              <a:t>subset</a:t>
            </a:r>
            <a:r>
              <a:rPr lang="en-US"/>
              <a:t> of </a:t>
            </a:r>
            <a:r>
              <a:rPr b="1" lang="en-US"/>
              <a:t>Product × Company</a:t>
            </a:r>
            <a:r>
              <a:rPr lang="en-US"/>
              <a:t>:</a:t>
            </a:r>
            <a:endParaRPr/>
          </a:p>
        </p:txBody>
      </p:sp>
      <p:grpSp>
        <p:nvGrpSpPr>
          <p:cNvPr id="393" name="Google Shape;393;p32"/>
          <p:cNvGrpSpPr/>
          <p:nvPr/>
        </p:nvGrpSpPr>
        <p:grpSpPr>
          <a:xfrm>
            <a:off x="7895319" y="2364468"/>
            <a:ext cx="3136900" cy="2514600"/>
            <a:chOff x="7895319" y="2364468"/>
            <a:chExt cx="3136900" cy="2514600"/>
          </a:xfrm>
        </p:grpSpPr>
        <p:grpSp>
          <p:nvGrpSpPr>
            <p:cNvPr id="394" name="Google Shape;394;p32"/>
            <p:cNvGrpSpPr/>
            <p:nvPr/>
          </p:nvGrpSpPr>
          <p:grpSpPr>
            <a:xfrm>
              <a:off x="7895319" y="2364468"/>
              <a:ext cx="3136900" cy="2514600"/>
              <a:chOff x="1144" y="2736"/>
              <a:chExt cx="1976" cy="1584"/>
            </a:xfrm>
          </p:grpSpPr>
          <p:sp>
            <p:nvSpPr>
              <p:cNvPr id="395" name="Google Shape;395;p32"/>
              <p:cNvSpPr txBox="1"/>
              <p:nvPr/>
            </p:nvSpPr>
            <p:spPr>
              <a:xfrm>
                <a:off x="1670" y="2858"/>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1</a:t>
                </a:r>
                <a:endParaRPr/>
              </a:p>
            </p:txBody>
          </p:sp>
          <p:sp>
            <p:nvSpPr>
              <p:cNvPr id="396" name="Google Shape;396;p32"/>
              <p:cNvSpPr txBox="1"/>
              <p:nvPr/>
            </p:nvSpPr>
            <p:spPr>
              <a:xfrm>
                <a:off x="1670" y="3277"/>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2</a:t>
                </a:r>
                <a:endParaRPr/>
              </a:p>
            </p:txBody>
          </p:sp>
          <p:sp>
            <p:nvSpPr>
              <p:cNvPr id="397" name="Google Shape;397;p32"/>
              <p:cNvSpPr txBox="1"/>
              <p:nvPr/>
            </p:nvSpPr>
            <p:spPr>
              <a:xfrm>
                <a:off x="1670" y="3696"/>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3</a:t>
                </a:r>
                <a:endParaRPr/>
              </a:p>
            </p:txBody>
          </p:sp>
          <p:sp>
            <p:nvSpPr>
              <p:cNvPr id="398" name="Google Shape;398;p32"/>
              <p:cNvSpPr txBox="1"/>
              <p:nvPr/>
            </p:nvSpPr>
            <p:spPr>
              <a:xfrm>
                <a:off x="2726" y="2858"/>
                <a:ext cx="20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a</a:t>
                </a:r>
                <a:endParaRPr/>
              </a:p>
            </p:txBody>
          </p:sp>
          <p:sp>
            <p:nvSpPr>
              <p:cNvPr id="399" name="Google Shape;399;p32"/>
              <p:cNvSpPr txBox="1"/>
              <p:nvPr/>
            </p:nvSpPr>
            <p:spPr>
              <a:xfrm>
                <a:off x="2726" y="3226"/>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b</a:t>
                </a:r>
                <a:endParaRPr/>
              </a:p>
            </p:txBody>
          </p:sp>
          <p:sp>
            <p:nvSpPr>
              <p:cNvPr id="400" name="Google Shape;400;p32"/>
              <p:cNvSpPr txBox="1"/>
              <p:nvPr/>
            </p:nvSpPr>
            <p:spPr>
              <a:xfrm>
                <a:off x="2726" y="3594"/>
                <a:ext cx="20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c</a:t>
                </a:r>
                <a:endParaRPr/>
              </a:p>
            </p:txBody>
          </p:sp>
          <p:sp>
            <p:nvSpPr>
              <p:cNvPr id="401" name="Google Shape;401;p32"/>
              <p:cNvSpPr txBox="1"/>
              <p:nvPr/>
            </p:nvSpPr>
            <p:spPr>
              <a:xfrm>
                <a:off x="2726" y="3962"/>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d</a:t>
                </a:r>
                <a:endParaRPr/>
              </a:p>
            </p:txBody>
          </p:sp>
          <p:sp>
            <p:nvSpPr>
              <p:cNvPr id="402" name="Google Shape;402;p32"/>
              <p:cNvSpPr/>
              <p:nvPr/>
            </p:nvSpPr>
            <p:spPr>
              <a:xfrm>
                <a:off x="1488" y="2880"/>
                <a:ext cx="576" cy="115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p:txBody>
          </p:sp>
          <p:sp>
            <p:nvSpPr>
              <p:cNvPr id="403" name="Google Shape;403;p32"/>
              <p:cNvSpPr/>
              <p:nvPr/>
            </p:nvSpPr>
            <p:spPr>
              <a:xfrm>
                <a:off x="2544" y="2880"/>
                <a:ext cx="576" cy="144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p:txBody>
          </p:sp>
          <p:sp>
            <p:nvSpPr>
              <p:cNvPr id="404" name="Google Shape;404;p32"/>
              <p:cNvSpPr txBox="1"/>
              <p:nvPr/>
            </p:nvSpPr>
            <p:spPr>
              <a:xfrm>
                <a:off x="1144" y="2858"/>
                <a:ext cx="36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A=</a:t>
                </a:r>
                <a:endParaRPr/>
              </a:p>
            </p:txBody>
          </p:sp>
          <p:sp>
            <p:nvSpPr>
              <p:cNvPr id="405" name="Google Shape;405;p32"/>
              <p:cNvSpPr txBox="1"/>
              <p:nvPr/>
            </p:nvSpPr>
            <p:spPr>
              <a:xfrm>
                <a:off x="2297" y="2736"/>
                <a:ext cx="35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B=</a:t>
                </a:r>
                <a:endParaRPr/>
              </a:p>
            </p:txBody>
          </p:sp>
        </p:grpSp>
        <p:cxnSp>
          <p:nvCxnSpPr>
            <p:cNvPr id="406" name="Google Shape;406;p32"/>
            <p:cNvCxnSpPr>
              <a:stCxn id="395" idx="3"/>
              <a:endCxn id="398" idx="1"/>
            </p:cNvCxnSpPr>
            <p:nvPr/>
          </p:nvCxnSpPr>
          <p:spPr>
            <a:xfrm>
              <a:off x="9066894" y="2786743"/>
              <a:ext cx="1339800" cy="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407" name="Google Shape;407;p32"/>
            <p:cNvCxnSpPr>
              <a:stCxn id="396" idx="3"/>
              <a:endCxn id="400" idx="1"/>
            </p:cNvCxnSpPr>
            <p:nvPr/>
          </p:nvCxnSpPr>
          <p:spPr>
            <a:xfrm>
              <a:off x="9066894" y="3451906"/>
              <a:ext cx="1339800" cy="5031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408" name="Google Shape;408;p32"/>
            <p:cNvCxnSpPr>
              <a:stCxn id="396" idx="3"/>
              <a:endCxn id="401" idx="1"/>
            </p:cNvCxnSpPr>
            <p:nvPr/>
          </p:nvCxnSpPr>
          <p:spPr>
            <a:xfrm>
              <a:off x="9066894" y="3451906"/>
              <a:ext cx="1339800" cy="1087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409" name="Google Shape;409;p32"/>
            <p:cNvCxnSpPr>
              <a:stCxn id="397" idx="3"/>
              <a:endCxn id="399" idx="1"/>
            </p:cNvCxnSpPr>
            <p:nvPr/>
          </p:nvCxnSpPr>
          <p:spPr>
            <a:xfrm flipH="1" rot="10800000">
              <a:off x="9066894" y="3370968"/>
              <a:ext cx="1339800" cy="7461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410" name="Google Shape;410;p32"/>
          <p:cNvSpPr/>
          <p:nvPr/>
        </p:nvSpPr>
        <p:spPr>
          <a:xfrm>
            <a:off x="4422664" y="5265519"/>
            <a:ext cx="746125" cy="671512"/>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Calibri"/>
                <a:ea typeface="Calibri"/>
                <a:cs typeface="Calibri"/>
                <a:sym typeface="Calibri"/>
              </a:rPr>
              <a:t>makes</a:t>
            </a:r>
            <a:endParaRPr/>
          </a:p>
        </p:txBody>
      </p:sp>
      <p:sp>
        <p:nvSpPr>
          <p:cNvPr id="411" name="Google Shape;411;p32"/>
          <p:cNvSpPr/>
          <p:nvPr/>
        </p:nvSpPr>
        <p:spPr>
          <a:xfrm>
            <a:off x="5767276" y="5414744"/>
            <a:ext cx="1082675" cy="373062"/>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Calibri"/>
                <a:ea typeface="Calibri"/>
                <a:cs typeface="Calibri"/>
                <a:sym typeface="Calibri"/>
              </a:rPr>
              <a:t>Company</a:t>
            </a:r>
            <a:endParaRPr/>
          </a:p>
        </p:txBody>
      </p:sp>
      <p:sp>
        <p:nvSpPr>
          <p:cNvPr id="412" name="Google Shape;412;p32"/>
          <p:cNvSpPr/>
          <p:nvPr/>
        </p:nvSpPr>
        <p:spPr>
          <a:xfrm>
            <a:off x="3039951" y="5602069"/>
            <a:ext cx="1046163" cy="373062"/>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Calibri"/>
                <a:ea typeface="Calibri"/>
                <a:cs typeface="Calibri"/>
                <a:sym typeface="Calibri"/>
              </a:rPr>
              <a:t>Product</a:t>
            </a:r>
            <a:endParaRPr/>
          </a:p>
        </p:txBody>
      </p:sp>
      <p:cxnSp>
        <p:nvCxnSpPr>
          <p:cNvPr id="413" name="Google Shape;413;p32"/>
          <p:cNvCxnSpPr/>
          <p:nvPr/>
        </p:nvCxnSpPr>
        <p:spPr>
          <a:xfrm>
            <a:off x="5168789" y="5602069"/>
            <a:ext cx="598487" cy="0"/>
          </a:xfrm>
          <a:prstGeom prst="straightConnector1">
            <a:avLst/>
          </a:prstGeom>
          <a:noFill/>
          <a:ln cap="flat" cmpd="sng" w="9525">
            <a:solidFill>
              <a:schemeClr val="dk1"/>
            </a:solidFill>
            <a:prstDash val="solid"/>
            <a:round/>
            <a:headEnd len="med" w="med" type="none"/>
            <a:tailEnd len="sm" w="sm" type="none"/>
          </a:ln>
        </p:spPr>
      </p:cxnSp>
      <p:cxnSp>
        <p:nvCxnSpPr>
          <p:cNvPr id="414" name="Google Shape;414;p32"/>
          <p:cNvCxnSpPr/>
          <p:nvPr/>
        </p:nvCxnSpPr>
        <p:spPr>
          <a:xfrm flipH="1">
            <a:off x="4086113" y="5602070"/>
            <a:ext cx="336550" cy="149225"/>
          </a:xfrm>
          <a:prstGeom prst="straightConnector1">
            <a:avLst/>
          </a:prstGeom>
          <a:noFill/>
          <a:ln cap="flat" cmpd="sng" w="9525">
            <a:solidFill>
              <a:schemeClr val="dk1"/>
            </a:solidFill>
            <a:prstDash val="solid"/>
            <a:round/>
            <a:headEnd len="med" w="med" type="none"/>
            <a:tailEnd len="med" w="med" type="none"/>
          </a:ln>
        </p:spPr>
      </p:cxnSp>
      <p:sp>
        <p:nvSpPr>
          <p:cNvPr id="415" name="Google Shape;41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a Relationship?</a:t>
            </a:r>
            <a:endParaRPr/>
          </a:p>
        </p:txBody>
      </p:sp>
      <p:grpSp>
        <p:nvGrpSpPr>
          <p:cNvPr id="421" name="Google Shape;421;p33"/>
          <p:cNvGrpSpPr/>
          <p:nvPr/>
        </p:nvGrpSpPr>
        <p:grpSpPr>
          <a:xfrm>
            <a:off x="2475006" y="2270235"/>
            <a:ext cx="7236553" cy="1574970"/>
            <a:chOff x="1849016" y="2994219"/>
            <a:chExt cx="8514183" cy="1853034"/>
          </a:xfrm>
        </p:grpSpPr>
        <p:sp>
          <p:nvSpPr>
            <p:cNvPr id="422" name="Google Shape;422;p33"/>
            <p:cNvSpPr/>
            <p:nvPr/>
          </p:nvSpPr>
          <p:spPr>
            <a:xfrm>
              <a:off x="5963816" y="4161453"/>
              <a:ext cx="1828800" cy="6858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Makes</a:t>
              </a:r>
              <a:endParaRPr/>
            </a:p>
          </p:txBody>
        </p:sp>
        <p:sp>
          <p:nvSpPr>
            <p:cNvPr id="423" name="Google Shape;423;p33"/>
            <p:cNvSpPr/>
            <p:nvPr/>
          </p:nvSpPr>
          <p:spPr>
            <a:xfrm>
              <a:off x="4058816" y="4237653"/>
              <a:ext cx="1219200"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Product</a:t>
              </a:r>
              <a:endParaRPr/>
            </a:p>
          </p:txBody>
        </p:sp>
        <p:sp>
          <p:nvSpPr>
            <p:cNvPr id="424" name="Google Shape;424;p33"/>
            <p:cNvSpPr/>
            <p:nvPr/>
          </p:nvSpPr>
          <p:spPr>
            <a:xfrm>
              <a:off x="2915816" y="3094653"/>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rgbClr val="000000"/>
                  </a:solidFill>
                  <a:latin typeface="Calibri"/>
                  <a:ea typeface="Calibri"/>
                  <a:cs typeface="Calibri"/>
                  <a:sym typeface="Calibri"/>
                </a:rPr>
                <a:t>name</a:t>
              </a:r>
              <a:endParaRPr/>
            </a:p>
          </p:txBody>
        </p:sp>
        <p:sp>
          <p:nvSpPr>
            <p:cNvPr id="425" name="Google Shape;425;p33"/>
            <p:cNvSpPr/>
            <p:nvPr/>
          </p:nvSpPr>
          <p:spPr>
            <a:xfrm>
              <a:off x="4516016" y="3170853"/>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category</a:t>
              </a:r>
              <a:endParaRPr/>
            </a:p>
          </p:txBody>
        </p:sp>
        <p:sp>
          <p:nvSpPr>
            <p:cNvPr id="426" name="Google Shape;426;p33"/>
            <p:cNvSpPr/>
            <p:nvPr/>
          </p:nvSpPr>
          <p:spPr>
            <a:xfrm>
              <a:off x="1849016" y="3704253"/>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price</a:t>
              </a:r>
              <a:endParaRPr/>
            </a:p>
          </p:txBody>
        </p:sp>
        <p:cxnSp>
          <p:nvCxnSpPr>
            <p:cNvPr id="427" name="Google Shape;427;p33"/>
            <p:cNvCxnSpPr>
              <a:stCxn id="426" idx="5"/>
              <a:endCxn id="423" idx="1"/>
            </p:cNvCxnSpPr>
            <p:nvPr/>
          </p:nvCxnSpPr>
          <p:spPr>
            <a:xfrm>
              <a:off x="3084791" y="4289620"/>
              <a:ext cx="974100" cy="2148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428" name="Google Shape;428;p33"/>
            <p:cNvCxnSpPr>
              <a:stCxn id="424" idx="5"/>
              <a:endCxn id="423" idx="0"/>
            </p:cNvCxnSpPr>
            <p:nvPr/>
          </p:nvCxnSpPr>
          <p:spPr>
            <a:xfrm>
              <a:off x="4151591" y="3680020"/>
              <a:ext cx="516900" cy="5577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429" name="Google Shape;429;p33"/>
            <p:cNvCxnSpPr>
              <a:stCxn id="425" idx="4"/>
              <a:endCxn id="423" idx="0"/>
            </p:cNvCxnSpPr>
            <p:nvPr/>
          </p:nvCxnSpPr>
          <p:spPr>
            <a:xfrm flipH="1">
              <a:off x="4668416" y="3856653"/>
              <a:ext cx="571500" cy="381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430" name="Google Shape;430;p33"/>
            <p:cNvSpPr/>
            <p:nvPr/>
          </p:nvSpPr>
          <p:spPr>
            <a:xfrm>
              <a:off x="8402216" y="4237653"/>
              <a:ext cx="1539551"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Company</a:t>
              </a:r>
              <a:endParaRPr/>
            </a:p>
          </p:txBody>
        </p:sp>
        <p:sp>
          <p:nvSpPr>
            <p:cNvPr id="431" name="Google Shape;431;p33"/>
            <p:cNvSpPr/>
            <p:nvPr/>
          </p:nvSpPr>
          <p:spPr>
            <a:xfrm>
              <a:off x="8915399" y="2994219"/>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rgbClr val="000000"/>
                  </a:solidFill>
                  <a:latin typeface="Calibri"/>
                  <a:ea typeface="Calibri"/>
                  <a:cs typeface="Calibri"/>
                  <a:sym typeface="Calibri"/>
                </a:rPr>
                <a:t>name</a:t>
              </a:r>
              <a:endParaRPr/>
            </a:p>
          </p:txBody>
        </p:sp>
        <p:cxnSp>
          <p:nvCxnSpPr>
            <p:cNvPr id="432" name="Google Shape;432;p33"/>
            <p:cNvCxnSpPr>
              <a:stCxn id="431" idx="4"/>
              <a:endCxn id="430" idx="0"/>
            </p:cNvCxnSpPr>
            <p:nvPr/>
          </p:nvCxnSpPr>
          <p:spPr>
            <a:xfrm flipH="1">
              <a:off x="9171899" y="3680019"/>
              <a:ext cx="467400" cy="5577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433" name="Google Shape;433;p33"/>
            <p:cNvCxnSpPr>
              <a:stCxn id="423" idx="3"/>
              <a:endCxn id="422" idx="1"/>
            </p:cNvCxnSpPr>
            <p:nvPr/>
          </p:nvCxnSpPr>
          <p:spPr>
            <a:xfrm>
              <a:off x="5278016" y="4504353"/>
              <a:ext cx="685800" cy="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434" name="Google Shape;434;p33"/>
            <p:cNvCxnSpPr>
              <a:stCxn id="422" idx="3"/>
              <a:endCxn id="430" idx="1"/>
            </p:cNvCxnSpPr>
            <p:nvPr/>
          </p:nvCxnSpPr>
          <p:spPr>
            <a:xfrm>
              <a:off x="7792616" y="4504353"/>
              <a:ext cx="609600" cy="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435" name="Google Shape;435;p33"/>
          <p:cNvSpPr txBox="1"/>
          <p:nvPr/>
        </p:nvSpPr>
        <p:spPr>
          <a:xfrm>
            <a:off x="2840556" y="4831443"/>
            <a:ext cx="6512981" cy="1200329"/>
          </a:xfrm>
          <a:prstGeom prst="rect">
            <a:avLst/>
          </a:prstGeom>
          <a:solidFill>
            <a:srgbClr val="D8E2F3"/>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A </a:t>
            </a:r>
            <a:r>
              <a:rPr b="1" lang="en-US" sz="2400" u="sng">
                <a:solidFill>
                  <a:srgbClr val="000000"/>
                </a:solidFill>
                <a:latin typeface="Calibri"/>
                <a:ea typeface="Calibri"/>
                <a:cs typeface="Calibri"/>
                <a:sym typeface="Calibri"/>
              </a:rPr>
              <a:t>relationship</a:t>
            </a:r>
            <a:r>
              <a:rPr lang="en-US" sz="2400">
                <a:solidFill>
                  <a:srgbClr val="000000"/>
                </a:solidFill>
                <a:latin typeface="Calibri"/>
                <a:ea typeface="Calibri"/>
                <a:cs typeface="Calibri"/>
                <a:sym typeface="Calibri"/>
              </a:rPr>
              <a:t> between </a:t>
            </a:r>
            <a:r>
              <a:rPr b="1" lang="en-US" sz="2400">
                <a:solidFill>
                  <a:srgbClr val="000000"/>
                </a:solidFill>
                <a:latin typeface="Calibri"/>
                <a:ea typeface="Calibri"/>
                <a:cs typeface="Calibri"/>
                <a:sym typeface="Calibri"/>
              </a:rPr>
              <a:t>entity sets P and C </a:t>
            </a:r>
            <a:r>
              <a:rPr lang="en-US" sz="2400">
                <a:solidFill>
                  <a:srgbClr val="000000"/>
                </a:solidFill>
                <a:latin typeface="Calibri"/>
                <a:ea typeface="Calibri"/>
                <a:cs typeface="Calibri"/>
                <a:sym typeface="Calibri"/>
              </a:rPr>
              <a:t>is a </a:t>
            </a:r>
            <a:r>
              <a:rPr b="1" i="1" lang="en-US" sz="2400">
                <a:solidFill>
                  <a:srgbClr val="000000"/>
                </a:solidFill>
                <a:latin typeface="Calibri"/>
                <a:ea typeface="Calibri"/>
                <a:cs typeface="Calibri"/>
                <a:sym typeface="Calibri"/>
              </a:rPr>
              <a:t>subset of all possible pairs of entities in P and C</a:t>
            </a:r>
            <a:r>
              <a:rPr lang="en-US" sz="2400">
                <a:solidFill>
                  <a:srgbClr val="000000"/>
                </a:solidFill>
                <a:latin typeface="Calibri"/>
                <a:ea typeface="Calibri"/>
                <a:cs typeface="Calibri"/>
                <a:sym typeface="Calibri"/>
              </a:rPr>
              <a:t>, with tuples uniquely identified by </a:t>
            </a:r>
            <a:r>
              <a:rPr b="1" i="1" lang="en-US" sz="2400">
                <a:solidFill>
                  <a:srgbClr val="000000"/>
                </a:solidFill>
                <a:latin typeface="Calibri"/>
                <a:ea typeface="Calibri"/>
                <a:cs typeface="Calibri"/>
                <a:sym typeface="Calibri"/>
              </a:rPr>
              <a:t>P and C’s keys</a:t>
            </a:r>
            <a:endParaRPr/>
          </a:p>
        </p:txBody>
      </p:sp>
      <p:sp>
        <p:nvSpPr>
          <p:cNvPr id="436" name="Google Shape;436;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a Relationship?</a:t>
            </a:r>
            <a:endParaRPr/>
          </a:p>
        </p:txBody>
      </p:sp>
      <p:graphicFrame>
        <p:nvGraphicFramePr>
          <p:cNvPr id="442" name="Google Shape;442;p34"/>
          <p:cNvGraphicFramePr/>
          <p:nvPr/>
        </p:nvGraphicFramePr>
        <p:xfrm>
          <a:off x="2505508" y="1789957"/>
          <a:ext cx="3000000" cy="3000000"/>
        </p:xfrm>
        <a:graphic>
          <a:graphicData uri="http://schemas.openxmlformats.org/drawingml/2006/table">
            <a:tbl>
              <a:tblPr bandRow="1" firstRow="1">
                <a:noFill/>
                <a:tableStyleId>{6FC2B67F-B50F-4591-89C8-ECE6B8A8AB73}</a:tableStyleId>
              </a:tblPr>
              <a:tblGrid>
                <a:gridCol w="1015150"/>
                <a:gridCol w="1241400"/>
                <a:gridCol w="788900"/>
              </a:tblGrid>
              <a:tr h="234750">
                <a:tc>
                  <a:txBody>
                    <a:bodyPr/>
                    <a:lstStyle/>
                    <a:p>
                      <a:pPr indent="0" lvl="0" marL="0" marR="0" rtl="0" algn="l">
                        <a:spcBef>
                          <a:spcPts val="0"/>
                        </a:spcBef>
                        <a:spcAft>
                          <a:spcPts val="0"/>
                        </a:spcAft>
                        <a:buNone/>
                      </a:pPr>
                      <a:r>
                        <a:rPr lang="en-US" sz="1600" u="sng" cap="none" strike="noStrike"/>
                        <a:t>name</a:t>
                      </a:r>
                      <a:endParaRPr/>
                    </a:p>
                  </a:txBody>
                  <a:tcPr marT="45725" marB="45725" marR="91450" marL="91450"/>
                </a:tc>
                <a:tc>
                  <a:txBody>
                    <a:bodyPr/>
                    <a:lstStyle/>
                    <a:p>
                      <a:pPr indent="0" lvl="0" marL="0" marR="0" rtl="0" algn="l">
                        <a:spcBef>
                          <a:spcPts val="0"/>
                        </a:spcBef>
                        <a:spcAft>
                          <a:spcPts val="0"/>
                        </a:spcAft>
                        <a:buNone/>
                      </a:pPr>
                      <a:r>
                        <a:rPr lang="en-US" sz="1600"/>
                        <a:t>category</a:t>
                      </a:r>
                      <a:endParaRPr/>
                    </a:p>
                  </a:txBody>
                  <a:tcPr marT="45725" marB="45725" marR="91450" marL="91450"/>
                </a:tc>
                <a:tc>
                  <a:txBody>
                    <a:bodyPr/>
                    <a:lstStyle/>
                    <a:p>
                      <a:pPr indent="0" lvl="0" marL="0" marR="0" rtl="0" algn="l">
                        <a:spcBef>
                          <a:spcPts val="0"/>
                        </a:spcBef>
                        <a:spcAft>
                          <a:spcPts val="0"/>
                        </a:spcAft>
                        <a:buNone/>
                      </a:pPr>
                      <a:r>
                        <a:rPr lang="en-US" sz="1600"/>
                        <a:t>price</a:t>
                      </a:r>
                      <a:endParaRPr/>
                    </a:p>
                  </a:txBody>
                  <a:tcPr marT="45725" marB="45725" marR="91450" marL="91450"/>
                </a:tc>
              </a:tr>
              <a:tr h="234750">
                <a:tc>
                  <a:txBody>
                    <a:bodyPr/>
                    <a:lstStyle/>
                    <a:p>
                      <a:pPr indent="0" lvl="0" marL="0" marR="0" rtl="0" algn="l">
                        <a:spcBef>
                          <a:spcPts val="0"/>
                        </a:spcBef>
                        <a:spcAft>
                          <a:spcPts val="0"/>
                        </a:spcAft>
                        <a:buNone/>
                      </a:pPr>
                      <a:r>
                        <a:rPr lang="en-US" sz="1600"/>
                        <a:t>Gizmo</a:t>
                      </a:r>
                      <a:endParaRPr/>
                    </a:p>
                  </a:txBody>
                  <a:tcPr marT="45725" marB="45725" marR="91450" marL="91450"/>
                </a:tc>
                <a:tc>
                  <a:txBody>
                    <a:bodyPr/>
                    <a:lstStyle/>
                    <a:p>
                      <a:pPr indent="0" lvl="0" marL="0" marR="0" rtl="0" algn="l">
                        <a:spcBef>
                          <a:spcPts val="0"/>
                        </a:spcBef>
                        <a:spcAft>
                          <a:spcPts val="0"/>
                        </a:spcAft>
                        <a:buNone/>
                      </a:pPr>
                      <a:r>
                        <a:rPr lang="en-US" sz="1600"/>
                        <a:t>Electronics</a:t>
                      </a:r>
                      <a:endParaRPr/>
                    </a:p>
                  </a:txBody>
                  <a:tcPr marT="45725" marB="45725" marR="91450" marL="91450"/>
                </a:tc>
                <a:tc>
                  <a:txBody>
                    <a:bodyPr/>
                    <a:lstStyle/>
                    <a:p>
                      <a:pPr indent="0" lvl="0" marL="0" marR="0" rtl="0" algn="l">
                        <a:spcBef>
                          <a:spcPts val="0"/>
                        </a:spcBef>
                        <a:spcAft>
                          <a:spcPts val="0"/>
                        </a:spcAft>
                        <a:buNone/>
                      </a:pPr>
                      <a:r>
                        <a:rPr lang="en-US" sz="1600"/>
                        <a:t>$9.99</a:t>
                      </a:r>
                      <a:endParaRPr/>
                    </a:p>
                  </a:txBody>
                  <a:tcPr marT="45725" marB="45725" marR="91450" marL="91450"/>
                </a:tc>
              </a:tr>
              <a:tr h="234750">
                <a:tc>
                  <a:txBody>
                    <a:bodyPr/>
                    <a:lstStyle/>
                    <a:p>
                      <a:pPr indent="0" lvl="0" marL="0" marR="0" rtl="0" algn="l">
                        <a:spcBef>
                          <a:spcPts val="0"/>
                        </a:spcBef>
                        <a:spcAft>
                          <a:spcPts val="0"/>
                        </a:spcAft>
                        <a:buNone/>
                      </a:pPr>
                      <a:r>
                        <a:rPr lang="en-US" sz="1600"/>
                        <a:t>GizmoLite</a:t>
                      </a:r>
                      <a:endParaRPr sz="1600"/>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Calibri"/>
                        <a:buNone/>
                      </a:pPr>
                      <a:r>
                        <a:rPr lang="en-US" sz="1600"/>
                        <a:t>Electronics</a:t>
                      </a:r>
                      <a:endParaRPr/>
                    </a:p>
                  </a:txBody>
                  <a:tcPr marT="45725" marB="45725" marR="91450" marL="91450"/>
                </a:tc>
                <a:tc>
                  <a:txBody>
                    <a:bodyPr/>
                    <a:lstStyle/>
                    <a:p>
                      <a:pPr indent="0" lvl="0" marL="0" marR="0" rtl="0" algn="l">
                        <a:spcBef>
                          <a:spcPts val="0"/>
                        </a:spcBef>
                        <a:spcAft>
                          <a:spcPts val="0"/>
                        </a:spcAft>
                        <a:buNone/>
                      </a:pPr>
                      <a:r>
                        <a:rPr lang="en-US" sz="1600"/>
                        <a:t>$7.50</a:t>
                      </a:r>
                      <a:endParaRPr/>
                    </a:p>
                  </a:txBody>
                  <a:tcPr marT="45725" marB="45725" marR="91450" marL="91450"/>
                </a:tc>
              </a:tr>
              <a:tr h="343325">
                <a:tc>
                  <a:txBody>
                    <a:bodyPr/>
                    <a:lstStyle/>
                    <a:p>
                      <a:pPr indent="0" lvl="0" marL="0" marR="0" rtl="0" algn="l">
                        <a:spcBef>
                          <a:spcPts val="0"/>
                        </a:spcBef>
                        <a:spcAft>
                          <a:spcPts val="0"/>
                        </a:spcAft>
                        <a:buNone/>
                      </a:pPr>
                      <a:r>
                        <a:rPr lang="en-US" sz="1600"/>
                        <a:t>Gadget</a:t>
                      </a:r>
                      <a:endParaRPr/>
                    </a:p>
                  </a:txBody>
                  <a:tcPr marT="45725" marB="45725" marR="91450" marL="91450"/>
                </a:tc>
                <a:tc>
                  <a:txBody>
                    <a:bodyPr/>
                    <a:lstStyle/>
                    <a:p>
                      <a:pPr indent="0" lvl="0" marL="0" marR="0" rtl="0" algn="l">
                        <a:spcBef>
                          <a:spcPts val="0"/>
                        </a:spcBef>
                        <a:spcAft>
                          <a:spcPts val="0"/>
                        </a:spcAft>
                        <a:buNone/>
                      </a:pPr>
                      <a:r>
                        <a:rPr lang="en-US" sz="1600"/>
                        <a:t>Toys</a:t>
                      </a:r>
                      <a:endParaRPr/>
                    </a:p>
                  </a:txBody>
                  <a:tcPr marT="45725" marB="45725" marR="91450" marL="91450"/>
                </a:tc>
                <a:tc>
                  <a:txBody>
                    <a:bodyPr/>
                    <a:lstStyle/>
                    <a:p>
                      <a:pPr indent="0" lvl="0" marL="0" marR="0" rtl="0" algn="l">
                        <a:spcBef>
                          <a:spcPts val="0"/>
                        </a:spcBef>
                        <a:spcAft>
                          <a:spcPts val="0"/>
                        </a:spcAft>
                        <a:buNone/>
                      </a:pPr>
                      <a:r>
                        <a:rPr lang="en-US" sz="1600"/>
                        <a:t>$5.50</a:t>
                      </a:r>
                      <a:endParaRPr/>
                    </a:p>
                  </a:txBody>
                  <a:tcPr marT="45725" marB="45725" marR="91450" marL="91450"/>
                </a:tc>
              </a:tr>
            </a:tbl>
          </a:graphicData>
        </a:graphic>
      </p:graphicFrame>
      <p:graphicFrame>
        <p:nvGraphicFramePr>
          <p:cNvPr id="443" name="Google Shape;443;p34"/>
          <p:cNvGraphicFramePr/>
          <p:nvPr/>
        </p:nvGraphicFramePr>
        <p:xfrm>
          <a:off x="895216" y="1804245"/>
          <a:ext cx="3000000" cy="3000000"/>
        </p:xfrm>
        <a:graphic>
          <a:graphicData uri="http://schemas.openxmlformats.org/drawingml/2006/table">
            <a:tbl>
              <a:tblPr bandRow="1" firstRow="1">
                <a:noFill/>
                <a:tableStyleId>{6FC2B67F-B50F-4591-89C8-ECE6B8A8AB73}</a:tableStyleId>
              </a:tblPr>
              <a:tblGrid>
                <a:gridCol w="1327300"/>
              </a:tblGrid>
              <a:tr h="261650">
                <a:tc>
                  <a:txBody>
                    <a:bodyPr/>
                    <a:lstStyle/>
                    <a:p>
                      <a:pPr indent="0" lvl="0" marL="0" marR="0" rtl="0" algn="l">
                        <a:spcBef>
                          <a:spcPts val="0"/>
                        </a:spcBef>
                        <a:spcAft>
                          <a:spcPts val="0"/>
                        </a:spcAft>
                        <a:buNone/>
                      </a:pPr>
                      <a:r>
                        <a:rPr lang="en-US" sz="1600" u="sng"/>
                        <a:t>name</a:t>
                      </a:r>
                      <a:endParaRPr/>
                    </a:p>
                  </a:txBody>
                  <a:tcPr marT="45725" marB="45725" marR="91450" marL="91450"/>
                </a:tc>
              </a:tr>
              <a:tr h="340025">
                <a:tc>
                  <a:txBody>
                    <a:bodyPr/>
                    <a:lstStyle/>
                    <a:p>
                      <a:pPr indent="0" lvl="0" marL="0" marR="0" rtl="0" algn="l">
                        <a:spcBef>
                          <a:spcPts val="0"/>
                        </a:spcBef>
                        <a:spcAft>
                          <a:spcPts val="0"/>
                        </a:spcAft>
                        <a:buNone/>
                      </a:pPr>
                      <a:r>
                        <a:rPr lang="en-US" sz="1600"/>
                        <a:t>GizmoWorks</a:t>
                      </a:r>
                      <a:endParaRPr sz="1600"/>
                    </a:p>
                  </a:txBody>
                  <a:tcPr marT="45725" marB="45725" marR="91450" marL="91450"/>
                </a:tc>
              </a:tr>
              <a:tr h="261650">
                <a:tc>
                  <a:txBody>
                    <a:bodyPr/>
                    <a:lstStyle/>
                    <a:p>
                      <a:pPr indent="0" lvl="0" marL="0" marR="0" rtl="0" algn="l">
                        <a:spcBef>
                          <a:spcPts val="0"/>
                        </a:spcBef>
                        <a:spcAft>
                          <a:spcPts val="0"/>
                        </a:spcAft>
                        <a:buNone/>
                      </a:pPr>
                      <a:r>
                        <a:rPr lang="en-US" sz="1600"/>
                        <a:t>GadgetCorp</a:t>
                      </a:r>
                      <a:endParaRPr sz="1600"/>
                    </a:p>
                  </a:txBody>
                  <a:tcPr marT="45725" marB="45725" marR="91450" marL="91450"/>
                </a:tc>
              </a:tr>
            </a:tbl>
          </a:graphicData>
        </a:graphic>
      </p:graphicFrame>
      <p:sp>
        <p:nvSpPr>
          <p:cNvPr id="444" name="Google Shape;444;p34"/>
          <p:cNvSpPr txBox="1"/>
          <p:nvPr/>
        </p:nvSpPr>
        <p:spPr>
          <a:xfrm>
            <a:off x="2505508" y="1420625"/>
            <a:ext cx="93371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2"/>
                </a:solidFill>
                <a:latin typeface="Calibri"/>
                <a:ea typeface="Calibri"/>
                <a:cs typeface="Calibri"/>
                <a:sym typeface="Calibri"/>
              </a:rPr>
              <a:t>Product</a:t>
            </a:r>
            <a:endParaRPr/>
          </a:p>
        </p:txBody>
      </p:sp>
      <p:sp>
        <p:nvSpPr>
          <p:cNvPr id="445" name="Google Shape;445;p34"/>
          <p:cNvSpPr txBox="1"/>
          <p:nvPr/>
        </p:nvSpPr>
        <p:spPr>
          <a:xfrm>
            <a:off x="833080" y="1434913"/>
            <a:ext cx="108298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2"/>
                </a:solidFill>
                <a:latin typeface="Calibri"/>
                <a:ea typeface="Calibri"/>
                <a:cs typeface="Calibri"/>
                <a:sym typeface="Calibri"/>
              </a:rPr>
              <a:t>Company</a:t>
            </a:r>
            <a:endParaRPr/>
          </a:p>
        </p:txBody>
      </p:sp>
      <p:grpSp>
        <p:nvGrpSpPr>
          <p:cNvPr id="446" name="Google Shape;446;p34"/>
          <p:cNvGrpSpPr/>
          <p:nvPr/>
        </p:nvGrpSpPr>
        <p:grpSpPr>
          <a:xfrm>
            <a:off x="833080" y="3769173"/>
            <a:ext cx="5039891" cy="1217859"/>
            <a:chOff x="1849016" y="2789853"/>
            <a:chExt cx="8514183" cy="2057400"/>
          </a:xfrm>
        </p:grpSpPr>
        <p:sp>
          <p:nvSpPr>
            <p:cNvPr id="447" name="Google Shape;447;p34"/>
            <p:cNvSpPr/>
            <p:nvPr/>
          </p:nvSpPr>
          <p:spPr>
            <a:xfrm>
              <a:off x="5963816" y="4161453"/>
              <a:ext cx="1828800" cy="6858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Makes</a:t>
              </a:r>
              <a:endParaRPr/>
            </a:p>
          </p:txBody>
        </p:sp>
        <p:sp>
          <p:nvSpPr>
            <p:cNvPr id="448" name="Google Shape;448;p34"/>
            <p:cNvSpPr/>
            <p:nvPr/>
          </p:nvSpPr>
          <p:spPr>
            <a:xfrm>
              <a:off x="4058816" y="4237653"/>
              <a:ext cx="1219200"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Product</a:t>
              </a:r>
              <a:endParaRPr/>
            </a:p>
          </p:txBody>
        </p:sp>
        <p:sp>
          <p:nvSpPr>
            <p:cNvPr id="449" name="Google Shape;449;p34"/>
            <p:cNvSpPr/>
            <p:nvPr/>
          </p:nvSpPr>
          <p:spPr>
            <a:xfrm>
              <a:off x="2915816" y="3094653"/>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rgbClr val="000000"/>
                  </a:solidFill>
                  <a:latin typeface="Calibri"/>
                  <a:ea typeface="Calibri"/>
                  <a:cs typeface="Calibri"/>
                  <a:sym typeface="Calibri"/>
                </a:rPr>
                <a:t>name</a:t>
              </a:r>
              <a:endParaRPr/>
            </a:p>
          </p:txBody>
        </p:sp>
        <p:sp>
          <p:nvSpPr>
            <p:cNvPr id="450" name="Google Shape;450;p34"/>
            <p:cNvSpPr/>
            <p:nvPr/>
          </p:nvSpPr>
          <p:spPr>
            <a:xfrm>
              <a:off x="4516016" y="3170853"/>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category</a:t>
              </a:r>
              <a:endParaRPr/>
            </a:p>
          </p:txBody>
        </p:sp>
        <p:sp>
          <p:nvSpPr>
            <p:cNvPr id="451" name="Google Shape;451;p34"/>
            <p:cNvSpPr/>
            <p:nvPr/>
          </p:nvSpPr>
          <p:spPr>
            <a:xfrm>
              <a:off x="1849016" y="3704253"/>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price</a:t>
              </a:r>
              <a:endParaRPr/>
            </a:p>
          </p:txBody>
        </p:sp>
        <p:cxnSp>
          <p:nvCxnSpPr>
            <p:cNvPr id="452" name="Google Shape;452;p34"/>
            <p:cNvCxnSpPr>
              <a:stCxn id="453" idx="5"/>
              <a:endCxn id="450" idx="1"/>
            </p:cNvCxnSpPr>
            <p:nvPr/>
          </p:nvCxnSpPr>
          <p:spPr>
            <a:xfrm>
              <a:off x="3753941" y="3056486"/>
              <a:ext cx="974100" cy="2148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453" name="Google Shape;453;p34"/>
            <p:cNvCxnSpPr>
              <a:stCxn id="451" idx="5"/>
              <a:endCxn id="450" idx="0"/>
            </p:cNvCxnSpPr>
            <p:nvPr/>
          </p:nvCxnSpPr>
          <p:spPr>
            <a:xfrm flipH="1" rot="10800000">
              <a:off x="3084791" y="3170920"/>
              <a:ext cx="2155200" cy="11187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454" name="Google Shape;454;p34"/>
            <p:cNvCxnSpPr>
              <a:stCxn id="452" idx="4"/>
              <a:endCxn id="450" idx="0"/>
            </p:cNvCxnSpPr>
            <p:nvPr/>
          </p:nvCxnSpPr>
          <p:spPr>
            <a:xfrm flipH="1">
              <a:off x="5239916" y="2789853"/>
              <a:ext cx="571500" cy="381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455" name="Google Shape;455;p34"/>
            <p:cNvSpPr/>
            <p:nvPr/>
          </p:nvSpPr>
          <p:spPr>
            <a:xfrm>
              <a:off x="8402216" y="4237653"/>
              <a:ext cx="1539551"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Company</a:t>
              </a:r>
              <a:endParaRPr/>
            </a:p>
          </p:txBody>
        </p:sp>
        <p:sp>
          <p:nvSpPr>
            <p:cNvPr id="456" name="Google Shape;456;p34"/>
            <p:cNvSpPr/>
            <p:nvPr/>
          </p:nvSpPr>
          <p:spPr>
            <a:xfrm>
              <a:off x="8915399" y="2994219"/>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rgbClr val="000000"/>
                  </a:solidFill>
                  <a:latin typeface="Calibri"/>
                  <a:ea typeface="Calibri"/>
                  <a:cs typeface="Calibri"/>
                  <a:sym typeface="Calibri"/>
                </a:rPr>
                <a:t>name</a:t>
              </a:r>
              <a:endParaRPr/>
            </a:p>
          </p:txBody>
        </p:sp>
        <p:cxnSp>
          <p:nvCxnSpPr>
            <p:cNvPr id="457" name="Google Shape;457;p34"/>
            <p:cNvCxnSpPr>
              <a:stCxn id="458" idx="4"/>
              <a:endCxn id="457" idx="0"/>
            </p:cNvCxnSpPr>
            <p:nvPr/>
          </p:nvCxnSpPr>
          <p:spPr>
            <a:xfrm flipH="1">
              <a:off x="9171899" y="3680019"/>
              <a:ext cx="467400" cy="5577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458" name="Google Shape;458;p34"/>
            <p:cNvCxnSpPr>
              <a:stCxn id="450" idx="3"/>
              <a:endCxn id="449" idx="1"/>
            </p:cNvCxnSpPr>
            <p:nvPr/>
          </p:nvCxnSpPr>
          <p:spPr>
            <a:xfrm rot="10800000">
              <a:off x="3127841" y="3195220"/>
              <a:ext cx="1600200" cy="561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459" name="Google Shape;459;p34"/>
            <p:cNvCxnSpPr>
              <a:stCxn id="449" idx="3"/>
              <a:endCxn id="457" idx="1"/>
            </p:cNvCxnSpPr>
            <p:nvPr/>
          </p:nvCxnSpPr>
          <p:spPr>
            <a:xfrm>
              <a:off x="3127841" y="3680020"/>
              <a:ext cx="609600" cy="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460" name="Google Shape;460;p34"/>
          <p:cNvSpPr txBox="1"/>
          <p:nvPr/>
        </p:nvSpPr>
        <p:spPr>
          <a:xfrm>
            <a:off x="682783" y="5338583"/>
            <a:ext cx="6512981" cy="1200329"/>
          </a:xfrm>
          <a:prstGeom prst="rect">
            <a:avLst/>
          </a:prstGeom>
          <a:solidFill>
            <a:srgbClr val="D8E2F3"/>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A </a:t>
            </a:r>
            <a:r>
              <a:rPr b="1" lang="en-US" sz="2400" u="sng">
                <a:solidFill>
                  <a:srgbClr val="000000"/>
                </a:solidFill>
                <a:latin typeface="Calibri"/>
                <a:ea typeface="Calibri"/>
                <a:cs typeface="Calibri"/>
                <a:sym typeface="Calibri"/>
              </a:rPr>
              <a:t>relationship</a:t>
            </a:r>
            <a:r>
              <a:rPr lang="en-US" sz="2400">
                <a:solidFill>
                  <a:srgbClr val="000000"/>
                </a:solidFill>
                <a:latin typeface="Calibri"/>
                <a:ea typeface="Calibri"/>
                <a:cs typeface="Calibri"/>
                <a:sym typeface="Calibri"/>
              </a:rPr>
              <a:t> between </a:t>
            </a:r>
            <a:r>
              <a:rPr b="1" lang="en-US" sz="2400">
                <a:solidFill>
                  <a:srgbClr val="000000"/>
                </a:solidFill>
                <a:latin typeface="Calibri"/>
                <a:ea typeface="Calibri"/>
                <a:cs typeface="Calibri"/>
                <a:sym typeface="Calibri"/>
              </a:rPr>
              <a:t>entity sets P and C </a:t>
            </a:r>
            <a:r>
              <a:rPr lang="en-US" sz="2400">
                <a:solidFill>
                  <a:srgbClr val="000000"/>
                </a:solidFill>
                <a:latin typeface="Calibri"/>
                <a:ea typeface="Calibri"/>
                <a:cs typeface="Calibri"/>
                <a:sym typeface="Calibri"/>
              </a:rPr>
              <a:t>is a </a:t>
            </a:r>
            <a:r>
              <a:rPr b="1" i="1" lang="en-US" sz="2400">
                <a:solidFill>
                  <a:srgbClr val="000000"/>
                </a:solidFill>
                <a:latin typeface="Calibri"/>
                <a:ea typeface="Calibri"/>
                <a:cs typeface="Calibri"/>
                <a:sym typeface="Calibri"/>
              </a:rPr>
              <a:t>subset of all possible pairs of entities in P and C</a:t>
            </a:r>
            <a:r>
              <a:rPr lang="en-US" sz="2400">
                <a:solidFill>
                  <a:srgbClr val="000000"/>
                </a:solidFill>
                <a:latin typeface="Calibri"/>
                <a:ea typeface="Calibri"/>
                <a:cs typeface="Calibri"/>
                <a:sym typeface="Calibri"/>
              </a:rPr>
              <a:t>, with tuples uniquely identified by </a:t>
            </a:r>
            <a:r>
              <a:rPr b="1" i="1" lang="en-US" sz="2400">
                <a:solidFill>
                  <a:srgbClr val="000000"/>
                </a:solidFill>
                <a:latin typeface="Calibri"/>
                <a:ea typeface="Calibri"/>
                <a:cs typeface="Calibri"/>
                <a:sym typeface="Calibri"/>
              </a:rPr>
              <a:t>P and C’s keys</a:t>
            </a:r>
            <a:endParaRPr/>
          </a:p>
        </p:txBody>
      </p:sp>
      <p:sp>
        <p:nvSpPr>
          <p:cNvPr id="461" name="Google Shape;461;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a Relationship?</a:t>
            </a:r>
            <a:endParaRPr/>
          </a:p>
        </p:txBody>
      </p:sp>
      <p:sp>
        <p:nvSpPr>
          <p:cNvPr id="467" name="Google Shape;46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graphicFrame>
        <p:nvGraphicFramePr>
          <p:cNvPr id="468" name="Google Shape;468;p35"/>
          <p:cNvGraphicFramePr/>
          <p:nvPr/>
        </p:nvGraphicFramePr>
        <p:xfrm>
          <a:off x="2505508" y="1789957"/>
          <a:ext cx="3000000" cy="3000000"/>
        </p:xfrm>
        <a:graphic>
          <a:graphicData uri="http://schemas.openxmlformats.org/drawingml/2006/table">
            <a:tbl>
              <a:tblPr bandRow="1" firstRow="1">
                <a:noFill/>
                <a:tableStyleId>{6FC2B67F-B50F-4591-89C8-ECE6B8A8AB73}</a:tableStyleId>
              </a:tblPr>
              <a:tblGrid>
                <a:gridCol w="1015150"/>
                <a:gridCol w="1241400"/>
                <a:gridCol w="788900"/>
              </a:tblGrid>
              <a:tr h="234750">
                <a:tc>
                  <a:txBody>
                    <a:bodyPr/>
                    <a:lstStyle/>
                    <a:p>
                      <a:pPr indent="0" lvl="0" marL="0" marR="0" rtl="0" algn="l">
                        <a:spcBef>
                          <a:spcPts val="0"/>
                        </a:spcBef>
                        <a:spcAft>
                          <a:spcPts val="0"/>
                        </a:spcAft>
                        <a:buNone/>
                      </a:pPr>
                      <a:r>
                        <a:rPr lang="en-US" sz="1600" u="sng"/>
                        <a:t>name</a:t>
                      </a:r>
                      <a:endParaRPr/>
                    </a:p>
                  </a:txBody>
                  <a:tcPr marT="45725" marB="45725" marR="91450" marL="91450"/>
                </a:tc>
                <a:tc>
                  <a:txBody>
                    <a:bodyPr/>
                    <a:lstStyle/>
                    <a:p>
                      <a:pPr indent="0" lvl="0" marL="0" marR="0" rtl="0" algn="l">
                        <a:spcBef>
                          <a:spcPts val="0"/>
                        </a:spcBef>
                        <a:spcAft>
                          <a:spcPts val="0"/>
                        </a:spcAft>
                        <a:buNone/>
                      </a:pPr>
                      <a:r>
                        <a:rPr lang="en-US" sz="1600"/>
                        <a:t>category</a:t>
                      </a:r>
                      <a:endParaRPr/>
                    </a:p>
                  </a:txBody>
                  <a:tcPr marT="45725" marB="45725" marR="91450" marL="91450"/>
                </a:tc>
                <a:tc>
                  <a:txBody>
                    <a:bodyPr/>
                    <a:lstStyle/>
                    <a:p>
                      <a:pPr indent="0" lvl="0" marL="0" marR="0" rtl="0" algn="l">
                        <a:spcBef>
                          <a:spcPts val="0"/>
                        </a:spcBef>
                        <a:spcAft>
                          <a:spcPts val="0"/>
                        </a:spcAft>
                        <a:buNone/>
                      </a:pPr>
                      <a:r>
                        <a:rPr lang="en-US" sz="1600"/>
                        <a:t>price</a:t>
                      </a:r>
                      <a:endParaRPr/>
                    </a:p>
                  </a:txBody>
                  <a:tcPr marT="45725" marB="45725" marR="91450" marL="91450"/>
                </a:tc>
              </a:tr>
              <a:tr h="234750">
                <a:tc>
                  <a:txBody>
                    <a:bodyPr/>
                    <a:lstStyle/>
                    <a:p>
                      <a:pPr indent="0" lvl="0" marL="0" marR="0" rtl="0" algn="l">
                        <a:spcBef>
                          <a:spcPts val="0"/>
                        </a:spcBef>
                        <a:spcAft>
                          <a:spcPts val="0"/>
                        </a:spcAft>
                        <a:buNone/>
                      </a:pPr>
                      <a:r>
                        <a:rPr lang="en-US" sz="1600"/>
                        <a:t>Gizmo</a:t>
                      </a:r>
                      <a:endParaRPr/>
                    </a:p>
                  </a:txBody>
                  <a:tcPr marT="45725" marB="45725" marR="91450" marL="91450"/>
                </a:tc>
                <a:tc>
                  <a:txBody>
                    <a:bodyPr/>
                    <a:lstStyle/>
                    <a:p>
                      <a:pPr indent="0" lvl="0" marL="0" marR="0" rtl="0" algn="l">
                        <a:spcBef>
                          <a:spcPts val="0"/>
                        </a:spcBef>
                        <a:spcAft>
                          <a:spcPts val="0"/>
                        </a:spcAft>
                        <a:buNone/>
                      </a:pPr>
                      <a:r>
                        <a:rPr lang="en-US" sz="1600"/>
                        <a:t>Electronics</a:t>
                      </a:r>
                      <a:endParaRPr/>
                    </a:p>
                  </a:txBody>
                  <a:tcPr marT="45725" marB="45725" marR="91450" marL="91450"/>
                </a:tc>
                <a:tc>
                  <a:txBody>
                    <a:bodyPr/>
                    <a:lstStyle/>
                    <a:p>
                      <a:pPr indent="0" lvl="0" marL="0" marR="0" rtl="0" algn="l">
                        <a:spcBef>
                          <a:spcPts val="0"/>
                        </a:spcBef>
                        <a:spcAft>
                          <a:spcPts val="0"/>
                        </a:spcAft>
                        <a:buNone/>
                      </a:pPr>
                      <a:r>
                        <a:rPr lang="en-US" sz="1600"/>
                        <a:t>$9.99</a:t>
                      </a:r>
                      <a:endParaRPr/>
                    </a:p>
                  </a:txBody>
                  <a:tcPr marT="45725" marB="45725" marR="91450" marL="91450"/>
                </a:tc>
              </a:tr>
              <a:tr h="234750">
                <a:tc>
                  <a:txBody>
                    <a:bodyPr/>
                    <a:lstStyle/>
                    <a:p>
                      <a:pPr indent="0" lvl="0" marL="0" marR="0" rtl="0" algn="l">
                        <a:spcBef>
                          <a:spcPts val="0"/>
                        </a:spcBef>
                        <a:spcAft>
                          <a:spcPts val="0"/>
                        </a:spcAft>
                        <a:buNone/>
                      </a:pPr>
                      <a:r>
                        <a:rPr lang="en-US" sz="1600"/>
                        <a:t>GizmoLite</a:t>
                      </a:r>
                      <a:endParaRPr sz="1600"/>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Calibri"/>
                        <a:buNone/>
                      </a:pPr>
                      <a:r>
                        <a:rPr lang="en-US" sz="1600"/>
                        <a:t>Electronics</a:t>
                      </a:r>
                      <a:endParaRPr/>
                    </a:p>
                  </a:txBody>
                  <a:tcPr marT="45725" marB="45725" marR="91450" marL="91450"/>
                </a:tc>
                <a:tc>
                  <a:txBody>
                    <a:bodyPr/>
                    <a:lstStyle/>
                    <a:p>
                      <a:pPr indent="0" lvl="0" marL="0" marR="0" rtl="0" algn="l">
                        <a:spcBef>
                          <a:spcPts val="0"/>
                        </a:spcBef>
                        <a:spcAft>
                          <a:spcPts val="0"/>
                        </a:spcAft>
                        <a:buNone/>
                      </a:pPr>
                      <a:r>
                        <a:rPr lang="en-US" sz="1600"/>
                        <a:t>$7.50</a:t>
                      </a:r>
                      <a:endParaRPr/>
                    </a:p>
                  </a:txBody>
                  <a:tcPr marT="45725" marB="45725" marR="91450" marL="91450"/>
                </a:tc>
              </a:tr>
              <a:tr h="343325">
                <a:tc>
                  <a:txBody>
                    <a:bodyPr/>
                    <a:lstStyle/>
                    <a:p>
                      <a:pPr indent="0" lvl="0" marL="0" marR="0" rtl="0" algn="l">
                        <a:spcBef>
                          <a:spcPts val="0"/>
                        </a:spcBef>
                        <a:spcAft>
                          <a:spcPts val="0"/>
                        </a:spcAft>
                        <a:buNone/>
                      </a:pPr>
                      <a:r>
                        <a:rPr lang="en-US" sz="1600"/>
                        <a:t>Gadget</a:t>
                      </a:r>
                      <a:endParaRPr/>
                    </a:p>
                  </a:txBody>
                  <a:tcPr marT="45725" marB="45725" marR="91450" marL="91450"/>
                </a:tc>
                <a:tc>
                  <a:txBody>
                    <a:bodyPr/>
                    <a:lstStyle/>
                    <a:p>
                      <a:pPr indent="0" lvl="0" marL="0" marR="0" rtl="0" algn="l">
                        <a:spcBef>
                          <a:spcPts val="0"/>
                        </a:spcBef>
                        <a:spcAft>
                          <a:spcPts val="0"/>
                        </a:spcAft>
                        <a:buNone/>
                      </a:pPr>
                      <a:r>
                        <a:rPr lang="en-US" sz="1600"/>
                        <a:t>Toys</a:t>
                      </a:r>
                      <a:endParaRPr/>
                    </a:p>
                  </a:txBody>
                  <a:tcPr marT="45725" marB="45725" marR="91450" marL="91450"/>
                </a:tc>
                <a:tc>
                  <a:txBody>
                    <a:bodyPr/>
                    <a:lstStyle/>
                    <a:p>
                      <a:pPr indent="0" lvl="0" marL="0" marR="0" rtl="0" algn="l">
                        <a:spcBef>
                          <a:spcPts val="0"/>
                        </a:spcBef>
                        <a:spcAft>
                          <a:spcPts val="0"/>
                        </a:spcAft>
                        <a:buNone/>
                      </a:pPr>
                      <a:r>
                        <a:rPr lang="en-US" sz="1600"/>
                        <a:t>$5.50</a:t>
                      </a:r>
                      <a:endParaRPr/>
                    </a:p>
                  </a:txBody>
                  <a:tcPr marT="45725" marB="45725" marR="91450" marL="91450"/>
                </a:tc>
              </a:tr>
            </a:tbl>
          </a:graphicData>
        </a:graphic>
      </p:graphicFrame>
      <p:graphicFrame>
        <p:nvGraphicFramePr>
          <p:cNvPr id="469" name="Google Shape;469;p35"/>
          <p:cNvGraphicFramePr/>
          <p:nvPr/>
        </p:nvGraphicFramePr>
        <p:xfrm>
          <a:off x="895216" y="1804245"/>
          <a:ext cx="3000000" cy="3000000"/>
        </p:xfrm>
        <a:graphic>
          <a:graphicData uri="http://schemas.openxmlformats.org/drawingml/2006/table">
            <a:tbl>
              <a:tblPr bandRow="1" firstRow="1">
                <a:noFill/>
                <a:tableStyleId>{6FC2B67F-B50F-4591-89C8-ECE6B8A8AB73}</a:tableStyleId>
              </a:tblPr>
              <a:tblGrid>
                <a:gridCol w="1327300"/>
              </a:tblGrid>
              <a:tr h="261650">
                <a:tc>
                  <a:txBody>
                    <a:bodyPr/>
                    <a:lstStyle/>
                    <a:p>
                      <a:pPr indent="0" lvl="0" marL="0" marR="0" rtl="0" algn="l">
                        <a:spcBef>
                          <a:spcPts val="0"/>
                        </a:spcBef>
                        <a:spcAft>
                          <a:spcPts val="0"/>
                        </a:spcAft>
                        <a:buNone/>
                      </a:pPr>
                      <a:r>
                        <a:rPr lang="en-US" sz="1600" u="sng"/>
                        <a:t>name</a:t>
                      </a:r>
                      <a:endParaRPr/>
                    </a:p>
                  </a:txBody>
                  <a:tcPr marT="45725" marB="45725" marR="91450" marL="91450"/>
                </a:tc>
              </a:tr>
              <a:tr h="340025">
                <a:tc>
                  <a:txBody>
                    <a:bodyPr/>
                    <a:lstStyle/>
                    <a:p>
                      <a:pPr indent="0" lvl="0" marL="0" marR="0" rtl="0" algn="l">
                        <a:spcBef>
                          <a:spcPts val="0"/>
                        </a:spcBef>
                        <a:spcAft>
                          <a:spcPts val="0"/>
                        </a:spcAft>
                        <a:buNone/>
                      </a:pPr>
                      <a:r>
                        <a:rPr lang="en-US" sz="1600"/>
                        <a:t>GizmoWorks</a:t>
                      </a:r>
                      <a:endParaRPr sz="1600"/>
                    </a:p>
                  </a:txBody>
                  <a:tcPr marT="45725" marB="45725" marR="91450" marL="91450"/>
                </a:tc>
              </a:tr>
              <a:tr h="261650">
                <a:tc>
                  <a:txBody>
                    <a:bodyPr/>
                    <a:lstStyle/>
                    <a:p>
                      <a:pPr indent="0" lvl="0" marL="0" marR="0" rtl="0" algn="l">
                        <a:spcBef>
                          <a:spcPts val="0"/>
                        </a:spcBef>
                        <a:spcAft>
                          <a:spcPts val="0"/>
                        </a:spcAft>
                        <a:buNone/>
                      </a:pPr>
                      <a:r>
                        <a:rPr lang="en-US" sz="1600"/>
                        <a:t>GadgetCorp</a:t>
                      </a:r>
                      <a:endParaRPr sz="1600"/>
                    </a:p>
                  </a:txBody>
                  <a:tcPr marT="45725" marB="45725" marR="91450" marL="91450"/>
                </a:tc>
              </a:tr>
            </a:tbl>
          </a:graphicData>
        </a:graphic>
      </p:graphicFrame>
      <p:sp>
        <p:nvSpPr>
          <p:cNvPr id="470" name="Google Shape;470;p35"/>
          <p:cNvSpPr txBox="1"/>
          <p:nvPr/>
        </p:nvSpPr>
        <p:spPr>
          <a:xfrm>
            <a:off x="2505508" y="1420625"/>
            <a:ext cx="93371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2"/>
                </a:solidFill>
                <a:latin typeface="Calibri"/>
                <a:ea typeface="Calibri"/>
                <a:cs typeface="Calibri"/>
                <a:sym typeface="Calibri"/>
              </a:rPr>
              <a:t>Product</a:t>
            </a:r>
            <a:endParaRPr/>
          </a:p>
        </p:txBody>
      </p:sp>
      <p:sp>
        <p:nvSpPr>
          <p:cNvPr id="471" name="Google Shape;471;p35"/>
          <p:cNvSpPr txBox="1"/>
          <p:nvPr/>
        </p:nvSpPr>
        <p:spPr>
          <a:xfrm>
            <a:off x="833080" y="1434913"/>
            <a:ext cx="108298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2"/>
                </a:solidFill>
                <a:latin typeface="Calibri"/>
                <a:ea typeface="Calibri"/>
                <a:cs typeface="Calibri"/>
                <a:sym typeface="Calibri"/>
              </a:rPr>
              <a:t>Company</a:t>
            </a:r>
            <a:endParaRPr/>
          </a:p>
        </p:txBody>
      </p:sp>
      <p:sp>
        <p:nvSpPr>
          <p:cNvPr id="472" name="Google Shape;472;p35"/>
          <p:cNvSpPr/>
          <p:nvPr/>
        </p:nvSpPr>
        <p:spPr>
          <a:xfrm>
            <a:off x="6096000" y="2131519"/>
            <a:ext cx="746234" cy="536027"/>
          </a:xfrm>
          <a:prstGeom prst="rightArrow">
            <a:avLst>
              <a:gd fmla="val 50000" name="adj1"/>
              <a:gd fmla="val 50000" name="adj2"/>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473" name="Google Shape;473;p35"/>
          <p:cNvGraphicFramePr/>
          <p:nvPr/>
        </p:nvGraphicFramePr>
        <p:xfrm>
          <a:off x="7346061" y="1724948"/>
          <a:ext cx="3000000" cy="3000000"/>
        </p:xfrm>
        <a:graphic>
          <a:graphicData uri="http://schemas.openxmlformats.org/drawingml/2006/table">
            <a:tbl>
              <a:tblPr bandRow="1" firstRow="1">
                <a:noFill/>
                <a:tableStyleId>{6FC2B67F-B50F-4591-89C8-ECE6B8A8AB73}</a:tableStyleId>
              </a:tblPr>
              <a:tblGrid>
                <a:gridCol w="1261900"/>
                <a:gridCol w="1061550"/>
                <a:gridCol w="1250725"/>
                <a:gridCol w="861850"/>
              </a:tblGrid>
              <a:tr h="234750">
                <a:tc>
                  <a:txBody>
                    <a:bodyPr/>
                    <a:lstStyle/>
                    <a:p>
                      <a:pPr indent="0" lvl="0" marL="0" marR="0" rtl="0" algn="l">
                        <a:spcBef>
                          <a:spcPts val="0"/>
                        </a:spcBef>
                        <a:spcAft>
                          <a:spcPts val="0"/>
                        </a:spcAft>
                        <a:buNone/>
                      </a:pPr>
                      <a:r>
                        <a:rPr lang="en-US" sz="1600" u="sng"/>
                        <a:t>C.name</a:t>
                      </a:r>
                      <a:endParaRPr sz="1600" u="sng"/>
                    </a:p>
                  </a:txBody>
                  <a:tcPr marT="45725" marB="45725" marR="91450" marL="91450"/>
                </a:tc>
                <a:tc>
                  <a:txBody>
                    <a:bodyPr/>
                    <a:lstStyle/>
                    <a:p>
                      <a:pPr indent="0" lvl="0" marL="0" marR="0" rtl="0" algn="l">
                        <a:spcBef>
                          <a:spcPts val="0"/>
                        </a:spcBef>
                        <a:spcAft>
                          <a:spcPts val="0"/>
                        </a:spcAft>
                        <a:buNone/>
                      </a:pPr>
                      <a:r>
                        <a:rPr lang="en-US" sz="1600" u="sng"/>
                        <a:t>P.name</a:t>
                      </a:r>
                      <a:endParaRPr sz="1600" u="sng"/>
                    </a:p>
                  </a:txBody>
                  <a:tcPr marT="45725" marB="45725" marR="91450" marL="91450"/>
                </a:tc>
                <a:tc>
                  <a:txBody>
                    <a:bodyPr/>
                    <a:lstStyle/>
                    <a:p>
                      <a:pPr indent="0" lvl="0" marL="0" marR="0" rtl="0" algn="l">
                        <a:spcBef>
                          <a:spcPts val="0"/>
                        </a:spcBef>
                        <a:spcAft>
                          <a:spcPts val="0"/>
                        </a:spcAft>
                        <a:buNone/>
                      </a:pPr>
                      <a:r>
                        <a:rPr lang="en-US" sz="1600"/>
                        <a:t>P.category</a:t>
                      </a:r>
                      <a:endParaRPr sz="1600"/>
                    </a:p>
                  </a:txBody>
                  <a:tcPr marT="45725" marB="45725" marR="91450" marL="91450"/>
                </a:tc>
                <a:tc>
                  <a:txBody>
                    <a:bodyPr/>
                    <a:lstStyle/>
                    <a:p>
                      <a:pPr indent="0" lvl="0" marL="0" marR="0" rtl="0" algn="l">
                        <a:spcBef>
                          <a:spcPts val="0"/>
                        </a:spcBef>
                        <a:spcAft>
                          <a:spcPts val="0"/>
                        </a:spcAft>
                        <a:buNone/>
                      </a:pPr>
                      <a:r>
                        <a:rPr lang="en-US" sz="1600"/>
                        <a:t>P.price</a:t>
                      </a:r>
                      <a:endParaRPr sz="1600"/>
                    </a:p>
                  </a:txBody>
                  <a:tcPr marT="45725" marB="45725" marR="91450" marL="91450"/>
                </a:tc>
              </a:tr>
              <a:tr h="234750">
                <a:tc>
                  <a:txBody>
                    <a:bodyPr/>
                    <a:lstStyle/>
                    <a:p>
                      <a:pPr indent="0" lvl="0" marL="0" marR="0" rtl="0" algn="l">
                        <a:spcBef>
                          <a:spcPts val="0"/>
                        </a:spcBef>
                        <a:spcAft>
                          <a:spcPts val="0"/>
                        </a:spcAft>
                        <a:buNone/>
                      </a:pPr>
                      <a:r>
                        <a:rPr lang="en-US" sz="1600"/>
                        <a:t>GizmoWorks</a:t>
                      </a:r>
                      <a:endParaRPr sz="1600"/>
                    </a:p>
                  </a:txBody>
                  <a:tcPr marT="45725" marB="45725" marR="91450" marL="91450"/>
                </a:tc>
                <a:tc>
                  <a:txBody>
                    <a:bodyPr/>
                    <a:lstStyle/>
                    <a:p>
                      <a:pPr indent="0" lvl="0" marL="0" marR="0" rtl="0" algn="l">
                        <a:spcBef>
                          <a:spcPts val="0"/>
                        </a:spcBef>
                        <a:spcAft>
                          <a:spcPts val="0"/>
                        </a:spcAft>
                        <a:buNone/>
                      </a:pPr>
                      <a:r>
                        <a:rPr lang="en-US" sz="1600"/>
                        <a:t>Gizmo</a:t>
                      </a:r>
                      <a:endParaRPr/>
                    </a:p>
                  </a:txBody>
                  <a:tcPr marT="45725" marB="45725" marR="91450" marL="91450"/>
                </a:tc>
                <a:tc>
                  <a:txBody>
                    <a:bodyPr/>
                    <a:lstStyle/>
                    <a:p>
                      <a:pPr indent="0" lvl="0" marL="0" marR="0" rtl="0" algn="l">
                        <a:spcBef>
                          <a:spcPts val="0"/>
                        </a:spcBef>
                        <a:spcAft>
                          <a:spcPts val="0"/>
                        </a:spcAft>
                        <a:buNone/>
                      </a:pPr>
                      <a:r>
                        <a:rPr lang="en-US" sz="1600"/>
                        <a:t>Electronics</a:t>
                      </a:r>
                      <a:endParaRPr/>
                    </a:p>
                  </a:txBody>
                  <a:tcPr marT="45725" marB="45725" marR="91450" marL="91450"/>
                </a:tc>
                <a:tc>
                  <a:txBody>
                    <a:bodyPr/>
                    <a:lstStyle/>
                    <a:p>
                      <a:pPr indent="0" lvl="0" marL="0" marR="0" rtl="0" algn="l">
                        <a:spcBef>
                          <a:spcPts val="0"/>
                        </a:spcBef>
                        <a:spcAft>
                          <a:spcPts val="0"/>
                        </a:spcAft>
                        <a:buNone/>
                      </a:pPr>
                      <a:r>
                        <a:rPr lang="en-US" sz="1600"/>
                        <a:t>$9.99</a:t>
                      </a:r>
                      <a:endParaRPr/>
                    </a:p>
                  </a:txBody>
                  <a:tcPr marT="45725" marB="45725" marR="91450" marL="91450"/>
                </a:tc>
              </a:tr>
              <a:tr h="234750">
                <a:tc>
                  <a:txBody>
                    <a:bodyPr/>
                    <a:lstStyle/>
                    <a:p>
                      <a:pPr indent="0" lvl="0" marL="0" marR="0" rtl="0" algn="l">
                        <a:spcBef>
                          <a:spcPts val="0"/>
                        </a:spcBef>
                        <a:spcAft>
                          <a:spcPts val="0"/>
                        </a:spcAft>
                        <a:buNone/>
                      </a:pPr>
                      <a:r>
                        <a:rPr lang="en-US" sz="1600"/>
                        <a:t>GizmoWorks</a:t>
                      </a:r>
                      <a:endParaRPr sz="1600"/>
                    </a:p>
                  </a:txBody>
                  <a:tcPr marT="45725" marB="45725" marR="91450" marL="91450"/>
                </a:tc>
                <a:tc>
                  <a:txBody>
                    <a:bodyPr/>
                    <a:lstStyle/>
                    <a:p>
                      <a:pPr indent="0" lvl="0" marL="0" marR="0" rtl="0" algn="l">
                        <a:spcBef>
                          <a:spcPts val="0"/>
                        </a:spcBef>
                        <a:spcAft>
                          <a:spcPts val="0"/>
                        </a:spcAft>
                        <a:buNone/>
                      </a:pPr>
                      <a:r>
                        <a:rPr lang="en-US" sz="1600"/>
                        <a:t>GizmoLite</a:t>
                      </a:r>
                      <a:endParaRPr sz="1600"/>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Calibri"/>
                        <a:buNone/>
                      </a:pPr>
                      <a:r>
                        <a:rPr lang="en-US" sz="1600"/>
                        <a:t>Electronics</a:t>
                      </a:r>
                      <a:endParaRPr/>
                    </a:p>
                  </a:txBody>
                  <a:tcPr marT="45725" marB="45725" marR="91450" marL="91450"/>
                </a:tc>
                <a:tc>
                  <a:txBody>
                    <a:bodyPr/>
                    <a:lstStyle/>
                    <a:p>
                      <a:pPr indent="0" lvl="0" marL="0" marR="0" rtl="0" algn="l">
                        <a:spcBef>
                          <a:spcPts val="0"/>
                        </a:spcBef>
                        <a:spcAft>
                          <a:spcPts val="0"/>
                        </a:spcAft>
                        <a:buNone/>
                      </a:pPr>
                      <a:r>
                        <a:rPr lang="en-US" sz="1600"/>
                        <a:t>$7.50</a:t>
                      </a:r>
                      <a:endParaRPr/>
                    </a:p>
                  </a:txBody>
                  <a:tcPr marT="45725" marB="45725" marR="91450" marL="91450"/>
                </a:tc>
              </a:tr>
              <a:tr h="343325">
                <a:tc>
                  <a:txBody>
                    <a:bodyPr/>
                    <a:lstStyle/>
                    <a:p>
                      <a:pPr indent="0" lvl="0" marL="0" marR="0" rtl="0" algn="l">
                        <a:spcBef>
                          <a:spcPts val="0"/>
                        </a:spcBef>
                        <a:spcAft>
                          <a:spcPts val="0"/>
                        </a:spcAft>
                        <a:buNone/>
                      </a:pPr>
                      <a:r>
                        <a:rPr lang="en-US" sz="1600"/>
                        <a:t>GizmoWorks</a:t>
                      </a:r>
                      <a:endParaRPr sz="1600"/>
                    </a:p>
                  </a:txBody>
                  <a:tcPr marT="45725" marB="45725" marR="91450" marL="91450"/>
                </a:tc>
                <a:tc>
                  <a:txBody>
                    <a:bodyPr/>
                    <a:lstStyle/>
                    <a:p>
                      <a:pPr indent="0" lvl="0" marL="0" marR="0" rtl="0" algn="l">
                        <a:spcBef>
                          <a:spcPts val="0"/>
                        </a:spcBef>
                        <a:spcAft>
                          <a:spcPts val="0"/>
                        </a:spcAft>
                        <a:buNone/>
                      </a:pPr>
                      <a:r>
                        <a:rPr lang="en-US" sz="1600"/>
                        <a:t>Gadget</a:t>
                      </a:r>
                      <a:endParaRPr/>
                    </a:p>
                  </a:txBody>
                  <a:tcPr marT="45725" marB="45725" marR="91450" marL="91450"/>
                </a:tc>
                <a:tc>
                  <a:txBody>
                    <a:bodyPr/>
                    <a:lstStyle/>
                    <a:p>
                      <a:pPr indent="0" lvl="0" marL="0" marR="0" rtl="0" algn="l">
                        <a:spcBef>
                          <a:spcPts val="0"/>
                        </a:spcBef>
                        <a:spcAft>
                          <a:spcPts val="0"/>
                        </a:spcAft>
                        <a:buNone/>
                      </a:pPr>
                      <a:r>
                        <a:rPr lang="en-US" sz="1600"/>
                        <a:t>Toys</a:t>
                      </a:r>
                      <a:endParaRPr/>
                    </a:p>
                  </a:txBody>
                  <a:tcPr marT="45725" marB="45725" marR="91450" marL="91450"/>
                </a:tc>
                <a:tc>
                  <a:txBody>
                    <a:bodyPr/>
                    <a:lstStyle/>
                    <a:p>
                      <a:pPr indent="0" lvl="0" marL="0" marR="0" rtl="0" algn="l">
                        <a:spcBef>
                          <a:spcPts val="0"/>
                        </a:spcBef>
                        <a:spcAft>
                          <a:spcPts val="0"/>
                        </a:spcAft>
                        <a:buNone/>
                      </a:pPr>
                      <a:r>
                        <a:rPr lang="en-US" sz="1600"/>
                        <a:t>$5.50</a:t>
                      </a:r>
                      <a:endParaRPr/>
                    </a:p>
                  </a:txBody>
                  <a:tcPr marT="45725" marB="45725" marR="91450" marL="91450"/>
                </a:tc>
              </a:tr>
              <a:tr h="343325">
                <a:tc>
                  <a:txBody>
                    <a:bodyPr/>
                    <a:lstStyle/>
                    <a:p>
                      <a:pPr indent="0" lvl="0" marL="0" marR="0" rtl="0" algn="l">
                        <a:spcBef>
                          <a:spcPts val="0"/>
                        </a:spcBef>
                        <a:spcAft>
                          <a:spcPts val="0"/>
                        </a:spcAft>
                        <a:buNone/>
                      </a:pPr>
                      <a:r>
                        <a:rPr lang="en-US" sz="1600"/>
                        <a:t>GadgetCorp</a:t>
                      </a:r>
                      <a:endParaRPr sz="1600"/>
                    </a:p>
                  </a:txBody>
                  <a:tcPr marT="45725" marB="45725" marR="91450" marL="91450"/>
                </a:tc>
                <a:tc>
                  <a:txBody>
                    <a:bodyPr/>
                    <a:lstStyle/>
                    <a:p>
                      <a:pPr indent="0" lvl="0" marL="0" marR="0" rtl="0" algn="l">
                        <a:spcBef>
                          <a:spcPts val="0"/>
                        </a:spcBef>
                        <a:spcAft>
                          <a:spcPts val="0"/>
                        </a:spcAft>
                        <a:buNone/>
                      </a:pPr>
                      <a:r>
                        <a:rPr lang="en-US" sz="1600"/>
                        <a:t>Gizmo</a:t>
                      </a:r>
                      <a:endParaRPr/>
                    </a:p>
                  </a:txBody>
                  <a:tcPr marT="45725" marB="45725" marR="91450" marL="91450"/>
                </a:tc>
                <a:tc>
                  <a:txBody>
                    <a:bodyPr/>
                    <a:lstStyle/>
                    <a:p>
                      <a:pPr indent="0" lvl="0" marL="0" marR="0" rtl="0" algn="l">
                        <a:spcBef>
                          <a:spcPts val="0"/>
                        </a:spcBef>
                        <a:spcAft>
                          <a:spcPts val="0"/>
                        </a:spcAft>
                        <a:buNone/>
                      </a:pPr>
                      <a:r>
                        <a:rPr lang="en-US" sz="1600"/>
                        <a:t>Electronics</a:t>
                      </a:r>
                      <a:endParaRPr/>
                    </a:p>
                  </a:txBody>
                  <a:tcPr marT="45725" marB="45725" marR="91450" marL="91450"/>
                </a:tc>
                <a:tc>
                  <a:txBody>
                    <a:bodyPr/>
                    <a:lstStyle/>
                    <a:p>
                      <a:pPr indent="0" lvl="0" marL="0" marR="0" rtl="0" algn="l">
                        <a:spcBef>
                          <a:spcPts val="0"/>
                        </a:spcBef>
                        <a:spcAft>
                          <a:spcPts val="0"/>
                        </a:spcAft>
                        <a:buNone/>
                      </a:pPr>
                      <a:r>
                        <a:rPr lang="en-US" sz="1600"/>
                        <a:t>$9.99</a:t>
                      </a:r>
                      <a:endParaRPr/>
                    </a:p>
                  </a:txBody>
                  <a:tcPr marT="45725" marB="45725" marR="91450" marL="91450"/>
                </a:tc>
              </a:tr>
              <a:tr h="343325">
                <a:tc>
                  <a:txBody>
                    <a:bodyPr/>
                    <a:lstStyle/>
                    <a:p>
                      <a:pPr indent="0" lvl="0" marL="0" marR="0" rtl="0" algn="l">
                        <a:lnSpc>
                          <a:spcPct val="100000"/>
                        </a:lnSpc>
                        <a:spcBef>
                          <a:spcPts val="0"/>
                        </a:spcBef>
                        <a:spcAft>
                          <a:spcPts val="0"/>
                        </a:spcAft>
                        <a:buClr>
                          <a:schemeClr val="dk1"/>
                        </a:buClr>
                        <a:buSzPts val="1600"/>
                        <a:buFont typeface="Calibri"/>
                        <a:buNone/>
                      </a:pPr>
                      <a:r>
                        <a:rPr lang="en-US" sz="1600"/>
                        <a:t>GadgetCorp</a:t>
                      </a:r>
                      <a:endParaRPr sz="1600"/>
                    </a:p>
                  </a:txBody>
                  <a:tcPr marT="45725" marB="45725" marR="91450" marL="91450"/>
                </a:tc>
                <a:tc>
                  <a:txBody>
                    <a:bodyPr/>
                    <a:lstStyle/>
                    <a:p>
                      <a:pPr indent="0" lvl="0" marL="0" marR="0" rtl="0" algn="l">
                        <a:spcBef>
                          <a:spcPts val="0"/>
                        </a:spcBef>
                        <a:spcAft>
                          <a:spcPts val="0"/>
                        </a:spcAft>
                        <a:buNone/>
                      </a:pPr>
                      <a:r>
                        <a:rPr lang="en-US" sz="1600"/>
                        <a:t>GizmoLite</a:t>
                      </a:r>
                      <a:endParaRPr sz="1600"/>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Calibri"/>
                        <a:buNone/>
                      </a:pPr>
                      <a:r>
                        <a:rPr lang="en-US" sz="1600"/>
                        <a:t>Electronics</a:t>
                      </a:r>
                      <a:endParaRPr/>
                    </a:p>
                  </a:txBody>
                  <a:tcPr marT="45725" marB="45725" marR="91450" marL="91450"/>
                </a:tc>
                <a:tc>
                  <a:txBody>
                    <a:bodyPr/>
                    <a:lstStyle/>
                    <a:p>
                      <a:pPr indent="0" lvl="0" marL="0" marR="0" rtl="0" algn="l">
                        <a:spcBef>
                          <a:spcPts val="0"/>
                        </a:spcBef>
                        <a:spcAft>
                          <a:spcPts val="0"/>
                        </a:spcAft>
                        <a:buNone/>
                      </a:pPr>
                      <a:r>
                        <a:rPr lang="en-US" sz="1600"/>
                        <a:t>$7.50</a:t>
                      </a:r>
                      <a:endParaRPr/>
                    </a:p>
                  </a:txBody>
                  <a:tcPr marT="45725" marB="45725" marR="91450" marL="91450"/>
                </a:tc>
              </a:tr>
              <a:tr h="343325">
                <a:tc>
                  <a:txBody>
                    <a:bodyPr/>
                    <a:lstStyle/>
                    <a:p>
                      <a:pPr indent="0" lvl="0" marL="0" marR="0" rtl="0" algn="l">
                        <a:lnSpc>
                          <a:spcPct val="100000"/>
                        </a:lnSpc>
                        <a:spcBef>
                          <a:spcPts val="0"/>
                        </a:spcBef>
                        <a:spcAft>
                          <a:spcPts val="0"/>
                        </a:spcAft>
                        <a:buClr>
                          <a:schemeClr val="dk1"/>
                        </a:buClr>
                        <a:buSzPts val="1600"/>
                        <a:buFont typeface="Calibri"/>
                        <a:buNone/>
                      </a:pPr>
                      <a:r>
                        <a:rPr lang="en-US" sz="1600"/>
                        <a:t>GadgetCorp</a:t>
                      </a:r>
                      <a:endParaRPr sz="1600"/>
                    </a:p>
                  </a:txBody>
                  <a:tcPr marT="45725" marB="45725" marR="91450" marL="91450"/>
                </a:tc>
                <a:tc>
                  <a:txBody>
                    <a:bodyPr/>
                    <a:lstStyle/>
                    <a:p>
                      <a:pPr indent="0" lvl="0" marL="0" marR="0" rtl="0" algn="l">
                        <a:spcBef>
                          <a:spcPts val="0"/>
                        </a:spcBef>
                        <a:spcAft>
                          <a:spcPts val="0"/>
                        </a:spcAft>
                        <a:buNone/>
                      </a:pPr>
                      <a:r>
                        <a:rPr lang="en-US" sz="1600"/>
                        <a:t>Gadget</a:t>
                      </a:r>
                      <a:endParaRPr/>
                    </a:p>
                  </a:txBody>
                  <a:tcPr marT="45725" marB="45725" marR="91450" marL="91450"/>
                </a:tc>
                <a:tc>
                  <a:txBody>
                    <a:bodyPr/>
                    <a:lstStyle/>
                    <a:p>
                      <a:pPr indent="0" lvl="0" marL="0" marR="0" rtl="0" algn="l">
                        <a:spcBef>
                          <a:spcPts val="0"/>
                        </a:spcBef>
                        <a:spcAft>
                          <a:spcPts val="0"/>
                        </a:spcAft>
                        <a:buNone/>
                      </a:pPr>
                      <a:r>
                        <a:rPr lang="en-US" sz="1600"/>
                        <a:t>Toys</a:t>
                      </a:r>
                      <a:endParaRPr/>
                    </a:p>
                  </a:txBody>
                  <a:tcPr marT="45725" marB="45725" marR="91450" marL="91450"/>
                </a:tc>
                <a:tc>
                  <a:txBody>
                    <a:bodyPr/>
                    <a:lstStyle/>
                    <a:p>
                      <a:pPr indent="0" lvl="0" marL="0" marR="0" rtl="0" algn="l">
                        <a:spcBef>
                          <a:spcPts val="0"/>
                        </a:spcBef>
                        <a:spcAft>
                          <a:spcPts val="0"/>
                        </a:spcAft>
                        <a:buNone/>
                      </a:pPr>
                      <a:r>
                        <a:rPr lang="en-US" sz="1600"/>
                        <a:t>$5.50</a:t>
                      </a:r>
                      <a:endParaRPr/>
                    </a:p>
                  </a:txBody>
                  <a:tcPr marT="45725" marB="45725" marR="91450" marL="91450"/>
                </a:tc>
              </a:tr>
            </a:tbl>
          </a:graphicData>
        </a:graphic>
      </p:graphicFrame>
      <p:sp>
        <p:nvSpPr>
          <p:cNvPr id="474" name="Google Shape;474;p35"/>
          <p:cNvSpPr txBox="1"/>
          <p:nvPr/>
        </p:nvSpPr>
        <p:spPr>
          <a:xfrm>
            <a:off x="7333982" y="1310238"/>
            <a:ext cx="2556597" cy="369332"/>
          </a:xfrm>
          <a:prstGeom prst="rect">
            <a:avLst/>
          </a:prstGeom>
          <a:blipFill rotWithShape="1">
            <a:blip r:embed="rId3">
              <a:alphaModFix/>
            </a:blip>
            <a:stretch>
              <a:fillRect b="-24588" l="-1907" r="-1191" t="-983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grpSp>
        <p:nvGrpSpPr>
          <p:cNvPr id="475" name="Google Shape;475;p35"/>
          <p:cNvGrpSpPr/>
          <p:nvPr/>
        </p:nvGrpSpPr>
        <p:grpSpPr>
          <a:xfrm>
            <a:off x="833080" y="3890146"/>
            <a:ext cx="5039891" cy="1096886"/>
            <a:chOff x="1849016" y="2994219"/>
            <a:chExt cx="8514183" cy="1853034"/>
          </a:xfrm>
        </p:grpSpPr>
        <p:sp>
          <p:nvSpPr>
            <p:cNvPr id="476" name="Google Shape;476;p35"/>
            <p:cNvSpPr/>
            <p:nvPr/>
          </p:nvSpPr>
          <p:spPr>
            <a:xfrm>
              <a:off x="5963816" y="4161453"/>
              <a:ext cx="1828800" cy="6858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Makes</a:t>
              </a:r>
              <a:endParaRPr/>
            </a:p>
          </p:txBody>
        </p:sp>
        <p:sp>
          <p:nvSpPr>
            <p:cNvPr id="477" name="Google Shape;477;p35"/>
            <p:cNvSpPr/>
            <p:nvPr/>
          </p:nvSpPr>
          <p:spPr>
            <a:xfrm>
              <a:off x="4058816" y="4237653"/>
              <a:ext cx="1219200"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Product</a:t>
              </a:r>
              <a:endParaRPr/>
            </a:p>
          </p:txBody>
        </p:sp>
        <p:sp>
          <p:nvSpPr>
            <p:cNvPr id="478" name="Google Shape;478;p35"/>
            <p:cNvSpPr/>
            <p:nvPr/>
          </p:nvSpPr>
          <p:spPr>
            <a:xfrm>
              <a:off x="2915816" y="3094653"/>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rgbClr val="000000"/>
                  </a:solidFill>
                  <a:latin typeface="Calibri"/>
                  <a:ea typeface="Calibri"/>
                  <a:cs typeface="Calibri"/>
                  <a:sym typeface="Calibri"/>
                </a:rPr>
                <a:t>name</a:t>
              </a:r>
              <a:endParaRPr/>
            </a:p>
          </p:txBody>
        </p:sp>
        <p:sp>
          <p:nvSpPr>
            <p:cNvPr id="479" name="Google Shape;479;p35"/>
            <p:cNvSpPr/>
            <p:nvPr/>
          </p:nvSpPr>
          <p:spPr>
            <a:xfrm>
              <a:off x="4516016" y="3170853"/>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category</a:t>
              </a:r>
              <a:endParaRPr/>
            </a:p>
          </p:txBody>
        </p:sp>
        <p:sp>
          <p:nvSpPr>
            <p:cNvPr id="480" name="Google Shape;480;p35"/>
            <p:cNvSpPr/>
            <p:nvPr/>
          </p:nvSpPr>
          <p:spPr>
            <a:xfrm>
              <a:off x="1849016" y="3704253"/>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price</a:t>
              </a:r>
              <a:endParaRPr/>
            </a:p>
          </p:txBody>
        </p:sp>
        <p:cxnSp>
          <p:nvCxnSpPr>
            <p:cNvPr id="481" name="Google Shape;481;p35"/>
            <p:cNvCxnSpPr/>
            <p:nvPr/>
          </p:nvCxnSpPr>
          <p:spPr>
            <a:xfrm flipH="1" rot="-5400000">
              <a:off x="3464438" y="3909973"/>
              <a:ext cx="214733" cy="974026"/>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482" name="Google Shape;482;p35"/>
            <p:cNvCxnSpPr/>
            <p:nvPr/>
          </p:nvCxnSpPr>
          <p:spPr>
            <a:xfrm flipH="1" rot="-5400000">
              <a:off x="4131188" y="3700423"/>
              <a:ext cx="557633" cy="516826"/>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483" name="Google Shape;483;p35"/>
            <p:cNvCxnSpPr/>
            <p:nvPr/>
          </p:nvCxnSpPr>
          <p:spPr>
            <a:xfrm rot="5400000">
              <a:off x="4763666" y="3761403"/>
              <a:ext cx="381000" cy="571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484" name="Google Shape;484;p35"/>
            <p:cNvSpPr/>
            <p:nvPr/>
          </p:nvSpPr>
          <p:spPr>
            <a:xfrm>
              <a:off x="8402216" y="4237653"/>
              <a:ext cx="1539551"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Company</a:t>
              </a:r>
              <a:endParaRPr/>
            </a:p>
          </p:txBody>
        </p:sp>
        <p:sp>
          <p:nvSpPr>
            <p:cNvPr id="485" name="Google Shape;485;p35"/>
            <p:cNvSpPr/>
            <p:nvPr/>
          </p:nvSpPr>
          <p:spPr>
            <a:xfrm>
              <a:off x="8915399" y="2994219"/>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rgbClr val="000000"/>
                  </a:solidFill>
                  <a:latin typeface="Calibri"/>
                  <a:ea typeface="Calibri"/>
                  <a:cs typeface="Calibri"/>
                  <a:sym typeface="Calibri"/>
                </a:rPr>
                <a:t>name</a:t>
              </a:r>
              <a:endParaRPr/>
            </a:p>
          </p:txBody>
        </p:sp>
        <p:cxnSp>
          <p:nvCxnSpPr>
            <p:cNvPr id="486" name="Google Shape;486;p35"/>
            <p:cNvCxnSpPr/>
            <p:nvPr/>
          </p:nvCxnSpPr>
          <p:spPr>
            <a:xfrm flipH="1">
              <a:off x="9171992" y="3680019"/>
              <a:ext cx="467307" cy="557634"/>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487" name="Google Shape;487;p35"/>
            <p:cNvCxnSpPr/>
            <p:nvPr/>
          </p:nvCxnSpPr>
          <p:spPr>
            <a:xfrm>
              <a:off x="5278016" y="4504353"/>
              <a:ext cx="685800" cy="1588"/>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488" name="Google Shape;488;p35"/>
            <p:cNvCxnSpPr/>
            <p:nvPr/>
          </p:nvCxnSpPr>
          <p:spPr>
            <a:xfrm>
              <a:off x="7792616" y="4504353"/>
              <a:ext cx="609600" cy="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489" name="Google Shape;489;p35"/>
          <p:cNvSpPr txBox="1"/>
          <p:nvPr/>
        </p:nvSpPr>
        <p:spPr>
          <a:xfrm>
            <a:off x="682783" y="5338583"/>
            <a:ext cx="6512981" cy="1200329"/>
          </a:xfrm>
          <a:prstGeom prst="rect">
            <a:avLst/>
          </a:prstGeom>
          <a:solidFill>
            <a:srgbClr val="D8E2F3"/>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A </a:t>
            </a:r>
            <a:r>
              <a:rPr b="1" lang="en-US" sz="2400" u="sng">
                <a:solidFill>
                  <a:srgbClr val="000000"/>
                </a:solidFill>
                <a:latin typeface="Calibri"/>
                <a:ea typeface="Calibri"/>
                <a:cs typeface="Calibri"/>
                <a:sym typeface="Calibri"/>
              </a:rPr>
              <a:t>relationship</a:t>
            </a:r>
            <a:r>
              <a:rPr lang="en-US" sz="2400">
                <a:solidFill>
                  <a:srgbClr val="000000"/>
                </a:solidFill>
                <a:latin typeface="Calibri"/>
                <a:ea typeface="Calibri"/>
                <a:cs typeface="Calibri"/>
                <a:sym typeface="Calibri"/>
              </a:rPr>
              <a:t> between </a:t>
            </a:r>
            <a:r>
              <a:rPr b="1" lang="en-US" sz="2400">
                <a:solidFill>
                  <a:srgbClr val="000000"/>
                </a:solidFill>
                <a:latin typeface="Calibri"/>
                <a:ea typeface="Calibri"/>
                <a:cs typeface="Calibri"/>
                <a:sym typeface="Calibri"/>
              </a:rPr>
              <a:t>entity sets P and C </a:t>
            </a:r>
            <a:r>
              <a:rPr lang="en-US" sz="2400">
                <a:solidFill>
                  <a:srgbClr val="000000"/>
                </a:solidFill>
                <a:latin typeface="Calibri"/>
                <a:ea typeface="Calibri"/>
                <a:cs typeface="Calibri"/>
                <a:sym typeface="Calibri"/>
              </a:rPr>
              <a:t>is a </a:t>
            </a:r>
            <a:r>
              <a:rPr b="1" i="1" lang="en-US" sz="2400">
                <a:solidFill>
                  <a:srgbClr val="000000"/>
                </a:solidFill>
                <a:latin typeface="Calibri"/>
                <a:ea typeface="Calibri"/>
                <a:cs typeface="Calibri"/>
                <a:sym typeface="Calibri"/>
              </a:rPr>
              <a:t>subset of all possible pairs of entities in P and C</a:t>
            </a:r>
            <a:r>
              <a:rPr lang="en-US" sz="2400">
                <a:solidFill>
                  <a:srgbClr val="000000"/>
                </a:solidFill>
                <a:latin typeface="Calibri"/>
                <a:ea typeface="Calibri"/>
                <a:cs typeface="Calibri"/>
                <a:sym typeface="Calibri"/>
              </a:rPr>
              <a:t>, with tuples uniquely identified by </a:t>
            </a:r>
            <a:r>
              <a:rPr b="1" i="1" lang="en-US" sz="2400">
                <a:solidFill>
                  <a:srgbClr val="000000"/>
                </a:solidFill>
                <a:latin typeface="Calibri"/>
                <a:ea typeface="Calibri"/>
                <a:cs typeface="Calibri"/>
                <a:sym typeface="Calibri"/>
              </a:rPr>
              <a:t>P and C’s keys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a Relationship?</a:t>
            </a:r>
            <a:endParaRPr/>
          </a:p>
        </p:txBody>
      </p:sp>
      <p:graphicFrame>
        <p:nvGraphicFramePr>
          <p:cNvPr id="495" name="Google Shape;495;p36"/>
          <p:cNvGraphicFramePr/>
          <p:nvPr/>
        </p:nvGraphicFramePr>
        <p:xfrm>
          <a:off x="2505508" y="1789957"/>
          <a:ext cx="3000000" cy="3000000"/>
        </p:xfrm>
        <a:graphic>
          <a:graphicData uri="http://schemas.openxmlformats.org/drawingml/2006/table">
            <a:tbl>
              <a:tblPr bandRow="1" firstRow="1">
                <a:noFill/>
                <a:tableStyleId>{6FC2B67F-B50F-4591-89C8-ECE6B8A8AB73}</a:tableStyleId>
              </a:tblPr>
              <a:tblGrid>
                <a:gridCol w="1015150"/>
                <a:gridCol w="1241400"/>
                <a:gridCol w="788900"/>
              </a:tblGrid>
              <a:tr h="234750">
                <a:tc>
                  <a:txBody>
                    <a:bodyPr/>
                    <a:lstStyle/>
                    <a:p>
                      <a:pPr indent="0" lvl="0" marL="0" marR="0" rtl="0" algn="l">
                        <a:spcBef>
                          <a:spcPts val="0"/>
                        </a:spcBef>
                        <a:spcAft>
                          <a:spcPts val="0"/>
                        </a:spcAft>
                        <a:buNone/>
                      </a:pPr>
                      <a:r>
                        <a:rPr lang="en-US" sz="1600" u="sng"/>
                        <a:t>name</a:t>
                      </a:r>
                      <a:endParaRPr/>
                    </a:p>
                  </a:txBody>
                  <a:tcPr marT="45725" marB="45725" marR="91450" marL="91450"/>
                </a:tc>
                <a:tc>
                  <a:txBody>
                    <a:bodyPr/>
                    <a:lstStyle/>
                    <a:p>
                      <a:pPr indent="0" lvl="0" marL="0" marR="0" rtl="0" algn="l">
                        <a:spcBef>
                          <a:spcPts val="0"/>
                        </a:spcBef>
                        <a:spcAft>
                          <a:spcPts val="0"/>
                        </a:spcAft>
                        <a:buNone/>
                      </a:pPr>
                      <a:r>
                        <a:rPr lang="en-US" sz="1600"/>
                        <a:t>category</a:t>
                      </a:r>
                      <a:endParaRPr/>
                    </a:p>
                  </a:txBody>
                  <a:tcPr marT="45725" marB="45725" marR="91450" marL="91450"/>
                </a:tc>
                <a:tc>
                  <a:txBody>
                    <a:bodyPr/>
                    <a:lstStyle/>
                    <a:p>
                      <a:pPr indent="0" lvl="0" marL="0" marR="0" rtl="0" algn="l">
                        <a:spcBef>
                          <a:spcPts val="0"/>
                        </a:spcBef>
                        <a:spcAft>
                          <a:spcPts val="0"/>
                        </a:spcAft>
                        <a:buNone/>
                      </a:pPr>
                      <a:r>
                        <a:rPr lang="en-US" sz="1600"/>
                        <a:t>price</a:t>
                      </a:r>
                      <a:endParaRPr/>
                    </a:p>
                  </a:txBody>
                  <a:tcPr marT="45725" marB="45725" marR="91450" marL="91450"/>
                </a:tc>
              </a:tr>
              <a:tr h="234750">
                <a:tc>
                  <a:txBody>
                    <a:bodyPr/>
                    <a:lstStyle/>
                    <a:p>
                      <a:pPr indent="0" lvl="0" marL="0" marR="0" rtl="0" algn="l">
                        <a:spcBef>
                          <a:spcPts val="0"/>
                        </a:spcBef>
                        <a:spcAft>
                          <a:spcPts val="0"/>
                        </a:spcAft>
                        <a:buNone/>
                      </a:pPr>
                      <a:r>
                        <a:rPr lang="en-US" sz="1600"/>
                        <a:t>Gizmo</a:t>
                      </a:r>
                      <a:endParaRPr/>
                    </a:p>
                  </a:txBody>
                  <a:tcPr marT="45725" marB="45725" marR="91450" marL="91450"/>
                </a:tc>
                <a:tc>
                  <a:txBody>
                    <a:bodyPr/>
                    <a:lstStyle/>
                    <a:p>
                      <a:pPr indent="0" lvl="0" marL="0" marR="0" rtl="0" algn="l">
                        <a:spcBef>
                          <a:spcPts val="0"/>
                        </a:spcBef>
                        <a:spcAft>
                          <a:spcPts val="0"/>
                        </a:spcAft>
                        <a:buNone/>
                      </a:pPr>
                      <a:r>
                        <a:rPr lang="en-US" sz="1600"/>
                        <a:t>Electronics</a:t>
                      </a:r>
                      <a:endParaRPr/>
                    </a:p>
                  </a:txBody>
                  <a:tcPr marT="45725" marB="45725" marR="91450" marL="91450"/>
                </a:tc>
                <a:tc>
                  <a:txBody>
                    <a:bodyPr/>
                    <a:lstStyle/>
                    <a:p>
                      <a:pPr indent="0" lvl="0" marL="0" marR="0" rtl="0" algn="l">
                        <a:spcBef>
                          <a:spcPts val="0"/>
                        </a:spcBef>
                        <a:spcAft>
                          <a:spcPts val="0"/>
                        </a:spcAft>
                        <a:buNone/>
                      </a:pPr>
                      <a:r>
                        <a:rPr lang="en-US" sz="1600"/>
                        <a:t>$9.99</a:t>
                      </a:r>
                      <a:endParaRPr/>
                    </a:p>
                  </a:txBody>
                  <a:tcPr marT="45725" marB="45725" marR="91450" marL="91450"/>
                </a:tc>
              </a:tr>
              <a:tr h="234750">
                <a:tc>
                  <a:txBody>
                    <a:bodyPr/>
                    <a:lstStyle/>
                    <a:p>
                      <a:pPr indent="0" lvl="0" marL="0" marR="0" rtl="0" algn="l">
                        <a:spcBef>
                          <a:spcPts val="0"/>
                        </a:spcBef>
                        <a:spcAft>
                          <a:spcPts val="0"/>
                        </a:spcAft>
                        <a:buNone/>
                      </a:pPr>
                      <a:r>
                        <a:rPr lang="en-US" sz="1600"/>
                        <a:t>GizmoLite</a:t>
                      </a:r>
                      <a:endParaRPr sz="1600"/>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Calibri"/>
                        <a:buNone/>
                      </a:pPr>
                      <a:r>
                        <a:rPr lang="en-US" sz="1600"/>
                        <a:t>Electronics</a:t>
                      </a:r>
                      <a:endParaRPr/>
                    </a:p>
                  </a:txBody>
                  <a:tcPr marT="45725" marB="45725" marR="91450" marL="91450"/>
                </a:tc>
                <a:tc>
                  <a:txBody>
                    <a:bodyPr/>
                    <a:lstStyle/>
                    <a:p>
                      <a:pPr indent="0" lvl="0" marL="0" marR="0" rtl="0" algn="l">
                        <a:spcBef>
                          <a:spcPts val="0"/>
                        </a:spcBef>
                        <a:spcAft>
                          <a:spcPts val="0"/>
                        </a:spcAft>
                        <a:buNone/>
                      </a:pPr>
                      <a:r>
                        <a:rPr lang="en-US" sz="1600"/>
                        <a:t>$7.50</a:t>
                      </a:r>
                      <a:endParaRPr/>
                    </a:p>
                  </a:txBody>
                  <a:tcPr marT="45725" marB="45725" marR="91450" marL="91450"/>
                </a:tc>
              </a:tr>
              <a:tr h="343325">
                <a:tc>
                  <a:txBody>
                    <a:bodyPr/>
                    <a:lstStyle/>
                    <a:p>
                      <a:pPr indent="0" lvl="0" marL="0" marR="0" rtl="0" algn="l">
                        <a:spcBef>
                          <a:spcPts val="0"/>
                        </a:spcBef>
                        <a:spcAft>
                          <a:spcPts val="0"/>
                        </a:spcAft>
                        <a:buNone/>
                      </a:pPr>
                      <a:r>
                        <a:rPr lang="en-US" sz="1600"/>
                        <a:t>Gadget</a:t>
                      </a:r>
                      <a:endParaRPr/>
                    </a:p>
                  </a:txBody>
                  <a:tcPr marT="45725" marB="45725" marR="91450" marL="91450"/>
                </a:tc>
                <a:tc>
                  <a:txBody>
                    <a:bodyPr/>
                    <a:lstStyle/>
                    <a:p>
                      <a:pPr indent="0" lvl="0" marL="0" marR="0" rtl="0" algn="l">
                        <a:spcBef>
                          <a:spcPts val="0"/>
                        </a:spcBef>
                        <a:spcAft>
                          <a:spcPts val="0"/>
                        </a:spcAft>
                        <a:buNone/>
                      </a:pPr>
                      <a:r>
                        <a:rPr lang="en-US" sz="1600"/>
                        <a:t>Toys</a:t>
                      </a:r>
                      <a:endParaRPr/>
                    </a:p>
                  </a:txBody>
                  <a:tcPr marT="45725" marB="45725" marR="91450" marL="91450"/>
                </a:tc>
                <a:tc>
                  <a:txBody>
                    <a:bodyPr/>
                    <a:lstStyle/>
                    <a:p>
                      <a:pPr indent="0" lvl="0" marL="0" marR="0" rtl="0" algn="l">
                        <a:spcBef>
                          <a:spcPts val="0"/>
                        </a:spcBef>
                        <a:spcAft>
                          <a:spcPts val="0"/>
                        </a:spcAft>
                        <a:buNone/>
                      </a:pPr>
                      <a:r>
                        <a:rPr lang="en-US" sz="1600"/>
                        <a:t>$5.50</a:t>
                      </a:r>
                      <a:endParaRPr/>
                    </a:p>
                  </a:txBody>
                  <a:tcPr marT="45725" marB="45725" marR="91450" marL="91450"/>
                </a:tc>
              </a:tr>
            </a:tbl>
          </a:graphicData>
        </a:graphic>
      </p:graphicFrame>
      <p:graphicFrame>
        <p:nvGraphicFramePr>
          <p:cNvPr id="496" name="Google Shape;496;p36"/>
          <p:cNvGraphicFramePr/>
          <p:nvPr/>
        </p:nvGraphicFramePr>
        <p:xfrm>
          <a:off x="895216" y="1804245"/>
          <a:ext cx="3000000" cy="3000000"/>
        </p:xfrm>
        <a:graphic>
          <a:graphicData uri="http://schemas.openxmlformats.org/drawingml/2006/table">
            <a:tbl>
              <a:tblPr bandRow="1" firstRow="1">
                <a:noFill/>
                <a:tableStyleId>{6FC2B67F-B50F-4591-89C8-ECE6B8A8AB73}</a:tableStyleId>
              </a:tblPr>
              <a:tblGrid>
                <a:gridCol w="1327300"/>
              </a:tblGrid>
              <a:tr h="261650">
                <a:tc>
                  <a:txBody>
                    <a:bodyPr/>
                    <a:lstStyle/>
                    <a:p>
                      <a:pPr indent="0" lvl="0" marL="0" marR="0" rtl="0" algn="l">
                        <a:spcBef>
                          <a:spcPts val="0"/>
                        </a:spcBef>
                        <a:spcAft>
                          <a:spcPts val="0"/>
                        </a:spcAft>
                        <a:buNone/>
                      </a:pPr>
                      <a:r>
                        <a:rPr lang="en-US" sz="1600" u="sng"/>
                        <a:t>name</a:t>
                      </a:r>
                      <a:endParaRPr/>
                    </a:p>
                  </a:txBody>
                  <a:tcPr marT="45725" marB="45725" marR="91450" marL="91450"/>
                </a:tc>
              </a:tr>
              <a:tr h="340025">
                <a:tc>
                  <a:txBody>
                    <a:bodyPr/>
                    <a:lstStyle/>
                    <a:p>
                      <a:pPr indent="0" lvl="0" marL="0" marR="0" rtl="0" algn="l">
                        <a:spcBef>
                          <a:spcPts val="0"/>
                        </a:spcBef>
                        <a:spcAft>
                          <a:spcPts val="0"/>
                        </a:spcAft>
                        <a:buNone/>
                      </a:pPr>
                      <a:r>
                        <a:rPr lang="en-US" sz="1600"/>
                        <a:t>GizmoWorks</a:t>
                      </a:r>
                      <a:endParaRPr sz="1600"/>
                    </a:p>
                  </a:txBody>
                  <a:tcPr marT="45725" marB="45725" marR="91450" marL="91450"/>
                </a:tc>
              </a:tr>
              <a:tr h="261650">
                <a:tc>
                  <a:txBody>
                    <a:bodyPr/>
                    <a:lstStyle/>
                    <a:p>
                      <a:pPr indent="0" lvl="0" marL="0" marR="0" rtl="0" algn="l">
                        <a:spcBef>
                          <a:spcPts val="0"/>
                        </a:spcBef>
                        <a:spcAft>
                          <a:spcPts val="0"/>
                        </a:spcAft>
                        <a:buNone/>
                      </a:pPr>
                      <a:r>
                        <a:rPr lang="en-US" sz="1600"/>
                        <a:t>GadgetCorp</a:t>
                      </a:r>
                      <a:endParaRPr sz="1600"/>
                    </a:p>
                  </a:txBody>
                  <a:tcPr marT="45725" marB="45725" marR="91450" marL="91450"/>
                </a:tc>
              </a:tr>
            </a:tbl>
          </a:graphicData>
        </a:graphic>
      </p:graphicFrame>
      <p:sp>
        <p:nvSpPr>
          <p:cNvPr id="497" name="Google Shape;497;p36"/>
          <p:cNvSpPr txBox="1"/>
          <p:nvPr/>
        </p:nvSpPr>
        <p:spPr>
          <a:xfrm>
            <a:off x="2505508" y="1420625"/>
            <a:ext cx="93371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2"/>
                </a:solidFill>
                <a:latin typeface="Calibri"/>
                <a:ea typeface="Calibri"/>
                <a:cs typeface="Calibri"/>
                <a:sym typeface="Calibri"/>
              </a:rPr>
              <a:t>Product</a:t>
            </a:r>
            <a:endParaRPr/>
          </a:p>
        </p:txBody>
      </p:sp>
      <p:sp>
        <p:nvSpPr>
          <p:cNvPr id="498" name="Google Shape;498;p36"/>
          <p:cNvSpPr txBox="1"/>
          <p:nvPr/>
        </p:nvSpPr>
        <p:spPr>
          <a:xfrm>
            <a:off x="833080" y="1434913"/>
            <a:ext cx="108298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2"/>
                </a:solidFill>
                <a:latin typeface="Calibri"/>
                <a:ea typeface="Calibri"/>
                <a:cs typeface="Calibri"/>
                <a:sym typeface="Calibri"/>
              </a:rPr>
              <a:t>Company</a:t>
            </a:r>
            <a:endParaRPr/>
          </a:p>
        </p:txBody>
      </p:sp>
      <p:sp>
        <p:nvSpPr>
          <p:cNvPr id="499" name="Google Shape;499;p36"/>
          <p:cNvSpPr/>
          <p:nvPr/>
        </p:nvSpPr>
        <p:spPr>
          <a:xfrm>
            <a:off x="6096000" y="2131519"/>
            <a:ext cx="746234" cy="536027"/>
          </a:xfrm>
          <a:prstGeom prst="rightArrow">
            <a:avLst>
              <a:gd fmla="val 50000" name="adj1"/>
              <a:gd fmla="val 50000" name="adj2"/>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500" name="Google Shape;500;p36"/>
          <p:cNvGraphicFramePr/>
          <p:nvPr/>
        </p:nvGraphicFramePr>
        <p:xfrm>
          <a:off x="7346061" y="1724948"/>
          <a:ext cx="3000000" cy="3000000"/>
        </p:xfrm>
        <a:graphic>
          <a:graphicData uri="http://schemas.openxmlformats.org/drawingml/2006/table">
            <a:tbl>
              <a:tblPr bandRow="1" firstRow="1">
                <a:noFill/>
                <a:tableStyleId>{6FC2B67F-B50F-4591-89C8-ECE6B8A8AB73}</a:tableStyleId>
              </a:tblPr>
              <a:tblGrid>
                <a:gridCol w="1261900"/>
                <a:gridCol w="1061550"/>
                <a:gridCol w="1250725"/>
                <a:gridCol w="861850"/>
              </a:tblGrid>
              <a:tr h="234750">
                <a:tc>
                  <a:txBody>
                    <a:bodyPr/>
                    <a:lstStyle/>
                    <a:p>
                      <a:pPr indent="0" lvl="0" marL="0" marR="0" rtl="0" algn="l">
                        <a:spcBef>
                          <a:spcPts val="0"/>
                        </a:spcBef>
                        <a:spcAft>
                          <a:spcPts val="0"/>
                        </a:spcAft>
                        <a:buNone/>
                      </a:pPr>
                      <a:r>
                        <a:rPr lang="en-US" sz="1600" u="sng"/>
                        <a:t>C.name</a:t>
                      </a:r>
                      <a:endParaRPr sz="1600" u="sng"/>
                    </a:p>
                  </a:txBody>
                  <a:tcPr marT="45725" marB="45725" marR="91450" marL="91450"/>
                </a:tc>
                <a:tc>
                  <a:txBody>
                    <a:bodyPr/>
                    <a:lstStyle/>
                    <a:p>
                      <a:pPr indent="0" lvl="0" marL="0" marR="0" rtl="0" algn="l">
                        <a:spcBef>
                          <a:spcPts val="0"/>
                        </a:spcBef>
                        <a:spcAft>
                          <a:spcPts val="0"/>
                        </a:spcAft>
                        <a:buNone/>
                      </a:pPr>
                      <a:r>
                        <a:rPr lang="en-US" sz="1600" u="sng"/>
                        <a:t>P.name</a:t>
                      </a:r>
                      <a:endParaRPr sz="1600" u="sng"/>
                    </a:p>
                  </a:txBody>
                  <a:tcPr marT="45725" marB="45725" marR="91450" marL="91450"/>
                </a:tc>
                <a:tc>
                  <a:txBody>
                    <a:bodyPr/>
                    <a:lstStyle/>
                    <a:p>
                      <a:pPr indent="0" lvl="0" marL="0" marR="0" rtl="0" algn="l">
                        <a:spcBef>
                          <a:spcPts val="0"/>
                        </a:spcBef>
                        <a:spcAft>
                          <a:spcPts val="0"/>
                        </a:spcAft>
                        <a:buNone/>
                      </a:pPr>
                      <a:r>
                        <a:rPr lang="en-US" sz="1600"/>
                        <a:t>P.category</a:t>
                      </a:r>
                      <a:endParaRPr sz="1600"/>
                    </a:p>
                  </a:txBody>
                  <a:tcPr marT="45725" marB="45725" marR="91450" marL="91450"/>
                </a:tc>
                <a:tc>
                  <a:txBody>
                    <a:bodyPr/>
                    <a:lstStyle/>
                    <a:p>
                      <a:pPr indent="0" lvl="0" marL="0" marR="0" rtl="0" algn="l">
                        <a:spcBef>
                          <a:spcPts val="0"/>
                        </a:spcBef>
                        <a:spcAft>
                          <a:spcPts val="0"/>
                        </a:spcAft>
                        <a:buNone/>
                      </a:pPr>
                      <a:r>
                        <a:rPr lang="en-US" sz="1600"/>
                        <a:t>P.price</a:t>
                      </a:r>
                      <a:endParaRPr sz="1600"/>
                    </a:p>
                  </a:txBody>
                  <a:tcPr marT="45725" marB="45725" marR="91450" marL="91450"/>
                </a:tc>
              </a:tr>
              <a:tr h="234750">
                <a:tc>
                  <a:txBody>
                    <a:bodyPr/>
                    <a:lstStyle/>
                    <a:p>
                      <a:pPr indent="0" lvl="0" marL="0" marR="0" rtl="0" algn="l">
                        <a:spcBef>
                          <a:spcPts val="0"/>
                        </a:spcBef>
                        <a:spcAft>
                          <a:spcPts val="0"/>
                        </a:spcAft>
                        <a:buNone/>
                      </a:pPr>
                      <a:r>
                        <a:rPr lang="en-US" sz="1600"/>
                        <a:t>GizmoWorks</a:t>
                      </a:r>
                      <a:endParaRPr sz="1600"/>
                    </a:p>
                  </a:txBody>
                  <a:tcPr marT="45725" marB="45725" marR="91450" marL="91450"/>
                </a:tc>
                <a:tc>
                  <a:txBody>
                    <a:bodyPr/>
                    <a:lstStyle/>
                    <a:p>
                      <a:pPr indent="0" lvl="0" marL="0" marR="0" rtl="0" algn="l">
                        <a:spcBef>
                          <a:spcPts val="0"/>
                        </a:spcBef>
                        <a:spcAft>
                          <a:spcPts val="0"/>
                        </a:spcAft>
                        <a:buNone/>
                      </a:pPr>
                      <a:r>
                        <a:rPr lang="en-US" sz="1600"/>
                        <a:t>Gizmo</a:t>
                      </a:r>
                      <a:endParaRPr/>
                    </a:p>
                  </a:txBody>
                  <a:tcPr marT="45725" marB="45725" marR="91450" marL="91450"/>
                </a:tc>
                <a:tc>
                  <a:txBody>
                    <a:bodyPr/>
                    <a:lstStyle/>
                    <a:p>
                      <a:pPr indent="0" lvl="0" marL="0" marR="0" rtl="0" algn="l">
                        <a:spcBef>
                          <a:spcPts val="0"/>
                        </a:spcBef>
                        <a:spcAft>
                          <a:spcPts val="0"/>
                        </a:spcAft>
                        <a:buNone/>
                      </a:pPr>
                      <a:r>
                        <a:rPr lang="en-US" sz="1600"/>
                        <a:t>Electronics</a:t>
                      </a:r>
                      <a:endParaRPr/>
                    </a:p>
                  </a:txBody>
                  <a:tcPr marT="45725" marB="45725" marR="91450" marL="91450"/>
                </a:tc>
                <a:tc>
                  <a:txBody>
                    <a:bodyPr/>
                    <a:lstStyle/>
                    <a:p>
                      <a:pPr indent="0" lvl="0" marL="0" marR="0" rtl="0" algn="l">
                        <a:spcBef>
                          <a:spcPts val="0"/>
                        </a:spcBef>
                        <a:spcAft>
                          <a:spcPts val="0"/>
                        </a:spcAft>
                        <a:buNone/>
                      </a:pPr>
                      <a:r>
                        <a:rPr lang="en-US" sz="1600"/>
                        <a:t>$9.99</a:t>
                      </a:r>
                      <a:endParaRPr/>
                    </a:p>
                  </a:txBody>
                  <a:tcPr marT="45725" marB="45725" marR="91450" marL="91450"/>
                </a:tc>
              </a:tr>
              <a:tr h="234750">
                <a:tc>
                  <a:txBody>
                    <a:bodyPr/>
                    <a:lstStyle/>
                    <a:p>
                      <a:pPr indent="0" lvl="0" marL="0" marR="0" rtl="0" algn="l">
                        <a:spcBef>
                          <a:spcPts val="0"/>
                        </a:spcBef>
                        <a:spcAft>
                          <a:spcPts val="0"/>
                        </a:spcAft>
                        <a:buNone/>
                      </a:pPr>
                      <a:r>
                        <a:rPr lang="en-US" sz="1600"/>
                        <a:t>GizmoWorks</a:t>
                      </a:r>
                      <a:endParaRPr sz="1600"/>
                    </a:p>
                  </a:txBody>
                  <a:tcPr marT="45725" marB="45725" marR="91450" marL="91450"/>
                </a:tc>
                <a:tc>
                  <a:txBody>
                    <a:bodyPr/>
                    <a:lstStyle/>
                    <a:p>
                      <a:pPr indent="0" lvl="0" marL="0" marR="0" rtl="0" algn="l">
                        <a:spcBef>
                          <a:spcPts val="0"/>
                        </a:spcBef>
                        <a:spcAft>
                          <a:spcPts val="0"/>
                        </a:spcAft>
                        <a:buNone/>
                      </a:pPr>
                      <a:r>
                        <a:rPr lang="en-US" sz="1600"/>
                        <a:t>GizmoLite</a:t>
                      </a:r>
                      <a:endParaRPr sz="1600"/>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Calibri"/>
                        <a:buNone/>
                      </a:pPr>
                      <a:r>
                        <a:rPr lang="en-US" sz="1600"/>
                        <a:t>Electronics</a:t>
                      </a:r>
                      <a:endParaRPr/>
                    </a:p>
                  </a:txBody>
                  <a:tcPr marT="45725" marB="45725" marR="91450" marL="91450"/>
                </a:tc>
                <a:tc>
                  <a:txBody>
                    <a:bodyPr/>
                    <a:lstStyle/>
                    <a:p>
                      <a:pPr indent="0" lvl="0" marL="0" marR="0" rtl="0" algn="l">
                        <a:spcBef>
                          <a:spcPts val="0"/>
                        </a:spcBef>
                        <a:spcAft>
                          <a:spcPts val="0"/>
                        </a:spcAft>
                        <a:buNone/>
                      </a:pPr>
                      <a:r>
                        <a:rPr lang="en-US" sz="1600"/>
                        <a:t>$7.50</a:t>
                      </a:r>
                      <a:endParaRPr/>
                    </a:p>
                  </a:txBody>
                  <a:tcPr marT="45725" marB="45725" marR="91450" marL="91450"/>
                </a:tc>
              </a:tr>
              <a:tr h="343325">
                <a:tc>
                  <a:txBody>
                    <a:bodyPr/>
                    <a:lstStyle/>
                    <a:p>
                      <a:pPr indent="0" lvl="0" marL="0" marR="0" rtl="0" algn="l">
                        <a:spcBef>
                          <a:spcPts val="0"/>
                        </a:spcBef>
                        <a:spcAft>
                          <a:spcPts val="0"/>
                        </a:spcAft>
                        <a:buNone/>
                      </a:pPr>
                      <a:r>
                        <a:rPr lang="en-US" sz="1600"/>
                        <a:t>GizmoWorks</a:t>
                      </a:r>
                      <a:endParaRPr sz="1600"/>
                    </a:p>
                  </a:txBody>
                  <a:tcPr marT="45725" marB="45725" marR="91450" marL="91450"/>
                </a:tc>
                <a:tc>
                  <a:txBody>
                    <a:bodyPr/>
                    <a:lstStyle/>
                    <a:p>
                      <a:pPr indent="0" lvl="0" marL="0" marR="0" rtl="0" algn="l">
                        <a:spcBef>
                          <a:spcPts val="0"/>
                        </a:spcBef>
                        <a:spcAft>
                          <a:spcPts val="0"/>
                        </a:spcAft>
                        <a:buNone/>
                      </a:pPr>
                      <a:r>
                        <a:rPr lang="en-US" sz="1600"/>
                        <a:t>Gadget</a:t>
                      </a:r>
                      <a:endParaRPr/>
                    </a:p>
                  </a:txBody>
                  <a:tcPr marT="45725" marB="45725" marR="91450" marL="91450"/>
                </a:tc>
                <a:tc>
                  <a:txBody>
                    <a:bodyPr/>
                    <a:lstStyle/>
                    <a:p>
                      <a:pPr indent="0" lvl="0" marL="0" marR="0" rtl="0" algn="l">
                        <a:spcBef>
                          <a:spcPts val="0"/>
                        </a:spcBef>
                        <a:spcAft>
                          <a:spcPts val="0"/>
                        </a:spcAft>
                        <a:buNone/>
                      </a:pPr>
                      <a:r>
                        <a:rPr lang="en-US" sz="1600"/>
                        <a:t>Toys</a:t>
                      </a:r>
                      <a:endParaRPr/>
                    </a:p>
                  </a:txBody>
                  <a:tcPr marT="45725" marB="45725" marR="91450" marL="91450"/>
                </a:tc>
                <a:tc>
                  <a:txBody>
                    <a:bodyPr/>
                    <a:lstStyle/>
                    <a:p>
                      <a:pPr indent="0" lvl="0" marL="0" marR="0" rtl="0" algn="l">
                        <a:spcBef>
                          <a:spcPts val="0"/>
                        </a:spcBef>
                        <a:spcAft>
                          <a:spcPts val="0"/>
                        </a:spcAft>
                        <a:buNone/>
                      </a:pPr>
                      <a:r>
                        <a:rPr lang="en-US" sz="1600"/>
                        <a:t>$5.50</a:t>
                      </a:r>
                      <a:endParaRPr/>
                    </a:p>
                  </a:txBody>
                  <a:tcPr marT="45725" marB="45725" marR="91450" marL="91450"/>
                </a:tc>
              </a:tr>
              <a:tr h="343325">
                <a:tc>
                  <a:txBody>
                    <a:bodyPr/>
                    <a:lstStyle/>
                    <a:p>
                      <a:pPr indent="0" lvl="0" marL="0" marR="0" rtl="0" algn="l">
                        <a:spcBef>
                          <a:spcPts val="0"/>
                        </a:spcBef>
                        <a:spcAft>
                          <a:spcPts val="0"/>
                        </a:spcAft>
                        <a:buNone/>
                      </a:pPr>
                      <a:r>
                        <a:rPr lang="en-US" sz="1600"/>
                        <a:t>GadgetCorp</a:t>
                      </a:r>
                      <a:endParaRPr sz="1600"/>
                    </a:p>
                  </a:txBody>
                  <a:tcPr marT="45725" marB="45725" marR="91450" marL="91450"/>
                </a:tc>
                <a:tc>
                  <a:txBody>
                    <a:bodyPr/>
                    <a:lstStyle/>
                    <a:p>
                      <a:pPr indent="0" lvl="0" marL="0" marR="0" rtl="0" algn="l">
                        <a:spcBef>
                          <a:spcPts val="0"/>
                        </a:spcBef>
                        <a:spcAft>
                          <a:spcPts val="0"/>
                        </a:spcAft>
                        <a:buNone/>
                      </a:pPr>
                      <a:r>
                        <a:rPr lang="en-US" sz="1600"/>
                        <a:t>Gizmo</a:t>
                      </a:r>
                      <a:endParaRPr/>
                    </a:p>
                  </a:txBody>
                  <a:tcPr marT="45725" marB="45725" marR="91450" marL="91450"/>
                </a:tc>
                <a:tc>
                  <a:txBody>
                    <a:bodyPr/>
                    <a:lstStyle/>
                    <a:p>
                      <a:pPr indent="0" lvl="0" marL="0" marR="0" rtl="0" algn="l">
                        <a:spcBef>
                          <a:spcPts val="0"/>
                        </a:spcBef>
                        <a:spcAft>
                          <a:spcPts val="0"/>
                        </a:spcAft>
                        <a:buNone/>
                      </a:pPr>
                      <a:r>
                        <a:rPr lang="en-US" sz="1600"/>
                        <a:t>Electronics</a:t>
                      </a:r>
                      <a:endParaRPr/>
                    </a:p>
                  </a:txBody>
                  <a:tcPr marT="45725" marB="45725" marR="91450" marL="91450"/>
                </a:tc>
                <a:tc>
                  <a:txBody>
                    <a:bodyPr/>
                    <a:lstStyle/>
                    <a:p>
                      <a:pPr indent="0" lvl="0" marL="0" marR="0" rtl="0" algn="l">
                        <a:spcBef>
                          <a:spcPts val="0"/>
                        </a:spcBef>
                        <a:spcAft>
                          <a:spcPts val="0"/>
                        </a:spcAft>
                        <a:buNone/>
                      </a:pPr>
                      <a:r>
                        <a:rPr lang="en-US" sz="1600"/>
                        <a:t>$9.99</a:t>
                      </a:r>
                      <a:endParaRPr/>
                    </a:p>
                  </a:txBody>
                  <a:tcPr marT="45725" marB="45725" marR="91450" marL="91450"/>
                </a:tc>
              </a:tr>
              <a:tr h="343325">
                <a:tc>
                  <a:txBody>
                    <a:bodyPr/>
                    <a:lstStyle/>
                    <a:p>
                      <a:pPr indent="0" lvl="0" marL="0" marR="0" rtl="0" algn="l">
                        <a:lnSpc>
                          <a:spcPct val="100000"/>
                        </a:lnSpc>
                        <a:spcBef>
                          <a:spcPts val="0"/>
                        </a:spcBef>
                        <a:spcAft>
                          <a:spcPts val="0"/>
                        </a:spcAft>
                        <a:buClr>
                          <a:schemeClr val="dk1"/>
                        </a:buClr>
                        <a:buSzPts val="1600"/>
                        <a:buFont typeface="Calibri"/>
                        <a:buNone/>
                      </a:pPr>
                      <a:r>
                        <a:rPr lang="en-US" sz="1600"/>
                        <a:t>GadgetCorp</a:t>
                      </a:r>
                      <a:endParaRPr sz="1600"/>
                    </a:p>
                  </a:txBody>
                  <a:tcPr marT="45725" marB="45725" marR="91450" marL="91450"/>
                </a:tc>
                <a:tc>
                  <a:txBody>
                    <a:bodyPr/>
                    <a:lstStyle/>
                    <a:p>
                      <a:pPr indent="0" lvl="0" marL="0" marR="0" rtl="0" algn="l">
                        <a:spcBef>
                          <a:spcPts val="0"/>
                        </a:spcBef>
                        <a:spcAft>
                          <a:spcPts val="0"/>
                        </a:spcAft>
                        <a:buNone/>
                      </a:pPr>
                      <a:r>
                        <a:rPr lang="en-US" sz="1600"/>
                        <a:t>GizmoLite</a:t>
                      </a:r>
                      <a:endParaRPr sz="1600"/>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Calibri"/>
                        <a:buNone/>
                      </a:pPr>
                      <a:r>
                        <a:rPr lang="en-US" sz="1600"/>
                        <a:t>Electronics</a:t>
                      </a:r>
                      <a:endParaRPr/>
                    </a:p>
                  </a:txBody>
                  <a:tcPr marT="45725" marB="45725" marR="91450" marL="91450"/>
                </a:tc>
                <a:tc>
                  <a:txBody>
                    <a:bodyPr/>
                    <a:lstStyle/>
                    <a:p>
                      <a:pPr indent="0" lvl="0" marL="0" marR="0" rtl="0" algn="l">
                        <a:spcBef>
                          <a:spcPts val="0"/>
                        </a:spcBef>
                        <a:spcAft>
                          <a:spcPts val="0"/>
                        </a:spcAft>
                        <a:buNone/>
                      </a:pPr>
                      <a:r>
                        <a:rPr lang="en-US" sz="1600"/>
                        <a:t>$7.50</a:t>
                      </a:r>
                      <a:endParaRPr/>
                    </a:p>
                  </a:txBody>
                  <a:tcPr marT="45725" marB="45725" marR="91450" marL="91450"/>
                </a:tc>
              </a:tr>
              <a:tr h="343325">
                <a:tc>
                  <a:txBody>
                    <a:bodyPr/>
                    <a:lstStyle/>
                    <a:p>
                      <a:pPr indent="0" lvl="0" marL="0" marR="0" rtl="0" algn="l">
                        <a:lnSpc>
                          <a:spcPct val="100000"/>
                        </a:lnSpc>
                        <a:spcBef>
                          <a:spcPts val="0"/>
                        </a:spcBef>
                        <a:spcAft>
                          <a:spcPts val="0"/>
                        </a:spcAft>
                        <a:buClr>
                          <a:schemeClr val="dk1"/>
                        </a:buClr>
                        <a:buSzPts val="1600"/>
                        <a:buFont typeface="Calibri"/>
                        <a:buNone/>
                      </a:pPr>
                      <a:r>
                        <a:rPr lang="en-US" sz="1600"/>
                        <a:t>GadgetCorp</a:t>
                      </a:r>
                      <a:endParaRPr sz="1600"/>
                    </a:p>
                  </a:txBody>
                  <a:tcPr marT="45725" marB="45725" marR="91450" marL="91450"/>
                </a:tc>
                <a:tc>
                  <a:txBody>
                    <a:bodyPr/>
                    <a:lstStyle/>
                    <a:p>
                      <a:pPr indent="0" lvl="0" marL="0" marR="0" rtl="0" algn="l">
                        <a:spcBef>
                          <a:spcPts val="0"/>
                        </a:spcBef>
                        <a:spcAft>
                          <a:spcPts val="0"/>
                        </a:spcAft>
                        <a:buNone/>
                      </a:pPr>
                      <a:r>
                        <a:rPr lang="en-US" sz="1600"/>
                        <a:t>Gadget</a:t>
                      </a:r>
                      <a:endParaRPr/>
                    </a:p>
                  </a:txBody>
                  <a:tcPr marT="45725" marB="45725" marR="91450" marL="91450"/>
                </a:tc>
                <a:tc>
                  <a:txBody>
                    <a:bodyPr/>
                    <a:lstStyle/>
                    <a:p>
                      <a:pPr indent="0" lvl="0" marL="0" marR="0" rtl="0" algn="l">
                        <a:spcBef>
                          <a:spcPts val="0"/>
                        </a:spcBef>
                        <a:spcAft>
                          <a:spcPts val="0"/>
                        </a:spcAft>
                        <a:buNone/>
                      </a:pPr>
                      <a:r>
                        <a:rPr lang="en-US" sz="1600"/>
                        <a:t>Toys</a:t>
                      </a:r>
                      <a:endParaRPr/>
                    </a:p>
                  </a:txBody>
                  <a:tcPr marT="45725" marB="45725" marR="91450" marL="91450"/>
                </a:tc>
                <a:tc>
                  <a:txBody>
                    <a:bodyPr/>
                    <a:lstStyle/>
                    <a:p>
                      <a:pPr indent="0" lvl="0" marL="0" marR="0" rtl="0" algn="l">
                        <a:spcBef>
                          <a:spcPts val="0"/>
                        </a:spcBef>
                        <a:spcAft>
                          <a:spcPts val="0"/>
                        </a:spcAft>
                        <a:buNone/>
                      </a:pPr>
                      <a:r>
                        <a:rPr lang="en-US" sz="1600"/>
                        <a:t>$5.50</a:t>
                      </a:r>
                      <a:endParaRPr/>
                    </a:p>
                  </a:txBody>
                  <a:tcPr marT="45725" marB="45725" marR="91450" marL="91450"/>
                </a:tc>
              </a:tr>
            </a:tbl>
          </a:graphicData>
        </a:graphic>
      </p:graphicFrame>
      <p:sp>
        <p:nvSpPr>
          <p:cNvPr id="501" name="Google Shape;501;p36"/>
          <p:cNvSpPr txBox="1"/>
          <p:nvPr/>
        </p:nvSpPr>
        <p:spPr>
          <a:xfrm>
            <a:off x="7333982" y="1310238"/>
            <a:ext cx="2554995" cy="369332"/>
          </a:xfrm>
          <a:prstGeom prst="rect">
            <a:avLst/>
          </a:prstGeom>
          <a:blipFill rotWithShape="1">
            <a:blip r:embed="rId3">
              <a:alphaModFix/>
            </a:blip>
            <a:stretch>
              <a:fillRect b="-24588" l="-1907" r="-1191" t="-983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502" name="Google Shape;502;p36"/>
          <p:cNvSpPr/>
          <p:nvPr/>
        </p:nvSpPr>
        <p:spPr>
          <a:xfrm>
            <a:off x="9348617" y="4298731"/>
            <a:ext cx="430922" cy="450609"/>
          </a:xfrm>
          <a:prstGeom prst="downArrow">
            <a:avLst>
              <a:gd fmla="val 50000" name="adj1"/>
              <a:gd fmla="val 50000" name="adj2"/>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503" name="Google Shape;503;p36"/>
          <p:cNvGraphicFramePr/>
          <p:nvPr/>
        </p:nvGraphicFramePr>
        <p:xfrm>
          <a:off x="8410537" y="5164365"/>
          <a:ext cx="3000000" cy="3000000"/>
        </p:xfrm>
        <a:graphic>
          <a:graphicData uri="http://schemas.openxmlformats.org/drawingml/2006/table">
            <a:tbl>
              <a:tblPr bandRow="1" firstRow="1">
                <a:noFill/>
                <a:tableStyleId>{6FC2B67F-B50F-4591-89C8-ECE6B8A8AB73}</a:tableStyleId>
              </a:tblPr>
              <a:tblGrid>
                <a:gridCol w="1261900"/>
                <a:gridCol w="1061550"/>
              </a:tblGrid>
              <a:tr h="234750">
                <a:tc>
                  <a:txBody>
                    <a:bodyPr/>
                    <a:lstStyle/>
                    <a:p>
                      <a:pPr indent="0" lvl="0" marL="0" marR="0" rtl="0" algn="l">
                        <a:spcBef>
                          <a:spcPts val="0"/>
                        </a:spcBef>
                        <a:spcAft>
                          <a:spcPts val="0"/>
                        </a:spcAft>
                        <a:buNone/>
                      </a:pPr>
                      <a:r>
                        <a:rPr lang="en-US" sz="1600" u="sng"/>
                        <a:t>C.name</a:t>
                      </a:r>
                      <a:endParaRPr sz="1600" u="sng"/>
                    </a:p>
                  </a:txBody>
                  <a:tcPr marT="45725" marB="45725" marR="91450" marL="91450"/>
                </a:tc>
                <a:tc>
                  <a:txBody>
                    <a:bodyPr/>
                    <a:lstStyle/>
                    <a:p>
                      <a:pPr indent="0" lvl="0" marL="0" marR="0" rtl="0" algn="l">
                        <a:spcBef>
                          <a:spcPts val="0"/>
                        </a:spcBef>
                        <a:spcAft>
                          <a:spcPts val="0"/>
                        </a:spcAft>
                        <a:buNone/>
                      </a:pPr>
                      <a:r>
                        <a:rPr lang="en-US" sz="1600" u="sng"/>
                        <a:t>P.name</a:t>
                      </a:r>
                      <a:endParaRPr sz="1600" u="sng"/>
                    </a:p>
                  </a:txBody>
                  <a:tcPr marT="45725" marB="45725" marR="91450" marL="91450"/>
                </a:tc>
              </a:tr>
              <a:tr h="234750">
                <a:tc>
                  <a:txBody>
                    <a:bodyPr/>
                    <a:lstStyle/>
                    <a:p>
                      <a:pPr indent="0" lvl="0" marL="0" marR="0" rtl="0" algn="l">
                        <a:spcBef>
                          <a:spcPts val="0"/>
                        </a:spcBef>
                        <a:spcAft>
                          <a:spcPts val="0"/>
                        </a:spcAft>
                        <a:buNone/>
                      </a:pPr>
                      <a:r>
                        <a:rPr lang="en-US" sz="1600"/>
                        <a:t>GizmoWorks</a:t>
                      </a:r>
                      <a:endParaRPr sz="1600"/>
                    </a:p>
                  </a:txBody>
                  <a:tcPr marT="45725" marB="45725" marR="91450" marL="91450"/>
                </a:tc>
                <a:tc>
                  <a:txBody>
                    <a:bodyPr/>
                    <a:lstStyle/>
                    <a:p>
                      <a:pPr indent="0" lvl="0" marL="0" marR="0" rtl="0" algn="l">
                        <a:spcBef>
                          <a:spcPts val="0"/>
                        </a:spcBef>
                        <a:spcAft>
                          <a:spcPts val="0"/>
                        </a:spcAft>
                        <a:buNone/>
                      </a:pPr>
                      <a:r>
                        <a:rPr lang="en-US" sz="1600"/>
                        <a:t>Gizmo</a:t>
                      </a:r>
                      <a:endParaRPr/>
                    </a:p>
                  </a:txBody>
                  <a:tcPr marT="45725" marB="45725" marR="91450" marL="91450"/>
                </a:tc>
              </a:tr>
              <a:tr h="234750">
                <a:tc>
                  <a:txBody>
                    <a:bodyPr/>
                    <a:lstStyle/>
                    <a:p>
                      <a:pPr indent="0" lvl="0" marL="0" marR="0" rtl="0" algn="l">
                        <a:spcBef>
                          <a:spcPts val="0"/>
                        </a:spcBef>
                        <a:spcAft>
                          <a:spcPts val="0"/>
                        </a:spcAft>
                        <a:buNone/>
                      </a:pPr>
                      <a:r>
                        <a:rPr lang="en-US" sz="1600"/>
                        <a:t>GizmoWorks</a:t>
                      </a:r>
                      <a:endParaRPr sz="1600"/>
                    </a:p>
                  </a:txBody>
                  <a:tcPr marT="45725" marB="45725" marR="91450" marL="91450"/>
                </a:tc>
                <a:tc>
                  <a:txBody>
                    <a:bodyPr/>
                    <a:lstStyle/>
                    <a:p>
                      <a:pPr indent="0" lvl="0" marL="0" marR="0" rtl="0" algn="l">
                        <a:spcBef>
                          <a:spcPts val="0"/>
                        </a:spcBef>
                        <a:spcAft>
                          <a:spcPts val="0"/>
                        </a:spcAft>
                        <a:buNone/>
                      </a:pPr>
                      <a:r>
                        <a:rPr lang="en-US" sz="1600"/>
                        <a:t>GizmoLite</a:t>
                      </a:r>
                      <a:endParaRPr sz="1600"/>
                    </a:p>
                  </a:txBody>
                  <a:tcPr marT="45725" marB="45725" marR="91450" marL="91450"/>
                </a:tc>
              </a:tr>
              <a:tr h="343325">
                <a:tc>
                  <a:txBody>
                    <a:bodyPr/>
                    <a:lstStyle/>
                    <a:p>
                      <a:pPr indent="0" lvl="0" marL="0" marR="0" rtl="0" algn="l">
                        <a:lnSpc>
                          <a:spcPct val="100000"/>
                        </a:lnSpc>
                        <a:spcBef>
                          <a:spcPts val="0"/>
                        </a:spcBef>
                        <a:spcAft>
                          <a:spcPts val="0"/>
                        </a:spcAft>
                        <a:buClr>
                          <a:schemeClr val="dk1"/>
                        </a:buClr>
                        <a:buSzPts val="1600"/>
                        <a:buFont typeface="Calibri"/>
                        <a:buNone/>
                      </a:pPr>
                      <a:r>
                        <a:rPr lang="en-US" sz="1600"/>
                        <a:t>GadgetCorp</a:t>
                      </a:r>
                      <a:endParaRPr sz="1600"/>
                    </a:p>
                  </a:txBody>
                  <a:tcPr marT="45725" marB="45725" marR="91450" marL="91450"/>
                </a:tc>
                <a:tc>
                  <a:txBody>
                    <a:bodyPr/>
                    <a:lstStyle/>
                    <a:p>
                      <a:pPr indent="0" lvl="0" marL="0" marR="0" rtl="0" algn="l">
                        <a:spcBef>
                          <a:spcPts val="0"/>
                        </a:spcBef>
                        <a:spcAft>
                          <a:spcPts val="0"/>
                        </a:spcAft>
                        <a:buNone/>
                      </a:pPr>
                      <a:r>
                        <a:rPr lang="en-US" sz="1600"/>
                        <a:t>Gadget</a:t>
                      </a:r>
                      <a:endParaRPr/>
                    </a:p>
                  </a:txBody>
                  <a:tcPr marT="45725" marB="45725" marR="91450" marL="91450"/>
                </a:tc>
              </a:tr>
            </a:tbl>
          </a:graphicData>
        </a:graphic>
      </p:graphicFrame>
      <p:sp>
        <p:nvSpPr>
          <p:cNvPr id="504" name="Google Shape;504;p36"/>
          <p:cNvSpPr txBox="1"/>
          <p:nvPr/>
        </p:nvSpPr>
        <p:spPr>
          <a:xfrm>
            <a:off x="8398458" y="4749655"/>
            <a:ext cx="8116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2"/>
                </a:solidFill>
                <a:latin typeface="Calibri"/>
                <a:ea typeface="Calibri"/>
                <a:cs typeface="Calibri"/>
                <a:sym typeface="Calibri"/>
              </a:rPr>
              <a:t>Makes</a:t>
            </a:r>
            <a:endParaRPr/>
          </a:p>
        </p:txBody>
      </p:sp>
      <p:grpSp>
        <p:nvGrpSpPr>
          <p:cNvPr id="505" name="Google Shape;505;p36"/>
          <p:cNvGrpSpPr/>
          <p:nvPr/>
        </p:nvGrpSpPr>
        <p:grpSpPr>
          <a:xfrm>
            <a:off x="833080" y="3890146"/>
            <a:ext cx="5039891" cy="1096886"/>
            <a:chOff x="1849016" y="2994219"/>
            <a:chExt cx="8514183" cy="1853034"/>
          </a:xfrm>
        </p:grpSpPr>
        <p:sp>
          <p:nvSpPr>
            <p:cNvPr id="506" name="Google Shape;506;p36"/>
            <p:cNvSpPr/>
            <p:nvPr/>
          </p:nvSpPr>
          <p:spPr>
            <a:xfrm>
              <a:off x="5963816" y="4161453"/>
              <a:ext cx="1828800" cy="6858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Makes</a:t>
              </a:r>
              <a:endParaRPr/>
            </a:p>
          </p:txBody>
        </p:sp>
        <p:sp>
          <p:nvSpPr>
            <p:cNvPr id="507" name="Google Shape;507;p36"/>
            <p:cNvSpPr/>
            <p:nvPr/>
          </p:nvSpPr>
          <p:spPr>
            <a:xfrm>
              <a:off x="4058816" y="4237653"/>
              <a:ext cx="1219200"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Product</a:t>
              </a:r>
              <a:endParaRPr/>
            </a:p>
          </p:txBody>
        </p:sp>
        <p:sp>
          <p:nvSpPr>
            <p:cNvPr id="508" name="Google Shape;508;p36"/>
            <p:cNvSpPr/>
            <p:nvPr/>
          </p:nvSpPr>
          <p:spPr>
            <a:xfrm>
              <a:off x="2915816" y="3094653"/>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rgbClr val="000000"/>
                  </a:solidFill>
                  <a:latin typeface="Calibri"/>
                  <a:ea typeface="Calibri"/>
                  <a:cs typeface="Calibri"/>
                  <a:sym typeface="Calibri"/>
                </a:rPr>
                <a:t>name</a:t>
              </a:r>
              <a:endParaRPr/>
            </a:p>
          </p:txBody>
        </p:sp>
        <p:sp>
          <p:nvSpPr>
            <p:cNvPr id="509" name="Google Shape;509;p36"/>
            <p:cNvSpPr/>
            <p:nvPr/>
          </p:nvSpPr>
          <p:spPr>
            <a:xfrm>
              <a:off x="4516016" y="3170853"/>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category</a:t>
              </a:r>
              <a:endParaRPr/>
            </a:p>
          </p:txBody>
        </p:sp>
        <p:sp>
          <p:nvSpPr>
            <p:cNvPr id="510" name="Google Shape;510;p36"/>
            <p:cNvSpPr/>
            <p:nvPr/>
          </p:nvSpPr>
          <p:spPr>
            <a:xfrm>
              <a:off x="1849016" y="3704253"/>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price</a:t>
              </a:r>
              <a:endParaRPr/>
            </a:p>
          </p:txBody>
        </p:sp>
        <p:cxnSp>
          <p:nvCxnSpPr>
            <p:cNvPr id="511" name="Google Shape;511;p36"/>
            <p:cNvCxnSpPr/>
            <p:nvPr/>
          </p:nvCxnSpPr>
          <p:spPr>
            <a:xfrm flipH="1" rot="-5400000">
              <a:off x="3464438" y="3909973"/>
              <a:ext cx="214733" cy="974026"/>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512" name="Google Shape;512;p36"/>
            <p:cNvCxnSpPr/>
            <p:nvPr/>
          </p:nvCxnSpPr>
          <p:spPr>
            <a:xfrm flipH="1" rot="-5400000">
              <a:off x="4131188" y="3700423"/>
              <a:ext cx="557633" cy="516826"/>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513" name="Google Shape;513;p36"/>
            <p:cNvCxnSpPr/>
            <p:nvPr/>
          </p:nvCxnSpPr>
          <p:spPr>
            <a:xfrm rot="5400000">
              <a:off x="4763666" y="3761403"/>
              <a:ext cx="381000" cy="571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514" name="Google Shape;514;p36"/>
            <p:cNvSpPr/>
            <p:nvPr/>
          </p:nvSpPr>
          <p:spPr>
            <a:xfrm>
              <a:off x="8402216" y="4237653"/>
              <a:ext cx="1539551"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Company</a:t>
              </a:r>
              <a:endParaRPr/>
            </a:p>
          </p:txBody>
        </p:sp>
        <p:sp>
          <p:nvSpPr>
            <p:cNvPr id="515" name="Google Shape;515;p36"/>
            <p:cNvSpPr/>
            <p:nvPr/>
          </p:nvSpPr>
          <p:spPr>
            <a:xfrm>
              <a:off x="8915399" y="2994219"/>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rgbClr val="000000"/>
                  </a:solidFill>
                  <a:latin typeface="Calibri"/>
                  <a:ea typeface="Calibri"/>
                  <a:cs typeface="Calibri"/>
                  <a:sym typeface="Calibri"/>
                </a:rPr>
                <a:t>name</a:t>
              </a:r>
              <a:endParaRPr/>
            </a:p>
          </p:txBody>
        </p:sp>
        <p:cxnSp>
          <p:nvCxnSpPr>
            <p:cNvPr id="516" name="Google Shape;516;p36"/>
            <p:cNvCxnSpPr/>
            <p:nvPr/>
          </p:nvCxnSpPr>
          <p:spPr>
            <a:xfrm flipH="1">
              <a:off x="9171992" y="3680019"/>
              <a:ext cx="467307" cy="557634"/>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517" name="Google Shape;517;p36"/>
            <p:cNvCxnSpPr/>
            <p:nvPr/>
          </p:nvCxnSpPr>
          <p:spPr>
            <a:xfrm>
              <a:off x="5278016" y="4504353"/>
              <a:ext cx="685800" cy="1588"/>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518" name="Google Shape;518;p36"/>
            <p:cNvCxnSpPr/>
            <p:nvPr/>
          </p:nvCxnSpPr>
          <p:spPr>
            <a:xfrm>
              <a:off x="7792616" y="4504353"/>
              <a:ext cx="609600" cy="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519" name="Google Shape;519;p36"/>
          <p:cNvSpPr txBox="1"/>
          <p:nvPr/>
        </p:nvSpPr>
        <p:spPr>
          <a:xfrm>
            <a:off x="682783" y="5338583"/>
            <a:ext cx="6512981" cy="1200329"/>
          </a:xfrm>
          <a:prstGeom prst="rect">
            <a:avLst/>
          </a:prstGeom>
          <a:solidFill>
            <a:srgbClr val="D8E2F3"/>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A </a:t>
            </a:r>
            <a:r>
              <a:rPr b="1" lang="en-US" sz="2400" u="sng">
                <a:solidFill>
                  <a:srgbClr val="000000"/>
                </a:solidFill>
                <a:latin typeface="Calibri"/>
                <a:ea typeface="Calibri"/>
                <a:cs typeface="Calibri"/>
                <a:sym typeface="Calibri"/>
              </a:rPr>
              <a:t>relationship</a:t>
            </a:r>
            <a:r>
              <a:rPr lang="en-US" sz="2400">
                <a:solidFill>
                  <a:srgbClr val="000000"/>
                </a:solidFill>
                <a:latin typeface="Calibri"/>
                <a:ea typeface="Calibri"/>
                <a:cs typeface="Calibri"/>
                <a:sym typeface="Calibri"/>
              </a:rPr>
              <a:t> between </a:t>
            </a:r>
            <a:r>
              <a:rPr b="1" lang="en-US" sz="2400">
                <a:solidFill>
                  <a:srgbClr val="000000"/>
                </a:solidFill>
                <a:latin typeface="Calibri"/>
                <a:ea typeface="Calibri"/>
                <a:cs typeface="Calibri"/>
                <a:sym typeface="Calibri"/>
              </a:rPr>
              <a:t>entity sets P and C </a:t>
            </a:r>
            <a:r>
              <a:rPr lang="en-US" sz="2400">
                <a:solidFill>
                  <a:srgbClr val="000000"/>
                </a:solidFill>
                <a:latin typeface="Calibri"/>
                <a:ea typeface="Calibri"/>
                <a:cs typeface="Calibri"/>
                <a:sym typeface="Calibri"/>
              </a:rPr>
              <a:t>is a </a:t>
            </a:r>
            <a:r>
              <a:rPr b="1" i="1" lang="en-US" sz="2400">
                <a:solidFill>
                  <a:srgbClr val="000000"/>
                </a:solidFill>
                <a:latin typeface="Calibri"/>
                <a:ea typeface="Calibri"/>
                <a:cs typeface="Calibri"/>
                <a:sym typeface="Calibri"/>
              </a:rPr>
              <a:t>subset of all possible pairs of entities in P and C</a:t>
            </a:r>
            <a:r>
              <a:rPr lang="en-US" sz="2400">
                <a:solidFill>
                  <a:srgbClr val="000000"/>
                </a:solidFill>
                <a:latin typeface="Calibri"/>
                <a:ea typeface="Calibri"/>
                <a:cs typeface="Calibri"/>
                <a:sym typeface="Calibri"/>
              </a:rPr>
              <a:t>, with tuples uniquely identified by </a:t>
            </a:r>
            <a:r>
              <a:rPr b="1" i="1" lang="en-US" sz="2400">
                <a:solidFill>
                  <a:srgbClr val="000000"/>
                </a:solidFill>
                <a:latin typeface="Calibri"/>
                <a:ea typeface="Calibri"/>
                <a:cs typeface="Calibri"/>
                <a:sym typeface="Calibri"/>
              </a:rPr>
              <a:t>P and C’s keys</a:t>
            </a:r>
            <a:endParaRPr/>
          </a:p>
        </p:txBody>
      </p:sp>
      <p:sp>
        <p:nvSpPr>
          <p:cNvPr id="520" name="Google Shape;520;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a Relationship?</a:t>
            </a:r>
            <a:endParaRPr/>
          </a:p>
        </p:txBody>
      </p:sp>
      <p:sp>
        <p:nvSpPr>
          <p:cNvPr id="526" name="Google Shape;526;p37"/>
          <p:cNvSpPr txBox="1"/>
          <p:nvPr>
            <p:ph idx="1" type="body"/>
          </p:nvPr>
        </p:nvSpPr>
        <p:spPr>
          <a:xfrm>
            <a:off x="914400" y="1662438"/>
            <a:ext cx="7760090" cy="4114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There can only be </a:t>
            </a:r>
            <a:r>
              <a:rPr b="1" lang="en-US"/>
              <a:t>one relationship for every unique combination of entities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This also means that </a:t>
            </a:r>
            <a:r>
              <a:rPr b="1" lang="en-US"/>
              <a:t>the relationship is uniquely determined by the keys of its entities</a:t>
            </a:r>
            <a:endParaRPr/>
          </a:p>
          <a:p>
            <a:pPr indent="-50800" lvl="0" marL="228600" rtl="0" algn="l">
              <a:lnSpc>
                <a:spcPct val="90000"/>
              </a:lnSpc>
              <a:spcBef>
                <a:spcPts val="1000"/>
              </a:spcBef>
              <a:spcAft>
                <a:spcPts val="0"/>
              </a:spcAft>
              <a:buClr>
                <a:schemeClr val="dk1"/>
              </a:buClr>
              <a:buSzPts val="2800"/>
              <a:buNone/>
            </a:pPr>
            <a:r>
              <a:t/>
            </a:r>
            <a:endParaRPr i="1"/>
          </a:p>
          <a:p>
            <a:pPr indent="-228600" lvl="0" marL="228600" rtl="0" algn="l">
              <a:lnSpc>
                <a:spcPct val="90000"/>
              </a:lnSpc>
              <a:spcBef>
                <a:spcPts val="1000"/>
              </a:spcBef>
              <a:spcAft>
                <a:spcPts val="0"/>
              </a:spcAft>
              <a:buClr>
                <a:schemeClr val="dk1"/>
              </a:buClr>
              <a:buSzPts val="2800"/>
              <a:buChar char="•"/>
            </a:pPr>
            <a:r>
              <a:rPr i="1" lang="en-US"/>
              <a:t>Example: the “key” for Makes (to right) is </a:t>
            </a:r>
            <a:br>
              <a:rPr i="1" lang="en-US"/>
            </a:br>
            <a:r>
              <a:rPr i="1" lang="en-US"/>
              <a:t>	{Product.name, Company.name}</a:t>
            </a:r>
            <a:endParaRPr/>
          </a:p>
          <a:p>
            <a:pPr indent="-50800" lvl="0" marL="228600" rtl="0" algn="l">
              <a:lnSpc>
                <a:spcPct val="90000"/>
              </a:lnSpc>
              <a:spcBef>
                <a:spcPts val="1000"/>
              </a:spcBef>
              <a:spcAft>
                <a:spcPts val="0"/>
              </a:spcAft>
              <a:buClr>
                <a:schemeClr val="dk1"/>
              </a:buClr>
              <a:buSzPts val="2800"/>
              <a:buNone/>
            </a:pPr>
            <a:r>
              <a:t/>
            </a:r>
            <a:endParaRPr/>
          </a:p>
        </p:txBody>
      </p:sp>
      <p:sp>
        <p:nvSpPr>
          <p:cNvPr id="527" name="Google Shape;527;p37"/>
          <p:cNvSpPr txBox="1"/>
          <p:nvPr/>
        </p:nvSpPr>
        <p:spPr>
          <a:xfrm>
            <a:off x="4289736" y="6054398"/>
            <a:ext cx="3612527" cy="461665"/>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Why does this make sense?</a:t>
            </a:r>
            <a:endParaRPr/>
          </a:p>
        </p:txBody>
      </p:sp>
      <p:sp>
        <p:nvSpPr>
          <p:cNvPr id="528" name="Google Shape;528;p37"/>
          <p:cNvSpPr txBox="1"/>
          <p:nvPr/>
        </p:nvSpPr>
        <p:spPr>
          <a:xfrm>
            <a:off x="9100015" y="1690688"/>
            <a:ext cx="2499275" cy="1323439"/>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This follows from our mathematical definition of a relationship- it’s a SET!</a:t>
            </a:r>
            <a:endParaRPr/>
          </a:p>
        </p:txBody>
      </p:sp>
      <p:grpSp>
        <p:nvGrpSpPr>
          <p:cNvPr id="529" name="Google Shape;529;p37"/>
          <p:cNvGrpSpPr/>
          <p:nvPr/>
        </p:nvGrpSpPr>
        <p:grpSpPr>
          <a:xfrm>
            <a:off x="7682486" y="3928025"/>
            <a:ext cx="3810946" cy="1849213"/>
            <a:chOff x="7669786" y="3928025"/>
            <a:chExt cx="3810946" cy="1849213"/>
          </a:xfrm>
        </p:grpSpPr>
        <p:sp>
          <p:nvSpPr>
            <p:cNvPr id="530" name="Google Shape;530;p37"/>
            <p:cNvSpPr/>
            <p:nvPr/>
          </p:nvSpPr>
          <p:spPr>
            <a:xfrm>
              <a:off x="9540614" y="5465433"/>
              <a:ext cx="831479" cy="311805"/>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Makes</a:t>
              </a:r>
              <a:endParaRPr/>
            </a:p>
          </p:txBody>
        </p:sp>
        <p:sp>
          <p:nvSpPr>
            <p:cNvPr id="531" name="Google Shape;531;p37"/>
            <p:cNvSpPr/>
            <p:nvPr/>
          </p:nvSpPr>
          <p:spPr>
            <a:xfrm>
              <a:off x="8674490" y="5500078"/>
              <a:ext cx="554319" cy="242515"/>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Product</a:t>
              </a:r>
              <a:endParaRPr/>
            </a:p>
          </p:txBody>
        </p:sp>
        <p:sp>
          <p:nvSpPr>
            <p:cNvPr id="532" name="Google Shape;532;p37"/>
            <p:cNvSpPr/>
            <p:nvPr/>
          </p:nvSpPr>
          <p:spPr>
            <a:xfrm>
              <a:off x="8154816" y="4980404"/>
              <a:ext cx="658254" cy="311805"/>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name</a:t>
              </a:r>
              <a:endParaRPr/>
            </a:p>
          </p:txBody>
        </p:sp>
        <p:sp>
          <p:nvSpPr>
            <p:cNvPr id="533" name="Google Shape;533;p37"/>
            <p:cNvSpPr/>
            <p:nvPr/>
          </p:nvSpPr>
          <p:spPr>
            <a:xfrm>
              <a:off x="8882360" y="5015049"/>
              <a:ext cx="658254" cy="311805"/>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category</a:t>
              </a:r>
              <a:endParaRPr/>
            </a:p>
          </p:txBody>
        </p:sp>
        <p:sp>
          <p:nvSpPr>
            <p:cNvPr id="534" name="Google Shape;534;p37"/>
            <p:cNvSpPr/>
            <p:nvPr/>
          </p:nvSpPr>
          <p:spPr>
            <a:xfrm>
              <a:off x="7669786" y="5257564"/>
              <a:ext cx="658254" cy="311805"/>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price</a:t>
              </a:r>
              <a:endParaRPr/>
            </a:p>
          </p:txBody>
        </p:sp>
        <p:cxnSp>
          <p:nvCxnSpPr>
            <p:cNvPr id="535" name="Google Shape;535;p37"/>
            <p:cNvCxnSpPr>
              <a:stCxn id="536" idx="5"/>
              <a:endCxn id="533" idx="1"/>
            </p:cNvCxnSpPr>
            <p:nvPr/>
          </p:nvCxnSpPr>
          <p:spPr>
            <a:xfrm>
              <a:off x="8535959" y="4963212"/>
              <a:ext cx="442800" cy="97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536" name="Google Shape;536;p37"/>
            <p:cNvCxnSpPr>
              <a:stCxn id="534" idx="5"/>
              <a:endCxn id="533" idx="0"/>
            </p:cNvCxnSpPr>
            <p:nvPr/>
          </p:nvCxnSpPr>
          <p:spPr>
            <a:xfrm flipH="1" rot="10800000">
              <a:off x="8231641" y="5014906"/>
              <a:ext cx="979800" cy="5088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537" name="Google Shape;537;p37"/>
            <p:cNvCxnSpPr>
              <a:stCxn id="535" idx="4"/>
              <a:endCxn id="533" idx="0"/>
            </p:cNvCxnSpPr>
            <p:nvPr/>
          </p:nvCxnSpPr>
          <p:spPr>
            <a:xfrm flipH="1">
              <a:off x="9211487" y="4841949"/>
              <a:ext cx="259800" cy="1731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538" name="Google Shape;538;p37"/>
            <p:cNvSpPr/>
            <p:nvPr/>
          </p:nvSpPr>
          <p:spPr>
            <a:xfrm>
              <a:off x="10649253" y="5500078"/>
              <a:ext cx="816019" cy="27716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Company</a:t>
              </a:r>
              <a:endParaRPr/>
            </a:p>
          </p:txBody>
        </p:sp>
        <p:sp>
          <p:nvSpPr>
            <p:cNvPr id="539" name="Google Shape;539;p37"/>
            <p:cNvSpPr/>
            <p:nvPr/>
          </p:nvSpPr>
          <p:spPr>
            <a:xfrm>
              <a:off x="10822478" y="4807179"/>
              <a:ext cx="658254" cy="311805"/>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name</a:t>
              </a:r>
              <a:endParaRPr/>
            </a:p>
          </p:txBody>
        </p:sp>
        <p:cxnSp>
          <p:nvCxnSpPr>
            <p:cNvPr id="540" name="Google Shape;540;p37"/>
            <p:cNvCxnSpPr>
              <a:stCxn id="541" idx="5"/>
              <a:endCxn id="540" idx="0"/>
            </p:cNvCxnSpPr>
            <p:nvPr/>
          </p:nvCxnSpPr>
          <p:spPr>
            <a:xfrm flipH="1">
              <a:off x="11151534" y="5073322"/>
              <a:ext cx="232800" cy="4269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541" name="Google Shape;541;p37"/>
            <p:cNvCxnSpPr>
              <a:stCxn id="533" idx="3"/>
              <a:endCxn id="532" idx="1"/>
            </p:cNvCxnSpPr>
            <p:nvPr/>
          </p:nvCxnSpPr>
          <p:spPr>
            <a:xfrm rot="10800000">
              <a:off x="8251259" y="5026191"/>
              <a:ext cx="727500" cy="255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542" name="Google Shape;542;p37"/>
            <p:cNvCxnSpPr>
              <a:stCxn id="532" idx="3"/>
              <a:endCxn id="540" idx="1"/>
            </p:cNvCxnSpPr>
            <p:nvPr/>
          </p:nvCxnSpPr>
          <p:spPr>
            <a:xfrm>
              <a:off x="8251215" y="5246546"/>
              <a:ext cx="277200" cy="519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543" name="Google Shape;543;p37"/>
            <p:cNvSpPr/>
            <p:nvPr/>
          </p:nvSpPr>
          <p:spPr>
            <a:xfrm>
              <a:off x="9713839" y="4737889"/>
              <a:ext cx="658254" cy="311805"/>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since</a:t>
              </a:r>
              <a:endParaRPr/>
            </a:p>
          </p:txBody>
        </p:sp>
        <p:cxnSp>
          <p:nvCxnSpPr>
            <p:cNvPr id="544" name="Google Shape;544;p37"/>
            <p:cNvCxnSpPr>
              <a:endCxn id="532" idx="0"/>
            </p:cNvCxnSpPr>
            <p:nvPr/>
          </p:nvCxnSpPr>
          <p:spPr>
            <a:xfrm flipH="1">
              <a:off x="8483943" y="4564604"/>
              <a:ext cx="86700" cy="4158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545" name="Google Shape;545;p37"/>
            <p:cNvSpPr txBox="1"/>
            <p:nvPr/>
          </p:nvSpPr>
          <p:spPr>
            <a:xfrm>
              <a:off x="8071317" y="3928025"/>
              <a:ext cx="3315716" cy="369332"/>
            </a:xfrm>
            <a:prstGeom prst="rect">
              <a:avLst/>
            </a:prstGeom>
            <a:blipFill rotWithShape="1">
              <a:blip r:embed="rId3">
                <a:alphaModFix/>
              </a:blip>
              <a:stretch>
                <a:fillRect b="-24589" l="-1470"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cxnSp>
          <p:nvCxnSpPr>
            <p:cNvPr id="546" name="Google Shape;546;p37"/>
            <p:cNvCxnSpPr/>
            <p:nvPr/>
          </p:nvCxnSpPr>
          <p:spPr>
            <a:xfrm flipH="1">
              <a:off x="8610600" y="4297357"/>
              <a:ext cx="850641" cy="596434"/>
            </a:xfrm>
            <a:prstGeom prst="straightConnector1">
              <a:avLst/>
            </a:prstGeom>
            <a:noFill/>
            <a:ln cap="flat" cmpd="sng" w="9525">
              <a:solidFill>
                <a:schemeClr val="accent1"/>
              </a:solidFill>
              <a:prstDash val="solid"/>
              <a:miter lim="800000"/>
              <a:headEnd len="sm" w="sm" type="none"/>
              <a:tailEnd len="med" w="med" type="triangle"/>
            </a:ln>
          </p:spPr>
        </p:cxnSp>
        <p:cxnSp>
          <p:nvCxnSpPr>
            <p:cNvPr id="547" name="Google Shape;547;p37"/>
            <p:cNvCxnSpPr/>
            <p:nvPr/>
          </p:nvCxnSpPr>
          <p:spPr>
            <a:xfrm>
              <a:off x="10822478" y="4297357"/>
              <a:ext cx="234784" cy="440532"/>
            </a:xfrm>
            <a:prstGeom prst="straightConnector1">
              <a:avLst/>
            </a:prstGeom>
            <a:noFill/>
            <a:ln cap="flat" cmpd="sng" w="9525">
              <a:solidFill>
                <a:schemeClr val="accent1"/>
              </a:solidFill>
              <a:prstDash val="solid"/>
              <a:miter lim="800000"/>
              <a:headEnd len="sm" w="sm" type="none"/>
              <a:tailEnd len="med" w="med" type="triangle"/>
            </a:ln>
          </p:spPr>
        </p:cxnSp>
      </p:grpSp>
      <p:sp>
        <p:nvSpPr>
          <p:cNvPr id="548" name="Google Shape;548;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grpSp>
        <p:nvGrpSpPr>
          <p:cNvPr id="553" name="Google Shape;553;p38"/>
          <p:cNvGrpSpPr/>
          <p:nvPr/>
        </p:nvGrpSpPr>
        <p:grpSpPr>
          <a:xfrm>
            <a:off x="1676400" y="2804455"/>
            <a:ext cx="4114800" cy="1676400"/>
            <a:chOff x="1676400" y="2804455"/>
            <a:chExt cx="4114800" cy="1676400"/>
          </a:xfrm>
        </p:grpSpPr>
        <p:sp>
          <p:nvSpPr>
            <p:cNvPr id="554" name="Google Shape;554;p38"/>
            <p:cNvSpPr/>
            <p:nvPr/>
          </p:nvSpPr>
          <p:spPr>
            <a:xfrm>
              <a:off x="3886200" y="3947455"/>
              <a:ext cx="1219200"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555" name="Google Shape;555;p38"/>
            <p:cNvSpPr/>
            <p:nvPr/>
          </p:nvSpPr>
          <p:spPr>
            <a:xfrm>
              <a:off x="2743200" y="2804455"/>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u="sng">
                  <a:solidFill>
                    <a:srgbClr val="000000"/>
                  </a:solidFill>
                  <a:latin typeface="Calibri"/>
                  <a:ea typeface="Calibri"/>
                  <a:cs typeface="Calibri"/>
                  <a:sym typeface="Calibri"/>
                </a:rPr>
                <a:t>name</a:t>
              </a:r>
              <a:endParaRPr/>
            </a:p>
          </p:txBody>
        </p:sp>
        <p:sp>
          <p:nvSpPr>
            <p:cNvPr id="556" name="Google Shape;556;p38"/>
            <p:cNvSpPr/>
            <p:nvPr/>
          </p:nvSpPr>
          <p:spPr>
            <a:xfrm>
              <a:off x="4343400" y="2880655"/>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category</a:t>
              </a:r>
              <a:endParaRPr/>
            </a:p>
          </p:txBody>
        </p:sp>
        <p:sp>
          <p:nvSpPr>
            <p:cNvPr id="557" name="Google Shape;557;p38"/>
            <p:cNvSpPr/>
            <p:nvPr/>
          </p:nvSpPr>
          <p:spPr>
            <a:xfrm>
              <a:off x="1676400" y="3414055"/>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price</a:t>
              </a:r>
              <a:endParaRPr/>
            </a:p>
          </p:txBody>
        </p:sp>
        <p:cxnSp>
          <p:nvCxnSpPr>
            <p:cNvPr id="558" name="Google Shape;558;p38"/>
            <p:cNvCxnSpPr>
              <a:stCxn id="557" idx="5"/>
              <a:endCxn id="554" idx="1"/>
            </p:cNvCxnSpPr>
            <p:nvPr/>
          </p:nvCxnSpPr>
          <p:spPr>
            <a:xfrm>
              <a:off x="2912175" y="3999422"/>
              <a:ext cx="974100" cy="2148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559" name="Google Shape;559;p38"/>
            <p:cNvCxnSpPr>
              <a:stCxn id="555" idx="5"/>
              <a:endCxn id="554" idx="0"/>
            </p:cNvCxnSpPr>
            <p:nvPr/>
          </p:nvCxnSpPr>
          <p:spPr>
            <a:xfrm>
              <a:off x="3978975" y="3389822"/>
              <a:ext cx="516900" cy="5577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560" name="Google Shape;560;p38"/>
            <p:cNvCxnSpPr>
              <a:stCxn id="556" idx="4"/>
              <a:endCxn id="554" idx="0"/>
            </p:cNvCxnSpPr>
            <p:nvPr/>
          </p:nvCxnSpPr>
          <p:spPr>
            <a:xfrm flipH="1">
              <a:off x="4495800" y="3566455"/>
              <a:ext cx="571500" cy="381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grpSp>
        <p:nvGrpSpPr>
          <p:cNvPr id="561" name="Google Shape;561;p38"/>
          <p:cNvGrpSpPr/>
          <p:nvPr/>
        </p:nvGrpSpPr>
        <p:grpSpPr>
          <a:xfrm>
            <a:off x="8229601" y="2423455"/>
            <a:ext cx="1828799" cy="2057401"/>
            <a:chOff x="8229601" y="2423455"/>
            <a:chExt cx="1828799" cy="2057401"/>
          </a:xfrm>
        </p:grpSpPr>
        <p:sp>
          <p:nvSpPr>
            <p:cNvPr id="562" name="Google Shape;562;p38"/>
            <p:cNvSpPr/>
            <p:nvPr/>
          </p:nvSpPr>
          <p:spPr>
            <a:xfrm>
              <a:off x="8229601" y="3947456"/>
              <a:ext cx="1399592"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Company</a:t>
              </a:r>
              <a:endParaRPr/>
            </a:p>
          </p:txBody>
        </p:sp>
        <p:sp>
          <p:nvSpPr>
            <p:cNvPr id="563" name="Google Shape;563;p38"/>
            <p:cNvSpPr/>
            <p:nvPr/>
          </p:nvSpPr>
          <p:spPr>
            <a:xfrm>
              <a:off x="8610600" y="2423455"/>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u="sng">
                  <a:solidFill>
                    <a:srgbClr val="000000"/>
                  </a:solidFill>
                  <a:latin typeface="Calibri"/>
                  <a:ea typeface="Calibri"/>
                  <a:cs typeface="Calibri"/>
                  <a:sym typeface="Calibri"/>
                </a:rPr>
                <a:t>name</a:t>
              </a:r>
              <a:endParaRPr/>
            </a:p>
          </p:txBody>
        </p:sp>
        <p:cxnSp>
          <p:nvCxnSpPr>
            <p:cNvPr id="564" name="Google Shape;564;p38"/>
            <p:cNvCxnSpPr>
              <a:stCxn id="563" idx="4"/>
              <a:endCxn id="562" idx="0"/>
            </p:cNvCxnSpPr>
            <p:nvPr/>
          </p:nvCxnSpPr>
          <p:spPr>
            <a:xfrm flipH="1">
              <a:off x="8929500" y="3109255"/>
              <a:ext cx="405000" cy="8382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grpSp>
        <p:nvGrpSpPr>
          <p:cNvPr id="565" name="Google Shape;565;p38"/>
          <p:cNvGrpSpPr/>
          <p:nvPr/>
        </p:nvGrpSpPr>
        <p:grpSpPr>
          <a:xfrm>
            <a:off x="5105400" y="3871255"/>
            <a:ext cx="3124200" cy="685800"/>
            <a:chOff x="5105400" y="3871255"/>
            <a:chExt cx="3124200" cy="685800"/>
          </a:xfrm>
        </p:grpSpPr>
        <p:sp>
          <p:nvSpPr>
            <p:cNvPr id="566" name="Google Shape;566;p38"/>
            <p:cNvSpPr/>
            <p:nvPr/>
          </p:nvSpPr>
          <p:spPr>
            <a:xfrm>
              <a:off x="5791200" y="3871255"/>
              <a:ext cx="1828800" cy="6858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Makes</a:t>
              </a:r>
              <a:endParaRPr/>
            </a:p>
          </p:txBody>
        </p:sp>
        <p:cxnSp>
          <p:nvCxnSpPr>
            <p:cNvPr id="567" name="Google Shape;567;p38"/>
            <p:cNvCxnSpPr>
              <a:stCxn id="554" idx="3"/>
              <a:endCxn id="566" idx="1"/>
            </p:cNvCxnSpPr>
            <p:nvPr/>
          </p:nvCxnSpPr>
          <p:spPr>
            <a:xfrm>
              <a:off x="5105400" y="4214155"/>
              <a:ext cx="685800" cy="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568" name="Google Shape;568;p38"/>
            <p:cNvCxnSpPr>
              <a:stCxn id="566" idx="3"/>
              <a:endCxn id="562" idx="1"/>
            </p:cNvCxnSpPr>
            <p:nvPr/>
          </p:nvCxnSpPr>
          <p:spPr>
            <a:xfrm>
              <a:off x="7620000" y="4214155"/>
              <a:ext cx="609600" cy="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grpSp>
        <p:nvGrpSpPr>
          <p:cNvPr id="569" name="Google Shape;569;p38"/>
          <p:cNvGrpSpPr/>
          <p:nvPr/>
        </p:nvGrpSpPr>
        <p:grpSpPr>
          <a:xfrm>
            <a:off x="6172200" y="2271055"/>
            <a:ext cx="1447800" cy="1600200"/>
            <a:chOff x="6172200" y="2271055"/>
            <a:chExt cx="1447800" cy="1600200"/>
          </a:xfrm>
        </p:grpSpPr>
        <p:sp>
          <p:nvSpPr>
            <p:cNvPr id="570" name="Google Shape;570;p38"/>
            <p:cNvSpPr/>
            <p:nvPr/>
          </p:nvSpPr>
          <p:spPr>
            <a:xfrm>
              <a:off x="6172200" y="2271055"/>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since</a:t>
              </a:r>
              <a:endParaRPr/>
            </a:p>
          </p:txBody>
        </p:sp>
        <p:cxnSp>
          <p:nvCxnSpPr>
            <p:cNvPr id="571" name="Google Shape;571;p38"/>
            <p:cNvCxnSpPr>
              <a:stCxn id="570" idx="4"/>
              <a:endCxn id="566" idx="0"/>
            </p:cNvCxnSpPr>
            <p:nvPr/>
          </p:nvCxnSpPr>
          <p:spPr>
            <a:xfrm flipH="1">
              <a:off x="6705600" y="2956855"/>
              <a:ext cx="190500" cy="9144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572" name="Google Shape;572;p38"/>
          <p:cNvSpPr txBox="1"/>
          <p:nvPr/>
        </p:nvSpPr>
        <p:spPr>
          <a:xfrm>
            <a:off x="914400" y="1710842"/>
            <a:ext cx="5867400"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0000"/>
              </a:buClr>
              <a:buSzPts val="2400"/>
              <a:buFont typeface="Arial"/>
              <a:buChar char="•"/>
            </a:pPr>
            <a:r>
              <a:rPr lang="en-US" sz="2400">
                <a:solidFill>
                  <a:srgbClr val="000000"/>
                </a:solidFill>
                <a:latin typeface="Calibri"/>
                <a:ea typeface="Calibri"/>
                <a:cs typeface="Calibri"/>
                <a:sym typeface="Calibri"/>
              </a:rPr>
              <a:t>Relationships may have attributes as well.</a:t>
            </a:r>
            <a:endParaRPr/>
          </a:p>
        </p:txBody>
      </p:sp>
      <p:sp>
        <p:nvSpPr>
          <p:cNvPr id="573" name="Google Shape;573;p38"/>
          <p:cNvSpPr txBox="1"/>
          <p:nvPr/>
        </p:nvSpPr>
        <p:spPr>
          <a:xfrm>
            <a:off x="1031033" y="5115064"/>
            <a:ext cx="3312367" cy="1200329"/>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For example: “since” records when company started making a product</a:t>
            </a:r>
            <a:endParaRPr/>
          </a:p>
        </p:txBody>
      </p:sp>
      <p:sp>
        <p:nvSpPr>
          <p:cNvPr id="574" name="Google Shape;574;p38"/>
          <p:cNvSpPr txBox="1"/>
          <p:nvPr/>
        </p:nvSpPr>
        <p:spPr>
          <a:xfrm>
            <a:off x="5721088" y="5091881"/>
            <a:ext cx="2350023" cy="1015663"/>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Calibri"/>
                <a:ea typeface="Calibri"/>
                <a:cs typeface="Calibri"/>
                <a:sym typeface="Calibri"/>
              </a:rPr>
              <a:t>Note: “</a:t>
            </a:r>
            <a:r>
              <a:rPr i="1" lang="en-US" sz="2000">
                <a:solidFill>
                  <a:srgbClr val="000000"/>
                </a:solidFill>
                <a:latin typeface="Calibri"/>
                <a:ea typeface="Calibri"/>
                <a:cs typeface="Calibri"/>
                <a:sym typeface="Calibri"/>
              </a:rPr>
              <a:t>since”</a:t>
            </a:r>
            <a:r>
              <a:rPr lang="en-US" sz="2000">
                <a:solidFill>
                  <a:srgbClr val="000000"/>
                </a:solidFill>
                <a:latin typeface="Calibri"/>
                <a:ea typeface="Calibri"/>
                <a:cs typeface="Calibri"/>
                <a:sym typeface="Calibri"/>
              </a:rPr>
              <a:t> is implicitly unique per pair here! Why?</a:t>
            </a:r>
            <a:endParaRPr/>
          </a:p>
        </p:txBody>
      </p:sp>
      <p:sp>
        <p:nvSpPr>
          <p:cNvPr id="575" name="Google Shape;575;p38"/>
          <p:cNvSpPr txBox="1"/>
          <p:nvPr/>
        </p:nvSpPr>
        <p:spPr>
          <a:xfrm>
            <a:off x="8846071" y="5115064"/>
            <a:ext cx="2042754" cy="707886"/>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000000"/>
                </a:solidFill>
                <a:latin typeface="Calibri"/>
                <a:ea typeface="Calibri"/>
                <a:cs typeface="Calibri"/>
                <a:sym typeface="Calibri"/>
              </a:rPr>
              <a:t>Note #2: Why not “how long”?</a:t>
            </a:r>
            <a:endParaRPr/>
          </a:p>
        </p:txBody>
      </p:sp>
      <p:sp>
        <p:nvSpPr>
          <p:cNvPr id="576" name="Google Shape;576;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Relationships and Attributes</a:t>
            </a:r>
            <a:endParaRPr/>
          </a:p>
        </p:txBody>
      </p:sp>
      <p:sp>
        <p:nvSpPr>
          <p:cNvPr id="577" name="Google Shape;57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500"/>
                                        <p:tgtEl>
                                          <p:spTgt spid="5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gtEl>
                                        <p:attrNameLst>
                                          <p:attrName>style.visibility</p:attrName>
                                        </p:attrNameLst>
                                      </p:cBhvr>
                                      <p:to>
                                        <p:strVal val="visible"/>
                                      </p:to>
                                    </p:set>
                                    <p:animEffect filter="fade" transition="in">
                                      <p:cBhvr>
                                        <p:cTn dur="500"/>
                                        <p:tgtEl>
                                          <p:spTgt spid="5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39"/>
          <p:cNvSpPr txBox="1"/>
          <p:nvPr>
            <p:ph type="title"/>
          </p:nvPr>
        </p:nvSpPr>
        <p:spPr>
          <a:xfrm>
            <a:off x="226536" y="518273"/>
            <a:ext cx="5554346" cy="69378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chemeClr val="dk1"/>
              </a:buClr>
              <a:buSzPts val="4400"/>
              <a:buFont typeface="Calibri"/>
              <a:buNone/>
            </a:pPr>
            <a:r>
              <a:rPr lang="en-US"/>
              <a:t>Relationships</a:t>
            </a:r>
            <a:endParaRPr/>
          </a:p>
        </p:txBody>
      </p:sp>
      <p:sp>
        <p:nvSpPr>
          <p:cNvPr id="583" name="Google Shape;583;p39"/>
          <p:cNvSpPr txBox="1"/>
          <p:nvPr/>
        </p:nvSpPr>
        <p:spPr>
          <a:xfrm>
            <a:off x="1188721" y="1798746"/>
            <a:ext cx="9184322" cy="3260508"/>
          </a:xfrm>
          <a:prstGeom prst="rect">
            <a:avLst/>
          </a:prstGeom>
          <a:noFill/>
          <a:ln>
            <a:noFill/>
          </a:ln>
        </p:spPr>
        <p:txBody>
          <a:bodyPr anchorCtr="0" anchor="t" bIns="0" lIns="0" spcFirstLastPara="1" rIns="0" wrap="square" tIns="86975">
            <a:spAutoFit/>
          </a:bodyPr>
          <a:lstStyle/>
          <a:p>
            <a:pPr indent="-257175" lvl="0" marL="269875"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 </a:t>
            </a:r>
            <a:r>
              <a:rPr lang="en-US" sz="2400">
                <a:solidFill>
                  <a:srgbClr val="FF0066"/>
                </a:solidFill>
                <a:latin typeface="Calibri"/>
                <a:ea typeface="Calibri"/>
                <a:cs typeface="Calibri"/>
                <a:sym typeface="Calibri"/>
              </a:rPr>
              <a:t>relationship </a:t>
            </a:r>
            <a:r>
              <a:rPr lang="en-US" sz="2400">
                <a:solidFill>
                  <a:schemeClr val="dk1"/>
                </a:solidFill>
                <a:latin typeface="Calibri"/>
                <a:ea typeface="Calibri"/>
                <a:cs typeface="Calibri"/>
                <a:sym typeface="Calibri"/>
              </a:rPr>
              <a:t>connects two or more entity sets.</a:t>
            </a:r>
            <a:endParaRPr sz="2400">
              <a:solidFill>
                <a:schemeClr val="dk1"/>
              </a:solidFill>
              <a:latin typeface="Calibri"/>
              <a:ea typeface="Calibri"/>
              <a:cs typeface="Calibri"/>
              <a:sym typeface="Calibri"/>
            </a:endParaRPr>
          </a:p>
          <a:p>
            <a:pPr indent="-257175" lvl="0" marL="269875" marR="45720" rtl="0" algn="l">
              <a:lnSpc>
                <a:spcPct val="119583"/>
              </a:lnSpc>
              <a:spcBef>
                <a:spcPts val="69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It is represented by a </a:t>
            </a:r>
            <a:r>
              <a:rPr lang="en-US" sz="2400">
                <a:solidFill>
                  <a:srgbClr val="0070C0"/>
                </a:solidFill>
                <a:latin typeface="Calibri"/>
                <a:ea typeface="Calibri"/>
                <a:cs typeface="Calibri"/>
                <a:sym typeface="Calibri"/>
              </a:rPr>
              <a:t>diamond</a:t>
            </a:r>
            <a:r>
              <a:rPr lang="en-US" sz="2400">
                <a:solidFill>
                  <a:schemeClr val="dk1"/>
                </a:solidFill>
                <a:latin typeface="Calibri"/>
                <a:ea typeface="Calibri"/>
                <a:cs typeface="Calibri"/>
                <a:sym typeface="Calibri"/>
              </a:rPr>
              <a:t>, with lines to each of the entity sets  involved.</a:t>
            </a:r>
            <a:endParaRPr sz="2400">
              <a:solidFill>
                <a:schemeClr val="dk1"/>
              </a:solidFill>
              <a:latin typeface="Calibri"/>
              <a:ea typeface="Calibri"/>
              <a:cs typeface="Calibri"/>
              <a:sym typeface="Calibri"/>
            </a:endParaRPr>
          </a:p>
          <a:p>
            <a:pPr indent="-257175" lvl="0" marL="269875" marR="5080" rtl="0" algn="l">
              <a:lnSpc>
                <a:spcPct val="119583"/>
              </a:lnSpc>
              <a:spcBef>
                <a:spcPts val="595"/>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a:t>
            </a:r>
            <a:r>
              <a:rPr i="1" lang="en-US" sz="2400">
                <a:solidFill>
                  <a:srgbClr val="00B050"/>
                </a:solidFill>
                <a:latin typeface="Calibri"/>
                <a:ea typeface="Calibri"/>
                <a:cs typeface="Calibri"/>
                <a:sym typeface="Calibri"/>
              </a:rPr>
              <a:t>degree </a:t>
            </a:r>
            <a:r>
              <a:rPr lang="en-US" sz="2400">
                <a:solidFill>
                  <a:schemeClr val="dk1"/>
                </a:solidFill>
                <a:latin typeface="Calibri"/>
                <a:ea typeface="Calibri"/>
                <a:cs typeface="Calibri"/>
                <a:sym typeface="Calibri"/>
              </a:rPr>
              <a:t>of the relationship defines the number of entity classes  that participate in the relationship</a:t>
            </a:r>
            <a:endParaRPr sz="2400">
              <a:solidFill>
                <a:schemeClr val="dk1"/>
              </a:solidFill>
              <a:latin typeface="Calibri"/>
              <a:ea typeface="Calibri"/>
              <a:cs typeface="Calibri"/>
              <a:sym typeface="Calibri"/>
            </a:endParaRPr>
          </a:p>
          <a:p>
            <a:pPr indent="-214629" lvl="1" marL="570230" marR="0" rtl="0" algn="l">
              <a:spcBef>
                <a:spcPts val="390"/>
              </a:spcBef>
              <a:spcAft>
                <a:spcPts val="0"/>
              </a:spcAft>
              <a:buClr>
                <a:schemeClr val="dk1"/>
              </a:buClr>
              <a:buSzPts val="2100"/>
              <a:buFont typeface="Arial"/>
              <a:buChar char="–"/>
            </a:pPr>
            <a:r>
              <a:rPr b="0" i="0" lang="en-US" sz="2100" u="none" cap="none" strike="noStrike">
                <a:solidFill>
                  <a:schemeClr val="dk1"/>
                </a:solidFill>
                <a:latin typeface="Calibri"/>
                <a:ea typeface="Calibri"/>
                <a:cs typeface="Calibri"/>
                <a:sym typeface="Calibri"/>
              </a:rPr>
              <a:t>Degree 1 is a </a:t>
            </a:r>
            <a:r>
              <a:rPr b="0" i="0" lang="en-US" sz="2100" u="none" cap="none" strike="noStrike">
                <a:solidFill>
                  <a:srgbClr val="31859C"/>
                </a:solidFill>
                <a:latin typeface="Calibri"/>
                <a:ea typeface="Calibri"/>
                <a:cs typeface="Calibri"/>
                <a:sym typeface="Calibri"/>
              </a:rPr>
              <a:t>unary </a:t>
            </a:r>
            <a:r>
              <a:rPr b="0" i="0" lang="en-US" sz="2100" u="none" cap="none" strike="noStrike">
                <a:solidFill>
                  <a:schemeClr val="dk1"/>
                </a:solidFill>
                <a:latin typeface="Calibri"/>
                <a:ea typeface="Calibri"/>
                <a:cs typeface="Calibri"/>
                <a:sym typeface="Calibri"/>
              </a:rPr>
              <a:t>relationship</a:t>
            </a:r>
            <a:endParaRPr b="0" i="0" sz="2100" u="none" cap="none" strike="noStrike">
              <a:solidFill>
                <a:schemeClr val="dk1"/>
              </a:solidFill>
              <a:latin typeface="Calibri"/>
              <a:ea typeface="Calibri"/>
              <a:cs typeface="Calibri"/>
              <a:sym typeface="Calibri"/>
            </a:endParaRPr>
          </a:p>
          <a:p>
            <a:pPr indent="-214629" lvl="1" marL="570230" marR="0" rtl="0" algn="l">
              <a:spcBef>
                <a:spcPts val="545"/>
              </a:spcBef>
              <a:spcAft>
                <a:spcPts val="0"/>
              </a:spcAft>
              <a:buClr>
                <a:schemeClr val="dk1"/>
              </a:buClr>
              <a:buSzPts val="2100"/>
              <a:buFont typeface="Arial"/>
              <a:buChar char="–"/>
            </a:pPr>
            <a:r>
              <a:rPr b="0" i="0" lang="en-US" sz="2100" u="none" cap="none" strike="noStrike">
                <a:solidFill>
                  <a:schemeClr val="dk1"/>
                </a:solidFill>
                <a:latin typeface="Calibri"/>
                <a:ea typeface="Calibri"/>
                <a:cs typeface="Calibri"/>
                <a:sym typeface="Calibri"/>
              </a:rPr>
              <a:t>Degree 2 is a </a:t>
            </a:r>
            <a:r>
              <a:rPr b="0" i="0" lang="en-US" sz="2100" u="none" cap="none" strike="noStrike">
                <a:solidFill>
                  <a:srgbClr val="604A7B"/>
                </a:solidFill>
                <a:latin typeface="Calibri"/>
                <a:ea typeface="Calibri"/>
                <a:cs typeface="Calibri"/>
                <a:sym typeface="Calibri"/>
              </a:rPr>
              <a:t>binary </a:t>
            </a:r>
            <a:r>
              <a:rPr b="0" i="0" lang="en-US" sz="2100" u="none" cap="none" strike="noStrike">
                <a:solidFill>
                  <a:schemeClr val="dk1"/>
                </a:solidFill>
                <a:latin typeface="Calibri"/>
                <a:ea typeface="Calibri"/>
                <a:cs typeface="Calibri"/>
                <a:sym typeface="Calibri"/>
              </a:rPr>
              <a:t>relationship</a:t>
            </a:r>
            <a:endParaRPr b="0" i="0" sz="2100" u="none" cap="none" strike="noStrike">
              <a:solidFill>
                <a:schemeClr val="dk1"/>
              </a:solidFill>
              <a:latin typeface="Calibri"/>
              <a:ea typeface="Calibri"/>
              <a:cs typeface="Calibri"/>
              <a:sym typeface="Calibri"/>
            </a:endParaRPr>
          </a:p>
          <a:p>
            <a:pPr indent="-214629" lvl="1" marL="570230" marR="0" rtl="0" algn="l">
              <a:spcBef>
                <a:spcPts val="480"/>
              </a:spcBef>
              <a:spcAft>
                <a:spcPts val="0"/>
              </a:spcAft>
              <a:buClr>
                <a:schemeClr val="dk1"/>
              </a:buClr>
              <a:buSzPts val="2100"/>
              <a:buFont typeface="Arial"/>
              <a:buChar char="–"/>
            </a:pPr>
            <a:r>
              <a:rPr b="0" i="0" lang="en-US" sz="2100" u="none" cap="none" strike="noStrike">
                <a:solidFill>
                  <a:schemeClr val="dk1"/>
                </a:solidFill>
                <a:latin typeface="Calibri"/>
                <a:ea typeface="Calibri"/>
                <a:cs typeface="Calibri"/>
                <a:sym typeface="Calibri"/>
              </a:rPr>
              <a:t>Degree 3 is a </a:t>
            </a:r>
            <a:r>
              <a:rPr b="0" i="0" lang="en-US" sz="2100" u="none" cap="none" strike="noStrike">
                <a:solidFill>
                  <a:srgbClr val="E46C0A"/>
                </a:solidFill>
                <a:latin typeface="Calibri"/>
                <a:ea typeface="Calibri"/>
                <a:cs typeface="Calibri"/>
                <a:sym typeface="Calibri"/>
              </a:rPr>
              <a:t>ternary </a:t>
            </a:r>
            <a:r>
              <a:rPr b="0" i="0" lang="en-US" sz="2100" u="none" cap="none" strike="noStrike">
                <a:solidFill>
                  <a:schemeClr val="dk1"/>
                </a:solidFill>
                <a:latin typeface="Calibri"/>
                <a:ea typeface="Calibri"/>
                <a:cs typeface="Calibri"/>
                <a:sym typeface="Calibri"/>
              </a:rPr>
              <a:t>relationship</a:t>
            </a:r>
            <a:endParaRPr b="0" i="0" sz="2100" u="none" cap="none" strike="noStrike">
              <a:solidFill>
                <a:schemeClr val="dk1"/>
              </a:solidFill>
              <a:latin typeface="Calibri"/>
              <a:ea typeface="Calibri"/>
              <a:cs typeface="Calibri"/>
              <a:sym typeface="Calibri"/>
            </a:endParaRPr>
          </a:p>
        </p:txBody>
      </p:sp>
      <p:sp>
        <p:nvSpPr>
          <p:cNvPr id="584" name="Google Shape;584;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40"/>
          <p:cNvSpPr txBox="1"/>
          <p:nvPr>
            <p:ph type="title"/>
          </p:nvPr>
        </p:nvSpPr>
        <p:spPr>
          <a:xfrm>
            <a:off x="584200" y="459139"/>
            <a:ext cx="7341890" cy="69378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chemeClr val="dk1"/>
              </a:buClr>
              <a:buSzPts val="4400"/>
              <a:buFont typeface="Calibri"/>
              <a:buNone/>
            </a:pPr>
            <a:r>
              <a:rPr lang="en-US"/>
              <a:t>Conceptual </a:t>
            </a:r>
            <a:r>
              <a:rPr lang="en-US" sz="4400">
                <a:solidFill>
                  <a:schemeClr val="dk1"/>
                </a:solidFill>
                <a:latin typeface="Calibri"/>
                <a:ea typeface="Calibri"/>
                <a:cs typeface="Calibri"/>
                <a:sym typeface="Calibri"/>
              </a:rPr>
              <a:t>Unary</a:t>
            </a:r>
            <a:r>
              <a:rPr lang="en-US"/>
              <a:t> Relationship</a:t>
            </a:r>
            <a:endParaRPr/>
          </a:p>
        </p:txBody>
      </p:sp>
      <p:sp>
        <p:nvSpPr>
          <p:cNvPr id="590" name="Google Shape;590;p40"/>
          <p:cNvSpPr/>
          <p:nvPr/>
        </p:nvSpPr>
        <p:spPr>
          <a:xfrm>
            <a:off x="4936191" y="3857625"/>
            <a:ext cx="685800" cy="300355"/>
          </a:xfrm>
          <a:custGeom>
            <a:rect b="b" l="l" r="r" t="t"/>
            <a:pathLst>
              <a:path extrusionOk="0" h="300354" w="685800">
                <a:moveTo>
                  <a:pt x="685800" y="0"/>
                </a:moveTo>
                <a:lnTo>
                  <a:pt x="0" y="0"/>
                </a:lnTo>
                <a:lnTo>
                  <a:pt x="0" y="300038"/>
                </a:lnTo>
                <a:lnTo>
                  <a:pt x="685800" y="300038"/>
                </a:lnTo>
                <a:lnTo>
                  <a:pt x="685800" y="0"/>
                </a:lnTo>
                <a:close/>
              </a:path>
            </a:pathLst>
          </a:custGeom>
          <a:solidFill>
            <a:srgbClr val="F2DCD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1" name="Google Shape;591;p40"/>
          <p:cNvSpPr txBox="1"/>
          <p:nvPr/>
        </p:nvSpPr>
        <p:spPr>
          <a:xfrm>
            <a:off x="4936191" y="3857626"/>
            <a:ext cx="685800" cy="241733"/>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41275">
            <a:spAutoFit/>
          </a:bodyPr>
          <a:lstStyle/>
          <a:p>
            <a:pPr indent="0" lvl="0" marL="104775" marR="0" rtl="0" algn="l">
              <a:spcBef>
                <a:spcPts val="0"/>
              </a:spcBef>
              <a:spcAft>
                <a:spcPts val="0"/>
              </a:spcAft>
              <a:buNone/>
            </a:pPr>
            <a:r>
              <a:rPr lang="en-US" sz="1300">
                <a:solidFill>
                  <a:schemeClr val="dk1"/>
                </a:solidFill>
                <a:latin typeface="Calibri"/>
                <a:ea typeface="Calibri"/>
                <a:cs typeface="Calibri"/>
                <a:sym typeface="Calibri"/>
              </a:rPr>
              <a:t>Person</a:t>
            </a:r>
            <a:endParaRPr sz="1300">
              <a:solidFill>
                <a:schemeClr val="dk1"/>
              </a:solidFill>
              <a:latin typeface="Calibri"/>
              <a:ea typeface="Calibri"/>
              <a:cs typeface="Calibri"/>
              <a:sym typeface="Calibri"/>
            </a:endParaRPr>
          </a:p>
        </p:txBody>
      </p:sp>
      <p:grpSp>
        <p:nvGrpSpPr>
          <p:cNvPr id="592" name="Google Shape;592;p40"/>
          <p:cNvGrpSpPr/>
          <p:nvPr/>
        </p:nvGrpSpPr>
        <p:grpSpPr>
          <a:xfrm>
            <a:off x="6007756" y="3814763"/>
            <a:ext cx="1028700" cy="386080"/>
            <a:chOff x="4483755" y="3814762"/>
            <a:chExt cx="1028700" cy="386080"/>
          </a:xfrm>
        </p:grpSpPr>
        <p:sp>
          <p:nvSpPr>
            <p:cNvPr id="593" name="Google Shape;593;p40"/>
            <p:cNvSpPr/>
            <p:nvPr/>
          </p:nvSpPr>
          <p:spPr>
            <a:xfrm>
              <a:off x="4483755" y="3814762"/>
              <a:ext cx="1028700" cy="386080"/>
            </a:xfrm>
            <a:custGeom>
              <a:rect b="b" l="l" r="r" t="t"/>
              <a:pathLst>
                <a:path extrusionOk="0" h="386079" w="1028700">
                  <a:moveTo>
                    <a:pt x="514350" y="0"/>
                  </a:moveTo>
                  <a:lnTo>
                    <a:pt x="0" y="192881"/>
                  </a:lnTo>
                  <a:lnTo>
                    <a:pt x="514350" y="385762"/>
                  </a:lnTo>
                  <a:lnTo>
                    <a:pt x="1028700" y="192881"/>
                  </a:lnTo>
                  <a:lnTo>
                    <a:pt x="51435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40"/>
            <p:cNvSpPr/>
            <p:nvPr/>
          </p:nvSpPr>
          <p:spPr>
            <a:xfrm>
              <a:off x="4483755" y="3814762"/>
              <a:ext cx="1028700" cy="386080"/>
            </a:xfrm>
            <a:custGeom>
              <a:rect b="b" l="l" r="r" t="t"/>
              <a:pathLst>
                <a:path extrusionOk="0" h="386079" w="1028700">
                  <a:moveTo>
                    <a:pt x="0" y="192881"/>
                  </a:moveTo>
                  <a:lnTo>
                    <a:pt x="514350" y="0"/>
                  </a:lnTo>
                  <a:lnTo>
                    <a:pt x="1028700" y="192881"/>
                  </a:lnTo>
                  <a:lnTo>
                    <a:pt x="514350" y="385763"/>
                  </a:lnTo>
                  <a:lnTo>
                    <a:pt x="0" y="192881"/>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95" name="Google Shape;595;p40"/>
          <p:cNvSpPr txBox="1"/>
          <p:nvPr/>
        </p:nvSpPr>
        <p:spPr>
          <a:xfrm>
            <a:off x="6238737" y="3881966"/>
            <a:ext cx="567055" cy="216726"/>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1300">
                <a:solidFill>
                  <a:schemeClr val="dk1"/>
                </a:solidFill>
                <a:latin typeface="Calibri"/>
                <a:ea typeface="Calibri"/>
                <a:cs typeface="Calibri"/>
                <a:sym typeface="Calibri"/>
              </a:rPr>
              <a:t>Marries</a:t>
            </a:r>
            <a:endParaRPr sz="1300">
              <a:solidFill>
                <a:schemeClr val="dk1"/>
              </a:solidFill>
              <a:latin typeface="Calibri"/>
              <a:ea typeface="Calibri"/>
              <a:cs typeface="Calibri"/>
              <a:sym typeface="Calibri"/>
            </a:endParaRPr>
          </a:p>
        </p:txBody>
      </p:sp>
      <p:grpSp>
        <p:nvGrpSpPr>
          <p:cNvPr id="596" name="Google Shape;596;p40"/>
          <p:cNvGrpSpPr/>
          <p:nvPr/>
        </p:nvGrpSpPr>
        <p:grpSpPr>
          <a:xfrm>
            <a:off x="5156200" y="2641601"/>
            <a:ext cx="1422399" cy="1367313"/>
            <a:chOff x="3632200" y="2641600"/>
            <a:chExt cx="1422399" cy="1367313"/>
          </a:xfrm>
        </p:grpSpPr>
        <p:sp>
          <p:nvSpPr>
            <p:cNvPr id="597" name="Google Shape;597;p40"/>
            <p:cNvSpPr/>
            <p:nvPr/>
          </p:nvSpPr>
          <p:spPr>
            <a:xfrm>
              <a:off x="4097991" y="4007643"/>
              <a:ext cx="386080" cy="1270"/>
            </a:xfrm>
            <a:custGeom>
              <a:rect b="b" l="l" r="r" t="t"/>
              <a:pathLst>
                <a:path extrusionOk="0" h="1270" w="386079">
                  <a:moveTo>
                    <a:pt x="0" y="0"/>
                  </a:moveTo>
                  <a:lnTo>
                    <a:pt x="385763" y="892"/>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p40"/>
            <p:cNvSpPr/>
            <p:nvPr/>
          </p:nvSpPr>
          <p:spPr>
            <a:xfrm>
              <a:off x="4097991" y="4007643"/>
              <a:ext cx="386080" cy="1270"/>
            </a:xfrm>
            <a:custGeom>
              <a:rect b="b" l="l" r="r" t="t"/>
              <a:pathLst>
                <a:path extrusionOk="0" h="1270" w="386079">
                  <a:moveTo>
                    <a:pt x="0" y="0"/>
                  </a:moveTo>
                  <a:lnTo>
                    <a:pt x="385763" y="893"/>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599" name="Google Shape;599;p40"/>
            <p:cNvPicPr preferRelativeResize="0"/>
            <p:nvPr/>
          </p:nvPicPr>
          <p:blipFill rotWithShape="1">
            <a:blip r:embed="rId3">
              <a:alphaModFix/>
            </a:blip>
            <a:srcRect b="0" l="0" r="0" t="0"/>
            <a:stretch/>
          </p:blipFill>
          <p:spPr>
            <a:xfrm>
              <a:off x="3640667" y="2650066"/>
              <a:ext cx="1413932" cy="1227666"/>
            </a:xfrm>
            <a:prstGeom prst="rect">
              <a:avLst/>
            </a:prstGeom>
            <a:noFill/>
            <a:ln>
              <a:noFill/>
            </a:ln>
          </p:spPr>
        </p:pic>
        <p:sp>
          <p:nvSpPr>
            <p:cNvPr id="600" name="Google Shape;600;p40"/>
            <p:cNvSpPr/>
            <p:nvPr/>
          </p:nvSpPr>
          <p:spPr>
            <a:xfrm>
              <a:off x="3687511" y="2683914"/>
              <a:ext cx="1310640" cy="1130935"/>
            </a:xfrm>
            <a:custGeom>
              <a:rect b="b" l="l" r="r" t="t"/>
              <a:pathLst>
                <a:path extrusionOk="0" h="1130935" w="1310639">
                  <a:moveTo>
                    <a:pt x="1310594" y="1130849"/>
                  </a:moveTo>
                  <a:lnTo>
                    <a:pt x="1310594" y="0"/>
                  </a:lnTo>
                  <a:lnTo>
                    <a:pt x="0" y="0"/>
                  </a:lnTo>
                </a:path>
              </a:pathLst>
            </a:custGeom>
            <a:noFill/>
            <a:ln cap="flat" cmpd="sng" w="25400">
              <a:solidFill>
                <a:srgbClr val="4F81B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601" name="Google Shape;601;p40"/>
            <p:cNvPicPr preferRelativeResize="0"/>
            <p:nvPr/>
          </p:nvPicPr>
          <p:blipFill rotWithShape="1">
            <a:blip r:embed="rId4">
              <a:alphaModFix/>
            </a:blip>
            <a:srcRect b="0" l="0" r="0" t="0"/>
            <a:stretch/>
          </p:blipFill>
          <p:spPr>
            <a:xfrm>
              <a:off x="3632200" y="2641600"/>
              <a:ext cx="127000" cy="1295400"/>
            </a:xfrm>
            <a:prstGeom prst="rect">
              <a:avLst/>
            </a:prstGeom>
            <a:noFill/>
            <a:ln>
              <a:noFill/>
            </a:ln>
          </p:spPr>
        </p:pic>
        <p:sp>
          <p:nvSpPr>
            <p:cNvPr id="602" name="Google Shape;602;p40"/>
            <p:cNvSpPr/>
            <p:nvPr/>
          </p:nvSpPr>
          <p:spPr>
            <a:xfrm>
              <a:off x="3687510" y="2668330"/>
              <a:ext cx="13335" cy="1189355"/>
            </a:xfrm>
            <a:custGeom>
              <a:rect b="b" l="l" r="r" t="t"/>
              <a:pathLst>
                <a:path extrusionOk="0" h="1189354" w="13335">
                  <a:moveTo>
                    <a:pt x="12819" y="0"/>
                  </a:moveTo>
                  <a:lnTo>
                    <a:pt x="0" y="1189295"/>
                  </a:lnTo>
                </a:path>
              </a:pathLst>
            </a:custGeom>
            <a:noFill/>
            <a:ln cap="flat" cmpd="sng" w="25400">
              <a:solidFill>
                <a:srgbClr val="4F81B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03" name="Google Shape;603;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41"/>
          <p:cNvSpPr txBox="1"/>
          <p:nvPr>
            <p:ph type="title"/>
          </p:nvPr>
        </p:nvSpPr>
        <p:spPr>
          <a:xfrm>
            <a:off x="237510" y="422730"/>
            <a:ext cx="7646670" cy="69378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chemeClr val="dk1"/>
              </a:buClr>
              <a:buSzPts val="4400"/>
              <a:buFont typeface="Calibri"/>
              <a:buNone/>
            </a:pPr>
            <a:r>
              <a:rPr lang="en-US"/>
              <a:t>Conceptual Binary Relationship</a:t>
            </a:r>
            <a:endParaRPr/>
          </a:p>
        </p:txBody>
      </p:sp>
      <p:sp>
        <p:nvSpPr>
          <p:cNvPr id="609" name="Google Shape;609;p41"/>
          <p:cNvSpPr txBox="1"/>
          <p:nvPr/>
        </p:nvSpPr>
        <p:spPr>
          <a:xfrm>
            <a:off x="4936191" y="3857626"/>
            <a:ext cx="685800" cy="287899"/>
          </a:xfrm>
          <a:prstGeom prst="rect">
            <a:avLst/>
          </a:prstGeom>
          <a:solidFill>
            <a:srgbClr val="F2DCDB"/>
          </a:solidFill>
          <a:ln cap="flat" cmpd="sng" w="9525">
            <a:solidFill>
              <a:srgbClr val="000000"/>
            </a:solidFill>
            <a:prstDash val="solid"/>
            <a:round/>
            <a:headEnd len="sm" w="sm" type="none"/>
            <a:tailEnd len="sm" w="sm" type="none"/>
          </a:ln>
        </p:spPr>
        <p:txBody>
          <a:bodyPr anchorCtr="0" anchor="t" bIns="0" lIns="0" spcFirstLastPara="1" rIns="0" wrap="square" tIns="41275">
            <a:spAutoFit/>
          </a:bodyPr>
          <a:lstStyle/>
          <a:p>
            <a:pPr indent="0" lvl="0" marL="104775" marR="0" rtl="0" algn="l">
              <a:spcBef>
                <a:spcPts val="0"/>
              </a:spcBef>
              <a:spcAft>
                <a:spcPts val="0"/>
              </a:spcAft>
              <a:buNone/>
            </a:pPr>
            <a:r>
              <a:rPr lang="en-US" sz="1600">
                <a:solidFill>
                  <a:schemeClr val="dk1"/>
                </a:solidFill>
                <a:latin typeface="Calibri"/>
                <a:ea typeface="Calibri"/>
                <a:cs typeface="Calibri"/>
                <a:sym typeface="Calibri"/>
              </a:rPr>
              <a:t>Person</a:t>
            </a:r>
            <a:endParaRPr sz="1600">
              <a:solidFill>
                <a:schemeClr val="dk1"/>
              </a:solidFill>
              <a:latin typeface="Calibri"/>
              <a:ea typeface="Calibri"/>
              <a:cs typeface="Calibri"/>
              <a:sym typeface="Calibri"/>
            </a:endParaRPr>
          </a:p>
        </p:txBody>
      </p:sp>
      <p:sp>
        <p:nvSpPr>
          <p:cNvPr id="610" name="Google Shape;610;p41"/>
          <p:cNvSpPr txBox="1"/>
          <p:nvPr/>
        </p:nvSpPr>
        <p:spPr>
          <a:xfrm>
            <a:off x="7762686" y="3848623"/>
            <a:ext cx="1028700" cy="296235"/>
          </a:xfrm>
          <a:prstGeom prst="rect">
            <a:avLst/>
          </a:prstGeom>
          <a:solidFill>
            <a:srgbClr val="F2DCDB"/>
          </a:solidFill>
          <a:ln cap="flat" cmpd="sng" w="9525">
            <a:solidFill>
              <a:srgbClr val="000000"/>
            </a:solidFill>
            <a:prstDash val="solid"/>
            <a:round/>
            <a:headEnd len="sm" w="sm" type="none"/>
            <a:tailEnd len="sm" w="sm" type="none"/>
          </a:ln>
        </p:spPr>
        <p:txBody>
          <a:bodyPr anchorCtr="0" anchor="t" bIns="0" lIns="0" spcFirstLastPara="1" rIns="0" wrap="square" tIns="49525">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Car</a:t>
            </a:r>
            <a:endParaRPr sz="1600">
              <a:solidFill>
                <a:schemeClr val="dk1"/>
              </a:solidFill>
              <a:latin typeface="Calibri"/>
              <a:ea typeface="Calibri"/>
              <a:cs typeface="Calibri"/>
              <a:sym typeface="Calibri"/>
            </a:endParaRPr>
          </a:p>
        </p:txBody>
      </p:sp>
      <p:grpSp>
        <p:nvGrpSpPr>
          <p:cNvPr id="611" name="Google Shape;611;p41"/>
          <p:cNvGrpSpPr/>
          <p:nvPr/>
        </p:nvGrpSpPr>
        <p:grpSpPr>
          <a:xfrm>
            <a:off x="6008696" y="3814763"/>
            <a:ext cx="1231791" cy="386080"/>
            <a:chOff x="4483755" y="3814762"/>
            <a:chExt cx="1028700" cy="386080"/>
          </a:xfrm>
        </p:grpSpPr>
        <p:sp>
          <p:nvSpPr>
            <p:cNvPr id="612" name="Google Shape;612;p41"/>
            <p:cNvSpPr/>
            <p:nvPr/>
          </p:nvSpPr>
          <p:spPr>
            <a:xfrm>
              <a:off x="4483755" y="3814762"/>
              <a:ext cx="1028700" cy="386080"/>
            </a:xfrm>
            <a:custGeom>
              <a:rect b="b" l="l" r="r" t="t"/>
              <a:pathLst>
                <a:path extrusionOk="0" h="386079" w="1028700">
                  <a:moveTo>
                    <a:pt x="514350" y="0"/>
                  </a:moveTo>
                  <a:lnTo>
                    <a:pt x="0" y="192881"/>
                  </a:lnTo>
                  <a:lnTo>
                    <a:pt x="514350" y="385762"/>
                  </a:lnTo>
                  <a:lnTo>
                    <a:pt x="1028700" y="192881"/>
                  </a:lnTo>
                  <a:lnTo>
                    <a:pt x="51435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3" name="Google Shape;613;p41"/>
            <p:cNvSpPr/>
            <p:nvPr/>
          </p:nvSpPr>
          <p:spPr>
            <a:xfrm>
              <a:off x="4483755" y="3814762"/>
              <a:ext cx="1028700" cy="386080"/>
            </a:xfrm>
            <a:custGeom>
              <a:rect b="b" l="l" r="r" t="t"/>
              <a:pathLst>
                <a:path extrusionOk="0" h="386079" w="1028700">
                  <a:moveTo>
                    <a:pt x="0" y="192881"/>
                  </a:moveTo>
                  <a:lnTo>
                    <a:pt x="514350" y="0"/>
                  </a:lnTo>
                  <a:lnTo>
                    <a:pt x="1028700" y="192881"/>
                  </a:lnTo>
                  <a:lnTo>
                    <a:pt x="514350" y="385763"/>
                  </a:lnTo>
                  <a:lnTo>
                    <a:pt x="0" y="192881"/>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614" name="Google Shape;614;p41"/>
          <p:cNvSpPr txBox="1"/>
          <p:nvPr/>
        </p:nvSpPr>
        <p:spPr>
          <a:xfrm>
            <a:off x="6312554" y="3881966"/>
            <a:ext cx="542169" cy="262892"/>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1600">
                <a:solidFill>
                  <a:schemeClr val="dk1"/>
                </a:solidFill>
                <a:latin typeface="Calibri"/>
                <a:ea typeface="Calibri"/>
                <a:cs typeface="Calibri"/>
                <a:sym typeface="Calibri"/>
              </a:rPr>
              <a:t>Owns</a:t>
            </a:r>
            <a:endParaRPr sz="1600">
              <a:solidFill>
                <a:schemeClr val="dk1"/>
              </a:solidFill>
              <a:latin typeface="Calibri"/>
              <a:ea typeface="Calibri"/>
              <a:cs typeface="Calibri"/>
              <a:sym typeface="Calibri"/>
            </a:endParaRPr>
          </a:p>
        </p:txBody>
      </p:sp>
      <p:grpSp>
        <p:nvGrpSpPr>
          <p:cNvPr id="615" name="Google Shape;615;p41"/>
          <p:cNvGrpSpPr/>
          <p:nvPr/>
        </p:nvGrpSpPr>
        <p:grpSpPr>
          <a:xfrm>
            <a:off x="5806816" y="4013675"/>
            <a:ext cx="1800544" cy="9525"/>
            <a:chOff x="4097991" y="4007643"/>
            <a:chExt cx="1800544" cy="9525"/>
          </a:xfrm>
        </p:grpSpPr>
        <p:sp>
          <p:nvSpPr>
            <p:cNvPr id="616" name="Google Shape;616;p41"/>
            <p:cNvSpPr/>
            <p:nvPr/>
          </p:nvSpPr>
          <p:spPr>
            <a:xfrm>
              <a:off x="4097991" y="4007643"/>
              <a:ext cx="386080" cy="1270"/>
            </a:xfrm>
            <a:custGeom>
              <a:rect b="b" l="l" r="r" t="t"/>
              <a:pathLst>
                <a:path extrusionOk="0" h="1270" w="386079">
                  <a:moveTo>
                    <a:pt x="0" y="0"/>
                  </a:moveTo>
                  <a:lnTo>
                    <a:pt x="385763" y="892"/>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7" name="Google Shape;617;p41"/>
            <p:cNvSpPr/>
            <p:nvPr/>
          </p:nvSpPr>
          <p:spPr>
            <a:xfrm>
              <a:off x="4097991" y="4007643"/>
              <a:ext cx="386080" cy="1270"/>
            </a:xfrm>
            <a:custGeom>
              <a:rect b="b" l="l" r="r" t="t"/>
              <a:pathLst>
                <a:path extrusionOk="0" h="1270" w="386079">
                  <a:moveTo>
                    <a:pt x="0" y="0"/>
                  </a:moveTo>
                  <a:lnTo>
                    <a:pt x="385763" y="893"/>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8" name="Google Shape;618;p41"/>
            <p:cNvSpPr/>
            <p:nvPr/>
          </p:nvSpPr>
          <p:spPr>
            <a:xfrm>
              <a:off x="5512455" y="4007643"/>
              <a:ext cx="386080" cy="9525"/>
            </a:xfrm>
            <a:custGeom>
              <a:rect b="b" l="l" r="r" t="t"/>
              <a:pathLst>
                <a:path extrusionOk="0" h="9525" w="386079">
                  <a:moveTo>
                    <a:pt x="0" y="0"/>
                  </a:moveTo>
                  <a:lnTo>
                    <a:pt x="385762" y="9245"/>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9" name="Google Shape;619;p41"/>
            <p:cNvSpPr/>
            <p:nvPr/>
          </p:nvSpPr>
          <p:spPr>
            <a:xfrm>
              <a:off x="5512455" y="4007643"/>
              <a:ext cx="386080" cy="9525"/>
            </a:xfrm>
            <a:custGeom>
              <a:rect b="b" l="l" r="r" t="t"/>
              <a:pathLst>
                <a:path extrusionOk="0" h="9525" w="386079">
                  <a:moveTo>
                    <a:pt x="0" y="0"/>
                  </a:moveTo>
                  <a:lnTo>
                    <a:pt x="385763" y="9245"/>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620" name="Google Shape;620;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42"/>
          <p:cNvSpPr txBox="1"/>
          <p:nvPr>
            <p:ph type="title"/>
          </p:nvPr>
        </p:nvSpPr>
        <p:spPr>
          <a:xfrm>
            <a:off x="852715" y="366161"/>
            <a:ext cx="103632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Multiplicity of E/R Relationships</a:t>
            </a:r>
            <a:endParaRPr/>
          </a:p>
        </p:txBody>
      </p:sp>
      <p:sp>
        <p:nvSpPr>
          <p:cNvPr id="627" name="Google Shape;627;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628" name="Google Shape;628;p42"/>
          <p:cNvSpPr txBox="1"/>
          <p:nvPr/>
        </p:nvSpPr>
        <p:spPr>
          <a:xfrm>
            <a:off x="9024937" y="2018283"/>
            <a:ext cx="2449512" cy="830997"/>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Indicated using arrows</a:t>
            </a:r>
            <a:endParaRPr/>
          </a:p>
        </p:txBody>
      </p:sp>
      <p:grpSp>
        <p:nvGrpSpPr>
          <p:cNvPr id="629" name="Google Shape;629;p42"/>
          <p:cNvGrpSpPr/>
          <p:nvPr/>
        </p:nvGrpSpPr>
        <p:grpSpPr>
          <a:xfrm>
            <a:off x="852715" y="1523223"/>
            <a:ext cx="7257822" cy="1008063"/>
            <a:chOff x="852715" y="1523223"/>
            <a:chExt cx="7257822" cy="1008063"/>
          </a:xfrm>
        </p:grpSpPr>
        <p:grpSp>
          <p:nvGrpSpPr>
            <p:cNvPr id="630" name="Google Shape;630;p42"/>
            <p:cNvGrpSpPr/>
            <p:nvPr/>
          </p:nvGrpSpPr>
          <p:grpSpPr>
            <a:xfrm>
              <a:off x="5967412" y="1540783"/>
              <a:ext cx="2143125" cy="755650"/>
              <a:chOff x="5967412" y="1540783"/>
              <a:chExt cx="2143125" cy="755650"/>
            </a:xfrm>
          </p:grpSpPr>
          <p:sp>
            <p:nvSpPr>
              <p:cNvPr id="631" name="Google Shape;631;p42"/>
              <p:cNvSpPr/>
              <p:nvPr/>
            </p:nvSpPr>
            <p:spPr>
              <a:xfrm>
                <a:off x="6662737" y="1540783"/>
                <a:ext cx="838200" cy="755650"/>
              </a:xfrm>
              <a:prstGeom prst="diamond">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Calibri"/>
                  <a:ea typeface="Calibri"/>
                  <a:cs typeface="Calibri"/>
                  <a:sym typeface="Calibri"/>
                </a:endParaRPr>
              </a:p>
            </p:txBody>
          </p:sp>
          <p:cxnSp>
            <p:nvCxnSpPr>
              <p:cNvPr id="632" name="Google Shape;632;p42"/>
              <p:cNvCxnSpPr/>
              <p:nvPr/>
            </p:nvCxnSpPr>
            <p:spPr>
              <a:xfrm rot="10800000">
                <a:off x="5967412" y="1921783"/>
                <a:ext cx="685800" cy="0"/>
              </a:xfrm>
              <a:prstGeom prst="straightConnector1">
                <a:avLst/>
              </a:prstGeom>
              <a:noFill/>
              <a:ln cap="flat" cmpd="sng" w="12700">
                <a:solidFill>
                  <a:schemeClr val="dk1"/>
                </a:solidFill>
                <a:prstDash val="solid"/>
                <a:round/>
                <a:headEnd len="lg" w="lg" type="triangle"/>
                <a:tailEnd len="sm" w="sm" type="none"/>
              </a:ln>
            </p:spPr>
          </p:cxnSp>
          <p:cxnSp>
            <p:nvCxnSpPr>
              <p:cNvPr id="633" name="Google Shape;633;p42"/>
              <p:cNvCxnSpPr/>
              <p:nvPr/>
            </p:nvCxnSpPr>
            <p:spPr>
              <a:xfrm>
                <a:off x="7500937" y="1921783"/>
                <a:ext cx="609600" cy="0"/>
              </a:xfrm>
              <a:prstGeom prst="straightConnector1">
                <a:avLst/>
              </a:prstGeom>
              <a:noFill/>
              <a:ln cap="flat" cmpd="sng" w="9525">
                <a:solidFill>
                  <a:schemeClr val="dk1"/>
                </a:solidFill>
                <a:prstDash val="solid"/>
                <a:round/>
                <a:headEnd len="lg" w="lg" type="triangle"/>
                <a:tailEnd len="sm" w="sm" type="none"/>
              </a:ln>
            </p:spPr>
          </p:cxnSp>
        </p:grpSp>
        <p:grpSp>
          <p:nvGrpSpPr>
            <p:cNvPr id="634" name="Google Shape;634;p42"/>
            <p:cNvGrpSpPr/>
            <p:nvPr/>
          </p:nvGrpSpPr>
          <p:grpSpPr>
            <a:xfrm>
              <a:off x="4017962" y="1523223"/>
              <a:ext cx="1143000" cy="1008063"/>
              <a:chOff x="4017962" y="1523223"/>
              <a:chExt cx="1143000" cy="1008063"/>
            </a:xfrm>
          </p:grpSpPr>
          <p:grpSp>
            <p:nvGrpSpPr>
              <p:cNvPr id="635" name="Google Shape;635;p42"/>
              <p:cNvGrpSpPr/>
              <p:nvPr/>
            </p:nvGrpSpPr>
            <p:grpSpPr>
              <a:xfrm>
                <a:off x="4017962" y="1523223"/>
                <a:ext cx="1143000" cy="1008063"/>
                <a:chOff x="1536" y="1498"/>
                <a:chExt cx="720" cy="635"/>
              </a:xfrm>
            </p:grpSpPr>
            <p:sp>
              <p:nvSpPr>
                <p:cNvPr id="636" name="Google Shape;636;p42"/>
                <p:cNvSpPr/>
                <p:nvPr/>
              </p:nvSpPr>
              <p:spPr>
                <a:xfrm>
                  <a:off x="1536" y="1498"/>
                  <a:ext cx="254" cy="508"/>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00"/>
                      </a:solidFill>
                      <a:latin typeface="Calibri"/>
                      <a:ea typeface="Calibri"/>
                      <a:cs typeface="Calibri"/>
                      <a:sym typeface="Calibri"/>
                    </a:rPr>
                    <a:t>1</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2</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3</a:t>
                  </a:r>
                  <a:endParaRPr/>
                </a:p>
              </p:txBody>
            </p:sp>
            <p:sp>
              <p:nvSpPr>
                <p:cNvPr id="637" name="Google Shape;637;p42"/>
                <p:cNvSpPr/>
                <p:nvPr/>
              </p:nvSpPr>
              <p:spPr>
                <a:xfrm>
                  <a:off x="2002" y="1498"/>
                  <a:ext cx="254" cy="635"/>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00"/>
                      </a:solidFill>
                      <a:latin typeface="Calibri"/>
                      <a:ea typeface="Calibri"/>
                      <a:cs typeface="Calibri"/>
                      <a:sym typeface="Calibri"/>
                    </a:rPr>
                    <a:t>a</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b</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c</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d</a:t>
                  </a:r>
                  <a:endParaRPr/>
                </a:p>
              </p:txBody>
            </p:sp>
          </p:grpSp>
          <p:cxnSp>
            <p:nvCxnSpPr>
              <p:cNvPr id="638" name="Google Shape;638;p42"/>
              <p:cNvCxnSpPr/>
              <p:nvPr/>
            </p:nvCxnSpPr>
            <p:spPr>
              <a:xfrm>
                <a:off x="4322762" y="1739917"/>
                <a:ext cx="533400" cy="381000"/>
              </a:xfrm>
              <a:prstGeom prst="straightConnector1">
                <a:avLst/>
              </a:prstGeom>
              <a:noFill/>
              <a:ln cap="flat" cmpd="sng" w="9525">
                <a:solidFill>
                  <a:schemeClr val="dk1"/>
                </a:solidFill>
                <a:prstDash val="solid"/>
                <a:round/>
                <a:headEnd len="med" w="med" type="none"/>
                <a:tailEnd len="med" w="med" type="none"/>
              </a:ln>
            </p:spPr>
          </p:cxnSp>
          <p:cxnSp>
            <p:nvCxnSpPr>
              <p:cNvPr id="639" name="Google Shape;639;p42"/>
              <p:cNvCxnSpPr/>
              <p:nvPr/>
            </p:nvCxnSpPr>
            <p:spPr>
              <a:xfrm flipH="1" rot="10800000">
                <a:off x="4322762" y="1739917"/>
                <a:ext cx="533400" cy="152400"/>
              </a:xfrm>
              <a:prstGeom prst="straightConnector1">
                <a:avLst/>
              </a:prstGeom>
              <a:noFill/>
              <a:ln cap="flat" cmpd="sng" w="9525">
                <a:solidFill>
                  <a:schemeClr val="dk1"/>
                </a:solidFill>
                <a:prstDash val="solid"/>
                <a:round/>
                <a:headEnd len="med" w="med" type="none"/>
                <a:tailEnd len="med" w="med" type="none"/>
              </a:ln>
            </p:spPr>
          </p:cxnSp>
          <p:cxnSp>
            <p:nvCxnSpPr>
              <p:cNvPr id="640" name="Google Shape;640;p42"/>
              <p:cNvCxnSpPr/>
              <p:nvPr/>
            </p:nvCxnSpPr>
            <p:spPr>
              <a:xfrm>
                <a:off x="4322762" y="2120917"/>
                <a:ext cx="533400" cy="228600"/>
              </a:xfrm>
              <a:prstGeom prst="straightConnector1">
                <a:avLst/>
              </a:prstGeom>
              <a:noFill/>
              <a:ln cap="flat" cmpd="sng" w="9525">
                <a:solidFill>
                  <a:schemeClr val="dk1"/>
                </a:solidFill>
                <a:prstDash val="solid"/>
                <a:round/>
                <a:headEnd len="med" w="med" type="none"/>
                <a:tailEnd len="med" w="med" type="none"/>
              </a:ln>
            </p:spPr>
          </p:cxnSp>
        </p:grpSp>
        <p:sp>
          <p:nvSpPr>
            <p:cNvPr id="641" name="Google Shape;641;p42"/>
            <p:cNvSpPr/>
            <p:nvPr/>
          </p:nvSpPr>
          <p:spPr>
            <a:xfrm>
              <a:off x="852715" y="1641491"/>
              <a:ext cx="1954381"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One-to-one:</a:t>
              </a:r>
              <a:endParaRPr/>
            </a:p>
          </p:txBody>
        </p:sp>
      </p:grpSp>
      <p:grpSp>
        <p:nvGrpSpPr>
          <p:cNvPr id="642" name="Google Shape;642;p42"/>
          <p:cNvGrpSpPr/>
          <p:nvPr/>
        </p:nvGrpSpPr>
        <p:grpSpPr>
          <a:xfrm>
            <a:off x="852715" y="2717640"/>
            <a:ext cx="7334022" cy="1008063"/>
            <a:chOff x="852715" y="2717640"/>
            <a:chExt cx="7334022" cy="1008063"/>
          </a:xfrm>
        </p:grpSpPr>
        <p:grpSp>
          <p:nvGrpSpPr>
            <p:cNvPr id="643" name="Google Shape;643;p42"/>
            <p:cNvGrpSpPr/>
            <p:nvPr/>
          </p:nvGrpSpPr>
          <p:grpSpPr>
            <a:xfrm>
              <a:off x="6053137" y="2800189"/>
              <a:ext cx="2133600" cy="755650"/>
              <a:chOff x="6053137" y="2800189"/>
              <a:chExt cx="2133600" cy="755650"/>
            </a:xfrm>
          </p:grpSpPr>
          <p:sp>
            <p:nvSpPr>
              <p:cNvPr id="644" name="Google Shape;644;p42"/>
              <p:cNvSpPr/>
              <p:nvPr/>
            </p:nvSpPr>
            <p:spPr>
              <a:xfrm>
                <a:off x="6662737" y="2800189"/>
                <a:ext cx="838200" cy="755650"/>
              </a:xfrm>
              <a:prstGeom prst="diamond">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Calibri"/>
                  <a:ea typeface="Calibri"/>
                  <a:cs typeface="Calibri"/>
                  <a:sym typeface="Calibri"/>
                </a:endParaRPr>
              </a:p>
            </p:txBody>
          </p:sp>
          <p:cxnSp>
            <p:nvCxnSpPr>
              <p:cNvPr id="645" name="Google Shape;645;p42"/>
              <p:cNvCxnSpPr/>
              <p:nvPr/>
            </p:nvCxnSpPr>
            <p:spPr>
              <a:xfrm>
                <a:off x="7500937" y="3181189"/>
                <a:ext cx="685800" cy="0"/>
              </a:xfrm>
              <a:prstGeom prst="straightConnector1">
                <a:avLst/>
              </a:prstGeom>
              <a:noFill/>
              <a:ln cap="flat" cmpd="sng" w="9525">
                <a:solidFill>
                  <a:schemeClr val="dk1"/>
                </a:solidFill>
                <a:prstDash val="solid"/>
                <a:round/>
                <a:headEnd len="sm" w="sm" type="none"/>
                <a:tailEnd len="sm" w="sm" type="none"/>
              </a:ln>
            </p:spPr>
          </p:cxnSp>
          <p:cxnSp>
            <p:nvCxnSpPr>
              <p:cNvPr id="646" name="Google Shape;646;p42"/>
              <p:cNvCxnSpPr/>
              <p:nvPr/>
            </p:nvCxnSpPr>
            <p:spPr>
              <a:xfrm rot="10800000">
                <a:off x="6053137" y="3181189"/>
                <a:ext cx="609600" cy="0"/>
              </a:xfrm>
              <a:prstGeom prst="straightConnector1">
                <a:avLst/>
              </a:prstGeom>
              <a:noFill/>
              <a:ln cap="flat" cmpd="sng" w="9525">
                <a:solidFill>
                  <a:schemeClr val="dk1"/>
                </a:solidFill>
                <a:prstDash val="solid"/>
                <a:round/>
                <a:headEnd len="lg" w="lg" type="triangle"/>
                <a:tailEnd len="sm" w="sm" type="none"/>
              </a:ln>
            </p:spPr>
          </p:cxnSp>
        </p:grpSp>
        <p:grpSp>
          <p:nvGrpSpPr>
            <p:cNvPr id="647" name="Google Shape;647;p42"/>
            <p:cNvGrpSpPr/>
            <p:nvPr/>
          </p:nvGrpSpPr>
          <p:grpSpPr>
            <a:xfrm>
              <a:off x="4017962" y="2717640"/>
              <a:ext cx="1143000" cy="1008063"/>
              <a:chOff x="4017962" y="2717640"/>
              <a:chExt cx="1143000" cy="1008063"/>
            </a:xfrm>
          </p:grpSpPr>
          <p:grpSp>
            <p:nvGrpSpPr>
              <p:cNvPr id="648" name="Google Shape;648;p42"/>
              <p:cNvGrpSpPr/>
              <p:nvPr/>
            </p:nvGrpSpPr>
            <p:grpSpPr>
              <a:xfrm>
                <a:off x="4017962" y="2717640"/>
                <a:ext cx="1143000" cy="1008063"/>
                <a:chOff x="1536" y="1498"/>
                <a:chExt cx="720" cy="635"/>
              </a:xfrm>
            </p:grpSpPr>
            <p:sp>
              <p:nvSpPr>
                <p:cNvPr id="649" name="Google Shape;649;p42"/>
                <p:cNvSpPr/>
                <p:nvPr/>
              </p:nvSpPr>
              <p:spPr>
                <a:xfrm>
                  <a:off x="1536" y="1498"/>
                  <a:ext cx="254" cy="508"/>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00"/>
                      </a:solidFill>
                      <a:latin typeface="Calibri"/>
                      <a:ea typeface="Calibri"/>
                      <a:cs typeface="Calibri"/>
                      <a:sym typeface="Calibri"/>
                    </a:rPr>
                    <a:t>1</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2</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3</a:t>
                  </a:r>
                  <a:endParaRPr/>
                </a:p>
              </p:txBody>
            </p:sp>
            <p:sp>
              <p:nvSpPr>
                <p:cNvPr id="650" name="Google Shape;650;p42"/>
                <p:cNvSpPr/>
                <p:nvPr/>
              </p:nvSpPr>
              <p:spPr>
                <a:xfrm>
                  <a:off x="2002" y="1498"/>
                  <a:ext cx="254" cy="635"/>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00"/>
                      </a:solidFill>
                      <a:latin typeface="Calibri"/>
                      <a:ea typeface="Calibri"/>
                      <a:cs typeface="Calibri"/>
                      <a:sym typeface="Calibri"/>
                    </a:rPr>
                    <a:t>a</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b</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c</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d</a:t>
                  </a:r>
                  <a:endParaRPr/>
                </a:p>
              </p:txBody>
            </p:sp>
          </p:grpSp>
          <p:cxnSp>
            <p:nvCxnSpPr>
              <p:cNvPr id="651" name="Google Shape;651;p42"/>
              <p:cNvCxnSpPr/>
              <p:nvPr/>
            </p:nvCxnSpPr>
            <p:spPr>
              <a:xfrm>
                <a:off x="4322762" y="2946239"/>
                <a:ext cx="533400" cy="152400"/>
              </a:xfrm>
              <a:prstGeom prst="straightConnector1">
                <a:avLst/>
              </a:prstGeom>
              <a:noFill/>
              <a:ln cap="flat" cmpd="sng" w="9525">
                <a:solidFill>
                  <a:schemeClr val="dk1"/>
                </a:solidFill>
                <a:prstDash val="solid"/>
                <a:round/>
                <a:headEnd len="med" w="med" type="none"/>
                <a:tailEnd len="med" w="med" type="none"/>
              </a:ln>
            </p:spPr>
          </p:cxnSp>
          <p:cxnSp>
            <p:nvCxnSpPr>
              <p:cNvPr id="652" name="Google Shape;652;p42"/>
              <p:cNvCxnSpPr/>
              <p:nvPr/>
            </p:nvCxnSpPr>
            <p:spPr>
              <a:xfrm>
                <a:off x="4322762" y="3098639"/>
                <a:ext cx="533400" cy="0"/>
              </a:xfrm>
              <a:prstGeom prst="straightConnector1">
                <a:avLst/>
              </a:prstGeom>
              <a:noFill/>
              <a:ln cap="flat" cmpd="sng" w="9525">
                <a:solidFill>
                  <a:schemeClr val="dk1"/>
                </a:solidFill>
                <a:prstDash val="solid"/>
                <a:round/>
                <a:headEnd len="med" w="med" type="none"/>
                <a:tailEnd len="med" w="med" type="none"/>
              </a:ln>
            </p:spPr>
          </p:cxnSp>
          <p:cxnSp>
            <p:nvCxnSpPr>
              <p:cNvPr id="653" name="Google Shape;653;p42"/>
              <p:cNvCxnSpPr/>
              <p:nvPr/>
            </p:nvCxnSpPr>
            <p:spPr>
              <a:xfrm>
                <a:off x="4322762" y="3327239"/>
                <a:ext cx="533400" cy="228600"/>
              </a:xfrm>
              <a:prstGeom prst="straightConnector1">
                <a:avLst/>
              </a:prstGeom>
              <a:noFill/>
              <a:ln cap="flat" cmpd="sng" w="9525">
                <a:solidFill>
                  <a:schemeClr val="dk1"/>
                </a:solidFill>
                <a:prstDash val="solid"/>
                <a:round/>
                <a:headEnd len="med" w="med" type="none"/>
                <a:tailEnd len="med" w="med" type="none"/>
              </a:ln>
            </p:spPr>
          </p:cxnSp>
        </p:grpSp>
        <p:sp>
          <p:nvSpPr>
            <p:cNvPr id="654" name="Google Shape;654;p42"/>
            <p:cNvSpPr/>
            <p:nvPr/>
          </p:nvSpPr>
          <p:spPr>
            <a:xfrm>
              <a:off x="852715" y="2927889"/>
              <a:ext cx="2155398"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Many-to-one:</a:t>
              </a:r>
              <a:endParaRPr/>
            </a:p>
          </p:txBody>
        </p:sp>
      </p:grpSp>
      <p:grpSp>
        <p:nvGrpSpPr>
          <p:cNvPr id="655" name="Google Shape;655;p42"/>
          <p:cNvGrpSpPr/>
          <p:nvPr/>
        </p:nvGrpSpPr>
        <p:grpSpPr>
          <a:xfrm>
            <a:off x="852715" y="3967785"/>
            <a:ext cx="7334022" cy="1016368"/>
            <a:chOff x="852715" y="3967785"/>
            <a:chExt cx="7334022" cy="1016368"/>
          </a:xfrm>
        </p:grpSpPr>
        <p:grpSp>
          <p:nvGrpSpPr>
            <p:cNvPr id="656" name="Google Shape;656;p42"/>
            <p:cNvGrpSpPr/>
            <p:nvPr/>
          </p:nvGrpSpPr>
          <p:grpSpPr>
            <a:xfrm>
              <a:off x="4017962" y="3976090"/>
              <a:ext cx="1143000" cy="1008063"/>
              <a:chOff x="4017962" y="3976090"/>
              <a:chExt cx="1143000" cy="1008063"/>
            </a:xfrm>
          </p:grpSpPr>
          <p:grpSp>
            <p:nvGrpSpPr>
              <p:cNvPr id="657" name="Google Shape;657;p42"/>
              <p:cNvGrpSpPr/>
              <p:nvPr/>
            </p:nvGrpSpPr>
            <p:grpSpPr>
              <a:xfrm>
                <a:off x="4017962" y="3976090"/>
                <a:ext cx="1143000" cy="1008063"/>
                <a:chOff x="1536" y="1498"/>
                <a:chExt cx="720" cy="635"/>
              </a:xfrm>
            </p:grpSpPr>
            <p:sp>
              <p:nvSpPr>
                <p:cNvPr id="658" name="Google Shape;658;p42"/>
                <p:cNvSpPr/>
                <p:nvPr/>
              </p:nvSpPr>
              <p:spPr>
                <a:xfrm>
                  <a:off x="1536" y="1498"/>
                  <a:ext cx="254" cy="508"/>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00"/>
                      </a:solidFill>
                      <a:latin typeface="Calibri"/>
                      <a:ea typeface="Calibri"/>
                      <a:cs typeface="Calibri"/>
                      <a:sym typeface="Calibri"/>
                    </a:rPr>
                    <a:t>1</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2</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3</a:t>
                  </a:r>
                  <a:endParaRPr/>
                </a:p>
              </p:txBody>
            </p:sp>
            <p:sp>
              <p:nvSpPr>
                <p:cNvPr id="659" name="Google Shape;659;p42"/>
                <p:cNvSpPr/>
                <p:nvPr/>
              </p:nvSpPr>
              <p:spPr>
                <a:xfrm>
                  <a:off x="2002" y="1498"/>
                  <a:ext cx="254" cy="635"/>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00"/>
                      </a:solidFill>
                      <a:latin typeface="Calibri"/>
                      <a:ea typeface="Calibri"/>
                      <a:cs typeface="Calibri"/>
                      <a:sym typeface="Calibri"/>
                    </a:rPr>
                    <a:t>a</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b</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c</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d</a:t>
                  </a:r>
                  <a:endParaRPr/>
                </a:p>
              </p:txBody>
            </p:sp>
          </p:grpSp>
          <p:cxnSp>
            <p:nvCxnSpPr>
              <p:cNvPr id="660" name="Google Shape;660;p42"/>
              <p:cNvCxnSpPr/>
              <p:nvPr/>
            </p:nvCxnSpPr>
            <p:spPr>
              <a:xfrm flipH="1" rot="10800000">
                <a:off x="4322762" y="4208481"/>
                <a:ext cx="533400" cy="148608"/>
              </a:xfrm>
              <a:prstGeom prst="straightConnector1">
                <a:avLst/>
              </a:prstGeom>
              <a:noFill/>
              <a:ln cap="flat" cmpd="sng" w="9525">
                <a:solidFill>
                  <a:schemeClr val="dk1"/>
                </a:solidFill>
                <a:prstDash val="solid"/>
                <a:round/>
                <a:headEnd len="med" w="med" type="none"/>
                <a:tailEnd len="med" w="med" type="none"/>
              </a:ln>
            </p:spPr>
          </p:cxnSp>
          <p:cxnSp>
            <p:nvCxnSpPr>
              <p:cNvPr id="661" name="Google Shape;661;p42"/>
              <p:cNvCxnSpPr/>
              <p:nvPr/>
            </p:nvCxnSpPr>
            <p:spPr>
              <a:xfrm>
                <a:off x="4322762" y="4357089"/>
                <a:ext cx="533400" cy="0"/>
              </a:xfrm>
              <a:prstGeom prst="straightConnector1">
                <a:avLst/>
              </a:prstGeom>
              <a:noFill/>
              <a:ln cap="flat" cmpd="sng" w="9525">
                <a:solidFill>
                  <a:schemeClr val="dk1"/>
                </a:solidFill>
                <a:prstDash val="solid"/>
                <a:round/>
                <a:headEnd len="med" w="med" type="none"/>
                <a:tailEnd len="med" w="med" type="none"/>
              </a:ln>
            </p:spPr>
          </p:cxnSp>
          <p:cxnSp>
            <p:nvCxnSpPr>
              <p:cNvPr id="662" name="Google Shape;662;p42"/>
              <p:cNvCxnSpPr/>
              <p:nvPr/>
            </p:nvCxnSpPr>
            <p:spPr>
              <a:xfrm>
                <a:off x="4322762" y="4585689"/>
                <a:ext cx="533400" cy="228600"/>
              </a:xfrm>
              <a:prstGeom prst="straightConnector1">
                <a:avLst/>
              </a:prstGeom>
              <a:noFill/>
              <a:ln cap="flat" cmpd="sng" w="9525">
                <a:solidFill>
                  <a:schemeClr val="dk1"/>
                </a:solidFill>
                <a:prstDash val="solid"/>
                <a:round/>
                <a:headEnd len="med" w="med" type="none"/>
                <a:tailEnd len="med" w="med" type="none"/>
              </a:ln>
            </p:spPr>
          </p:cxnSp>
        </p:grpSp>
        <p:grpSp>
          <p:nvGrpSpPr>
            <p:cNvPr id="663" name="Google Shape;663;p42"/>
            <p:cNvGrpSpPr/>
            <p:nvPr/>
          </p:nvGrpSpPr>
          <p:grpSpPr>
            <a:xfrm>
              <a:off x="5976937" y="3967785"/>
              <a:ext cx="2209800" cy="755650"/>
              <a:chOff x="5976937" y="3967785"/>
              <a:chExt cx="2209800" cy="755650"/>
            </a:xfrm>
          </p:grpSpPr>
          <p:sp>
            <p:nvSpPr>
              <p:cNvPr id="664" name="Google Shape;664;p42"/>
              <p:cNvSpPr/>
              <p:nvPr/>
            </p:nvSpPr>
            <p:spPr>
              <a:xfrm>
                <a:off x="6662737" y="3967785"/>
                <a:ext cx="838200" cy="755650"/>
              </a:xfrm>
              <a:prstGeom prst="diamond">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Calibri"/>
                  <a:ea typeface="Calibri"/>
                  <a:cs typeface="Calibri"/>
                  <a:sym typeface="Calibri"/>
                </a:endParaRPr>
              </a:p>
            </p:txBody>
          </p:sp>
          <p:cxnSp>
            <p:nvCxnSpPr>
              <p:cNvPr id="665" name="Google Shape;665;p42"/>
              <p:cNvCxnSpPr/>
              <p:nvPr/>
            </p:nvCxnSpPr>
            <p:spPr>
              <a:xfrm>
                <a:off x="5976937" y="4349287"/>
                <a:ext cx="685800" cy="0"/>
              </a:xfrm>
              <a:prstGeom prst="straightConnector1">
                <a:avLst/>
              </a:prstGeom>
              <a:noFill/>
              <a:ln cap="flat" cmpd="sng" w="9525">
                <a:solidFill>
                  <a:schemeClr val="dk1"/>
                </a:solidFill>
                <a:prstDash val="solid"/>
                <a:round/>
                <a:headEnd len="sm" w="sm" type="none"/>
                <a:tailEnd len="sm" w="sm" type="none"/>
              </a:ln>
            </p:spPr>
          </p:cxnSp>
          <p:cxnSp>
            <p:nvCxnSpPr>
              <p:cNvPr id="666" name="Google Shape;666;p42"/>
              <p:cNvCxnSpPr/>
              <p:nvPr/>
            </p:nvCxnSpPr>
            <p:spPr>
              <a:xfrm flipH="1" rot="10800000">
                <a:off x="7500936" y="4342435"/>
                <a:ext cx="685801" cy="14654"/>
              </a:xfrm>
              <a:prstGeom prst="straightConnector1">
                <a:avLst/>
              </a:prstGeom>
              <a:noFill/>
              <a:ln cap="flat" cmpd="sng" w="9525">
                <a:solidFill>
                  <a:schemeClr val="dk1"/>
                </a:solidFill>
                <a:prstDash val="solid"/>
                <a:round/>
                <a:headEnd len="lg" w="lg" type="triangle"/>
                <a:tailEnd len="sm" w="sm" type="none"/>
              </a:ln>
            </p:spPr>
          </p:cxnSp>
        </p:grpSp>
        <p:sp>
          <p:nvSpPr>
            <p:cNvPr id="667" name="Google Shape;667;p42"/>
            <p:cNvSpPr/>
            <p:nvPr/>
          </p:nvSpPr>
          <p:spPr>
            <a:xfrm>
              <a:off x="852715" y="4214287"/>
              <a:ext cx="2192844"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One-to-many:</a:t>
              </a:r>
              <a:endParaRPr/>
            </a:p>
          </p:txBody>
        </p:sp>
      </p:grpSp>
      <p:grpSp>
        <p:nvGrpSpPr>
          <p:cNvPr id="668" name="Google Shape;668;p42"/>
          <p:cNvGrpSpPr/>
          <p:nvPr/>
        </p:nvGrpSpPr>
        <p:grpSpPr>
          <a:xfrm>
            <a:off x="852715" y="5348287"/>
            <a:ext cx="7334022" cy="1008063"/>
            <a:chOff x="852715" y="5348287"/>
            <a:chExt cx="7334022" cy="1008063"/>
          </a:xfrm>
        </p:grpSpPr>
        <p:grpSp>
          <p:nvGrpSpPr>
            <p:cNvPr id="669" name="Google Shape;669;p42"/>
            <p:cNvGrpSpPr/>
            <p:nvPr/>
          </p:nvGrpSpPr>
          <p:grpSpPr>
            <a:xfrm>
              <a:off x="6053137" y="5360680"/>
              <a:ext cx="2133600" cy="755650"/>
              <a:chOff x="6053137" y="5360680"/>
              <a:chExt cx="2133600" cy="755650"/>
            </a:xfrm>
          </p:grpSpPr>
          <p:sp>
            <p:nvSpPr>
              <p:cNvPr id="670" name="Google Shape;670;p42"/>
              <p:cNvSpPr/>
              <p:nvPr/>
            </p:nvSpPr>
            <p:spPr>
              <a:xfrm>
                <a:off x="6662737" y="5360680"/>
                <a:ext cx="838200" cy="755650"/>
              </a:xfrm>
              <a:prstGeom prst="diamond">
                <a:avLst/>
              </a:prstGeom>
              <a:solidFill>
                <a:schemeClr val="fo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Calibri"/>
                  <a:ea typeface="Calibri"/>
                  <a:cs typeface="Calibri"/>
                  <a:sym typeface="Calibri"/>
                </a:endParaRPr>
              </a:p>
            </p:txBody>
          </p:sp>
          <p:cxnSp>
            <p:nvCxnSpPr>
              <p:cNvPr id="671" name="Google Shape;671;p42"/>
              <p:cNvCxnSpPr/>
              <p:nvPr/>
            </p:nvCxnSpPr>
            <p:spPr>
              <a:xfrm>
                <a:off x="7500937" y="5741680"/>
                <a:ext cx="685800" cy="0"/>
              </a:xfrm>
              <a:prstGeom prst="straightConnector1">
                <a:avLst/>
              </a:prstGeom>
              <a:noFill/>
              <a:ln cap="flat" cmpd="sng" w="9525">
                <a:solidFill>
                  <a:schemeClr val="dk1"/>
                </a:solidFill>
                <a:prstDash val="solid"/>
                <a:round/>
                <a:headEnd len="med" w="med" type="none"/>
                <a:tailEnd len="med" w="med" type="none"/>
              </a:ln>
            </p:spPr>
          </p:cxnSp>
          <p:cxnSp>
            <p:nvCxnSpPr>
              <p:cNvPr id="672" name="Google Shape;672;p42"/>
              <p:cNvCxnSpPr/>
              <p:nvPr/>
            </p:nvCxnSpPr>
            <p:spPr>
              <a:xfrm rot="10800000">
                <a:off x="6053137" y="5741680"/>
                <a:ext cx="609600" cy="0"/>
              </a:xfrm>
              <a:prstGeom prst="straightConnector1">
                <a:avLst/>
              </a:prstGeom>
              <a:noFill/>
              <a:ln cap="flat" cmpd="sng" w="9525">
                <a:solidFill>
                  <a:schemeClr val="dk1"/>
                </a:solidFill>
                <a:prstDash val="solid"/>
                <a:round/>
                <a:headEnd len="med" w="med" type="none"/>
                <a:tailEnd len="med" w="med" type="none"/>
              </a:ln>
            </p:spPr>
          </p:cxnSp>
        </p:grpSp>
        <p:grpSp>
          <p:nvGrpSpPr>
            <p:cNvPr id="673" name="Google Shape;673;p42"/>
            <p:cNvGrpSpPr/>
            <p:nvPr/>
          </p:nvGrpSpPr>
          <p:grpSpPr>
            <a:xfrm>
              <a:off x="4017962" y="5348287"/>
              <a:ext cx="1143000" cy="1008063"/>
              <a:chOff x="4017962" y="5348287"/>
              <a:chExt cx="1143000" cy="1008063"/>
            </a:xfrm>
          </p:grpSpPr>
          <p:grpSp>
            <p:nvGrpSpPr>
              <p:cNvPr id="674" name="Google Shape;674;p42"/>
              <p:cNvGrpSpPr/>
              <p:nvPr/>
            </p:nvGrpSpPr>
            <p:grpSpPr>
              <a:xfrm>
                <a:off x="4017962" y="5348287"/>
                <a:ext cx="1143000" cy="1008063"/>
                <a:chOff x="1536" y="1498"/>
                <a:chExt cx="720" cy="635"/>
              </a:xfrm>
            </p:grpSpPr>
            <p:sp>
              <p:nvSpPr>
                <p:cNvPr id="675" name="Google Shape;675;p42"/>
                <p:cNvSpPr/>
                <p:nvPr/>
              </p:nvSpPr>
              <p:spPr>
                <a:xfrm>
                  <a:off x="1536" y="1498"/>
                  <a:ext cx="254" cy="508"/>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00"/>
                      </a:solidFill>
                      <a:latin typeface="Calibri"/>
                      <a:ea typeface="Calibri"/>
                      <a:cs typeface="Calibri"/>
                      <a:sym typeface="Calibri"/>
                    </a:rPr>
                    <a:t>1</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2</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3</a:t>
                  </a:r>
                  <a:endParaRPr/>
                </a:p>
              </p:txBody>
            </p:sp>
            <p:sp>
              <p:nvSpPr>
                <p:cNvPr id="676" name="Google Shape;676;p42"/>
                <p:cNvSpPr/>
                <p:nvPr/>
              </p:nvSpPr>
              <p:spPr>
                <a:xfrm>
                  <a:off x="2002" y="1498"/>
                  <a:ext cx="254" cy="635"/>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00"/>
                      </a:solidFill>
                      <a:latin typeface="Calibri"/>
                      <a:ea typeface="Calibri"/>
                      <a:cs typeface="Calibri"/>
                      <a:sym typeface="Calibri"/>
                    </a:rPr>
                    <a:t>a</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b</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c</a:t>
                  </a:r>
                  <a:endParaRPr/>
                </a:p>
                <a:p>
                  <a:pPr indent="0" lvl="0" marL="0" marR="0" rtl="0" algn="ctr">
                    <a:spcBef>
                      <a:spcPts val="0"/>
                    </a:spcBef>
                    <a:spcAft>
                      <a:spcPts val="0"/>
                    </a:spcAft>
                    <a:buNone/>
                  </a:pPr>
                  <a:r>
                    <a:rPr lang="en-US" sz="1400">
                      <a:solidFill>
                        <a:srgbClr val="000000"/>
                      </a:solidFill>
                      <a:latin typeface="Calibri"/>
                      <a:ea typeface="Calibri"/>
                      <a:cs typeface="Calibri"/>
                      <a:sym typeface="Calibri"/>
                    </a:rPr>
                    <a:t>d</a:t>
                  </a:r>
                  <a:endParaRPr/>
                </a:p>
              </p:txBody>
            </p:sp>
          </p:grpSp>
          <p:cxnSp>
            <p:nvCxnSpPr>
              <p:cNvPr id="677" name="Google Shape;677;p42"/>
              <p:cNvCxnSpPr/>
              <p:nvPr/>
            </p:nvCxnSpPr>
            <p:spPr>
              <a:xfrm>
                <a:off x="4322762" y="5500686"/>
                <a:ext cx="609600" cy="228600"/>
              </a:xfrm>
              <a:prstGeom prst="straightConnector1">
                <a:avLst/>
              </a:prstGeom>
              <a:noFill/>
              <a:ln cap="flat" cmpd="sng" w="9525">
                <a:solidFill>
                  <a:schemeClr val="dk1"/>
                </a:solidFill>
                <a:prstDash val="solid"/>
                <a:round/>
                <a:headEnd len="med" w="med" type="none"/>
                <a:tailEnd len="med" w="med" type="none"/>
              </a:ln>
            </p:spPr>
          </p:cxnSp>
          <p:cxnSp>
            <p:nvCxnSpPr>
              <p:cNvPr id="678" name="Google Shape;678;p42"/>
              <p:cNvCxnSpPr/>
              <p:nvPr/>
            </p:nvCxnSpPr>
            <p:spPr>
              <a:xfrm>
                <a:off x="4322762" y="550068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79" name="Google Shape;679;p42"/>
              <p:cNvCxnSpPr/>
              <p:nvPr/>
            </p:nvCxnSpPr>
            <p:spPr>
              <a:xfrm flipH="1">
                <a:off x="4322762" y="5500686"/>
                <a:ext cx="609600" cy="228600"/>
              </a:xfrm>
              <a:prstGeom prst="straightConnector1">
                <a:avLst/>
              </a:prstGeom>
              <a:noFill/>
              <a:ln cap="flat" cmpd="sng" w="9525">
                <a:solidFill>
                  <a:schemeClr val="dk1"/>
                </a:solidFill>
                <a:prstDash val="solid"/>
                <a:round/>
                <a:headEnd len="med" w="med" type="none"/>
                <a:tailEnd len="med" w="med" type="none"/>
              </a:ln>
            </p:spPr>
          </p:cxnSp>
          <p:cxnSp>
            <p:nvCxnSpPr>
              <p:cNvPr id="680" name="Google Shape;680;p42"/>
              <p:cNvCxnSpPr/>
              <p:nvPr/>
            </p:nvCxnSpPr>
            <p:spPr>
              <a:xfrm>
                <a:off x="4322762" y="5729286"/>
                <a:ext cx="609600" cy="457200"/>
              </a:xfrm>
              <a:prstGeom prst="straightConnector1">
                <a:avLst/>
              </a:prstGeom>
              <a:noFill/>
              <a:ln cap="flat" cmpd="sng" w="9525">
                <a:solidFill>
                  <a:schemeClr val="dk1"/>
                </a:solidFill>
                <a:prstDash val="solid"/>
                <a:round/>
                <a:headEnd len="med" w="med" type="none"/>
                <a:tailEnd len="med" w="med" type="none"/>
              </a:ln>
            </p:spPr>
          </p:cxnSp>
          <p:cxnSp>
            <p:nvCxnSpPr>
              <p:cNvPr id="681" name="Google Shape;681;p42"/>
              <p:cNvCxnSpPr/>
              <p:nvPr/>
            </p:nvCxnSpPr>
            <p:spPr>
              <a:xfrm flipH="1">
                <a:off x="4322762" y="5729286"/>
                <a:ext cx="533400" cy="228600"/>
              </a:xfrm>
              <a:prstGeom prst="straightConnector1">
                <a:avLst/>
              </a:prstGeom>
              <a:noFill/>
              <a:ln cap="flat" cmpd="sng" w="9525">
                <a:solidFill>
                  <a:schemeClr val="dk1"/>
                </a:solidFill>
                <a:prstDash val="solid"/>
                <a:round/>
                <a:headEnd len="med" w="med" type="none"/>
                <a:tailEnd len="med" w="med" type="none"/>
              </a:ln>
            </p:spPr>
          </p:cxnSp>
          <p:cxnSp>
            <p:nvCxnSpPr>
              <p:cNvPr id="682" name="Google Shape;682;p42"/>
              <p:cNvCxnSpPr/>
              <p:nvPr/>
            </p:nvCxnSpPr>
            <p:spPr>
              <a:xfrm>
                <a:off x="4322762" y="5957886"/>
                <a:ext cx="609600" cy="0"/>
              </a:xfrm>
              <a:prstGeom prst="straightConnector1">
                <a:avLst/>
              </a:prstGeom>
              <a:noFill/>
              <a:ln cap="flat" cmpd="sng" w="9525">
                <a:solidFill>
                  <a:schemeClr val="dk1"/>
                </a:solidFill>
                <a:prstDash val="solid"/>
                <a:round/>
                <a:headEnd len="med" w="med" type="none"/>
                <a:tailEnd len="med" w="med" type="none"/>
              </a:ln>
            </p:spPr>
          </p:cxnSp>
        </p:grpSp>
        <p:sp>
          <p:nvSpPr>
            <p:cNvPr id="683" name="Google Shape;683;p42"/>
            <p:cNvSpPr/>
            <p:nvPr/>
          </p:nvSpPr>
          <p:spPr>
            <a:xfrm>
              <a:off x="852715" y="5500686"/>
              <a:ext cx="2393860"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Many-to-many:</a:t>
              </a:r>
              <a:endParaRPr/>
            </a:p>
          </p:txBody>
        </p:sp>
      </p:grpSp>
      <p:sp>
        <p:nvSpPr>
          <p:cNvPr id="684" name="Google Shape;684;p42"/>
          <p:cNvSpPr txBox="1"/>
          <p:nvPr/>
        </p:nvSpPr>
        <p:spPr>
          <a:xfrm>
            <a:off x="9024937" y="3448653"/>
            <a:ext cx="2449512" cy="2308324"/>
          </a:xfrm>
          <a:prstGeom prst="rect">
            <a:avLst/>
          </a:prstGeom>
          <a:solidFill>
            <a:srgbClr val="D8E2F3"/>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X -&gt; Y means </a:t>
            </a:r>
            <a:r>
              <a:rPr b="1" lang="en-US" sz="2400" u="sng">
                <a:solidFill>
                  <a:srgbClr val="000000"/>
                </a:solidFill>
                <a:latin typeface="Calibri"/>
                <a:ea typeface="Calibri"/>
                <a:cs typeface="Calibri"/>
                <a:sym typeface="Calibri"/>
              </a:rPr>
              <a:t>there exists a function mapping from X to Y </a:t>
            </a:r>
            <a:r>
              <a:rPr lang="en-US" sz="2400">
                <a:solidFill>
                  <a:srgbClr val="000000"/>
                </a:solidFill>
                <a:latin typeface="Calibri"/>
                <a:ea typeface="Calibri"/>
                <a:cs typeface="Calibri"/>
                <a:sym typeface="Calibri"/>
              </a:rPr>
              <a:t>(</a:t>
            </a:r>
            <a:r>
              <a:rPr i="1" lang="en-US" sz="2400">
                <a:solidFill>
                  <a:srgbClr val="000000"/>
                </a:solidFill>
                <a:latin typeface="Calibri"/>
                <a:ea typeface="Calibri"/>
                <a:cs typeface="Calibri"/>
                <a:sym typeface="Calibri"/>
              </a:rPr>
              <a:t>recall the definition of a function)</a:t>
            </a:r>
            <a:endParaRPr sz="2400">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8" name="Shape 688"/>
        <p:cNvGrpSpPr/>
        <p:nvPr/>
      </p:nvGrpSpPr>
      <p:grpSpPr>
        <a:xfrm>
          <a:off x="0" y="0"/>
          <a:ext cx="0" cy="0"/>
          <a:chOff x="0" y="0"/>
          <a:chExt cx="0" cy="0"/>
        </a:xfrm>
      </p:grpSpPr>
      <p:sp>
        <p:nvSpPr>
          <p:cNvPr id="689" name="Google Shape;689;p43"/>
          <p:cNvSpPr txBox="1"/>
          <p:nvPr>
            <p:ph type="title"/>
          </p:nvPr>
        </p:nvSpPr>
        <p:spPr>
          <a:xfrm>
            <a:off x="858129" y="293736"/>
            <a:ext cx="6654267" cy="69378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Minimum</a:t>
            </a:r>
            <a:r>
              <a:rPr lang="en-US"/>
              <a:t> Cardinality</a:t>
            </a:r>
            <a:endParaRPr/>
          </a:p>
        </p:txBody>
      </p:sp>
      <p:sp>
        <p:nvSpPr>
          <p:cNvPr id="690" name="Google Shape;690;p43"/>
          <p:cNvSpPr txBox="1"/>
          <p:nvPr/>
        </p:nvSpPr>
        <p:spPr>
          <a:xfrm>
            <a:off x="1832640" y="1172632"/>
            <a:ext cx="8226425" cy="2000250"/>
          </a:xfrm>
          <a:prstGeom prst="rect">
            <a:avLst/>
          </a:prstGeom>
          <a:noFill/>
          <a:ln>
            <a:noFill/>
          </a:ln>
        </p:spPr>
        <p:txBody>
          <a:bodyPr anchorCtr="0" anchor="t" bIns="0" lIns="0" spcFirstLastPara="1" rIns="0" wrap="square" tIns="26025">
            <a:spAutoFit/>
          </a:bodyPr>
          <a:lstStyle/>
          <a:p>
            <a:pPr indent="-257175" lvl="0" marL="269875" marR="5080" rtl="0" algn="l">
              <a:lnSpc>
                <a:spcPct val="119583"/>
              </a:lnSpc>
              <a:spcBef>
                <a:spcPts val="0"/>
              </a:spcBef>
              <a:spcAft>
                <a:spcPts val="0"/>
              </a:spcAft>
              <a:buClr>
                <a:srgbClr val="FF0000"/>
              </a:buClr>
              <a:buSzPts val="2400"/>
              <a:buFont typeface="Arial"/>
              <a:buChar char="•"/>
            </a:pPr>
            <a:r>
              <a:rPr lang="en-US" sz="2400">
                <a:solidFill>
                  <a:srgbClr val="FF0000"/>
                </a:solidFill>
                <a:latin typeface="Calibri"/>
                <a:ea typeface="Calibri"/>
                <a:cs typeface="Calibri"/>
                <a:sym typeface="Calibri"/>
              </a:rPr>
              <a:t>Minimum cardinality </a:t>
            </a:r>
            <a:r>
              <a:rPr lang="en-US" sz="2400">
                <a:solidFill>
                  <a:schemeClr val="dk1"/>
                </a:solidFill>
                <a:latin typeface="Calibri"/>
                <a:ea typeface="Calibri"/>
                <a:cs typeface="Calibri"/>
                <a:sym typeface="Calibri"/>
              </a:rPr>
              <a:t>is the minimum number of entity instances  that must participate in a relationship instance</a:t>
            </a:r>
            <a:endParaRPr sz="2400">
              <a:solidFill>
                <a:schemeClr val="dk1"/>
              </a:solidFill>
              <a:latin typeface="Calibri"/>
              <a:ea typeface="Calibri"/>
              <a:cs typeface="Calibri"/>
              <a:sym typeface="Calibri"/>
            </a:endParaRPr>
          </a:p>
          <a:p>
            <a:pPr indent="0" lvl="0" marL="0" marR="0" rtl="0" algn="l">
              <a:spcBef>
                <a:spcPts val="30"/>
              </a:spcBef>
              <a:spcAft>
                <a:spcPts val="0"/>
              </a:spcAft>
              <a:buClr>
                <a:schemeClr val="dk1"/>
              </a:buClr>
              <a:buSzPts val="3300"/>
              <a:buFont typeface="Calibri"/>
              <a:buNone/>
            </a:pPr>
            <a:r>
              <a:t/>
            </a:r>
            <a:endParaRPr sz="3300">
              <a:solidFill>
                <a:schemeClr val="dk1"/>
              </a:solidFill>
              <a:latin typeface="Calibri"/>
              <a:ea typeface="Calibri"/>
              <a:cs typeface="Calibri"/>
              <a:sym typeface="Calibri"/>
            </a:endParaRPr>
          </a:p>
          <a:p>
            <a:pPr indent="-257175" lvl="0" marL="269875" marR="250190" rtl="0" algn="l">
              <a:lnSpc>
                <a:spcPct val="119583"/>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These values typically assume a value of zero (optional) or one  (mandatory)</a:t>
            </a:r>
            <a:endParaRPr sz="2400">
              <a:solidFill>
                <a:schemeClr val="dk1"/>
              </a:solidFill>
              <a:latin typeface="Calibri"/>
              <a:ea typeface="Calibri"/>
              <a:cs typeface="Calibri"/>
              <a:sym typeface="Calibri"/>
            </a:endParaRPr>
          </a:p>
        </p:txBody>
      </p:sp>
      <p:sp>
        <p:nvSpPr>
          <p:cNvPr id="691" name="Google Shape;691;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5" name="Shape 695"/>
        <p:cNvGrpSpPr/>
        <p:nvPr/>
      </p:nvGrpSpPr>
      <p:grpSpPr>
        <a:xfrm>
          <a:off x="0" y="0"/>
          <a:ext cx="0" cy="0"/>
          <a:chOff x="0" y="0"/>
          <a:chExt cx="0" cy="0"/>
        </a:xfrm>
      </p:grpSpPr>
      <p:sp>
        <p:nvSpPr>
          <p:cNvPr id="696" name="Google Shape;696;p44"/>
          <p:cNvSpPr txBox="1"/>
          <p:nvPr>
            <p:ph type="title"/>
          </p:nvPr>
        </p:nvSpPr>
        <p:spPr>
          <a:xfrm>
            <a:off x="492369" y="125550"/>
            <a:ext cx="6941935" cy="69378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Maximum</a:t>
            </a:r>
            <a:r>
              <a:rPr lang="en-US"/>
              <a:t> Cardinality</a:t>
            </a:r>
            <a:endParaRPr/>
          </a:p>
        </p:txBody>
      </p:sp>
      <p:sp>
        <p:nvSpPr>
          <p:cNvPr id="697" name="Google Shape;697;p44"/>
          <p:cNvSpPr txBox="1"/>
          <p:nvPr/>
        </p:nvSpPr>
        <p:spPr>
          <a:xfrm>
            <a:off x="1832640" y="1172632"/>
            <a:ext cx="8568055" cy="2798842"/>
          </a:xfrm>
          <a:prstGeom prst="rect">
            <a:avLst/>
          </a:prstGeom>
          <a:noFill/>
          <a:ln>
            <a:noFill/>
          </a:ln>
        </p:spPr>
        <p:txBody>
          <a:bodyPr anchorCtr="0" anchor="t" bIns="0" lIns="0" spcFirstLastPara="1" rIns="0" wrap="square" tIns="26025">
            <a:spAutoFit/>
          </a:bodyPr>
          <a:lstStyle/>
          <a:p>
            <a:pPr indent="-257175" lvl="0" marL="269875" marR="47625" rtl="0" algn="l">
              <a:lnSpc>
                <a:spcPct val="119583"/>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Relationships are named and classified by their </a:t>
            </a:r>
            <a:r>
              <a:rPr lang="en-US" sz="2400">
                <a:solidFill>
                  <a:srgbClr val="FF0000"/>
                </a:solidFill>
                <a:latin typeface="Calibri"/>
                <a:ea typeface="Calibri"/>
                <a:cs typeface="Calibri"/>
                <a:sym typeface="Calibri"/>
              </a:rPr>
              <a:t>cardinalities</a:t>
            </a:r>
            <a:r>
              <a:rPr lang="en-US" sz="2400">
                <a:solidFill>
                  <a:schemeClr val="dk1"/>
                </a:solidFill>
                <a:latin typeface="Calibri"/>
                <a:ea typeface="Calibri"/>
                <a:cs typeface="Calibri"/>
                <a:sym typeface="Calibri"/>
              </a:rPr>
              <a:t>, which  is a word that means </a:t>
            </a:r>
            <a:r>
              <a:rPr i="1" lang="en-US" sz="2400">
                <a:solidFill>
                  <a:schemeClr val="dk1"/>
                </a:solidFill>
                <a:latin typeface="Calibri"/>
                <a:ea typeface="Calibri"/>
                <a:cs typeface="Calibri"/>
                <a:sym typeface="Calibri"/>
              </a:rPr>
              <a:t>count </a:t>
            </a:r>
            <a:r>
              <a:rPr lang="en-US" sz="2400">
                <a:solidFill>
                  <a:schemeClr val="dk1"/>
                </a:solidFill>
                <a:latin typeface="Calibri"/>
                <a:ea typeface="Calibri"/>
                <a:cs typeface="Calibri"/>
                <a:sym typeface="Calibri"/>
              </a:rPr>
              <a:t>(as in the number of items in a set)</a:t>
            </a:r>
            <a:endParaRPr sz="2400">
              <a:solidFill>
                <a:schemeClr val="dk1"/>
              </a:solidFill>
              <a:latin typeface="Calibri"/>
              <a:ea typeface="Calibri"/>
              <a:cs typeface="Calibri"/>
              <a:sym typeface="Calibri"/>
            </a:endParaRPr>
          </a:p>
          <a:p>
            <a:pPr indent="-257175" lvl="0" marL="269875" marR="5080" rtl="0" algn="l">
              <a:lnSpc>
                <a:spcPct val="119583"/>
              </a:lnSpc>
              <a:spcBef>
                <a:spcPts val="59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Each of the three types of binary relationship shown previously has  a different </a:t>
            </a:r>
            <a:r>
              <a:rPr i="1" lang="en-US" sz="2400">
                <a:solidFill>
                  <a:srgbClr val="00B050"/>
                </a:solidFill>
                <a:latin typeface="Calibri"/>
                <a:ea typeface="Calibri"/>
                <a:cs typeface="Calibri"/>
                <a:sym typeface="Calibri"/>
              </a:rPr>
              <a:t>maximum cardinality</a:t>
            </a:r>
            <a:endParaRPr sz="2400">
              <a:solidFill>
                <a:schemeClr val="dk1"/>
              </a:solidFill>
              <a:latin typeface="Calibri"/>
              <a:ea typeface="Calibri"/>
              <a:cs typeface="Calibri"/>
              <a:sym typeface="Calibri"/>
            </a:endParaRPr>
          </a:p>
          <a:p>
            <a:pPr indent="-257175" lvl="0" marL="269875" marR="257175" rtl="0" algn="l">
              <a:lnSpc>
                <a:spcPct val="119583"/>
              </a:lnSpc>
              <a:spcBef>
                <a:spcPts val="595"/>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Maximum cardinality is the </a:t>
            </a:r>
            <a:r>
              <a:rPr lang="en-US" sz="2400">
                <a:solidFill>
                  <a:srgbClr val="00B0F0"/>
                </a:solidFill>
                <a:latin typeface="Calibri"/>
                <a:ea typeface="Calibri"/>
                <a:cs typeface="Calibri"/>
                <a:sym typeface="Calibri"/>
              </a:rPr>
              <a:t>maximum </a:t>
            </a:r>
            <a:r>
              <a:rPr lang="en-US" sz="2400">
                <a:solidFill>
                  <a:schemeClr val="dk1"/>
                </a:solidFill>
                <a:latin typeface="Calibri"/>
                <a:ea typeface="Calibri"/>
                <a:cs typeface="Calibri"/>
                <a:sym typeface="Calibri"/>
              </a:rPr>
              <a:t>number of entity instances  that can participate in a relationship instance</a:t>
            </a:r>
            <a:endParaRPr sz="2400">
              <a:solidFill>
                <a:schemeClr val="dk1"/>
              </a:solidFill>
              <a:latin typeface="Calibri"/>
              <a:ea typeface="Calibri"/>
              <a:cs typeface="Calibri"/>
              <a:sym typeface="Calibri"/>
            </a:endParaRPr>
          </a:p>
          <a:p>
            <a:pPr indent="0" lvl="0" marL="355600" marR="0" rtl="0" algn="l">
              <a:spcBef>
                <a:spcPts val="455"/>
              </a:spcBef>
              <a:spcAft>
                <a:spcPts val="0"/>
              </a:spcAft>
              <a:buNone/>
            </a:pPr>
            <a:r>
              <a:rPr lang="en-US" sz="2100">
                <a:solidFill>
                  <a:schemeClr val="dk1"/>
                </a:solidFill>
                <a:latin typeface="Arial"/>
                <a:ea typeface="Arial"/>
                <a:cs typeface="Arial"/>
                <a:sym typeface="Arial"/>
              </a:rPr>
              <a:t>– </a:t>
            </a:r>
            <a:r>
              <a:rPr lang="en-US" sz="2100">
                <a:solidFill>
                  <a:schemeClr val="dk1"/>
                </a:solidFill>
                <a:latin typeface="Calibri"/>
                <a:ea typeface="Calibri"/>
                <a:cs typeface="Calibri"/>
                <a:sym typeface="Calibri"/>
              </a:rPr>
              <a:t>One, many, or some other positive fixed number</a:t>
            </a:r>
            <a:endParaRPr sz="2100">
              <a:solidFill>
                <a:schemeClr val="dk1"/>
              </a:solidFill>
              <a:latin typeface="Calibri"/>
              <a:ea typeface="Calibri"/>
              <a:cs typeface="Calibri"/>
              <a:sym typeface="Calibri"/>
            </a:endParaRPr>
          </a:p>
        </p:txBody>
      </p:sp>
      <p:sp>
        <p:nvSpPr>
          <p:cNvPr id="698" name="Google Shape;698;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45"/>
          <p:cNvSpPr txBox="1"/>
          <p:nvPr>
            <p:ph type="title"/>
          </p:nvPr>
        </p:nvSpPr>
        <p:spPr>
          <a:xfrm>
            <a:off x="604520" y="735297"/>
            <a:ext cx="8107679" cy="69378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chemeClr val="dk1"/>
              </a:buClr>
              <a:buSzPts val="4400"/>
              <a:buFont typeface="Calibri"/>
              <a:buNone/>
            </a:pPr>
            <a:r>
              <a:rPr lang="en-US"/>
              <a:t>Conceptual Ternary Relationship</a:t>
            </a:r>
            <a:endParaRPr/>
          </a:p>
        </p:txBody>
      </p:sp>
      <p:sp>
        <p:nvSpPr>
          <p:cNvPr id="704" name="Google Shape;704;p45"/>
          <p:cNvSpPr txBox="1"/>
          <p:nvPr/>
        </p:nvSpPr>
        <p:spPr>
          <a:xfrm>
            <a:off x="4936191" y="3857626"/>
            <a:ext cx="685800" cy="241733"/>
          </a:xfrm>
          <a:prstGeom prst="rect">
            <a:avLst/>
          </a:prstGeom>
          <a:solidFill>
            <a:srgbClr val="F2DCDB"/>
          </a:solidFill>
          <a:ln cap="flat" cmpd="sng" w="9525">
            <a:solidFill>
              <a:srgbClr val="000000"/>
            </a:solidFill>
            <a:prstDash val="solid"/>
            <a:round/>
            <a:headEnd len="sm" w="sm" type="none"/>
            <a:tailEnd len="sm" w="sm" type="none"/>
          </a:ln>
        </p:spPr>
        <p:txBody>
          <a:bodyPr anchorCtr="0" anchor="t" bIns="0" lIns="0" spcFirstLastPara="1" rIns="0" wrap="square" tIns="41275">
            <a:spAutoFit/>
          </a:bodyPr>
          <a:lstStyle/>
          <a:p>
            <a:pPr indent="0" lvl="0" marL="95250" marR="0" rtl="0" algn="l">
              <a:spcBef>
                <a:spcPts val="0"/>
              </a:spcBef>
              <a:spcAft>
                <a:spcPts val="0"/>
              </a:spcAft>
              <a:buNone/>
            </a:pPr>
            <a:r>
              <a:rPr lang="en-US" sz="1300">
                <a:solidFill>
                  <a:schemeClr val="dk1"/>
                </a:solidFill>
                <a:latin typeface="Calibri"/>
                <a:ea typeface="Calibri"/>
                <a:cs typeface="Calibri"/>
                <a:sym typeface="Calibri"/>
              </a:rPr>
              <a:t>Patient</a:t>
            </a:r>
            <a:endParaRPr sz="1300">
              <a:solidFill>
                <a:schemeClr val="dk1"/>
              </a:solidFill>
              <a:latin typeface="Calibri"/>
              <a:ea typeface="Calibri"/>
              <a:cs typeface="Calibri"/>
              <a:sym typeface="Calibri"/>
            </a:endParaRPr>
          </a:p>
        </p:txBody>
      </p:sp>
      <p:sp>
        <p:nvSpPr>
          <p:cNvPr id="705" name="Google Shape;705;p45"/>
          <p:cNvSpPr txBox="1"/>
          <p:nvPr/>
        </p:nvSpPr>
        <p:spPr>
          <a:xfrm>
            <a:off x="7458270" y="3848379"/>
            <a:ext cx="923925" cy="250710"/>
          </a:xfrm>
          <a:prstGeom prst="rect">
            <a:avLst/>
          </a:prstGeom>
          <a:solidFill>
            <a:srgbClr val="F2DCDB"/>
          </a:solidFill>
          <a:ln cap="flat" cmpd="sng" w="9525">
            <a:solidFill>
              <a:srgbClr val="000000"/>
            </a:solidFill>
            <a:prstDash val="solid"/>
            <a:round/>
            <a:headEnd len="sm" w="sm" type="none"/>
            <a:tailEnd len="sm" w="sm" type="none"/>
          </a:ln>
        </p:spPr>
        <p:txBody>
          <a:bodyPr anchorCtr="0" anchor="t" bIns="0" lIns="0" spcFirstLastPara="1" rIns="0" wrap="square" tIns="50150">
            <a:spAutoFit/>
          </a:bodyPr>
          <a:lstStyle/>
          <a:p>
            <a:pPr indent="0" lvl="0" marL="293370" marR="0" rtl="0" algn="l">
              <a:spcBef>
                <a:spcPts val="0"/>
              </a:spcBef>
              <a:spcAft>
                <a:spcPts val="0"/>
              </a:spcAft>
              <a:buNone/>
            </a:pPr>
            <a:r>
              <a:rPr lang="en-US" sz="1300">
                <a:solidFill>
                  <a:schemeClr val="dk1"/>
                </a:solidFill>
                <a:latin typeface="Calibri"/>
                <a:ea typeface="Calibri"/>
                <a:cs typeface="Calibri"/>
                <a:sym typeface="Calibri"/>
              </a:rPr>
              <a:t>Drug</a:t>
            </a:r>
            <a:endParaRPr sz="1300">
              <a:solidFill>
                <a:schemeClr val="dk1"/>
              </a:solidFill>
              <a:latin typeface="Calibri"/>
              <a:ea typeface="Calibri"/>
              <a:cs typeface="Calibri"/>
              <a:sym typeface="Calibri"/>
            </a:endParaRPr>
          </a:p>
        </p:txBody>
      </p:sp>
      <p:grpSp>
        <p:nvGrpSpPr>
          <p:cNvPr id="706" name="Google Shape;706;p45"/>
          <p:cNvGrpSpPr/>
          <p:nvPr/>
        </p:nvGrpSpPr>
        <p:grpSpPr>
          <a:xfrm>
            <a:off x="6007756" y="3814763"/>
            <a:ext cx="1028700" cy="386080"/>
            <a:chOff x="4483755" y="3814762"/>
            <a:chExt cx="1028700" cy="386080"/>
          </a:xfrm>
        </p:grpSpPr>
        <p:sp>
          <p:nvSpPr>
            <p:cNvPr id="707" name="Google Shape;707;p45"/>
            <p:cNvSpPr/>
            <p:nvPr/>
          </p:nvSpPr>
          <p:spPr>
            <a:xfrm>
              <a:off x="4483755" y="3814762"/>
              <a:ext cx="1028700" cy="386080"/>
            </a:xfrm>
            <a:custGeom>
              <a:rect b="b" l="l" r="r" t="t"/>
              <a:pathLst>
                <a:path extrusionOk="0" h="386079" w="1028700">
                  <a:moveTo>
                    <a:pt x="514350" y="0"/>
                  </a:moveTo>
                  <a:lnTo>
                    <a:pt x="0" y="192881"/>
                  </a:lnTo>
                  <a:lnTo>
                    <a:pt x="514350" y="385762"/>
                  </a:lnTo>
                  <a:lnTo>
                    <a:pt x="1028700" y="192881"/>
                  </a:lnTo>
                  <a:lnTo>
                    <a:pt x="51435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8" name="Google Shape;708;p45"/>
            <p:cNvSpPr/>
            <p:nvPr/>
          </p:nvSpPr>
          <p:spPr>
            <a:xfrm>
              <a:off x="4483755" y="3814762"/>
              <a:ext cx="1028700" cy="386080"/>
            </a:xfrm>
            <a:custGeom>
              <a:rect b="b" l="l" r="r" t="t"/>
              <a:pathLst>
                <a:path extrusionOk="0" h="386079" w="1028700">
                  <a:moveTo>
                    <a:pt x="0" y="192881"/>
                  </a:moveTo>
                  <a:lnTo>
                    <a:pt x="514350" y="0"/>
                  </a:lnTo>
                  <a:lnTo>
                    <a:pt x="1028700" y="192881"/>
                  </a:lnTo>
                  <a:lnTo>
                    <a:pt x="514350" y="385763"/>
                  </a:lnTo>
                  <a:lnTo>
                    <a:pt x="0" y="192881"/>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09" name="Google Shape;709;p45"/>
          <p:cNvSpPr txBox="1"/>
          <p:nvPr/>
        </p:nvSpPr>
        <p:spPr>
          <a:xfrm>
            <a:off x="6089448" y="3881966"/>
            <a:ext cx="863600" cy="216726"/>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1300">
                <a:solidFill>
                  <a:schemeClr val="dk1"/>
                </a:solidFill>
                <a:latin typeface="Calibri"/>
                <a:ea typeface="Calibri"/>
                <a:cs typeface="Calibri"/>
                <a:sym typeface="Calibri"/>
              </a:rPr>
              <a:t>Prescription</a:t>
            </a:r>
            <a:endParaRPr sz="1300">
              <a:solidFill>
                <a:schemeClr val="dk1"/>
              </a:solidFill>
              <a:latin typeface="Calibri"/>
              <a:ea typeface="Calibri"/>
              <a:cs typeface="Calibri"/>
              <a:sym typeface="Calibri"/>
            </a:endParaRPr>
          </a:p>
        </p:txBody>
      </p:sp>
      <p:grpSp>
        <p:nvGrpSpPr>
          <p:cNvPr id="710" name="Google Shape;710;p45"/>
          <p:cNvGrpSpPr/>
          <p:nvPr/>
        </p:nvGrpSpPr>
        <p:grpSpPr>
          <a:xfrm>
            <a:off x="5621992" y="2634786"/>
            <a:ext cx="1836739" cy="1374128"/>
            <a:chOff x="4097991" y="2634785"/>
            <a:chExt cx="1836739" cy="1374128"/>
          </a:xfrm>
        </p:grpSpPr>
        <p:sp>
          <p:nvSpPr>
            <p:cNvPr id="711" name="Google Shape;711;p45"/>
            <p:cNvSpPr/>
            <p:nvPr/>
          </p:nvSpPr>
          <p:spPr>
            <a:xfrm>
              <a:off x="4097991" y="4007643"/>
              <a:ext cx="386080" cy="1270"/>
            </a:xfrm>
            <a:custGeom>
              <a:rect b="b" l="l" r="r" t="t"/>
              <a:pathLst>
                <a:path extrusionOk="0" h="1270" w="386079">
                  <a:moveTo>
                    <a:pt x="0" y="0"/>
                  </a:moveTo>
                  <a:lnTo>
                    <a:pt x="385763" y="892"/>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45"/>
            <p:cNvSpPr/>
            <p:nvPr/>
          </p:nvSpPr>
          <p:spPr>
            <a:xfrm>
              <a:off x="4097991" y="4007643"/>
              <a:ext cx="386080" cy="1270"/>
            </a:xfrm>
            <a:custGeom>
              <a:rect b="b" l="l" r="r" t="t"/>
              <a:pathLst>
                <a:path extrusionOk="0" h="1270" w="386079">
                  <a:moveTo>
                    <a:pt x="0" y="0"/>
                  </a:moveTo>
                  <a:lnTo>
                    <a:pt x="385763" y="893"/>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3" name="Google Shape;713;p45"/>
            <p:cNvSpPr/>
            <p:nvPr/>
          </p:nvSpPr>
          <p:spPr>
            <a:xfrm>
              <a:off x="5512455" y="4007643"/>
              <a:ext cx="422275" cy="0"/>
            </a:xfrm>
            <a:custGeom>
              <a:rect b="b" l="l" r="r" t="t"/>
              <a:pathLst>
                <a:path extrusionOk="0" h="120000" w="422275">
                  <a:moveTo>
                    <a:pt x="421815" y="0"/>
                  </a:moveTo>
                  <a:lnTo>
                    <a:pt x="0" y="0"/>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45"/>
            <p:cNvSpPr/>
            <p:nvPr/>
          </p:nvSpPr>
          <p:spPr>
            <a:xfrm>
              <a:off x="5512455" y="4007643"/>
              <a:ext cx="422275" cy="0"/>
            </a:xfrm>
            <a:custGeom>
              <a:rect b="b" l="l" r="r" t="t"/>
              <a:pathLst>
                <a:path extrusionOk="0" h="120000" w="422275">
                  <a:moveTo>
                    <a:pt x="0" y="0"/>
                  </a:moveTo>
                  <a:lnTo>
                    <a:pt x="421815"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5" name="Google Shape;715;p45"/>
            <p:cNvSpPr/>
            <p:nvPr/>
          </p:nvSpPr>
          <p:spPr>
            <a:xfrm>
              <a:off x="4517011" y="2634785"/>
              <a:ext cx="923925" cy="318770"/>
            </a:xfrm>
            <a:custGeom>
              <a:rect b="b" l="l" r="r" t="t"/>
              <a:pathLst>
                <a:path extrusionOk="0" h="318769" w="923925">
                  <a:moveTo>
                    <a:pt x="923730" y="0"/>
                  </a:moveTo>
                  <a:lnTo>
                    <a:pt x="0" y="0"/>
                  </a:lnTo>
                  <a:lnTo>
                    <a:pt x="0" y="318527"/>
                  </a:lnTo>
                  <a:lnTo>
                    <a:pt x="923730" y="318527"/>
                  </a:lnTo>
                  <a:lnTo>
                    <a:pt x="923730" y="0"/>
                  </a:lnTo>
                  <a:close/>
                </a:path>
              </a:pathLst>
            </a:custGeom>
            <a:solidFill>
              <a:srgbClr val="F2DCD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6" name="Google Shape;716;p45"/>
            <p:cNvSpPr/>
            <p:nvPr/>
          </p:nvSpPr>
          <p:spPr>
            <a:xfrm>
              <a:off x="4517011" y="2634786"/>
              <a:ext cx="923925" cy="318770"/>
            </a:xfrm>
            <a:custGeom>
              <a:rect b="b" l="l" r="r" t="t"/>
              <a:pathLst>
                <a:path extrusionOk="0" h="318769" w="923925">
                  <a:moveTo>
                    <a:pt x="0" y="0"/>
                  </a:moveTo>
                  <a:lnTo>
                    <a:pt x="923731" y="0"/>
                  </a:lnTo>
                  <a:lnTo>
                    <a:pt x="923731" y="318528"/>
                  </a:lnTo>
                  <a:lnTo>
                    <a:pt x="0" y="318528"/>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17" name="Google Shape;717;p45"/>
          <p:cNvSpPr txBox="1"/>
          <p:nvPr/>
        </p:nvSpPr>
        <p:spPr>
          <a:xfrm>
            <a:off x="6045773" y="2671233"/>
            <a:ext cx="914400" cy="216726"/>
          </a:xfrm>
          <a:prstGeom prst="rect">
            <a:avLst/>
          </a:prstGeom>
          <a:noFill/>
          <a:ln>
            <a:noFill/>
          </a:ln>
        </p:spPr>
        <p:txBody>
          <a:bodyPr anchorCtr="0" anchor="t" bIns="0" lIns="0" spcFirstLastPara="1" rIns="0" wrap="square" tIns="16500">
            <a:spAutoFit/>
          </a:bodyPr>
          <a:lstStyle/>
          <a:p>
            <a:pPr indent="0" lvl="0" marL="219709" marR="0" rtl="0" algn="l">
              <a:spcBef>
                <a:spcPts val="0"/>
              </a:spcBef>
              <a:spcAft>
                <a:spcPts val="0"/>
              </a:spcAft>
              <a:buNone/>
            </a:pPr>
            <a:r>
              <a:rPr lang="en-US" sz="1300">
                <a:solidFill>
                  <a:schemeClr val="dk1"/>
                </a:solidFill>
                <a:latin typeface="Calibri"/>
                <a:ea typeface="Calibri"/>
                <a:cs typeface="Calibri"/>
                <a:sym typeface="Calibri"/>
              </a:rPr>
              <a:t>Doctor</a:t>
            </a:r>
            <a:endParaRPr sz="1300">
              <a:solidFill>
                <a:schemeClr val="dk1"/>
              </a:solidFill>
              <a:latin typeface="Calibri"/>
              <a:ea typeface="Calibri"/>
              <a:cs typeface="Calibri"/>
              <a:sym typeface="Calibri"/>
            </a:endParaRPr>
          </a:p>
        </p:txBody>
      </p:sp>
      <p:grpSp>
        <p:nvGrpSpPr>
          <p:cNvPr id="718" name="Google Shape;718;p45"/>
          <p:cNvGrpSpPr/>
          <p:nvPr/>
        </p:nvGrpSpPr>
        <p:grpSpPr>
          <a:xfrm>
            <a:off x="6426200" y="2912533"/>
            <a:ext cx="152400" cy="973666"/>
            <a:chOff x="4902200" y="2912533"/>
            <a:chExt cx="152400" cy="973666"/>
          </a:xfrm>
        </p:grpSpPr>
        <p:pic>
          <p:nvPicPr>
            <p:cNvPr id="719" name="Google Shape;719;p45"/>
            <p:cNvPicPr preferRelativeResize="0"/>
            <p:nvPr/>
          </p:nvPicPr>
          <p:blipFill rotWithShape="1">
            <a:blip r:embed="rId3">
              <a:alphaModFix/>
            </a:blip>
            <a:srcRect b="0" l="0" r="0" t="0"/>
            <a:stretch/>
          </p:blipFill>
          <p:spPr>
            <a:xfrm>
              <a:off x="4902200" y="2912533"/>
              <a:ext cx="152400" cy="973666"/>
            </a:xfrm>
            <a:prstGeom prst="rect">
              <a:avLst/>
            </a:prstGeom>
            <a:noFill/>
            <a:ln>
              <a:noFill/>
            </a:ln>
          </p:spPr>
        </p:pic>
        <p:sp>
          <p:nvSpPr>
            <p:cNvPr id="720" name="Google Shape;720;p45"/>
            <p:cNvSpPr/>
            <p:nvPr/>
          </p:nvSpPr>
          <p:spPr>
            <a:xfrm>
              <a:off x="4959649" y="2946694"/>
              <a:ext cx="38735" cy="875030"/>
            </a:xfrm>
            <a:custGeom>
              <a:rect b="b" l="l" r="r" t="t"/>
              <a:pathLst>
                <a:path extrusionOk="0" h="875029" w="38735">
                  <a:moveTo>
                    <a:pt x="0" y="0"/>
                  </a:moveTo>
                  <a:lnTo>
                    <a:pt x="0" y="1399"/>
                  </a:lnTo>
                  <a:lnTo>
                    <a:pt x="38456" y="1399"/>
                  </a:lnTo>
                  <a:lnTo>
                    <a:pt x="38456" y="874475"/>
                  </a:lnTo>
                </a:path>
              </a:pathLst>
            </a:custGeom>
            <a:noFill/>
            <a:ln cap="flat" cmpd="sng" w="25400">
              <a:solidFill>
                <a:srgbClr val="4F81B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21" name="Google Shape;721;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46"/>
          <p:cNvSpPr txBox="1"/>
          <p:nvPr>
            <p:ph type="title"/>
          </p:nvPr>
        </p:nvSpPr>
        <p:spPr>
          <a:xfrm>
            <a:off x="2133600" y="0"/>
            <a:ext cx="7772400" cy="1143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lang="en-US"/>
            </a:br>
            <a:endParaRPr/>
          </a:p>
        </p:txBody>
      </p:sp>
      <p:grpSp>
        <p:nvGrpSpPr>
          <p:cNvPr id="728" name="Google Shape;728;p46"/>
          <p:cNvGrpSpPr/>
          <p:nvPr/>
        </p:nvGrpSpPr>
        <p:grpSpPr>
          <a:xfrm>
            <a:off x="4495800" y="1600200"/>
            <a:ext cx="3429000" cy="1371600"/>
            <a:chOff x="4495800" y="1600200"/>
            <a:chExt cx="3429000" cy="1371600"/>
          </a:xfrm>
        </p:grpSpPr>
        <p:sp>
          <p:nvSpPr>
            <p:cNvPr id="729" name="Google Shape;729;p46"/>
            <p:cNvSpPr/>
            <p:nvPr/>
          </p:nvSpPr>
          <p:spPr>
            <a:xfrm>
              <a:off x="5181600" y="1600200"/>
              <a:ext cx="1524000" cy="13716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makes</a:t>
              </a:r>
              <a:endParaRPr/>
            </a:p>
          </p:txBody>
        </p:sp>
        <p:cxnSp>
          <p:nvCxnSpPr>
            <p:cNvPr id="730" name="Google Shape;730;p46"/>
            <p:cNvCxnSpPr/>
            <p:nvPr/>
          </p:nvCxnSpPr>
          <p:spPr>
            <a:xfrm>
              <a:off x="6705600" y="2286000"/>
              <a:ext cx="1219200" cy="0"/>
            </a:xfrm>
            <a:prstGeom prst="straightConnector1">
              <a:avLst/>
            </a:prstGeom>
            <a:noFill/>
            <a:ln cap="flat" cmpd="sng" w="9525">
              <a:solidFill>
                <a:schemeClr val="dk1"/>
              </a:solidFill>
              <a:prstDash val="solid"/>
              <a:round/>
              <a:headEnd len="med" w="med" type="none"/>
              <a:tailEnd len="sm" w="sm" type="none"/>
            </a:ln>
          </p:spPr>
        </p:cxnSp>
        <p:cxnSp>
          <p:nvCxnSpPr>
            <p:cNvPr id="731" name="Google Shape;731;p46"/>
            <p:cNvCxnSpPr/>
            <p:nvPr/>
          </p:nvCxnSpPr>
          <p:spPr>
            <a:xfrm flipH="1">
              <a:off x="4495800" y="2286000"/>
              <a:ext cx="685800" cy="304800"/>
            </a:xfrm>
            <a:prstGeom prst="straightConnector1">
              <a:avLst/>
            </a:prstGeom>
            <a:noFill/>
            <a:ln cap="flat" cmpd="sng" w="9525">
              <a:solidFill>
                <a:schemeClr val="dk1"/>
              </a:solidFill>
              <a:prstDash val="solid"/>
              <a:round/>
              <a:headEnd len="med" w="med" type="none"/>
              <a:tailEnd len="med" w="med" type="none"/>
            </a:ln>
          </p:spPr>
        </p:cxnSp>
      </p:grpSp>
      <p:grpSp>
        <p:nvGrpSpPr>
          <p:cNvPr id="732" name="Google Shape;732;p46"/>
          <p:cNvGrpSpPr/>
          <p:nvPr/>
        </p:nvGrpSpPr>
        <p:grpSpPr>
          <a:xfrm>
            <a:off x="2895600" y="3048000"/>
            <a:ext cx="1752600" cy="2133600"/>
            <a:chOff x="2895600" y="3048000"/>
            <a:chExt cx="1752600" cy="2133600"/>
          </a:xfrm>
        </p:grpSpPr>
        <p:sp>
          <p:nvSpPr>
            <p:cNvPr id="733" name="Google Shape;733;p46"/>
            <p:cNvSpPr/>
            <p:nvPr/>
          </p:nvSpPr>
          <p:spPr>
            <a:xfrm>
              <a:off x="2895600" y="3505200"/>
              <a:ext cx="1524000" cy="13716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buys</a:t>
              </a:r>
              <a:endParaRPr/>
            </a:p>
          </p:txBody>
        </p:sp>
        <p:cxnSp>
          <p:nvCxnSpPr>
            <p:cNvPr id="734" name="Google Shape;734;p46"/>
            <p:cNvCxnSpPr/>
            <p:nvPr/>
          </p:nvCxnSpPr>
          <p:spPr>
            <a:xfrm rot="10800000">
              <a:off x="3657600" y="3048000"/>
              <a:ext cx="0" cy="457200"/>
            </a:xfrm>
            <a:prstGeom prst="straightConnector1">
              <a:avLst/>
            </a:prstGeom>
            <a:noFill/>
            <a:ln cap="flat" cmpd="sng" w="9525">
              <a:solidFill>
                <a:schemeClr val="dk1"/>
              </a:solidFill>
              <a:prstDash val="solid"/>
              <a:round/>
              <a:headEnd len="med" w="med" type="none"/>
              <a:tailEnd len="med" w="med" type="none"/>
            </a:ln>
          </p:spPr>
        </p:cxnSp>
        <p:cxnSp>
          <p:nvCxnSpPr>
            <p:cNvPr id="735" name="Google Shape;735;p46"/>
            <p:cNvCxnSpPr/>
            <p:nvPr/>
          </p:nvCxnSpPr>
          <p:spPr>
            <a:xfrm>
              <a:off x="3657600" y="4876800"/>
              <a:ext cx="990600" cy="304800"/>
            </a:xfrm>
            <a:prstGeom prst="straightConnector1">
              <a:avLst/>
            </a:prstGeom>
            <a:noFill/>
            <a:ln cap="flat" cmpd="sng" w="9525">
              <a:solidFill>
                <a:schemeClr val="dk1"/>
              </a:solidFill>
              <a:prstDash val="solid"/>
              <a:round/>
              <a:headEnd len="med" w="med" type="none"/>
              <a:tailEnd len="med" w="med" type="none"/>
            </a:ln>
          </p:spPr>
        </p:cxnSp>
      </p:grpSp>
      <p:grpSp>
        <p:nvGrpSpPr>
          <p:cNvPr id="736" name="Google Shape;736;p46"/>
          <p:cNvGrpSpPr/>
          <p:nvPr/>
        </p:nvGrpSpPr>
        <p:grpSpPr>
          <a:xfrm>
            <a:off x="7162800" y="2667000"/>
            <a:ext cx="2133600" cy="2438400"/>
            <a:chOff x="7162800" y="2667000"/>
            <a:chExt cx="2133600" cy="2438400"/>
          </a:xfrm>
        </p:grpSpPr>
        <p:sp>
          <p:nvSpPr>
            <p:cNvPr id="737" name="Google Shape;737;p46"/>
            <p:cNvSpPr/>
            <p:nvPr/>
          </p:nvSpPr>
          <p:spPr>
            <a:xfrm>
              <a:off x="7772400" y="3657600"/>
              <a:ext cx="1524000" cy="13716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employs</a:t>
              </a:r>
              <a:endParaRPr/>
            </a:p>
          </p:txBody>
        </p:sp>
        <p:cxnSp>
          <p:nvCxnSpPr>
            <p:cNvPr id="738" name="Google Shape;738;p46"/>
            <p:cNvCxnSpPr/>
            <p:nvPr/>
          </p:nvCxnSpPr>
          <p:spPr>
            <a:xfrm flipH="1">
              <a:off x="7162800" y="4343400"/>
              <a:ext cx="609600" cy="762000"/>
            </a:xfrm>
            <a:prstGeom prst="straightConnector1">
              <a:avLst/>
            </a:prstGeom>
            <a:noFill/>
            <a:ln cap="flat" cmpd="sng" w="9525">
              <a:solidFill>
                <a:schemeClr val="dk1"/>
              </a:solidFill>
              <a:prstDash val="solid"/>
              <a:round/>
              <a:headEnd len="med" w="med" type="none"/>
              <a:tailEnd len="med" w="med" type="none"/>
            </a:ln>
          </p:spPr>
        </p:cxnSp>
        <p:cxnSp>
          <p:nvCxnSpPr>
            <p:cNvPr id="739" name="Google Shape;739;p46"/>
            <p:cNvCxnSpPr>
              <a:stCxn id="737" idx="0"/>
              <a:endCxn id="740" idx="2"/>
            </p:cNvCxnSpPr>
            <p:nvPr/>
          </p:nvCxnSpPr>
          <p:spPr>
            <a:xfrm flipH="1" rot="10800000">
              <a:off x="8534400" y="2667000"/>
              <a:ext cx="495300" cy="990600"/>
            </a:xfrm>
            <a:prstGeom prst="straightConnector1">
              <a:avLst/>
            </a:prstGeom>
            <a:noFill/>
            <a:ln cap="flat" cmpd="sng" w="9525">
              <a:solidFill>
                <a:schemeClr val="dk1"/>
              </a:solidFill>
              <a:prstDash val="solid"/>
              <a:round/>
              <a:headEnd len="med" w="med" type="none"/>
              <a:tailEnd len="med" w="med" type="none"/>
            </a:ln>
          </p:spPr>
        </p:cxnSp>
      </p:grpSp>
      <p:grpSp>
        <p:nvGrpSpPr>
          <p:cNvPr id="741" name="Google Shape;741;p46"/>
          <p:cNvGrpSpPr/>
          <p:nvPr/>
        </p:nvGrpSpPr>
        <p:grpSpPr>
          <a:xfrm>
            <a:off x="1676400" y="457200"/>
            <a:ext cx="4038600" cy="2590800"/>
            <a:chOff x="1676400" y="457200"/>
            <a:chExt cx="4038600" cy="2590800"/>
          </a:xfrm>
        </p:grpSpPr>
        <p:sp>
          <p:nvSpPr>
            <p:cNvPr id="742" name="Google Shape;742;p46"/>
            <p:cNvSpPr/>
            <p:nvPr/>
          </p:nvSpPr>
          <p:spPr>
            <a:xfrm>
              <a:off x="2362200" y="2286000"/>
              <a:ext cx="2133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grpSp>
          <p:nvGrpSpPr>
            <p:cNvPr id="743" name="Google Shape;743;p46"/>
            <p:cNvGrpSpPr/>
            <p:nvPr/>
          </p:nvGrpSpPr>
          <p:grpSpPr>
            <a:xfrm>
              <a:off x="1676400" y="457200"/>
              <a:ext cx="4038600" cy="1828800"/>
              <a:chOff x="96" y="288"/>
              <a:chExt cx="2544" cy="1152"/>
            </a:xfrm>
          </p:grpSpPr>
          <p:sp>
            <p:nvSpPr>
              <p:cNvPr id="744" name="Google Shape;744;p46"/>
              <p:cNvSpPr/>
              <p:nvPr/>
            </p:nvSpPr>
            <p:spPr>
              <a:xfrm>
                <a:off x="720" y="288"/>
                <a:ext cx="912" cy="432"/>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u="sng">
                    <a:solidFill>
                      <a:srgbClr val="000000"/>
                    </a:solidFill>
                    <a:latin typeface="Calibri"/>
                    <a:ea typeface="Calibri"/>
                    <a:cs typeface="Calibri"/>
                    <a:sym typeface="Calibri"/>
                  </a:rPr>
                  <a:t>name</a:t>
                </a:r>
                <a:endParaRPr/>
              </a:p>
            </p:txBody>
          </p:sp>
          <p:sp>
            <p:nvSpPr>
              <p:cNvPr id="745" name="Google Shape;745;p46"/>
              <p:cNvSpPr/>
              <p:nvPr/>
            </p:nvSpPr>
            <p:spPr>
              <a:xfrm>
                <a:off x="1728" y="288"/>
                <a:ext cx="912" cy="432"/>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category</a:t>
                </a:r>
                <a:endParaRPr/>
              </a:p>
            </p:txBody>
          </p:sp>
          <p:sp>
            <p:nvSpPr>
              <p:cNvPr id="746" name="Google Shape;746;p46"/>
              <p:cNvSpPr/>
              <p:nvPr/>
            </p:nvSpPr>
            <p:spPr>
              <a:xfrm>
                <a:off x="96" y="864"/>
                <a:ext cx="912" cy="432"/>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price</a:t>
                </a:r>
                <a:endParaRPr/>
              </a:p>
            </p:txBody>
          </p:sp>
          <p:cxnSp>
            <p:nvCxnSpPr>
              <p:cNvPr id="747" name="Google Shape;747;p46"/>
              <p:cNvCxnSpPr/>
              <p:nvPr/>
            </p:nvCxnSpPr>
            <p:spPr>
              <a:xfrm rot="10800000">
                <a:off x="720" y="1248"/>
                <a:ext cx="192" cy="192"/>
              </a:xfrm>
              <a:prstGeom prst="straightConnector1">
                <a:avLst/>
              </a:prstGeom>
              <a:noFill/>
              <a:ln cap="flat" cmpd="sng" w="9525">
                <a:solidFill>
                  <a:schemeClr val="dk1"/>
                </a:solidFill>
                <a:prstDash val="solid"/>
                <a:round/>
                <a:headEnd len="med" w="med" type="none"/>
                <a:tailEnd len="med" w="med" type="none"/>
              </a:ln>
            </p:spPr>
          </p:cxnSp>
          <p:cxnSp>
            <p:nvCxnSpPr>
              <p:cNvPr id="748" name="Google Shape;748;p46"/>
              <p:cNvCxnSpPr/>
              <p:nvPr/>
            </p:nvCxnSpPr>
            <p:spPr>
              <a:xfrm rot="10800000">
                <a:off x="1200" y="720"/>
                <a:ext cx="0" cy="720"/>
              </a:xfrm>
              <a:prstGeom prst="straightConnector1">
                <a:avLst/>
              </a:prstGeom>
              <a:noFill/>
              <a:ln cap="flat" cmpd="sng" w="9525">
                <a:solidFill>
                  <a:schemeClr val="dk1"/>
                </a:solidFill>
                <a:prstDash val="solid"/>
                <a:round/>
                <a:headEnd len="med" w="med" type="none"/>
                <a:tailEnd len="med" w="med" type="none"/>
              </a:ln>
            </p:spPr>
          </p:cxnSp>
          <p:cxnSp>
            <p:nvCxnSpPr>
              <p:cNvPr id="749" name="Google Shape;749;p46"/>
              <p:cNvCxnSpPr/>
              <p:nvPr/>
            </p:nvCxnSpPr>
            <p:spPr>
              <a:xfrm flipH="1" rot="10800000">
                <a:off x="1584" y="720"/>
                <a:ext cx="480" cy="720"/>
              </a:xfrm>
              <a:prstGeom prst="straightConnector1">
                <a:avLst/>
              </a:prstGeom>
              <a:noFill/>
              <a:ln cap="flat" cmpd="sng" w="9525">
                <a:solidFill>
                  <a:schemeClr val="dk1"/>
                </a:solidFill>
                <a:prstDash val="solid"/>
                <a:round/>
                <a:headEnd len="med" w="med" type="none"/>
                <a:tailEnd len="med" w="med" type="none"/>
              </a:ln>
            </p:spPr>
          </p:cxnSp>
        </p:grpSp>
      </p:grpSp>
      <p:grpSp>
        <p:nvGrpSpPr>
          <p:cNvPr id="750" name="Google Shape;750;p46"/>
          <p:cNvGrpSpPr/>
          <p:nvPr/>
        </p:nvGrpSpPr>
        <p:grpSpPr>
          <a:xfrm>
            <a:off x="2819400" y="4724400"/>
            <a:ext cx="6705600" cy="1981200"/>
            <a:chOff x="2819400" y="4724400"/>
            <a:chExt cx="6705600" cy="1981200"/>
          </a:xfrm>
        </p:grpSpPr>
        <p:sp>
          <p:nvSpPr>
            <p:cNvPr id="751" name="Google Shape;751;p46"/>
            <p:cNvSpPr/>
            <p:nvPr/>
          </p:nvSpPr>
          <p:spPr>
            <a:xfrm>
              <a:off x="4648200" y="4724400"/>
              <a:ext cx="2514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a:t>
              </a:r>
              <a:endParaRPr/>
            </a:p>
          </p:txBody>
        </p:sp>
        <p:grpSp>
          <p:nvGrpSpPr>
            <p:cNvPr id="752" name="Google Shape;752;p46"/>
            <p:cNvGrpSpPr/>
            <p:nvPr/>
          </p:nvGrpSpPr>
          <p:grpSpPr>
            <a:xfrm>
              <a:off x="2819400" y="5486400"/>
              <a:ext cx="6705600" cy="1219200"/>
              <a:chOff x="816" y="3456"/>
              <a:chExt cx="4224" cy="768"/>
            </a:xfrm>
          </p:grpSpPr>
          <p:sp>
            <p:nvSpPr>
              <p:cNvPr id="753" name="Google Shape;753;p46"/>
              <p:cNvSpPr/>
              <p:nvPr/>
            </p:nvSpPr>
            <p:spPr>
              <a:xfrm>
                <a:off x="816" y="3792"/>
                <a:ext cx="912" cy="432"/>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address</a:t>
                </a:r>
                <a:endParaRPr/>
              </a:p>
            </p:txBody>
          </p:sp>
          <p:sp>
            <p:nvSpPr>
              <p:cNvPr id="754" name="Google Shape;754;p46"/>
              <p:cNvSpPr/>
              <p:nvPr/>
            </p:nvSpPr>
            <p:spPr>
              <a:xfrm>
                <a:off x="2448" y="3744"/>
                <a:ext cx="912" cy="432"/>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name</a:t>
                </a:r>
                <a:endParaRPr/>
              </a:p>
            </p:txBody>
          </p:sp>
          <p:sp>
            <p:nvSpPr>
              <p:cNvPr id="755" name="Google Shape;755;p46"/>
              <p:cNvSpPr/>
              <p:nvPr/>
            </p:nvSpPr>
            <p:spPr>
              <a:xfrm>
                <a:off x="4128" y="3744"/>
                <a:ext cx="912" cy="432"/>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u="sng">
                    <a:solidFill>
                      <a:srgbClr val="000000"/>
                    </a:solidFill>
                    <a:latin typeface="Calibri"/>
                    <a:ea typeface="Calibri"/>
                    <a:cs typeface="Calibri"/>
                    <a:sym typeface="Calibri"/>
                  </a:rPr>
                  <a:t>ssn</a:t>
                </a:r>
                <a:endParaRPr/>
              </a:p>
            </p:txBody>
          </p:sp>
          <p:cxnSp>
            <p:nvCxnSpPr>
              <p:cNvPr id="756" name="Google Shape;756;p46"/>
              <p:cNvCxnSpPr/>
              <p:nvPr/>
            </p:nvCxnSpPr>
            <p:spPr>
              <a:xfrm flipH="1">
                <a:off x="1632" y="3456"/>
                <a:ext cx="1056" cy="432"/>
              </a:xfrm>
              <a:prstGeom prst="straightConnector1">
                <a:avLst/>
              </a:prstGeom>
              <a:noFill/>
              <a:ln cap="flat" cmpd="sng" w="9525">
                <a:solidFill>
                  <a:schemeClr val="dk1"/>
                </a:solidFill>
                <a:prstDash val="solid"/>
                <a:round/>
                <a:headEnd len="med" w="med" type="none"/>
                <a:tailEnd len="med" w="med" type="none"/>
              </a:ln>
            </p:spPr>
          </p:cxnSp>
          <p:cxnSp>
            <p:nvCxnSpPr>
              <p:cNvPr id="757" name="Google Shape;757;p46"/>
              <p:cNvCxnSpPr/>
              <p:nvPr/>
            </p:nvCxnSpPr>
            <p:spPr>
              <a:xfrm>
                <a:off x="2688" y="3456"/>
                <a:ext cx="192" cy="288"/>
              </a:xfrm>
              <a:prstGeom prst="straightConnector1">
                <a:avLst/>
              </a:prstGeom>
              <a:noFill/>
              <a:ln cap="flat" cmpd="sng" w="9525">
                <a:solidFill>
                  <a:schemeClr val="dk1"/>
                </a:solidFill>
                <a:prstDash val="solid"/>
                <a:round/>
                <a:headEnd len="med" w="med" type="none"/>
                <a:tailEnd len="med" w="med" type="none"/>
              </a:ln>
            </p:spPr>
          </p:cxnSp>
          <p:cxnSp>
            <p:nvCxnSpPr>
              <p:cNvPr id="758" name="Google Shape;758;p46"/>
              <p:cNvCxnSpPr/>
              <p:nvPr/>
            </p:nvCxnSpPr>
            <p:spPr>
              <a:xfrm>
                <a:off x="3168" y="3456"/>
                <a:ext cx="1056" cy="336"/>
              </a:xfrm>
              <a:prstGeom prst="straightConnector1">
                <a:avLst/>
              </a:prstGeom>
              <a:noFill/>
              <a:ln cap="flat" cmpd="sng" w="9525">
                <a:solidFill>
                  <a:schemeClr val="dk1"/>
                </a:solidFill>
                <a:prstDash val="solid"/>
                <a:round/>
                <a:headEnd len="med" w="med" type="none"/>
                <a:tailEnd len="med" w="med" type="none"/>
              </a:ln>
            </p:spPr>
          </p:cxnSp>
        </p:grpSp>
      </p:grpSp>
      <p:grpSp>
        <p:nvGrpSpPr>
          <p:cNvPr id="759" name="Google Shape;759;p46"/>
          <p:cNvGrpSpPr/>
          <p:nvPr/>
        </p:nvGrpSpPr>
        <p:grpSpPr>
          <a:xfrm>
            <a:off x="7924800" y="685800"/>
            <a:ext cx="2590800" cy="2971800"/>
            <a:chOff x="7924800" y="685800"/>
            <a:chExt cx="2590800" cy="2971800"/>
          </a:xfrm>
        </p:grpSpPr>
        <p:sp>
          <p:nvSpPr>
            <p:cNvPr id="740" name="Google Shape;740;p46"/>
            <p:cNvSpPr/>
            <p:nvPr/>
          </p:nvSpPr>
          <p:spPr>
            <a:xfrm>
              <a:off x="7924800" y="1905000"/>
              <a:ext cx="22098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Company</a:t>
              </a:r>
              <a:endParaRPr/>
            </a:p>
          </p:txBody>
        </p:sp>
        <p:grpSp>
          <p:nvGrpSpPr>
            <p:cNvPr id="760" name="Google Shape;760;p46"/>
            <p:cNvGrpSpPr/>
            <p:nvPr/>
          </p:nvGrpSpPr>
          <p:grpSpPr>
            <a:xfrm>
              <a:off x="8915400" y="685800"/>
              <a:ext cx="1600200" cy="2971800"/>
              <a:chOff x="4656" y="432"/>
              <a:chExt cx="1008" cy="1872"/>
            </a:xfrm>
          </p:grpSpPr>
          <p:sp>
            <p:nvSpPr>
              <p:cNvPr id="761" name="Google Shape;761;p46"/>
              <p:cNvSpPr/>
              <p:nvPr/>
            </p:nvSpPr>
            <p:spPr>
              <a:xfrm>
                <a:off x="4752" y="1872"/>
                <a:ext cx="912" cy="432"/>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stockprice</a:t>
                </a:r>
                <a:endParaRPr/>
              </a:p>
            </p:txBody>
          </p:sp>
          <p:sp>
            <p:nvSpPr>
              <p:cNvPr id="762" name="Google Shape;762;p46"/>
              <p:cNvSpPr/>
              <p:nvPr/>
            </p:nvSpPr>
            <p:spPr>
              <a:xfrm>
                <a:off x="4656" y="432"/>
                <a:ext cx="912" cy="432"/>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u="sng">
                    <a:solidFill>
                      <a:srgbClr val="000000"/>
                    </a:solidFill>
                    <a:latin typeface="Calibri"/>
                    <a:ea typeface="Calibri"/>
                    <a:cs typeface="Calibri"/>
                    <a:sym typeface="Calibri"/>
                  </a:rPr>
                  <a:t>name</a:t>
                </a:r>
                <a:endParaRPr/>
              </a:p>
            </p:txBody>
          </p:sp>
          <p:cxnSp>
            <p:nvCxnSpPr>
              <p:cNvPr id="763" name="Google Shape;763;p46"/>
              <p:cNvCxnSpPr/>
              <p:nvPr/>
            </p:nvCxnSpPr>
            <p:spPr>
              <a:xfrm flipH="1" rot="10800000">
                <a:off x="4896" y="816"/>
                <a:ext cx="144" cy="384"/>
              </a:xfrm>
              <a:prstGeom prst="straightConnector1">
                <a:avLst/>
              </a:prstGeom>
              <a:noFill/>
              <a:ln cap="flat" cmpd="sng" w="9525">
                <a:solidFill>
                  <a:schemeClr val="dk1"/>
                </a:solidFill>
                <a:prstDash val="solid"/>
                <a:round/>
                <a:headEnd len="med" w="med" type="none"/>
                <a:tailEnd len="med" w="med" type="none"/>
              </a:ln>
            </p:spPr>
          </p:cxnSp>
          <p:cxnSp>
            <p:nvCxnSpPr>
              <p:cNvPr id="764" name="Google Shape;764;p46"/>
              <p:cNvCxnSpPr>
                <a:stCxn id="740" idx="2"/>
                <a:endCxn id="761" idx="0"/>
              </p:cNvCxnSpPr>
              <p:nvPr/>
            </p:nvCxnSpPr>
            <p:spPr>
              <a:xfrm>
                <a:off x="4728" y="1680"/>
                <a:ext cx="600" cy="300"/>
              </a:xfrm>
              <a:prstGeom prst="straightConnector1">
                <a:avLst/>
              </a:prstGeom>
              <a:noFill/>
              <a:ln cap="flat" cmpd="sng" w="9525">
                <a:solidFill>
                  <a:schemeClr val="dk1"/>
                </a:solidFill>
                <a:prstDash val="solid"/>
                <a:round/>
                <a:headEnd len="med" w="med" type="none"/>
                <a:tailEnd len="med" w="med" type="none"/>
              </a:ln>
            </p:spPr>
          </p:cxnSp>
        </p:grpSp>
      </p:grpSp>
      <p:sp>
        <p:nvSpPr>
          <p:cNvPr id="765" name="Google Shape;765;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gtEl>
                                        <p:attrNameLst>
                                          <p:attrName>style.visibility</p:attrName>
                                        </p:attrNameLst>
                                      </p:cBhvr>
                                      <p:to>
                                        <p:strVal val="visible"/>
                                      </p:to>
                                    </p:set>
                                    <p:animEffect filter="fade" transition="in">
                                      <p:cBhvr>
                                        <p:cTn dur="500"/>
                                        <p:tgtEl>
                                          <p:spTgt spid="7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gtEl>
                                        <p:attrNameLst>
                                          <p:attrName>style.visibility</p:attrName>
                                        </p:attrNameLst>
                                      </p:cBhvr>
                                      <p:to>
                                        <p:strVal val="visible"/>
                                      </p:to>
                                    </p:set>
                                    <p:animEffect filter="fade" transition="in">
                                      <p:cBhvr>
                                        <p:cTn dur="500"/>
                                        <p:tgtEl>
                                          <p:spTgt spid="7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gtEl>
                                        <p:attrNameLst>
                                          <p:attrName>style.visibility</p:attrName>
                                        </p:attrNameLst>
                                      </p:cBhvr>
                                      <p:to>
                                        <p:strVal val="visible"/>
                                      </p:to>
                                    </p:set>
                                    <p:animEffect filter="fade" transition="in">
                                      <p:cBhvr>
                                        <p:cTn dur="500"/>
                                        <p:tgtEl>
                                          <p:spTgt spid="7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772" name="Google Shape;772;p47"/>
          <p:cNvSpPr txBox="1"/>
          <p:nvPr>
            <p:ph idx="4294967295" type="title"/>
          </p:nvPr>
        </p:nvSpPr>
        <p:spPr>
          <a:xfrm>
            <a:off x="0" y="0"/>
            <a:ext cx="7772400" cy="1143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lang="en-US"/>
            </a:br>
            <a:endParaRPr/>
          </a:p>
        </p:txBody>
      </p:sp>
      <p:sp>
        <p:nvSpPr>
          <p:cNvPr id="773" name="Google Shape;773;p47"/>
          <p:cNvSpPr/>
          <p:nvPr/>
        </p:nvSpPr>
        <p:spPr>
          <a:xfrm>
            <a:off x="2819400" y="60198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address</a:t>
            </a:r>
            <a:endParaRPr/>
          </a:p>
        </p:txBody>
      </p:sp>
      <p:sp>
        <p:nvSpPr>
          <p:cNvPr id="774" name="Google Shape;774;p47"/>
          <p:cNvSpPr/>
          <p:nvPr/>
        </p:nvSpPr>
        <p:spPr>
          <a:xfrm>
            <a:off x="5410200" y="59436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name</a:t>
            </a:r>
            <a:endParaRPr/>
          </a:p>
        </p:txBody>
      </p:sp>
      <p:sp>
        <p:nvSpPr>
          <p:cNvPr id="775" name="Google Shape;775;p47"/>
          <p:cNvSpPr/>
          <p:nvPr/>
        </p:nvSpPr>
        <p:spPr>
          <a:xfrm>
            <a:off x="8077200" y="59436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u="sng">
                <a:solidFill>
                  <a:srgbClr val="000000"/>
                </a:solidFill>
                <a:latin typeface="Calibri"/>
                <a:ea typeface="Calibri"/>
                <a:cs typeface="Calibri"/>
                <a:sym typeface="Calibri"/>
              </a:rPr>
              <a:t>ssn</a:t>
            </a:r>
            <a:endParaRPr/>
          </a:p>
        </p:txBody>
      </p:sp>
      <p:sp>
        <p:nvSpPr>
          <p:cNvPr id="776" name="Google Shape;776;p47"/>
          <p:cNvSpPr/>
          <p:nvPr/>
        </p:nvSpPr>
        <p:spPr>
          <a:xfrm>
            <a:off x="4648200" y="4724400"/>
            <a:ext cx="2514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a:t>
            </a:r>
            <a:endParaRPr/>
          </a:p>
        </p:txBody>
      </p:sp>
      <p:sp>
        <p:nvSpPr>
          <p:cNvPr id="777" name="Google Shape;777;p47"/>
          <p:cNvSpPr/>
          <p:nvPr/>
        </p:nvSpPr>
        <p:spPr>
          <a:xfrm>
            <a:off x="2895600" y="3505200"/>
            <a:ext cx="1524000" cy="13716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buys</a:t>
            </a:r>
            <a:endParaRPr/>
          </a:p>
        </p:txBody>
      </p:sp>
      <p:sp>
        <p:nvSpPr>
          <p:cNvPr id="778" name="Google Shape;778;p47"/>
          <p:cNvSpPr/>
          <p:nvPr/>
        </p:nvSpPr>
        <p:spPr>
          <a:xfrm>
            <a:off x="5181600" y="1600200"/>
            <a:ext cx="1524000" cy="13716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makes</a:t>
            </a:r>
            <a:endParaRPr/>
          </a:p>
        </p:txBody>
      </p:sp>
      <p:sp>
        <p:nvSpPr>
          <p:cNvPr id="779" name="Google Shape;779;p47"/>
          <p:cNvSpPr/>
          <p:nvPr/>
        </p:nvSpPr>
        <p:spPr>
          <a:xfrm>
            <a:off x="7772400" y="3657600"/>
            <a:ext cx="1524000" cy="13716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employs</a:t>
            </a:r>
            <a:endParaRPr/>
          </a:p>
        </p:txBody>
      </p:sp>
      <p:sp>
        <p:nvSpPr>
          <p:cNvPr id="780" name="Google Shape;780;p47"/>
          <p:cNvSpPr/>
          <p:nvPr/>
        </p:nvSpPr>
        <p:spPr>
          <a:xfrm>
            <a:off x="7924800" y="1905000"/>
            <a:ext cx="22098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Company</a:t>
            </a:r>
            <a:endParaRPr/>
          </a:p>
        </p:txBody>
      </p:sp>
      <p:sp>
        <p:nvSpPr>
          <p:cNvPr id="781" name="Google Shape;781;p47"/>
          <p:cNvSpPr/>
          <p:nvPr/>
        </p:nvSpPr>
        <p:spPr>
          <a:xfrm>
            <a:off x="2362200" y="2286000"/>
            <a:ext cx="2133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782" name="Google Shape;782;p47"/>
          <p:cNvSpPr/>
          <p:nvPr/>
        </p:nvSpPr>
        <p:spPr>
          <a:xfrm>
            <a:off x="2667000" y="4572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u="sng">
                <a:solidFill>
                  <a:srgbClr val="000000"/>
                </a:solidFill>
                <a:latin typeface="Calibri"/>
                <a:ea typeface="Calibri"/>
                <a:cs typeface="Calibri"/>
                <a:sym typeface="Calibri"/>
              </a:rPr>
              <a:t>name</a:t>
            </a:r>
            <a:endParaRPr/>
          </a:p>
        </p:txBody>
      </p:sp>
      <p:sp>
        <p:nvSpPr>
          <p:cNvPr id="783" name="Google Shape;783;p47"/>
          <p:cNvSpPr/>
          <p:nvPr/>
        </p:nvSpPr>
        <p:spPr>
          <a:xfrm>
            <a:off x="4267200" y="4572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category</a:t>
            </a:r>
            <a:endParaRPr/>
          </a:p>
        </p:txBody>
      </p:sp>
      <p:sp>
        <p:nvSpPr>
          <p:cNvPr id="784" name="Google Shape;784;p47"/>
          <p:cNvSpPr/>
          <p:nvPr/>
        </p:nvSpPr>
        <p:spPr>
          <a:xfrm>
            <a:off x="9220200" y="29718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stockprice</a:t>
            </a:r>
            <a:endParaRPr/>
          </a:p>
        </p:txBody>
      </p:sp>
      <p:sp>
        <p:nvSpPr>
          <p:cNvPr id="785" name="Google Shape;785;p47"/>
          <p:cNvSpPr/>
          <p:nvPr/>
        </p:nvSpPr>
        <p:spPr>
          <a:xfrm>
            <a:off x="9067800" y="6858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u="sng">
                <a:solidFill>
                  <a:srgbClr val="000000"/>
                </a:solidFill>
                <a:latin typeface="Calibri"/>
                <a:ea typeface="Calibri"/>
                <a:cs typeface="Calibri"/>
                <a:sym typeface="Calibri"/>
              </a:rPr>
              <a:t>name</a:t>
            </a:r>
            <a:endParaRPr/>
          </a:p>
        </p:txBody>
      </p:sp>
      <p:sp>
        <p:nvSpPr>
          <p:cNvPr id="786" name="Google Shape;786;p47"/>
          <p:cNvSpPr/>
          <p:nvPr/>
        </p:nvSpPr>
        <p:spPr>
          <a:xfrm>
            <a:off x="1524000" y="137160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price</a:t>
            </a:r>
            <a:endParaRPr/>
          </a:p>
        </p:txBody>
      </p:sp>
      <p:cxnSp>
        <p:nvCxnSpPr>
          <p:cNvPr id="787" name="Google Shape;787;p47"/>
          <p:cNvCxnSpPr/>
          <p:nvPr/>
        </p:nvCxnSpPr>
        <p:spPr>
          <a:xfrm>
            <a:off x="6705600" y="2286000"/>
            <a:ext cx="1219200" cy="0"/>
          </a:xfrm>
          <a:prstGeom prst="straightConnector1">
            <a:avLst/>
          </a:prstGeom>
          <a:noFill/>
          <a:ln cap="flat" cmpd="sng" w="9525">
            <a:solidFill>
              <a:schemeClr val="dk1"/>
            </a:solidFill>
            <a:prstDash val="solid"/>
            <a:round/>
            <a:headEnd len="med" w="med" type="none"/>
            <a:tailEnd len="sm" w="sm" type="none"/>
          </a:ln>
        </p:spPr>
      </p:cxnSp>
      <p:cxnSp>
        <p:nvCxnSpPr>
          <p:cNvPr id="788" name="Google Shape;788;p47"/>
          <p:cNvCxnSpPr/>
          <p:nvPr/>
        </p:nvCxnSpPr>
        <p:spPr>
          <a:xfrm rot="10800000">
            <a:off x="2667000" y="1981200"/>
            <a:ext cx="304800" cy="304800"/>
          </a:xfrm>
          <a:prstGeom prst="straightConnector1">
            <a:avLst/>
          </a:prstGeom>
          <a:noFill/>
          <a:ln cap="flat" cmpd="sng" w="9525">
            <a:solidFill>
              <a:schemeClr val="dk1"/>
            </a:solidFill>
            <a:prstDash val="solid"/>
            <a:round/>
            <a:headEnd len="med" w="med" type="none"/>
            <a:tailEnd len="med" w="med" type="none"/>
          </a:ln>
        </p:spPr>
      </p:cxnSp>
      <p:cxnSp>
        <p:nvCxnSpPr>
          <p:cNvPr id="789" name="Google Shape;789;p47"/>
          <p:cNvCxnSpPr/>
          <p:nvPr/>
        </p:nvCxnSpPr>
        <p:spPr>
          <a:xfrm rot="10800000">
            <a:off x="3429000" y="1143000"/>
            <a:ext cx="0" cy="1143000"/>
          </a:xfrm>
          <a:prstGeom prst="straightConnector1">
            <a:avLst/>
          </a:prstGeom>
          <a:noFill/>
          <a:ln cap="flat" cmpd="sng" w="9525">
            <a:solidFill>
              <a:schemeClr val="dk1"/>
            </a:solidFill>
            <a:prstDash val="solid"/>
            <a:round/>
            <a:headEnd len="med" w="med" type="none"/>
            <a:tailEnd len="med" w="med" type="none"/>
          </a:ln>
        </p:spPr>
      </p:cxnSp>
      <p:cxnSp>
        <p:nvCxnSpPr>
          <p:cNvPr id="790" name="Google Shape;790;p47"/>
          <p:cNvCxnSpPr/>
          <p:nvPr/>
        </p:nvCxnSpPr>
        <p:spPr>
          <a:xfrm flipH="1" rot="10800000">
            <a:off x="4038600" y="1143000"/>
            <a:ext cx="762000" cy="1143000"/>
          </a:xfrm>
          <a:prstGeom prst="straightConnector1">
            <a:avLst/>
          </a:prstGeom>
          <a:noFill/>
          <a:ln cap="flat" cmpd="sng" w="9525">
            <a:solidFill>
              <a:schemeClr val="dk1"/>
            </a:solidFill>
            <a:prstDash val="solid"/>
            <a:round/>
            <a:headEnd len="med" w="med" type="none"/>
            <a:tailEnd len="med" w="med" type="none"/>
          </a:ln>
        </p:spPr>
      </p:cxnSp>
      <p:cxnSp>
        <p:nvCxnSpPr>
          <p:cNvPr id="791" name="Google Shape;791;p47"/>
          <p:cNvCxnSpPr/>
          <p:nvPr/>
        </p:nvCxnSpPr>
        <p:spPr>
          <a:xfrm flipH="1">
            <a:off x="4495800" y="2286000"/>
            <a:ext cx="685800" cy="304800"/>
          </a:xfrm>
          <a:prstGeom prst="straightConnector1">
            <a:avLst/>
          </a:prstGeom>
          <a:noFill/>
          <a:ln cap="flat" cmpd="sng" w="9525">
            <a:solidFill>
              <a:schemeClr val="dk1"/>
            </a:solidFill>
            <a:prstDash val="solid"/>
            <a:round/>
            <a:headEnd len="lg" w="lg" type="triangle"/>
            <a:tailEnd len="sm" w="sm" type="none"/>
          </a:ln>
        </p:spPr>
      </p:cxnSp>
      <p:cxnSp>
        <p:nvCxnSpPr>
          <p:cNvPr id="792" name="Google Shape;792;p47"/>
          <p:cNvCxnSpPr/>
          <p:nvPr/>
        </p:nvCxnSpPr>
        <p:spPr>
          <a:xfrm rot="10800000">
            <a:off x="3657600" y="3048000"/>
            <a:ext cx="0" cy="457200"/>
          </a:xfrm>
          <a:prstGeom prst="straightConnector1">
            <a:avLst/>
          </a:prstGeom>
          <a:noFill/>
          <a:ln cap="flat" cmpd="sng" w="9525">
            <a:solidFill>
              <a:schemeClr val="dk1"/>
            </a:solidFill>
            <a:prstDash val="solid"/>
            <a:round/>
            <a:headEnd len="med" w="med" type="none"/>
            <a:tailEnd len="med" w="med" type="none"/>
          </a:ln>
        </p:spPr>
      </p:cxnSp>
      <p:cxnSp>
        <p:nvCxnSpPr>
          <p:cNvPr id="793" name="Google Shape;793;p47"/>
          <p:cNvCxnSpPr/>
          <p:nvPr/>
        </p:nvCxnSpPr>
        <p:spPr>
          <a:xfrm>
            <a:off x="3657600" y="4876800"/>
            <a:ext cx="990600" cy="304800"/>
          </a:xfrm>
          <a:prstGeom prst="straightConnector1">
            <a:avLst/>
          </a:prstGeom>
          <a:noFill/>
          <a:ln cap="flat" cmpd="sng" w="9525">
            <a:solidFill>
              <a:schemeClr val="dk1"/>
            </a:solidFill>
            <a:prstDash val="solid"/>
            <a:round/>
            <a:headEnd len="med" w="med" type="none"/>
            <a:tailEnd len="med" w="med" type="none"/>
          </a:ln>
        </p:spPr>
      </p:cxnSp>
      <p:cxnSp>
        <p:nvCxnSpPr>
          <p:cNvPr id="794" name="Google Shape;794;p47"/>
          <p:cNvCxnSpPr/>
          <p:nvPr/>
        </p:nvCxnSpPr>
        <p:spPr>
          <a:xfrm flipH="1" rot="10800000">
            <a:off x="9296400" y="1295400"/>
            <a:ext cx="228600" cy="609600"/>
          </a:xfrm>
          <a:prstGeom prst="straightConnector1">
            <a:avLst/>
          </a:prstGeom>
          <a:noFill/>
          <a:ln cap="flat" cmpd="sng" w="9525">
            <a:solidFill>
              <a:schemeClr val="dk1"/>
            </a:solidFill>
            <a:prstDash val="solid"/>
            <a:round/>
            <a:headEnd len="med" w="med" type="none"/>
            <a:tailEnd len="med" w="med" type="none"/>
          </a:ln>
        </p:spPr>
      </p:cxnSp>
      <p:cxnSp>
        <p:nvCxnSpPr>
          <p:cNvPr id="795" name="Google Shape;795;p47"/>
          <p:cNvCxnSpPr/>
          <p:nvPr/>
        </p:nvCxnSpPr>
        <p:spPr>
          <a:xfrm flipH="1">
            <a:off x="7162800" y="4343400"/>
            <a:ext cx="609600" cy="762000"/>
          </a:xfrm>
          <a:prstGeom prst="straightConnector1">
            <a:avLst/>
          </a:prstGeom>
          <a:noFill/>
          <a:ln cap="flat" cmpd="sng" w="9525">
            <a:solidFill>
              <a:schemeClr val="dk1"/>
            </a:solidFill>
            <a:prstDash val="solid"/>
            <a:round/>
            <a:headEnd len="lg" w="lg" type="triangle"/>
            <a:tailEnd len="sm" w="sm" type="none"/>
          </a:ln>
        </p:spPr>
      </p:cxnSp>
      <p:cxnSp>
        <p:nvCxnSpPr>
          <p:cNvPr id="796" name="Google Shape;796;p47"/>
          <p:cNvCxnSpPr/>
          <p:nvPr/>
        </p:nvCxnSpPr>
        <p:spPr>
          <a:xfrm flipH="1">
            <a:off x="4114800" y="5486400"/>
            <a:ext cx="1676400" cy="685800"/>
          </a:xfrm>
          <a:prstGeom prst="straightConnector1">
            <a:avLst/>
          </a:prstGeom>
          <a:noFill/>
          <a:ln cap="flat" cmpd="sng" w="9525">
            <a:solidFill>
              <a:schemeClr val="dk1"/>
            </a:solidFill>
            <a:prstDash val="solid"/>
            <a:round/>
            <a:headEnd len="med" w="med" type="none"/>
            <a:tailEnd len="med" w="med" type="none"/>
          </a:ln>
        </p:spPr>
      </p:cxnSp>
      <p:cxnSp>
        <p:nvCxnSpPr>
          <p:cNvPr id="797" name="Google Shape;797;p47"/>
          <p:cNvCxnSpPr/>
          <p:nvPr/>
        </p:nvCxnSpPr>
        <p:spPr>
          <a:xfrm>
            <a:off x="5791200" y="5486400"/>
            <a:ext cx="304800" cy="457200"/>
          </a:xfrm>
          <a:prstGeom prst="straightConnector1">
            <a:avLst/>
          </a:prstGeom>
          <a:noFill/>
          <a:ln cap="flat" cmpd="sng" w="9525">
            <a:solidFill>
              <a:schemeClr val="dk1"/>
            </a:solidFill>
            <a:prstDash val="solid"/>
            <a:round/>
            <a:headEnd len="med" w="med" type="none"/>
            <a:tailEnd len="med" w="med" type="none"/>
          </a:ln>
        </p:spPr>
      </p:cxnSp>
      <p:cxnSp>
        <p:nvCxnSpPr>
          <p:cNvPr id="798" name="Google Shape;798;p47"/>
          <p:cNvCxnSpPr/>
          <p:nvPr/>
        </p:nvCxnSpPr>
        <p:spPr>
          <a:xfrm>
            <a:off x="6553200" y="5486400"/>
            <a:ext cx="1676400" cy="533400"/>
          </a:xfrm>
          <a:prstGeom prst="straightConnector1">
            <a:avLst/>
          </a:prstGeom>
          <a:noFill/>
          <a:ln cap="flat" cmpd="sng" w="9525">
            <a:solidFill>
              <a:schemeClr val="dk1"/>
            </a:solidFill>
            <a:prstDash val="solid"/>
            <a:round/>
            <a:headEnd len="med" w="med" type="none"/>
            <a:tailEnd len="med" w="med" type="none"/>
          </a:ln>
        </p:spPr>
      </p:cxnSp>
      <p:cxnSp>
        <p:nvCxnSpPr>
          <p:cNvPr id="799" name="Google Shape;799;p47"/>
          <p:cNvCxnSpPr>
            <a:stCxn id="779" idx="0"/>
            <a:endCxn id="780" idx="2"/>
          </p:cNvCxnSpPr>
          <p:nvPr/>
        </p:nvCxnSpPr>
        <p:spPr>
          <a:xfrm flipH="1" rot="10800000">
            <a:off x="8534400" y="2667000"/>
            <a:ext cx="495300" cy="990600"/>
          </a:xfrm>
          <a:prstGeom prst="straightConnector1">
            <a:avLst/>
          </a:prstGeom>
          <a:noFill/>
          <a:ln cap="flat" cmpd="sng" w="9525">
            <a:solidFill>
              <a:schemeClr val="dk1"/>
            </a:solidFill>
            <a:prstDash val="solid"/>
            <a:round/>
            <a:headEnd len="med" w="med" type="none"/>
            <a:tailEnd len="sm" w="sm" type="none"/>
          </a:ln>
        </p:spPr>
      </p:cxnSp>
      <p:cxnSp>
        <p:nvCxnSpPr>
          <p:cNvPr id="800" name="Google Shape;800;p47"/>
          <p:cNvCxnSpPr>
            <a:stCxn id="780" idx="2"/>
            <a:endCxn id="784" idx="0"/>
          </p:cNvCxnSpPr>
          <p:nvPr/>
        </p:nvCxnSpPr>
        <p:spPr>
          <a:xfrm>
            <a:off x="9029700" y="2667000"/>
            <a:ext cx="914400" cy="304800"/>
          </a:xfrm>
          <a:prstGeom prst="straightConnector1">
            <a:avLst/>
          </a:prstGeom>
          <a:noFill/>
          <a:ln cap="flat" cmpd="sng" w="9525">
            <a:solidFill>
              <a:schemeClr val="dk1"/>
            </a:solidFill>
            <a:prstDash val="solid"/>
            <a:round/>
            <a:headEnd len="med" w="med" type="none"/>
            <a:tailEnd len="med" w="med" type="none"/>
          </a:ln>
        </p:spPr>
      </p:cxnSp>
      <p:sp>
        <p:nvSpPr>
          <p:cNvPr id="801" name="Google Shape;801;p47"/>
          <p:cNvSpPr txBox="1"/>
          <p:nvPr/>
        </p:nvSpPr>
        <p:spPr>
          <a:xfrm>
            <a:off x="5105400" y="3352801"/>
            <a:ext cx="1905000"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rgbClr val="000000"/>
                </a:solidFill>
                <a:latin typeface="Calibri"/>
                <a:ea typeface="Calibri"/>
                <a:cs typeface="Calibri"/>
                <a:sym typeface="Calibri"/>
              </a:rPr>
              <a:t>What does this say?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Decision: Relationship vs. Entity?</a:t>
            </a:r>
            <a:endParaRPr/>
          </a:p>
        </p:txBody>
      </p:sp>
      <p:sp>
        <p:nvSpPr>
          <p:cNvPr id="807" name="Google Shape;807;p48"/>
          <p:cNvSpPr txBox="1"/>
          <p:nvPr>
            <p:ph idx="1" type="body"/>
          </p:nvPr>
        </p:nvSpPr>
        <p:spPr>
          <a:xfrm>
            <a:off x="963841" y="2024174"/>
            <a:ext cx="10363200" cy="314472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sz="2800"/>
              <a:t>What about this way?</a:t>
            </a:r>
            <a:endParaRPr/>
          </a:p>
          <a:p>
            <a:pPr indent="-50800" lvl="0" marL="228600" rtl="0" algn="l">
              <a:lnSpc>
                <a:spcPct val="90000"/>
              </a:lnSpc>
              <a:spcBef>
                <a:spcPts val="1000"/>
              </a:spcBef>
              <a:spcAft>
                <a:spcPts val="0"/>
              </a:spcAft>
              <a:buClr>
                <a:schemeClr val="dk1"/>
              </a:buClr>
              <a:buSzPts val="2800"/>
              <a:buNone/>
            </a:pPr>
            <a:r>
              <a:t/>
            </a:r>
            <a:endParaRPr sz="2800"/>
          </a:p>
          <a:p>
            <a:pPr indent="-50800" lvl="0" marL="228600" rtl="0" algn="l">
              <a:lnSpc>
                <a:spcPct val="90000"/>
              </a:lnSpc>
              <a:spcBef>
                <a:spcPts val="1000"/>
              </a:spcBef>
              <a:spcAft>
                <a:spcPts val="0"/>
              </a:spcAft>
              <a:buClr>
                <a:schemeClr val="dk1"/>
              </a:buClr>
              <a:buSzPts val="2800"/>
              <a:buNone/>
            </a:pPr>
            <a:r>
              <a:t/>
            </a:r>
            <a:endParaRPr sz="2800"/>
          </a:p>
          <a:p>
            <a:pPr indent="-50800" lvl="0" marL="228600" rtl="0" algn="l">
              <a:lnSpc>
                <a:spcPct val="90000"/>
              </a:lnSpc>
              <a:spcBef>
                <a:spcPts val="1000"/>
              </a:spcBef>
              <a:spcAft>
                <a:spcPts val="0"/>
              </a:spcAft>
              <a:buClr>
                <a:schemeClr val="dk1"/>
              </a:buClr>
              <a:buSzPts val="2800"/>
              <a:buNone/>
            </a:pPr>
            <a:r>
              <a:t/>
            </a:r>
            <a:endParaRPr sz="2800"/>
          </a:p>
          <a:p>
            <a:pPr indent="-50800" lvl="0" marL="228600" rtl="0" algn="l">
              <a:lnSpc>
                <a:spcPct val="90000"/>
              </a:lnSpc>
              <a:spcBef>
                <a:spcPts val="1000"/>
              </a:spcBef>
              <a:spcAft>
                <a:spcPts val="0"/>
              </a:spcAft>
              <a:buClr>
                <a:schemeClr val="dk1"/>
              </a:buClr>
              <a:buSzPts val="2800"/>
              <a:buNone/>
            </a:pPr>
            <a:r>
              <a:t/>
            </a:r>
            <a:endParaRPr sz="2800"/>
          </a:p>
          <a:p>
            <a:pPr indent="-228600" lvl="0" marL="228600" rtl="0" algn="l">
              <a:lnSpc>
                <a:spcPct val="90000"/>
              </a:lnSpc>
              <a:spcBef>
                <a:spcPts val="1000"/>
              </a:spcBef>
              <a:spcAft>
                <a:spcPts val="0"/>
              </a:spcAft>
              <a:buClr>
                <a:schemeClr val="dk1"/>
              </a:buClr>
              <a:buSzPts val="2800"/>
              <a:buChar char="•"/>
            </a:pPr>
            <a:r>
              <a:rPr i="1" lang="en-US" sz="2800"/>
              <a:t>Now we can have multiple purchases per product, person pair!</a:t>
            </a:r>
            <a:endParaRPr/>
          </a:p>
          <a:p>
            <a:pPr indent="-50800" lvl="0" marL="228600" rtl="0" algn="l">
              <a:lnSpc>
                <a:spcPct val="90000"/>
              </a:lnSpc>
              <a:spcBef>
                <a:spcPts val="1000"/>
              </a:spcBef>
              <a:spcAft>
                <a:spcPts val="0"/>
              </a:spcAft>
              <a:buClr>
                <a:schemeClr val="dk1"/>
              </a:buClr>
              <a:buSzPts val="2800"/>
              <a:buNone/>
            </a:pPr>
            <a:r>
              <a:t/>
            </a:r>
            <a:endParaRPr b="1" i="1" sz="2800"/>
          </a:p>
          <a:p>
            <a:pPr indent="-50800" lvl="0" marL="228600" rtl="0" algn="l">
              <a:lnSpc>
                <a:spcPct val="90000"/>
              </a:lnSpc>
              <a:spcBef>
                <a:spcPts val="1000"/>
              </a:spcBef>
              <a:spcAft>
                <a:spcPts val="0"/>
              </a:spcAft>
              <a:buClr>
                <a:schemeClr val="dk1"/>
              </a:buClr>
              <a:buSzPts val="2800"/>
              <a:buNone/>
            </a:pPr>
            <a:r>
              <a:t/>
            </a:r>
            <a:endParaRPr b="1" i="1" sz="2800"/>
          </a:p>
          <a:p>
            <a:pPr indent="-50800" lvl="0" marL="228600" rtl="0" algn="l">
              <a:lnSpc>
                <a:spcPct val="90000"/>
              </a:lnSpc>
              <a:spcBef>
                <a:spcPts val="1000"/>
              </a:spcBef>
              <a:spcAft>
                <a:spcPts val="0"/>
              </a:spcAft>
              <a:buClr>
                <a:schemeClr val="dk1"/>
              </a:buClr>
              <a:buSzPts val="2800"/>
              <a:buNone/>
            </a:pPr>
            <a:r>
              <a:t/>
            </a:r>
            <a:endParaRPr b="1" i="1" sz="2800"/>
          </a:p>
          <a:p>
            <a:pPr indent="0" lvl="0" marL="0" rtl="0" algn="l">
              <a:lnSpc>
                <a:spcPct val="90000"/>
              </a:lnSpc>
              <a:spcBef>
                <a:spcPts val="1000"/>
              </a:spcBef>
              <a:spcAft>
                <a:spcPts val="0"/>
              </a:spcAft>
              <a:buClr>
                <a:schemeClr val="dk1"/>
              </a:buClr>
              <a:buSzPts val="2800"/>
              <a:buNone/>
            </a:pPr>
            <a:r>
              <a:t/>
            </a:r>
            <a:endParaRPr b="1" i="1" sz="2800"/>
          </a:p>
        </p:txBody>
      </p:sp>
      <p:grpSp>
        <p:nvGrpSpPr>
          <p:cNvPr id="808" name="Google Shape;808;p48"/>
          <p:cNvGrpSpPr/>
          <p:nvPr/>
        </p:nvGrpSpPr>
        <p:grpSpPr>
          <a:xfrm>
            <a:off x="2105327" y="2526268"/>
            <a:ext cx="7429296" cy="1822759"/>
            <a:chOff x="2105327" y="2526268"/>
            <a:chExt cx="7429296" cy="1822759"/>
          </a:xfrm>
        </p:grpSpPr>
        <p:sp>
          <p:nvSpPr>
            <p:cNvPr id="809" name="Google Shape;809;p48"/>
            <p:cNvSpPr/>
            <p:nvPr/>
          </p:nvSpPr>
          <p:spPr>
            <a:xfrm>
              <a:off x="3627939" y="3904523"/>
              <a:ext cx="840062" cy="35839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Product</a:t>
              </a:r>
              <a:endParaRPr/>
            </a:p>
          </p:txBody>
        </p:sp>
        <p:sp>
          <p:nvSpPr>
            <p:cNvPr id="810" name="Google Shape;810;p48"/>
            <p:cNvSpPr/>
            <p:nvPr/>
          </p:nvSpPr>
          <p:spPr>
            <a:xfrm>
              <a:off x="2840381" y="3136545"/>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name</a:t>
              </a:r>
              <a:endParaRPr/>
            </a:p>
          </p:txBody>
        </p:sp>
        <p:sp>
          <p:nvSpPr>
            <p:cNvPr id="811" name="Google Shape;811;p48"/>
            <p:cNvSpPr/>
            <p:nvPr/>
          </p:nvSpPr>
          <p:spPr>
            <a:xfrm>
              <a:off x="3942962" y="3187744"/>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category</a:t>
              </a:r>
              <a:endParaRPr/>
            </a:p>
          </p:txBody>
        </p:sp>
        <p:sp>
          <p:nvSpPr>
            <p:cNvPr id="812" name="Google Shape;812;p48"/>
            <p:cNvSpPr/>
            <p:nvPr/>
          </p:nvSpPr>
          <p:spPr>
            <a:xfrm>
              <a:off x="2105327" y="3546133"/>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price</a:t>
              </a:r>
              <a:endParaRPr/>
            </a:p>
          </p:txBody>
        </p:sp>
        <p:cxnSp>
          <p:nvCxnSpPr>
            <p:cNvPr id="813" name="Google Shape;813;p48"/>
            <p:cNvCxnSpPr>
              <a:stCxn id="814" idx="5"/>
              <a:endCxn id="811" idx="1"/>
            </p:cNvCxnSpPr>
            <p:nvPr/>
          </p:nvCxnSpPr>
          <p:spPr>
            <a:xfrm>
              <a:off x="3417953" y="3110925"/>
              <a:ext cx="671100" cy="1443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814" name="Google Shape;814;p48"/>
            <p:cNvCxnSpPr>
              <a:stCxn id="812" idx="5"/>
              <a:endCxn id="811" idx="0"/>
            </p:cNvCxnSpPr>
            <p:nvPr/>
          </p:nvCxnSpPr>
          <p:spPr>
            <a:xfrm flipH="1" rot="10800000">
              <a:off x="2956809" y="3187639"/>
              <a:ext cx="1485000" cy="7518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815" name="Google Shape;815;p48"/>
            <p:cNvCxnSpPr>
              <a:stCxn id="813" idx="4"/>
              <a:endCxn id="811" idx="0"/>
            </p:cNvCxnSpPr>
            <p:nvPr/>
          </p:nvCxnSpPr>
          <p:spPr>
            <a:xfrm flipH="1">
              <a:off x="4441749" y="2931844"/>
              <a:ext cx="393900" cy="2559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816" name="Google Shape;816;p48"/>
            <p:cNvSpPr/>
            <p:nvPr/>
          </p:nvSpPr>
          <p:spPr>
            <a:xfrm>
              <a:off x="8274531" y="3955721"/>
              <a:ext cx="1260092" cy="393306"/>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Person</a:t>
              </a:r>
              <a:endParaRPr/>
            </a:p>
          </p:txBody>
        </p:sp>
        <p:sp>
          <p:nvSpPr>
            <p:cNvPr id="817" name="Google Shape;817;p48"/>
            <p:cNvSpPr/>
            <p:nvPr/>
          </p:nvSpPr>
          <p:spPr>
            <a:xfrm>
              <a:off x="8537050" y="2931750"/>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name</a:t>
              </a:r>
              <a:endParaRPr/>
            </a:p>
          </p:txBody>
        </p:sp>
        <p:cxnSp>
          <p:nvCxnSpPr>
            <p:cNvPr id="818" name="Google Shape;818;p48"/>
            <p:cNvCxnSpPr>
              <a:endCxn id="818" idx="0"/>
            </p:cNvCxnSpPr>
            <p:nvPr/>
          </p:nvCxnSpPr>
          <p:spPr>
            <a:xfrm flipH="1">
              <a:off x="9035733" y="3325056"/>
              <a:ext cx="352800" cy="6306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819" name="Google Shape;819;p48"/>
            <p:cNvSpPr/>
            <p:nvPr/>
          </p:nvSpPr>
          <p:spPr>
            <a:xfrm>
              <a:off x="4691143" y="2526268"/>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date</a:t>
              </a:r>
              <a:endParaRPr/>
            </a:p>
          </p:txBody>
        </p:sp>
        <p:sp>
          <p:nvSpPr>
            <p:cNvPr id="820" name="Google Shape;820;p48"/>
            <p:cNvSpPr/>
            <p:nvPr/>
          </p:nvSpPr>
          <p:spPr>
            <a:xfrm>
              <a:off x="5870775" y="3238942"/>
              <a:ext cx="840062" cy="35839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Purchase</a:t>
              </a:r>
              <a:endParaRPr/>
            </a:p>
          </p:txBody>
        </p:sp>
        <p:cxnSp>
          <p:nvCxnSpPr>
            <p:cNvPr id="821" name="Google Shape;821;p48"/>
            <p:cNvCxnSpPr>
              <a:stCxn id="819" idx="4"/>
              <a:endCxn id="820" idx="0"/>
            </p:cNvCxnSpPr>
            <p:nvPr/>
          </p:nvCxnSpPr>
          <p:spPr>
            <a:xfrm>
              <a:off x="5189930" y="2987055"/>
              <a:ext cx="1101000" cy="252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822" name="Google Shape;822;p48"/>
            <p:cNvSpPr/>
            <p:nvPr/>
          </p:nvSpPr>
          <p:spPr>
            <a:xfrm>
              <a:off x="6915142" y="2526270"/>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quantity</a:t>
              </a:r>
              <a:endParaRPr/>
            </a:p>
          </p:txBody>
        </p:sp>
        <p:sp>
          <p:nvSpPr>
            <p:cNvPr id="823" name="Google Shape;823;p48"/>
            <p:cNvSpPr/>
            <p:nvPr/>
          </p:nvSpPr>
          <p:spPr>
            <a:xfrm>
              <a:off x="5814264" y="2526269"/>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PID#</a:t>
              </a:r>
              <a:endParaRPr/>
            </a:p>
          </p:txBody>
        </p:sp>
        <p:cxnSp>
          <p:nvCxnSpPr>
            <p:cNvPr id="824" name="Google Shape;824;p48"/>
            <p:cNvCxnSpPr>
              <a:stCxn id="823" idx="4"/>
              <a:endCxn id="820" idx="0"/>
            </p:cNvCxnSpPr>
            <p:nvPr/>
          </p:nvCxnSpPr>
          <p:spPr>
            <a:xfrm flipH="1">
              <a:off x="6290851" y="2987056"/>
              <a:ext cx="22200" cy="252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825" name="Google Shape;825;p48"/>
            <p:cNvCxnSpPr>
              <a:stCxn id="822" idx="4"/>
              <a:endCxn id="820" idx="0"/>
            </p:cNvCxnSpPr>
            <p:nvPr/>
          </p:nvCxnSpPr>
          <p:spPr>
            <a:xfrm flipH="1">
              <a:off x="6290729" y="2987057"/>
              <a:ext cx="1123200" cy="252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826" name="Google Shape;826;p48"/>
            <p:cNvCxnSpPr>
              <a:stCxn id="809" idx="3"/>
            </p:cNvCxnSpPr>
            <p:nvPr/>
          </p:nvCxnSpPr>
          <p:spPr>
            <a:xfrm flipH="1" rot="10800000">
              <a:off x="4468001" y="4002118"/>
              <a:ext cx="721800" cy="816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827" name="Google Shape;827;p48"/>
            <p:cNvCxnSpPr>
              <a:endCxn id="820" idx="1"/>
            </p:cNvCxnSpPr>
            <p:nvPr/>
          </p:nvCxnSpPr>
          <p:spPr>
            <a:xfrm flipH="1" rot="10800000">
              <a:off x="5462175" y="3418137"/>
              <a:ext cx="408600" cy="358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828" name="Google Shape;828;p48"/>
            <p:cNvSpPr/>
            <p:nvPr/>
          </p:nvSpPr>
          <p:spPr>
            <a:xfrm>
              <a:off x="4713451" y="3648530"/>
              <a:ext cx="1095165" cy="460787"/>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ProductOf</a:t>
              </a:r>
              <a:endParaRPr/>
            </a:p>
          </p:txBody>
        </p:sp>
        <p:cxnSp>
          <p:nvCxnSpPr>
            <p:cNvPr id="829" name="Google Shape;829;p48"/>
            <p:cNvCxnSpPr>
              <a:endCxn id="816" idx="1"/>
            </p:cNvCxnSpPr>
            <p:nvPr/>
          </p:nvCxnSpPr>
          <p:spPr>
            <a:xfrm>
              <a:off x="7511031" y="3939374"/>
              <a:ext cx="763500" cy="213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830" name="Google Shape;830;p48"/>
            <p:cNvCxnSpPr>
              <a:stCxn id="820" idx="3"/>
            </p:cNvCxnSpPr>
            <p:nvPr/>
          </p:nvCxnSpPr>
          <p:spPr>
            <a:xfrm>
              <a:off x="6710837" y="3418137"/>
              <a:ext cx="602100" cy="3987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831" name="Google Shape;831;p48"/>
            <p:cNvSpPr/>
            <p:nvPr/>
          </p:nvSpPr>
          <p:spPr>
            <a:xfrm>
              <a:off x="6929972" y="3648530"/>
              <a:ext cx="1095165" cy="460787"/>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BuyerOf</a:t>
              </a:r>
              <a:endParaRPr sz="1200">
                <a:solidFill>
                  <a:srgbClr val="000000"/>
                </a:solidFill>
                <a:latin typeface="Calibri"/>
                <a:ea typeface="Calibri"/>
                <a:cs typeface="Calibri"/>
                <a:sym typeface="Calibri"/>
              </a:endParaRPr>
            </a:p>
          </p:txBody>
        </p:sp>
      </p:grpSp>
      <p:sp>
        <p:nvSpPr>
          <p:cNvPr id="832" name="Google Shape;832;p48"/>
          <p:cNvSpPr/>
          <p:nvPr/>
        </p:nvSpPr>
        <p:spPr>
          <a:xfrm>
            <a:off x="1459064" y="5410699"/>
            <a:ext cx="9273872" cy="830997"/>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We can always use </a:t>
            </a:r>
            <a:r>
              <a:rPr b="1" lang="en-US" sz="2400">
                <a:solidFill>
                  <a:schemeClr val="dk1"/>
                </a:solidFill>
                <a:latin typeface="Calibri"/>
                <a:ea typeface="Calibri"/>
                <a:cs typeface="Calibri"/>
                <a:sym typeface="Calibri"/>
              </a:rPr>
              <a:t>a new entity </a:t>
            </a:r>
            <a:r>
              <a:rPr lang="en-US" sz="2400">
                <a:solidFill>
                  <a:schemeClr val="dk1"/>
                </a:solidFill>
                <a:latin typeface="Calibri"/>
                <a:ea typeface="Calibri"/>
                <a:cs typeface="Calibri"/>
                <a:sym typeface="Calibri"/>
              </a:rPr>
              <a:t>instead of a relationship.  For example, to permit multiple instances of each entity combination!</a:t>
            </a:r>
            <a:endParaRPr/>
          </a:p>
        </p:txBody>
      </p:sp>
      <p:sp>
        <p:nvSpPr>
          <p:cNvPr id="833" name="Google Shape;833;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xEl>
                                              <p:pRg end="9" st="9"/>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49"/>
          <p:cNvSpPr txBox="1"/>
          <p:nvPr>
            <p:ph type="title"/>
          </p:nvPr>
        </p:nvSpPr>
        <p:spPr>
          <a:xfrm>
            <a:off x="914400" y="307910"/>
            <a:ext cx="103632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Multi-way Relationships</a:t>
            </a:r>
            <a:endParaRPr/>
          </a:p>
        </p:txBody>
      </p:sp>
      <p:sp>
        <p:nvSpPr>
          <p:cNvPr id="840" name="Google Shape;840;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841" name="Google Shape;841;p49"/>
          <p:cNvSpPr txBox="1"/>
          <p:nvPr/>
        </p:nvSpPr>
        <p:spPr>
          <a:xfrm>
            <a:off x="1812926" y="1435820"/>
            <a:ext cx="7436651"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How do we model a purchase relationship between buyers,</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products and stores?</a:t>
            </a:r>
            <a:endParaRPr/>
          </a:p>
        </p:txBody>
      </p:sp>
      <p:grpSp>
        <p:nvGrpSpPr>
          <p:cNvPr id="842" name="Google Shape;842;p49"/>
          <p:cNvGrpSpPr/>
          <p:nvPr/>
        </p:nvGrpSpPr>
        <p:grpSpPr>
          <a:xfrm>
            <a:off x="2438400" y="2484013"/>
            <a:ext cx="7391400" cy="3102558"/>
            <a:chOff x="192" y="1872"/>
            <a:chExt cx="5088" cy="2136"/>
          </a:xfrm>
        </p:grpSpPr>
        <p:sp>
          <p:nvSpPr>
            <p:cNvPr id="843" name="Google Shape;843;p49"/>
            <p:cNvSpPr/>
            <p:nvPr/>
          </p:nvSpPr>
          <p:spPr>
            <a:xfrm>
              <a:off x="2112" y="2400"/>
              <a:ext cx="960" cy="864"/>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Purchase</a:t>
              </a:r>
              <a:endParaRPr/>
            </a:p>
          </p:txBody>
        </p:sp>
        <p:sp>
          <p:nvSpPr>
            <p:cNvPr id="844" name="Google Shape;844;p49"/>
            <p:cNvSpPr/>
            <p:nvPr/>
          </p:nvSpPr>
          <p:spPr>
            <a:xfrm>
              <a:off x="192" y="1872"/>
              <a:ext cx="1392" cy="48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845" name="Google Shape;845;p49"/>
            <p:cNvSpPr/>
            <p:nvPr/>
          </p:nvSpPr>
          <p:spPr>
            <a:xfrm>
              <a:off x="1896" y="3528"/>
              <a:ext cx="1392" cy="48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a:t>
              </a:r>
              <a:endParaRPr/>
            </a:p>
          </p:txBody>
        </p:sp>
        <p:sp>
          <p:nvSpPr>
            <p:cNvPr id="846" name="Google Shape;846;p49"/>
            <p:cNvSpPr/>
            <p:nvPr/>
          </p:nvSpPr>
          <p:spPr>
            <a:xfrm>
              <a:off x="3888" y="2592"/>
              <a:ext cx="1392" cy="48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Store</a:t>
              </a:r>
              <a:endParaRPr/>
            </a:p>
          </p:txBody>
        </p:sp>
        <p:cxnSp>
          <p:nvCxnSpPr>
            <p:cNvPr id="847" name="Google Shape;847;p49"/>
            <p:cNvCxnSpPr/>
            <p:nvPr/>
          </p:nvCxnSpPr>
          <p:spPr>
            <a:xfrm>
              <a:off x="3072" y="2832"/>
              <a:ext cx="816" cy="0"/>
            </a:xfrm>
            <a:prstGeom prst="straightConnector1">
              <a:avLst/>
            </a:prstGeom>
            <a:noFill/>
            <a:ln cap="flat" cmpd="sng" w="9525">
              <a:solidFill>
                <a:schemeClr val="dk1"/>
              </a:solidFill>
              <a:prstDash val="solid"/>
              <a:round/>
              <a:headEnd len="med" w="med" type="none"/>
              <a:tailEnd len="med" w="med" type="none"/>
            </a:ln>
          </p:spPr>
        </p:cxnSp>
        <p:cxnSp>
          <p:nvCxnSpPr>
            <p:cNvPr id="848" name="Google Shape;848;p49"/>
            <p:cNvCxnSpPr/>
            <p:nvPr/>
          </p:nvCxnSpPr>
          <p:spPr>
            <a:xfrm>
              <a:off x="2592" y="3264"/>
              <a:ext cx="0" cy="264"/>
            </a:xfrm>
            <a:prstGeom prst="straightConnector1">
              <a:avLst/>
            </a:prstGeom>
            <a:noFill/>
            <a:ln cap="flat" cmpd="sng" w="9525">
              <a:solidFill>
                <a:schemeClr val="dk1"/>
              </a:solidFill>
              <a:prstDash val="solid"/>
              <a:round/>
              <a:headEnd len="med" w="med" type="none"/>
              <a:tailEnd len="med" w="med" type="none"/>
            </a:ln>
          </p:spPr>
        </p:cxnSp>
        <p:cxnSp>
          <p:nvCxnSpPr>
            <p:cNvPr id="849" name="Google Shape;849;p49"/>
            <p:cNvCxnSpPr/>
            <p:nvPr/>
          </p:nvCxnSpPr>
          <p:spPr>
            <a:xfrm>
              <a:off x="1584" y="2352"/>
              <a:ext cx="528" cy="48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Arrows in Multiway Relationships</a:t>
            </a:r>
            <a:endParaRPr/>
          </a:p>
        </p:txBody>
      </p:sp>
      <p:sp>
        <p:nvSpPr>
          <p:cNvPr id="856" name="Google Shape;856;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857" name="Google Shape;857;p50"/>
          <p:cNvSpPr txBox="1"/>
          <p:nvPr>
            <p:ph idx="4294967295" type="body"/>
          </p:nvPr>
        </p:nvSpPr>
        <p:spPr>
          <a:xfrm>
            <a:off x="0" y="1981200"/>
            <a:ext cx="4192588" cy="430213"/>
          </a:xfrm>
          <a:prstGeom prst="rect">
            <a:avLst/>
          </a:prstGeom>
          <a:noFill/>
          <a:ln>
            <a:noFill/>
          </a:ln>
        </p:spPr>
        <p:txBody>
          <a:bodyPr anchorCtr="0" anchor="t" bIns="45700" lIns="91425" spcFirstLastPara="1" rIns="91425" wrap="square" tIns="45700">
            <a:spAutoFit/>
          </a:bodyPr>
          <a:lstStyle/>
          <a:p>
            <a:pPr indent="-228600" lvl="0" marL="228600" rtl="0" algn="l">
              <a:lnSpc>
                <a:spcPct val="90000"/>
              </a:lnSpc>
              <a:spcBef>
                <a:spcPts val="0"/>
              </a:spcBef>
              <a:spcAft>
                <a:spcPts val="0"/>
              </a:spcAft>
              <a:buClr>
                <a:schemeClr val="dk1"/>
              </a:buClr>
              <a:buSzPts val="2400"/>
              <a:buFont typeface="Calibri"/>
              <a:buNone/>
            </a:pPr>
            <a:r>
              <a:rPr b="1" lang="en-US" sz="2400"/>
              <a:t>Q</a:t>
            </a:r>
            <a:r>
              <a:rPr lang="en-US" sz="2400"/>
              <a:t>: What does the arrow mean ?</a:t>
            </a:r>
            <a:endParaRPr/>
          </a:p>
        </p:txBody>
      </p:sp>
      <p:grpSp>
        <p:nvGrpSpPr>
          <p:cNvPr id="858" name="Google Shape;858;p50"/>
          <p:cNvGrpSpPr/>
          <p:nvPr/>
        </p:nvGrpSpPr>
        <p:grpSpPr>
          <a:xfrm>
            <a:off x="3352801" y="2743200"/>
            <a:ext cx="5791200" cy="2676525"/>
            <a:chOff x="3352801" y="2743200"/>
            <a:chExt cx="5791200" cy="2676525"/>
          </a:xfrm>
        </p:grpSpPr>
        <p:sp>
          <p:nvSpPr>
            <p:cNvPr id="859" name="Google Shape;859;p50"/>
            <p:cNvSpPr/>
            <p:nvPr/>
          </p:nvSpPr>
          <p:spPr>
            <a:xfrm>
              <a:off x="5426670" y="3190876"/>
              <a:ext cx="1278931" cy="1152525"/>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000000"/>
                  </a:solidFill>
                  <a:latin typeface="Calibri"/>
                  <a:ea typeface="Calibri"/>
                  <a:cs typeface="Calibri"/>
                  <a:sym typeface="Calibri"/>
                </a:rPr>
                <a:t>Purchase</a:t>
              </a:r>
              <a:endParaRPr/>
            </a:p>
          </p:txBody>
        </p:sp>
        <p:sp>
          <p:nvSpPr>
            <p:cNvPr id="860" name="Google Shape;860;p50"/>
            <p:cNvSpPr/>
            <p:nvPr/>
          </p:nvSpPr>
          <p:spPr>
            <a:xfrm>
              <a:off x="3352801" y="2743200"/>
              <a:ext cx="1584325" cy="5461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861" name="Google Shape;861;p50"/>
            <p:cNvSpPr/>
            <p:nvPr/>
          </p:nvSpPr>
          <p:spPr>
            <a:xfrm>
              <a:off x="5265739" y="4873625"/>
              <a:ext cx="1584325" cy="5461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a:t>
              </a:r>
              <a:endParaRPr/>
            </a:p>
          </p:txBody>
        </p:sp>
        <p:sp>
          <p:nvSpPr>
            <p:cNvPr id="862" name="Google Shape;862;p50"/>
            <p:cNvSpPr/>
            <p:nvPr/>
          </p:nvSpPr>
          <p:spPr>
            <a:xfrm>
              <a:off x="7559676" y="3511550"/>
              <a:ext cx="1584325" cy="5461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Store</a:t>
              </a:r>
              <a:endParaRPr/>
            </a:p>
          </p:txBody>
        </p:sp>
        <p:cxnSp>
          <p:nvCxnSpPr>
            <p:cNvPr id="863" name="Google Shape;863;p50"/>
            <p:cNvCxnSpPr/>
            <p:nvPr/>
          </p:nvCxnSpPr>
          <p:spPr>
            <a:xfrm>
              <a:off x="6705599" y="3761280"/>
              <a:ext cx="854077" cy="23319"/>
            </a:xfrm>
            <a:prstGeom prst="straightConnector1">
              <a:avLst/>
            </a:prstGeom>
            <a:noFill/>
            <a:ln cap="flat" cmpd="sng" w="9525">
              <a:solidFill>
                <a:schemeClr val="dk1"/>
              </a:solidFill>
              <a:prstDash val="solid"/>
              <a:round/>
              <a:headEnd len="med" w="med" type="none"/>
              <a:tailEnd len="sm" w="sm" type="none"/>
            </a:ln>
          </p:spPr>
        </p:cxnSp>
        <p:cxnSp>
          <p:nvCxnSpPr>
            <p:cNvPr id="864" name="Google Shape;864;p50"/>
            <p:cNvCxnSpPr/>
            <p:nvPr/>
          </p:nvCxnSpPr>
          <p:spPr>
            <a:xfrm>
              <a:off x="6084888" y="4327525"/>
              <a:ext cx="0" cy="546100"/>
            </a:xfrm>
            <a:prstGeom prst="straightConnector1">
              <a:avLst/>
            </a:prstGeom>
            <a:noFill/>
            <a:ln cap="flat" cmpd="sng" w="9525">
              <a:solidFill>
                <a:schemeClr val="dk1"/>
              </a:solidFill>
              <a:prstDash val="solid"/>
              <a:round/>
              <a:headEnd len="lg" w="lg" type="triangle"/>
              <a:tailEnd len="sm" w="sm" type="none"/>
            </a:ln>
          </p:spPr>
        </p:cxnSp>
        <p:cxnSp>
          <p:nvCxnSpPr>
            <p:cNvPr id="865" name="Google Shape;865;p50"/>
            <p:cNvCxnSpPr/>
            <p:nvPr/>
          </p:nvCxnSpPr>
          <p:spPr>
            <a:xfrm>
              <a:off x="4937126" y="3289300"/>
              <a:ext cx="489726" cy="444500"/>
            </a:xfrm>
            <a:prstGeom prst="straightConnector1">
              <a:avLst/>
            </a:prstGeom>
            <a:noFill/>
            <a:ln cap="flat" cmpd="sng" w="9525">
              <a:solidFill>
                <a:schemeClr val="dk1"/>
              </a:solidFill>
              <a:prstDash val="solid"/>
              <a:round/>
              <a:headEnd len="med" w="med" type="none"/>
              <a:tailEnd len="med" w="med" type="none"/>
            </a:ln>
          </p:spPr>
        </p:cxnSp>
      </p:grpSp>
      <p:sp>
        <p:nvSpPr>
          <p:cNvPr id="866" name="Google Shape;866;p50"/>
          <p:cNvSpPr txBox="1"/>
          <p:nvPr/>
        </p:nvSpPr>
        <p:spPr>
          <a:xfrm>
            <a:off x="1050202" y="5803271"/>
            <a:ext cx="806829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given a person, can determine what they bought and the store where they bought it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7">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Arrows in Multiway Relationships</a:t>
            </a:r>
            <a:endParaRPr/>
          </a:p>
        </p:txBody>
      </p:sp>
      <p:sp>
        <p:nvSpPr>
          <p:cNvPr id="873" name="Google Shape;873;p51"/>
          <p:cNvSpPr txBox="1"/>
          <p:nvPr>
            <p:ph idx="4294967295" type="body"/>
          </p:nvPr>
        </p:nvSpPr>
        <p:spPr>
          <a:xfrm>
            <a:off x="217283" y="1558532"/>
            <a:ext cx="4192588" cy="430213"/>
          </a:xfrm>
          <a:prstGeom prst="rect">
            <a:avLst/>
          </a:prstGeom>
          <a:noFill/>
          <a:ln>
            <a:noFill/>
          </a:ln>
        </p:spPr>
        <p:txBody>
          <a:bodyPr anchorCtr="0" anchor="t" bIns="45700" lIns="91425" spcFirstLastPara="1" rIns="91425" wrap="square" tIns="45700">
            <a:spAutoFit/>
          </a:bodyPr>
          <a:lstStyle/>
          <a:p>
            <a:pPr indent="-228600" lvl="0" marL="228600" rtl="0" algn="l">
              <a:lnSpc>
                <a:spcPct val="90000"/>
              </a:lnSpc>
              <a:spcBef>
                <a:spcPts val="0"/>
              </a:spcBef>
              <a:spcAft>
                <a:spcPts val="0"/>
              </a:spcAft>
              <a:buClr>
                <a:schemeClr val="dk1"/>
              </a:buClr>
              <a:buSzPts val="2400"/>
              <a:buFont typeface="Calibri"/>
              <a:buNone/>
            </a:pPr>
            <a:r>
              <a:rPr b="1" lang="en-US" sz="2400"/>
              <a:t>Q</a:t>
            </a:r>
            <a:r>
              <a:rPr lang="en-US" sz="2400"/>
              <a:t>: What does the arrow mean ?</a:t>
            </a:r>
            <a:endParaRPr/>
          </a:p>
        </p:txBody>
      </p:sp>
      <p:sp>
        <p:nvSpPr>
          <p:cNvPr id="874" name="Google Shape;874;p51"/>
          <p:cNvSpPr/>
          <p:nvPr/>
        </p:nvSpPr>
        <p:spPr>
          <a:xfrm>
            <a:off x="5426670" y="3190876"/>
            <a:ext cx="1278931" cy="1152525"/>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000000"/>
                </a:solidFill>
                <a:latin typeface="Calibri"/>
                <a:ea typeface="Calibri"/>
                <a:cs typeface="Calibri"/>
                <a:sym typeface="Calibri"/>
              </a:rPr>
              <a:t>Purchase</a:t>
            </a:r>
            <a:endParaRPr/>
          </a:p>
        </p:txBody>
      </p:sp>
      <p:sp>
        <p:nvSpPr>
          <p:cNvPr id="875" name="Google Shape;875;p51"/>
          <p:cNvSpPr/>
          <p:nvPr/>
        </p:nvSpPr>
        <p:spPr>
          <a:xfrm>
            <a:off x="3352801" y="2743200"/>
            <a:ext cx="1584325" cy="5461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876" name="Google Shape;876;p51"/>
          <p:cNvSpPr/>
          <p:nvPr/>
        </p:nvSpPr>
        <p:spPr>
          <a:xfrm>
            <a:off x="5265739" y="4873625"/>
            <a:ext cx="1584325" cy="5461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a:t>
            </a:r>
            <a:endParaRPr/>
          </a:p>
        </p:txBody>
      </p:sp>
      <p:sp>
        <p:nvSpPr>
          <p:cNvPr id="877" name="Google Shape;877;p51"/>
          <p:cNvSpPr/>
          <p:nvPr/>
        </p:nvSpPr>
        <p:spPr>
          <a:xfrm>
            <a:off x="7559676" y="3511550"/>
            <a:ext cx="1584325" cy="5461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Store</a:t>
            </a:r>
            <a:endParaRPr/>
          </a:p>
        </p:txBody>
      </p:sp>
      <p:cxnSp>
        <p:nvCxnSpPr>
          <p:cNvPr id="878" name="Google Shape;878;p51"/>
          <p:cNvCxnSpPr/>
          <p:nvPr/>
        </p:nvCxnSpPr>
        <p:spPr>
          <a:xfrm>
            <a:off x="6084888" y="4327525"/>
            <a:ext cx="0" cy="546100"/>
          </a:xfrm>
          <a:prstGeom prst="straightConnector1">
            <a:avLst/>
          </a:prstGeom>
          <a:noFill/>
          <a:ln cap="flat" cmpd="sng" w="9525">
            <a:solidFill>
              <a:schemeClr val="dk1"/>
            </a:solidFill>
            <a:prstDash val="solid"/>
            <a:round/>
            <a:headEnd len="sm" w="sm" type="none"/>
            <a:tailEnd len="sm" w="sm" type="none"/>
          </a:ln>
        </p:spPr>
      </p:cxnSp>
      <p:cxnSp>
        <p:nvCxnSpPr>
          <p:cNvPr id="879" name="Google Shape;879;p51"/>
          <p:cNvCxnSpPr/>
          <p:nvPr/>
        </p:nvCxnSpPr>
        <p:spPr>
          <a:xfrm>
            <a:off x="4937126" y="3289300"/>
            <a:ext cx="489726" cy="444500"/>
          </a:xfrm>
          <a:prstGeom prst="straightConnector1">
            <a:avLst/>
          </a:prstGeom>
          <a:noFill/>
          <a:ln cap="flat" cmpd="sng" w="9525">
            <a:solidFill>
              <a:schemeClr val="dk1"/>
            </a:solidFill>
            <a:prstDash val="solid"/>
            <a:round/>
            <a:headEnd len="med" w="med" type="none"/>
            <a:tailEnd len="med" w="med" type="none"/>
          </a:ln>
        </p:spPr>
      </p:cxnSp>
      <p:cxnSp>
        <p:nvCxnSpPr>
          <p:cNvPr id="880" name="Google Shape;880;p51"/>
          <p:cNvCxnSpPr>
            <a:stCxn id="877" idx="1"/>
            <a:endCxn id="874" idx="3"/>
          </p:cNvCxnSpPr>
          <p:nvPr/>
        </p:nvCxnSpPr>
        <p:spPr>
          <a:xfrm rot="10800000">
            <a:off x="6705576" y="3767200"/>
            <a:ext cx="854100" cy="17400"/>
          </a:xfrm>
          <a:prstGeom prst="straightConnector1">
            <a:avLst/>
          </a:prstGeom>
          <a:solidFill>
            <a:srgbClr val="C0C0C0">
              <a:alpha val="49803"/>
            </a:srgbClr>
          </a:solidFill>
          <a:ln cap="flat" cmpd="sng" w="9525">
            <a:solidFill>
              <a:schemeClr val="dk1"/>
            </a:solidFill>
            <a:prstDash val="solid"/>
            <a:round/>
            <a:headEnd len="sm" w="sm" type="none"/>
            <a:tailEnd len="lg" w="lg" type="triangle"/>
          </a:ln>
        </p:spPr>
      </p:cxnSp>
      <p:sp>
        <p:nvSpPr>
          <p:cNvPr id="881" name="Google Shape;881;p51"/>
          <p:cNvSpPr txBox="1"/>
          <p:nvPr/>
        </p:nvSpPr>
        <p:spPr>
          <a:xfrm>
            <a:off x="1367072" y="5888211"/>
            <a:ext cx="8890503"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given a store, can determine who shopped</a:t>
            </a:r>
            <a:r>
              <a:rPr lang="en-US" sz="1800">
                <a:solidFill>
                  <a:schemeClr val="dk1"/>
                </a:solidFill>
                <a:latin typeface="Calibri"/>
                <a:ea typeface="Calibri"/>
                <a:cs typeface="Calibri"/>
                <a:sym typeface="Calibri"/>
              </a:rPr>
              <a:t> there </a:t>
            </a:r>
            <a:r>
              <a:rPr lang="en-US" sz="1800">
                <a:solidFill>
                  <a:schemeClr val="dk1"/>
                </a:solidFill>
                <a:latin typeface="Calibri"/>
                <a:ea typeface="Calibri"/>
                <a:cs typeface="Calibri"/>
                <a:sym typeface="Calibri"/>
              </a:rPr>
              <a:t>and the product they bought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each store sells one product and to one person, ever</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2" name="Google Shape;882;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Arrows in Multiway Relationships</a:t>
            </a:r>
            <a:endParaRPr/>
          </a:p>
        </p:txBody>
      </p:sp>
      <p:sp>
        <p:nvSpPr>
          <p:cNvPr id="889" name="Google Shape;889;p52"/>
          <p:cNvSpPr txBox="1"/>
          <p:nvPr>
            <p:ph idx="4294967295" type="body"/>
          </p:nvPr>
        </p:nvSpPr>
        <p:spPr>
          <a:xfrm>
            <a:off x="0" y="1981200"/>
            <a:ext cx="8164513" cy="425450"/>
          </a:xfrm>
          <a:prstGeom prst="rect">
            <a:avLst/>
          </a:prstGeom>
          <a:noFill/>
          <a:ln>
            <a:noFill/>
          </a:ln>
        </p:spPr>
        <p:txBody>
          <a:bodyPr anchorCtr="0" anchor="t" bIns="45700" lIns="91425" spcFirstLastPara="1" rIns="91425" wrap="square" tIns="45700">
            <a:spAutoFit/>
          </a:bodyPr>
          <a:lstStyle/>
          <a:p>
            <a:pPr indent="-228600" lvl="0" marL="228600" rtl="0" algn="l">
              <a:lnSpc>
                <a:spcPct val="90000"/>
              </a:lnSpc>
              <a:spcBef>
                <a:spcPts val="0"/>
              </a:spcBef>
              <a:spcAft>
                <a:spcPts val="0"/>
              </a:spcAft>
              <a:buClr>
                <a:schemeClr val="dk1"/>
              </a:buClr>
              <a:buSzPts val="2400"/>
              <a:buFont typeface="Calibri"/>
              <a:buNone/>
            </a:pPr>
            <a:r>
              <a:rPr b="1" lang="en-US" sz="2400"/>
              <a:t>Q</a:t>
            </a:r>
            <a:r>
              <a:rPr lang="en-US" sz="2400"/>
              <a:t>: How do we say that every person shops in at most one store ?</a:t>
            </a:r>
            <a:endParaRPr/>
          </a:p>
        </p:txBody>
      </p:sp>
      <p:sp>
        <p:nvSpPr>
          <p:cNvPr id="890" name="Google Shape;890;p52"/>
          <p:cNvSpPr/>
          <p:nvPr/>
        </p:nvSpPr>
        <p:spPr>
          <a:xfrm>
            <a:off x="1905001" y="5943600"/>
            <a:ext cx="5479385" cy="76328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1" lang="en-US" sz="2400">
                <a:solidFill>
                  <a:srgbClr val="000000"/>
                </a:solidFill>
                <a:latin typeface="Calibri"/>
                <a:ea typeface="Calibri"/>
                <a:cs typeface="Calibri"/>
                <a:sym typeface="Calibri"/>
              </a:rPr>
              <a:t>A</a:t>
            </a:r>
            <a:r>
              <a:rPr lang="en-US" sz="2400">
                <a:solidFill>
                  <a:srgbClr val="000000"/>
                </a:solidFill>
                <a:latin typeface="Calibri"/>
                <a:ea typeface="Calibri"/>
                <a:cs typeface="Calibri"/>
                <a:sym typeface="Calibri"/>
              </a:rPr>
              <a:t>: Cannot.  This is the best approximation.</a:t>
            </a:r>
            <a:br>
              <a:rPr lang="en-US" sz="2400">
                <a:solidFill>
                  <a:srgbClr val="000000"/>
                </a:solidFill>
                <a:latin typeface="Calibri"/>
                <a:ea typeface="Calibri"/>
                <a:cs typeface="Calibri"/>
                <a:sym typeface="Calibri"/>
              </a:rPr>
            </a:br>
            <a:r>
              <a:rPr lang="en-US" sz="2400">
                <a:solidFill>
                  <a:srgbClr val="000000"/>
                </a:solidFill>
                <a:latin typeface="Calibri"/>
                <a:ea typeface="Calibri"/>
                <a:cs typeface="Calibri"/>
                <a:sym typeface="Calibri"/>
              </a:rPr>
              <a:t>(Why only approximation ?)</a:t>
            </a:r>
            <a:endParaRPr/>
          </a:p>
        </p:txBody>
      </p:sp>
      <p:grpSp>
        <p:nvGrpSpPr>
          <p:cNvPr id="891" name="Google Shape;891;p52"/>
          <p:cNvGrpSpPr/>
          <p:nvPr/>
        </p:nvGrpSpPr>
        <p:grpSpPr>
          <a:xfrm>
            <a:off x="3352801" y="2743200"/>
            <a:ext cx="5791200" cy="2676525"/>
            <a:chOff x="3352801" y="2743200"/>
            <a:chExt cx="5791200" cy="2676525"/>
          </a:xfrm>
        </p:grpSpPr>
        <p:sp>
          <p:nvSpPr>
            <p:cNvPr id="892" name="Google Shape;892;p52"/>
            <p:cNvSpPr/>
            <p:nvPr/>
          </p:nvSpPr>
          <p:spPr>
            <a:xfrm>
              <a:off x="3352801" y="2743200"/>
              <a:ext cx="1584325" cy="5461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893" name="Google Shape;893;p52"/>
            <p:cNvSpPr/>
            <p:nvPr/>
          </p:nvSpPr>
          <p:spPr>
            <a:xfrm>
              <a:off x="5265739" y="4873625"/>
              <a:ext cx="1584325" cy="5461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a:t>
              </a:r>
              <a:endParaRPr/>
            </a:p>
          </p:txBody>
        </p:sp>
        <p:sp>
          <p:nvSpPr>
            <p:cNvPr id="894" name="Google Shape;894;p52"/>
            <p:cNvSpPr/>
            <p:nvPr/>
          </p:nvSpPr>
          <p:spPr>
            <a:xfrm>
              <a:off x="7559676" y="3511550"/>
              <a:ext cx="1584325" cy="5461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Store</a:t>
              </a:r>
              <a:endParaRPr/>
            </a:p>
          </p:txBody>
        </p:sp>
        <p:cxnSp>
          <p:nvCxnSpPr>
            <p:cNvPr id="895" name="Google Shape;895;p52"/>
            <p:cNvCxnSpPr/>
            <p:nvPr/>
          </p:nvCxnSpPr>
          <p:spPr>
            <a:xfrm>
              <a:off x="6630989" y="3771900"/>
              <a:ext cx="928687" cy="0"/>
            </a:xfrm>
            <a:prstGeom prst="straightConnector1">
              <a:avLst/>
            </a:prstGeom>
            <a:noFill/>
            <a:ln cap="flat" cmpd="sng" w="9525">
              <a:solidFill>
                <a:schemeClr val="dk1"/>
              </a:solidFill>
              <a:prstDash val="solid"/>
              <a:round/>
              <a:headEnd len="med" w="med" type="none"/>
              <a:tailEnd len="sm" w="sm" type="none"/>
            </a:ln>
          </p:spPr>
        </p:cxnSp>
        <p:cxnSp>
          <p:nvCxnSpPr>
            <p:cNvPr id="896" name="Google Shape;896;p52"/>
            <p:cNvCxnSpPr/>
            <p:nvPr/>
          </p:nvCxnSpPr>
          <p:spPr>
            <a:xfrm>
              <a:off x="6084888" y="4327525"/>
              <a:ext cx="0" cy="546100"/>
            </a:xfrm>
            <a:prstGeom prst="straightConnector1">
              <a:avLst/>
            </a:prstGeom>
            <a:noFill/>
            <a:ln cap="flat" cmpd="sng" w="9525">
              <a:solidFill>
                <a:schemeClr val="dk1"/>
              </a:solidFill>
              <a:prstDash val="solid"/>
              <a:round/>
              <a:headEnd len="med" w="med" type="none"/>
              <a:tailEnd len="med" w="med" type="none"/>
            </a:ln>
          </p:spPr>
        </p:cxnSp>
        <p:cxnSp>
          <p:nvCxnSpPr>
            <p:cNvPr id="897" name="Google Shape;897;p52"/>
            <p:cNvCxnSpPr/>
            <p:nvPr/>
          </p:nvCxnSpPr>
          <p:spPr>
            <a:xfrm>
              <a:off x="4937126" y="3289300"/>
              <a:ext cx="601663" cy="546100"/>
            </a:xfrm>
            <a:prstGeom prst="straightConnector1">
              <a:avLst/>
            </a:prstGeom>
            <a:noFill/>
            <a:ln cap="flat" cmpd="sng" w="9525">
              <a:solidFill>
                <a:schemeClr val="dk1"/>
              </a:solidFill>
              <a:prstDash val="solid"/>
              <a:round/>
              <a:headEnd len="med" w="med" type="none"/>
              <a:tailEnd len="med" w="med" type="none"/>
            </a:ln>
          </p:spPr>
        </p:cxnSp>
        <p:sp>
          <p:nvSpPr>
            <p:cNvPr id="898" name="Google Shape;898;p52"/>
            <p:cNvSpPr/>
            <p:nvPr/>
          </p:nvSpPr>
          <p:spPr>
            <a:xfrm>
              <a:off x="5426670" y="3190876"/>
              <a:ext cx="1278931" cy="1152525"/>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000000"/>
                  </a:solidFill>
                  <a:latin typeface="Calibri"/>
                  <a:ea typeface="Calibri"/>
                  <a:cs typeface="Calibri"/>
                  <a:sym typeface="Calibri"/>
                </a:rPr>
                <a:t>Purchase</a:t>
              </a:r>
              <a:endParaRPr/>
            </a:p>
          </p:txBody>
        </p:sp>
      </p:grpSp>
      <p:sp>
        <p:nvSpPr>
          <p:cNvPr id="899" name="Google Shape;899;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53"/>
          <p:cNvSpPr txBox="1"/>
          <p:nvPr>
            <p:ph type="title"/>
          </p:nvPr>
        </p:nvSpPr>
        <p:spPr>
          <a:xfrm>
            <a:off x="562708" y="304800"/>
            <a:ext cx="9419492" cy="1143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Converting Multi-way Relationships to Binary</a:t>
            </a:r>
            <a:endParaRPr/>
          </a:p>
        </p:txBody>
      </p:sp>
      <p:grpSp>
        <p:nvGrpSpPr>
          <p:cNvPr id="905" name="Google Shape;905;p53"/>
          <p:cNvGrpSpPr/>
          <p:nvPr/>
        </p:nvGrpSpPr>
        <p:grpSpPr>
          <a:xfrm>
            <a:off x="2209800" y="1792542"/>
            <a:ext cx="7098745" cy="4219065"/>
            <a:chOff x="2209800" y="1792542"/>
            <a:chExt cx="7098745" cy="4219065"/>
          </a:xfrm>
        </p:grpSpPr>
        <p:sp>
          <p:nvSpPr>
            <p:cNvPr id="906" name="Google Shape;906;p53"/>
            <p:cNvSpPr/>
            <p:nvPr/>
          </p:nvSpPr>
          <p:spPr>
            <a:xfrm>
              <a:off x="2209800" y="3332836"/>
              <a:ext cx="1942109" cy="669693"/>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Purchase</a:t>
              </a:r>
              <a:endParaRPr/>
            </a:p>
          </p:txBody>
        </p:sp>
        <p:sp>
          <p:nvSpPr>
            <p:cNvPr id="907" name="Google Shape;907;p53"/>
            <p:cNvSpPr/>
            <p:nvPr/>
          </p:nvSpPr>
          <p:spPr>
            <a:xfrm>
              <a:off x="7366436" y="5141006"/>
              <a:ext cx="1942109" cy="669693"/>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a:t>
              </a:r>
              <a:endParaRPr/>
            </a:p>
          </p:txBody>
        </p:sp>
        <p:sp>
          <p:nvSpPr>
            <p:cNvPr id="908" name="Google Shape;908;p53"/>
            <p:cNvSpPr/>
            <p:nvPr/>
          </p:nvSpPr>
          <p:spPr>
            <a:xfrm>
              <a:off x="7299466" y="3667682"/>
              <a:ext cx="1942109" cy="669693"/>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Store</a:t>
              </a:r>
              <a:endParaRPr/>
            </a:p>
          </p:txBody>
        </p:sp>
        <p:sp>
          <p:nvSpPr>
            <p:cNvPr id="909" name="Google Shape;909;p53"/>
            <p:cNvSpPr/>
            <p:nvPr/>
          </p:nvSpPr>
          <p:spPr>
            <a:xfrm>
              <a:off x="7299466" y="2060419"/>
              <a:ext cx="1942109" cy="669693"/>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910" name="Google Shape;910;p53"/>
            <p:cNvSpPr/>
            <p:nvPr/>
          </p:nvSpPr>
          <p:spPr>
            <a:xfrm>
              <a:off x="4888572" y="3399805"/>
              <a:ext cx="1339386" cy="1205447"/>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000000"/>
                  </a:solidFill>
                  <a:latin typeface="Calibri"/>
                  <a:ea typeface="Calibri"/>
                  <a:cs typeface="Calibri"/>
                  <a:sym typeface="Calibri"/>
                </a:rPr>
                <a:t>StoreOf</a:t>
              </a:r>
              <a:endParaRPr/>
            </a:p>
          </p:txBody>
        </p:sp>
        <p:sp>
          <p:nvSpPr>
            <p:cNvPr id="911" name="Google Shape;911;p53"/>
            <p:cNvSpPr/>
            <p:nvPr/>
          </p:nvSpPr>
          <p:spPr>
            <a:xfrm>
              <a:off x="4888572" y="1792542"/>
              <a:ext cx="1339386" cy="1205447"/>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000000"/>
                  </a:solidFill>
                  <a:latin typeface="Calibri"/>
                  <a:ea typeface="Calibri"/>
                  <a:cs typeface="Calibri"/>
                  <a:sym typeface="Calibri"/>
                </a:rPr>
                <a:t>ProductOf</a:t>
              </a:r>
              <a:endParaRPr/>
            </a:p>
          </p:txBody>
        </p:sp>
        <p:sp>
          <p:nvSpPr>
            <p:cNvPr id="912" name="Google Shape;912;p53"/>
            <p:cNvSpPr/>
            <p:nvPr/>
          </p:nvSpPr>
          <p:spPr>
            <a:xfrm>
              <a:off x="4888572" y="4806160"/>
              <a:ext cx="1339386" cy="1205447"/>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000000"/>
                  </a:solidFill>
                  <a:latin typeface="Calibri"/>
                  <a:ea typeface="Calibri"/>
                  <a:cs typeface="Calibri"/>
                  <a:sym typeface="Calibri"/>
                </a:rPr>
                <a:t>BuyerOf</a:t>
              </a:r>
              <a:endParaRPr/>
            </a:p>
          </p:txBody>
        </p:sp>
        <p:cxnSp>
          <p:nvCxnSpPr>
            <p:cNvPr id="913" name="Google Shape;913;p53"/>
            <p:cNvCxnSpPr/>
            <p:nvPr/>
          </p:nvCxnSpPr>
          <p:spPr>
            <a:xfrm flipH="1">
              <a:off x="3415247" y="2395266"/>
              <a:ext cx="1473324" cy="937570"/>
            </a:xfrm>
            <a:prstGeom prst="straightConnector1">
              <a:avLst/>
            </a:prstGeom>
            <a:noFill/>
            <a:ln cap="flat" cmpd="sng" w="9525">
              <a:solidFill>
                <a:schemeClr val="dk1"/>
              </a:solidFill>
              <a:prstDash val="solid"/>
              <a:round/>
              <a:headEnd len="med" w="med" type="none"/>
              <a:tailEnd len="med" w="med" type="none"/>
            </a:ln>
          </p:spPr>
        </p:cxnSp>
        <p:cxnSp>
          <p:nvCxnSpPr>
            <p:cNvPr id="914" name="Google Shape;914;p53"/>
            <p:cNvCxnSpPr/>
            <p:nvPr/>
          </p:nvCxnSpPr>
          <p:spPr>
            <a:xfrm rot="10800000">
              <a:off x="3214339" y="4002528"/>
              <a:ext cx="1674232" cy="1406355"/>
            </a:xfrm>
            <a:prstGeom prst="straightConnector1">
              <a:avLst/>
            </a:prstGeom>
            <a:noFill/>
            <a:ln cap="flat" cmpd="sng" w="9525">
              <a:solidFill>
                <a:schemeClr val="dk1"/>
              </a:solidFill>
              <a:prstDash val="solid"/>
              <a:round/>
              <a:headEnd len="med" w="med" type="none"/>
              <a:tailEnd len="med" w="med" type="none"/>
            </a:ln>
          </p:spPr>
        </p:cxnSp>
        <p:cxnSp>
          <p:nvCxnSpPr>
            <p:cNvPr id="915" name="Google Shape;915;p53"/>
            <p:cNvCxnSpPr/>
            <p:nvPr/>
          </p:nvCxnSpPr>
          <p:spPr>
            <a:xfrm rot="10800000">
              <a:off x="4151909" y="4002528"/>
              <a:ext cx="736662" cy="0"/>
            </a:xfrm>
            <a:prstGeom prst="straightConnector1">
              <a:avLst/>
            </a:prstGeom>
            <a:noFill/>
            <a:ln cap="flat" cmpd="sng" w="9525">
              <a:solidFill>
                <a:schemeClr val="dk1"/>
              </a:solidFill>
              <a:prstDash val="solid"/>
              <a:round/>
              <a:headEnd len="med" w="med" type="none"/>
              <a:tailEnd len="med" w="med" type="none"/>
            </a:ln>
          </p:spPr>
        </p:cxnSp>
        <p:cxnSp>
          <p:nvCxnSpPr>
            <p:cNvPr id="916" name="Google Shape;916;p53"/>
            <p:cNvCxnSpPr/>
            <p:nvPr/>
          </p:nvCxnSpPr>
          <p:spPr>
            <a:xfrm>
              <a:off x="6227958" y="4002528"/>
              <a:ext cx="1071509" cy="0"/>
            </a:xfrm>
            <a:prstGeom prst="straightConnector1">
              <a:avLst/>
            </a:prstGeom>
            <a:noFill/>
            <a:ln cap="flat" cmpd="sng" w="9525">
              <a:solidFill>
                <a:schemeClr val="dk1"/>
              </a:solidFill>
              <a:prstDash val="solid"/>
              <a:round/>
              <a:headEnd len="med" w="med" type="none"/>
              <a:tailEnd len="med" w="med" type="none"/>
            </a:ln>
          </p:spPr>
        </p:cxnSp>
        <p:cxnSp>
          <p:nvCxnSpPr>
            <p:cNvPr id="917" name="Google Shape;917;p53"/>
            <p:cNvCxnSpPr/>
            <p:nvPr/>
          </p:nvCxnSpPr>
          <p:spPr>
            <a:xfrm>
              <a:off x="6227958" y="5408883"/>
              <a:ext cx="1138478" cy="0"/>
            </a:xfrm>
            <a:prstGeom prst="straightConnector1">
              <a:avLst/>
            </a:prstGeom>
            <a:noFill/>
            <a:ln cap="flat" cmpd="sng" w="9525">
              <a:solidFill>
                <a:schemeClr val="dk1"/>
              </a:solidFill>
              <a:prstDash val="solid"/>
              <a:round/>
              <a:headEnd len="med" w="med" type="none"/>
              <a:tailEnd len="med" w="med" type="none"/>
            </a:ln>
          </p:spPr>
        </p:cxnSp>
        <p:cxnSp>
          <p:nvCxnSpPr>
            <p:cNvPr id="918" name="Google Shape;918;p53"/>
            <p:cNvCxnSpPr/>
            <p:nvPr/>
          </p:nvCxnSpPr>
          <p:spPr>
            <a:xfrm>
              <a:off x="6227958" y="2395266"/>
              <a:ext cx="1071509" cy="0"/>
            </a:xfrm>
            <a:prstGeom prst="straightConnector1">
              <a:avLst/>
            </a:prstGeom>
            <a:noFill/>
            <a:ln cap="flat" cmpd="sng" w="9525">
              <a:solidFill>
                <a:schemeClr val="dk1"/>
              </a:solidFill>
              <a:prstDash val="solid"/>
              <a:round/>
              <a:headEnd len="med" w="med" type="none"/>
              <a:tailEnd len="med" w="med" type="none"/>
            </a:ln>
          </p:spPr>
        </p:cxnSp>
        <p:sp>
          <p:nvSpPr>
            <p:cNvPr id="919" name="Google Shape;919;p53"/>
            <p:cNvSpPr/>
            <p:nvPr/>
          </p:nvSpPr>
          <p:spPr>
            <a:xfrm>
              <a:off x="2678585" y="1859511"/>
              <a:ext cx="1272417" cy="602724"/>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date</a:t>
              </a:r>
              <a:endParaRPr/>
            </a:p>
          </p:txBody>
        </p:sp>
        <p:cxnSp>
          <p:nvCxnSpPr>
            <p:cNvPr id="920" name="Google Shape;920;p53"/>
            <p:cNvCxnSpPr/>
            <p:nvPr/>
          </p:nvCxnSpPr>
          <p:spPr>
            <a:xfrm flipH="1" rot="10800000">
              <a:off x="3013432" y="2462235"/>
              <a:ext cx="66969" cy="870601"/>
            </a:xfrm>
            <a:prstGeom prst="straightConnector1">
              <a:avLst/>
            </a:prstGeom>
            <a:noFill/>
            <a:ln cap="flat" cmpd="sng" w="9525">
              <a:solidFill>
                <a:schemeClr val="dk1"/>
              </a:solidFill>
              <a:prstDash val="solid"/>
              <a:round/>
              <a:headEnd len="med" w="med" type="none"/>
              <a:tailEnd len="med" w="med" type="none"/>
            </a:ln>
          </p:spPr>
        </p:cxnSp>
      </p:grpSp>
      <p:sp>
        <p:nvSpPr>
          <p:cNvPr id="921" name="Google Shape;921;p53"/>
          <p:cNvSpPr txBox="1"/>
          <p:nvPr/>
        </p:nvSpPr>
        <p:spPr>
          <a:xfrm>
            <a:off x="9753599" y="1792542"/>
            <a:ext cx="1945341"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From what we had on previous slide to this - what did we do?</a:t>
            </a:r>
            <a:endParaRPr/>
          </a:p>
        </p:txBody>
      </p:sp>
      <p:sp>
        <p:nvSpPr>
          <p:cNvPr id="922" name="Google Shape;922;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Decision: Relationship vs. Entity?</a:t>
            </a:r>
            <a:endParaRPr/>
          </a:p>
        </p:txBody>
      </p:sp>
      <p:sp>
        <p:nvSpPr>
          <p:cNvPr id="928" name="Google Shape;928;p54"/>
          <p:cNvSpPr txBox="1"/>
          <p:nvPr>
            <p:ph idx="1" type="body"/>
          </p:nvPr>
        </p:nvSpPr>
        <p:spPr>
          <a:xfrm>
            <a:off x="914400" y="1662438"/>
            <a:ext cx="10363200" cy="377017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Q: </a:t>
            </a:r>
            <a:r>
              <a:rPr lang="en-US"/>
              <a:t>What does this say?</a:t>
            </a:r>
            <a:endParaRPr/>
          </a:p>
          <a:p>
            <a:pPr indent="-50800" lvl="0" marL="228600" rtl="0" algn="l">
              <a:lnSpc>
                <a:spcPct val="90000"/>
              </a:lnSpc>
              <a:spcBef>
                <a:spcPts val="1000"/>
              </a:spcBef>
              <a:spcAft>
                <a:spcPts val="0"/>
              </a:spcAft>
              <a:buClr>
                <a:schemeClr val="dk1"/>
              </a:buClr>
              <a:buSzPts val="2800"/>
              <a:buNone/>
            </a:pPr>
            <a:r>
              <a:t/>
            </a:r>
            <a:endParaRPr b="1" i="1"/>
          </a:p>
          <a:p>
            <a:pPr indent="-50800" lvl="0" marL="228600" rtl="0" algn="l">
              <a:lnSpc>
                <a:spcPct val="90000"/>
              </a:lnSpc>
              <a:spcBef>
                <a:spcPts val="1000"/>
              </a:spcBef>
              <a:spcAft>
                <a:spcPts val="0"/>
              </a:spcAft>
              <a:buClr>
                <a:schemeClr val="dk1"/>
              </a:buClr>
              <a:buSzPts val="2800"/>
              <a:buNone/>
            </a:pPr>
            <a:r>
              <a:t/>
            </a:r>
            <a:endParaRPr b="1" i="1"/>
          </a:p>
          <a:p>
            <a:pPr indent="-50800" lvl="0" marL="228600" rtl="0" algn="l">
              <a:lnSpc>
                <a:spcPct val="90000"/>
              </a:lnSpc>
              <a:spcBef>
                <a:spcPts val="1000"/>
              </a:spcBef>
              <a:spcAft>
                <a:spcPts val="0"/>
              </a:spcAft>
              <a:buClr>
                <a:schemeClr val="dk1"/>
              </a:buClr>
              <a:buSzPts val="2800"/>
              <a:buNone/>
            </a:pPr>
            <a:r>
              <a:t/>
            </a:r>
            <a:endParaRPr b="1" i="1"/>
          </a:p>
          <a:p>
            <a:pPr indent="-50800" lvl="0" marL="228600" rtl="0" algn="l">
              <a:lnSpc>
                <a:spcPct val="90000"/>
              </a:lnSpc>
              <a:spcBef>
                <a:spcPts val="1000"/>
              </a:spcBef>
              <a:spcAft>
                <a:spcPts val="0"/>
              </a:spcAft>
              <a:buClr>
                <a:schemeClr val="dk1"/>
              </a:buClr>
              <a:buSzPts val="2800"/>
              <a:buNone/>
            </a:pPr>
            <a:r>
              <a:t/>
            </a:r>
            <a:endParaRPr b="1" i="1"/>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A: </a:t>
            </a:r>
            <a:r>
              <a:rPr lang="en-US"/>
              <a:t>A person can only buy a specific product once (on one date)</a:t>
            </a:r>
            <a:endParaRPr/>
          </a:p>
        </p:txBody>
      </p:sp>
      <p:grpSp>
        <p:nvGrpSpPr>
          <p:cNvPr id="929" name="Google Shape;929;p54"/>
          <p:cNvGrpSpPr/>
          <p:nvPr/>
        </p:nvGrpSpPr>
        <p:grpSpPr>
          <a:xfrm>
            <a:off x="2496456" y="2242207"/>
            <a:ext cx="5711435" cy="1791967"/>
            <a:chOff x="2496456" y="2242207"/>
            <a:chExt cx="5711435" cy="1791967"/>
          </a:xfrm>
        </p:grpSpPr>
        <p:sp>
          <p:nvSpPr>
            <p:cNvPr id="930" name="Google Shape;930;p54"/>
            <p:cNvSpPr/>
            <p:nvPr/>
          </p:nvSpPr>
          <p:spPr>
            <a:xfrm>
              <a:off x="5331664" y="3573387"/>
              <a:ext cx="1260093" cy="460787"/>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Purchased</a:t>
              </a:r>
              <a:endParaRPr/>
            </a:p>
          </p:txBody>
        </p:sp>
        <p:sp>
          <p:nvSpPr>
            <p:cNvPr id="931" name="Google Shape;931;p54"/>
            <p:cNvSpPr/>
            <p:nvPr/>
          </p:nvSpPr>
          <p:spPr>
            <a:xfrm>
              <a:off x="4019068" y="3624585"/>
              <a:ext cx="840062" cy="35839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Product</a:t>
              </a:r>
              <a:endParaRPr/>
            </a:p>
          </p:txBody>
        </p:sp>
        <p:sp>
          <p:nvSpPr>
            <p:cNvPr id="932" name="Google Shape;932;p54"/>
            <p:cNvSpPr/>
            <p:nvPr/>
          </p:nvSpPr>
          <p:spPr>
            <a:xfrm>
              <a:off x="3231510" y="2856607"/>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name</a:t>
              </a:r>
              <a:endParaRPr/>
            </a:p>
          </p:txBody>
        </p:sp>
        <p:sp>
          <p:nvSpPr>
            <p:cNvPr id="933" name="Google Shape;933;p54"/>
            <p:cNvSpPr/>
            <p:nvPr/>
          </p:nvSpPr>
          <p:spPr>
            <a:xfrm>
              <a:off x="4334091" y="2907806"/>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category</a:t>
              </a:r>
              <a:endParaRPr/>
            </a:p>
          </p:txBody>
        </p:sp>
        <p:sp>
          <p:nvSpPr>
            <p:cNvPr id="934" name="Google Shape;934;p54"/>
            <p:cNvSpPr/>
            <p:nvPr/>
          </p:nvSpPr>
          <p:spPr>
            <a:xfrm>
              <a:off x="2496456" y="3266195"/>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price</a:t>
              </a:r>
              <a:endParaRPr/>
            </a:p>
          </p:txBody>
        </p:sp>
        <p:cxnSp>
          <p:nvCxnSpPr>
            <p:cNvPr id="935" name="Google Shape;935;p54"/>
            <p:cNvCxnSpPr>
              <a:stCxn id="936" idx="5"/>
              <a:endCxn id="933" idx="1"/>
            </p:cNvCxnSpPr>
            <p:nvPr/>
          </p:nvCxnSpPr>
          <p:spPr>
            <a:xfrm>
              <a:off x="3809082" y="2830987"/>
              <a:ext cx="671100" cy="1443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936" name="Google Shape;936;p54"/>
            <p:cNvCxnSpPr>
              <a:stCxn id="934" idx="5"/>
              <a:endCxn id="933" idx="0"/>
            </p:cNvCxnSpPr>
            <p:nvPr/>
          </p:nvCxnSpPr>
          <p:spPr>
            <a:xfrm flipH="1" rot="10800000">
              <a:off x="3347938" y="2907701"/>
              <a:ext cx="1485000" cy="7518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937" name="Google Shape;937;p54"/>
            <p:cNvCxnSpPr>
              <a:stCxn id="935" idx="4"/>
              <a:endCxn id="933" idx="0"/>
            </p:cNvCxnSpPr>
            <p:nvPr/>
          </p:nvCxnSpPr>
          <p:spPr>
            <a:xfrm flipH="1">
              <a:off x="4832878" y="2651906"/>
              <a:ext cx="393900" cy="2559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938" name="Google Shape;938;p54"/>
            <p:cNvSpPr/>
            <p:nvPr/>
          </p:nvSpPr>
          <p:spPr>
            <a:xfrm>
              <a:off x="6869039" y="3673466"/>
              <a:ext cx="1180490" cy="346742"/>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Person</a:t>
              </a:r>
              <a:endParaRPr/>
            </a:p>
          </p:txBody>
        </p:sp>
        <p:sp>
          <p:nvSpPr>
            <p:cNvPr id="939" name="Google Shape;939;p54"/>
            <p:cNvSpPr/>
            <p:nvPr/>
          </p:nvSpPr>
          <p:spPr>
            <a:xfrm>
              <a:off x="7210318" y="2834333"/>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name</a:t>
              </a:r>
              <a:endParaRPr/>
            </a:p>
          </p:txBody>
        </p:sp>
        <p:cxnSp>
          <p:nvCxnSpPr>
            <p:cNvPr id="940" name="Google Shape;940;p54"/>
            <p:cNvCxnSpPr>
              <a:stCxn id="933" idx="3"/>
              <a:endCxn id="932" idx="1"/>
            </p:cNvCxnSpPr>
            <p:nvPr/>
          </p:nvCxnSpPr>
          <p:spPr>
            <a:xfrm rot="10800000">
              <a:off x="3377682" y="2924012"/>
              <a:ext cx="1102500" cy="3771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941" name="Google Shape;941;p54"/>
            <p:cNvSpPr/>
            <p:nvPr/>
          </p:nvSpPr>
          <p:spPr>
            <a:xfrm>
              <a:off x="5594184" y="2498217"/>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date</a:t>
              </a:r>
              <a:endParaRPr/>
            </a:p>
          </p:txBody>
        </p:sp>
        <p:cxnSp>
          <p:nvCxnSpPr>
            <p:cNvPr id="942" name="Google Shape;942;p54"/>
            <p:cNvCxnSpPr>
              <a:endCxn id="932" idx="0"/>
            </p:cNvCxnSpPr>
            <p:nvPr/>
          </p:nvCxnSpPr>
          <p:spPr>
            <a:xfrm flipH="1">
              <a:off x="3730296" y="2242207"/>
              <a:ext cx="131400" cy="6144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943" name="Google Shape;943;p54"/>
            <p:cNvCxnSpPr>
              <a:stCxn id="930" idx="3"/>
            </p:cNvCxnSpPr>
            <p:nvPr/>
          </p:nvCxnSpPr>
          <p:spPr>
            <a:xfrm>
              <a:off x="6591757" y="3803781"/>
              <a:ext cx="277200" cy="297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944" name="Google Shape;944;p54"/>
            <p:cNvCxnSpPr>
              <a:stCxn id="939" idx="4"/>
              <a:endCxn id="938" idx="0"/>
            </p:cNvCxnSpPr>
            <p:nvPr/>
          </p:nvCxnSpPr>
          <p:spPr>
            <a:xfrm flipH="1">
              <a:off x="7459205" y="3295120"/>
              <a:ext cx="249900" cy="3783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945" name="Google Shape;945;p54"/>
          <p:cNvSpPr txBox="1"/>
          <p:nvPr/>
        </p:nvSpPr>
        <p:spPr>
          <a:xfrm>
            <a:off x="1982421" y="5631496"/>
            <a:ext cx="8221097" cy="830997"/>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Modeling something as a relationship makes it unique; what if not appropriate?</a:t>
            </a:r>
            <a:endParaRPr/>
          </a:p>
        </p:txBody>
      </p:sp>
      <p:sp>
        <p:nvSpPr>
          <p:cNvPr id="946" name="Google Shape;946;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8">
                                            <p:txEl>
                                              <p:pRg end="6" st="6"/>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55"/>
          <p:cNvSpPr txBox="1"/>
          <p:nvPr>
            <p:ph type="title"/>
          </p:nvPr>
        </p:nvSpPr>
        <p:spPr>
          <a:xfrm>
            <a:off x="914400" y="-124576"/>
            <a:ext cx="103632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Decision: Multi-way or New Entity + Binary?</a:t>
            </a:r>
            <a:endParaRPr/>
          </a:p>
        </p:txBody>
      </p:sp>
      <p:sp>
        <p:nvSpPr>
          <p:cNvPr id="952" name="Google Shape;952;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953" name="Google Shape;953;p55"/>
          <p:cNvSpPr txBox="1"/>
          <p:nvPr/>
        </p:nvSpPr>
        <p:spPr>
          <a:xfrm>
            <a:off x="2269116" y="787592"/>
            <a:ext cx="342863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 Multi-way Relationship</a:t>
            </a:r>
            <a:endParaRPr/>
          </a:p>
        </p:txBody>
      </p:sp>
      <p:sp>
        <p:nvSpPr>
          <p:cNvPr id="954" name="Google Shape;954;p55"/>
          <p:cNvSpPr txBox="1"/>
          <p:nvPr/>
        </p:nvSpPr>
        <p:spPr>
          <a:xfrm>
            <a:off x="7127321" y="839731"/>
            <a:ext cx="238725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 Entity + Binary</a:t>
            </a:r>
            <a:endParaRPr/>
          </a:p>
        </p:txBody>
      </p:sp>
      <p:sp>
        <p:nvSpPr>
          <p:cNvPr id="955" name="Google Shape;955;p55"/>
          <p:cNvSpPr txBox="1"/>
          <p:nvPr/>
        </p:nvSpPr>
        <p:spPr>
          <a:xfrm>
            <a:off x="6204642" y="3732235"/>
            <a:ext cx="5606142" cy="92333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0000"/>
              </a:buClr>
              <a:buSzPts val="1800"/>
              <a:buFont typeface="Arial"/>
              <a:buChar char="•"/>
            </a:pPr>
            <a:r>
              <a:rPr i="1" lang="en-US" sz="1800">
                <a:solidFill>
                  <a:srgbClr val="000000"/>
                </a:solidFill>
                <a:latin typeface="Calibri"/>
                <a:ea typeface="Calibri"/>
                <a:cs typeface="Calibri"/>
                <a:sym typeface="Calibri"/>
              </a:rPr>
              <a:t>Covered earlier: </a:t>
            </a:r>
            <a:r>
              <a:rPr lang="en-US" sz="1800">
                <a:solidFill>
                  <a:srgbClr val="000000"/>
                </a:solidFill>
                <a:latin typeface="Calibri"/>
                <a:ea typeface="Calibri"/>
                <a:cs typeface="Calibri"/>
                <a:sym typeface="Calibri"/>
              </a:rPr>
              <a:t>(B) is useful if we want to have multiple instances of the “relationship” per entity combination </a:t>
            </a:r>
            <a:endParaRPr i="1" sz="1800">
              <a:solidFill>
                <a:srgbClr val="000000"/>
              </a:solidFill>
              <a:latin typeface="Calibri"/>
              <a:ea typeface="Calibri"/>
              <a:cs typeface="Calibri"/>
              <a:sym typeface="Calibri"/>
            </a:endParaRPr>
          </a:p>
        </p:txBody>
      </p:sp>
      <p:sp>
        <p:nvSpPr>
          <p:cNvPr id="956" name="Google Shape;956;p55"/>
          <p:cNvSpPr txBox="1"/>
          <p:nvPr/>
        </p:nvSpPr>
        <p:spPr>
          <a:xfrm>
            <a:off x="7407680" y="-24877"/>
            <a:ext cx="2688830" cy="1015663"/>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Multiple purchases per (product, store, person) combo possible here!</a:t>
            </a:r>
            <a:endParaRPr/>
          </a:p>
        </p:txBody>
      </p:sp>
      <p:grpSp>
        <p:nvGrpSpPr>
          <p:cNvPr id="957" name="Google Shape;957;p55"/>
          <p:cNvGrpSpPr/>
          <p:nvPr/>
        </p:nvGrpSpPr>
        <p:grpSpPr>
          <a:xfrm>
            <a:off x="6979642" y="1246484"/>
            <a:ext cx="4013199" cy="2269599"/>
            <a:chOff x="3050937" y="2355495"/>
            <a:chExt cx="7160554" cy="3701143"/>
          </a:xfrm>
        </p:grpSpPr>
        <p:sp>
          <p:nvSpPr>
            <p:cNvPr id="958" name="Google Shape;958;p55"/>
            <p:cNvSpPr/>
            <p:nvPr/>
          </p:nvSpPr>
          <p:spPr>
            <a:xfrm>
              <a:off x="3050937" y="4000446"/>
              <a:ext cx="1703701" cy="587483"/>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rgbClr val="000000"/>
                  </a:solidFill>
                  <a:latin typeface="Calibri"/>
                  <a:ea typeface="Calibri"/>
                  <a:cs typeface="Calibri"/>
                  <a:sym typeface="Calibri"/>
                </a:rPr>
                <a:t>Purchase</a:t>
              </a:r>
              <a:endParaRPr/>
            </a:p>
          </p:txBody>
        </p:sp>
        <p:sp>
          <p:nvSpPr>
            <p:cNvPr id="959" name="Google Shape;959;p55"/>
            <p:cNvSpPr/>
            <p:nvPr/>
          </p:nvSpPr>
          <p:spPr>
            <a:xfrm>
              <a:off x="8507790" y="5292910"/>
              <a:ext cx="1703701" cy="587483"/>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rgbClr val="000000"/>
                  </a:solidFill>
                  <a:latin typeface="Calibri"/>
                  <a:ea typeface="Calibri"/>
                  <a:cs typeface="Calibri"/>
                  <a:sym typeface="Calibri"/>
                </a:rPr>
                <a:t>Person</a:t>
              </a:r>
              <a:endParaRPr/>
            </a:p>
          </p:txBody>
        </p:sp>
        <p:sp>
          <p:nvSpPr>
            <p:cNvPr id="960" name="Google Shape;960;p55"/>
            <p:cNvSpPr/>
            <p:nvPr/>
          </p:nvSpPr>
          <p:spPr>
            <a:xfrm>
              <a:off x="8449042" y="4000447"/>
              <a:ext cx="1703701" cy="587483"/>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rgbClr val="000000"/>
                  </a:solidFill>
                  <a:latin typeface="Calibri"/>
                  <a:ea typeface="Calibri"/>
                  <a:cs typeface="Calibri"/>
                  <a:sym typeface="Calibri"/>
                </a:rPr>
                <a:t>Store</a:t>
              </a:r>
              <a:endParaRPr/>
            </a:p>
          </p:txBody>
        </p:sp>
        <p:sp>
          <p:nvSpPr>
            <p:cNvPr id="961" name="Google Shape;961;p55"/>
            <p:cNvSpPr/>
            <p:nvPr/>
          </p:nvSpPr>
          <p:spPr>
            <a:xfrm>
              <a:off x="8449042" y="2590488"/>
              <a:ext cx="1703701" cy="587483"/>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rgbClr val="000000"/>
                  </a:solidFill>
                  <a:latin typeface="Calibri"/>
                  <a:ea typeface="Calibri"/>
                  <a:cs typeface="Calibri"/>
                  <a:sym typeface="Calibri"/>
                </a:rPr>
                <a:t>Product</a:t>
              </a:r>
              <a:endParaRPr/>
            </a:p>
          </p:txBody>
        </p:sp>
        <p:sp>
          <p:nvSpPr>
            <p:cNvPr id="962" name="Google Shape;962;p55"/>
            <p:cNvSpPr/>
            <p:nvPr/>
          </p:nvSpPr>
          <p:spPr>
            <a:xfrm>
              <a:off x="6334103" y="3765454"/>
              <a:ext cx="1174966" cy="1057469"/>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rgbClr val="000000"/>
                  </a:solidFill>
                  <a:latin typeface="Calibri"/>
                  <a:ea typeface="Calibri"/>
                  <a:cs typeface="Calibri"/>
                  <a:sym typeface="Calibri"/>
                </a:rPr>
                <a:t>StoreOf</a:t>
              </a:r>
              <a:endParaRPr/>
            </a:p>
          </p:txBody>
        </p:sp>
        <p:sp>
          <p:nvSpPr>
            <p:cNvPr id="963" name="Google Shape;963;p55"/>
            <p:cNvSpPr/>
            <p:nvPr/>
          </p:nvSpPr>
          <p:spPr>
            <a:xfrm>
              <a:off x="6334103" y="2355495"/>
              <a:ext cx="1174966" cy="1057469"/>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rgbClr val="000000"/>
                  </a:solidFill>
                  <a:latin typeface="Calibri"/>
                  <a:ea typeface="Calibri"/>
                  <a:cs typeface="Calibri"/>
                  <a:sym typeface="Calibri"/>
                </a:rPr>
                <a:t>ProductOf</a:t>
              </a:r>
              <a:endParaRPr sz="800">
                <a:solidFill>
                  <a:srgbClr val="000000"/>
                </a:solidFill>
                <a:latin typeface="Calibri"/>
                <a:ea typeface="Calibri"/>
                <a:cs typeface="Calibri"/>
                <a:sym typeface="Calibri"/>
              </a:endParaRPr>
            </a:p>
          </p:txBody>
        </p:sp>
        <p:sp>
          <p:nvSpPr>
            <p:cNvPr id="964" name="Google Shape;964;p55"/>
            <p:cNvSpPr/>
            <p:nvPr/>
          </p:nvSpPr>
          <p:spPr>
            <a:xfrm>
              <a:off x="6334103" y="4999169"/>
              <a:ext cx="1174966" cy="1057469"/>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rgbClr val="000000"/>
                  </a:solidFill>
                  <a:latin typeface="Calibri"/>
                  <a:ea typeface="Calibri"/>
                  <a:cs typeface="Calibri"/>
                  <a:sym typeface="Calibri"/>
                </a:rPr>
                <a:t>BuyerOf</a:t>
              </a:r>
              <a:endParaRPr/>
            </a:p>
          </p:txBody>
        </p:sp>
        <p:cxnSp>
          <p:nvCxnSpPr>
            <p:cNvPr id="965" name="Google Shape;965;p55"/>
            <p:cNvCxnSpPr/>
            <p:nvPr/>
          </p:nvCxnSpPr>
          <p:spPr>
            <a:xfrm>
              <a:off x="7509069" y="4294189"/>
              <a:ext cx="939973" cy="0"/>
            </a:xfrm>
            <a:prstGeom prst="straightConnector1">
              <a:avLst/>
            </a:prstGeom>
            <a:noFill/>
            <a:ln cap="flat" cmpd="sng" w="9525">
              <a:solidFill>
                <a:schemeClr val="dk1"/>
              </a:solidFill>
              <a:prstDash val="solid"/>
              <a:round/>
              <a:headEnd len="med" w="med" type="none"/>
              <a:tailEnd len="med" w="med" type="none"/>
            </a:ln>
          </p:spPr>
        </p:cxnSp>
        <p:cxnSp>
          <p:nvCxnSpPr>
            <p:cNvPr id="966" name="Google Shape;966;p55"/>
            <p:cNvCxnSpPr/>
            <p:nvPr/>
          </p:nvCxnSpPr>
          <p:spPr>
            <a:xfrm>
              <a:off x="7509069" y="5527903"/>
              <a:ext cx="998721" cy="0"/>
            </a:xfrm>
            <a:prstGeom prst="straightConnector1">
              <a:avLst/>
            </a:prstGeom>
            <a:noFill/>
            <a:ln cap="flat" cmpd="sng" w="9525">
              <a:solidFill>
                <a:schemeClr val="dk1"/>
              </a:solidFill>
              <a:prstDash val="solid"/>
              <a:round/>
              <a:headEnd len="med" w="med" type="none"/>
              <a:tailEnd len="med" w="med" type="none"/>
            </a:ln>
          </p:spPr>
        </p:cxnSp>
        <p:cxnSp>
          <p:nvCxnSpPr>
            <p:cNvPr id="967" name="Google Shape;967;p55"/>
            <p:cNvCxnSpPr/>
            <p:nvPr/>
          </p:nvCxnSpPr>
          <p:spPr>
            <a:xfrm>
              <a:off x="7509069" y="2884230"/>
              <a:ext cx="939973" cy="0"/>
            </a:xfrm>
            <a:prstGeom prst="straightConnector1">
              <a:avLst/>
            </a:prstGeom>
            <a:noFill/>
            <a:ln cap="flat" cmpd="sng" w="9525">
              <a:solidFill>
                <a:schemeClr val="dk1"/>
              </a:solidFill>
              <a:prstDash val="solid"/>
              <a:round/>
              <a:headEnd len="med" w="med" type="none"/>
              <a:tailEnd len="med" w="med" type="none"/>
            </a:ln>
          </p:spPr>
        </p:cxnSp>
        <p:sp>
          <p:nvSpPr>
            <p:cNvPr id="968" name="Google Shape;968;p55"/>
            <p:cNvSpPr/>
            <p:nvPr/>
          </p:nvSpPr>
          <p:spPr>
            <a:xfrm>
              <a:off x="3439195" y="2942978"/>
              <a:ext cx="1116218" cy="528735"/>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rgbClr val="000000"/>
                  </a:solidFill>
                  <a:latin typeface="Calibri"/>
                  <a:ea typeface="Calibri"/>
                  <a:cs typeface="Calibri"/>
                  <a:sym typeface="Calibri"/>
                </a:rPr>
                <a:t>date</a:t>
              </a:r>
              <a:endParaRPr/>
            </a:p>
          </p:txBody>
        </p:sp>
        <p:cxnSp>
          <p:nvCxnSpPr>
            <p:cNvPr id="969" name="Google Shape;969;p55"/>
            <p:cNvCxnSpPr/>
            <p:nvPr/>
          </p:nvCxnSpPr>
          <p:spPr>
            <a:xfrm flipH="1" rot="10800000">
              <a:off x="3814665" y="3471712"/>
              <a:ext cx="180392" cy="528733"/>
            </a:xfrm>
            <a:prstGeom prst="straightConnector1">
              <a:avLst/>
            </a:prstGeom>
            <a:noFill/>
            <a:ln cap="flat" cmpd="sng" w="9525">
              <a:solidFill>
                <a:schemeClr val="dk1"/>
              </a:solidFill>
              <a:prstDash val="solid"/>
              <a:round/>
              <a:headEnd len="med" w="med" type="none"/>
              <a:tailEnd len="med" w="med" type="none"/>
            </a:ln>
          </p:spPr>
        </p:cxnSp>
        <p:cxnSp>
          <p:nvCxnSpPr>
            <p:cNvPr id="970" name="Google Shape;970;p55"/>
            <p:cNvCxnSpPr/>
            <p:nvPr/>
          </p:nvCxnSpPr>
          <p:spPr>
            <a:xfrm>
              <a:off x="4754638" y="4294188"/>
              <a:ext cx="1579465" cy="1"/>
            </a:xfrm>
            <a:prstGeom prst="straightConnector1">
              <a:avLst/>
            </a:prstGeom>
            <a:solidFill>
              <a:srgbClr val="C0C0C0">
                <a:alpha val="49803"/>
              </a:srgbClr>
            </a:solidFill>
            <a:ln cap="flat" cmpd="sng" w="9525">
              <a:solidFill>
                <a:schemeClr val="dk1"/>
              </a:solidFill>
              <a:prstDash val="solid"/>
              <a:round/>
              <a:headEnd len="sm" w="sm" type="none"/>
              <a:tailEnd len="med" w="med" type="triangle"/>
            </a:ln>
          </p:spPr>
        </p:cxnSp>
        <p:cxnSp>
          <p:nvCxnSpPr>
            <p:cNvPr id="971" name="Google Shape;971;p55"/>
            <p:cNvCxnSpPr/>
            <p:nvPr/>
          </p:nvCxnSpPr>
          <p:spPr>
            <a:xfrm flipH="1" rot="10800000">
              <a:off x="4754638" y="2884230"/>
              <a:ext cx="1579465" cy="1409958"/>
            </a:xfrm>
            <a:prstGeom prst="straightConnector1">
              <a:avLst/>
            </a:prstGeom>
            <a:solidFill>
              <a:srgbClr val="C0C0C0">
                <a:alpha val="49803"/>
              </a:srgbClr>
            </a:solidFill>
            <a:ln cap="flat" cmpd="sng" w="9525">
              <a:solidFill>
                <a:schemeClr val="dk1"/>
              </a:solidFill>
              <a:prstDash val="solid"/>
              <a:round/>
              <a:headEnd len="sm" w="sm" type="none"/>
              <a:tailEnd len="med" w="med" type="triangle"/>
            </a:ln>
          </p:spPr>
        </p:cxnSp>
        <p:cxnSp>
          <p:nvCxnSpPr>
            <p:cNvPr id="972" name="Google Shape;972;p55"/>
            <p:cNvCxnSpPr/>
            <p:nvPr/>
          </p:nvCxnSpPr>
          <p:spPr>
            <a:xfrm>
              <a:off x="4754638" y="4294188"/>
              <a:ext cx="1579465" cy="1233716"/>
            </a:xfrm>
            <a:prstGeom prst="straightConnector1">
              <a:avLst/>
            </a:prstGeom>
            <a:solidFill>
              <a:srgbClr val="C0C0C0">
                <a:alpha val="49803"/>
              </a:srgbClr>
            </a:solidFill>
            <a:ln cap="flat" cmpd="sng" w="9525">
              <a:solidFill>
                <a:schemeClr val="dk1"/>
              </a:solidFill>
              <a:prstDash val="solid"/>
              <a:round/>
              <a:headEnd len="sm" w="sm" type="none"/>
              <a:tailEnd len="med" w="med" type="triangle"/>
            </a:ln>
          </p:spPr>
        </p:cxnSp>
      </p:grpSp>
      <p:grpSp>
        <p:nvGrpSpPr>
          <p:cNvPr id="973" name="Google Shape;973;p55"/>
          <p:cNvGrpSpPr/>
          <p:nvPr/>
        </p:nvGrpSpPr>
        <p:grpSpPr>
          <a:xfrm>
            <a:off x="976511" y="994891"/>
            <a:ext cx="4266850" cy="2112277"/>
            <a:chOff x="3352801" y="2743200"/>
            <a:chExt cx="5791200" cy="2676525"/>
          </a:xfrm>
        </p:grpSpPr>
        <p:sp>
          <p:nvSpPr>
            <p:cNvPr id="974" name="Google Shape;974;p55"/>
            <p:cNvSpPr/>
            <p:nvPr/>
          </p:nvSpPr>
          <p:spPr>
            <a:xfrm>
              <a:off x="5538788" y="3343275"/>
              <a:ext cx="1092200" cy="98425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rgbClr val="000000"/>
                  </a:solidFill>
                  <a:latin typeface="Calibri"/>
                  <a:ea typeface="Calibri"/>
                  <a:cs typeface="Calibri"/>
                  <a:sym typeface="Calibri"/>
                </a:rPr>
                <a:t>Purchase</a:t>
              </a:r>
              <a:endParaRPr/>
            </a:p>
          </p:txBody>
        </p:sp>
        <p:sp>
          <p:nvSpPr>
            <p:cNvPr id="975" name="Google Shape;975;p55"/>
            <p:cNvSpPr/>
            <p:nvPr/>
          </p:nvSpPr>
          <p:spPr>
            <a:xfrm>
              <a:off x="3352801" y="2743200"/>
              <a:ext cx="1584325" cy="5461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00"/>
                  </a:solidFill>
                  <a:latin typeface="Calibri"/>
                  <a:ea typeface="Calibri"/>
                  <a:cs typeface="Calibri"/>
                  <a:sym typeface="Calibri"/>
                </a:rPr>
                <a:t>Product</a:t>
              </a:r>
              <a:endParaRPr/>
            </a:p>
          </p:txBody>
        </p:sp>
        <p:sp>
          <p:nvSpPr>
            <p:cNvPr id="976" name="Google Shape;976;p55"/>
            <p:cNvSpPr/>
            <p:nvPr/>
          </p:nvSpPr>
          <p:spPr>
            <a:xfrm>
              <a:off x="5265739" y="4873625"/>
              <a:ext cx="1584325" cy="5461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00"/>
                  </a:solidFill>
                  <a:latin typeface="Calibri"/>
                  <a:ea typeface="Calibri"/>
                  <a:cs typeface="Calibri"/>
                  <a:sym typeface="Calibri"/>
                </a:rPr>
                <a:t>Person</a:t>
              </a:r>
              <a:endParaRPr/>
            </a:p>
          </p:txBody>
        </p:sp>
        <p:sp>
          <p:nvSpPr>
            <p:cNvPr id="977" name="Google Shape;977;p55"/>
            <p:cNvSpPr/>
            <p:nvPr/>
          </p:nvSpPr>
          <p:spPr>
            <a:xfrm>
              <a:off x="7559676" y="3562350"/>
              <a:ext cx="1584325" cy="5461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00"/>
                  </a:solidFill>
                  <a:latin typeface="Calibri"/>
                  <a:ea typeface="Calibri"/>
                  <a:cs typeface="Calibri"/>
                  <a:sym typeface="Calibri"/>
                </a:rPr>
                <a:t>Store</a:t>
              </a:r>
              <a:endParaRPr/>
            </a:p>
          </p:txBody>
        </p:sp>
        <p:cxnSp>
          <p:nvCxnSpPr>
            <p:cNvPr id="978" name="Google Shape;978;p55"/>
            <p:cNvCxnSpPr/>
            <p:nvPr/>
          </p:nvCxnSpPr>
          <p:spPr>
            <a:xfrm>
              <a:off x="6630989" y="3835400"/>
              <a:ext cx="928687" cy="0"/>
            </a:xfrm>
            <a:prstGeom prst="straightConnector1">
              <a:avLst/>
            </a:prstGeom>
            <a:noFill/>
            <a:ln cap="flat" cmpd="sng" w="9525">
              <a:solidFill>
                <a:schemeClr val="dk1"/>
              </a:solidFill>
              <a:prstDash val="solid"/>
              <a:round/>
              <a:headEnd len="med" w="med" type="none"/>
              <a:tailEnd len="sm" w="sm" type="none"/>
            </a:ln>
          </p:spPr>
        </p:cxnSp>
        <p:cxnSp>
          <p:nvCxnSpPr>
            <p:cNvPr id="979" name="Google Shape;979;p55"/>
            <p:cNvCxnSpPr/>
            <p:nvPr/>
          </p:nvCxnSpPr>
          <p:spPr>
            <a:xfrm>
              <a:off x="6084888" y="4327525"/>
              <a:ext cx="0" cy="546100"/>
            </a:xfrm>
            <a:prstGeom prst="straightConnector1">
              <a:avLst/>
            </a:prstGeom>
            <a:noFill/>
            <a:ln cap="flat" cmpd="sng" w="9525">
              <a:solidFill>
                <a:schemeClr val="dk1"/>
              </a:solidFill>
              <a:prstDash val="solid"/>
              <a:round/>
              <a:headEnd len="med" w="med" type="none"/>
              <a:tailEnd len="med" w="med" type="none"/>
            </a:ln>
          </p:spPr>
        </p:cxnSp>
        <p:cxnSp>
          <p:nvCxnSpPr>
            <p:cNvPr id="980" name="Google Shape;980;p55"/>
            <p:cNvCxnSpPr/>
            <p:nvPr/>
          </p:nvCxnSpPr>
          <p:spPr>
            <a:xfrm>
              <a:off x="4937126" y="3289300"/>
              <a:ext cx="601663" cy="546100"/>
            </a:xfrm>
            <a:prstGeom prst="straightConnector1">
              <a:avLst/>
            </a:prstGeom>
            <a:noFill/>
            <a:ln cap="flat" cmpd="sng" w="9525">
              <a:solidFill>
                <a:schemeClr val="dk1"/>
              </a:solidFill>
              <a:prstDash val="solid"/>
              <a:round/>
              <a:headEnd len="med" w="med" type="none"/>
              <a:tailEnd len="med" w="med" type="none"/>
            </a:ln>
          </p:spPr>
        </p:cxnSp>
      </p:grpSp>
      <p:sp>
        <p:nvSpPr>
          <p:cNvPr id="981" name="Google Shape;981;p55"/>
          <p:cNvSpPr txBox="1"/>
          <p:nvPr/>
        </p:nvSpPr>
        <p:spPr>
          <a:xfrm>
            <a:off x="6252875" y="4970458"/>
            <a:ext cx="5606143" cy="1477328"/>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0000"/>
              </a:buClr>
              <a:buSzPts val="1800"/>
              <a:buFont typeface="Arial"/>
              <a:buChar char="•"/>
            </a:pPr>
            <a:r>
              <a:rPr lang="en-US" sz="1800">
                <a:solidFill>
                  <a:srgbClr val="000000"/>
                </a:solidFill>
                <a:latin typeface="Calibri"/>
                <a:ea typeface="Calibri"/>
                <a:cs typeface="Calibri"/>
                <a:sym typeface="Calibri"/>
              </a:rPr>
              <a:t>(B) is also useful when we want to add details (constraints or attributes) to the relationship</a:t>
            </a:r>
            <a:endParaRPr/>
          </a:p>
          <a:p>
            <a:pPr indent="-457200" lvl="1" marL="914400" marR="0" rtl="0" algn="l">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“A person who shops in only one store”</a:t>
            </a:r>
            <a:endParaRPr/>
          </a:p>
          <a:p>
            <a:pPr indent="-457200" lvl="1" marL="914400" marR="0" rtl="0" algn="l">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“How long a person has been shopping at a store”</a:t>
            </a:r>
            <a:endParaRPr/>
          </a:p>
        </p:txBody>
      </p:sp>
      <p:sp>
        <p:nvSpPr>
          <p:cNvPr id="982" name="Google Shape;982;p55"/>
          <p:cNvSpPr txBox="1"/>
          <p:nvPr/>
        </p:nvSpPr>
        <p:spPr>
          <a:xfrm>
            <a:off x="1041148" y="3924117"/>
            <a:ext cx="4065007" cy="92333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0000"/>
              </a:buClr>
              <a:buSzPts val="1800"/>
              <a:buFont typeface="Arial"/>
              <a:buChar char="•"/>
            </a:pPr>
            <a:r>
              <a:rPr lang="en-US" sz="1800">
                <a:solidFill>
                  <a:srgbClr val="000000"/>
                </a:solidFill>
                <a:latin typeface="Calibri"/>
                <a:ea typeface="Calibri"/>
                <a:cs typeface="Calibri"/>
                <a:sym typeface="Calibri"/>
              </a:rPr>
              <a:t>(A) is useful when a relationship really is between multiple entities</a:t>
            </a:r>
            <a:endParaRPr/>
          </a:p>
          <a:p>
            <a:pPr indent="-457200" lvl="1" marL="914400" marR="0" rtl="0" algn="l">
              <a:spcBef>
                <a:spcPts val="0"/>
              </a:spcBef>
              <a:spcAft>
                <a:spcPts val="0"/>
              </a:spcAft>
              <a:buNone/>
            </a:pPr>
            <a:r>
              <a:rPr b="0" i="1" lang="en-US" sz="1800" u="none" cap="none" strike="noStrike">
                <a:solidFill>
                  <a:srgbClr val="000000"/>
                </a:solidFill>
                <a:latin typeface="Calibri"/>
                <a:ea typeface="Calibri"/>
                <a:cs typeface="Calibri"/>
                <a:sym typeface="Calibri"/>
              </a:rPr>
              <a:t>- 	Ex: A three-party legal contract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56"/>
          <p:cNvSpPr txBox="1"/>
          <p:nvPr>
            <p:ph type="title"/>
          </p:nvPr>
        </p:nvSpPr>
        <p:spPr>
          <a:xfrm>
            <a:off x="723900" y="254000"/>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3. Design Principles</a:t>
            </a:r>
            <a:endParaRPr/>
          </a:p>
        </p:txBody>
      </p:sp>
      <p:sp>
        <p:nvSpPr>
          <p:cNvPr id="989" name="Google Shape;989;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grpSp>
        <p:nvGrpSpPr>
          <p:cNvPr id="990" name="Google Shape;990;p56"/>
          <p:cNvGrpSpPr/>
          <p:nvPr/>
        </p:nvGrpSpPr>
        <p:grpSpPr>
          <a:xfrm>
            <a:off x="1676400" y="2667000"/>
            <a:ext cx="8305800" cy="1371600"/>
            <a:chOff x="1676400" y="2667000"/>
            <a:chExt cx="8305800" cy="1371600"/>
          </a:xfrm>
        </p:grpSpPr>
        <p:sp>
          <p:nvSpPr>
            <p:cNvPr id="991" name="Google Shape;991;p56"/>
            <p:cNvSpPr/>
            <p:nvPr/>
          </p:nvSpPr>
          <p:spPr>
            <a:xfrm>
              <a:off x="4953000" y="2667000"/>
              <a:ext cx="1524000" cy="13716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Purchase</a:t>
              </a:r>
              <a:endParaRPr/>
            </a:p>
          </p:txBody>
        </p:sp>
        <p:sp>
          <p:nvSpPr>
            <p:cNvPr id="992" name="Google Shape;992;p56"/>
            <p:cNvSpPr/>
            <p:nvPr/>
          </p:nvSpPr>
          <p:spPr>
            <a:xfrm>
              <a:off x="1676400" y="2971800"/>
              <a:ext cx="22098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993" name="Google Shape;993;p56"/>
            <p:cNvSpPr/>
            <p:nvPr/>
          </p:nvSpPr>
          <p:spPr>
            <a:xfrm>
              <a:off x="7772400" y="2971800"/>
              <a:ext cx="22098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a:t>
              </a:r>
              <a:endParaRPr/>
            </a:p>
          </p:txBody>
        </p:sp>
        <p:cxnSp>
          <p:nvCxnSpPr>
            <p:cNvPr id="994" name="Google Shape;994;p56"/>
            <p:cNvCxnSpPr/>
            <p:nvPr/>
          </p:nvCxnSpPr>
          <p:spPr>
            <a:xfrm rot="10800000">
              <a:off x="3886199" y="3352800"/>
              <a:ext cx="1088575" cy="0"/>
            </a:xfrm>
            <a:prstGeom prst="straightConnector1">
              <a:avLst/>
            </a:prstGeom>
            <a:noFill/>
            <a:ln cap="flat" cmpd="sng" w="9525">
              <a:solidFill>
                <a:schemeClr val="dk1"/>
              </a:solidFill>
              <a:prstDash val="solid"/>
              <a:round/>
              <a:headEnd len="med" w="med" type="none"/>
              <a:tailEnd len="sm" w="sm" type="none"/>
            </a:ln>
          </p:spPr>
        </p:cxnSp>
        <p:cxnSp>
          <p:nvCxnSpPr>
            <p:cNvPr id="995" name="Google Shape;995;p56"/>
            <p:cNvCxnSpPr/>
            <p:nvPr/>
          </p:nvCxnSpPr>
          <p:spPr>
            <a:xfrm>
              <a:off x="6498774" y="3352800"/>
              <a:ext cx="1273625" cy="0"/>
            </a:xfrm>
            <a:prstGeom prst="straightConnector1">
              <a:avLst/>
            </a:prstGeom>
            <a:noFill/>
            <a:ln cap="flat" cmpd="sng" w="9525">
              <a:solidFill>
                <a:schemeClr val="dk1"/>
              </a:solidFill>
              <a:prstDash val="solid"/>
              <a:round/>
              <a:headEnd len="lg" w="lg" type="triangle"/>
              <a:tailEnd len="sm" w="sm" type="none"/>
            </a:ln>
          </p:spPr>
        </p:cxnSp>
      </p:grpSp>
      <p:sp>
        <p:nvSpPr>
          <p:cNvPr id="996" name="Google Shape;996;p56"/>
          <p:cNvSpPr txBox="1"/>
          <p:nvPr/>
        </p:nvSpPr>
        <p:spPr>
          <a:xfrm>
            <a:off x="1099457" y="1600200"/>
            <a:ext cx="4627742" cy="461665"/>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What’s wrong with these examples?</a:t>
            </a:r>
            <a:endParaRPr/>
          </a:p>
        </p:txBody>
      </p:sp>
      <p:grpSp>
        <p:nvGrpSpPr>
          <p:cNvPr id="997" name="Google Shape;997;p56"/>
          <p:cNvGrpSpPr/>
          <p:nvPr/>
        </p:nvGrpSpPr>
        <p:grpSpPr>
          <a:xfrm>
            <a:off x="1676400" y="4800600"/>
            <a:ext cx="8305800" cy="1371600"/>
            <a:chOff x="1676400" y="4800600"/>
            <a:chExt cx="8305800" cy="1371600"/>
          </a:xfrm>
        </p:grpSpPr>
        <p:sp>
          <p:nvSpPr>
            <p:cNvPr id="998" name="Google Shape;998;p56"/>
            <p:cNvSpPr/>
            <p:nvPr/>
          </p:nvSpPr>
          <p:spPr>
            <a:xfrm>
              <a:off x="4953000" y="4800600"/>
              <a:ext cx="1524000" cy="13716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President</a:t>
              </a:r>
              <a:endParaRPr/>
            </a:p>
          </p:txBody>
        </p:sp>
        <p:sp>
          <p:nvSpPr>
            <p:cNvPr id="999" name="Google Shape;999;p56"/>
            <p:cNvSpPr/>
            <p:nvPr/>
          </p:nvSpPr>
          <p:spPr>
            <a:xfrm>
              <a:off x="7772400" y="5181600"/>
              <a:ext cx="22098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a:t>
              </a:r>
              <a:endParaRPr/>
            </a:p>
          </p:txBody>
        </p:sp>
        <p:sp>
          <p:nvSpPr>
            <p:cNvPr id="1000" name="Google Shape;1000;p56"/>
            <p:cNvSpPr/>
            <p:nvPr/>
          </p:nvSpPr>
          <p:spPr>
            <a:xfrm>
              <a:off x="1676400" y="5181600"/>
              <a:ext cx="22098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Country</a:t>
              </a:r>
              <a:endParaRPr/>
            </a:p>
          </p:txBody>
        </p:sp>
        <p:cxnSp>
          <p:nvCxnSpPr>
            <p:cNvPr id="1001" name="Google Shape;1001;p56"/>
            <p:cNvCxnSpPr/>
            <p:nvPr/>
          </p:nvCxnSpPr>
          <p:spPr>
            <a:xfrm>
              <a:off x="6477000" y="5486400"/>
              <a:ext cx="1295400" cy="0"/>
            </a:xfrm>
            <a:prstGeom prst="straightConnector1">
              <a:avLst/>
            </a:prstGeom>
            <a:noFill/>
            <a:ln cap="flat" cmpd="sng" w="9525">
              <a:solidFill>
                <a:schemeClr val="dk1"/>
              </a:solidFill>
              <a:prstDash val="solid"/>
              <a:round/>
              <a:headEnd len="med" w="med" type="none"/>
              <a:tailEnd len="med" w="med" type="none"/>
            </a:ln>
          </p:spPr>
        </p:cxnSp>
        <p:cxnSp>
          <p:nvCxnSpPr>
            <p:cNvPr id="1002" name="Google Shape;1002;p56"/>
            <p:cNvCxnSpPr/>
            <p:nvPr/>
          </p:nvCxnSpPr>
          <p:spPr>
            <a:xfrm rot="10800000">
              <a:off x="3886200" y="5486400"/>
              <a:ext cx="10668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Design Principles:</a:t>
            </a:r>
            <a:br>
              <a:rPr lang="en-US"/>
            </a:br>
            <a:r>
              <a:rPr lang="en-US"/>
              <a:t>What’s Wrong?</a:t>
            </a:r>
            <a:endParaRPr/>
          </a:p>
        </p:txBody>
      </p:sp>
      <p:sp>
        <p:nvSpPr>
          <p:cNvPr id="1009" name="Google Shape;1009;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1010" name="Google Shape;1010;p57"/>
          <p:cNvSpPr/>
          <p:nvPr/>
        </p:nvSpPr>
        <p:spPr>
          <a:xfrm>
            <a:off x="5266765" y="3261519"/>
            <a:ext cx="1524000" cy="13716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Purchase</a:t>
            </a:r>
            <a:endParaRPr/>
          </a:p>
        </p:txBody>
      </p:sp>
      <p:sp>
        <p:nvSpPr>
          <p:cNvPr id="1011" name="Google Shape;1011;p57"/>
          <p:cNvSpPr/>
          <p:nvPr/>
        </p:nvSpPr>
        <p:spPr>
          <a:xfrm>
            <a:off x="2218765" y="2423319"/>
            <a:ext cx="22098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1012" name="Google Shape;1012;p57"/>
          <p:cNvSpPr/>
          <p:nvPr/>
        </p:nvSpPr>
        <p:spPr>
          <a:xfrm>
            <a:off x="8086165" y="3566319"/>
            <a:ext cx="22098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Store</a:t>
            </a:r>
            <a:endParaRPr/>
          </a:p>
        </p:txBody>
      </p:sp>
      <p:cxnSp>
        <p:nvCxnSpPr>
          <p:cNvPr id="1013" name="Google Shape;1013;p57"/>
          <p:cNvCxnSpPr/>
          <p:nvPr/>
        </p:nvCxnSpPr>
        <p:spPr>
          <a:xfrm>
            <a:off x="6790765" y="3947319"/>
            <a:ext cx="1295400" cy="0"/>
          </a:xfrm>
          <a:prstGeom prst="straightConnector1">
            <a:avLst/>
          </a:prstGeom>
          <a:noFill/>
          <a:ln cap="flat" cmpd="sng" w="9525">
            <a:solidFill>
              <a:schemeClr val="dk1"/>
            </a:solidFill>
            <a:prstDash val="solid"/>
            <a:round/>
            <a:headEnd len="med" w="med" type="none"/>
            <a:tailEnd len="med" w="med" type="none"/>
          </a:ln>
        </p:spPr>
      </p:cxnSp>
      <p:sp>
        <p:nvSpPr>
          <p:cNvPr id="1014" name="Google Shape;1014;p57"/>
          <p:cNvSpPr/>
          <p:nvPr/>
        </p:nvSpPr>
        <p:spPr>
          <a:xfrm>
            <a:off x="6943165" y="1966119"/>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date</a:t>
            </a:r>
            <a:endParaRPr/>
          </a:p>
        </p:txBody>
      </p:sp>
      <p:cxnSp>
        <p:nvCxnSpPr>
          <p:cNvPr id="1015" name="Google Shape;1015;p57"/>
          <p:cNvCxnSpPr/>
          <p:nvPr/>
        </p:nvCxnSpPr>
        <p:spPr>
          <a:xfrm flipH="1" rot="10800000">
            <a:off x="6028765" y="2499519"/>
            <a:ext cx="1066800" cy="762000"/>
          </a:xfrm>
          <a:prstGeom prst="straightConnector1">
            <a:avLst/>
          </a:prstGeom>
          <a:noFill/>
          <a:ln cap="flat" cmpd="sng" w="9525">
            <a:solidFill>
              <a:schemeClr val="dk1"/>
            </a:solidFill>
            <a:prstDash val="solid"/>
            <a:round/>
            <a:headEnd len="med" w="med" type="none"/>
            <a:tailEnd len="med" w="med" type="none"/>
          </a:ln>
        </p:spPr>
      </p:cxnSp>
      <p:sp>
        <p:nvSpPr>
          <p:cNvPr id="1016" name="Google Shape;1016;p57"/>
          <p:cNvSpPr/>
          <p:nvPr/>
        </p:nvSpPr>
        <p:spPr>
          <a:xfrm>
            <a:off x="5800165" y="5395119"/>
            <a:ext cx="1828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personName</a:t>
            </a:r>
            <a:endParaRPr/>
          </a:p>
        </p:txBody>
      </p:sp>
      <p:cxnSp>
        <p:nvCxnSpPr>
          <p:cNvPr id="1017" name="Google Shape;1017;p57"/>
          <p:cNvCxnSpPr/>
          <p:nvPr/>
        </p:nvCxnSpPr>
        <p:spPr>
          <a:xfrm>
            <a:off x="6028765" y="4633119"/>
            <a:ext cx="609600" cy="762000"/>
          </a:xfrm>
          <a:prstGeom prst="straightConnector1">
            <a:avLst/>
          </a:prstGeom>
          <a:noFill/>
          <a:ln cap="flat" cmpd="sng" w="9525">
            <a:solidFill>
              <a:schemeClr val="dk1"/>
            </a:solidFill>
            <a:prstDash val="solid"/>
            <a:round/>
            <a:headEnd len="med" w="med" type="none"/>
            <a:tailEnd len="med" w="med" type="none"/>
          </a:ln>
        </p:spPr>
      </p:cxnSp>
      <p:cxnSp>
        <p:nvCxnSpPr>
          <p:cNvPr id="1018" name="Google Shape;1018;p57"/>
          <p:cNvCxnSpPr/>
          <p:nvPr/>
        </p:nvCxnSpPr>
        <p:spPr>
          <a:xfrm>
            <a:off x="4428565" y="3185319"/>
            <a:ext cx="838200" cy="762000"/>
          </a:xfrm>
          <a:prstGeom prst="straightConnector1">
            <a:avLst/>
          </a:prstGeom>
          <a:noFill/>
          <a:ln cap="flat" cmpd="sng" w="9525">
            <a:solidFill>
              <a:schemeClr val="dk1"/>
            </a:solidFill>
            <a:prstDash val="solid"/>
            <a:round/>
            <a:headEnd len="med" w="med" type="none"/>
            <a:tailEnd len="med" w="med" type="none"/>
          </a:ln>
        </p:spPr>
      </p:cxnSp>
      <p:sp>
        <p:nvSpPr>
          <p:cNvPr id="1019" name="Google Shape;1019;p57"/>
          <p:cNvSpPr/>
          <p:nvPr/>
        </p:nvSpPr>
        <p:spPr>
          <a:xfrm>
            <a:off x="3590365" y="5090319"/>
            <a:ext cx="1752600" cy="9906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personAddr</a:t>
            </a:r>
            <a:endParaRPr/>
          </a:p>
        </p:txBody>
      </p:sp>
      <p:cxnSp>
        <p:nvCxnSpPr>
          <p:cNvPr id="1020" name="Google Shape;1020;p57"/>
          <p:cNvCxnSpPr/>
          <p:nvPr/>
        </p:nvCxnSpPr>
        <p:spPr>
          <a:xfrm flipH="1">
            <a:off x="4352365" y="4633119"/>
            <a:ext cx="1676400" cy="4572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Design Principles:</a:t>
            </a:r>
            <a:br>
              <a:rPr lang="en-US"/>
            </a:br>
            <a:r>
              <a:rPr lang="en-US"/>
              <a:t>What’s Wrong?</a:t>
            </a:r>
            <a:endParaRPr/>
          </a:p>
        </p:txBody>
      </p:sp>
      <p:sp>
        <p:nvSpPr>
          <p:cNvPr id="1027" name="Google Shape;1027;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1028" name="Google Shape;1028;p58"/>
          <p:cNvSpPr/>
          <p:nvPr/>
        </p:nvSpPr>
        <p:spPr>
          <a:xfrm>
            <a:off x="4823012" y="3413499"/>
            <a:ext cx="1524000" cy="13716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Purchase</a:t>
            </a:r>
            <a:endParaRPr/>
          </a:p>
        </p:txBody>
      </p:sp>
      <p:sp>
        <p:nvSpPr>
          <p:cNvPr id="1029" name="Google Shape;1029;p58"/>
          <p:cNvSpPr/>
          <p:nvPr/>
        </p:nvSpPr>
        <p:spPr>
          <a:xfrm>
            <a:off x="1775012" y="2575299"/>
            <a:ext cx="22098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1030" name="Google Shape;1030;p58"/>
          <p:cNvSpPr/>
          <p:nvPr/>
        </p:nvSpPr>
        <p:spPr>
          <a:xfrm>
            <a:off x="4442012" y="5547099"/>
            <a:ext cx="22098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a:t>
            </a:r>
            <a:endParaRPr/>
          </a:p>
        </p:txBody>
      </p:sp>
      <p:sp>
        <p:nvSpPr>
          <p:cNvPr id="1031" name="Google Shape;1031;p58"/>
          <p:cNvSpPr/>
          <p:nvPr/>
        </p:nvSpPr>
        <p:spPr>
          <a:xfrm>
            <a:off x="7642412" y="3718299"/>
            <a:ext cx="22098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Store</a:t>
            </a:r>
            <a:endParaRPr/>
          </a:p>
        </p:txBody>
      </p:sp>
      <p:cxnSp>
        <p:nvCxnSpPr>
          <p:cNvPr id="1032" name="Google Shape;1032;p58"/>
          <p:cNvCxnSpPr/>
          <p:nvPr/>
        </p:nvCxnSpPr>
        <p:spPr>
          <a:xfrm>
            <a:off x="6347012" y="4099299"/>
            <a:ext cx="1295400" cy="0"/>
          </a:xfrm>
          <a:prstGeom prst="straightConnector1">
            <a:avLst/>
          </a:prstGeom>
          <a:noFill/>
          <a:ln cap="flat" cmpd="sng" w="9525">
            <a:solidFill>
              <a:schemeClr val="dk1"/>
            </a:solidFill>
            <a:prstDash val="solid"/>
            <a:round/>
            <a:headEnd len="med" w="med" type="none"/>
            <a:tailEnd len="med" w="med" type="none"/>
          </a:ln>
        </p:spPr>
      </p:cxnSp>
      <p:cxnSp>
        <p:nvCxnSpPr>
          <p:cNvPr id="1033" name="Google Shape;1033;p58"/>
          <p:cNvCxnSpPr/>
          <p:nvPr/>
        </p:nvCxnSpPr>
        <p:spPr>
          <a:xfrm>
            <a:off x="5585012" y="4785099"/>
            <a:ext cx="0" cy="762000"/>
          </a:xfrm>
          <a:prstGeom prst="straightConnector1">
            <a:avLst/>
          </a:prstGeom>
          <a:noFill/>
          <a:ln cap="flat" cmpd="sng" w="9525">
            <a:solidFill>
              <a:schemeClr val="dk1"/>
            </a:solidFill>
            <a:prstDash val="solid"/>
            <a:round/>
            <a:headEnd len="med" w="med" type="none"/>
            <a:tailEnd len="med" w="med" type="none"/>
          </a:ln>
        </p:spPr>
      </p:cxnSp>
      <p:sp>
        <p:nvSpPr>
          <p:cNvPr id="1034" name="Google Shape;1034;p58"/>
          <p:cNvSpPr/>
          <p:nvPr/>
        </p:nvSpPr>
        <p:spPr>
          <a:xfrm>
            <a:off x="8937812" y="1813299"/>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date</a:t>
            </a:r>
            <a:endParaRPr/>
          </a:p>
        </p:txBody>
      </p:sp>
      <p:cxnSp>
        <p:nvCxnSpPr>
          <p:cNvPr id="1035" name="Google Shape;1035;p58"/>
          <p:cNvCxnSpPr/>
          <p:nvPr/>
        </p:nvCxnSpPr>
        <p:spPr>
          <a:xfrm flipH="1" rot="10800000">
            <a:off x="5585012" y="2651499"/>
            <a:ext cx="1066800" cy="762000"/>
          </a:xfrm>
          <a:prstGeom prst="straightConnector1">
            <a:avLst/>
          </a:prstGeom>
          <a:noFill/>
          <a:ln cap="flat" cmpd="sng" w="9525">
            <a:solidFill>
              <a:schemeClr val="dk1"/>
            </a:solidFill>
            <a:prstDash val="solid"/>
            <a:round/>
            <a:headEnd len="med" w="med" type="none"/>
            <a:tailEnd len="med" w="med" type="none"/>
          </a:ln>
        </p:spPr>
      </p:cxnSp>
      <p:sp>
        <p:nvSpPr>
          <p:cNvPr id="1036" name="Google Shape;1036;p58"/>
          <p:cNvSpPr/>
          <p:nvPr/>
        </p:nvSpPr>
        <p:spPr>
          <a:xfrm>
            <a:off x="5661212" y="1889499"/>
            <a:ext cx="22098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Dates</a:t>
            </a:r>
            <a:endParaRPr/>
          </a:p>
        </p:txBody>
      </p:sp>
      <p:cxnSp>
        <p:nvCxnSpPr>
          <p:cNvPr id="1037" name="Google Shape;1037;p58"/>
          <p:cNvCxnSpPr/>
          <p:nvPr/>
        </p:nvCxnSpPr>
        <p:spPr>
          <a:xfrm flipH="1" rot="10800000">
            <a:off x="7871012" y="2194299"/>
            <a:ext cx="1066800" cy="76200"/>
          </a:xfrm>
          <a:prstGeom prst="straightConnector1">
            <a:avLst/>
          </a:prstGeom>
          <a:noFill/>
          <a:ln cap="flat" cmpd="sng" w="9525">
            <a:solidFill>
              <a:schemeClr val="dk1"/>
            </a:solidFill>
            <a:prstDash val="solid"/>
            <a:round/>
            <a:headEnd len="med" w="med" type="none"/>
            <a:tailEnd len="med" w="med" type="none"/>
          </a:ln>
        </p:spPr>
      </p:cxnSp>
      <p:cxnSp>
        <p:nvCxnSpPr>
          <p:cNvPr id="1038" name="Google Shape;1038;p58"/>
          <p:cNvCxnSpPr/>
          <p:nvPr/>
        </p:nvCxnSpPr>
        <p:spPr>
          <a:xfrm>
            <a:off x="3984812" y="3337299"/>
            <a:ext cx="838200" cy="7620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Examples: Entity vs. Attribute</a:t>
            </a:r>
            <a:endParaRPr/>
          </a:p>
        </p:txBody>
      </p:sp>
      <p:sp>
        <p:nvSpPr>
          <p:cNvPr id="1045" name="Google Shape;1045;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1046" name="Google Shape;1046;p59"/>
          <p:cNvSpPr txBox="1"/>
          <p:nvPr/>
        </p:nvSpPr>
        <p:spPr>
          <a:xfrm>
            <a:off x="1107141" y="1835533"/>
            <a:ext cx="3101788"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Should address (A) be an attribute?</a:t>
            </a:r>
            <a:endParaRPr/>
          </a:p>
        </p:txBody>
      </p:sp>
      <p:grpSp>
        <p:nvGrpSpPr>
          <p:cNvPr id="1047" name="Google Shape;1047;p59"/>
          <p:cNvGrpSpPr/>
          <p:nvPr/>
        </p:nvGrpSpPr>
        <p:grpSpPr>
          <a:xfrm>
            <a:off x="838200" y="3223600"/>
            <a:ext cx="4056068" cy="2102820"/>
            <a:chOff x="-95765" y="637150"/>
            <a:chExt cx="3091543" cy="1602773"/>
          </a:xfrm>
        </p:grpSpPr>
        <p:sp>
          <p:nvSpPr>
            <p:cNvPr id="1048" name="Google Shape;1048;p59"/>
            <p:cNvSpPr/>
            <p:nvPr/>
          </p:nvSpPr>
          <p:spPr>
            <a:xfrm>
              <a:off x="530164" y="1634170"/>
              <a:ext cx="1643743" cy="605753"/>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Employee</a:t>
              </a:r>
              <a:endParaRPr/>
            </a:p>
          </p:txBody>
        </p:sp>
        <p:sp>
          <p:nvSpPr>
            <p:cNvPr id="1049" name="Google Shape;1049;p59"/>
            <p:cNvSpPr/>
            <p:nvPr/>
          </p:nvSpPr>
          <p:spPr>
            <a:xfrm>
              <a:off x="-95765" y="63715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Addr 1</a:t>
              </a:r>
              <a:endParaRPr/>
            </a:p>
          </p:txBody>
        </p:sp>
        <p:sp>
          <p:nvSpPr>
            <p:cNvPr id="1050" name="Google Shape;1050;p59"/>
            <p:cNvSpPr/>
            <p:nvPr/>
          </p:nvSpPr>
          <p:spPr>
            <a:xfrm>
              <a:off x="1547978" y="656398"/>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Addr 2</a:t>
              </a:r>
              <a:endParaRPr/>
            </a:p>
          </p:txBody>
        </p:sp>
      </p:grpSp>
      <p:cxnSp>
        <p:nvCxnSpPr>
          <p:cNvPr id="1051" name="Google Shape;1051;p59"/>
          <p:cNvCxnSpPr>
            <a:stCxn id="1048" idx="0"/>
            <a:endCxn id="1050" idx="4"/>
          </p:cNvCxnSpPr>
          <p:nvPr/>
        </p:nvCxnSpPr>
        <p:spPr>
          <a:xfrm flipH="1" rot="10800000">
            <a:off x="2737697" y="4148579"/>
            <a:ext cx="1206900" cy="3831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052" name="Google Shape;1052;p59"/>
          <p:cNvCxnSpPr>
            <a:stCxn id="1048" idx="0"/>
            <a:endCxn id="1049" idx="4"/>
          </p:cNvCxnSpPr>
          <p:nvPr/>
        </p:nvCxnSpPr>
        <p:spPr>
          <a:xfrm rot="10800000">
            <a:off x="1787897" y="4123379"/>
            <a:ext cx="949800" cy="4083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nvGrpSpPr>
          <p:cNvPr id="1053" name="Google Shape;1053;p59"/>
          <p:cNvGrpSpPr/>
          <p:nvPr/>
        </p:nvGrpSpPr>
        <p:grpSpPr>
          <a:xfrm>
            <a:off x="7064188" y="3165280"/>
            <a:ext cx="3468401" cy="2455591"/>
            <a:chOff x="10017003" y="907211"/>
            <a:chExt cx="1989879" cy="2297843"/>
          </a:xfrm>
        </p:grpSpPr>
        <p:sp>
          <p:nvSpPr>
            <p:cNvPr id="1054" name="Google Shape;1054;p59"/>
            <p:cNvSpPr/>
            <p:nvPr/>
          </p:nvSpPr>
          <p:spPr>
            <a:xfrm>
              <a:off x="10419884" y="1548946"/>
              <a:ext cx="1057999" cy="389894"/>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Address</a:t>
              </a:r>
              <a:endParaRPr/>
            </a:p>
          </p:txBody>
        </p:sp>
        <p:sp>
          <p:nvSpPr>
            <p:cNvPr id="1055" name="Google Shape;1055;p59"/>
            <p:cNvSpPr/>
            <p:nvPr/>
          </p:nvSpPr>
          <p:spPr>
            <a:xfrm>
              <a:off x="10017003" y="907211"/>
              <a:ext cx="931880" cy="44141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Street Addr</a:t>
              </a:r>
              <a:endParaRPr sz="1200">
                <a:solidFill>
                  <a:srgbClr val="000000"/>
                </a:solidFill>
                <a:latin typeface="Calibri"/>
                <a:ea typeface="Calibri"/>
                <a:cs typeface="Calibri"/>
                <a:sym typeface="Calibri"/>
              </a:endParaRPr>
            </a:p>
          </p:txBody>
        </p:sp>
        <p:sp>
          <p:nvSpPr>
            <p:cNvPr id="1056" name="Google Shape;1056;p59"/>
            <p:cNvSpPr/>
            <p:nvPr/>
          </p:nvSpPr>
          <p:spPr>
            <a:xfrm>
              <a:off x="11075002" y="919600"/>
              <a:ext cx="931880" cy="44141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ZIP</a:t>
              </a:r>
              <a:endParaRPr/>
            </a:p>
          </p:txBody>
        </p:sp>
        <p:sp>
          <p:nvSpPr>
            <p:cNvPr id="1057" name="Google Shape;1057;p59"/>
            <p:cNvSpPr/>
            <p:nvPr/>
          </p:nvSpPr>
          <p:spPr>
            <a:xfrm>
              <a:off x="10419884" y="2815160"/>
              <a:ext cx="1057999" cy="389894"/>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Employee</a:t>
              </a:r>
              <a:endParaRPr/>
            </a:p>
          </p:txBody>
        </p:sp>
        <p:cxnSp>
          <p:nvCxnSpPr>
            <p:cNvPr id="1058" name="Google Shape;1058;p59"/>
            <p:cNvCxnSpPr>
              <a:stCxn id="1055" idx="4"/>
              <a:endCxn id="1054" idx="0"/>
            </p:cNvCxnSpPr>
            <p:nvPr/>
          </p:nvCxnSpPr>
          <p:spPr>
            <a:xfrm>
              <a:off x="10482943" y="1348628"/>
              <a:ext cx="465900" cy="2004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059" name="Google Shape;1059;p59"/>
            <p:cNvCxnSpPr>
              <a:stCxn id="1054" idx="0"/>
              <a:endCxn id="1056" idx="4"/>
            </p:cNvCxnSpPr>
            <p:nvPr/>
          </p:nvCxnSpPr>
          <p:spPr>
            <a:xfrm flipH="1" rot="10800000">
              <a:off x="10948884" y="1361146"/>
              <a:ext cx="592200" cy="1878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1060" name="Google Shape;1060;p59"/>
            <p:cNvSpPr/>
            <p:nvPr/>
          </p:nvSpPr>
          <p:spPr>
            <a:xfrm>
              <a:off x="10532750" y="2178146"/>
              <a:ext cx="832266" cy="392488"/>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AddrOf</a:t>
              </a:r>
              <a:endParaRPr sz="1200">
                <a:solidFill>
                  <a:srgbClr val="000000"/>
                </a:solidFill>
                <a:latin typeface="Calibri"/>
                <a:ea typeface="Calibri"/>
                <a:cs typeface="Calibri"/>
                <a:sym typeface="Calibri"/>
              </a:endParaRPr>
            </a:p>
          </p:txBody>
        </p:sp>
        <p:cxnSp>
          <p:nvCxnSpPr>
            <p:cNvPr id="1061" name="Google Shape;1061;p59"/>
            <p:cNvCxnSpPr>
              <a:stCxn id="1054" idx="2"/>
              <a:endCxn id="1060" idx="0"/>
            </p:cNvCxnSpPr>
            <p:nvPr/>
          </p:nvCxnSpPr>
          <p:spPr>
            <a:xfrm>
              <a:off x="10948884" y="1938840"/>
              <a:ext cx="0" cy="239400"/>
            </a:xfrm>
            <a:prstGeom prst="straightConnector1">
              <a:avLst/>
            </a:prstGeom>
            <a:solidFill>
              <a:srgbClr val="C0C0C0">
                <a:alpha val="49803"/>
              </a:srgbClr>
            </a:solidFill>
            <a:ln cap="flat" cmpd="sng" w="9525">
              <a:solidFill>
                <a:schemeClr val="dk1"/>
              </a:solidFill>
              <a:prstDash val="solid"/>
              <a:round/>
              <a:headEnd len="sm" w="sm" type="none"/>
              <a:tailEnd len="med" w="med" type="triangle"/>
            </a:ln>
          </p:spPr>
        </p:cxnSp>
        <p:cxnSp>
          <p:nvCxnSpPr>
            <p:cNvPr id="1062" name="Google Shape;1062;p59"/>
            <p:cNvCxnSpPr>
              <a:stCxn id="1060" idx="2"/>
              <a:endCxn id="1057" idx="0"/>
            </p:cNvCxnSpPr>
            <p:nvPr/>
          </p:nvCxnSpPr>
          <p:spPr>
            <a:xfrm>
              <a:off x="10948883" y="2570634"/>
              <a:ext cx="0" cy="244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1063" name="Google Shape;1063;p59"/>
          <p:cNvSpPr txBox="1"/>
          <p:nvPr/>
        </p:nvSpPr>
        <p:spPr>
          <a:xfrm>
            <a:off x="7357409" y="1904758"/>
            <a:ext cx="310178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Or (B) be an entity?</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Examples: Entity vs. Attribute</a:t>
            </a:r>
            <a:endParaRPr/>
          </a:p>
        </p:txBody>
      </p:sp>
      <p:sp>
        <p:nvSpPr>
          <p:cNvPr id="1069" name="Google Shape;1069;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1070" name="Google Shape;1070;p60"/>
          <p:cNvSpPr txBox="1"/>
          <p:nvPr/>
        </p:nvSpPr>
        <p:spPr>
          <a:xfrm>
            <a:off x="1107141" y="1835533"/>
            <a:ext cx="3101788"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Should address (A) be an attribute?</a:t>
            </a:r>
            <a:endParaRPr/>
          </a:p>
        </p:txBody>
      </p:sp>
      <p:grpSp>
        <p:nvGrpSpPr>
          <p:cNvPr id="1071" name="Google Shape;1071;p60"/>
          <p:cNvGrpSpPr/>
          <p:nvPr/>
        </p:nvGrpSpPr>
        <p:grpSpPr>
          <a:xfrm>
            <a:off x="838200" y="3223600"/>
            <a:ext cx="4056068" cy="2102820"/>
            <a:chOff x="-95765" y="637150"/>
            <a:chExt cx="3091543" cy="1602773"/>
          </a:xfrm>
        </p:grpSpPr>
        <p:sp>
          <p:nvSpPr>
            <p:cNvPr id="1072" name="Google Shape;1072;p60"/>
            <p:cNvSpPr/>
            <p:nvPr/>
          </p:nvSpPr>
          <p:spPr>
            <a:xfrm>
              <a:off x="530164" y="1634170"/>
              <a:ext cx="1643743" cy="605753"/>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Employee</a:t>
              </a:r>
              <a:endParaRPr/>
            </a:p>
          </p:txBody>
        </p:sp>
        <p:sp>
          <p:nvSpPr>
            <p:cNvPr id="1073" name="Google Shape;1073;p60"/>
            <p:cNvSpPr/>
            <p:nvPr/>
          </p:nvSpPr>
          <p:spPr>
            <a:xfrm>
              <a:off x="-95765" y="63715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Addr 1</a:t>
              </a:r>
              <a:endParaRPr/>
            </a:p>
          </p:txBody>
        </p:sp>
        <p:sp>
          <p:nvSpPr>
            <p:cNvPr id="1074" name="Google Shape;1074;p60"/>
            <p:cNvSpPr/>
            <p:nvPr/>
          </p:nvSpPr>
          <p:spPr>
            <a:xfrm>
              <a:off x="1547978" y="656398"/>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Addr 2</a:t>
              </a:r>
              <a:endParaRPr/>
            </a:p>
          </p:txBody>
        </p:sp>
      </p:grpSp>
      <p:cxnSp>
        <p:nvCxnSpPr>
          <p:cNvPr id="1075" name="Google Shape;1075;p60"/>
          <p:cNvCxnSpPr>
            <a:stCxn id="1072" idx="0"/>
            <a:endCxn id="1074" idx="4"/>
          </p:cNvCxnSpPr>
          <p:nvPr/>
        </p:nvCxnSpPr>
        <p:spPr>
          <a:xfrm flipH="1" rot="10800000">
            <a:off x="2737697" y="4148579"/>
            <a:ext cx="1206900" cy="3831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076" name="Google Shape;1076;p60"/>
          <p:cNvCxnSpPr>
            <a:stCxn id="1072" idx="0"/>
            <a:endCxn id="1073" idx="4"/>
          </p:cNvCxnSpPr>
          <p:nvPr/>
        </p:nvCxnSpPr>
        <p:spPr>
          <a:xfrm rot="10800000">
            <a:off x="1787897" y="4123379"/>
            <a:ext cx="949800" cy="4083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1077" name="Google Shape;1077;p60"/>
          <p:cNvSpPr txBox="1"/>
          <p:nvPr/>
        </p:nvSpPr>
        <p:spPr>
          <a:xfrm>
            <a:off x="6271745" y="1835533"/>
            <a:ext cx="4677709" cy="35394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How do we handle employees with multiple addresses here?</a:t>
            </a:r>
            <a:endParaRPr/>
          </a:p>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a:p>
            <a:pPr indent="0" lvl="0" marL="0" marR="0" rtl="0" algn="l">
              <a:spcBef>
                <a:spcPts val="0"/>
              </a:spcBef>
              <a:spcAft>
                <a:spcPts val="0"/>
              </a:spcAft>
              <a:buNone/>
            </a:pPr>
            <a:r>
              <a:rPr lang="en-US" sz="2800">
                <a:solidFill>
                  <a:srgbClr val="000000"/>
                </a:solidFill>
                <a:latin typeface="Calibri"/>
                <a:ea typeface="Calibri"/>
                <a:cs typeface="Calibri"/>
                <a:sym typeface="Calibri"/>
              </a:rPr>
              <a:t>How do we handle addresses where internal structure of the address (e.g. zip code, state) is useful?</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Examples: Entity vs. Attribute</a:t>
            </a:r>
            <a:endParaRPr/>
          </a:p>
        </p:txBody>
      </p:sp>
      <p:sp>
        <p:nvSpPr>
          <p:cNvPr id="1083" name="Google Shape;1083;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grpSp>
        <p:nvGrpSpPr>
          <p:cNvPr id="1084" name="Google Shape;1084;p61"/>
          <p:cNvGrpSpPr/>
          <p:nvPr/>
        </p:nvGrpSpPr>
        <p:grpSpPr>
          <a:xfrm>
            <a:off x="7064188" y="2789640"/>
            <a:ext cx="3468401" cy="2455591"/>
            <a:chOff x="10017003" y="907211"/>
            <a:chExt cx="1989879" cy="2297843"/>
          </a:xfrm>
        </p:grpSpPr>
        <p:sp>
          <p:nvSpPr>
            <p:cNvPr id="1085" name="Google Shape;1085;p61"/>
            <p:cNvSpPr/>
            <p:nvPr/>
          </p:nvSpPr>
          <p:spPr>
            <a:xfrm>
              <a:off x="10419884" y="1548946"/>
              <a:ext cx="1057999" cy="389894"/>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Address</a:t>
              </a:r>
              <a:endParaRPr/>
            </a:p>
          </p:txBody>
        </p:sp>
        <p:sp>
          <p:nvSpPr>
            <p:cNvPr id="1086" name="Google Shape;1086;p61"/>
            <p:cNvSpPr/>
            <p:nvPr/>
          </p:nvSpPr>
          <p:spPr>
            <a:xfrm>
              <a:off x="10017003" y="907211"/>
              <a:ext cx="931880" cy="44141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Street Addr</a:t>
              </a:r>
              <a:endParaRPr sz="1200">
                <a:solidFill>
                  <a:srgbClr val="000000"/>
                </a:solidFill>
                <a:latin typeface="Calibri"/>
                <a:ea typeface="Calibri"/>
                <a:cs typeface="Calibri"/>
                <a:sym typeface="Calibri"/>
              </a:endParaRPr>
            </a:p>
          </p:txBody>
        </p:sp>
        <p:sp>
          <p:nvSpPr>
            <p:cNvPr id="1087" name="Google Shape;1087;p61"/>
            <p:cNvSpPr/>
            <p:nvPr/>
          </p:nvSpPr>
          <p:spPr>
            <a:xfrm>
              <a:off x="11075002" y="919600"/>
              <a:ext cx="931880" cy="44141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ZIP</a:t>
              </a:r>
              <a:endParaRPr/>
            </a:p>
          </p:txBody>
        </p:sp>
        <p:sp>
          <p:nvSpPr>
            <p:cNvPr id="1088" name="Google Shape;1088;p61"/>
            <p:cNvSpPr/>
            <p:nvPr/>
          </p:nvSpPr>
          <p:spPr>
            <a:xfrm>
              <a:off x="10419884" y="2815160"/>
              <a:ext cx="1057999" cy="389894"/>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Employee</a:t>
              </a:r>
              <a:endParaRPr/>
            </a:p>
          </p:txBody>
        </p:sp>
        <p:cxnSp>
          <p:nvCxnSpPr>
            <p:cNvPr id="1089" name="Google Shape;1089;p61"/>
            <p:cNvCxnSpPr>
              <a:stCxn id="1086" idx="4"/>
              <a:endCxn id="1085" idx="0"/>
            </p:cNvCxnSpPr>
            <p:nvPr/>
          </p:nvCxnSpPr>
          <p:spPr>
            <a:xfrm>
              <a:off x="10482943" y="1348628"/>
              <a:ext cx="465900" cy="2004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090" name="Google Shape;1090;p61"/>
            <p:cNvCxnSpPr>
              <a:stCxn id="1085" idx="0"/>
              <a:endCxn id="1087" idx="4"/>
            </p:cNvCxnSpPr>
            <p:nvPr/>
          </p:nvCxnSpPr>
          <p:spPr>
            <a:xfrm flipH="1" rot="10800000">
              <a:off x="10948884" y="1361146"/>
              <a:ext cx="592200" cy="1878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1091" name="Google Shape;1091;p61"/>
            <p:cNvSpPr/>
            <p:nvPr/>
          </p:nvSpPr>
          <p:spPr>
            <a:xfrm>
              <a:off x="10532750" y="2178146"/>
              <a:ext cx="832266" cy="392488"/>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AddrOf</a:t>
              </a:r>
              <a:endParaRPr sz="1200">
                <a:solidFill>
                  <a:srgbClr val="000000"/>
                </a:solidFill>
                <a:latin typeface="Calibri"/>
                <a:ea typeface="Calibri"/>
                <a:cs typeface="Calibri"/>
                <a:sym typeface="Calibri"/>
              </a:endParaRPr>
            </a:p>
          </p:txBody>
        </p:sp>
        <p:cxnSp>
          <p:nvCxnSpPr>
            <p:cNvPr id="1092" name="Google Shape;1092;p61"/>
            <p:cNvCxnSpPr>
              <a:stCxn id="1085" idx="2"/>
              <a:endCxn id="1091" idx="0"/>
            </p:cNvCxnSpPr>
            <p:nvPr/>
          </p:nvCxnSpPr>
          <p:spPr>
            <a:xfrm>
              <a:off x="10948884" y="1938840"/>
              <a:ext cx="0" cy="239400"/>
            </a:xfrm>
            <a:prstGeom prst="straightConnector1">
              <a:avLst/>
            </a:prstGeom>
            <a:solidFill>
              <a:srgbClr val="C0C0C0">
                <a:alpha val="49803"/>
              </a:srgbClr>
            </a:solidFill>
            <a:ln cap="flat" cmpd="sng" w="9525">
              <a:solidFill>
                <a:schemeClr val="dk1"/>
              </a:solidFill>
              <a:prstDash val="solid"/>
              <a:round/>
              <a:headEnd len="sm" w="sm" type="none"/>
              <a:tailEnd len="med" w="med" type="triangle"/>
            </a:ln>
          </p:spPr>
        </p:cxnSp>
        <p:cxnSp>
          <p:nvCxnSpPr>
            <p:cNvPr id="1093" name="Google Shape;1093;p61"/>
            <p:cNvCxnSpPr>
              <a:stCxn id="1091" idx="2"/>
              <a:endCxn id="1088" idx="0"/>
            </p:cNvCxnSpPr>
            <p:nvPr/>
          </p:nvCxnSpPr>
          <p:spPr>
            <a:xfrm>
              <a:off x="10948883" y="2570634"/>
              <a:ext cx="0" cy="244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1094" name="Google Shape;1094;p61"/>
          <p:cNvSpPr txBox="1"/>
          <p:nvPr/>
        </p:nvSpPr>
        <p:spPr>
          <a:xfrm>
            <a:off x="7357409" y="1529118"/>
            <a:ext cx="310178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Or (B) be an entity?</a:t>
            </a:r>
            <a:endParaRPr/>
          </a:p>
        </p:txBody>
      </p:sp>
      <p:sp>
        <p:nvSpPr>
          <p:cNvPr id="1095" name="Google Shape;1095;p61"/>
          <p:cNvSpPr txBox="1"/>
          <p:nvPr/>
        </p:nvSpPr>
        <p:spPr>
          <a:xfrm>
            <a:off x="2712502" y="5781088"/>
            <a:ext cx="6766996" cy="830997"/>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In general, when we want to record several values, we choose new entity</a:t>
            </a:r>
            <a:endParaRPr/>
          </a:p>
        </p:txBody>
      </p:sp>
      <p:sp>
        <p:nvSpPr>
          <p:cNvPr id="1096" name="Google Shape;1096;p61"/>
          <p:cNvSpPr txBox="1"/>
          <p:nvPr/>
        </p:nvSpPr>
        <p:spPr>
          <a:xfrm>
            <a:off x="1107141" y="1835533"/>
            <a:ext cx="3101788"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Should address (A) be an attribute?</a:t>
            </a:r>
            <a:endParaRPr/>
          </a:p>
        </p:txBody>
      </p:sp>
      <p:grpSp>
        <p:nvGrpSpPr>
          <p:cNvPr id="1097" name="Google Shape;1097;p61"/>
          <p:cNvGrpSpPr/>
          <p:nvPr/>
        </p:nvGrpSpPr>
        <p:grpSpPr>
          <a:xfrm>
            <a:off x="838200" y="3223600"/>
            <a:ext cx="4056068" cy="2102820"/>
            <a:chOff x="-95765" y="637150"/>
            <a:chExt cx="3091543" cy="1602773"/>
          </a:xfrm>
        </p:grpSpPr>
        <p:sp>
          <p:nvSpPr>
            <p:cNvPr id="1098" name="Google Shape;1098;p61"/>
            <p:cNvSpPr/>
            <p:nvPr/>
          </p:nvSpPr>
          <p:spPr>
            <a:xfrm>
              <a:off x="530164" y="1634170"/>
              <a:ext cx="1643743" cy="605753"/>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Employee</a:t>
              </a:r>
              <a:endParaRPr/>
            </a:p>
          </p:txBody>
        </p:sp>
        <p:sp>
          <p:nvSpPr>
            <p:cNvPr id="1099" name="Google Shape;1099;p61"/>
            <p:cNvSpPr/>
            <p:nvPr/>
          </p:nvSpPr>
          <p:spPr>
            <a:xfrm>
              <a:off x="-95765" y="637150"/>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Addr 1</a:t>
              </a:r>
              <a:endParaRPr/>
            </a:p>
          </p:txBody>
        </p:sp>
        <p:sp>
          <p:nvSpPr>
            <p:cNvPr id="1100" name="Google Shape;1100;p61"/>
            <p:cNvSpPr/>
            <p:nvPr/>
          </p:nvSpPr>
          <p:spPr>
            <a:xfrm>
              <a:off x="1547978" y="656398"/>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Addr 2</a:t>
              </a:r>
              <a:endParaRPr/>
            </a:p>
          </p:txBody>
        </p:sp>
      </p:grpSp>
      <p:cxnSp>
        <p:nvCxnSpPr>
          <p:cNvPr id="1101" name="Google Shape;1101;p61"/>
          <p:cNvCxnSpPr/>
          <p:nvPr/>
        </p:nvCxnSpPr>
        <p:spPr>
          <a:xfrm flipH="1" rot="10800000">
            <a:off x="2737697" y="4148615"/>
            <a:ext cx="1206823" cy="383064"/>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102" name="Google Shape;1102;p61"/>
          <p:cNvCxnSpPr/>
          <p:nvPr/>
        </p:nvCxnSpPr>
        <p:spPr>
          <a:xfrm rot="10800000">
            <a:off x="1787949" y="4123362"/>
            <a:ext cx="949748" cy="408317"/>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6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ACTIVITY: E/R Diagrams</a:t>
            </a:r>
            <a:endParaRPr/>
          </a:p>
        </p:txBody>
      </p:sp>
      <p:sp>
        <p:nvSpPr>
          <p:cNvPr id="1108" name="Google Shape;1108;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63"/>
          <p:cNvSpPr txBox="1"/>
          <p:nvPr/>
        </p:nvSpPr>
        <p:spPr>
          <a:xfrm>
            <a:off x="2176214" y="4178299"/>
            <a:ext cx="1452245" cy="1901803"/>
          </a:xfrm>
          <a:prstGeom prst="rect">
            <a:avLst/>
          </a:prstGeom>
          <a:noFill/>
          <a:ln>
            <a:noFill/>
          </a:ln>
        </p:spPr>
        <p:txBody>
          <a:bodyPr anchorCtr="0" anchor="t" bIns="0" lIns="0" spcFirstLastPara="1" rIns="0" wrap="square" tIns="16500">
            <a:spAutoFit/>
          </a:bodyPr>
          <a:lstStyle/>
          <a:p>
            <a:pPr indent="0" lvl="0" marL="12700" marR="5080" rtl="0" algn="l">
              <a:spcBef>
                <a:spcPts val="0"/>
              </a:spcBef>
              <a:spcAft>
                <a:spcPts val="0"/>
              </a:spcAft>
              <a:buNone/>
            </a:pPr>
            <a:r>
              <a:rPr b="1" lang="en-US" sz="1500" u="sng">
                <a:solidFill>
                  <a:schemeClr val="dk1"/>
                </a:solidFill>
                <a:latin typeface="Calibri"/>
                <a:ea typeface="Calibri"/>
                <a:cs typeface="Calibri"/>
                <a:sym typeface="Calibri"/>
              </a:rPr>
              <a:t>Teams</a:t>
            </a:r>
            <a:r>
              <a:rPr b="1" lang="en-US" sz="1500">
                <a:solidFill>
                  <a:schemeClr val="dk1"/>
                </a:solidFill>
                <a:latin typeface="Calibri"/>
                <a:ea typeface="Calibri"/>
                <a:cs typeface="Calibri"/>
                <a:sym typeface="Calibri"/>
              </a:rPr>
              <a:t> </a:t>
            </a:r>
            <a:r>
              <a:rPr lang="en-US" sz="1500">
                <a:solidFill>
                  <a:schemeClr val="dk1"/>
                </a:solidFill>
                <a:latin typeface="Calibri"/>
                <a:ea typeface="Calibri"/>
                <a:cs typeface="Calibri"/>
                <a:sym typeface="Calibri"/>
              </a:rPr>
              <a:t>play each  other in </a:t>
            </a:r>
            <a:r>
              <a:rPr b="1" lang="en-US" sz="1500" u="sng">
                <a:solidFill>
                  <a:schemeClr val="dk1"/>
                </a:solidFill>
                <a:latin typeface="Calibri"/>
                <a:ea typeface="Calibri"/>
                <a:cs typeface="Calibri"/>
                <a:sym typeface="Calibri"/>
              </a:rPr>
              <a:t>Games</a:t>
            </a: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a:p>
            <a:pPr indent="0" lvl="0" marL="12700" marR="5080" rtl="0" algn="l">
              <a:spcBef>
                <a:spcPts val="130"/>
              </a:spcBef>
              <a:spcAft>
                <a:spcPts val="0"/>
              </a:spcAft>
              <a:buNone/>
            </a:pPr>
            <a:r>
              <a:t/>
            </a:r>
            <a:endParaRPr sz="1500">
              <a:solidFill>
                <a:schemeClr val="dk1"/>
              </a:solidFill>
              <a:latin typeface="Calibri"/>
              <a:ea typeface="Calibri"/>
              <a:cs typeface="Calibri"/>
              <a:sym typeface="Calibri"/>
            </a:endParaRPr>
          </a:p>
          <a:p>
            <a:pPr indent="0" lvl="0" marL="12700" marR="5080" rtl="0" algn="l">
              <a:spcBef>
                <a:spcPts val="130"/>
              </a:spcBef>
              <a:spcAft>
                <a:spcPts val="0"/>
              </a:spcAft>
              <a:buNone/>
            </a:pPr>
            <a:r>
              <a:t/>
            </a:r>
            <a:endParaRPr sz="1500">
              <a:solidFill>
                <a:schemeClr val="dk1"/>
              </a:solidFill>
              <a:latin typeface="Calibri"/>
              <a:ea typeface="Calibri"/>
              <a:cs typeface="Calibri"/>
              <a:sym typeface="Calibri"/>
            </a:endParaRPr>
          </a:p>
          <a:p>
            <a:pPr indent="0" lvl="0" marL="12700" marR="5080" rtl="0" algn="l">
              <a:spcBef>
                <a:spcPts val="130"/>
              </a:spcBef>
              <a:spcAft>
                <a:spcPts val="0"/>
              </a:spcAft>
              <a:buNone/>
            </a:pPr>
            <a:r>
              <a:rPr lang="en-US" sz="1500">
                <a:solidFill>
                  <a:schemeClr val="dk1"/>
                </a:solidFill>
                <a:latin typeface="Calibri"/>
                <a:ea typeface="Calibri"/>
                <a:cs typeface="Calibri"/>
                <a:sym typeface="Calibri"/>
              </a:rPr>
              <a:t>Each pair of teams  can play each  other multiple  times</a:t>
            </a:r>
            <a:endParaRPr/>
          </a:p>
        </p:txBody>
      </p:sp>
      <p:sp>
        <p:nvSpPr>
          <p:cNvPr id="1114" name="Google Shape;1114;p63"/>
          <p:cNvSpPr txBox="1"/>
          <p:nvPr/>
        </p:nvSpPr>
        <p:spPr>
          <a:xfrm>
            <a:off x="4120126" y="4178299"/>
            <a:ext cx="1161415" cy="487680"/>
          </a:xfrm>
          <a:prstGeom prst="rect">
            <a:avLst/>
          </a:prstGeom>
          <a:noFill/>
          <a:ln>
            <a:noFill/>
          </a:ln>
        </p:spPr>
        <p:txBody>
          <a:bodyPr anchorCtr="0" anchor="t" bIns="0" lIns="0" spcFirstLastPara="1" rIns="0" wrap="square" tIns="16500">
            <a:spAutoFit/>
          </a:bodyPr>
          <a:lstStyle/>
          <a:p>
            <a:pPr indent="0" lvl="0" marL="12700" marR="5080" rtl="0" algn="l">
              <a:spcBef>
                <a:spcPts val="0"/>
              </a:spcBef>
              <a:spcAft>
                <a:spcPts val="0"/>
              </a:spcAft>
              <a:buNone/>
            </a:pPr>
            <a:r>
              <a:rPr b="1" lang="en-US" sz="1500" u="sng">
                <a:solidFill>
                  <a:schemeClr val="dk1"/>
                </a:solidFill>
                <a:latin typeface="Calibri"/>
                <a:ea typeface="Calibri"/>
                <a:cs typeface="Calibri"/>
                <a:sym typeface="Calibri"/>
              </a:rPr>
              <a:t>Players</a:t>
            </a:r>
            <a:r>
              <a:rPr b="1" lang="en-US" sz="1500">
                <a:solidFill>
                  <a:schemeClr val="dk1"/>
                </a:solidFill>
                <a:latin typeface="Calibri"/>
                <a:ea typeface="Calibri"/>
                <a:cs typeface="Calibri"/>
                <a:sym typeface="Calibri"/>
              </a:rPr>
              <a:t> </a:t>
            </a:r>
            <a:r>
              <a:rPr lang="en-US" sz="1500">
                <a:solidFill>
                  <a:schemeClr val="dk1"/>
                </a:solidFill>
                <a:latin typeface="Calibri"/>
                <a:ea typeface="Calibri"/>
                <a:cs typeface="Calibri"/>
                <a:sym typeface="Calibri"/>
              </a:rPr>
              <a:t>belong  to Teams</a:t>
            </a:r>
            <a:endParaRPr sz="1500">
              <a:solidFill>
                <a:schemeClr val="dk1"/>
              </a:solidFill>
              <a:latin typeface="Calibri"/>
              <a:ea typeface="Calibri"/>
              <a:cs typeface="Calibri"/>
              <a:sym typeface="Calibri"/>
            </a:endParaRPr>
          </a:p>
        </p:txBody>
      </p:sp>
      <p:sp>
        <p:nvSpPr>
          <p:cNvPr id="1115" name="Google Shape;1115;p63"/>
          <p:cNvSpPr txBox="1"/>
          <p:nvPr/>
        </p:nvSpPr>
        <p:spPr>
          <a:xfrm>
            <a:off x="8485985" y="4178299"/>
            <a:ext cx="1596390" cy="1173480"/>
          </a:xfrm>
          <a:prstGeom prst="rect">
            <a:avLst/>
          </a:prstGeom>
          <a:noFill/>
          <a:ln>
            <a:noFill/>
          </a:ln>
        </p:spPr>
        <p:txBody>
          <a:bodyPr anchorCtr="0" anchor="t" bIns="0" lIns="0" spcFirstLastPara="1" rIns="0" wrap="square" tIns="16500">
            <a:spAutoFit/>
          </a:bodyPr>
          <a:lstStyle/>
          <a:p>
            <a:pPr indent="0" lvl="0" marL="12700" marR="5080" rtl="0" algn="l">
              <a:spcBef>
                <a:spcPts val="0"/>
              </a:spcBef>
              <a:spcAft>
                <a:spcPts val="0"/>
              </a:spcAft>
              <a:buNone/>
            </a:pPr>
            <a:r>
              <a:rPr lang="en-US" sz="1500">
                <a:solidFill>
                  <a:schemeClr val="dk1"/>
                </a:solidFill>
                <a:latin typeface="Calibri"/>
                <a:ea typeface="Calibri"/>
                <a:cs typeface="Calibri"/>
                <a:sym typeface="Calibri"/>
              </a:rPr>
              <a:t>A Play will contain  either a </a:t>
            </a:r>
            <a:r>
              <a:rPr b="1" lang="en-US" sz="1500" u="sng">
                <a:solidFill>
                  <a:schemeClr val="dk1"/>
                </a:solidFill>
                <a:latin typeface="Calibri"/>
                <a:ea typeface="Calibri"/>
                <a:cs typeface="Calibri"/>
                <a:sym typeface="Calibri"/>
              </a:rPr>
              <a:t>Pass</a:t>
            </a:r>
            <a:r>
              <a:rPr b="1" lang="en-US" sz="1500">
                <a:solidFill>
                  <a:schemeClr val="dk1"/>
                </a:solidFill>
                <a:latin typeface="Calibri"/>
                <a:ea typeface="Calibri"/>
                <a:cs typeface="Calibri"/>
                <a:sym typeface="Calibri"/>
              </a:rPr>
              <a:t> </a:t>
            </a:r>
            <a:r>
              <a:rPr lang="en-US" sz="1500">
                <a:solidFill>
                  <a:schemeClr val="dk1"/>
                </a:solidFill>
                <a:latin typeface="Calibri"/>
                <a:ea typeface="Calibri"/>
                <a:cs typeface="Calibri"/>
                <a:sym typeface="Calibri"/>
              </a:rPr>
              <a:t>from  one player to  another, or a </a:t>
            </a:r>
            <a:r>
              <a:rPr b="1" lang="en-US" sz="1500" u="sng">
                <a:solidFill>
                  <a:schemeClr val="dk1"/>
                </a:solidFill>
                <a:latin typeface="Calibri"/>
                <a:ea typeface="Calibri"/>
                <a:cs typeface="Calibri"/>
                <a:sym typeface="Calibri"/>
              </a:rPr>
              <a:t>Run</a:t>
            </a:r>
            <a:r>
              <a:rPr b="1" lang="en-US" sz="1500">
                <a:solidFill>
                  <a:schemeClr val="dk1"/>
                </a:solidFill>
                <a:latin typeface="Calibri"/>
                <a:ea typeface="Calibri"/>
                <a:cs typeface="Calibri"/>
                <a:sym typeface="Calibri"/>
              </a:rPr>
              <a:t> </a:t>
            </a:r>
            <a:r>
              <a:rPr lang="en-US" sz="1500">
                <a:solidFill>
                  <a:schemeClr val="dk1"/>
                </a:solidFill>
                <a:latin typeface="Calibri"/>
                <a:ea typeface="Calibri"/>
                <a:cs typeface="Calibri"/>
                <a:sym typeface="Calibri"/>
              </a:rPr>
              <a:t>by  one player</a:t>
            </a:r>
            <a:endParaRPr sz="1500">
              <a:solidFill>
                <a:schemeClr val="dk1"/>
              </a:solidFill>
              <a:latin typeface="Calibri"/>
              <a:ea typeface="Calibri"/>
              <a:cs typeface="Calibri"/>
              <a:sym typeface="Calibri"/>
            </a:endParaRPr>
          </a:p>
        </p:txBody>
      </p:sp>
      <p:sp>
        <p:nvSpPr>
          <p:cNvPr id="1116" name="Google Shape;1116;p63"/>
          <p:cNvSpPr txBox="1"/>
          <p:nvPr/>
        </p:nvSpPr>
        <p:spPr>
          <a:xfrm>
            <a:off x="2176213" y="2053166"/>
            <a:ext cx="5115560" cy="5791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chemeClr val="dk1"/>
                </a:solidFill>
                <a:latin typeface="Calibri"/>
                <a:ea typeface="Calibri"/>
                <a:cs typeface="Calibri"/>
                <a:sym typeface="Calibri"/>
              </a:rPr>
              <a:t>Use the following simplified model of a football season</a:t>
            </a:r>
            <a:endParaRPr sz="1800">
              <a:solidFill>
                <a:schemeClr val="dk1"/>
              </a:solidFill>
              <a:latin typeface="Calibri"/>
              <a:ea typeface="Calibri"/>
              <a:cs typeface="Calibri"/>
              <a:sym typeface="Calibri"/>
            </a:endParaRPr>
          </a:p>
          <a:p>
            <a:pPr indent="0" lvl="0" marL="12700" marR="0" rtl="0" algn="l">
              <a:spcBef>
                <a:spcPts val="40"/>
              </a:spcBef>
              <a:spcAft>
                <a:spcPts val="0"/>
              </a:spcAft>
              <a:buNone/>
            </a:pPr>
            <a:r>
              <a:rPr b="1" lang="en-US" sz="1800" u="sng">
                <a:solidFill>
                  <a:schemeClr val="dk1"/>
                </a:solidFill>
                <a:latin typeface="Calibri"/>
                <a:ea typeface="Calibri"/>
                <a:cs typeface="Calibri"/>
                <a:sym typeface="Calibri"/>
              </a:rPr>
              <a:t>(concepts to include are underlined):</a:t>
            </a:r>
            <a:endParaRPr sz="1800">
              <a:solidFill>
                <a:schemeClr val="dk1"/>
              </a:solidFill>
              <a:latin typeface="Calibri"/>
              <a:ea typeface="Calibri"/>
              <a:cs typeface="Calibri"/>
              <a:sym typeface="Calibri"/>
            </a:endParaRPr>
          </a:p>
        </p:txBody>
      </p:sp>
      <p:pic>
        <p:nvPicPr>
          <p:cNvPr id="1117" name="Google Shape;1117;p63"/>
          <p:cNvPicPr preferRelativeResize="0"/>
          <p:nvPr/>
        </p:nvPicPr>
        <p:blipFill rotWithShape="1">
          <a:blip r:embed="rId3">
            <a:alphaModFix/>
          </a:blip>
          <a:srcRect b="0" l="0" r="0" t="0"/>
          <a:stretch/>
        </p:blipFill>
        <p:spPr>
          <a:xfrm>
            <a:off x="6299200" y="2836332"/>
            <a:ext cx="1346200" cy="1117600"/>
          </a:xfrm>
          <a:prstGeom prst="rect">
            <a:avLst/>
          </a:prstGeom>
          <a:noFill/>
          <a:ln>
            <a:noFill/>
          </a:ln>
        </p:spPr>
      </p:pic>
      <p:sp>
        <p:nvSpPr>
          <p:cNvPr id="1118" name="Google Shape;1118;p63"/>
          <p:cNvSpPr txBox="1"/>
          <p:nvPr/>
        </p:nvSpPr>
        <p:spPr>
          <a:xfrm>
            <a:off x="6382774" y="4161366"/>
            <a:ext cx="1525270" cy="1402080"/>
          </a:xfrm>
          <a:prstGeom prst="rect">
            <a:avLst/>
          </a:prstGeom>
          <a:noFill/>
          <a:ln>
            <a:noFill/>
          </a:ln>
        </p:spPr>
        <p:txBody>
          <a:bodyPr anchorCtr="0" anchor="t" bIns="0" lIns="0" spcFirstLastPara="1" rIns="0" wrap="square" tIns="16500">
            <a:spAutoFit/>
          </a:bodyPr>
          <a:lstStyle/>
          <a:p>
            <a:pPr indent="0" lvl="0" marL="12700" marR="5080" rtl="0" algn="l">
              <a:spcBef>
                <a:spcPts val="0"/>
              </a:spcBef>
              <a:spcAft>
                <a:spcPts val="0"/>
              </a:spcAft>
              <a:buNone/>
            </a:pPr>
            <a:r>
              <a:rPr lang="en-US" sz="1500">
                <a:solidFill>
                  <a:schemeClr val="dk1"/>
                </a:solidFill>
                <a:latin typeface="Calibri"/>
                <a:ea typeface="Calibri"/>
                <a:cs typeface="Calibri"/>
                <a:sym typeface="Calibri"/>
              </a:rPr>
              <a:t>A Game is made up  of </a:t>
            </a:r>
            <a:r>
              <a:rPr b="1" lang="en-US" sz="1500" u="sng">
                <a:solidFill>
                  <a:schemeClr val="dk1"/>
                </a:solidFill>
                <a:latin typeface="Calibri"/>
                <a:ea typeface="Calibri"/>
                <a:cs typeface="Calibri"/>
                <a:sym typeface="Calibri"/>
              </a:rPr>
              <a:t>Plays</a:t>
            </a:r>
            <a:r>
              <a:rPr b="1" lang="en-US" sz="1500">
                <a:solidFill>
                  <a:schemeClr val="dk1"/>
                </a:solidFill>
                <a:latin typeface="Calibri"/>
                <a:ea typeface="Calibri"/>
                <a:cs typeface="Calibri"/>
                <a:sym typeface="Calibri"/>
              </a:rPr>
              <a:t> </a:t>
            </a:r>
            <a:r>
              <a:rPr lang="en-US" sz="1500">
                <a:solidFill>
                  <a:schemeClr val="dk1"/>
                </a:solidFill>
                <a:latin typeface="Calibri"/>
                <a:ea typeface="Calibri"/>
                <a:cs typeface="Calibri"/>
                <a:sym typeface="Calibri"/>
              </a:rPr>
              <a:t>that result  in a yardage  gain/loss, and  potentially a  touchdown</a:t>
            </a:r>
            <a:endParaRPr sz="1500">
              <a:solidFill>
                <a:schemeClr val="dk1"/>
              </a:solidFill>
              <a:latin typeface="Calibri"/>
              <a:ea typeface="Calibri"/>
              <a:cs typeface="Calibri"/>
              <a:sym typeface="Calibri"/>
            </a:endParaRPr>
          </a:p>
        </p:txBody>
      </p:sp>
      <p:grpSp>
        <p:nvGrpSpPr>
          <p:cNvPr id="1119" name="Google Shape;1119;p63"/>
          <p:cNvGrpSpPr/>
          <p:nvPr/>
        </p:nvGrpSpPr>
        <p:grpSpPr>
          <a:xfrm>
            <a:off x="1845734" y="2954867"/>
            <a:ext cx="1896533" cy="1159933"/>
            <a:chOff x="321733" y="2954866"/>
            <a:chExt cx="1896533" cy="1159933"/>
          </a:xfrm>
        </p:grpSpPr>
        <p:pic>
          <p:nvPicPr>
            <p:cNvPr id="1120" name="Google Shape;1120;p63"/>
            <p:cNvPicPr preferRelativeResize="0"/>
            <p:nvPr/>
          </p:nvPicPr>
          <p:blipFill rotWithShape="1">
            <a:blip r:embed="rId4">
              <a:alphaModFix/>
            </a:blip>
            <a:srcRect b="0" l="0" r="0" t="0"/>
            <a:stretch/>
          </p:blipFill>
          <p:spPr>
            <a:xfrm>
              <a:off x="1600200" y="3496733"/>
              <a:ext cx="618066" cy="618066"/>
            </a:xfrm>
            <a:prstGeom prst="rect">
              <a:avLst/>
            </a:prstGeom>
            <a:noFill/>
            <a:ln>
              <a:noFill/>
            </a:ln>
          </p:spPr>
        </p:pic>
        <p:pic>
          <p:nvPicPr>
            <p:cNvPr id="1121" name="Google Shape;1121;p63"/>
            <p:cNvPicPr preferRelativeResize="0"/>
            <p:nvPr/>
          </p:nvPicPr>
          <p:blipFill rotWithShape="1">
            <a:blip r:embed="rId5">
              <a:alphaModFix/>
            </a:blip>
            <a:srcRect b="0" l="0" r="0" t="0"/>
            <a:stretch/>
          </p:blipFill>
          <p:spPr>
            <a:xfrm>
              <a:off x="321733" y="2954866"/>
              <a:ext cx="1523999" cy="1049866"/>
            </a:xfrm>
            <a:prstGeom prst="rect">
              <a:avLst/>
            </a:prstGeom>
            <a:noFill/>
            <a:ln>
              <a:noFill/>
            </a:ln>
          </p:spPr>
        </p:pic>
      </p:grpSp>
      <p:pic>
        <p:nvPicPr>
          <p:cNvPr id="1122" name="Google Shape;1122;p63"/>
          <p:cNvPicPr preferRelativeResize="0"/>
          <p:nvPr/>
        </p:nvPicPr>
        <p:blipFill rotWithShape="1">
          <a:blip r:embed="rId6">
            <a:alphaModFix/>
          </a:blip>
          <a:srcRect b="0" l="0" r="0" t="0"/>
          <a:stretch/>
        </p:blipFill>
        <p:spPr>
          <a:xfrm>
            <a:off x="3937000" y="2861732"/>
            <a:ext cx="1701800" cy="1143000"/>
          </a:xfrm>
          <a:prstGeom prst="rect">
            <a:avLst/>
          </a:prstGeom>
          <a:noFill/>
          <a:ln>
            <a:noFill/>
          </a:ln>
        </p:spPr>
      </p:pic>
      <p:pic>
        <p:nvPicPr>
          <p:cNvPr id="1123" name="Google Shape;1123;p63"/>
          <p:cNvPicPr preferRelativeResize="0"/>
          <p:nvPr/>
        </p:nvPicPr>
        <p:blipFill rotWithShape="1">
          <a:blip r:embed="rId7">
            <a:alphaModFix/>
          </a:blip>
          <a:srcRect b="0" l="0" r="0" t="0"/>
          <a:stretch/>
        </p:blipFill>
        <p:spPr>
          <a:xfrm>
            <a:off x="8593666" y="2844800"/>
            <a:ext cx="1490132" cy="1109133"/>
          </a:xfrm>
          <a:prstGeom prst="rect">
            <a:avLst/>
          </a:prstGeom>
          <a:noFill/>
          <a:ln>
            <a:noFill/>
          </a:ln>
        </p:spPr>
      </p:pic>
      <p:sp>
        <p:nvSpPr>
          <p:cNvPr id="1124" name="Google Shape;1124;p63"/>
          <p:cNvSpPr txBox="1"/>
          <p:nvPr>
            <p:ph type="title"/>
          </p:nvPr>
        </p:nvSpPr>
        <p:spPr>
          <a:xfrm>
            <a:off x="381000" y="631772"/>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latin typeface="Calibri"/>
                <a:ea typeface="Calibri"/>
                <a:cs typeface="Calibri"/>
                <a:sym typeface="Calibri"/>
              </a:rPr>
              <a:t>DRAW AN E/R DIAGRAM FOR FOOTBALL</a:t>
            </a:r>
            <a:endParaRPr>
              <a:latin typeface="Calibri"/>
              <a:ea typeface="Calibri"/>
              <a:cs typeface="Calibri"/>
              <a:sym typeface="Calibri"/>
            </a:endParaRPr>
          </a:p>
        </p:txBody>
      </p:sp>
      <p:sp>
        <p:nvSpPr>
          <p:cNvPr id="1125" name="Google Shape;1125;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64"/>
          <p:cNvSpPr txBox="1"/>
          <p:nvPr/>
        </p:nvSpPr>
        <p:spPr>
          <a:xfrm>
            <a:off x="8260449" y="3858201"/>
            <a:ext cx="1089660" cy="239168"/>
          </a:xfrm>
          <a:prstGeom prst="rect">
            <a:avLst/>
          </a:prstGeom>
          <a:solidFill>
            <a:srgbClr val="F2DCDB"/>
          </a:solidFill>
          <a:ln cap="flat" cmpd="sng" w="9525">
            <a:solidFill>
              <a:srgbClr val="000000"/>
            </a:solidFill>
            <a:prstDash val="solid"/>
            <a:round/>
            <a:headEnd len="sm" w="sm" type="none"/>
            <a:tailEnd len="sm" w="sm" type="none"/>
          </a:ln>
        </p:spPr>
        <p:txBody>
          <a:bodyPr anchorCtr="0" anchor="t" bIns="0" lIns="0" spcFirstLastPara="1" rIns="0" wrap="square" tIns="99675">
            <a:spAutoFit/>
          </a:bodyPr>
          <a:lstStyle/>
          <a:p>
            <a:pPr indent="0" lvl="0" marL="1905" marR="0" rtl="0" algn="ctr">
              <a:spcBef>
                <a:spcPts val="0"/>
              </a:spcBef>
              <a:spcAft>
                <a:spcPts val="0"/>
              </a:spcAft>
              <a:buNone/>
            </a:pPr>
            <a:r>
              <a:rPr lang="en-US" sz="900">
                <a:solidFill>
                  <a:schemeClr val="dk1"/>
                </a:solidFill>
                <a:latin typeface="Calibri"/>
                <a:ea typeface="Calibri"/>
                <a:cs typeface="Calibri"/>
                <a:sym typeface="Calibri"/>
              </a:rPr>
              <a:t>Games</a:t>
            </a:r>
            <a:endParaRPr sz="900">
              <a:solidFill>
                <a:schemeClr val="dk1"/>
              </a:solidFill>
              <a:latin typeface="Calibri"/>
              <a:ea typeface="Calibri"/>
              <a:cs typeface="Calibri"/>
              <a:sym typeface="Calibri"/>
            </a:endParaRPr>
          </a:p>
        </p:txBody>
      </p:sp>
      <p:grpSp>
        <p:nvGrpSpPr>
          <p:cNvPr id="1131" name="Google Shape;1131;p64"/>
          <p:cNvGrpSpPr/>
          <p:nvPr/>
        </p:nvGrpSpPr>
        <p:grpSpPr>
          <a:xfrm>
            <a:off x="7606118" y="2840443"/>
            <a:ext cx="862330" cy="398780"/>
            <a:chOff x="6082117" y="2840442"/>
            <a:chExt cx="862330" cy="398780"/>
          </a:xfrm>
        </p:grpSpPr>
        <p:sp>
          <p:nvSpPr>
            <p:cNvPr id="1132" name="Google Shape;1132;p64"/>
            <p:cNvSpPr/>
            <p:nvPr/>
          </p:nvSpPr>
          <p:spPr>
            <a:xfrm>
              <a:off x="6082117" y="2840442"/>
              <a:ext cx="862330" cy="398780"/>
            </a:xfrm>
            <a:custGeom>
              <a:rect b="b" l="l" r="r" t="t"/>
              <a:pathLst>
                <a:path extrusionOk="0" h="398780" w="862329">
                  <a:moveTo>
                    <a:pt x="431096" y="0"/>
                  </a:moveTo>
                  <a:lnTo>
                    <a:pt x="367392" y="2159"/>
                  </a:lnTo>
                  <a:lnTo>
                    <a:pt x="306590" y="8430"/>
                  </a:lnTo>
                  <a:lnTo>
                    <a:pt x="249357" y="18507"/>
                  </a:lnTo>
                  <a:lnTo>
                    <a:pt x="196360" y="32080"/>
                  </a:lnTo>
                  <a:lnTo>
                    <a:pt x="148265" y="48842"/>
                  </a:lnTo>
                  <a:lnTo>
                    <a:pt x="105741" y="68485"/>
                  </a:lnTo>
                  <a:lnTo>
                    <a:pt x="69452" y="90700"/>
                  </a:lnTo>
                  <a:lnTo>
                    <a:pt x="40067" y="115180"/>
                  </a:lnTo>
                  <a:lnTo>
                    <a:pt x="4674" y="169701"/>
                  </a:lnTo>
                  <a:lnTo>
                    <a:pt x="0" y="199127"/>
                  </a:lnTo>
                  <a:lnTo>
                    <a:pt x="4674" y="228552"/>
                  </a:lnTo>
                  <a:lnTo>
                    <a:pt x="40067" y="283073"/>
                  </a:lnTo>
                  <a:lnTo>
                    <a:pt x="69452" y="307553"/>
                  </a:lnTo>
                  <a:lnTo>
                    <a:pt x="105741" y="329768"/>
                  </a:lnTo>
                  <a:lnTo>
                    <a:pt x="148265" y="349411"/>
                  </a:lnTo>
                  <a:lnTo>
                    <a:pt x="196360" y="366173"/>
                  </a:lnTo>
                  <a:lnTo>
                    <a:pt x="249357" y="379746"/>
                  </a:lnTo>
                  <a:lnTo>
                    <a:pt x="306590" y="389823"/>
                  </a:lnTo>
                  <a:lnTo>
                    <a:pt x="367392" y="396095"/>
                  </a:lnTo>
                  <a:lnTo>
                    <a:pt x="431096" y="398254"/>
                  </a:lnTo>
                  <a:lnTo>
                    <a:pt x="494800" y="396095"/>
                  </a:lnTo>
                  <a:lnTo>
                    <a:pt x="555602" y="389823"/>
                  </a:lnTo>
                  <a:lnTo>
                    <a:pt x="612836" y="379746"/>
                  </a:lnTo>
                  <a:lnTo>
                    <a:pt x="665833" y="366173"/>
                  </a:lnTo>
                  <a:lnTo>
                    <a:pt x="713927" y="349411"/>
                  </a:lnTo>
                  <a:lnTo>
                    <a:pt x="756452" y="329768"/>
                  </a:lnTo>
                  <a:lnTo>
                    <a:pt x="792741" y="307553"/>
                  </a:lnTo>
                  <a:lnTo>
                    <a:pt x="822126" y="283073"/>
                  </a:lnTo>
                  <a:lnTo>
                    <a:pt x="857519" y="228552"/>
                  </a:lnTo>
                  <a:lnTo>
                    <a:pt x="862194" y="199127"/>
                  </a:lnTo>
                  <a:lnTo>
                    <a:pt x="857519" y="169701"/>
                  </a:lnTo>
                  <a:lnTo>
                    <a:pt x="822126" y="115180"/>
                  </a:lnTo>
                  <a:lnTo>
                    <a:pt x="792741" y="90700"/>
                  </a:lnTo>
                  <a:lnTo>
                    <a:pt x="756452" y="68485"/>
                  </a:lnTo>
                  <a:lnTo>
                    <a:pt x="713927" y="48842"/>
                  </a:lnTo>
                  <a:lnTo>
                    <a:pt x="665833" y="32080"/>
                  </a:lnTo>
                  <a:lnTo>
                    <a:pt x="612836"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3" name="Google Shape;1133;p64"/>
            <p:cNvSpPr/>
            <p:nvPr/>
          </p:nvSpPr>
          <p:spPr>
            <a:xfrm>
              <a:off x="6082117" y="2840442"/>
              <a:ext cx="862330" cy="398780"/>
            </a:xfrm>
            <a:custGeom>
              <a:rect b="b" l="l" r="r" t="t"/>
              <a:pathLst>
                <a:path extrusionOk="0" h="398780" w="86232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34" name="Google Shape;1134;p64"/>
          <p:cNvSpPr txBox="1"/>
          <p:nvPr/>
        </p:nvSpPr>
        <p:spPr>
          <a:xfrm>
            <a:off x="7919740" y="2950634"/>
            <a:ext cx="236854"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u="sng">
                <a:solidFill>
                  <a:schemeClr val="dk1"/>
                </a:solidFill>
                <a:latin typeface="Calibri"/>
                <a:ea typeface="Calibri"/>
                <a:cs typeface="Calibri"/>
                <a:sym typeface="Calibri"/>
              </a:rPr>
              <a:t>date</a:t>
            </a:r>
            <a:endParaRPr sz="900">
              <a:solidFill>
                <a:schemeClr val="dk1"/>
              </a:solidFill>
              <a:latin typeface="Calibri"/>
              <a:ea typeface="Calibri"/>
              <a:cs typeface="Calibri"/>
              <a:sym typeface="Calibri"/>
            </a:endParaRPr>
          </a:p>
        </p:txBody>
      </p:sp>
      <p:grpSp>
        <p:nvGrpSpPr>
          <p:cNvPr id="1135" name="Google Shape;1135;p64"/>
          <p:cNvGrpSpPr/>
          <p:nvPr/>
        </p:nvGrpSpPr>
        <p:grpSpPr>
          <a:xfrm>
            <a:off x="8037216" y="3238697"/>
            <a:ext cx="768350" cy="619760"/>
            <a:chOff x="6513215" y="3238696"/>
            <a:chExt cx="768350" cy="619760"/>
          </a:xfrm>
        </p:grpSpPr>
        <p:sp>
          <p:nvSpPr>
            <p:cNvPr id="1136" name="Google Shape;1136;p64"/>
            <p:cNvSpPr/>
            <p:nvPr/>
          </p:nvSpPr>
          <p:spPr>
            <a:xfrm>
              <a:off x="6513215" y="3238696"/>
              <a:ext cx="768350" cy="619760"/>
            </a:xfrm>
            <a:custGeom>
              <a:rect b="b" l="l" r="r" t="t"/>
              <a:pathLst>
                <a:path extrusionOk="0" h="619760" w="768350">
                  <a:moveTo>
                    <a:pt x="0" y="0"/>
                  </a:moveTo>
                  <a:lnTo>
                    <a:pt x="767778" y="619504"/>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7" name="Google Shape;1137;p64"/>
            <p:cNvSpPr/>
            <p:nvPr/>
          </p:nvSpPr>
          <p:spPr>
            <a:xfrm>
              <a:off x="6513215" y="3238696"/>
              <a:ext cx="768350" cy="619760"/>
            </a:xfrm>
            <a:custGeom>
              <a:rect b="b" l="l" r="r" t="t"/>
              <a:pathLst>
                <a:path extrusionOk="0" h="619760" w="768350">
                  <a:moveTo>
                    <a:pt x="0" y="0"/>
                  </a:moveTo>
                  <a:lnTo>
                    <a:pt x="767779" y="619505"/>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38" name="Google Shape;1138;p64"/>
          <p:cNvSpPr txBox="1"/>
          <p:nvPr/>
        </p:nvSpPr>
        <p:spPr>
          <a:xfrm>
            <a:off x="6023015" y="3238696"/>
            <a:ext cx="726440" cy="223779"/>
          </a:xfrm>
          <a:prstGeom prst="rect">
            <a:avLst/>
          </a:prstGeom>
          <a:solidFill>
            <a:srgbClr val="F2DCDB"/>
          </a:solidFill>
          <a:ln cap="flat" cmpd="sng" w="9525">
            <a:solidFill>
              <a:srgbClr val="000000"/>
            </a:solidFill>
            <a:prstDash val="solid"/>
            <a:round/>
            <a:headEnd len="sm" w="sm" type="none"/>
            <a:tailEnd len="sm" w="sm" type="none"/>
          </a:ln>
        </p:spPr>
        <p:txBody>
          <a:bodyPr anchorCtr="0" anchor="t" bIns="0" lIns="0" spcFirstLastPara="1" rIns="0" wrap="square" tIns="84450">
            <a:spAutoFit/>
          </a:bodyPr>
          <a:lstStyle/>
          <a:p>
            <a:pPr indent="0" lvl="0" marL="210820" marR="0" rtl="0" algn="l">
              <a:spcBef>
                <a:spcPts val="0"/>
              </a:spcBef>
              <a:spcAft>
                <a:spcPts val="0"/>
              </a:spcAft>
              <a:buNone/>
            </a:pPr>
            <a:r>
              <a:rPr lang="en-US" sz="900">
                <a:solidFill>
                  <a:schemeClr val="dk1"/>
                </a:solidFill>
                <a:latin typeface="Calibri"/>
                <a:ea typeface="Calibri"/>
                <a:cs typeface="Calibri"/>
                <a:sym typeface="Calibri"/>
              </a:rPr>
              <a:t>Teams</a:t>
            </a:r>
            <a:endParaRPr sz="900">
              <a:solidFill>
                <a:schemeClr val="dk1"/>
              </a:solidFill>
              <a:latin typeface="Calibri"/>
              <a:ea typeface="Calibri"/>
              <a:cs typeface="Calibri"/>
              <a:sym typeface="Calibri"/>
            </a:endParaRPr>
          </a:p>
        </p:txBody>
      </p:sp>
      <p:grpSp>
        <p:nvGrpSpPr>
          <p:cNvPr id="1139" name="Google Shape;1139;p64"/>
          <p:cNvGrpSpPr/>
          <p:nvPr/>
        </p:nvGrpSpPr>
        <p:grpSpPr>
          <a:xfrm>
            <a:off x="5877719" y="2622741"/>
            <a:ext cx="862330" cy="398780"/>
            <a:chOff x="4353718" y="2622740"/>
            <a:chExt cx="862330" cy="398780"/>
          </a:xfrm>
        </p:grpSpPr>
        <p:sp>
          <p:nvSpPr>
            <p:cNvPr id="1140" name="Google Shape;1140;p64"/>
            <p:cNvSpPr/>
            <p:nvPr/>
          </p:nvSpPr>
          <p:spPr>
            <a:xfrm>
              <a:off x="4353718" y="2622740"/>
              <a:ext cx="862330" cy="398780"/>
            </a:xfrm>
            <a:custGeom>
              <a:rect b="b" l="l" r="r" t="t"/>
              <a:pathLst>
                <a:path extrusionOk="0" h="398780" w="862329">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4"/>
                  </a:lnTo>
                  <a:lnTo>
                    <a:pt x="69452" y="307554"/>
                  </a:lnTo>
                  <a:lnTo>
                    <a:pt x="105740" y="329769"/>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1" name="Google Shape;1141;p64"/>
            <p:cNvSpPr/>
            <p:nvPr/>
          </p:nvSpPr>
          <p:spPr>
            <a:xfrm>
              <a:off x="4353718" y="2622740"/>
              <a:ext cx="862330" cy="398780"/>
            </a:xfrm>
            <a:custGeom>
              <a:rect b="b" l="l" r="r" t="t"/>
              <a:pathLst>
                <a:path extrusionOk="0" h="398780" w="86232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42" name="Google Shape;1142;p64"/>
          <p:cNvSpPr txBox="1"/>
          <p:nvPr/>
        </p:nvSpPr>
        <p:spPr>
          <a:xfrm>
            <a:off x="6104820" y="2730500"/>
            <a:ext cx="41148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u="sng">
                <a:solidFill>
                  <a:schemeClr val="dk1"/>
                </a:solidFill>
                <a:latin typeface="Calibri"/>
                <a:ea typeface="Calibri"/>
                <a:cs typeface="Calibri"/>
                <a:sym typeface="Calibri"/>
              </a:rPr>
              <a:t>Team ID</a:t>
            </a:r>
            <a:endParaRPr sz="900">
              <a:solidFill>
                <a:schemeClr val="dk1"/>
              </a:solidFill>
              <a:latin typeface="Calibri"/>
              <a:ea typeface="Calibri"/>
              <a:cs typeface="Calibri"/>
              <a:sym typeface="Calibri"/>
            </a:endParaRPr>
          </a:p>
        </p:txBody>
      </p:sp>
      <p:grpSp>
        <p:nvGrpSpPr>
          <p:cNvPr id="1143" name="Google Shape;1143;p64"/>
          <p:cNvGrpSpPr/>
          <p:nvPr/>
        </p:nvGrpSpPr>
        <p:grpSpPr>
          <a:xfrm>
            <a:off x="6308817" y="3020994"/>
            <a:ext cx="77470" cy="217804"/>
            <a:chOff x="4784816" y="3020993"/>
            <a:chExt cx="77470" cy="217804"/>
          </a:xfrm>
        </p:grpSpPr>
        <p:sp>
          <p:nvSpPr>
            <p:cNvPr id="1144" name="Google Shape;1144;p64"/>
            <p:cNvSpPr/>
            <p:nvPr/>
          </p:nvSpPr>
          <p:spPr>
            <a:xfrm>
              <a:off x="4784816" y="3020993"/>
              <a:ext cx="77470" cy="217804"/>
            </a:xfrm>
            <a:custGeom>
              <a:rect b="b" l="l" r="r" t="t"/>
              <a:pathLst>
                <a:path extrusionOk="0" h="217805" w="77470">
                  <a:moveTo>
                    <a:pt x="0" y="0"/>
                  </a:moveTo>
                  <a:lnTo>
                    <a:pt x="77229" y="217702"/>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5" name="Google Shape;1145;p64"/>
            <p:cNvSpPr/>
            <p:nvPr/>
          </p:nvSpPr>
          <p:spPr>
            <a:xfrm>
              <a:off x="4784816" y="3020993"/>
              <a:ext cx="77470" cy="217804"/>
            </a:xfrm>
            <a:custGeom>
              <a:rect b="b" l="l" r="r" t="t"/>
              <a:pathLst>
                <a:path extrusionOk="0" h="217805" w="77470">
                  <a:moveTo>
                    <a:pt x="0" y="0"/>
                  </a:moveTo>
                  <a:lnTo>
                    <a:pt x="77230" y="217703"/>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146" name="Google Shape;1146;p64"/>
          <p:cNvGrpSpPr/>
          <p:nvPr/>
        </p:nvGrpSpPr>
        <p:grpSpPr>
          <a:xfrm>
            <a:off x="6749073" y="3393573"/>
            <a:ext cx="1511676" cy="936789"/>
            <a:chOff x="5225073" y="3393573"/>
            <a:chExt cx="1511676" cy="936789"/>
          </a:xfrm>
        </p:grpSpPr>
        <p:sp>
          <p:nvSpPr>
            <p:cNvPr id="1147" name="Google Shape;1147;p64"/>
            <p:cNvSpPr/>
            <p:nvPr/>
          </p:nvSpPr>
          <p:spPr>
            <a:xfrm>
              <a:off x="6342414" y="4028168"/>
              <a:ext cx="394335" cy="102870"/>
            </a:xfrm>
            <a:custGeom>
              <a:rect b="b" l="l" r="r" t="t"/>
              <a:pathLst>
                <a:path extrusionOk="0" h="102870" w="394334">
                  <a:moveTo>
                    <a:pt x="394036" y="0"/>
                  </a:moveTo>
                  <a:lnTo>
                    <a:pt x="0" y="102541"/>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8" name="Google Shape;1148;p64"/>
            <p:cNvSpPr/>
            <p:nvPr/>
          </p:nvSpPr>
          <p:spPr>
            <a:xfrm>
              <a:off x="6342414" y="4028167"/>
              <a:ext cx="394335" cy="102870"/>
            </a:xfrm>
            <a:custGeom>
              <a:rect b="b" l="l" r="r" t="t"/>
              <a:pathLst>
                <a:path extrusionOk="0" h="102870" w="394334">
                  <a:moveTo>
                    <a:pt x="0" y="102542"/>
                  </a:moveTo>
                  <a:lnTo>
                    <a:pt x="394037"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9" name="Google Shape;1149;p64"/>
            <p:cNvSpPr/>
            <p:nvPr/>
          </p:nvSpPr>
          <p:spPr>
            <a:xfrm>
              <a:off x="5225073" y="3393573"/>
              <a:ext cx="170815" cy="737235"/>
            </a:xfrm>
            <a:custGeom>
              <a:rect b="b" l="l" r="r" t="t"/>
              <a:pathLst>
                <a:path extrusionOk="0" h="737235" w="170814">
                  <a:moveTo>
                    <a:pt x="0" y="0"/>
                  </a:moveTo>
                  <a:lnTo>
                    <a:pt x="170801" y="737137"/>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0" name="Google Shape;1150;p64"/>
            <p:cNvSpPr/>
            <p:nvPr/>
          </p:nvSpPr>
          <p:spPr>
            <a:xfrm>
              <a:off x="5225073" y="3393573"/>
              <a:ext cx="170815" cy="737235"/>
            </a:xfrm>
            <a:custGeom>
              <a:rect b="b" l="l" r="r" t="t"/>
              <a:pathLst>
                <a:path extrusionOk="0" h="737235" w="170814">
                  <a:moveTo>
                    <a:pt x="0" y="0"/>
                  </a:moveTo>
                  <a:lnTo>
                    <a:pt x="170801" y="737137"/>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1" name="Google Shape;1151;p64"/>
            <p:cNvSpPr/>
            <p:nvPr/>
          </p:nvSpPr>
          <p:spPr>
            <a:xfrm>
              <a:off x="5395873" y="3931582"/>
              <a:ext cx="946785" cy="398780"/>
            </a:xfrm>
            <a:custGeom>
              <a:rect b="b" l="l" r="r" t="t"/>
              <a:pathLst>
                <a:path extrusionOk="0" h="398779" w="946785">
                  <a:moveTo>
                    <a:pt x="473270" y="0"/>
                  </a:moveTo>
                  <a:lnTo>
                    <a:pt x="0" y="199127"/>
                  </a:lnTo>
                  <a:lnTo>
                    <a:pt x="473270" y="398254"/>
                  </a:lnTo>
                  <a:lnTo>
                    <a:pt x="946541" y="199127"/>
                  </a:lnTo>
                  <a:lnTo>
                    <a:pt x="47327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2" name="Google Shape;1152;p64"/>
            <p:cNvSpPr/>
            <p:nvPr/>
          </p:nvSpPr>
          <p:spPr>
            <a:xfrm>
              <a:off x="5395873" y="3931582"/>
              <a:ext cx="946785" cy="398780"/>
            </a:xfrm>
            <a:custGeom>
              <a:rect b="b" l="l" r="r" t="t"/>
              <a:pathLst>
                <a:path extrusionOk="0" h="398779" w="946785">
                  <a:moveTo>
                    <a:pt x="0" y="199127"/>
                  </a:moveTo>
                  <a:lnTo>
                    <a:pt x="473270" y="0"/>
                  </a:lnTo>
                  <a:lnTo>
                    <a:pt x="946541" y="199127"/>
                  </a:lnTo>
                  <a:lnTo>
                    <a:pt x="473270" y="398254"/>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53" name="Google Shape;1153;p64"/>
          <p:cNvSpPr txBox="1"/>
          <p:nvPr/>
        </p:nvSpPr>
        <p:spPr>
          <a:xfrm>
            <a:off x="7073263" y="4042834"/>
            <a:ext cx="64198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PlayingHome</a:t>
            </a:r>
            <a:endParaRPr sz="900">
              <a:solidFill>
                <a:schemeClr val="dk1"/>
              </a:solidFill>
              <a:latin typeface="Calibri"/>
              <a:ea typeface="Calibri"/>
              <a:cs typeface="Calibri"/>
              <a:sym typeface="Calibri"/>
            </a:endParaRPr>
          </a:p>
        </p:txBody>
      </p:sp>
      <p:grpSp>
        <p:nvGrpSpPr>
          <p:cNvPr id="1154" name="Google Shape;1154;p64"/>
          <p:cNvGrpSpPr/>
          <p:nvPr/>
        </p:nvGrpSpPr>
        <p:grpSpPr>
          <a:xfrm>
            <a:off x="8680364" y="2818814"/>
            <a:ext cx="862330" cy="398780"/>
            <a:chOff x="7156363" y="2818813"/>
            <a:chExt cx="862330" cy="398780"/>
          </a:xfrm>
        </p:grpSpPr>
        <p:sp>
          <p:nvSpPr>
            <p:cNvPr id="1155" name="Google Shape;1155;p64"/>
            <p:cNvSpPr/>
            <p:nvPr/>
          </p:nvSpPr>
          <p:spPr>
            <a:xfrm>
              <a:off x="7156363" y="2818813"/>
              <a:ext cx="862330" cy="398780"/>
            </a:xfrm>
            <a:custGeom>
              <a:rect b="b" l="l" r="r" t="t"/>
              <a:pathLst>
                <a:path extrusionOk="0" h="398780" w="862329">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6" name="Google Shape;1156;p64"/>
            <p:cNvSpPr/>
            <p:nvPr/>
          </p:nvSpPr>
          <p:spPr>
            <a:xfrm>
              <a:off x="7156363" y="2818813"/>
              <a:ext cx="862330" cy="398780"/>
            </a:xfrm>
            <a:custGeom>
              <a:rect b="b" l="l" r="r" t="t"/>
              <a:pathLst>
                <a:path extrusionOk="0" h="398780" w="86232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57" name="Google Shape;1157;p64"/>
          <p:cNvSpPr txBox="1"/>
          <p:nvPr/>
        </p:nvSpPr>
        <p:spPr>
          <a:xfrm>
            <a:off x="8911435" y="2925234"/>
            <a:ext cx="40259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u="sng">
                <a:solidFill>
                  <a:schemeClr val="dk1"/>
                </a:solidFill>
                <a:latin typeface="Calibri"/>
                <a:ea typeface="Calibri"/>
                <a:cs typeface="Calibri"/>
                <a:sym typeface="Calibri"/>
              </a:rPr>
              <a:t>location</a:t>
            </a:r>
            <a:endParaRPr sz="900">
              <a:solidFill>
                <a:schemeClr val="dk1"/>
              </a:solidFill>
              <a:latin typeface="Calibri"/>
              <a:ea typeface="Calibri"/>
              <a:cs typeface="Calibri"/>
              <a:sym typeface="Calibri"/>
            </a:endParaRPr>
          </a:p>
        </p:txBody>
      </p:sp>
      <p:grpSp>
        <p:nvGrpSpPr>
          <p:cNvPr id="1158" name="Google Shape;1158;p64"/>
          <p:cNvGrpSpPr/>
          <p:nvPr/>
        </p:nvGrpSpPr>
        <p:grpSpPr>
          <a:xfrm>
            <a:off x="6749073" y="3217068"/>
            <a:ext cx="2362624" cy="641350"/>
            <a:chOff x="5225073" y="3217067"/>
            <a:chExt cx="2362624" cy="641350"/>
          </a:xfrm>
        </p:grpSpPr>
        <p:sp>
          <p:nvSpPr>
            <p:cNvPr id="1159" name="Google Shape;1159;p64"/>
            <p:cNvSpPr/>
            <p:nvPr/>
          </p:nvSpPr>
          <p:spPr>
            <a:xfrm>
              <a:off x="7280992" y="3217067"/>
              <a:ext cx="306705" cy="641350"/>
            </a:xfrm>
            <a:custGeom>
              <a:rect b="b" l="l" r="r" t="t"/>
              <a:pathLst>
                <a:path extrusionOk="0" h="641350" w="306704">
                  <a:moveTo>
                    <a:pt x="306467" y="0"/>
                  </a:moveTo>
                  <a:lnTo>
                    <a:pt x="0" y="641134"/>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0" name="Google Shape;1160;p64"/>
            <p:cNvSpPr/>
            <p:nvPr/>
          </p:nvSpPr>
          <p:spPr>
            <a:xfrm>
              <a:off x="7280992" y="3217067"/>
              <a:ext cx="306705" cy="641350"/>
            </a:xfrm>
            <a:custGeom>
              <a:rect b="b" l="l" r="r" t="t"/>
              <a:pathLst>
                <a:path extrusionOk="0" h="641350" w="306704">
                  <a:moveTo>
                    <a:pt x="306467" y="0"/>
                  </a:moveTo>
                  <a:lnTo>
                    <a:pt x="0" y="641135"/>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1" name="Google Shape;1161;p64"/>
            <p:cNvSpPr/>
            <p:nvPr/>
          </p:nvSpPr>
          <p:spPr>
            <a:xfrm>
              <a:off x="5225073" y="3393573"/>
              <a:ext cx="170815" cy="199390"/>
            </a:xfrm>
            <a:custGeom>
              <a:rect b="b" l="l" r="r" t="t"/>
              <a:pathLst>
                <a:path extrusionOk="0" h="199389" w="170814">
                  <a:moveTo>
                    <a:pt x="0" y="0"/>
                  </a:moveTo>
                  <a:lnTo>
                    <a:pt x="170801" y="199127"/>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2" name="Google Shape;1162;p64"/>
            <p:cNvSpPr/>
            <p:nvPr/>
          </p:nvSpPr>
          <p:spPr>
            <a:xfrm>
              <a:off x="5225073" y="3393573"/>
              <a:ext cx="170815" cy="199390"/>
            </a:xfrm>
            <a:custGeom>
              <a:rect b="b" l="l" r="r" t="t"/>
              <a:pathLst>
                <a:path extrusionOk="0" h="199389" w="170814">
                  <a:moveTo>
                    <a:pt x="0" y="0"/>
                  </a:moveTo>
                  <a:lnTo>
                    <a:pt x="170801" y="199127"/>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3" name="Google Shape;1163;p64"/>
            <p:cNvSpPr/>
            <p:nvPr/>
          </p:nvSpPr>
          <p:spPr>
            <a:xfrm>
              <a:off x="5395873" y="3393573"/>
              <a:ext cx="946785" cy="398780"/>
            </a:xfrm>
            <a:custGeom>
              <a:rect b="b" l="l" r="r" t="t"/>
              <a:pathLst>
                <a:path extrusionOk="0" h="398779" w="946785">
                  <a:moveTo>
                    <a:pt x="473270" y="0"/>
                  </a:moveTo>
                  <a:lnTo>
                    <a:pt x="0" y="199127"/>
                  </a:lnTo>
                  <a:lnTo>
                    <a:pt x="473270" y="398254"/>
                  </a:lnTo>
                  <a:lnTo>
                    <a:pt x="946541" y="199127"/>
                  </a:lnTo>
                  <a:lnTo>
                    <a:pt x="47327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4" name="Google Shape;1164;p64"/>
            <p:cNvSpPr/>
            <p:nvPr/>
          </p:nvSpPr>
          <p:spPr>
            <a:xfrm>
              <a:off x="5395873" y="3393573"/>
              <a:ext cx="946785" cy="398780"/>
            </a:xfrm>
            <a:custGeom>
              <a:rect b="b" l="l" r="r" t="t"/>
              <a:pathLst>
                <a:path extrusionOk="0" h="398779" w="946785">
                  <a:moveTo>
                    <a:pt x="0" y="199127"/>
                  </a:moveTo>
                  <a:lnTo>
                    <a:pt x="473270" y="0"/>
                  </a:lnTo>
                  <a:lnTo>
                    <a:pt x="946541" y="199127"/>
                  </a:lnTo>
                  <a:lnTo>
                    <a:pt x="473270" y="398254"/>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65" name="Google Shape;1165;p64"/>
          <p:cNvSpPr txBox="1"/>
          <p:nvPr/>
        </p:nvSpPr>
        <p:spPr>
          <a:xfrm>
            <a:off x="2847324" y="4779433"/>
            <a:ext cx="1535430" cy="1173480"/>
          </a:xfrm>
          <a:prstGeom prst="rect">
            <a:avLst/>
          </a:prstGeom>
          <a:noFill/>
          <a:ln>
            <a:noFill/>
          </a:ln>
        </p:spPr>
        <p:txBody>
          <a:bodyPr anchorCtr="0" anchor="t" bIns="0" lIns="0" spcFirstLastPara="1" rIns="0" wrap="square" tIns="16500">
            <a:spAutoFit/>
          </a:bodyPr>
          <a:lstStyle/>
          <a:p>
            <a:pPr indent="0" lvl="0" marL="12700" marR="5080" rtl="0" algn="l">
              <a:spcBef>
                <a:spcPts val="0"/>
              </a:spcBef>
              <a:spcAft>
                <a:spcPts val="0"/>
              </a:spcAft>
              <a:buNone/>
            </a:pPr>
            <a:r>
              <a:rPr b="1" lang="en-US" sz="1500" u="sng">
                <a:solidFill>
                  <a:schemeClr val="dk1"/>
                </a:solidFill>
                <a:latin typeface="Calibri"/>
                <a:ea typeface="Calibri"/>
                <a:cs typeface="Calibri"/>
                <a:sym typeface="Calibri"/>
              </a:rPr>
              <a:t>Teams</a:t>
            </a:r>
            <a:r>
              <a:rPr b="1" lang="en-US" sz="1500">
                <a:solidFill>
                  <a:schemeClr val="dk1"/>
                </a:solidFill>
                <a:latin typeface="Calibri"/>
                <a:ea typeface="Calibri"/>
                <a:cs typeface="Calibri"/>
                <a:sym typeface="Calibri"/>
              </a:rPr>
              <a:t> </a:t>
            </a:r>
            <a:r>
              <a:rPr lang="en-US" sz="1500">
                <a:solidFill>
                  <a:schemeClr val="dk1"/>
                </a:solidFill>
                <a:latin typeface="Calibri"/>
                <a:ea typeface="Calibri"/>
                <a:cs typeface="Calibri"/>
                <a:sym typeface="Calibri"/>
              </a:rPr>
              <a:t>play each  other in </a:t>
            </a:r>
            <a:r>
              <a:rPr b="1" lang="en-US" sz="1500" u="sng">
                <a:solidFill>
                  <a:schemeClr val="dk1"/>
                </a:solidFill>
                <a:latin typeface="Calibri"/>
                <a:ea typeface="Calibri"/>
                <a:cs typeface="Calibri"/>
                <a:sym typeface="Calibri"/>
              </a:rPr>
              <a:t>Games</a:t>
            </a:r>
            <a:r>
              <a:rPr lang="en-US" sz="1500">
                <a:solidFill>
                  <a:schemeClr val="dk1"/>
                </a:solidFill>
                <a:latin typeface="Calibri"/>
                <a:ea typeface="Calibri"/>
                <a:cs typeface="Calibri"/>
                <a:sym typeface="Calibri"/>
              </a:rPr>
              <a:t>.  Each pair of teams  can play each other  multiple times</a:t>
            </a:r>
            <a:endParaRPr/>
          </a:p>
        </p:txBody>
      </p:sp>
      <p:sp>
        <p:nvSpPr>
          <p:cNvPr id="1166" name="Google Shape;1166;p64"/>
          <p:cNvSpPr txBox="1"/>
          <p:nvPr/>
        </p:nvSpPr>
        <p:spPr>
          <a:xfrm>
            <a:off x="7086756" y="3500967"/>
            <a:ext cx="61468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PlayingAway</a:t>
            </a:r>
            <a:endParaRPr sz="900">
              <a:solidFill>
                <a:schemeClr val="dk1"/>
              </a:solidFill>
              <a:latin typeface="Calibri"/>
              <a:ea typeface="Calibri"/>
              <a:cs typeface="Calibri"/>
              <a:sym typeface="Calibri"/>
            </a:endParaRPr>
          </a:p>
        </p:txBody>
      </p:sp>
      <p:grpSp>
        <p:nvGrpSpPr>
          <p:cNvPr id="1167" name="Google Shape;1167;p64"/>
          <p:cNvGrpSpPr/>
          <p:nvPr/>
        </p:nvGrpSpPr>
        <p:grpSpPr>
          <a:xfrm>
            <a:off x="7866414" y="3592701"/>
            <a:ext cx="394335" cy="435609"/>
            <a:chOff x="6342414" y="3592700"/>
            <a:chExt cx="394335" cy="435609"/>
          </a:xfrm>
        </p:grpSpPr>
        <p:sp>
          <p:nvSpPr>
            <p:cNvPr id="1168" name="Google Shape;1168;p64"/>
            <p:cNvSpPr/>
            <p:nvPr/>
          </p:nvSpPr>
          <p:spPr>
            <a:xfrm>
              <a:off x="6342414" y="3592700"/>
              <a:ext cx="394335" cy="435609"/>
            </a:xfrm>
            <a:custGeom>
              <a:rect b="b" l="l" r="r" t="t"/>
              <a:pathLst>
                <a:path extrusionOk="0" h="435610" w="394334">
                  <a:moveTo>
                    <a:pt x="0" y="0"/>
                  </a:moveTo>
                  <a:lnTo>
                    <a:pt x="394036" y="435467"/>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9" name="Google Shape;1169;p64"/>
            <p:cNvSpPr/>
            <p:nvPr/>
          </p:nvSpPr>
          <p:spPr>
            <a:xfrm>
              <a:off x="6342414" y="3592700"/>
              <a:ext cx="394335" cy="435609"/>
            </a:xfrm>
            <a:custGeom>
              <a:rect b="b" l="l" r="r" t="t"/>
              <a:pathLst>
                <a:path extrusionOk="0" h="435610" w="394334">
                  <a:moveTo>
                    <a:pt x="0" y="0"/>
                  </a:moveTo>
                  <a:lnTo>
                    <a:pt x="394037" y="435468"/>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170" name="Google Shape;1170;p64"/>
          <p:cNvGrpSpPr/>
          <p:nvPr/>
        </p:nvGrpSpPr>
        <p:grpSpPr>
          <a:xfrm>
            <a:off x="2387600" y="2286000"/>
            <a:ext cx="2413000" cy="1134533"/>
            <a:chOff x="863600" y="2285999"/>
            <a:chExt cx="2413000" cy="1134533"/>
          </a:xfrm>
        </p:grpSpPr>
        <p:pic>
          <p:nvPicPr>
            <p:cNvPr id="1171" name="Google Shape;1171;p64"/>
            <p:cNvPicPr preferRelativeResize="0"/>
            <p:nvPr/>
          </p:nvPicPr>
          <p:blipFill rotWithShape="1">
            <a:blip r:embed="rId3">
              <a:alphaModFix/>
            </a:blip>
            <a:srcRect b="0" l="0" r="0" t="0"/>
            <a:stretch/>
          </p:blipFill>
          <p:spPr>
            <a:xfrm>
              <a:off x="905933" y="2311399"/>
              <a:ext cx="2370667" cy="1032933"/>
            </a:xfrm>
            <a:prstGeom prst="rect">
              <a:avLst/>
            </a:prstGeom>
            <a:noFill/>
            <a:ln>
              <a:noFill/>
            </a:ln>
          </p:spPr>
        </p:pic>
        <p:pic>
          <p:nvPicPr>
            <p:cNvPr id="1172" name="Google Shape;1172;p64"/>
            <p:cNvPicPr preferRelativeResize="0"/>
            <p:nvPr/>
          </p:nvPicPr>
          <p:blipFill rotWithShape="1">
            <a:blip r:embed="rId4">
              <a:alphaModFix/>
            </a:blip>
            <a:srcRect b="0" l="0" r="0" t="0"/>
            <a:stretch/>
          </p:blipFill>
          <p:spPr>
            <a:xfrm>
              <a:off x="863600" y="2285999"/>
              <a:ext cx="2184400" cy="1134533"/>
            </a:xfrm>
            <a:prstGeom prst="rect">
              <a:avLst/>
            </a:prstGeom>
            <a:noFill/>
            <a:ln>
              <a:noFill/>
            </a:ln>
          </p:spPr>
        </p:pic>
      </p:grpSp>
      <p:sp>
        <p:nvSpPr>
          <p:cNvPr id="1173" name="Google Shape;1173;p64"/>
          <p:cNvSpPr txBox="1"/>
          <p:nvPr>
            <p:ph type="title"/>
          </p:nvPr>
        </p:nvSpPr>
        <p:spPr>
          <a:xfrm>
            <a:off x="2475325" y="2387586"/>
            <a:ext cx="2257425" cy="856004"/>
          </a:xfrm>
          <a:prstGeom prst="rect">
            <a:avLst/>
          </a:prstGeom>
          <a:solidFill>
            <a:srgbClr val="E6E0EC"/>
          </a:solidFill>
          <a:ln>
            <a:noFill/>
          </a:ln>
        </p:spPr>
        <p:txBody>
          <a:bodyPr anchorCtr="0" anchor="ctr" bIns="0" lIns="0" spcFirstLastPara="1" rIns="0" wrap="square" tIns="24750">
            <a:spAutoFit/>
          </a:bodyPr>
          <a:lstStyle/>
          <a:p>
            <a:pPr indent="0" lvl="0" marL="90805" marR="403860" rtl="0" algn="l">
              <a:lnSpc>
                <a:spcPct val="100299"/>
              </a:lnSpc>
              <a:spcBef>
                <a:spcPts val="0"/>
              </a:spcBef>
              <a:spcAft>
                <a:spcPts val="0"/>
              </a:spcAft>
              <a:buClr>
                <a:srgbClr val="000000"/>
              </a:buClr>
              <a:buSzPts val="1800"/>
              <a:buFont typeface="Calibri"/>
              <a:buNone/>
            </a:pPr>
            <a:r>
              <a:rPr lang="en-US" sz="1800">
                <a:solidFill>
                  <a:srgbClr val="000000"/>
                </a:solidFill>
                <a:latin typeface="Calibri"/>
                <a:ea typeface="Calibri"/>
                <a:cs typeface="Calibri"/>
                <a:sym typeface="Calibri"/>
              </a:rPr>
              <a:t>Note two copies of  the Teams entity  here!</a:t>
            </a:r>
            <a:endParaRPr sz="1800">
              <a:latin typeface="Calibri"/>
              <a:ea typeface="Calibri"/>
              <a:cs typeface="Calibri"/>
              <a:sym typeface="Calibri"/>
            </a:endParaRPr>
          </a:p>
        </p:txBody>
      </p:sp>
      <p:pic>
        <p:nvPicPr>
          <p:cNvPr id="1174" name="Google Shape;1174;p64"/>
          <p:cNvPicPr preferRelativeResize="0"/>
          <p:nvPr/>
        </p:nvPicPr>
        <p:blipFill rotWithShape="1">
          <a:blip r:embed="rId5">
            <a:alphaModFix/>
          </a:blip>
          <a:srcRect b="0" l="0" r="0" t="0"/>
          <a:stretch/>
        </p:blipFill>
        <p:spPr>
          <a:xfrm>
            <a:off x="2751667" y="3750732"/>
            <a:ext cx="1464733" cy="999066"/>
          </a:xfrm>
          <a:prstGeom prst="rect">
            <a:avLst/>
          </a:prstGeom>
          <a:noFill/>
          <a:ln>
            <a:noFill/>
          </a:ln>
        </p:spPr>
      </p:pic>
      <p:sp>
        <p:nvSpPr>
          <p:cNvPr id="1175" name="Google Shape;1175;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65"/>
          <p:cNvSpPr txBox="1"/>
          <p:nvPr/>
        </p:nvSpPr>
        <p:spPr>
          <a:xfrm>
            <a:off x="3421382" y="2214834"/>
            <a:ext cx="726440" cy="223138"/>
          </a:xfrm>
          <a:prstGeom prst="rect">
            <a:avLst/>
          </a:prstGeom>
          <a:solidFill>
            <a:srgbClr val="F2DCDB"/>
          </a:solidFill>
          <a:ln cap="flat" cmpd="sng" w="9525">
            <a:solidFill>
              <a:srgbClr val="000000"/>
            </a:solidFill>
            <a:prstDash val="solid"/>
            <a:round/>
            <a:headEnd len="sm" w="sm" type="none"/>
            <a:tailEnd len="sm" w="sm" type="none"/>
          </a:ln>
        </p:spPr>
        <p:txBody>
          <a:bodyPr anchorCtr="0" anchor="t" bIns="0" lIns="0" spcFirstLastPara="1" rIns="0" wrap="square" tIns="83800">
            <a:spAutoFit/>
          </a:bodyPr>
          <a:lstStyle/>
          <a:p>
            <a:pPr indent="0" lvl="0" marL="196215" marR="0" rtl="0" algn="l">
              <a:spcBef>
                <a:spcPts val="0"/>
              </a:spcBef>
              <a:spcAft>
                <a:spcPts val="0"/>
              </a:spcAft>
              <a:buNone/>
            </a:pPr>
            <a:r>
              <a:rPr lang="en-US" sz="900">
                <a:solidFill>
                  <a:schemeClr val="dk1"/>
                </a:solidFill>
                <a:latin typeface="Calibri"/>
                <a:ea typeface="Calibri"/>
                <a:cs typeface="Calibri"/>
                <a:sym typeface="Calibri"/>
              </a:rPr>
              <a:t>Players</a:t>
            </a:r>
            <a:endParaRPr/>
          </a:p>
        </p:txBody>
      </p:sp>
      <p:grpSp>
        <p:nvGrpSpPr>
          <p:cNvPr id="1181" name="Google Shape;1181;p65"/>
          <p:cNvGrpSpPr/>
          <p:nvPr/>
        </p:nvGrpSpPr>
        <p:grpSpPr>
          <a:xfrm>
            <a:off x="2615914" y="1538161"/>
            <a:ext cx="862330" cy="398780"/>
            <a:chOff x="1091913" y="1538160"/>
            <a:chExt cx="862330" cy="398780"/>
          </a:xfrm>
        </p:grpSpPr>
        <p:sp>
          <p:nvSpPr>
            <p:cNvPr id="1182" name="Google Shape;1182;p65"/>
            <p:cNvSpPr/>
            <p:nvPr/>
          </p:nvSpPr>
          <p:spPr>
            <a:xfrm>
              <a:off x="1091913" y="1538160"/>
              <a:ext cx="862330" cy="398780"/>
            </a:xfrm>
            <a:custGeom>
              <a:rect b="b" l="l" r="r" t="t"/>
              <a:pathLst>
                <a:path extrusionOk="0" h="398780" w="862330">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4"/>
                  </a:lnTo>
                  <a:lnTo>
                    <a:pt x="69452" y="307554"/>
                  </a:lnTo>
                  <a:lnTo>
                    <a:pt x="105740" y="329769"/>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3" name="Google Shape;1183;p65"/>
            <p:cNvSpPr/>
            <p:nvPr/>
          </p:nvSpPr>
          <p:spPr>
            <a:xfrm>
              <a:off x="1091913" y="1538160"/>
              <a:ext cx="862330" cy="398780"/>
            </a:xfrm>
            <a:custGeom>
              <a:rect b="b" l="l" r="r" t="t"/>
              <a:pathLst>
                <a:path extrusionOk="0" h="398780" w="86233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84" name="Google Shape;1184;p65"/>
          <p:cNvSpPr txBox="1"/>
          <p:nvPr/>
        </p:nvSpPr>
        <p:spPr>
          <a:xfrm>
            <a:off x="2902546" y="1646767"/>
            <a:ext cx="29083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name</a:t>
            </a:r>
            <a:endParaRPr sz="900">
              <a:solidFill>
                <a:schemeClr val="dk1"/>
              </a:solidFill>
              <a:latin typeface="Calibri"/>
              <a:ea typeface="Calibri"/>
              <a:cs typeface="Calibri"/>
              <a:sym typeface="Calibri"/>
            </a:endParaRPr>
          </a:p>
        </p:txBody>
      </p:sp>
      <p:grpSp>
        <p:nvGrpSpPr>
          <p:cNvPr id="1185" name="Google Shape;1185;p65"/>
          <p:cNvGrpSpPr/>
          <p:nvPr/>
        </p:nvGrpSpPr>
        <p:grpSpPr>
          <a:xfrm>
            <a:off x="3047011" y="1936414"/>
            <a:ext cx="2410243" cy="433660"/>
            <a:chOff x="1523010" y="1936414"/>
            <a:chExt cx="2410243" cy="433660"/>
          </a:xfrm>
        </p:grpSpPr>
        <p:sp>
          <p:nvSpPr>
            <p:cNvPr id="1186" name="Google Shape;1186;p65"/>
            <p:cNvSpPr/>
            <p:nvPr/>
          </p:nvSpPr>
          <p:spPr>
            <a:xfrm>
              <a:off x="1523010" y="1936414"/>
              <a:ext cx="737870" cy="278765"/>
            </a:xfrm>
            <a:custGeom>
              <a:rect b="b" l="l" r="r" t="t"/>
              <a:pathLst>
                <a:path extrusionOk="0" h="278764" w="737869">
                  <a:moveTo>
                    <a:pt x="0" y="0"/>
                  </a:moveTo>
                  <a:lnTo>
                    <a:pt x="737402" y="278420"/>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7" name="Google Shape;1187;p65"/>
            <p:cNvSpPr/>
            <p:nvPr/>
          </p:nvSpPr>
          <p:spPr>
            <a:xfrm>
              <a:off x="1523010" y="1936414"/>
              <a:ext cx="737870" cy="278765"/>
            </a:xfrm>
            <a:custGeom>
              <a:rect b="b" l="l" r="r" t="t"/>
              <a:pathLst>
                <a:path extrusionOk="0" h="278764" w="737869">
                  <a:moveTo>
                    <a:pt x="0" y="0"/>
                  </a:moveTo>
                  <a:lnTo>
                    <a:pt x="737402" y="27842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8" name="Google Shape;1188;p65"/>
            <p:cNvSpPr/>
            <p:nvPr/>
          </p:nvSpPr>
          <p:spPr>
            <a:xfrm>
              <a:off x="2623440" y="2148459"/>
              <a:ext cx="363220" cy="221615"/>
            </a:xfrm>
            <a:custGeom>
              <a:rect b="b" l="l" r="r" t="t"/>
              <a:pathLst>
                <a:path extrusionOk="0" h="221614" w="363219">
                  <a:moveTo>
                    <a:pt x="363029" y="0"/>
                  </a:moveTo>
                  <a:lnTo>
                    <a:pt x="0" y="221251"/>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9" name="Google Shape;1189;p65"/>
            <p:cNvSpPr/>
            <p:nvPr/>
          </p:nvSpPr>
          <p:spPr>
            <a:xfrm>
              <a:off x="2623440" y="2148458"/>
              <a:ext cx="363220" cy="221615"/>
            </a:xfrm>
            <a:custGeom>
              <a:rect b="b" l="l" r="r" t="t"/>
              <a:pathLst>
                <a:path extrusionOk="0" h="221614" w="363219">
                  <a:moveTo>
                    <a:pt x="0" y="221252"/>
                  </a:moveTo>
                  <a:lnTo>
                    <a:pt x="363029"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0" name="Google Shape;1190;p65"/>
            <p:cNvSpPr/>
            <p:nvPr/>
          </p:nvSpPr>
          <p:spPr>
            <a:xfrm>
              <a:off x="2986468" y="1949331"/>
              <a:ext cx="946785" cy="398780"/>
            </a:xfrm>
            <a:custGeom>
              <a:rect b="b" l="l" r="r" t="t"/>
              <a:pathLst>
                <a:path extrusionOk="0" h="398780" w="946785">
                  <a:moveTo>
                    <a:pt x="473270" y="0"/>
                  </a:moveTo>
                  <a:lnTo>
                    <a:pt x="0" y="199127"/>
                  </a:lnTo>
                  <a:lnTo>
                    <a:pt x="473270" y="398254"/>
                  </a:lnTo>
                  <a:lnTo>
                    <a:pt x="946541" y="199127"/>
                  </a:lnTo>
                  <a:lnTo>
                    <a:pt x="47327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1" name="Google Shape;1191;p65"/>
            <p:cNvSpPr/>
            <p:nvPr/>
          </p:nvSpPr>
          <p:spPr>
            <a:xfrm>
              <a:off x="2986468" y="1949331"/>
              <a:ext cx="946785" cy="398780"/>
            </a:xfrm>
            <a:custGeom>
              <a:rect b="b" l="l" r="r" t="t"/>
              <a:pathLst>
                <a:path extrusionOk="0" h="398780" w="946785">
                  <a:moveTo>
                    <a:pt x="0" y="199127"/>
                  </a:moveTo>
                  <a:lnTo>
                    <a:pt x="473270" y="0"/>
                  </a:lnTo>
                  <a:lnTo>
                    <a:pt x="946541" y="199127"/>
                  </a:lnTo>
                  <a:lnTo>
                    <a:pt x="473270" y="398254"/>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92" name="Google Shape;1192;p65"/>
          <p:cNvSpPr txBox="1"/>
          <p:nvPr/>
        </p:nvSpPr>
        <p:spPr>
          <a:xfrm>
            <a:off x="4713072" y="2061634"/>
            <a:ext cx="54292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MemberOf</a:t>
            </a:r>
            <a:endParaRPr sz="900">
              <a:solidFill>
                <a:schemeClr val="dk1"/>
              </a:solidFill>
              <a:latin typeface="Calibri"/>
              <a:ea typeface="Calibri"/>
              <a:cs typeface="Calibri"/>
              <a:sym typeface="Calibri"/>
            </a:endParaRPr>
          </a:p>
        </p:txBody>
      </p:sp>
      <p:grpSp>
        <p:nvGrpSpPr>
          <p:cNvPr id="1193" name="Google Shape;1193;p65"/>
          <p:cNvGrpSpPr/>
          <p:nvPr/>
        </p:nvGrpSpPr>
        <p:grpSpPr>
          <a:xfrm>
            <a:off x="3584277" y="1538161"/>
            <a:ext cx="862330" cy="398780"/>
            <a:chOff x="2060276" y="1538160"/>
            <a:chExt cx="862330" cy="398780"/>
          </a:xfrm>
        </p:grpSpPr>
        <p:sp>
          <p:nvSpPr>
            <p:cNvPr id="1194" name="Google Shape;1194;p65"/>
            <p:cNvSpPr/>
            <p:nvPr/>
          </p:nvSpPr>
          <p:spPr>
            <a:xfrm>
              <a:off x="2060276" y="1538160"/>
              <a:ext cx="862330" cy="398780"/>
            </a:xfrm>
            <a:custGeom>
              <a:rect b="b" l="l" r="r" t="t"/>
              <a:pathLst>
                <a:path extrusionOk="0" h="398780" w="862330">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4"/>
                  </a:lnTo>
                  <a:lnTo>
                    <a:pt x="69452" y="307554"/>
                  </a:lnTo>
                  <a:lnTo>
                    <a:pt x="105740" y="329769"/>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5" name="Google Shape;1195;p65"/>
            <p:cNvSpPr/>
            <p:nvPr/>
          </p:nvSpPr>
          <p:spPr>
            <a:xfrm>
              <a:off x="2060276" y="1538160"/>
              <a:ext cx="862330" cy="398780"/>
            </a:xfrm>
            <a:custGeom>
              <a:rect b="b" l="l" r="r" t="t"/>
              <a:pathLst>
                <a:path extrusionOk="0" h="398780" w="86233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96" name="Google Shape;1196;p65"/>
          <p:cNvSpPr txBox="1"/>
          <p:nvPr/>
        </p:nvSpPr>
        <p:spPr>
          <a:xfrm>
            <a:off x="3796298" y="1646767"/>
            <a:ext cx="441959"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u="sng">
                <a:solidFill>
                  <a:schemeClr val="dk1"/>
                </a:solidFill>
                <a:latin typeface="Calibri"/>
                <a:ea typeface="Calibri"/>
                <a:cs typeface="Calibri"/>
                <a:sym typeface="Calibri"/>
              </a:rPr>
              <a:t>Player ID</a:t>
            </a:r>
            <a:endParaRPr sz="900">
              <a:solidFill>
                <a:schemeClr val="dk1"/>
              </a:solidFill>
              <a:latin typeface="Calibri"/>
              <a:ea typeface="Calibri"/>
              <a:cs typeface="Calibri"/>
              <a:sym typeface="Calibri"/>
            </a:endParaRPr>
          </a:p>
        </p:txBody>
      </p:sp>
      <p:grpSp>
        <p:nvGrpSpPr>
          <p:cNvPr id="1197" name="Google Shape;1197;p65"/>
          <p:cNvGrpSpPr/>
          <p:nvPr/>
        </p:nvGrpSpPr>
        <p:grpSpPr>
          <a:xfrm>
            <a:off x="3784414" y="1936414"/>
            <a:ext cx="231140" cy="278765"/>
            <a:chOff x="2260413" y="1936414"/>
            <a:chExt cx="231140" cy="278765"/>
          </a:xfrm>
        </p:grpSpPr>
        <p:sp>
          <p:nvSpPr>
            <p:cNvPr id="1198" name="Google Shape;1198;p65"/>
            <p:cNvSpPr/>
            <p:nvPr/>
          </p:nvSpPr>
          <p:spPr>
            <a:xfrm>
              <a:off x="2260413" y="1936414"/>
              <a:ext cx="231140" cy="278765"/>
            </a:xfrm>
            <a:custGeom>
              <a:rect b="b" l="l" r="r" t="t"/>
              <a:pathLst>
                <a:path extrusionOk="0" h="278764" w="231139">
                  <a:moveTo>
                    <a:pt x="230962" y="0"/>
                  </a:moveTo>
                  <a:lnTo>
                    <a:pt x="0" y="278420"/>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9" name="Google Shape;1199;p65"/>
            <p:cNvSpPr/>
            <p:nvPr/>
          </p:nvSpPr>
          <p:spPr>
            <a:xfrm>
              <a:off x="2260413" y="1936414"/>
              <a:ext cx="231140" cy="278765"/>
            </a:xfrm>
            <a:custGeom>
              <a:rect b="b" l="l" r="r" t="t"/>
              <a:pathLst>
                <a:path extrusionOk="0" h="278764" w="231139">
                  <a:moveTo>
                    <a:pt x="230962" y="0"/>
                  </a:moveTo>
                  <a:lnTo>
                    <a:pt x="0" y="27842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00" name="Google Shape;1200;p65"/>
          <p:cNvSpPr txBox="1"/>
          <p:nvPr/>
        </p:nvSpPr>
        <p:spPr>
          <a:xfrm>
            <a:off x="2828058" y="4906433"/>
            <a:ext cx="1446530" cy="716280"/>
          </a:xfrm>
          <a:prstGeom prst="rect">
            <a:avLst/>
          </a:prstGeom>
          <a:noFill/>
          <a:ln>
            <a:noFill/>
          </a:ln>
        </p:spPr>
        <p:txBody>
          <a:bodyPr anchorCtr="0" anchor="t" bIns="0" lIns="0" spcFirstLastPara="1" rIns="0" wrap="square" tIns="16500">
            <a:spAutoFit/>
          </a:bodyPr>
          <a:lstStyle/>
          <a:p>
            <a:pPr indent="0" lvl="0" marL="12700" marR="5080" rtl="0" algn="l">
              <a:spcBef>
                <a:spcPts val="0"/>
              </a:spcBef>
              <a:spcAft>
                <a:spcPts val="0"/>
              </a:spcAft>
              <a:buNone/>
            </a:pPr>
            <a:r>
              <a:rPr b="1" lang="en-US" sz="1500" u="sng">
                <a:solidFill>
                  <a:schemeClr val="dk1"/>
                </a:solidFill>
                <a:latin typeface="Calibri"/>
                <a:ea typeface="Calibri"/>
                <a:cs typeface="Calibri"/>
                <a:sym typeface="Calibri"/>
              </a:rPr>
              <a:t>Players</a:t>
            </a:r>
            <a:r>
              <a:rPr b="1" lang="en-US" sz="1500">
                <a:solidFill>
                  <a:schemeClr val="dk1"/>
                </a:solidFill>
                <a:latin typeface="Calibri"/>
                <a:ea typeface="Calibri"/>
                <a:cs typeface="Calibri"/>
                <a:sym typeface="Calibri"/>
              </a:rPr>
              <a:t> </a:t>
            </a:r>
            <a:r>
              <a:rPr lang="en-US" sz="1500">
                <a:solidFill>
                  <a:schemeClr val="dk1"/>
                </a:solidFill>
                <a:latin typeface="Calibri"/>
                <a:ea typeface="Calibri"/>
                <a:cs typeface="Calibri"/>
                <a:sym typeface="Calibri"/>
              </a:rPr>
              <a:t>belong to  Teams (assume no  trades / changes)</a:t>
            </a:r>
            <a:endParaRPr sz="1500">
              <a:solidFill>
                <a:schemeClr val="dk1"/>
              </a:solidFill>
              <a:latin typeface="Calibri"/>
              <a:ea typeface="Calibri"/>
              <a:cs typeface="Calibri"/>
              <a:sym typeface="Calibri"/>
            </a:endParaRPr>
          </a:p>
        </p:txBody>
      </p:sp>
      <p:sp>
        <p:nvSpPr>
          <p:cNvPr id="1201" name="Google Shape;1201;p65"/>
          <p:cNvSpPr txBox="1"/>
          <p:nvPr/>
        </p:nvSpPr>
        <p:spPr>
          <a:xfrm>
            <a:off x="8063896" y="2413961"/>
            <a:ext cx="1089660" cy="235962"/>
          </a:xfrm>
          <a:prstGeom prst="rect">
            <a:avLst/>
          </a:prstGeom>
          <a:solidFill>
            <a:srgbClr val="F2DCDB"/>
          </a:solidFill>
          <a:ln cap="flat" cmpd="sng" w="9525">
            <a:solidFill>
              <a:srgbClr val="000000"/>
            </a:solidFill>
            <a:prstDash val="solid"/>
            <a:round/>
            <a:headEnd len="sm" w="sm" type="none"/>
            <a:tailEnd len="sm" w="sm" type="none"/>
          </a:ln>
        </p:spPr>
        <p:txBody>
          <a:bodyPr anchorCtr="0" anchor="t" bIns="0" lIns="0" spcFirstLastPara="1" rIns="0" wrap="square" tIns="96500">
            <a:spAutoFit/>
          </a:bodyPr>
          <a:lstStyle/>
          <a:p>
            <a:pPr indent="0" lvl="0" marL="1905" marR="0" rtl="0" algn="ctr">
              <a:spcBef>
                <a:spcPts val="0"/>
              </a:spcBef>
              <a:spcAft>
                <a:spcPts val="0"/>
              </a:spcAft>
              <a:buNone/>
            </a:pPr>
            <a:r>
              <a:rPr lang="en-US" sz="900">
                <a:solidFill>
                  <a:schemeClr val="dk1"/>
                </a:solidFill>
                <a:latin typeface="Calibri"/>
                <a:ea typeface="Calibri"/>
                <a:cs typeface="Calibri"/>
                <a:sym typeface="Calibri"/>
              </a:rPr>
              <a:t>Games</a:t>
            </a:r>
            <a:endParaRPr sz="900">
              <a:solidFill>
                <a:schemeClr val="dk1"/>
              </a:solidFill>
              <a:latin typeface="Calibri"/>
              <a:ea typeface="Calibri"/>
              <a:cs typeface="Calibri"/>
              <a:sym typeface="Calibri"/>
            </a:endParaRPr>
          </a:p>
        </p:txBody>
      </p:sp>
      <p:grpSp>
        <p:nvGrpSpPr>
          <p:cNvPr id="1202" name="Google Shape;1202;p65"/>
          <p:cNvGrpSpPr/>
          <p:nvPr/>
        </p:nvGrpSpPr>
        <p:grpSpPr>
          <a:xfrm>
            <a:off x="7409565" y="1396203"/>
            <a:ext cx="862330" cy="398780"/>
            <a:chOff x="5885564" y="1396202"/>
            <a:chExt cx="862330" cy="398780"/>
          </a:xfrm>
        </p:grpSpPr>
        <p:sp>
          <p:nvSpPr>
            <p:cNvPr id="1203" name="Google Shape;1203;p65"/>
            <p:cNvSpPr/>
            <p:nvPr/>
          </p:nvSpPr>
          <p:spPr>
            <a:xfrm>
              <a:off x="5885564" y="1396202"/>
              <a:ext cx="862330" cy="398780"/>
            </a:xfrm>
            <a:custGeom>
              <a:rect b="b" l="l" r="r" t="t"/>
              <a:pathLst>
                <a:path extrusionOk="0" h="398780" w="862329">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4"/>
                  </a:lnTo>
                  <a:lnTo>
                    <a:pt x="69452" y="307554"/>
                  </a:lnTo>
                  <a:lnTo>
                    <a:pt x="105740" y="329769"/>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4" name="Google Shape;1204;p65"/>
            <p:cNvSpPr/>
            <p:nvPr/>
          </p:nvSpPr>
          <p:spPr>
            <a:xfrm>
              <a:off x="5885564" y="1396202"/>
              <a:ext cx="862330" cy="398780"/>
            </a:xfrm>
            <a:custGeom>
              <a:rect b="b" l="l" r="r" t="t"/>
              <a:pathLst>
                <a:path extrusionOk="0" h="398780" w="86232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05" name="Google Shape;1205;p65"/>
          <p:cNvSpPr txBox="1"/>
          <p:nvPr/>
        </p:nvSpPr>
        <p:spPr>
          <a:xfrm>
            <a:off x="7723187" y="1502834"/>
            <a:ext cx="236854"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u="sng">
                <a:solidFill>
                  <a:schemeClr val="dk1"/>
                </a:solidFill>
                <a:latin typeface="Calibri"/>
                <a:ea typeface="Calibri"/>
                <a:cs typeface="Calibri"/>
                <a:sym typeface="Calibri"/>
              </a:rPr>
              <a:t>date</a:t>
            </a:r>
            <a:endParaRPr sz="900">
              <a:solidFill>
                <a:schemeClr val="dk1"/>
              </a:solidFill>
              <a:latin typeface="Calibri"/>
              <a:ea typeface="Calibri"/>
              <a:cs typeface="Calibri"/>
              <a:sym typeface="Calibri"/>
            </a:endParaRPr>
          </a:p>
        </p:txBody>
      </p:sp>
      <p:grpSp>
        <p:nvGrpSpPr>
          <p:cNvPr id="1206" name="Google Shape;1206;p65"/>
          <p:cNvGrpSpPr/>
          <p:nvPr/>
        </p:nvGrpSpPr>
        <p:grpSpPr>
          <a:xfrm>
            <a:off x="7840663" y="1794457"/>
            <a:ext cx="768350" cy="619760"/>
            <a:chOff x="6316662" y="1794456"/>
            <a:chExt cx="768350" cy="619760"/>
          </a:xfrm>
        </p:grpSpPr>
        <p:sp>
          <p:nvSpPr>
            <p:cNvPr id="1207" name="Google Shape;1207;p65"/>
            <p:cNvSpPr/>
            <p:nvPr/>
          </p:nvSpPr>
          <p:spPr>
            <a:xfrm>
              <a:off x="6316662" y="1794456"/>
              <a:ext cx="768350" cy="619760"/>
            </a:xfrm>
            <a:custGeom>
              <a:rect b="b" l="l" r="r" t="t"/>
              <a:pathLst>
                <a:path extrusionOk="0" h="619760" w="768350">
                  <a:moveTo>
                    <a:pt x="0" y="0"/>
                  </a:moveTo>
                  <a:lnTo>
                    <a:pt x="767778" y="619504"/>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8" name="Google Shape;1208;p65"/>
            <p:cNvSpPr/>
            <p:nvPr/>
          </p:nvSpPr>
          <p:spPr>
            <a:xfrm>
              <a:off x="6316662" y="1794456"/>
              <a:ext cx="768350" cy="619760"/>
            </a:xfrm>
            <a:custGeom>
              <a:rect b="b" l="l" r="r" t="t"/>
              <a:pathLst>
                <a:path extrusionOk="0" h="619760" w="768350">
                  <a:moveTo>
                    <a:pt x="0" y="0"/>
                  </a:moveTo>
                  <a:lnTo>
                    <a:pt x="767779" y="619505"/>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09" name="Google Shape;1209;p65"/>
          <p:cNvSpPr txBox="1"/>
          <p:nvPr/>
        </p:nvSpPr>
        <p:spPr>
          <a:xfrm>
            <a:off x="5826462" y="1794455"/>
            <a:ext cx="726440" cy="219932"/>
          </a:xfrm>
          <a:prstGeom prst="rect">
            <a:avLst/>
          </a:prstGeom>
          <a:solidFill>
            <a:srgbClr val="F2DCDB"/>
          </a:solidFill>
          <a:ln cap="flat" cmpd="sng" w="9525">
            <a:solidFill>
              <a:srgbClr val="000000"/>
            </a:solidFill>
            <a:prstDash val="solid"/>
            <a:round/>
            <a:headEnd len="sm" w="sm" type="none"/>
            <a:tailEnd len="sm" w="sm" type="none"/>
          </a:ln>
        </p:spPr>
        <p:txBody>
          <a:bodyPr anchorCtr="0" anchor="t" bIns="0" lIns="0" spcFirstLastPara="1" rIns="0" wrap="square" tIns="80625">
            <a:spAutoFit/>
          </a:bodyPr>
          <a:lstStyle/>
          <a:p>
            <a:pPr indent="0" lvl="0" marL="210820" marR="0" rtl="0" algn="l">
              <a:spcBef>
                <a:spcPts val="0"/>
              </a:spcBef>
              <a:spcAft>
                <a:spcPts val="0"/>
              </a:spcAft>
              <a:buNone/>
            </a:pPr>
            <a:r>
              <a:rPr lang="en-US" sz="900">
                <a:solidFill>
                  <a:schemeClr val="dk1"/>
                </a:solidFill>
                <a:latin typeface="Calibri"/>
                <a:ea typeface="Calibri"/>
                <a:cs typeface="Calibri"/>
                <a:sym typeface="Calibri"/>
              </a:rPr>
              <a:t>Teams</a:t>
            </a:r>
            <a:endParaRPr sz="900">
              <a:solidFill>
                <a:schemeClr val="dk1"/>
              </a:solidFill>
              <a:latin typeface="Calibri"/>
              <a:ea typeface="Calibri"/>
              <a:cs typeface="Calibri"/>
              <a:sym typeface="Calibri"/>
            </a:endParaRPr>
          </a:p>
        </p:txBody>
      </p:sp>
      <p:grpSp>
        <p:nvGrpSpPr>
          <p:cNvPr id="1210" name="Google Shape;1210;p65"/>
          <p:cNvGrpSpPr/>
          <p:nvPr/>
        </p:nvGrpSpPr>
        <p:grpSpPr>
          <a:xfrm>
            <a:off x="5681165" y="1178502"/>
            <a:ext cx="862330" cy="398780"/>
            <a:chOff x="4157164" y="1178501"/>
            <a:chExt cx="862330" cy="398780"/>
          </a:xfrm>
        </p:grpSpPr>
        <p:sp>
          <p:nvSpPr>
            <p:cNvPr id="1211" name="Google Shape;1211;p65"/>
            <p:cNvSpPr/>
            <p:nvPr/>
          </p:nvSpPr>
          <p:spPr>
            <a:xfrm>
              <a:off x="4157164" y="1178501"/>
              <a:ext cx="862330" cy="398780"/>
            </a:xfrm>
            <a:custGeom>
              <a:rect b="b" l="l" r="r" t="t"/>
              <a:pathLst>
                <a:path extrusionOk="0" h="398780" w="862329">
                  <a:moveTo>
                    <a:pt x="431096" y="0"/>
                  </a:moveTo>
                  <a:lnTo>
                    <a:pt x="367392" y="2159"/>
                  </a:lnTo>
                  <a:lnTo>
                    <a:pt x="306590" y="8430"/>
                  </a:lnTo>
                  <a:lnTo>
                    <a:pt x="249357" y="18507"/>
                  </a:lnTo>
                  <a:lnTo>
                    <a:pt x="196360" y="32080"/>
                  </a:lnTo>
                  <a:lnTo>
                    <a:pt x="148265" y="48842"/>
                  </a:lnTo>
                  <a:lnTo>
                    <a:pt x="105741" y="68484"/>
                  </a:lnTo>
                  <a:lnTo>
                    <a:pt x="69452" y="90699"/>
                  </a:lnTo>
                  <a:lnTo>
                    <a:pt x="40067" y="115179"/>
                  </a:lnTo>
                  <a:lnTo>
                    <a:pt x="4674" y="169701"/>
                  </a:lnTo>
                  <a:lnTo>
                    <a:pt x="0" y="199127"/>
                  </a:lnTo>
                  <a:lnTo>
                    <a:pt x="4674" y="228552"/>
                  </a:lnTo>
                  <a:lnTo>
                    <a:pt x="40067" y="283073"/>
                  </a:lnTo>
                  <a:lnTo>
                    <a:pt x="69452" y="307553"/>
                  </a:lnTo>
                  <a:lnTo>
                    <a:pt x="105741" y="329768"/>
                  </a:lnTo>
                  <a:lnTo>
                    <a:pt x="148265" y="349410"/>
                  </a:lnTo>
                  <a:lnTo>
                    <a:pt x="196360" y="366172"/>
                  </a:lnTo>
                  <a:lnTo>
                    <a:pt x="249357" y="379745"/>
                  </a:lnTo>
                  <a:lnTo>
                    <a:pt x="306590" y="389822"/>
                  </a:lnTo>
                  <a:lnTo>
                    <a:pt x="367392" y="396093"/>
                  </a:lnTo>
                  <a:lnTo>
                    <a:pt x="431096" y="398252"/>
                  </a:lnTo>
                  <a:lnTo>
                    <a:pt x="494800" y="396093"/>
                  </a:lnTo>
                  <a:lnTo>
                    <a:pt x="555602" y="389822"/>
                  </a:lnTo>
                  <a:lnTo>
                    <a:pt x="612835" y="379745"/>
                  </a:lnTo>
                  <a:lnTo>
                    <a:pt x="665833" y="366172"/>
                  </a:lnTo>
                  <a:lnTo>
                    <a:pt x="713927" y="349410"/>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2" name="Google Shape;1212;p65"/>
            <p:cNvSpPr/>
            <p:nvPr/>
          </p:nvSpPr>
          <p:spPr>
            <a:xfrm>
              <a:off x="4157164" y="1178501"/>
              <a:ext cx="862330" cy="398780"/>
            </a:xfrm>
            <a:custGeom>
              <a:rect b="b" l="l" r="r" t="t"/>
              <a:pathLst>
                <a:path extrusionOk="0" h="398780" w="86232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13" name="Google Shape;1213;p65"/>
          <p:cNvSpPr txBox="1"/>
          <p:nvPr/>
        </p:nvSpPr>
        <p:spPr>
          <a:xfrm>
            <a:off x="5908267" y="1291167"/>
            <a:ext cx="41148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u="sng">
                <a:solidFill>
                  <a:schemeClr val="dk1"/>
                </a:solidFill>
                <a:latin typeface="Calibri"/>
                <a:ea typeface="Calibri"/>
                <a:cs typeface="Calibri"/>
                <a:sym typeface="Calibri"/>
              </a:rPr>
              <a:t>Team ID</a:t>
            </a:r>
            <a:endParaRPr sz="900">
              <a:solidFill>
                <a:schemeClr val="dk1"/>
              </a:solidFill>
              <a:latin typeface="Calibri"/>
              <a:ea typeface="Calibri"/>
              <a:cs typeface="Calibri"/>
              <a:sym typeface="Calibri"/>
            </a:endParaRPr>
          </a:p>
        </p:txBody>
      </p:sp>
      <p:grpSp>
        <p:nvGrpSpPr>
          <p:cNvPr id="1214" name="Google Shape;1214;p65"/>
          <p:cNvGrpSpPr/>
          <p:nvPr/>
        </p:nvGrpSpPr>
        <p:grpSpPr>
          <a:xfrm>
            <a:off x="6112264" y="1576754"/>
            <a:ext cx="77470" cy="217804"/>
            <a:chOff x="4588263" y="1576753"/>
            <a:chExt cx="77470" cy="217804"/>
          </a:xfrm>
        </p:grpSpPr>
        <p:sp>
          <p:nvSpPr>
            <p:cNvPr id="1215" name="Google Shape;1215;p65"/>
            <p:cNvSpPr/>
            <p:nvPr/>
          </p:nvSpPr>
          <p:spPr>
            <a:xfrm>
              <a:off x="4588263" y="1576753"/>
              <a:ext cx="77470" cy="217804"/>
            </a:xfrm>
            <a:custGeom>
              <a:rect b="b" l="l" r="r" t="t"/>
              <a:pathLst>
                <a:path extrusionOk="0" h="217805" w="77470">
                  <a:moveTo>
                    <a:pt x="0" y="0"/>
                  </a:moveTo>
                  <a:lnTo>
                    <a:pt x="77229" y="217702"/>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6" name="Google Shape;1216;p65"/>
            <p:cNvSpPr/>
            <p:nvPr/>
          </p:nvSpPr>
          <p:spPr>
            <a:xfrm>
              <a:off x="4588263" y="1576753"/>
              <a:ext cx="77470" cy="217804"/>
            </a:xfrm>
            <a:custGeom>
              <a:rect b="b" l="l" r="r" t="t"/>
              <a:pathLst>
                <a:path extrusionOk="0" h="217805" w="77470">
                  <a:moveTo>
                    <a:pt x="0" y="0"/>
                  </a:moveTo>
                  <a:lnTo>
                    <a:pt x="77230" y="217703"/>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17" name="Google Shape;1217;p65"/>
          <p:cNvGrpSpPr/>
          <p:nvPr/>
        </p:nvGrpSpPr>
        <p:grpSpPr>
          <a:xfrm>
            <a:off x="6552520" y="1949333"/>
            <a:ext cx="1511676" cy="936788"/>
            <a:chOff x="5028520" y="1949333"/>
            <a:chExt cx="1511676" cy="936788"/>
          </a:xfrm>
        </p:grpSpPr>
        <p:sp>
          <p:nvSpPr>
            <p:cNvPr id="1218" name="Google Shape;1218;p65"/>
            <p:cNvSpPr/>
            <p:nvPr/>
          </p:nvSpPr>
          <p:spPr>
            <a:xfrm>
              <a:off x="6145861" y="2583928"/>
              <a:ext cx="394335" cy="102870"/>
            </a:xfrm>
            <a:custGeom>
              <a:rect b="b" l="l" r="r" t="t"/>
              <a:pathLst>
                <a:path extrusionOk="0" h="102869" w="394334">
                  <a:moveTo>
                    <a:pt x="394036" y="0"/>
                  </a:moveTo>
                  <a:lnTo>
                    <a:pt x="0" y="102542"/>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9" name="Google Shape;1219;p65"/>
            <p:cNvSpPr/>
            <p:nvPr/>
          </p:nvSpPr>
          <p:spPr>
            <a:xfrm>
              <a:off x="6145861" y="2583928"/>
              <a:ext cx="394335" cy="102870"/>
            </a:xfrm>
            <a:custGeom>
              <a:rect b="b" l="l" r="r" t="t"/>
              <a:pathLst>
                <a:path extrusionOk="0" h="102869" w="394334">
                  <a:moveTo>
                    <a:pt x="0" y="102542"/>
                  </a:moveTo>
                  <a:lnTo>
                    <a:pt x="394037"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0" name="Google Shape;1220;p65"/>
            <p:cNvSpPr/>
            <p:nvPr/>
          </p:nvSpPr>
          <p:spPr>
            <a:xfrm>
              <a:off x="5028520" y="1949333"/>
              <a:ext cx="170815" cy="737235"/>
            </a:xfrm>
            <a:custGeom>
              <a:rect b="b" l="l" r="r" t="t"/>
              <a:pathLst>
                <a:path extrusionOk="0" h="737235" w="170814">
                  <a:moveTo>
                    <a:pt x="0" y="0"/>
                  </a:moveTo>
                  <a:lnTo>
                    <a:pt x="170799" y="737137"/>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1" name="Google Shape;1221;p65"/>
            <p:cNvSpPr/>
            <p:nvPr/>
          </p:nvSpPr>
          <p:spPr>
            <a:xfrm>
              <a:off x="5028520" y="1949333"/>
              <a:ext cx="170815" cy="737235"/>
            </a:xfrm>
            <a:custGeom>
              <a:rect b="b" l="l" r="r" t="t"/>
              <a:pathLst>
                <a:path extrusionOk="0" h="737235" w="170814">
                  <a:moveTo>
                    <a:pt x="0" y="0"/>
                  </a:moveTo>
                  <a:lnTo>
                    <a:pt x="170801" y="737137"/>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2" name="Google Shape;1222;p65"/>
            <p:cNvSpPr/>
            <p:nvPr/>
          </p:nvSpPr>
          <p:spPr>
            <a:xfrm>
              <a:off x="5199320" y="2487341"/>
              <a:ext cx="946785" cy="398780"/>
            </a:xfrm>
            <a:custGeom>
              <a:rect b="b" l="l" r="r" t="t"/>
              <a:pathLst>
                <a:path extrusionOk="0" h="398780" w="946785">
                  <a:moveTo>
                    <a:pt x="473270" y="0"/>
                  </a:moveTo>
                  <a:lnTo>
                    <a:pt x="0" y="199127"/>
                  </a:lnTo>
                  <a:lnTo>
                    <a:pt x="473270" y="398254"/>
                  </a:lnTo>
                  <a:lnTo>
                    <a:pt x="946539" y="199127"/>
                  </a:lnTo>
                  <a:lnTo>
                    <a:pt x="47327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3" name="Google Shape;1223;p65"/>
            <p:cNvSpPr/>
            <p:nvPr/>
          </p:nvSpPr>
          <p:spPr>
            <a:xfrm>
              <a:off x="5199320" y="2487341"/>
              <a:ext cx="946785" cy="398780"/>
            </a:xfrm>
            <a:custGeom>
              <a:rect b="b" l="l" r="r" t="t"/>
              <a:pathLst>
                <a:path extrusionOk="0" h="398780" w="946785">
                  <a:moveTo>
                    <a:pt x="0" y="199127"/>
                  </a:moveTo>
                  <a:lnTo>
                    <a:pt x="473270" y="0"/>
                  </a:lnTo>
                  <a:lnTo>
                    <a:pt x="946541" y="199127"/>
                  </a:lnTo>
                  <a:lnTo>
                    <a:pt x="473270" y="398254"/>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24" name="Google Shape;1224;p65"/>
          <p:cNvSpPr txBox="1"/>
          <p:nvPr/>
        </p:nvSpPr>
        <p:spPr>
          <a:xfrm>
            <a:off x="6876710" y="2595034"/>
            <a:ext cx="64198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PlayingHome</a:t>
            </a:r>
            <a:endParaRPr sz="900">
              <a:solidFill>
                <a:schemeClr val="dk1"/>
              </a:solidFill>
              <a:latin typeface="Calibri"/>
              <a:ea typeface="Calibri"/>
              <a:cs typeface="Calibri"/>
              <a:sym typeface="Calibri"/>
            </a:endParaRPr>
          </a:p>
        </p:txBody>
      </p:sp>
      <p:grpSp>
        <p:nvGrpSpPr>
          <p:cNvPr id="1225" name="Google Shape;1225;p65"/>
          <p:cNvGrpSpPr/>
          <p:nvPr/>
        </p:nvGrpSpPr>
        <p:grpSpPr>
          <a:xfrm>
            <a:off x="8483810" y="1374574"/>
            <a:ext cx="862330" cy="398780"/>
            <a:chOff x="6959809" y="1374573"/>
            <a:chExt cx="862330" cy="398780"/>
          </a:xfrm>
        </p:grpSpPr>
        <p:sp>
          <p:nvSpPr>
            <p:cNvPr id="1226" name="Google Shape;1226;p65"/>
            <p:cNvSpPr/>
            <p:nvPr/>
          </p:nvSpPr>
          <p:spPr>
            <a:xfrm>
              <a:off x="6959809" y="1374573"/>
              <a:ext cx="862330" cy="398780"/>
            </a:xfrm>
            <a:custGeom>
              <a:rect b="b" l="l" r="r" t="t"/>
              <a:pathLst>
                <a:path extrusionOk="0" h="398780" w="862329">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7" name="Google Shape;1227;p65"/>
            <p:cNvSpPr/>
            <p:nvPr/>
          </p:nvSpPr>
          <p:spPr>
            <a:xfrm>
              <a:off x="6959809" y="1374573"/>
              <a:ext cx="862330" cy="398780"/>
            </a:xfrm>
            <a:custGeom>
              <a:rect b="b" l="l" r="r" t="t"/>
              <a:pathLst>
                <a:path extrusionOk="0" h="398780" w="86232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28" name="Google Shape;1228;p65"/>
          <p:cNvSpPr txBox="1"/>
          <p:nvPr/>
        </p:nvSpPr>
        <p:spPr>
          <a:xfrm>
            <a:off x="8714882" y="1485900"/>
            <a:ext cx="40259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u="sng">
                <a:solidFill>
                  <a:schemeClr val="dk1"/>
                </a:solidFill>
                <a:latin typeface="Calibri"/>
                <a:ea typeface="Calibri"/>
                <a:cs typeface="Calibri"/>
                <a:sym typeface="Calibri"/>
              </a:rPr>
              <a:t>location</a:t>
            </a:r>
            <a:endParaRPr sz="900">
              <a:solidFill>
                <a:schemeClr val="dk1"/>
              </a:solidFill>
              <a:latin typeface="Calibri"/>
              <a:ea typeface="Calibri"/>
              <a:cs typeface="Calibri"/>
              <a:sym typeface="Calibri"/>
            </a:endParaRPr>
          </a:p>
        </p:txBody>
      </p:sp>
      <p:grpSp>
        <p:nvGrpSpPr>
          <p:cNvPr id="1229" name="Google Shape;1229;p65"/>
          <p:cNvGrpSpPr/>
          <p:nvPr/>
        </p:nvGrpSpPr>
        <p:grpSpPr>
          <a:xfrm>
            <a:off x="6552520" y="1772828"/>
            <a:ext cx="2362625" cy="641350"/>
            <a:chOff x="5028520" y="1772827"/>
            <a:chExt cx="2362625" cy="641350"/>
          </a:xfrm>
        </p:grpSpPr>
        <p:sp>
          <p:nvSpPr>
            <p:cNvPr id="1230" name="Google Shape;1230;p65"/>
            <p:cNvSpPr/>
            <p:nvPr/>
          </p:nvSpPr>
          <p:spPr>
            <a:xfrm>
              <a:off x="7084439" y="1772827"/>
              <a:ext cx="306705" cy="641350"/>
            </a:xfrm>
            <a:custGeom>
              <a:rect b="b" l="l" r="r" t="t"/>
              <a:pathLst>
                <a:path extrusionOk="0" h="641350" w="306704">
                  <a:moveTo>
                    <a:pt x="306467" y="0"/>
                  </a:moveTo>
                  <a:lnTo>
                    <a:pt x="0" y="641135"/>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1" name="Google Shape;1231;p65"/>
            <p:cNvSpPr/>
            <p:nvPr/>
          </p:nvSpPr>
          <p:spPr>
            <a:xfrm>
              <a:off x="7084440" y="1772827"/>
              <a:ext cx="306705" cy="641350"/>
            </a:xfrm>
            <a:custGeom>
              <a:rect b="b" l="l" r="r" t="t"/>
              <a:pathLst>
                <a:path extrusionOk="0" h="641350" w="306704">
                  <a:moveTo>
                    <a:pt x="306467" y="0"/>
                  </a:moveTo>
                  <a:lnTo>
                    <a:pt x="0" y="641135"/>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2" name="Google Shape;1232;p65"/>
            <p:cNvSpPr/>
            <p:nvPr/>
          </p:nvSpPr>
          <p:spPr>
            <a:xfrm>
              <a:off x="5028520" y="1949333"/>
              <a:ext cx="170815" cy="199390"/>
            </a:xfrm>
            <a:custGeom>
              <a:rect b="b" l="l" r="r" t="t"/>
              <a:pathLst>
                <a:path extrusionOk="0" h="199389" w="170814">
                  <a:moveTo>
                    <a:pt x="0" y="0"/>
                  </a:moveTo>
                  <a:lnTo>
                    <a:pt x="170799" y="199127"/>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3" name="Google Shape;1233;p65"/>
            <p:cNvSpPr/>
            <p:nvPr/>
          </p:nvSpPr>
          <p:spPr>
            <a:xfrm>
              <a:off x="5028520" y="1949333"/>
              <a:ext cx="170815" cy="199390"/>
            </a:xfrm>
            <a:custGeom>
              <a:rect b="b" l="l" r="r" t="t"/>
              <a:pathLst>
                <a:path extrusionOk="0" h="199389" w="170814">
                  <a:moveTo>
                    <a:pt x="0" y="0"/>
                  </a:moveTo>
                  <a:lnTo>
                    <a:pt x="170801" y="199127"/>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4" name="Google Shape;1234;p65"/>
            <p:cNvSpPr/>
            <p:nvPr/>
          </p:nvSpPr>
          <p:spPr>
            <a:xfrm>
              <a:off x="5199320" y="1949333"/>
              <a:ext cx="946785" cy="398780"/>
            </a:xfrm>
            <a:custGeom>
              <a:rect b="b" l="l" r="r" t="t"/>
              <a:pathLst>
                <a:path extrusionOk="0" h="398780" w="946785">
                  <a:moveTo>
                    <a:pt x="473270" y="0"/>
                  </a:moveTo>
                  <a:lnTo>
                    <a:pt x="0" y="199127"/>
                  </a:lnTo>
                  <a:lnTo>
                    <a:pt x="473270" y="398254"/>
                  </a:lnTo>
                  <a:lnTo>
                    <a:pt x="946539" y="199127"/>
                  </a:lnTo>
                  <a:lnTo>
                    <a:pt x="47327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5" name="Google Shape;1235;p65"/>
            <p:cNvSpPr/>
            <p:nvPr/>
          </p:nvSpPr>
          <p:spPr>
            <a:xfrm>
              <a:off x="5199320" y="1949333"/>
              <a:ext cx="946785" cy="398780"/>
            </a:xfrm>
            <a:custGeom>
              <a:rect b="b" l="l" r="r" t="t"/>
              <a:pathLst>
                <a:path extrusionOk="0" h="398780" w="946785">
                  <a:moveTo>
                    <a:pt x="0" y="199127"/>
                  </a:moveTo>
                  <a:lnTo>
                    <a:pt x="473270" y="0"/>
                  </a:lnTo>
                  <a:lnTo>
                    <a:pt x="946541" y="199127"/>
                  </a:lnTo>
                  <a:lnTo>
                    <a:pt x="473270" y="398254"/>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36" name="Google Shape;1236;p65"/>
          <p:cNvSpPr txBox="1"/>
          <p:nvPr/>
        </p:nvSpPr>
        <p:spPr>
          <a:xfrm>
            <a:off x="6890203" y="2061634"/>
            <a:ext cx="61468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PlayingAway</a:t>
            </a:r>
            <a:endParaRPr sz="900">
              <a:solidFill>
                <a:schemeClr val="dk1"/>
              </a:solidFill>
              <a:latin typeface="Calibri"/>
              <a:ea typeface="Calibri"/>
              <a:cs typeface="Calibri"/>
              <a:sym typeface="Calibri"/>
            </a:endParaRPr>
          </a:p>
        </p:txBody>
      </p:sp>
      <p:grpSp>
        <p:nvGrpSpPr>
          <p:cNvPr id="1237" name="Google Shape;1237;p65"/>
          <p:cNvGrpSpPr/>
          <p:nvPr/>
        </p:nvGrpSpPr>
        <p:grpSpPr>
          <a:xfrm>
            <a:off x="7669861" y="2148461"/>
            <a:ext cx="394335" cy="435609"/>
            <a:chOff x="6145861" y="2148460"/>
            <a:chExt cx="394335" cy="435609"/>
          </a:xfrm>
        </p:grpSpPr>
        <p:sp>
          <p:nvSpPr>
            <p:cNvPr id="1238" name="Google Shape;1238;p65"/>
            <p:cNvSpPr/>
            <p:nvPr/>
          </p:nvSpPr>
          <p:spPr>
            <a:xfrm>
              <a:off x="6145861" y="2148460"/>
              <a:ext cx="394335" cy="435609"/>
            </a:xfrm>
            <a:custGeom>
              <a:rect b="b" l="l" r="r" t="t"/>
              <a:pathLst>
                <a:path extrusionOk="0" h="435610" w="394334">
                  <a:moveTo>
                    <a:pt x="0" y="0"/>
                  </a:moveTo>
                  <a:lnTo>
                    <a:pt x="394036" y="435467"/>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9" name="Google Shape;1239;p65"/>
            <p:cNvSpPr/>
            <p:nvPr/>
          </p:nvSpPr>
          <p:spPr>
            <a:xfrm>
              <a:off x="6145861" y="2148460"/>
              <a:ext cx="394335" cy="435609"/>
            </a:xfrm>
            <a:custGeom>
              <a:rect b="b" l="l" r="r" t="t"/>
              <a:pathLst>
                <a:path extrusionOk="0" h="435610" w="394334">
                  <a:moveTo>
                    <a:pt x="0" y="0"/>
                  </a:moveTo>
                  <a:lnTo>
                    <a:pt x="394037" y="435468"/>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40" name="Google Shape;1240;p65"/>
          <p:cNvGrpSpPr/>
          <p:nvPr/>
        </p:nvGrpSpPr>
        <p:grpSpPr>
          <a:xfrm>
            <a:off x="5457009" y="1949331"/>
            <a:ext cx="369570" cy="199390"/>
            <a:chOff x="3933009" y="1949331"/>
            <a:chExt cx="369570" cy="199390"/>
          </a:xfrm>
        </p:grpSpPr>
        <p:sp>
          <p:nvSpPr>
            <p:cNvPr id="1241" name="Google Shape;1241;p65"/>
            <p:cNvSpPr/>
            <p:nvPr/>
          </p:nvSpPr>
          <p:spPr>
            <a:xfrm>
              <a:off x="3933009" y="1949331"/>
              <a:ext cx="369570" cy="199390"/>
            </a:xfrm>
            <a:custGeom>
              <a:rect b="b" l="l" r="r" t="t"/>
              <a:pathLst>
                <a:path extrusionOk="0" h="199389" w="369570">
                  <a:moveTo>
                    <a:pt x="369453" y="0"/>
                  </a:moveTo>
                  <a:lnTo>
                    <a:pt x="0" y="199127"/>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2" name="Google Shape;1242;p65"/>
            <p:cNvSpPr/>
            <p:nvPr/>
          </p:nvSpPr>
          <p:spPr>
            <a:xfrm>
              <a:off x="3933009" y="1949331"/>
              <a:ext cx="369570" cy="199390"/>
            </a:xfrm>
            <a:custGeom>
              <a:rect b="b" l="l" r="r" t="t"/>
              <a:pathLst>
                <a:path extrusionOk="0" h="199389" w="369570">
                  <a:moveTo>
                    <a:pt x="0" y="199127"/>
                  </a:moveTo>
                  <a:lnTo>
                    <a:pt x="369453"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1243" name="Google Shape;1243;p65"/>
          <p:cNvPicPr preferRelativeResize="0"/>
          <p:nvPr/>
        </p:nvPicPr>
        <p:blipFill rotWithShape="1">
          <a:blip r:embed="rId3">
            <a:alphaModFix/>
          </a:blip>
          <a:srcRect b="0" l="0" r="0" t="0"/>
          <a:stretch/>
        </p:blipFill>
        <p:spPr>
          <a:xfrm>
            <a:off x="2565400" y="3632200"/>
            <a:ext cx="1701800" cy="1143000"/>
          </a:xfrm>
          <a:prstGeom prst="rect">
            <a:avLst/>
          </a:prstGeom>
          <a:noFill/>
          <a:ln>
            <a:noFill/>
          </a:ln>
        </p:spPr>
      </p:pic>
      <p:sp>
        <p:nvSpPr>
          <p:cNvPr id="1244" name="Google Shape;1244;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pic>
        <p:nvPicPr>
          <p:cNvPr id="1249" name="Google Shape;1249;p66"/>
          <p:cNvPicPr preferRelativeResize="0"/>
          <p:nvPr/>
        </p:nvPicPr>
        <p:blipFill rotWithShape="1">
          <a:blip r:embed="rId3">
            <a:alphaModFix/>
          </a:blip>
          <a:srcRect b="0" l="0" r="0" t="0"/>
          <a:stretch/>
        </p:blipFill>
        <p:spPr>
          <a:xfrm>
            <a:off x="1981201" y="3750733"/>
            <a:ext cx="1109133" cy="914400"/>
          </a:xfrm>
          <a:prstGeom prst="rect">
            <a:avLst/>
          </a:prstGeom>
          <a:noFill/>
          <a:ln>
            <a:noFill/>
          </a:ln>
        </p:spPr>
      </p:pic>
      <p:sp>
        <p:nvSpPr>
          <p:cNvPr id="1250" name="Google Shape;1250;p66"/>
          <p:cNvSpPr txBox="1"/>
          <p:nvPr/>
        </p:nvSpPr>
        <p:spPr>
          <a:xfrm>
            <a:off x="2016148" y="4787899"/>
            <a:ext cx="1911350" cy="944880"/>
          </a:xfrm>
          <a:prstGeom prst="rect">
            <a:avLst/>
          </a:prstGeom>
          <a:noFill/>
          <a:ln>
            <a:noFill/>
          </a:ln>
        </p:spPr>
        <p:txBody>
          <a:bodyPr anchorCtr="0" anchor="t" bIns="0" lIns="0" spcFirstLastPara="1" rIns="0" wrap="square" tIns="16500">
            <a:spAutoFit/>
          </a:bodyPr>
          <a:lstStyle/>
          <a:p>
            <a:pPr indent="0" lvl="0" marL="12700" marR="5080" rtl="0" algn="l">
              <a:spcBef>
                <a:spcPts val="0"/>
              </a:spcBef>
              <a:spcAft>
                <a:spcPts val="0"/>
              </a:spcAft>
              <a:buNone/>
            </a:pPr>
            <a:r>
              <a:rPr lang="en-US" sz="1500">
                <a:solidFill>
                  <a:schemeClr val="dk1"/>
                </a:solidFill>
                <a:latin typeface="Calibri"/>
                <a:ea typeface="Calibri"/>
                <a:cs typeface="Calibri"/>
                <a:sym typeface="Calibri"/>
              </a:rPr>
              <a:t>A Game is made up of  </a:t>
            </a:r>
            <a:r>
              <a:rPr b="1" lang="en-US" sz="1500" u="sng">
                <a:solidFill>
                  <a:schemeClr val="dk1"/>
                </a:solidFill>
                <a:latin typeface="Calibri"/>
                <a:ea typeface="Calibri"/>
                <a:cs typeface="Calibri"/>
                <a:sym typeface="Calibri"/>
              </a:rPr>
              <a:t>Plays</a:t>
            </a:r>
            <a:r>
              <a:rPr b="1" lang="en-US" sz="1500">
                <a:solidFill>
                  <a:schemeClr val="dk1"/>
                </a:solidFill>
                <a:latin typeface="Calibri"/>
                <a:ea typeface="Calibri"/>
                <a:cs typeface="Calibri"/>
                <a:sym typeface="Calibri"/>
              </a:rPr>
              <a:t> </a:t>
            </a:r>
            <a:r>
              <a:rPr lang="en-US" sz="1500">
                <a:solidFill>
                  <a:schemeClr val="dk1"/>
                </a:solidFill>
                <a:latin typeface="Calibri"/>
                <a:ea typeface="Calibri"/>
                <a:cs typeface="Calibri"/>
                <a:sym typeface="Calibri"/>
              </a:rPr>
              <a:t>that result in a  yardage gain/loss, and  potentially a touchdown</a:t>
            </a:r>
            <a:endParaRPr sz="1500">
              <a:solidFill>
                <a:schemeClr val="dk1"/>
              </a:solidFill>
              <a:latin typeface="Calibri"/>
              <a:ea typeface="Calibri"/>
              <a:cs typeface="Calibri"/>
              <a:sym typeface="Calibri"/>
            </a:endParaRPr>
          </a:p>
        </p:txBody>
      </p:sp>
      <p:sp>
        <p:nvSpPr>
          <p:cNvPr id="1251" name="Google Shape;1251;p66"/>
          <p:cNvSpPr txBox="1"/>
          <p:nvPr/>
        </p:nvSpPr>
        <p:spPr>
          <a:xfrm>
            <a:off x="5826462" y="3415919"/>
            <a:ext cx="1089660" cy="232756"/>
          </a:xfrm>
          <a:prstGeom prst="rect">
            <a:avLst/>
          </a:prstGeom>
          <a:solidFill>
            <a:srgbClr val="F2DCDB"/>
          </a:solidFill>
          <a:ln cap="flat" cmpd="sng" w="9525">
            <a:solidFill>
              <a:srgbClr val="000000"/>
            </a:solidFill>
            <a:prstDash val="solid"/>
            <a:round/>
            <a:headEnd len="sm" w="sm" type="none"/>
            <a:tailEnd len="sm" w="sm" type="none"/>
          </a:ln>
        </p:spPr>
        <p:txBody>
          <a:bodyPr anchorCtr="0" anchor="t" bIns="0" lIns="0" spcFirstLastPara="1" rIns="0" wrap="square" tIns="93325">
            <a:spAutoFit/>
          </a:bodyPr>
          <a:lstStyle/>
          <a:p>
            <a:pPr indent="0" lvl="0" marL="1905" marR="0" rtl="0" algn="ctr">
              <a:spcBef>
                <a:spcPts val="0"/>
              </a:spcBef>
              <a:spcAft>
                <a:spcPts val="0"/>
              </a:spcAft>
              <a:buNone/>
            </a:pPr>
            <a:r>
              <a:rPr lang="en-US" sz="900">
                <a:solidFill>
                  <a:schemeClr val="dk1"/>
                </a:solidFill>
                <a:latin typeface="Calibri"/>
                <a:ea typeface="Calibri"/>
                <a:cs typeface="Calibri"/>
                <a:sym typeface="Calibri"/>
              </a:rPr>
              <a:t>Plays</a:t>
            </a:r>
            <a:endParaRPr/>
          </a:p>
        </p:txBody>
      </p:sp>
      <p:grpSp>
        <p:nvGrpSpPr>
          <p:cNvPr id="1252" name="Google Shape;1252;p66"/>
          <p:cNvGrpSpPr/>
          <p:nvPr/>
        </p:nvGrpSpPr>
        <p:grpSpPr>
          <a:xfrm>
            <a:off x="5016768" y="4273336"/>
            <a:ext cx="862330" cy="398780"/>
            <a:chOff x="3492767" y="4273335"/>
            <a:chExt cx="862330" cy="398780"/>
          </a:xfrm>
        </p:grpSpPr>
        <p:sp>
          <p:nvSpPr>
            <p:cNvPr id="1253" name="Google Shape;1253;p66"/>
            <p:cNvSpPr/>
            <p:nvPr/>
          </p:nvSpPr>
          <p:spPr>
            <a:xfrm>
              <a:off x="3492767" y="4273335"/>
              <a:ext cx="862330" cy="398780"/>
            </a:xfrm>
            <a:custGeom>
              <a:rect b="b" l="l" r="r" t="t"/>
              <a:pathLst>
                <a:path extrusionOk="0" h="398779" w="862329">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4" name="Google Shape;1254;p66"/>
            <p:cNvSpPr/>
            <p:nvPr/>
          </p:nvSpPr>
          <p:spPr>
            <a:xfrm>
              <a:off x="3492767" y="4273335"/>
              <a:ext cx="862330" cy="398780"/>
            </a:xfrm>
            <a:custGeom>
              <a:rect b="b" l="l" r="r" t="t"/>
              <a:pathLst>
                <a:path extrusionOk="0" h="398779" w="86232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55" name="Google Shape;1255;p66"/>
          <p:cNvSpPr txBox="1"/>
          <p:nvPr/>
        </p:nvSpPr>
        <p:spPr>
          <a:xfrm>
            <a:off x="5277209" y="4381500"/>
            <a:ext cx="34480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u="sng">
                <a:solidFill>
                  <a:schemeClr val="dk1"/>
                </a:solidFill>
                <a:latin typeface="Calibri"/>
                <a:ea typeface="Calibri"/>
                <a:cs typeface="Calibri"/>
                <a:sym typeface="Calibri"/>
              </a:rPr>
              <a:t>Play ID</a:t>
            </a:r>
            <a:endParaRPr sz="900">
              <a:solidFill>
                <a:schemeClr val="dk1"/>
              </a:solidFill>
              <a:latin typeface="Calibri"/>
              <a:ea typeface="Calibri"/>
              <a:cs typeface="Calibri"/>
              <a:sym typeface="Calibri"/>
            </a:endParaRPr>
          </a:p>
        </p:txBody>
      </p:sp>
      <p:grpSp>
        <p:nvGrpSpPr>
          <p:cNvPr id="1256" name="Google Shape;1256;p66"/>
          <p:cNvGrpSpPr/>
          <p:nvPr/>
        </p:nvGrpSpPr>
        <p:grpSpPr>
          <a:xfrm>
            <a:off x="7230934" y="3185648"/>
            <a:ext cx="946785" cy="398780"/>
            <a:chOff x="5706934" y="3185647"/>
            <a:chExt cx="946785" cy="398780"/>
          </a:xfrm>
        </p:grpSpPr>
        <p:sp>
          <p:nvSpPr>
            <p:cNvPr id="1257" name="Google Shape;1257;p66"/>
            <p:cNvSpPr/>
            <p:nvPr/>
          </p:nvSpPr>
          <p:spPr>
            <a:xfrm>
              <a:off x="5706934" y="3185647"/>
              <a:ext cx="946785" cy="398780"/>
            </a:xfrm>
            <a:custGeom>
              <a:rect b="b" l="l" r="r" t="t"/>
              <a:pathLst>
                <a:path extrusionOk="0" h="398779" w="946784">
                  <a:moveTo>
                    <a:pt x="473270" y="0"/>
                  </a:moveTo>
                  <a:lnTo>
                    <a:pt x="0" y="199127"/>
                  </a:lnTo>
                  <a:lnTo>
                    <a:pt x="473270" y="398254"/>
                  </a:lnTo>
                  <a:lnTo>
                    <a:pt x="946541" y="199127"/>
                  </a:lnTo>
                  <a:lnTo>
                    <a:pt x="47327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8" name="Google Shape;1258;p66"/>
            <p:cNvSpPr/>
            <p:nvPr/>
          </p:nvSpPr>
          <p:spPr>
            <a:xfrm>
              <a:off x="5706934" y="3185647"/>
              <a:ext cx="946785" cy="398780"/>
            </a:xfrm>
            <a:custGeom>
              <a:rect b="b" l="l" r="r" t="t"/>
              <a:pathLst>
                <a:path extrusionOk="0" h="398779" w="946784">
                  <a:moveTo>
                    <a:pt x="0" y="199127"/>
                  </a:moveTo>
                  <a:lnTo>
                    <a:pt x="473270" y="0"/>
                  </a:lnTo>
                  <a:lnTo>
                    <a:pt x="946541" y="199127"/>
                  </a:lnTo>
                  <a:lnTo>
                    <a:pt x="473270" y="398254"/>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59" name="Google Shape;1259;p66"/>
          <p:cNvGrpSpPr/>
          <p:nvPr/>
        </p:nvGrpSpPr>
        <p:grpSpPr>
          <a:xfrm>
            <a:off x="5447864" y="3755849"/>
            <a:ext cx="1354374" cy="916266"/>
            <a:chOff x="3923864" y="3755849"/>
            <a:chExt cx="1354374" cy="916266"/>
          </a:xfrm>
        </p:grpSpPr>
        <p:sp>
          <p:nvSpPr>
            <p:cNvPr id="1260" name="Google Shape;1260;p66"/>
            <p:cNvSpPr/>
            <p:nvPr/>
          </p:nvSpPr>
          <p:spPr>
            <a:xfrm>
              <a:off x="3923864" y="3755849"/>
              <a:ext cx="923290" cy="517525"/>
            </a:xfrm>
            <a:custGeom>
              <a:rect b="b" l="l" r="r" t="t"/>
              <a:pathLst>
                <a:path extrusionOk="0" h="517525" w="923289">
                  <a:moveTo>
                    <a:pt x="923141" y="0"/>
                  </a:moveTo>
                  <a:lnTo>
                    <a:pt x="0" y="517486"/>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1" name="Google Shape;1261;p66"/>
            <p:cNvSpPr/>
            <p:nvPr/>
          </p:nvSpPr>
          <p:spPr>
            <a:xfrm>
              <a:off x="3923864" y="3755849"/>
              <a:ext cx="923290" cy="517525"/>
            </a:xfrm>
            <a:custGeom>
              <a:rect b="b" l="l" r="r" t="t"/>
              <a:pathLst>
                <a:path extrusionOk="0" h="517525" w="923289">
                  <a:moveTo>
                    <a:pt x="923141" y="0"/>
                  </a:moveTo>
                  <a:lnTo>
                    <a:pt x="0" y="517486"/>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2" name="Google Shape;1262;p66"/>
            <p:cNvSpPr/>
            <p:nvPr/>
          </p:nvSpPr>
          <p:spPr>
            <a:xfrm>
              <a:off x="4415908" y="4273335"/>
              <a:ext cx="862330" cy="398780"/>
            </a:xfrm>
            <a:custGeom>
              <a:rect b="b" l="l" r="r" t="t"/>
              <a:pathLst>
                <a:path extrusionOk="0" h="398779" w="862329">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3" name="Google Shape;1263;p66"/>
            <p:cNvSpPr/>
            <p:nvPr/>
          </p:nvSpPr>
          <p:spPr>
            <a:xfrm>
              <a:off x="4415908" y="4273335"/>
              <a:ext cx="862330" cy="398780"/>
            </a:xfrm>
            <a:custGeom>
              <a:rect b="b" l="l" r="r" t="t"/>
              <a:pathLst>
                <a:path extrusionOk="0" h="398779" w="86232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64" name="Google Shape;1264;p66"/>
          <p:cNvSpPr txBox="1"/>
          <p:nvPr/>
        </p:nvSpPr>
        <p:spPr>
          <a:xfrm>
            <a:off x="7511324" y="3297767"/>
            <a:ext cx="38798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OccurIn</a:t>
            </a:r>
            <a:endParaRPr sz="900">
              <a:solidFill>
                <a:schemeClr val="dk1"/>
              </a:solidFill>
              <a:latin typeface="Calibri"/>
              <a:ea typeface="Calibri"/>
              <a:cs typeface="Calibri"/>
              <a:sym typeface="Calibri"/>
            </a:endParaRPr>
          </a:p>
        </p:txBody>
      </p:sp>
      <p:grpSp>
        <p:nvGrpSpPr>
          <p:cNvPr id="1265" name="Google Shape;1265;p66"/>
          <p:cNvGrpSpPr/>
          <p:nvPr/>
        </p:nvGrpSpPr>
        <p:grpSpPr>
          <a:xfrm>
            <a:off x="6915549" y="2745959"/>
            <a:ext cx="1693092" cy="840111"/>
            <a:chOff x="5391548" y="2745958"/>
            <a:chExt cx="1693092" cy="840111"/>
          </a:xfrm>
        </p:grpSpPr>
        <p:sp>
          <p:nvSpPr>
            <p:cNvPr id="1266" name="Google Shape;1266;p66"/>
            <p:cNvSpPr/>
            <p:nvPr/>
          </p:nvSpPr>
          <p:spPr>
            <a:xfrm>
              <a:off x="6653475" y="2745958"/>
              <a:ext cx="431165" cy="638810"/>
            </a:xfrm>
            <a:custGeom>
              <a:rect b="b" l="l" r="r" t="t"/>
              <a:pathLst>
                <a:path extrusionOk="0" h="638810" w="431165">
                  <a:moveTo>
                    <a:pt x="430964" y="0"/>
                  </a:moveTo>
                  <a:lnTo>
                    <a:pt x="0" y="638815"/>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7" name="Google Shape;1267;p66"/>
            <p:cNvSpPr/>
            <p:nvPr/>
          </p:nvSpPr>
          <p:spPr>
            <a:xfrm>
              <a:off x="6653474" y="2745958"/>
              <a:ext cx="431165" cy="638810"/>
            </a:xfrm>
            <a:custGeom>
              <a:rect b="b" l="l" r="r" t="t"/>
              <a:pathLst>
                <a:path extrusionOk="0" h="638810" w="431165">
                  <a:moveTo>
                    <a:pt x="430965" y="0"/>
                  </a:moveTo>
                  <a:lnTo>
                    <a:pt x="0" y="638816"/>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8" name="Google Shape;1268;p66"/>
            <p:cNvSpPr/>
            <p:nvPr/>
          </p:nvSpPr>
          <p:spPr>
            <a:xfrm>
              <a:off x="5391548" y="3384774"/>
              <a:ext cx="315595" cy="201295"/>
            </a:xfrm>
            <a:custGeom>
              <a:rect b="b" l="l" r="r" t="t"/>
              <a:pathLst>
                <a:path extrusionOk="0" h="201295" w="315595">
                  <a:moveTo>
                    <a:pt x="315385" y="0"/>
                  </a:moveTo>
                  <a:lnTo>
                    <a:pt x="0" y="201109"/>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9" name="Google Shape;1269;p66"/>
            <p:cNvSpPr/>
            <p:nvPr/>
          </p:nvSpPr>
          <p:spPr>
            <a:xfrm>
              <a:off x="5391548" y="3384774"/>
              <a:ext cx="315595" cy="201295"/>
            </a:xfrm>
            <a:custGeom>
              <a:rect b="b" l="l" r="r" t="t"/>
              <a:pathLst>
                <a:path extrusionOk="0" h="201295" w="315595">
                  <a:moveTo>
                    <a:pt x="315386" y="0"/>
                  </a:moveTo>
                  <a:lnTo>
                    <a:pt x="0" y="201109"/>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70" name="Google Shape;1270;p66"/>
          <p:cNvSpPr txBox="1"/>
          <p:nvPr/>
        </p:nvSpPr>
        <p:spPr>
          <a:xfrm>
            <a:off x="6074936" y="4381500"/>
            <a:ext cx="59372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Yardage Diff</a:t>
            </a:r>
            <a:endParaRPr sz="900">
              <a:solidFill>
                <a:schemeClr val="dk1"/>
              </a:solidFill>
              <a:latin typeface="Calibri"/>
              <a:ea typeface="Calibri"/>
              <a:cs typeface="Calibri"/>
              <a:sym typeface="Calibri"/>
            </a:endParaRPr>
          </a:p>
        </p:txBody>
      </p:sp>
      <p:grpSp>
        <p:nvGrpSpPr>
          <p:cNvPr id="1271" name="Google Shape;1271;p66"/>
          <p:cNvGrpSpPr/>
          <p:nvPr/>
        </p:nvGrpSpPr>
        <p:grpSpPr>
          <a:xfrm>
            <a:off x="6371005" y="3755849"/>
            <a:ext cx="1346483" cy="916266"/>
            <a:chOff x="4847005" y="3755849"/>
            <a:chExt cx="1346483" cy="916266"/>
          </a:xfrm>
        </p:grpSpPr>
        <p:sp>
          <p:nvSpPr>
            <p:cNvPr id="1272" name="Google Shape;1272;p66"/>
            <p:cNvSpPr/>
            <p:nvPr/>
          </p:nvSpPr>
          <p:spPr>
            <a:xfrm>
              <a:off x="4847005" y="3755849"/>
              <a:ext cx="0" cy="517525"/>
            </a:xfrm>
            <a:custGeom>
              <a:rect b="b" l="l" r="r" t="t"/>
              <a:pathLst>
                <a:path extrusionOk="0" h="517525" w="120000">
                  <a:moveTo>
                    <a:pt x="0" y="0"/>
                  </a:moveTo>
                  <a:lnTo>
                    <a:pt x="0" y="517486"/>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3" name="Google Shape;1273;p66"/>
            <p:cNvSpPr/>
            <p:nvPr/>
          </p:nvSpPr>
          <p:spPr>
            <a:xfrm>
              <a:off x="4847005" y="3755849"/>
              <a:ext cx="0" cy="517525"/>
            </a:xfrm>
            <a:custGeom>
              <a:rect b="b" l="l" r="r" t="t"/>
              <a:pathLst>
                <a:path extrusionOk="0" h="517525" w="120000">
                  <a:moveTo>
                    <a:pt x="0" y="0"/>
                  </a:moveTo>
                  <a:lnTo>
                    <a:pt x="0" y="517486"/>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4" name="Google Shape;1274;p66"/>
            <p:cNvSpPr/>
            <p:nvPr/>
          </p:nvSpPr>
          <p:spPr>
            <a:xfrm>
              <a:off x="4847006" y="3755849"/>
              <a:ext cx="915669" cy="517525"/>
            </a:xfrm>
            <a:custGeom>
              <a:rect b="b" l="l" r="r" t="t"/>
              <a:pathLst>
                <a:path extrusionOk="0" h="517525" w="915670">
                  <a:moveTo>
                    <a:pt x="0" y="0"/>
                  </a:moveTo>
                  <a:lnTo>
                    <a:pt x="915249" y="517486"/>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5" name="Google Shape;1275;p66"/>
            <p:cNvSpPr/>
            <p:nvPr/>
          </p:nvSpPr>
          <p:spPr>
            <a:xfrm>
              <a:off x="4847006" y="3755849"/>
              <a:ext cx="915669" cy="517525"/>
            </a:xfrm>
            <a:custGeom>
              <a:rect b="b" l="l" r="r" t="t"/>
              <a:pathLst>
                <a:path extrusionOk="0" h="517525" w="915670">
                  <a:moveTo>
                    <a:pt x="0" y="0"/>
                  </a:moveTo>
                  <a:lnTo>
                    <a:pt x="915250" y="517486"/>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6" name="Google Shape;1276;p66"/>
            <p:cNvSpPr/>
            <p:nvPr/>
          </p:nvSpPr>
          <p:spPr>
            <a:xfrm>
              <a:off x="5331158" y="4273335"/>
              <a:ext cx="862330" cy="398780"/>
            </a:xfrm>
            <a:custGeom>
              <a:rect b="b" l="l" r="r" t="t"/>
              <a:pathLst>
                <a:path extrusionOk="0" h="398779" w="862329">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7" name="Google Shape;1277;p66"/>
            <p:cNvSpPr/>
            <p:nvPr/>
          </p:nvSpPr>
          <p:spPr>
            <a:xfrm>
              <a:off x="5331158" y="4273335"/>
              <a:ext cx="862330" cy="398780"/>
            </a:xfrm>
            <a:custGeom>
              <a:rect b="b" l="l" r="r" t="t"/>
              <a:pathLst>
                <a:path extrusionOk="0" h="398779" w="86232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78" name="Google Shape;1278;p66"/>
          <p:cNvSpPr txBox="1"/>
          <p:nvPr/>
        </p:nvSpPr>
        <p:spPr>
          <a:xfrm>
            <a:off x="7000506" y="4381500"/>
            <a:ext cx="57340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Touchdown</a:t>
            </a:r>
            <a:endParaRPr sz="900">
              <a:solidFill>
                <a:schemeClr val="dk1"/>
              </a:solidFill>
              <a:latin typeface="Calibri"/>
              <a:ea typeface="Calibri"/>
              <a:cs typeface="Calibri"/>
              <a:sym typeface="Calibri"/>
            </a:endParaRPr>
          </a:p>
        </p:txBody>
      </p:sp>
      <p:sp>
        <p:nvSpPr>
          <p:cNvPr id="1279" name="Google Shape;1279;p66"/>
          <p:cNvSpPr txBox="1"/>
          <p:nvPr/>
        </p:nvSpPr>
        <p:spPr>
          <a:xfrm>
            <a:off x="3421382" y="2214834"/>
            <a:ext cx="726440" cy="223138"/>
          </a:xfrm>
          <a:prstGeom prst="rect">
            <a:avLst/>
          </a:prstGeom>
          <a:solidFill>
            <a:srgbClr val="F2DCDB"/>
          </a:solidFill>
          <a:ln cap="flat" cmpd="sng" w="9525">
            <a:solidFill>
              <a:srgbClr val="000000"/>
            </a:solidFill>
            <a:prstDash val="solid"/>
            <a:round/>
            <a:headEnd len="sm" w="sm" type="none"/>
            <a:tailEnd len="sm" w="sm" type="none"/>
          </a:ln>
        </p:spPr>
        <p:txBody>
          <a:bodyPr anchorCtr="0" anchor="t" bIns="0" lIns="0" spcFirstLastPara="1" rIns="0" wrap="square" tIns="83800">
            <a:spAutoFit/>
          </a:bodyPr>
          <a:lstStyle/>
          <a:p>
            <a:pPr indent="0" lvl="0" marL="196215" marR="0" rtl="0" algn="l">
              <a:spcBef>
                <a:spcPts val="0"/>
              </a:spcBef>
              <a:spcAft>
                <a:spcPts val="0"/>
              </a:spcAft>
              <a:buNone/>
            </a:pPr>
            <a:r>
              <a:rPr lang="en-US" sz="900">
                <a:solidFill>
                  <a:schemeClr val="dk1"/>
                </a:solidFill>
                <a:latin typeface="Calibri"/>
                <a:ea typeface="Calibri"/>
                <a:cs typeface="Calibri"/>
                <a:sym typeface="Calibri"/>
              </a:rPr>
              <a:t>Players</a:t>
            </a:r>
            <a:endParaRPr/>
          </a:p>
        </p:txBody>
      </p:sp>
      <p:grpSp>
        <p:nvGrpSpPr>
          <p:cNvPr id="1280" name="Google Shape;1280;p66"/>
          <p:cNvGrpSpPr/>
          <p:nvPr/>
        </p:nvGrpSpPr>
        <p:grpSpPr>
          <a:xfrm>
            <a:off x="2615914" y="1538161"/>
            <a:ext cx="862330" cy="398780"/>
            <a:chOff x="1091913" y="1538160"/>
            <a:chExt cx="862330" cy="398780"/>
          </a:xfrm>
        </p:grpSpPr>
        <p:sp>
          <p:nvSpPr>
            <p:cNvPr id="1281" name="Google Shape;1281;p66"/>
            <p:cNvSpPr/>
            <p:nvPr/>
          </p:nvSpPr>
          <p:spPr>
            <a:xfrm>
              <a:off x="1091913" y="1538160"/>
              <a:ext cx="862330" cy="398780"/>
            </a:xfrm>
            <a:custGeom>
              <a:rect b="b" l="l" r="r" t="t"/>
              <a:pathLst>
                <a:path extrusionOk="0" h="398780" w="862330">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4"/>
                  </a:lnTo>
                  <a:lnTo>
                    <a:pt x="69452" y="307554"/>
                  </a:lnTo>
                  <a:lnTo>
                    <a:pt x="105740" y="329769"/>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2" name="Google Shape;1282;p66"/>
            <p:cNvSpPr/>
            <p:nvPr/>
          </p:nvSpPr>
          <p:spPr>
            <a:xfrm>
              <a:off x="1091913" y="1538160"/>
              <a:ext cx="862330" cy="398780"/>
            </a:xfrm>
            <a:custGeom>
              <a:rect b="b" l="l" r="r" t="t"/>
              <a:pathLst>
                <a:path extrusionOk="0" h="398780" w="86233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83" name="Google Shape;1283;p66"/>
          <p:cNvSpPr txBox="1"/>
          <p:nvPr/>
        </p:nvSpPr>
        <p:spPr>
          <a:xfrm>
            <a:off x="2902546" y="1646767"/>
            <a:ext cx="29083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name</a:t>
            </a:r>
            <a:endParaRPr sz="900">
              <a:solidFill>
                <a:schemeClr val="dk1"/>
              </a:solidFill>
              <a:latin typeface="Calibri"/>
              <a:ea typeface="Calibri"/>
              <a:cs typeface="Calibri"/>
              <a:sym typeface="Calibri"/>
            </a:endParaRPr>
          </a:p>
        </p:txBody>
      </p:sp>
      <p:grpSp>
        <p:nvGrpSpPr>
          <p:cNvPr id="1284" name="Google Shape;1284;p66"/>
          <p:cNvGrpSpPr/>
          <p:nvPr/>
        </p:nvGrpSpPr>
        <p:grpSpPr>
          <a:xfrm>
            <a:off x="3047011" y="1936414"/>
            <a:ext cx="2410243" cy="433660"/>
            <a:chOff x="1523010" y="1936414"/>
            <a:chExt cx="2410243" cy="433660"/>
          </a:xfrm>
        </p:grpSpPr>
        <p:sp>
          <p:nvSpPr>
            <p:cNvPr id="1285" name="Google Shape;1285;p66"/>
            <p:cNvSpPr/>
            <p:nvPr/>
          </p:nvSpPr>
          <p:spPr>
            <a:xfrm>
              <a:off x="1523010" y="1936414"/>
              <a:ext cx="737870" cy="278765"/>
            </a:xfrm>
            <a:custGeom>
              <a:rect b="b" l="l" r="r" t="t"/>
              <a:pathLst>
                <a:path extrusionOk="0" h="278764" w="737869">
                  <a:moveTo>
                    <a:pt x="0" y="0"/>
                  </a:moveTo>
                  <a:lnTo>
                    <a:pt x="737402" y="278420"/>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6" name="Google Shape;1286;p66"/>
            <p:cNvSpPr/>
            <p:nvPr/>
          </p:nvSpPr>
          <p:spPr>
            <a:xfrm>
              <a:off x="1523010" y="1936414"/>
              <a:ext cx="737870" cy="278765"/>
            </a:xfrm>
            <a:custGeom>
              <a:rect b="b" l="l" r="r" t="t"/>
              <a:pathLst>
                <a:path extrusionOk="0" h="278764" w="737869">
                  <a:moveTo>
                    <a:pt x="0" y="0"/>
                  </a:moveTo>
                  <a:lnTo>
                    <a:pt x="737402" y="27842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7" name="Google Shape;1287;p66"/>
            <p:cNvSpPr/>
            <p:nvPr/>
          </p:nvSpPr>
          <p:spPr>
            <a:xfrm>
              <a:off x="2623440" y="2148459"/>
              <a:ext cx="363220" cy="221615"/>
            </a:xfrm>
            <a:custGeom>
              <a:rect b="b" l="l" r="r" t="t"/>
              <a:pathLst>
                <a:path extrusionOk="0" h="221614" w="363219">
                  <a:moveTo>
                    <a:pt x="363029" y="0"/>
                  </a:moveTo>
                  <a:lnTo>
                    <a:pt x="0" y="221251"/>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8" name="Google Shape;1288;p66"/>
            <p:cNvSpPr/>
            <p:nvPr/>
          </p:nvSpPr>
          <p:spPr>
            <a:xfrm>
              <a:off x="2623440" y="2148458"/>
              <a:ext cx="363220" cy="221615"/>
            </a:xfrm>
            <a:custGeom>
              <a:rect b="b" l="l" r="r" t="t"/>
              <a:pathLst>
                <a:path extrusionOk="0" h="221614" w="363219">
                  <a:moveTo>
                    <a:pt x="0" y="221252"/>
                  </a:moveTo>
                  <a:lnTo>
                    <a:pt x="363029"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9" name="Google Shape;1289;p66"/>
            <p:cNvSpPr/>
            <p:nvPr/>
          </p:nvSpPr>
          <p:spPr>
            <a:xfrm>
              <a:off x="2986468" y="1949331"/>
              <a:ext cx="946785" cy="398780"/>
            </a:xfrm>
            <a:custGeom>
              <a:rect b="b" l="l" r="r" t="t"/>
              <a:pathLst>
                <a:path extrusionOk="0" h="398780" w="946785">
                  <a:moveTo>
                    <a:pt x="473270" y="0"/>
                  </a:moveTo>
                  <a:lnTo>
                    <a:pt x="0" y="199127"/>
                  </a:lnTo>
                  <a:lnTo>
                    <a:pt x="473270" y="398254"/>
                  </a:lnTo>
                  <a:lnTo>
                    <a:pt x="946541" y="199127"/>
                  </a:lnTo>
                  <a:lnTo>
                    <a:pt x="47327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0" name="Google Shape;1290;p66"/>
            <p:cNvSpPr/>
            <p:nvPr/>
          </p:nvSpPr>
          <p:spPr>
            <a:xfrm>
              <a:off x="2986468" y="1949331"/>
              <a:ext cx="946785" cy="398780"/>
            </a:xfrm>
            <a:custGeom>
              <a:rect b="b" l="l" r="r" t="t"/>
              <a:pathLst>
                <a:path extrusionOk="0" h="398780" w="946785">
                  <a:moveTo>
                    <a:pt x="0" y="199127"/>
                  </a:moveTo>
                  <a:lnTo>
                    <a:pt x="473270" y="0"/>
                  </a:lnTo>
                  <a:lnTo>
                    <a:pt x="946541" y="199127"/>
                  </a:lnTo>
                  <a:lnTo>
                    <a:pt x="473270" y="398254"/>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91" name="Google Shape;1291;p66"/>
          <p:cNvSpPr txBox="1"/>
          <p:nvPr/>
        </p:nvSpPr>
        <p:spPr>
          <a:xfrm>
            <a:off x="4713072" y="2061634"/>
            <a:ext cx="54292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MemberOf</a:t>
            </a:r>
            <a:endParaRPr sz="900">
              <a:solidFill>
                <a:schemeClr val="dk1"/>
              </a:solidFill>
              <a:latin typeface="Calibri"/>
              <a:ea typeface="Calibri"/>
              <a:cs typeface="Calibri"/>
              <a:sym typeface="Calibri"/>
            </a:endParaRPr>
          </a:p>
        </p:txBody>
      </p:sp>
      <p:grpSp>
        <p:nvGrpSpPr>
          <p:cNvPr id="1292" name="Google Shape;1292;p66"/>
          <p:cNvGrpSpPr/>
          <p:nvPr/>
        </p:nvGrpSpPr>
        <p:grpSpPr>
          <a:xfrm>
            <a:off x="3584277" y="1538161"/>
            <a:ext cx="862330" cy="398780"/>
            <a:chOff x="2060276" y="1538160"/>
            <a:chExt cx="862330" cy="398780"/>
          </a:xfrm>
        </p:grpSpPr>
        <p:sp>
          <p:nvSpPr>
            <p:cNvPr id="1293" name="Google Shape;1293;p66"/>
            <p:cNvSpPr/>
            <p:nvPr/>
          </p:nvSpPr>
          <p:spPr>
            <a:xfrm>
              <a:off x="2060276" y="1538160"/>
              <a:ext cx="862330" cy="398780"/>
            </a:xfrm>
            <a:custGeom>
              <a:rect b="b" l="l" r="r" t="t"/>
              <a:pathLst>
                <a:path extrusionOk="0" h="398780" w="862330">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4"/>
                  </a:lnTo>
                  <a:lnTo>
                    <a:pt x="69452" y="307554"/>
                  </a:lnTo>
                  <a:lnTo>
                    <a:pt x="105740" y="329769"/>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4" name="Google Shape;1294;p66"/>
            <p:cNvSpPr/>
            <p:nvPr/>
          </p:nvSpPr>
          <p:spPr>
            <a:xfrm>
              <a:off x="2060276" y="1538160"/>
              <a:ext cx="862330" cy="398780"/>
            </a:xfrm>
            <a:custGeom>
              <a:rect b="b" l="l" r="r" t="t"/>
              <a:pathLst>
                <a:path extrusionOk="0" h="398780" w="86233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95" name="Google Shape;1295;p66"/>
          <p:cNvSpPr txBox="1"/>
          <p:nvPr/>
        </p:nvSpPr>
        <p:spPr>
          <a:xfrm>
            <a:off x="3796298" y="1646767"/>
            <a:ext cx="441959"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u="sng">
                <a:solidFill>
                  <a:schemeClr val="dk1"/>
                </a:solidFill>
                <a:latin typeface="Calibri"/>
                <a:ea typeface="Calibri"/>
                <a:cs typeface="Calibri"/>
                <a:sym typeface="Calibri"/>
              </a:rPr>
              <a:t>Player ID</a:t>
            </a:r>
            <a:endParaRPr sz="900">
              <a:solidFill>
                <a:schemeClr val="dk1"/>
              </a:solidFill>
              <a:latin typeface="Calibri"/>
              <a:ea typeface="Calibri"/>
              <a:cs typeface="Calibri"/>
              <a:sym typeface="Calibri"/>
            </a:endParaRPr>
          </a:p>
        </p:txBody>
      </p:sp>
      <p:grpSp>
        <p:nvGrpSpPr>
          <p:cNvPr id="1296" name="Google Shape;1296;p66"/>
          <p:cNvGrpSpPr/>
          <p:nvPr/>
        </p:nvGrpSpPr>
        <p:grpSpPr>
          <a:xfrm>
            <a:off x="3784414" y="1936414"/>
            <a:ext cx="231140" cy="278765"/>
            <a:chOff x="2260413" y="1936414"/>
            <a:chExt cx="231140" cy="278765"/>
          </a:xfrm>
        </p:grpSpPr>
        <p:sp>
          <p:nvSpPr>
            <p:cNvPr id="1297" name="Google Shape;1297;p66"/>
            <p:cNvSpPr/>
            <p:nvPr/>
          </p:nvSpPr>
          <p:spPr>
            <a:xfrm>
              <a:off x="2260413" y="1936414"/>
              <a:ext cx="231140" cy="278765"/>
            </a:xfrm>
            <a:custGeom>
              <a:rect b="b" l="l" r="r" t="t"/>
              <a:pathLst>
                <a:path extrusionOk="0" h="278764" w="231139">
                  <a:moveTo>
                    <a:pt x="230962" y="0"/>
                  </a:moveTo>
                  <a:lnTo>
                    <a:pt x="0" y="278420"/>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8" name="Google Shape;1298;p66"/>
            <p:cNvSpPr/>
            <p:nvPr/>
          </p:nvSpPr>
          <p:spPr>
            <a:xfrm>
              <a:off x="2260413" y="1936414"/>
              <a:ext cx="231140" cy="278765"/>
            </a:xfrm>
            <a:custGeom>
              <a:rect b="b" l="l" r="r" t="t"/>
              <a:pathLst>
                <a:path extrusionOk="0" h="278764" w="231139">
                  <a:moveTo>
                    <a:pt x="230962" y="0"/>
                  </a:moveTo>
                  <a:lnTo>
                    <a:pt x="0" y="27842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99" name="Google Shape;1299;p66"/>
          <p:cNvSpPr txBox="1"/>
          <p:nvPr/>
        </p:nvSpPr>
        <p:spPr>
          <a:xfrm>
            <a:off x="8063896" y="2413961"/>
            <a:ext cx="1089660" cy="235962"/>
          </a:xfrm>
          <a:prstGeom prst="rect">
            <a:avLst/>
          </a:prstGeom>
          <a:solidFill>
            <a:srgbClr val="F2DCDB"/>
          </a:solidFill>
          <a:ln cap="flat" cmpd="sng" w="9525">
            <a:solidFill>
              <a:srgbClr val="000000"/>
            </a:solidFill>
            <a:prstDash val="solid"/>
            <a:round/>
            <a:headEnd len="sm" w="sm" type="none"/>
            <a:tailEnd len="sm" w="sm" type="none"/>
          </a:ln>
        </p:spPr>
        <p:txBody>
          <a:bodyPr anchorCtr="0" anchor="t" bIns="0" lIns="0" spcFirstLastPara="1" rIns="0" wrap="square" tIns="96500">
            <a:spAutoFit/>
          </a:bodyPr>
          <a:lstStyle/>
          <a:p>
            <a:pPr indent="0" lvl="0" marL="1905" marR="0" rtl="0" algn="ctr">
              <a:spcBef>
                <a:spcPts val="0"/>
              </a:spcBef>
              <a:spcAft>
                <a:spcPts val="0"/>
              </a:spcAft>
              <a:buNone/>
            </a:pPr>
            <a:r>
              <a:rPr lang="en-US" sz="900">
                <a:solidFill>
                  <a:schemeClr val="dk1"/>
                </a:solidFill>
                <a:latin typeface="Calibri"/>
                <a:ea typeface="Calibri"/>
                <a:cs typeface="Calibri"/>
                <a:sym typeface="Calibri"/>
              </a:rPr>
              <a:t>Games</a:t>
            </a:r>
            <a:endParaRPr sz="900">
              <a:solidFill>
                <a:schemeClr val="dk1"/>
              </a:solidFill>
              <a:latin typeface="Calibri"/>
              <a:ea typeface="Calibri"/>
              <a:cs typeface="Calibri"/>
              <a:sym typeface="Calibri"/>
            </a:endParaRPr>
          </a:p>
        </p:txBody>
      </p:sp>
      <p:grpSp>
        <p:nvGrpSpPr>
          <p:cNvPr id="1300" name="Google Shape;1300;p66"/>
          <p:cNvGrpSpPr/>
          <p:nvPr/>
        </p:nvGrpSpPr>
        <p:grpSpPr>
          <a:xfrm>
            <a:off x="7409565" y="1396203"/>
            <a:ext cx="862330" cy="398780"/>
            <a:chOff x="5885564" y="1396202"/>
            <a:chExt cx="862330" cy="398780"/>
          </a:xfrm>
        </p:grpSpPr>
        <p:sp>
          <p:nvSpPr>
            <p:cNvPr id="1301" name="Google Shape;1301;p66"/>
            <p:cNvSpPr/>
            <p:nvPr/>
          </p:nvSpPr>
          <p:spPr>
            <a:xfrm>
              <a:off x="5885564" y="1396202"/>
              <a:ext cx="862330" cy="398780"/>
            </a:xfrm>
            <a:custGeom>
              <a:rect b="b" l="l" r="r" t="t"/>
              <a:pathLst>
                <a:path extrusionOk="0" h="398780" w="862329">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4"/>
                  </a:lnTo>
                  <a:lnTo>
                    <a:pt x="69452" y="307554"/>
                  </a:lnTo>
                  <a:lnTo>
                    <a:pt x="105740" y="329769"/>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2" name="Google Shape;1302;p66"/>
            <p:cNvSpPr/>
            <p:nvPr/>
          </p:nvSpPr>
          <p:spPr>
            <a:xfrm>
              <a:off x="5885564" y="1396202"/>
              <a:ext cx="862330" cy="398780"/>
            </a:xfrm>
            <a:custGeom>
              <a:rect b="b" l="l" r="r" t="t"/>
              <a:pathLst>
                <a:path extrusionOk="0" h="398780" w="86232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03" name="Google Shape;1303;p66"/>
          <p:cNvSpPr txBox="1"/>
          <p:nvPr/>
        </p:nvSpPr>
        <p:spPr>
          <a:xfrm>
            <a:off x="7723187" y="1502834"/>
            <a:ext cx="236854"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u="sng">
                <a:solidFill>
                  <a:schemeClr val="dk1"/>
                </a:solidFill>
                <a:latin typeface="Calibri"/>
                <a:ea typeface="Calibri"/>
                <a:cs typeface="Calibri"/>
                <a:sym typeface="Calibri"/>
              </a:rPr>
              <a:t>date</a:t>
            </a:r>
            <a:endParaRPr sz="900">
              <a:solidFill>
                <a:schemeClr val="dk1"/>
              </a:solidFill>
              <a:latin typeface="Calibri"/>
              <a:ea typeface="Calibri"/>
              <a:cs typeface="Calibri"/>
              <a:sym typeface="Calibri"/>
            </a:endParaRPr>
          </a:p>
        </p:txBody>
      </p:sp>
      <p:grpSp>
        <p:nvGrpSpPr>
          <p:cNvPr id="1304" name="Google Shape;1304;p66"/>
          <p:cNvGrpSpPr/>
          <p:nvPr/>
        </p:nvGrpSpPr>
        <p:grpSpPr>
          <a:xfrm>
            <a:off x="7840663" y="1794457"/>
            <a:ext cx="768350" cy="619760"/>
            <a:chOff x="6316662" y="1794456"/>
            <a:chExt cx="768350" cy="619760"/>
          </a:xfrm>
        </p:grpSpPr>
        <p:sp>
          <p:nvSpPr>
            <p:cNvPr id="1305" name="Google Shape;1305;p66"/>
            <p:cNvSpPr/>
            <p:nvPr/>
          </p:nvSpPr>
          <p:spPr>
            <a:xfrm>
              <a:off x="6316662" y="1794456"/>
              <a:ext cx="768350" cy="619760"/>
            </a:xfrm>
            <a:custGeom>
              <a:rect b="b" l="l" r="r" t="t"/>
              <a:pathLst>
                <a:path extrusionOk="0" h="619760" w="768350">
                  <a:moveTo>
                    <a:pt x="0" y="0"/>
                  </a:moveTo>
                  <a:lnTo>
                    <a:pt x="767778" y="619504"/>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6" name="Google Shape;1306;p66"/>
            <p:cNvSpPr/>
            <p:nvPr/>
          </p:nvSpPr>
          <p:spPr>
            <a:xfrm>
              <a:off x="6316662" y="1794456"/>
              <a:ext cx="768350" cy="619760"/>
            </a:xfrm>
            <a:custGeom>
              <a:rect b="b" l="l" r="r" t="t"/>
              <a:pathLst>
                <a:path extrusionOk="0" h="619760" w="768350">
                  <a:moveTo>
                    <a:pt x="0" y="0"/>
                  </a:moveTo>
                  <a:lnTo>
                    <a:pt x="767779" y="619505"/>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07" name="Google Shape;1307;p66"/>
          <p:cNvSpPr txBox="1"/>
          <p:nvPr/>
        </p:nvSpPr>
        <p:spPr>
          <a:xfrm>
            <a:off x="5826462" y="1794455"/>
            <a:ext cx="726440" cy="219932"/>
          </a:xfrm>
          <a:prstGeom prst="rect">
            <a:avLst/>
          </a:prstGeom>
          <a:solidFill>
            <a:srgbClr val="F2DCDB"/>
          </a:solidFill>
          <a:ln cap="flat" cmpd="sng" w="9525">
            <a:solidFill>
              <a:srgbClr val="000000"/>
            </a:solidFill>
            <a:prstDash val="solid"/>
            <a:round/>
            <a:headEnd len="sm" w="sm" type="none"/>
            <a:tailEnd len="sm" w="sm" type="none"/>
          </a:ln>
        </p:spPr>
        <p:txBody>
          <a:bodyPr anchorCtr="0" anchor="t" bIns="0" lIns="0" spcFirstLastPara="1" rIns="0" wrap="square" tIns="80625">
            <a:spAutoFit/>
          </a:bodyPr>
          <a:lstStyle/>
          <a:p>
            <a:pPr indent="0" lvl="0" marL="210820" marR="0" rtl="0" algn="l">
              <a:spcBef>
                <a:spcPts val="0"/>
              </a:spcBef>
              <a:spcAft>
                <a:spcPts val="0"/>
              </a:spcAft>
              <a:buNone/>
            </a:pPr>
            <a:r>
              <a:rPr lang="en-US" sz="900">
                <a:solidFill>
                  <a:schemeClr val="dk1"/>
                </a:solidFill>
                <a:latin typeface="Calibri"/>
                <a:ea typeface="Calibri"/>
                <a:cs typeface="Calibri"/>
                <a:sym typeface="Calibri"/>
              </a:rPr>
              <a:t>Teams</a:t>
            </a:r>
            <a:endParaRPr sz="900">
              <a:solidFill>
                <a:schemeClr val="dk1"/>
              </a:solidFill>
              <a:latin typeface="Calibri"/>
              <a:ea typeface="Calibri"/>
              <a:cs typeface="Calibri"/>
              <a:sym typeface="Calibri"/>
            </a:endParaRPr>
          </a:p>
        </p:txBody>
      </p:sp>
      <p:grpSp>
        <p:nvGrpSpPr>
          <p:cNvPr id="1308" name="Google Shape;1308;p66"/>
          <p:cNvGrpSpPr/>
          <p:nvPr/>
        </p:nvGrpSpPr>
        <p:grpSpPr>
          <a:xfrm>
            <a:off x="5681165" y="1178502"/>
            <a:ext cx="862330" cy="398780"/>
            <a:chOff x="4157164" y="1178501"/>
            <a:chExt cx="862330" cy="398780"/>
          </a:xfrm>
        </p:grpSpPr>
        <p:sp>
          <p:nvSpPr>
            <p:cNvPr id="1309" name="Google Shape;1309;p66"/>
            <p:cNvSpPr/>
            <p:nvPr/>
          </p:nvSpPr>
          <p:spPr>
            <a:xfrm>
              <a:off x="4157164" y="1178501"/>
              <a:ext cx="862330" cy="398780"/>
            </a:xfrm>
            <a:custGeom>
              <a:rect b="b" l="l" r="r" t="t"/>
              <a:pathLst>
                <a:path extrusionOk="0" h="398780" w="862329">
                  <a:moveTo>
                    <a:pt x="431096" y="0"/>
                  </a:moveTo>
                  <a:lnTo>
                    <a:pt x="367392" y="2159"/>
                  </a:lnTo>
                  <a:lnTo>
                    <a:pt x="306590" y="8430"/>
                  </a:lnTo>
                  <a:lnTo>
                    <a:pt x="249357" y="18507"/>
                  </a:lnTo>
                  <a:lnTo>
                    <a:pt x="196360" y="32080"/>
                  </a:lnTo>
                  <a:lnTo>
                    <a:pt x="148265" y="48842"/>
                  </a:lnTo>
                  <a:lnTo>
                    <a:pt x="105741" y="68484"/>
                  </a:lnTo>
                  <a:lnTo>
                    <a:pt x="69452" y="90699"/>
                  </a:lnTo>
                  <a:lnTo>
                    <a:pt x="40067" y="115179"/>
                  </a:lnTo>
                  <a:lnTo>
                    <a:pt x="4674" y="169701"/>
                  </a:lnTo>
                  <a:lnTo>
                    <a:pt x="0" y="199127"/>
                  </a:lnTo>
                  <a:lnTo>
                    <a:pt x="4674" y="228552"/>
                  </a:lnTo>
                  <a:lnTo>
                    <a:pt x="40067" y="283073"/>
                  </a:lnTo>
                  <a:lnTo>
                    <a:pt x="69452" y="307553"/>
                  </a:lnTo>
                  <a:lnTo>
                    <a:pt x="105741" y="329768"/>
                  </a:lnTo>
                  <a:lnTo>
                    <a:pt x="148265" y="349410"/>
                  </a:lnTo>
                  <a:lnTo>
                    <a:pt x="196360" y="366172"/>
                  </a:lnTo>
                  <a:lnTo>
                    <a:pt x="249357" y="379745"/>
                  </a:lnTo>
                  <a:lnTo>
                    <a:pt x="306590" y="389822"/>
                  </a:lnTo>
                  <a:lnTo>
                    <a:pt x="367392" y="396093"/>
                  </a:lnTo>
                  <a:lnTo>
                    <a:pt x="431096" y="398252"/>
                  </a:lnTo>
                  <a:lnTo>
                    <a:pt x="494800" y="396093"/>
                  </a:lnTo>
                  <a:lnTo>
                    <a:pt x="555602" y="389822"/>
                  </a:lnTo>
                  <a:lnTo>
                    <a:pt x="612835" y="379745"/>
                  </a:lnTo>
                  <a:lnTo>
                    <a:pt x="665833" y="366172"/>
                  </a:lnTo>
                  <a:lnTo>
                    <a:pt x="713927" y="349410"/>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0" name="Google Shape;1310;p66"/>
            <p:cNvSpPr/>
            <p:nvPr/>
          </p:nvSpPr>
          <p:spPr>
            <a:xfrm>
              <a:off x="4157164" y="1178501"/>
              <a:ext cx="862330" cy="398780"/>
            </a:xfrm>
            <a:custGeom>
              <a:rect b="b" l="l" r="r" t="t"/>
              <a:pathLst>
                <a:path extrusionOk="0" h="398780" w="86232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11" name="Google Shape;1311;p66"/>
          <p:cNvSpPr txBox="1"/>
          <p:nvPr/>
        </p:nvSpPr>
        <p:spPr>
          <a:xfrm>
            <a:off x="5908267" y="1291167"/>
            <a:ext cx="41148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u="sng">
                <a:solidFill>
                  <a:schemeClr val="dk1"/>
                </a:solidFill>
                <a:latin typeface="Calibri"/>
                <a:ea typeface="Calibri"/>
                <a:cs typeface="Calibri"/>
                <a:sym typeface="Calibri"/>
              </a:rPr>
              <a:t>Team ID</a:t>
            </a:r>
            <a:endParaRPr sz="900">
              <a:solidFill>
                <a:schemeClr val="dk1"/>
              </a:solidFill>
              <a:latin typeface="Calibri"/>
              <a:ea typeface="Calibri"/>
              <a:cs typeface="Calibri"/>
              <a:sym typeface="Calibri"/>
            </a:endParaRPr>
          </a:p>
        </p:txBody>
      </p:sp>
      <p:grpSp>
        <p:nvGrpSpPr>
          <p:cNvPr id="1312" name="Google Shape;1312;p66"/>
          <p:cNvGrpSpPr/>
          <p:nvPr/>
        </p:nvGrpSpPr>
        <p:grpSpPr>
          <a:xfrm>
            <a:off x="6112264" y="1576754"/>
            <a:ext cx="77470" cy="217804"/>
            <a:chOff x="4588263" y="1576753"/>
            <a:chExt cx="77470" cy="217804"/>
          </a:xfrm>
        </p:grpSpPr>
        <p:sp>
          <p:nvSpPr>
            <p:cNvPr id="1313" name="Google Shape;1313;p66"/>
            <p:cNvSpPr/>
            <p:nvPr/>
          </p:nvSpPr>
          <p:spPr>
            <a:xfrm>
              <a:off x="4588263" y="1576753"/>
              <a:ext cx="77470" cy="217804"/>
            </a:xfrm>
            <a:custGeom>
              <a:rect b="b" l="l" r="r" t="t"/>
              <a:pathLst>
                <a:path extrusionOk="0" h="217805" w="77470">
                  <a:moveTo>
                    <a:pt x="0" y="0"/>
                  </a:moveTo>
                  <a:lnTo>
                    <a:pt x="77229" y="217702"/>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4" name="Google Shape;1314;p66"/>
            <p:cNvSpPr/>
            <p:nvPr/>
          </p:nvSpPr>
          <p:spPr>
            <a:xfrm>
              <a:off x="4588263" y="1576753"/>
              <a:ext cx="77470" cy="217804"/>
            </a:xfrm>
            <a:custGeom>
              <a:rect b="b" l="l" r="r" t="t"/>
              <a:pathLst>
                <a:path extrusionOk="0" h="217805" w="77470">
                  <a:moveTo>
                    <a:pt x="0" y="0"/>
                  </a:moveTo>
                  <a:lnTo>
                    <a:pt x="77230" y="217703"/>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15" name="Google Shape;1315;p66"/>
          <p:cNvGrpSpPr/>
          <p:nvPr/>
        </p:nvGrpSpPr>
        <p:grpSpPr>
          <a:xfrm>
            <a:off x="6552520" y="1949333"/>
            <a:ext cx="1511676" cy="936788"/>
            <a:chOff x="5028520" y="1949333"/>
            <a:chExt cx="1511676" cy="936788"/>
          </a:xfrm>
        </p:grpSpPr>
        <p:sp>
          <p:nvSpPr>
            <p:cNvPr id="1316" name="Google Shape;1316;p66"/>
            <p:cNvSpPr/>
            <p:nvPr/>
          </p:nvSpPr>
          <p:spPr>
            <a:xfrm>
              <a:off x="6145861" y="2583928"/>
              <a:ext cx="394335" cy="102870"/>
            </a:xfrm>
            <a:custGeom>
              <a:rect b="b" l="l" r="r" t="t"/>
              <a:pathLst>
                <a:path extrusionOk="0" h="102869" w="394334">
                  <a:moveTo>
                    <a:pt x="394036" y="0"/>
                  </a:moveTo>
                  <a:lnTo>
                    <a:pt x="0" y="102542"/>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7" name="Google Shape;1317;p66"/>
            <p:cNvSpPr/>
            <p:nvPr/>
          </p:nvSpPr>
          <p:spPr>
            <a:xfrm>
              <a:off x="6145861" y="2583928"/>
              <a:ext cx="394335" cy="102870"/>
            </a:xfrm>
            <a:custGeom>
              <a:rect b="b" l="l" r="r" t="t"/>
              <a:pathLst>
                <a:path extrusionOk="0" h="102869" w="394334">
                  <a:moveTo>
                    <a:pt x="0" y="102542"/>
                  </a:moveTo>
                  <a:lnTo>
                    <a:pt x="394037"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8" name="Google Shape;1318;p66"/>
            <p:cNvSpPr/>
            <p:nvPr/>
          </p:nvSpPr>
          <p:spPr>
            <a:xfrm>
              <a:off x="5028520" y="1949333"/>
              <a:ext cx="170815" cy="737235"/>
            </a:xfrm>
            <a:custGeom>
              <a:rect b="b" l="l" r="r" t="t"/>
              <a:pathLst>
                <a:path extrusionOk="0" h="737235" w="170814">
                  <a:moveTo>
                    <a:pt x="0" y="0"/>
                  </a:moveTo>
                  <a:lnTo>
                    <a:pt x="170799" y="737137"/>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9" name="Google Shape;1319;p66"/>
            <p:cNvSpPr/>
            <p:nvPr/>
          </p:nvSpPr>
          <p:spPr>
            <a:xfrm>
              <a:off x="5028520" y="1949333"/>
              <a:ext cx="170815" cy="737235"/>
            </a:xfrm>
            <a:custGeom>
              <a:rect b="b" l="l" r="r" t="t"/>
              <a:pathLst>
                <a:path extrusionOk="0" h="737235" w="170814">
                  <a:moveTo>
                    <a:pt x="0" y="0"/>
                  </a:moveTo>
                  <a:lnTo>
                    <a:pt x="170801" y="737137"/>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0" name="Google Shape;1320;p66"/>
            <p:cNvSpPr/>
            <p:nvPr/>
          </p:nvSpPr>
          <p:spPr>
            <a:xfrm>
              <a:off x="5199320" y="2487341"/>
              <a:ext cx="946785" cy="398780"/>
            </a:xfrm>
            <a:custGeom>
              <a:rect b="b" l="l" r="r" t="t"/>
              <a:pathLst>
                <a:path extrusionOk="0" h="398780" w="946785">
                  <a:moveTo>
                    <a:pt x="473270" y="0"/>
                  </a:moveTo>
                  <a:lnTo>
                    <a:pt x="0" y="199127"/>
                  </a:lnTo>
                  <a:lnTo>
                    <a:pt x="473270" y="398254"/>
                  </a:lnTo>
                  <a:lnTo>
                    <a:pt x="946539" y="199127"/>
                  </a:lnTo>
                  <a:lnTo>
                    <a:pt x="47327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1" name="Google Shape;1321;p66"/>
            <p:cNvSpPr/>
            <p:nvPr/>
          </p:nvSpPr>
          <p:spPr>
            <a:xfrm>
              <a:off x="5199320" y="2487341"/>
              <a:ext cx="946785" cy="398780"/>
            </a:xfrm>
            <a:custGeom>
              <a:rect b="b" l="l" r="r" t="t"/>
              <a:pathLst>
                <a:path extrusionOk="0" h="398780" w="946785">
                  <a:moveTo>
                    <a:pt x="0" y="199127"/>
                  </a:moveTo>
                  <a:lnTo>
                    <a:pt x="473270" y="0"/>
                  </a:lnTo>
                  <a:lnTo>
                    <a:pt x="946541" y="199127"/>
                  </a:lnTo>
                  <a:lnTo>
                    <a:pt x="473270" y="398254"/>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22" name="Google Shape;1322;p66"/>
          <p:cNvSpPr txBox="1"/>
          <p:nvPr/>
        </p:nvSpPr>
        <p:spPr>
          <a:xfrm>
            <a:off x="6876710" y="2595034"/>
            <a:ext cx="64198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PlayingHome</a:t>
            </a:r>
            <a:endParaRPr sz="900">
              <a:solidFill>
                <a:schemeClr val="dk1"/>
              </a:solidFill>
              <a:latin typeface="Calibri"/>
              <a:ea typeface="Calibri"/>
              <a:cs typeface="Calibri"/>
              <a:sym typeface="Calibri"/>
            </a:endParaRPr>
          </a:p>
        </p:txBody>
      </p:sp>
      <p:grpSp>
        <p:nvGrpSpPr>
          <p:cNvPr id="1323" name="Google Shape;1323;p66"/>
          <p:cNvGrpSpPr/>
          <p:nvPr/>
        </p:nvGrpSpPr>
        <p:grpSpPr>
          <a:xfrm>
            <a:off x="8483810" y="1374574"/>
            <a:ext cx="862330" cy="398780"/>
            <a:chOff x="6959809" y="1374573"/>
            <a:chExt cx="862330" cy="398780"/>
          </a:xfrm>
        </p:grpSpPr>
        <p:sp>
          <p:nvSpPr>
            <p:cNvPr id="1324" name="Google Shape;1324;p66"/>
            <p:cNvSpPr/>
            <p:nvPr/>
          </p:nvSpPr>
          <p:spPr>
            <a:xfrm>
              <a:off x="6959809" y="1374573"/>
              <a:ext cx="862330" cy="398780"/>
            </a:xfrm>
            <a:custGeom>
              <a:rect b="b" l="l" r="r" t="t"/>
              <a:pathLst>
                <a:path extrusionOk="0" h="398780" w="862329">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5" name="Google Shape;1325;p66"/>
            <p:cNvSpPr/>
            <p:nvPr/>
          </p:nvSpPr>
          <p:spPr>
            <a:xfrm>
              <a:off x="6959809" y="1374573"/>
              <a:ext cx="862330" cy="398780"/>
            </a:xfrm>
            <a:custGeom>
              <a:rect b="b" l="l" r="r" t="t"/>
              <a:pathLst>
                <a:path extrusionOk="0" h="398780" w="86232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26" name="Google Shape;1326;p66"/>
          <p:cNvSpPr txBox="1"/>
          <p:nvPr/>
        </p:nvSpPr>
        <p:spPr>
          <a:xfrm>
            <a:off x="8714882" y="1485900"/>
            <a:ext cx="40259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u="sng">
                <a:solidFill>
                  <a:schemeClr val="dk1"/>
                </a:solidFill>
                <a:latin typeface="Calibri"/>
                <a:ea typeface="Calibri"/>
                <a:cs typeface="Calibri"/>
                <a:sym typeface="Calibri"/>
              </a:rPr>
              <a:t>location</a:t>
            </a:r>
            <a:endParaRPr sz="900">
              <a:solidFill>
                <a:schemeClr val="dk1"/>
              </a:solidFill>
              <a:latin typeface="Calibri"/>
              <a:ea typeface="Calibri"/>
              <a:cs typeface="Calibri"/>
              <a:sym typeface="Calibri"/>
            </a:endParaRPr>
          </a:p>
        </p:txBody>
      </p:sp>
      <p:grpSp>
        <p:nvGrpSpPr>
          <p:cNvPr id="1327" name="Google Shape;1327;p66"/>
          <p:cNvGrpSpPr/>
          <p:nvPr/>
        </p:nvGrpSpPr>
        <p:grpSpPr>
          <a:xfrm>
            <a:off x="6552520" y="1772828"/>
            <a:ext cx="2362625" cy="641350"/>
            <a:chOff x="5028520" y="1772827"/>
            <a:chExt cx="2362625" cy="641350"/>
          </a:xfrm>
        </p:grpSpPr>
        <p:sp>
          <p:nvSpPr>
            <p:cNvPr id="1328" name="Google Shape;1328;p66"/>
            <p:cNvSpPr/>
            <p:nvPr/>
          </p:nvSpPr>
          <p:spPr>
            <a:xfrm>
              <a:off x="7084439" y="1772827"/>
              <a:ext cx="306705" cy="641350"/>
            </a:xfrm>
            <a:custGeom>
              <a:rect b="b" l="l" r="r" t="t"/>
              <a:pathLst>
                <a:path extrusionOk="0" h="641350" w="306704">
                  <a:moveTo>
                    <a:pt x="306467" y="0"/>
                  </a:moveTo>
                  <a:lnTo>
                    <a:pt x="0" y="641135"/>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9" name="Google Shape;1329;p66"/>
            <p:cNvSpPr/>
            <p:nvPr/>
          </p:nvSpPr>
          <p:spPr>
            <a:xfrm>
              <a:off x="7084440" y="1772827"/>
              <a:ext cx="306705" cy="641350"/>
            </a:xfrm>
            <a:custGeom>
              <a:rect b="b" l="l" r="r" t="t"/>
              <a:pathLst>
                <a:path extrusionOk="0" h="641350" w="306704">
                  <a:moveTo>
                    <a:pt x="306467" y="0"/>
                  </a:moveTo>
                  <a:lnTo>
                    <a:pt x="0" y="641135"/>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0" name="Google Shape;1330;p66"/>
            <p:cNvSpPr/>
            <p:nvPr/>
          </p:nvSpPr>
          <p:spPr>
            <a:xfrm>
              <a:off x="5028520" y="1949333"/>
              <a:ext cx="170815" cy="199390"/>
            </a:xfrm>
            <a:custGeom>
              <a:rect b="b" l="l" r="r" t="t"/>
              <a:pathLst>
                <a:path extrusionOk="0" h="199389" w="170814">
                  <a:moveTo>
                    <a:pt x="0" y="0"/>
                  </a:moveTo>
                  <a:lnTo>
                    <a:pt x="170799" y="199127"/>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1" name="Google Shape;1331;p66"/>
            <p:cNvSpPr/>
            <p:nvPr/>
          </p:nvSpPr>
          <p:spPr>
            <a:xfrm>
              <a:off x="5028520" y="1949333"/>
              <a:ext cx="170815" cy="199390"/>
            </a:xfrm>
            <a:custGeom>
              <a:rect b="b" l="l" r="r" t="t"/>
              <a:pathLst>
                <a:path extrusionOk="0" h="199389" w="170814">
                  <a:moveTo>
                    <a:pt x="0" y="0"/>
                  </a:moveTo>
                  <a:lnTo>
                    <a:pt x="170801" y="199127"/>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2" name="Google Shape;1332;p66"/>
            <p:cNvSpPr/>
            <p:nvPr/>
          </p:nvSpPr>
          <p:spPr>
            <a:xfrm>
              <a:off x="5199320" y="1949333"/>
              <a:ext cx="946785" cy="398780"/>
            </a:xfrm>
            <a:custGeom>
              <a:rect b="b" l="l" r="r" t="t"/>
              <a:pathLst>
                <a:path extrusionOk="0" h="398780" w="946785">
                  <a:moveTo>
                    <a:pt x="473270" y="0"/>
                  </a:moveTo>
                  <a:lnTo>
                    <a:pt x="0" y="199127"/>
                  </a:lnTo>
                  <a:lnTo>
                    <a:pt x="473270" y="398254"/>
                  </a:lnTo>
                  <a:lnTo>
                    <a:pt x="946539" y="199127"/>
                  </a:lnTo>
                  <a:lnTo>
                    <a:pt x="47327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3" name="Google Shape;1333;p66"/>
            <p:cNvSpPr/>
            <p:nvPr/>
          </p:nvSpPr>
          <p:spPr>
            <a:xfrm>
              <a:off x="5199320" y="1949333"/>
              <a:ext cx="946785" cy="398780"/>
            </a:xfrm>
            <a:custGeom>
              <a:rect b="b" l="l" r="r" t="t"/>
              <a:pathLst>
                <a:path extrusionOk="0" h="398780" w="946785">
                  <a:moveTo>
                    <a:pt x="0" y="199127"/>
                  </a:moveTo>
                  <a:lnTo>
                    <a:pt x="473270" y="0"/>
                  </a:lnTo>
                  <a:lnTo>
                    <a:pt x="946541" y="199127"/>
                  </a:lnTo>
                  <a:lnTo>
                    <a:pt x="473270" y="398254"/>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34" name="Google Shape;1334;p66"/>
          <p:cNvSpPr txBox="1"/>
          <p:nvPr/>
        </p:nvSpPr>
        <p:spPr>
          <a:xfrm>
            <a:off x="6890203" y="2061634"/>
            <a:ext cx="61468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PlayingAway</a:t>
            </a:r>
            <a:endParaRPr sz="900">
              <a:solidFill>
                <a:schemeClr val="dk1"/>
              </a:solidFill>
              <a:latin typeface="Calibri"/>
              <a:ea typeface="Calibri"/>
              <a:cs typeface="Calibri"/>
              <a:sym typeface="Calibri"/>
            </a:endParaRPr>
          </a:p>
        </p:txBody>
      </p:sp>
      <p:grpSp>
        <p:nvGrpSpPr>
          <p:cNvPr id="1335" name="Google Shape;1335;p66"/>
          <p:cNvGrpSpPr/>
          <p:nvPr/>
        </p:nvGrpSpPr>
        <p:grpSpPr>
          <a:xfrm>
            <a:off x="7669861" y="2148461"/>
            <a:ext cx="394335" cy="435609"/>
            <a:chOff x="6145861" y="2148460"/>
            <a:chExt cx="394335" cy="435609"/>
          </a:xfrm>
        </p:grpSpPr>
        <p:sp>
          <p:nvSpPr>
            <p:cNvPr id="1336" name="Google Shape;1336;p66"/>
            <p:cNvSpPr/>
            <p:nvPr/>
          </p:nvSpPr>
          <p:spPr>
            <a:xfrm>
              <a:off x="6145861" y="2148460"/>
              <a:ext cx="394335" cy="435609"/>
            </a:xfrm>
            <a:custGeom>
              <a:rect b="b" l="l" r="r" t="t"/>
              <a:pathLst>
                <a:path extrusionOk="0" h="435610" w="394334">
                  <a:moveTo>
                    <a:pt x="0" y="0"/>
                  </a:moveTo>
                  <a:lnTo>
                    <a:pt x="394036" y="435467"/>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7" name="Google Shape;1337;p66"/>
            <p:cNvSpPr/>
            <p:nvPr/>
          </p:nvSpPr>
          <p:spPr>
            <a:xfrm>
              <a:off x="6145861" y="2148460"/>
              <a:ext cx="394335" cy="435609"/>
            </a:xfrm>
            <a:custGeom>
              <a:rect b="b" l="l" r="r" t="t"/>
              <a:pathLst>
                <a:path extrusionOk="0" h="435610" w="394334">
                  <a:moveTo>
                    <a:pt x="0" y="0"/>
                  </a:moveTo>
                  <a:lnTo>
                    <a:pt x="394037" y="435468"/>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38" name="Google Shape;1338;p66"/>
          <p:cNvGrpSpPr/>
          <p:nvPr/>
        </p:nvGrpSpPr>
        <p:grpSpPr>
          <a:xfrm>
            <a:off x="5457009" y="1949331"/>
            <a:ext cx="369570" cy="199390"/>
            <a:chOff x="3933009" y="1949331"/>
            <a:chExt cx="369570" cy="199390"/>
          </a:xfrm>
        </p:grpSpPr>
        <p:sp>
          <p:nvSpPr>
            <p:cNvPr id="1339" name="Google Shape;1339;p66"/>
            <p:cNvSpPr/>
            <p:nvPr/>
          </p:nvSpPr>
          <p:spPr>
            <a:xfrm>
              <a:off x="3933009" y="1949331"/>
              <a:ext cx="369570" cy="199390"/>
            </a:xfrm>
            <a:custGeom>
              <a:rect b="b" l="l" r="r" t="t"/>
              <a:pathLst>
                <a:path extrusionOk="0" h="199389" w="369570">
                  <a:moveTo>
                    <a:pt x="369453" y="0"/>
                  </a:moveTo>
                  <a:lnTo>
                    <a:pt x="0" y="199127"/>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0" name="Google Shape;1340;p66"/>
            <p:cNvSpPr/>
            <p:nvPr/>
          </p:nvSpPr>
          <p:spPr>
            <a:xfrm>
              <a:off x="3933009" y="1949331"/>
              <a:ext cx="369570" cy="199390"/>
            </a:xfrm>
            <a:custGeom>
              <a:rect b="b" l="l" r="r" t="t"/>
              <a:pathLst>
                <a:path extrusionOk="0" h="199389" w="369570">
                  <a:moveTo>
                    <a:pt x="0" y="199127"/>
                  </a:moveTo>
                  <a:lnTo>
                    <a:pt x="369453"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41" name="Google Shape;1341;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grpSp>
        <p:nvGrpSpPr>
          <p:cNvPr id="1346" name="Google Shape;1346;p67"/>
          <p:cNvGrpSpPr/>
          <p:nvPr/>
        </p:nvGrpSpPr>
        <p:grpSpPr>
          <a:xfrm>
            <a:off x="3956781" y="3859542"/>
            <a:ext cx="946785" cy="398780"/>
            <a:chOff x="2432781" y="3859541"/>
            <a:chExt cx="946785" cy="398780"/>
          </a:xfrm>
        </p:grpSpPr>
        <p:sp>
          <p:nvSpPr>
            <p:cNvPr id="1347" name="Google Shape;1347;p67"/>
            <p:cNvSpPr/>
            <p:nvPr/>
          </p:nvSpPr>
          <p:spPr>
            <a:xfrm>
              <a:off x="2432781" y="3859541"/>
              <a:ext cx="946785" cy="398780"/>
            </a:xfrm>
            <a:custGeom>
              <a:rect b="b" l="l" r="r" t="t"/>
              <a:pathLst>
                <a:path extrusionOk="0" h="398779" w="946785">
                  <a:moveTo>
                    <a:pt x="473270" y="0"/>
                  </a:moveTo>
                  <a:lnTo>
                    <a:pt x="0" y="199125"/>
                  </a:lnTo>
                  <a:lnTo>
                    <a:pt x="473270" y="398252"/>
                  </a:lnTo>
                  <a:lnTo>
                    <a:pt x="946541" y="199125"/>
                  </a:lnTo>
                  <a:lnTo>
                    <a:pt x="47327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8" name="Google Shape;1348;p67"/>
            <p:cNvSpPr/>
            <p:nvPr/>
          </p:nvSpPr>
          <p:spPr>
            <a:xfrm>
              <a:off x="2432781" y="3859541"/>
              <a:ext cx="946785" cy="398780"/>
            </a:xfrm>
            <a:custGeom>
              <a:rect b="b" l="l" r="r" t="t"/>
              <a:pathLst>
                <a:path extrusionOk="0" h="398779" w="946785">
                  <a:moveTo>
                    <a:pt x="0" y="199127"/>
                  </a:moveTo>
                  <a:lnTo>
                    <a:pt x="473270" y="0"/>
                  </a:lnTo>
                  <a:lnTo>
                    <a:pt x="946541" y="199127"/>
                  </a:lnTo>
                  <a:lnTo>
                    <a:pt x="473270" y="398254"/>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49" name="Google Shape;1349;p67"/>
          <p:cNvSpPr txBox="1"/>
          <p:nvPr/>
        </p:nvSpPr>
        <p:spPr>
          <a:xfrm>
            <a:off x="4122077" y="3966634"/>
            <a:ext cx="61849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ParticipateIn</a:t>
            </a:r>
            <a:endParaRPr sz="900">
              <a:solidFill>
                <a:schemeClr val="dk1"/>
              </a:solidFill>
              <a:latin typeface="Calibri"/>
              <a:ea typeface="Calibri"/>
              <a:cs typeface="Calibri"/>
              <a:sym typeface="Calibri"/>
            </a:endParaRPr>
          </a:p>
        </p:txBody>
      </p:sp>
      <p:grpSp>
        <p:nvGrpSpPr>
          <p:cNvPr id="1350" name="Google Shape;1350;p67"/>
          <p:cNvGrpSpPr/>
          <p:nvPr/>
        </p:nvGrpSpPr>
        <p:grpSpPr>
          <a:xfrm>
            <a:off x="1905001" y="1173740"/>
            <a:ext cx="7445764" cy="3618393"/>
            <a:chOff x="381000" y="1173739"/>
            <a:chExt cx="7445764" cy="3618393"/>
          </a:xfrm>
        </p:grpSpPr>
        <p:sp>
          <p:nvSpPr>
            <p:cNvPr id="1351" name="Google Shape;1351;p67"/>
            <p:cNvSpPr/>
            <p:nvPr/>
          </p:nvSpPr>
          <p:spPr>
            <a:xfrm>
              <a:off x="2260412" y="2524587"/>
              <a:ext cx="172720" cy="1534160"/>
            </a:xfrm>
            <a:custGeom>
              <a:rect b="b" l="l" r="r" t="t"/>
              <a:pathLst>
                <a:path extrusionOk="0" h="1534160" w="172719">
                  <a:moveTo>
                    <a:pt x="0" y="0"/>
                  </a:moveTo>
                  <a:lnTo>
                    <a:pt x="172370" y="1534081"/>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2" name="Google Shape;1352;p67"/>
            <p:cNvSpPr/>
            <p:nvPr/>
          </p:nvSpPr>
          <p:spPr>
            <a:xfrm>
              <a:off x="2260412" y="2524587"/>
              <a:ext cx="172720" cy="1534160"/>
            </a:xfrm>
            <a:custGeom>
              <a:rect b="b" l="l" r="r" t="t"/>
              <a:pathLst>
                <a:path extrusionOk="0" h="1534160" w="172719">
                  <a:moveTo>
                    <a:pt x="0" y="0"/>
                  </a:moveTo>
                  <a:lnTo>
                    <a:pt x="172371" y="1534081"/>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3" name="Google Shape;1353;p67"/>
            <p:cNvSpPr/>
            <p:nvPr/>
          </p:nvSpPr>
          <p:spPr>
            <a:xfrm>
              <a:off x="3379322" y="3585884"/>
              <a:ext cx="923290" cy="473075"/>
            </a:xfrm>
            <a:custGeom>
              <a:rect b="b" l="l" r="r" t="t"/>
              <a:pathLst>
                <a:path extrusionOk="0" h="473075" w="923289">
                  <a:moveTo>
                    <a:pt x="923140" y="0"/>
                  </a:moveTo>
                  <a:lnTo>
                    <a:pt x="0" y="472784"/>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4" name="Google Shape;1354;p67"/>
            <p:cNvSpPr/>
            <p:nvPr/>
          </p:nvSpPr>
          <p:spPr>
            <a:xfrm>
              <a:off x="3379322" y="3585884"/>
              <a:ext cx="923290" cy="473075"/>
            </a:xfrm>
            <a:custGeom>
              <a:rect b="b" l="l" r="r" t="t"/>
              <a:pathLst>
                <a:path extrusionOk="0" h="473075" w="923289">
                  <a:moveTo>
                    <a:pt x="0" y="472784"/>
                  </a:moveTo>
                  <a:lnTo>
                    <a:pt x="92314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355" name="Google Shape;1355;p67"/>
            <p:cNvPicPr preferRelativeResize="0"/>
            <p:nvPr/>
          </p:nvPicPr>
          <p:blipFill rotWithShape="1">
            <a:blip r:embed="rId3">
              <a:alphaModFix/>
            </a:blip>
            <a:srcRect b="0" l="0" r="0" t="0"/>
            <a:stretch/>
          </p:blipFill>
          <p:spPr>
            <a:xfrm>
              <a:off x="381000" y="3886199"/>
              <a:ext cx="1083733" cy="905933"/>
            </a:xfrm>
            <a:prstGeom prst="rect">
              <a:avLst/>
            </a:prstGeom>
            <a:noFill/>
            <a:ln>
              <a:noFill/>
            </a:ln>
          </p:spPr>
        </p:pic>
        <p:pic>
          <p:nvPicPr>
            <p:cNvPr id="1356" name="Google Shape;1356;p67"/>
            <p:cNvPicPr preferRelativeResize="0"/>
            <p:nvPr/>
          </p:nvPicPr>
          <p:blipFill rotWithShape="1">
            <a:blip r:embed="rId4">
              <a:alphaModFix/>
            </a:blip>
            <a:srcRect b="0" l="0" r="0" t="0"/>
            <a:stretch/>
          </p:blipFill>
          <p:spPr>
            <a:xfrm>
              <a:off x="1087150" y="1173739"/>
              <a:ext cx="6739614" cy="3502612"/>
            </a:xfrm>
            <a:prstGeom prst="rect">
              <a:avLst/>
            </a:prstGeom>
            <a:noFill/>
            <a:ln>
              <a:noFill/>
            </a:ln>
          </p:spPr>
        </p:pic>
      </p:grpSp>
      <p:sp>
        <p:nvSpPr>
          <p:cNvPr id="1357" name="Google Shape;1357;p67"/>
          <p:cNvSpPr txBox="1"/>
          <p:nvPr/>
        </p:nvSpPr>
        <p:spPr>
          <a:xfrm>
            <a:off x="1967473" y="4864099"/>
            <a:ext cx="1985010" cy="944880"/>
          </a:xfrm>
          <a:prstGeom prst="rect">
            <a:avLst/>
          </a:prstGeom>
          <a:noFill/>
          <a:ln>
            <a:noFill/>
          </a:ln>
        </p:spPr>
        <p:txBody>
          <a:bodyPr anchorCtr="0" anchor="t" bIns="0" lIns="0" spcFirstLastPara="1" rIns="0" wrap="square" tIns="16500">
            <a:spAutoFit/>
          </a:bodyPr>
          <a:lstStyle/>
          <a:p>
            <a:pPr indent="0" lvl="0" marL="12700" marR="5080" rtl="0" algn="just">
              <a:spcBef>
                <a:spcPts val="0"/>
              </a:spcBef>
              <a:spcAft>
                <a:spcPts val="0"/>
              </a:spcAft>
              <a:buNone/>
            </a:pPr>
            <a:r>
              <a:rPr lang="en-US" sz="1500">
                <a:solidFill>
                  <a:schemeClr val="dk1"/>
                </a:solidFill>
                <a:latin typeface="Calibri"/>
                <a:ea typeface="Calibri"/>
                <a:cs typeface="Calibri"/>
                <a:sym typeface="Calibri"/>
              </a:rPr>
              <a:t>A Play will contain either  a </a:t>
            </a:r>
            <a:r>
              <a:rPr b="1" lang="en-US" sz="1500" u="sng">
                <a:solidFill>
                  <a:schemeClr val="dk1"/>
                </a:solidFill>
                <a:latin typeface="Calibri"/>
                <a:ea typeface="Calibri"/>
                <a:cs typeface="Calibri"/>
                <a:sym typeface="Calibri"/>
              </a:rPr>
              <a:t>Pass</a:t>
            </a:r>
            <a:r>
              <a:rPr b="1" lang="en-US" sz="1500">
                <a:solidFill>
                  <a:schemeClr val="dk1"/>
                </a:solidFill>
                <a:latin typeface="Calibri"/>
                <a:ea typeface="Calibri"/>
                <a:cs typeface="Calibri"/>
                <a:sym typeface="Calibri"/>
              </a:rPr>
              <a:t> </a:t>
            </a:r>
            <a:r>
              <a:rPr lang="en-US" sz="1500">
                <a:solidFill>
                  <a:schemeClr val="dk1"/>
                </a:solidFill>
                <a:latin typeface="Calibri"/>
                <a:ea typeface="Calibri"/>
                <a:cs typeface="Calibri"/>
                <a:sym typeface="Calibri"/>
              </a:rPr>
              <a:t>from one player to  another, or a </a:t>
            </a:r>
            <a:r>
              <a:rPr b="1" lang="en-US" sz="1500" u="sng">
                <a:solidFill>
                  <a:schemeClr val="dk1"/>
                </a:solidFill>
                <a:latin typeface="Calibri"/>
                <a:ea typeface="Calibri"/>
                <a:cs typeface="Calibri"/>
                <a:sym typeface="Calibri"/>
              </a:rPr>
              <a:t>Run</a:t>
            </a:r>
            <a:r>
              <a:rPr b="1" lang="en-US" sz="1500">
                <a:solidFill>
                  <a:schemeClr val="dk1"/>
                </a:solidFill>
                <a:latin typeface="Calibri"/>
                <a:ea typeface="Calibri"/>
                <a:cs typeface="Calibri"/>
                <a:sym typeface="Calibri"/>
              </a:rPr>
              <a:t> </a:t>
            </a:r>
            <a:r>
              <a:rPr lang="en-US" sz="1500">
                <a:solidFill>
                  <a:schemeClr val="dk1"/>
                </a:solidFill>
                <a:latin typeface="Calibri"/>
                <a:ea typeface="Calibri"/>
                <a:cs typeface="Calibri"/>
                <a:sym typeface="Calibri"/>
              </a:rPr>
              <a:t>by one  player</a:t>
            </a:r>
            <a:endParaRPr sz="1500">
              <a:solidFill>
                <a:schemeClr val="dk1"/>
              </a:solidFill>
              <a:latin typeface="Calibri"/>
              <a:ea typeface="Calibri"/>
              <a:cs typeface="Calibri"/>
              <a:sym typeface="Calibri"/>
            </a:endParaRPr>
          </a:p>
        </p:txBody>
      </p:sp>
      <p:sp>
        <p:nvSpPr>
          <p:cNvPr id="1358" name="Google Shape;1358;p67"/>
          <p:cNvSpPr txBox="1"/>
          <p:nvPr/>
        </p:nvSpPr>
        <p:spPr>
          <a:xfrm>
            <a:off x="6240036" y="3492500"/>
            <a:ext cx="26416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Plays</a:t>
            </a:r>
            <a:endParaRPr sz="900">
              <a:solidFill>
                <a:schemeClr val="dk1"/>
              </a:solidFill>
              <a:latin typeface="Calibri"/>
              <a:ea typeface="Calibri"/>
              <a:cs typeface="Calibri"/>
              <a:sym typeface="Calibri"/>
            </a:endParaRPr>
          </a:p>
        </p:txBody>
      </p:sp>
      <p:sp>
        <p:nvSpPr>
          <p:cNvPr id="1359" name="Google Shape;1359;p67"/>
          <p:cNvSpPr txBox="1"/>
          <p:nvPr/>
        </p:nvSpPr>
        <p:spPr>
          <a:xfrm>
            <a:off x="5277209" y="4381500"/>
            <a:ext cx="34480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 ID</a:t>
            </a:r>
            <a:endParaRPr sz="900">
              <a:solidFill>
                <a:schemeClr val="dk1"/>
              </a:solidFill>
              <a:latin typeface="Calibri"/>
              <a:ea typeface="Calibri"/>
              <a:cs typeface="Calibri"/>
              <a:sym typeface="Calibri"/>
            </a:endParaRPr>
          </a:p>
        </p:txBody>
      </p:sp>
      <p:sp>
        <p:nvSpPr>
          <p:cNvPr id="1360" name="Google Shape;1360;p67"/>
          <p:cNvSpPr txBox="1"/>
          <p:nvPr/>
        </p:nvSpPr>
        <p:spPr>
          <a:xfrm>
            <a:off x="7511324" y="3297767"/>
            <a:ext cx="38798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OccurIn</a:t>
            </a:r>
            <a:endParaRPr sz="900">
              <a:solidFill>
                <a:schemeClr val="dk1"/>
              </a:solidFill>
              <a:latin typeface="Calibri"/>
              <a:ea typeface="Calibri"/>
              <a:cs typeface="Calibri"/>
              <a:sym typeface="Calibri"/>
            </a:endParaRPr>
          </a:p>
        </p:txBody>
      </p:sp>
      <p:sp>
        <p:nvSpPr>
          <p:cNvPr id="1361" name="Google Shape;1361;p67"/>
          <p:cNvSpPr txBox="1"/>
          <p:nvPr/>
        </p:nvSpPr>
        <p:spPr>
          <a:xfrm>
            <a:off x="6074936" y="4381500"/>
            <a:ext cx="59372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Yardage Diff</a:t>
            </a:r>
            <a:endParaRPr sz="900">
              <a:solidFill>
                <a:schemeClr val="dk1"/>
              </a:solidFill>
              <a:latin typeface="Calibri"/>
              <a:ea typeface="Calibri"/>
              <a:cs typeface="Calibri"/>
              <a:sym typeface="Calibri"/>
            </a:endParaRPr>
          </a:p>
        </p:txBody>
      </p:sp>
      <p:sp>
        <p:nvSpPr>
          <p:cNvPr id="1362" name="Google Shape;1362;p67"/>
          <p:cNvSpPr txBox="1"/>
          <p:nvPr/>
        </p:nvSpPr>
        <p:spPr>
          <a:xfrm>
            <a:off x="7000506" y="4381500"/>
            <a:ext cx="57340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Touchdown</a:t>
            </a:r>
            <a:endParaRPr sz="900">
              <a:solidFill>
                <a:schemeClr val="dk1"/>
              </a:solidFill>
              <a:latin typeface="Calibri"/>
              <a:ea typeface="Calibri"/>
              <a:cs typeface="Calibri"/>
              <a:sym typeface="Calibri"/>
            </a:endParaRPr>
          </a:p>
        </p:txBody>
      </p:sp>
      <p:sp>
        <p:nvSpPr>
          <p:cNvPr id="1363" name="Google Shape;1363;p67"/>
          <p:cNvSpPr txBox="1"/>
          <p:nvPr/>
        </p:nvSpPr>
        <p:spPr>
          <a:xfrm>
            <a:off x="3605025" y="2281767"/>
            <a:ext cx="36131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Players</a:t>
            </a:r>
            <a:endParaRPr sz="900">
              <a:solidFill>
                <a:schemeClr val="dk1"/>
              </a:solidFill>
              <a:latin typeface="Calibri"/>
              <a:ea typeface="Calibri"/>
              <a:cs typeface="Calibri"/>
              <a:sym typeface="Calibri"/>
            </a:endParaRPr>
          </a:p>
        </p:txBody>
      </p:sp>
      <p:sp>
        <p:nvSpPr>
          <p:cNvPr id="1364" name="Google Shape;1364;p67"/>
          <p:cNvSpPr txBox="1"/>
          <p:nvPr/>
        </p:nvSpPr>
        <p:spPr>
          <a:xfrm>
            <a:off x="2902546" y="1646767"/>
            <a:ext cx="29083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name</a:t>
            </a:r>
            <a:endParaRPr sz="900">
              <a:solidFill>
                <a:schemeClr val="dk1"/>
              </a:solidFill>
              <a:latin typeface="Calibri"/>
              <a:ea typeface="Calibri"/>
              <a:cs typeface="Calibri"/>
              <a:sym typeface="Calibri"/>
            </a:endParaRPr>
          </a:p>
        </p:txBody>
      </p:sp>
      <p:sp>
        <p:nvSpPr>
          <p:cNvPr id="1365" name="Google Shape;1365;p67"/>
          <p:cNvSpPr txBox="1"/>
          <p:nvPr/>
        </p:nvSpPr>
        <p:spPr>
          <a:xfrm>
            <a:off x="4713072" y="2061634"/>
            <a:ext cx="54292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MemberOf</a:t>
            </a:r>
            <a:endParaRPr sz="900">
              <a:solidFill>
                <a:schemeClr val="dk1"/>
              </a:solidFill>
              <a:latin typeface="Calibri"/>
              <a:ea typeface="Calibri"/>
              <a:cs typeface="Calibri"/>
              <a:sym typeface="Calibri"/>
            </a:endParaRPr>
          </a:p>
        </p:txBody>
      </p:sp>
      <p:sp>
        <p:nvSpPr>
          <p:cNvPr id="1366" name="Google Shape;1366;p67"/>
          <p:cNvSpPr txBox="1"/>
          <p:nvPr/>
        </p:nvSpPr>
        <p:spPr>
          <a:xfrm>
            <a:off x="3796298" y="1646767"/>
            <a:ext cx="441959"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Player ID</a:t>
            </a:r>
            <a:endParaRPr sz="900">
              <a:solidFill>
                <a:schemeClr val="dk1"/>
              </a:solidFill>
              <a:latin typeface="Calibri"/>
              <a:ea typeface="Calibri"/>
              <a:cs typeface="Calibri"/>
              <a:sym typeface="Calibri"/>
            </a:endParaRPr>
          </a:p>
        </p:txBody>
      </p:sp>
      <p:sp>
        <p:nvSpPr>
          <p:cNvPr id="1367" name="Google Shape;1367;p67"/>
          <p:cNvSpPr txBox="1"/>
          <p:nvPr/>
        </p:nvSpPr>
        <p:spPr>
          <a:xfrm>
            <a:off x="8436195" y="2493434"/>
            <a:ext cx="34671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Games</a:t>
            </a:r>
            <a:endParaRPr sz="900">
              <a:solidFill>
                <a:schemeClr val="dk1"/>
              </a:solidFill>
              <a:latin typeface="Calibri"/>
              <a:ea typeface="Calibri"/>
              <a:cs typeface="Calibri"/>
              <a:sym typeface="Calibri"/>
            </a:endParaRPr>
          </a:p>
        </p:txBody>
      </p:sp>
      <p:sp>
        <p:nvSpPr>
          <p:cNvPr id="1368" name="Google Shape;1368;p67"/>
          <p:cNvSpPr txBox="1"/>
          <p:nvPr/>
        </p:nvSpPr>
        <p:spPr>
          <a:xfrm>
            <a:off x="7723187" y="1502834"/>
            <a:ext cx="236854"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date</a:t>
            </a:r>
            <a:endParaRPr sz="900">
              <a:solidFill>
                <a:schemeClr val="dk1"/>
              </a:solidFill>
              <a:latin typeface="Calibri"/>
              <a:ea typeface="Calibri"/>
              <a:cs typeface="Calibri"/>
              <a:sym typeface="Calibri"/>
            </a:endParaRPr>
          </a:p>
        </p:txBody>
      </p:sp>
      <p:sp>
        <p:nvSpPr>
          <p:cNvPr id="1369" name="Google Shape;1369;p67"/>
          <p:cNvSpPr txBox="1"/>
          <p:nvPr/>
        </p:nvSpPr>
        <p:spPr>
          <a:xfrm>
            <a:off x="6025185" y="1858434"/>
            <a:ext cx="33083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Teams</a:t>
            </a:r>
            <a:endParaRPr sz="900">
              <a:solidFill>
                <a:schemeClr val="dk1"/>
              </a:solidFill>
              <a:latin typeface="Calibri"/>
              <a:ea typeface="Calibri"/>
              <a:cs typeface="Calibri"/>
              <a:sym typeface="Calibri"/>
            </a:endParaRPr>
          </a:p>
        </p:txBody>
      </p:sp>
      <p:sp>
        <p:nvSpPr>
          <p:cNvPr id="1370" name="Google Shape;1370;p67"/>
          <p:cNvSpPr txBox="1"/>
          <p:nvPr/>
        </p:nvSpPr>
        <p:spPr>
          <a:xfrm>
            <a:off x="5908267" y="1291167"/>
            <a:ext cx="41148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Team ID</a:t>
            </a:r>
            <a:endParaRPr sz="900">
              <a:solidFill>
                <a:schemeClr val="dk1"/>
              </a:solidFill>
              <a:latin typeface="Calibri"/>
              <a:ea typeface="Calibri"/>
              <a:cs typeface="Calibri"/>
              <a:sym typeface="Calibri"/>
            </a:endParaRPr>
          </a:p>
        </p:txBody>
      </p:sp>
      <p:sp>
        <p:nvSpPr>
          <p:cNvPr id="1371" name="Google Shape;1371;p67"/>
          <p:cNvSpPr txBox="1"/>
          <p:nvPr/>
        </p:nvSpPr>
        <p:spPr>
          <a:xfrm>
            <a:off x="6876710" y="2595034"/>
            <a:ext cx="64198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PlayingHome</a:t>
            </a:r>
            <a:endParaRPr sz="900">
              <a:solidFill>
                <a:schemeClr val="dk1"/>
              </a:solidFill>
              <a:latin typeface="Calibri"/>
              <a:ea typeface="Calibri"/>
              <a:cs typeface="Calibri"/>
              <a:sym typeface="Calibri"/>
            </a:endParaRPr>
          </a:p>
        </p:txBody>
      </p:sp>
      <p:sp>
        <p:nvSpPr>
          <p:cNvPr id="1372" name="Google Shape;1372;p67"/>
          <p:cNvSpPr txBox="1"/>
          <p:nvPr/>
        </p:nvSpPr>
        <p:spPr>
          <a:xfrm>
            <a:off x="8714882" y="1485900"/>
            <a:ext cx="40259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location</a:t>
            </a:r>
            <a:endParaRPr sz="900">
              <a:solidFill>
                <a:schemeClr val="dk1"/>
              </a:solidFill>
              <a:latin typeface="Calibri"/>
              <a:ea typeface="Calibri"/>
              <a:cs typeface="Calibri"/>
              <a:sym typeface="Calibri"/>
            </a:endParaRPr>
          </a:p>
        </p:txBody>
      </p:sp>
      <p:sp>
        <p:nvSpPr>
          <p:cNvPr id="1373" name="Google Shape;1373;p67"/>
          <p:cNvSpPr txBox="1"/>
          <p:nvPr/>
        </p:nvSpPr>
        <p:spPr>
          <a:xfrm>
            <a:off x="6890203" y="2061634"/>
            <a:ext cx="61468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PlayingAway</a:t>
            </a:r>
            <a:endParaRPr sz="900">
              <a:solidFill>
                <a:schemeClr val="dk1"/>
              </a:solidFill>
              <a:latin typeface="Calibri"/>
              <a:ea typeface="Calibri"/>
              <a:cs typeface="Calibri"/>
              <a:sym typeface="Calibri"/>
            </a:endParaRPr>
          </a:p>
        </p:txBody>
      </p:sp>
      <p:sp>
        <p:nvSpPr>
          <p:cNvPr id="1374" name="Google Shape;1374;p67"/>
          <p:cNvSpPr txBox="1"/>
          <p:nvPr/>
        </p:nvSpPr>
        <p:spPr>
          <a:xfrm>
            <a:off x="4190724" y="3086100"/>
            <a:ext cx="87058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Participation Type</a:t>
            </a:r>
            <a:endParaRPr/>
          </a:p>
        </p:txBody>
      </p:sp>
      <p:sp>
        <p:nvSpPr>
          <p:cNvPr id="1375" name="Google Shape;1375;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sp>
        <p:nvSpPr>
          <p:cNvPr id="1380" name="Google Shape;1380;p68"/>
          <p:cNvSpPr txBox="1"/>
          <p:nvPr>
            <p:ph type="title"/>
          </p:nvPr>
        </p:nvSpPr>
        <p:spPr>
          <a:xfrm>
            <a:off x="2829921" y="516467"/>
            <a:ext cx="5901055" cy="48260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3000"/>
              <a:buFont typeface="Arial"/>
              <a:buNone/>
            </a:pPr>
            <a:r>
              <a:rPr b="1" lang="en-US" sz="3000">
                <a:latin typeface="Arial"/>
                <a:ea typeface="Arial"/>
                <a:cs typeface="Arial"/>
                <a:sym typeface="Arial"/>
              </a:rPr>
              <a:t>ENHANCE YOUR E/R DIAGRAM!</a:t>
            </a:r>
            <a:endParaRPr sz="3000">
              <a:latin typeface="Arial"/>
              <a:ea typeface="Arial"/>
              <a:cs typeface="Arial"/>
              <a:sym typeface="Arial"/>
            </a:endParaRPr>
          </a:p>
        </p:txBody>
      </p:sp>
      <p:sp>
        <p:nvSpPr>
          <p:cNvPr id="1381" name="Google Shape;1381;p68"/>
          <p:cNvSpPr txBox="1"/>
          <p:nvPr/>
        </p:nvSpPr>
        <p:spPr>
          <a:xfrm>
            <a:off x="2231390" y="4483099"/>
            <a:ext cx="1343660" cy="1402080"/>
          </a:xfrm>
          <a:prstGeom prst="rect">
            <a:avLst/>
          </a:prstGeom>
          <a:noFill/>
          <a:ln>
            <a:noFill/>
          </a:ln>
        </p:spPr>
        <p:txBody>
          <a:bodyPr anchorCtr="0" anchor="t" bIns="0" lIns="0" spcFirstLastPara="1" rIns="0" wrap="square" tIns="16500">
            <a:spAutoFit/>
          </a:bodyPr>
          <a:lstStyle/>
          <a:p>
            <a:pPr indent="0" lvl="0" marL="12700" marR="5080" rtl="0" algn="l">
              <a:spcBef>
                <a:spcPts val="0"/>
              </a:spcBef>
              <a:spcAft>
                <a:spcPts val="0"/>
              </a:spcAft>
              <a:buNone/>
            </a:pPr>
            <a:r>
              <a:rPr lang="en-US" sz="1500">
                <a:solidFill>
                  <a:schemeClr val="dk1"/>
                </a:solidFill>
                <a:latin typeface="Calibri"/>
                <a:ea typeface="Calibri"/>
                <a:cs typeface="Calibri"/>
                <a:sym typeface="Calibri"/>
              </a:rPr>
              <a:t>A player can only  belong to one  team, a play can  only be in one  game, a  pass/run..?</a:t>
            </a:r>
            <a:endParaRPr sz="1500">
              <a:solidFill>
                <a:schemeClr val="dk1"/>
              </a:solidFill>
              <a:latin typeface="Calibri"/>
              <a:ea typeface="Calibri"/>
              <a:cs typeface="Calibri"/>
              <a:sym typeface="Calibri"/>
            </a:endParaRPr>
          </a:p>
        </p:txBody>
      </p:sp>
      <p:sp>
        <p:nvSpPr>
          <p:cNvPr id="1382" name="Google Shape;1382;p68"/>
          <p:cNvSpPr txBox="1"/>
          <p:nvPr/>
        </p:nvSpPr>
        <p:spPr>
          <a:xfrm>
            <a:off x="5315472" y="4483099"/>
            <a:ext cx="1518920" cy="944880"/>
          </a:xfrm>
          <a:prstGeom prst="rect">
            <a:avLst/>
          </a:prstGeom>
          <a:noFill/>
          <a:ln>
            <a:noFill/>
          </a:ln>
        </p:spPr>
        <p:txBody>
          <a:bodyPr anchorCtr="0" anchor="t" bIns="0" lIns="0" spcFirstLastPara="1" rIns="0" wrap="square" tIns="16500">
            <a:spAutoFit/>
          </a:bodyPr>
          <a:lstStyle/>
          <a:p>
            <a:pPr indent="0" lvl="0" marL="12700" marR="5080" rtl="0" algn="l">
              <a:spcBef>
                <a:spcPts val="0"/>
              </a:spcBef>
              <a:spcAft>
                <a:spcPts val="0"/>
              </a:spcAft>
              <a:buNone/>
            </a:pPr>
            <a:r>
              <a:rPr lang="en-US" sz="1500">
                <a:solidFill>
                  <a:schemeClr val="dk1"/>
                </a:solidFill>
                <a:latin typeface="Calibri"/>
                <a:ea typeface="Calibri"/>
                <a:cs typeface="Calibri"/>
                <a:sym typeface="Calibri"/>
              </a:rPr>
              <a:t>Players can achieve  a </a:t>
            </a:r>
            <a:r>
              <a:rPr b="1" lang="en-US" sz="1500" u="sng">
                <a:solidFill>
                  <a:schemeClr val="dk1"/>
                </a:solidFill>
                <a:latin typeface="Calibri"/>
                <a:ea typeface="Calibri"/>
                <a:cs typeface="Calibri"/>
                <a:sym typeface="Calibri"/>
              </a:rPr>
              <a:t>Personal Record </a:t>
            </a:r>
            <a:r>
              <a:rPr b="1" lang="en-US" sz="1500">
                <a:solidFill>
                  <a:schemeClr val="dk1"/>
                </a:solidFill>
                <a:latin typeface="Calibri"/>
                <a:ea typeface="Calibri"/>
                <a:cs typeface="Calibri"/>
                <a:sym typeface="Calibri"/>
              </a:rPr>
              <a:t> </a:t>
            </a:r>
            <a:r>
              <a:rPr lang="en-US" sz="1500">
                <a:solidFill>
                  <a:schemeClr val="dk1"/>
                </a:solidFill>
                <a:latin typeface="Calibri"/>
                <a:ea typeface="Calibri"/>
                <a:cs typeface="Calibri"/>
                <a:sym typeface="Calibri"/>
              </a:rPr>
              <a:t>linked to a specific  Game and Play</a:t>
            </a:r>
            <a:endParaRPr sz="1500">
              <a:solidFill>
                <a:schemeClr val="dk1"/>
              </a:solidFill>
              <a:latin typeface="Calibri"/>
              <a:ea typeface="Calibri"/>
              <a:cs typeface="Calibri"/>
              <a:sym typeface="Calibri"/>
            </a:endParaRPr>
          </a:p>
        </p:txBody>
      </p:sp>
      <p:sp>
        <p:nvSpPr>
          <p:cNvPr id="1383" name="Google Shape;1383;p68"/>
          <p:cNvSpPr txBox="1"/>
          <p:nvPr/>
        </p:nvSpPr>
        <p:spPr>
          <a:xfrm>
            <a:off x="2231391" y="2366432"/>
            <a:ext cx="4716145"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chemeClr val="dk1"/>
                </a:solidFill>
                <a:latin typeface="Calibri"/>
                <a:ea typeface="Calibri"/>
                <a:cs typeface="Calibri"/>
                <a:sym typeface="Calibri"/>
              </a:rPr>
              <a:t>Also make sure to add </a:t>
            </a:r>
            <a:r>
              <a:rPr b="1" lang="en-US" sz="1800" u="sng">
                <a:solidFill>
                  <a:schemeClr val="dk1"/>
                </a:solidFill>
                <a:latin typeface="Calibri"/>
                <a:ea typeface="Calibri"/>
                <a:cs typeface="Calibri"/>
                <a:sym typeface="Calibri"/>
              </a:rPr>
              <a:t>(new concepts underlined):</a:t>
            </a:r>
            <a:endParaRPr sz="1800">
              <a:solidFill>
                <a:schemeClr val="dk1"/>
              </a:solidFill>
              <a:latin typeface="Calibri"/>
              <a:ea typeface="Calibri"/>
              <a:cs typeface="Calibri"/>
              <a:sym typeface="Calibri"/>
            </a:endParaRPr>
          </a:p>
        </p:txBody>
      </p:sp>
      <p:pic>
        <p:nvPicPr>
          <p:cNvPr id="1384" name="Google Shape;1384;p68"/>
          <p:cNvPicPr preferRelativeResize="0"/>
          <p:nvPr/>
        </p:nvPicPr>
        <p:blipFill rotWithShape="1">
          <a:blip r:embed="rId3">
            <a:alphaModFix/>
          </a:blip>
          <a:srcRect b="0" l="0" r="0" t="0"/>
          <a:stretch/>
        </p:blipFill>
        <p:spPr>
          <a:xfrm>
            <a:off x="2192866" y="3234266"/>
            <a:ext cx="1481666" cy="1049866"/>
          </a:xfrm>
          <a:prstGeom prst="rect">
            <a:avLst/>
          </a:prstGeom>
          <a:noFill/>
          <a:ln>
            <a:noFill/>
          </a:ln>
        </p:spPr>
      </p:pic>
      <p:pic>
        <p:nvPicPr>
          <p:cNvPr id="1385" name="Google Shape;1385;p68"/>
          <p:cNvPicPr preferRelativeResize="0"/>
          <p:nvPr/>
        </p:nvPicPr>
        <p:blipFill rotWithShape="1">
          <a:blip r:embed="rId4">
            <a:alphaModFix/>
          </a:blip>
          <a:srcRect b="0" l="0" r="0" t="0"/>
          <a:stretch/>
        </p:blipFill>
        <p:spPr>
          <a:xfrm>
            <a:off x="5173133" y="3141132"/>
            <a:ext cx="1693332" cy="1143000"/>
          </a:xfrm>
          <a:prstGeom prst="rect">
            <a:avLst/>
          </a:prstGeom>
          <a:noFill/>
          <a:ln>
            <a:noFill/>
          </a:ln>
        </p:spPr>
      </p:pic>
      <p:sp>
        <p:nvSpPr>
          <p:cNvPr id="1386" name="Google Shape;1386;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pic>
        <p:nvPicPr>
          <p:cNvPr id="1391" name="Google Shape;1391;p69"/>
          <p:cNvPicPr preferRelativeResize="0"/>
          <p:nvPr/>
        </p:nvPicPr>
        <p:blipFill rotWithShape="1">
          <a:blip r:embed="rId3">
            <a:alphaModFix/>
          </a:blip>
          <a:srcRect b="0" l="0" r="0" t="0"/>
          <a:stretch/>
        </p:blipFill>
        <p:spPr>
          <a:xfrm>
            <a:off x="2639528" y="1571029"/>
            <a:ext cx="6739614" cy="3502612"/>
          </a:xfrm>
          <a:prstGeom prst="rect">
            <a:avLst/>
          </a:prstGeom>
          <a:noFill/>
          <a:ln>
            <a:noFill/>
          </a:ln>
        </p:spPr>
      </p:pic>
      <p:sp>
        <p:nvSpPr>
          <p:cNvPr id="1392" name="Google Shape;1392;p69"/>
          <p:cNvSpPr txBox="1"/>
          <p:nvPr/>
        </p:nvSpPr>
        <p:spPr>
          <a:xfrm>
            <a:off x="4150455" y="4364567"/>
            <a:ext cx="61849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ParticipateIn</a:t>
            </a:r>
            <a:endParaRPr sz="900">
              <a:solidFill>
                <a:schemeClr val="dk1"/>
              </a:solidFill>
              <a:latin typeface="Calibri"/>
              <a:ea typeface="Calibri"/>
              <a:cs typeface="Calibri"/>
              <a:sym typeface="Calibri"/>
            </a:endParaRPr>
          </a:p>
        </p:txBody>
      </p:sp>
      <p:sp>
        <p:nvSpPr>
          <p:cNvPr id="1393" name="Google Shape;1393;p69"/>
          <p:cNvSpPr txBox="1"/>
          <p:nvPr/>
        </p:nvSpPr>
        <p:spPr>
          <a:xfrm>
            <a:off x="6268413" y="3890434"/>
            <a:ext cx="26416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Plays</a:t>
            </a:r>
            <a:endParaRPr sz="900">
              <a:solidFill>
                <a:schemeClr val="dk1"/>
              </a:solidFill>
              <a:latin typeface="Calibri"/>
              <a:ea typeface="Calibri"/>
              <a:cs typeface="Calibri"/>
              <a:sym typeface="Calibri"/>
            </a:endParaRPr>
          </a:p>
        </p:txBody>
      </p:sp>
      <p:sp>
        <p:nvSpPr>
          <p:cNvPr id="1394" name="Google Shape;1394;p69"/>
          <p:cNvSpPr txBox="1"/>
          <p:nvPr/>
        </p:nvSpPr>
        <p:spPr>
          <a:xfrm>
            <a:off x="5305587" y="4779434"/>
            <a:ext cx="34480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 ID</a:t>
            </a:r>
            <a:endParaRPr sz="900">
              <a:solidFill>
                <a:schemeClr val="dk1"/>
              </a:solidFill>
              <a:latin typeface="Calibri"/>
              <a:ea typeface="Calibri"/>
              <a:cs typeface="Calibri"/>
              <a:sym typeface="Calibri"/>
            </a:endParaRPr>
          </a:p>
        </p:txBody>
      </p:sp>
      <p:sp>
        <p:nvSpPr>
          <p:cNvPr id="1395" name="Google Shape;1395;p69"/>
          <p:cNvSpPr txBox="1"/>
          <p:nvPr/>
        </p:nvSpPr>
        <p:spPr>
          <a:xfrm>
            <a:off x="6103314" y="4779434"/>
            <a:ext cx="59372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Yardage Diff</a:t>
            </a:r>
            <a:endParaRPr sz="900">
              <a:solidFill>
                <a:schemeClr val="dk1"/>
              </a:solidFill>
              <a:latin typeface="Calibri"/>
              <a:ea typeface="Calibri"/>
              <a:cs typeface="Calibri"/>
              <a:sym typeface="Calibri"/>
            </a:endParaRPr>
          </a:p>
        </p:txBody>
      </p:sp>
      <p:sp>
        <p:nvSpPr>
          <p:cNvPr id="1396" name="Google Shape;1396;p69"/>
          <p:cNvSpPr txBox="1"/>
          <p:nvPr/>
        </p:nvSpPr>
        <p:spPr>
          <a:xfrm>
            <a:off x="7028884" y="4779434"/>
            <a:ext cx="57340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Touchdown</a:t>
            </a:r>
            <a:endParaRPr sz="900">
              <a:solidFill>
                <a:schemeClr val="dk1"/>
              </a:solidFill>
              <a:latin typeface="Calibri"/>
              <a:ea typeface="Calibri"/>
              <a:cs typeface="Calibri"/>
              <a:sym typeface="Calibri"/>
            </a:endParaRPr>
          </a:p>
        </p:txBody>
      </p:sp>
      <p:sp>
        <p:nvSpPr>
          <p:cNvPr id="1397" name="Google Shape;1397;p69"/>
          <p:cNvSpPr txBox="1"/>
          <p:nvPr/>
        </p:nvSpPr>
        <p:spPr>
          <a:xfrm>
            <a:off x="3633403" y="2679700"/>
            <a:ext cx="36131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Players</a:t>
            </a:r>
            <a:endParaRPr sz="900">
              <a:solidFill>
                <a:schemeClr val="dk1"/>
              </a:solidFill>
              <a:latin typeface="Calibri"/>
              <a:ea typeface="Calibri"/>
              <a:cs typeface="Calibri"/>
              <a:sym typeface="Calibri"/>
            </a:endParaRPr>
          </a:p>
        </p:txBody>
      </p:sp>
      <p:sp>
        <p:nvSpPr>
          <p:cNvPr id="1398" name="Google Shape;1398;p69"/>
          <p:cNvSpPr txBox="1"/>
          <p:nvPr/>
        </p:nvSpPr>
        <p:spPr>
          <a:xfrm>
            <a:off x="2930925" y="2044700"/>
            <a:ext cx="29083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name</a:t>
            </a:r>
            <a:endParaRPr sz="900">
              <a:solidFill>
                <a:schemeClr val="dk1"/>
              </a:solidFill>
              <a:latin typeface="Calibri"/>
              <a:ea typeface="Calibri"/>
              <a:cs typeface="Calibri"/>
              <a:sym typeface="Calibri"/>
            </a:endParaRPr>
          </a:p>
        </p:txBody>
      </p:sp>
      <p:sp>
        <p:nvSpPr>
          <p:cNvPr id="1399" name="Google Shape;1399;p69"/>
          <p:cNvSpPr txBox="1"/>
          <p:nvPr/>
        </p:nvSpPr>
        <p:spPr>
          <a:xfrm>
            <a:off x="4741449" y="2459567"/>
            <a:ext cx="54292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MemberOf</a:t>
            </a:r>
            <a:endParaRPr sz="900">
              <a:solidFill>
                <a:schemeClr val="dk1"/>
              </a:solidFill>
              <a:latin typeface="Calibri"/>
              <a:ea typeface="Calibri"/>
              <a:cs typeface="Calibri"/>
              <a:sym typeface="Calibri"/>
            </a:endParaRPr>
          </a:p>
        </p:txBody>
      </p:sp>
      <p:sp>
        <p:nvSpPr>
          <p:cNvPr id="1400" name="Google Shape;1400;p69"/>
          <p:cNvSpPr txBox="1"/>
          <p:nvPr/>
        </p:nvSpPr>
        <p:spPr>
          <a:xfrm>
            <a:off x="3824677" y="2044700"/>
            <a:ext cx="441959"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Player ID</a:t>
            </a:r>
            <a:endParaRPr sz="900">
              <a:solidFill>
                <a:schemeClr val="dk1"/>
              </a:solidFill>
              <a:latin typeface="Calibri"/>
              <a:ea typeface="Calibri"/>
              <a:cs typeface="Calibri"/>
              <a:sym typeface="Calibri"/>
            </a:endParaRPr>
          </a:p>
        </p:txBody>
      </p:sp>
      <p:sp>
        <p:nvSpPr>
          <p:cNvPr id="1401" name="Google Shape;1401;p69"/>
          <p:cNvSpPr txBox="1"/>
          <p:nvPr/>
        </p:nvSpPr>
        <p:spPr>
          <a:xfrm>
            <a:off x="6053564" y="2256367"/>
            <a:ext cx="33083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Teams</a:t>
            </a:r>
            <a:endParaRPr sz="900">
              <a:solidFill>
                <a:schemeClr val="dk1"/>
              </a:solidFill>
              <a:latin typeface="Calibri"/>
              <a:ea typeface="Calibri"/>
              <a:cs typeface="Calibri"/>
              <a:sym typeface="Calibri"/>
            </a:endParaRPr>
          </a:p>
        </p:txBody>
      </p:sp>
      <p:sp>
        <p:nvSpPr>
          <p:cNvPr id="1402" name="Google Shape;1402;p69"/>
          <p:cNvSpPr txBox="1"/>
          <p:nvPr/>
        </p:nvSpPr>
        <p:spPr>
          <a:xfrm>
            <a:off x="5936645" y="1689100"/>
            <a:ext cx="41148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Team ID</a:t>
            </a:r>
            <a:endParaRPr sz="900">
              <a:solidFill>
                <a:schemeClr val="dk1"/>
              </a:solidFill>
              <a:latin typeface="Calibri"/>
              <a:ea typeface="Calibri"/>
              <a:cs typeface="Calibri"/>
              <a:sym typeface="Calibri"/>
            </a:endParaRPr>
          </a:p>
        </p:txBody>
      </p:sp>
      <p:sp>
        <p:nvSpPr>
          <p:cNvPr id="1403" name="Google Shape;1403;p69"/>
          <p:cNvSpPr txBox="1"/>
          <p:nvPr/>
        </p:nvSpPr>
        <p:spPr>
          <a:xfrm>
            <a:off x="4219102" y="3484034"/>
            <a:ext cx="87058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Participation Type</a:t>
            </a:r>
            <a:endParaRPr/>
          </a:p>
        </p:txBody>
      </p:sp>
      <p:sp>
        <p:nvSpPr>
          <p:cNvPr id="1404" name="Google Shape;1404;p69"/>
          <p:cNvSpPr txBox="1"/>
          <p:nvPr/>
        </p:nvSpPr>
        <p:spPr>
          <a:xfrm>
            <a:off x="2047544" y="4610099"/>
            <a:ext cx="1343660" cy="1402080"/>
          </a:xfrm>
          <a:prstGeom prst="rect">
            <a:avLst/>
          </a:prstGeom>
          <a:noFill/>
          <a:ln>
            <a:noFill/>
          </a:ln>
        </p:spPr>
        <p:txBody>
          <a:bodyPr anchorCtr="0" anchor="t" bIns="0" lIns="0" spcFirstLastPara="1" rIns="0" wrap="square" tIns="16500">
            <a:spAutoFit/>
          </a:bodyPr>
          <a:lstStyle/>
          <a:p>
            <a:pPr indent="0" lvl="0" marL="12700" marR="5080" rtl="0" algn="l">
              <a:spcBef>
                <a:spcPts val="0"/>
              </a:spcBef>
              <a:spcAft>
                <a:spcPts val="0"/>
              </a:spcAft>
              <a:buNone/>
            </a:pPr>
            <a:r>
              <a:rPr lang="en-US" sz="1500">
                <a:solidFill>
                  <a:schemeClr val="dk1"/>
                </a:solidFill>
                <a:latin typeface="Calibri"/>
                <a:ea typeface="Calibri"/>
                <a:cs typeface="Calibri"/>
                <a:sym typeface="Calibri"/>
              </a:rPr>
              <a:t>A player can only  belong to one  team, a play can  only be in one  game, a  pass/run..?</a:t>
            </a:r>
            <a:endParaRPr sz="1500">
              <a:solidFill>
                <a:schemeClr val="dk1"/>
              </a:solidFill>
              <a:latin typeface="Calibri"/>
              <a:ea typeface="Calibri"/>
              <a:cs typeface="Calibri"/>
              <a:sym typeface="Calibri"/>
            </a:endParaRPr>
          </a:p>
        </p:txBody>
      </p:sp>
      <p:sp>
        <p:nvSpPr>
          <p:cNvPr id="1405" name="Google Shape;1405;p69"/>
          <p:cNvSpPr txBox="1"/>
          <p:nvPr/>
        </p:nvSpPr>
        <p:spPr>
          <a:xfrm>
            <a:off x="7539701" y="3695700"/>
            <a:ext cx="38798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OccurIn</a:t>
            </a:r>
            <a:endParaRPr sz="900">
              <a:solidFill>
                <a:schemeClr val="dk1"/>
              </a:solidFill>
              <a:latin typeface="Calibri"/>
              <a:ea typeface="Calibri"/>
              <a:cs typeface="Calibri"/>
              <a:sym typeface="Calibri"/>
            </a:endParaRPr>
          </a:p>
        </p:txBody>
      </p:sp>
      <p:sp>
        <p:nvSpPr>
          <p:cNvPr id="1406" name="Google Shape;1406;p69"/>
          <p:cNvSpPr txBox="1"/>
          <p:nvPr/>
        </p:nvSpPr>
        <p:spPr>
          <a:xfrm>
            <a:off x="8464574" y="2891367"/>
            <a:ext cx="34671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Games</a:t>
            </a:r>
            <a:endParaRPr sz="900">
              <a:solidFill>
                <a:schemeClr val="dk1"/>
              </a:solidFill>
              <a:latin typeface="Calibri"/>
              <a:ea typeface="Calibri"/>
              <a:cs typeface="Calibri"/>
              <a:sym typeface="Calibri"/>
            </a:endParaRPr>
          </a:p>
        </p:txBody>
      </p:sp>
      <p:sp>
        <p:nvSpPr>
          <p:cNvPr id="1407" name="Google Shape;1407;p69"/>
          <p:cNvSpPr txBox="1"/>
          <p:nvPr/>
        </p:nvSpPr>
        <p:spPr>
          <a:xfrm>
            <a:off x="7751564" y="1900767"/>
            <a:ext cx="236854"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date</a:t>
            </a:r>
            <a:endParaRPr sz="900">
              <a:solidFill>
                <a:schemeClr val="dk1"/>
              </a:solidFill>
              <a:latin typeface="Calibri"/>
              <a:ea typeface="Calibri"/>
              <a:cs typeface="Calibri"/>
              <a:sym typeface="Calibri"/>
            </a:endParaRPr>
          </a:p>
        </p:txBody>
      </p:sp>
      <p:sp>
        <p:nvSpPr>
          <p:cNvPr id="1408" name="Google Shape;1408;p69"/>
          <p:cNvSpPr txBox="1"/>
          <p:nvPr/>
        </p:nvSpPr>
        <p:spPr>
          <a:xfrm>
            <a:off x="6905087" y="2992967"/>
            <a:ext cx="64198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PlayingHome</a:t>
            </a:r>
            <a:endParaRPr sz="900">
              <a:solidFill>
                <a:schemeClr val="dk1"/>
              </a:solidFill>
              <a:latin typeface="Calibri"/>
              <a:ea typeface="Calibri"/>
              <a:cs typeface="Calibri"/>
              <a:sym typeface="Calibri"/>
            </a:endParaRPr>
          </a:p>
        </p:txBody>
      </p:sp>
      <p:sp>
        <p:nvSpPr>
          <p:cNvPr id="1409" name="Google Shape;1409;p69"/>
          <p:cNvSpPr txBox="1"/>
          <p:nvPr/>
        </p:nvSpPr>
        <p:spPr>
          <a:xfrm>
            <a:off x="8743259" y="1883834"/>
            <a:ext cx="40259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location</a:t>
            </a:r>
            <a:endParaRPr sz="900">
              <a:solidFill>
                <a:schemeClr val="dk1"/>
              </a:solidFill>
              <a:latin typeface="Calibri"/>
              <a:ea typeface="Calibri"/>
              <a:cs typeface="Calibri"/>
              <a:sym typeface="Calibri"/>
            </a:endParaRPr>
          </a:p>
        </p:txBody>
      </p:sp>
      <p:sp>
        <p:nvSpPr>
          <p:cNvPr id="1410" name="Google Shape;1410;p69"/>
          <p:cNvSpPr txBox="1"/>
          <p:nvPr/>
        </p:nvSpPr>
        <p:spPr>
          <a:xfrm>
            <a:off x="6918581" y="2459567"/>
            <a:ext cx="61468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PlayingAway</a:t>
            </a:r>
            <a:endParaRPr sz="900">
              <a:solidFill>
                <a:schemeClr val="dk1"/>
              </a:solidFill>
              <a:latin typeface="Calibri"/>
              <a:ea typeface="Calibri"/>
              <a:cs typeface="Calibri"/>
              <a:sym typeface="Calibri"/>
            </a:endParaRPr>
          </a:p>
        </p:txBody>
      </p:sp>
      <p:pic>
        <p:nvPicPr>
          <p:cNvPr id="1411" name="Google Shape;1411;p69"/>
          <p:cNvPicPr preferRelativeResize="0"/>
          <p:nvPr/>
        </p:nvPicPr>
        <p:blipFill rotWithShape="1">
          <a:blip r:embed="rId4">
            <a:alphaModFix/>
          </a:blip>
          <a:srcRect b="0" l="0" r="0" t="0"/>
          <a:stretch/>
        </p:blipFill>
        <p:spPr>
          <a:xfrm>
            <a:off x="1879600" y="3479800"/>
            <a:ext cx="1524000" cy="1049866"/>
          </a:xfrm>
          <a:prstGeom prst="rect">
            <a:avLst/>
          </a:prstGeom>
          <a:noFill/>
          <a:ln>
            <a:noFill/>
          </a:ln>
        </p:spPr>
      </p:pic>
      <p:sp>
        <p:nvSpPr>
          <p:cNvPr id="1412" name="Google Shape;1412;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pic>
        <p:nvPicPr>
          <p:cNvPr id="1417" name="Google Shape;1417;p70"/>
          <p:cNvPicPr preferRelativeResize="0"/>
          <p:nvPr/>
        </p:nvPicPr>
        <p:blipFill rotWithShape="1">
          <a:blip r:embed="rId3">
            <a:alphaModFix/>
          </a:blip>
          <a:srcRect b="0" l="0" r="0" t="0"/>
          <a:stretch/>
        </p:blipFill>
        <p:spPr>
          <a:xfrm>
            <a:off x="2639528" y="1571029"/>
            <a:ext cx="6739614" cy="3502612"/>
          </a:xfrm>
          <a:prstGeom prst="rect">
            <a:avLst/>
          </a:prstGeom>
          <a:noFill/>
          <a:ln>
            <a:noFill/>
          </a:ln>
        </p:spPr>
      </p:pic>
      <p:sp>
        <p:nvSpPr>
          <p:cNvPr id="1418" name="Google Shape;1418;p70"/>
          <p:cNvSpPr txBox="1"/>
          <p:nvPr/>
        </p:nvSpPr>
        <p:spPr>
          <a:xfrm>
            <a:off x="4600325" y="3661834"/>
            <a:ext cx="61849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ParticipateIn</a:t>
            </a:r>
            <a:endParaRPr sz="900">
              <a:solidFill>
                <a:schemeClr val="dk1"/>
              </a:solidFill>
              <a:latin typeface="Calibri"/>
              <a:ea typeface="Calibri"/>
              <a:cs typeface="Calibri"/>
              <a:sym typeface="Calibri"/>
            </a:endParaRPr>
          </a:p>
        </p:txBody>
      </p:sp>
      <p:sp>
        <p:nvSpPr>
          <p:cNvPr id="1419" name="Google Shape;1419;p70"/>
          <p:cNvSpPr txBox="1"/>
          <p:nvPr/>
        </p:nvSpPr>
        <p:spPr>
          <a:xfrm>
            <a:off x="6268413" y="3890434"/>
            <a:ext cx="26416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Plays</a:t>
            </a:r>
            <a:endParaRPr sz="900">
              <a:solidFill>
                <a:schemeClr val="dk1"/>
              </a:solidFill>
              <a:latin typeface="Calibri"/>
              <a:ea typeface="Calibri"/>
              <a:cs typeface="Calibri"/>
              <a:sym typeface="Calibri"/>
            </a:endParaRPr>
          </a:p>
        </p:txBody>
      </p:sp>
      <p:sp>
        <p:nvSpPr>
          <p:cNvPr id="1420" name="Google Shape;1420;p70"/>
          <p:cNvSpPr txBox="1"/>
          <p:nvPr/>
        </p:nvSpPr>
        <p:spPr>
          <a:xfrm>
            <a:off x="5305587" y="4779434"/>
            <a:ext cx="34480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 ID</a:t>
            </a:r>
            <a:endParaRPr sz="900">
              <a:solidFill>
                <a:schemeClr val="dk1"/>
              </a:solidFill>
              <a:latin typeface="Calibri"/>
              <a:ea typeface="Calibri"/>
              <a:cs typeface="Calibri"/>
              <a:sym typeface="Calibri"/>
            </a:endParaRPr>
          </a:p>
        </p:txBody>
      </p:sp>
      <p:sp>
        <p:nvSpPr>
          <p:cNvPr id="1421" name="Google Shape;1421;p70"/>
          <p:cNvSpPr txBox="1"/>
          <p:nvPr/>
        </p:nvSpPr>
        <p:spPr>
          <a:xfrm>
            <a:off x="6103314" y="4779434"/>
            <a:ext cx="59372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Yardage Diff</a:t>
            </a:r>
            <a:endParaRPr sz="900">
              <a:solidFill>
                <a:schemeClr val="dk1"/>
              </a:solidFill>
              <a:latin typeface="Calibri"/>
              <a:ea typeface="Calibri"/>
              <a:cs typeface="Calibri"/>
              <a:sym typeface="Calibri"/>
            </a:endParaRPr>
          </a:p>
        </p:txBody>
      </p:sp>
      <p:sp>
        <p:nvSpPr>
          <p:cNvPr id="1422" name="Google Shape;1422;p70"/>
          <p:cNvSpPr txBox="1"/>
          <p:nvPr/>
        </p:nvSpPr>
        <p:spPr>
          <a:xfrm>
            <a:off x="7028884" y="4779434"/>
            <a:ext cx="57340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Touchdown</a:t>
            </a:r>
            <a:endParaRPr sz="900">
              <a:solidFill>
                <a:schemeClr val="dk1"/>
              </a:solidFill>
              <a:latin typeface="Calibri"/>
              <a:ea typeface="Calibri"/>
              <a:cs typeface="Calibri"/>
              <a:sym typeface="Calibri"/>
            </a:endParaRPr>
          </a:p>
        </p:txBody>
      </p:sp>
      <p:sp>
        <p:nvSpPr>
          <p:cNvPr id="1423" name="Google Shape;1423;p70"/>
          <p:cNvSpPr txBox="1"/>
          <p:nvPr/>
        </p:nvSpPr>
        <p:spPr>
          <a:xfrm>
            <a:off x="3633403" y="2679700"/>
            <a:ext cx="36131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Players</a:t>
            </a:r>
            <a:endParaRPr sz="900">
              <a:solidFill>
                <a:schemeClr val="dk1"/>
              </a:solidFill>
              <a:latin typeface="Calibri"/>
              <a:ea typeface="Calibri"/>
              <a:cs typeface="Calibri"/>
              <a:sym typeface="Calibri"/>
            </a:endParaRPr>
          </a:p>
        </p:txBody>
      </p:sp>
      <p:sp>
        <p:nvSpPr>
          <p:cNvPr id="1424" name="Google Shape;1424;p70"/>
          <p:cNvSpPr txBox="1"/>
          <p:nvPr/>
        </p:nvSpPr>
        <p:spPr>
          <a:xfrm>
            <a:off x="2930925" y="2044700"/>
            <a:ext cx="29083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name</a:t>
            </a:r>
            <a:endParaRPr sz="900">
              <a:solidFill>
                <a:schemeClr val="dk1"/>
              </a:solidFill>
              <a:latin typeface="Calibri"/>
              <a:ea typeface="Calibri"/>
              <a:cs typeface="Calibri"/>
              <a:sym typeface="Calibri"/>
            </a:endParaRPr>
          </a:p>
        </p:txBody>
      </p:sp>
      <p:sp>
        <p:nvSpPr>
          <p:cNvPr id="1425" name="Google Shape;1425;p70"/>
          <p:cNvSpPr txBox="1"/>
          <p:nvPr/>
        </p:nvSpPr>
        <p:spPr>
          <a:xfrm>
            <a:off x="4741449" y="2459567"/>
            <a:ext cx="54292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MemberOf</a:t>
            </a:r>
            <a:endParaRPr sz="900">
              <a:solidFill>
                <a:schemeClr val="dk1"/>
              </a:solidFill>
              <a:latin typeface="Calibri"/>
              <a:ea typeface="Calibri"/>
              <a:cs typeface="Calibri"/>
              <a:sym typeface="Calibri"/>
            </a:endParaRPr>
          </a:p>
        </p:txBody>
      </p:sp>
      <p:sp>
        <p:nvSpPr>
          <p:cNvPr id="1426" name="Google Shape;1426;p70"/>
          <p:cNvSpPr txBox="1"/>
          <p:nvPr/>
        </p:nvSpPr>
        <p:spPr>
          <a:xfrm>
            <a:off x="3824677" y="2044700"/>
            <a:ext cx="441959"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Player ID</a:t>
            </a:r>
            <a:endParaRPr sz="900">
              <a:solidFill>
                <a:schemeClr val="dk1"/>
              </a:solidFill>
              <a:latin typeface="Calibri"/>
              <a:ea typeface="Calibri"/>
              <a:cs typeface="Calibri"/>
              <a:sym typeface="Calibri"/>
            </a:endParaRPr>
          </a:p>
        </p:txBody>
      </p:sp>
      <p:sp>
        <p:nvSpPr>
          <p:cNvPr id="1427" name="Google Shape;1427;p70"/>
          <p:cNvSpPr txBox="1"/>
          <p:nvPr/>
        </p:nvSpPr>
        <p:spPr>
          <a:xfrm>
            <a:off x="6053564" y="2256367"/>
            <a:ext cx="33083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Teams</a:t>
            </a:r>
            <a:endParaRPr sz="900">
              <a:solidFill>
                <a:schemeClr val="dk1"/>
              </a:solidFill>
              <a:latin typeface="Calibri"/>
              <a:ea typeface="Calibri"/>
              <a:cs typeface="Calibri"/>
              <a:sym typeface="Calibri"/>
            </a:endParaRPr>
          </a:p>
        </p:txBody>
      </p:sp>
      <p:sp>
        <p:nvSpPr>
          <p:cNvPr id="1428" name="Google Shape;1428;p70"/>
          <p:cNvSpPr txBox="1"/>
          <p:nvPr/>
        </p:nvSpPr>
        <p:spPr>
          <a:xfrm>
            <a:off x="5936645" y="1689100"/>
            <a:ext cx="41148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Team ID</a:t>
            </a:r>
            <a:endParaRPr sz="900">
              <a:solidFill>
                <a:schemeClr val="dk1"/>
              </a:solidFill>
              <a:latin typeface="Calibri"/>
              <a:ea typeface="Calibri"/>
              <a:cs typeface="Calibri"/>
              <a:sym typeface="Calibri"/>
            </a:endParaRPr>
          </a:p>
        </p:txBody>
      </p:sp>
      <p:sp>
        <p:nvSpPr>
          <p:cNvPr id="1429" name="Google Shape;1429;p70"/>
          <p:cNvSpPr txBox="1"/>
          <p:nvPr/>
        </p:nvSpPr>
        <p:spPr>
          <a:xfrm>
            <a:off x="4989563" y="3103034"/>
            <a:ext cx="87058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Participation Type</a:t>
            </a:r>
            <a:endParaRPr/>
          </a:p>
        </p:txBody>
      </p:sp>
      <p:sp>
        <p:nvSpPr>
          <p:cNvPr id="1430" name="Google Shape;1430;p70"/>
          <p:cNvSpPr txBox="1"/>
          <p:nvPr/>
        </p:nvSpPr>
        <p:spPr>
          <a:xfrm>
            <a:off x="7539701" y="3695700"/>
            <a:ext cx="38798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OccurIn</a:t>
            </a:r>
            <a:endParaRPr sz="900">
              <a:solidFill>
                <a:schemeClr val="dk1"/>
              </a:solidFill>
              <a:latin typeface="Calibri"/>
              <a:ea typeface="Calibri"/>
              <a:cs typeface="Calibri"/>
              <a:sym typeface="Calibri"/>
            </a:endParaRPr>
          </a:p>
        </p:txBody>
      </p:sp>
      <p:sp>
        <p:nvSpPr>
          <p:cNvPr id="1431" name="Google Shape;1431;p70"/>
          <p:cNvSpPr txBox="1"/>
          <p:nvPr/>
        </p:nvSpPr>
        <p:spPr>
          <a:xfrm>
            <a:off x="8464574" y="2891367"/>
            <a:ext cx="34671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Games</a:t>
            </a:r>
            <a:endParaRPr sz="900">
              <a:solidFill>
                <a:schemeClr val="dk1"/>
              </a:solidFill>
              <a:latin typeface="Calibri"/>
              <a:ea typeface="Calibri"/>
              <a:cs typeface="Calibri"/>
              <a:sym typeface="Calibri"/>
            </a:endParaRPr>
          </a:p>
        </p:txBody>
      </p:sp>
      <p:sp>
        <p:nvSpPr>
          <p:cNvPr id="1432" name="Google Shape;1432;p70"/>
          <p:cNvSpPr txBox="1"/>
          <p:nvPr/>
        </p:nvSpPr>
        <p:spPr>
          <a:xfrm>
            <a:off x="7751564" y="1900767"/>
            <a:ext cx="236854"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date</a:t>
            </a:r>
            <a:endParaRPr sz="900">
              <a:solidFill>
                <a:schemeClr val="dk1"/>
              </a:solidFill>
              <a:latin typeface="Calibri"/>
              <a:ea typeface="Calibri"/>
              <a:cs typeface="Calibri"/>
              <a:sym typeface="Calibri"/>
            </a:endParaRPr>
          </a:p>
        </p:txBody>
      </p:sp>
      <p:sp>
        <p:nvSpPr>
          <p:cNvPr id="1433" name="Google Shape;1433;p70"/>
          <p:cNvSpPr txBox="1"/>
          <p:nvPr/>
        </p:nvSpPr>
        <p:spPr>
          <a:xfrm>
            <a:off x="6905087" y="2992967"/>
            <a:ext cx="64198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PlayingHome</a:t>
            </a:r>
            <a:endParaRPr sz="900">
              <a:solidFill>
                <a:schemeClr val="dk1"/>
              </a:solidFill>
              <a:latin typeface="Calibri"/>
              <a:ea typeface="Calibri"/>
              <a:cs typeface="Calibri"/>
              <a:sym typeface="Calibri"/>
            </a:endParaRPr>
          </a:p>
        </p:txBody>
      </p:sp>
      <p:sp>
        <p:nvSpPr>
          <p:cNvPr id="1434" name="Google Shape;1434;p70"/>
          <p:cNvSpPr txBox="1"/>
          <p:nvPr/>
        </p:nvSpPr>
        <p:spPr>
          <a:xfrm>
            <a:off x="8743259" y="1883834"/>
            <a:ext cx="40259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location</a:t>
            </a:r>
            <a:endParaRPr sz="900">
              <a:solidFill>
                <a:schemeClr val="dk1"/>
              </a:solidFill>
              <a:latin typeface="Calibri"/>
              <a:ea typeface="Calibri"/>
              <a:cs typeface="Calibri"/>
              <a:sym typeface="Calibri"/>
            </a:endParaRPr>
          </a:p>
        </p:txBody>
      </p:sp>
      <p:sp>
        <p:nvSpPr>
          <p:cNvPr id="1435" name="Google Shape;1435;p70"/>
          <p:cNvSpPr txBox="1"/>
          <p:nvPr/>
        </p:nvSpPr>
        <p:spPr>
          <a:xfrm>
            <a:off x="6918581" y="2459567"/>
            <a:ext cx="61468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PlayingAway</a:t>
            </a:r>
            <a:endParaRPr sz="900">
              <a:solidFill>
                <a:schemeClr val="dk1"/>
              </a:solidFill>
              <a:latin typeface="Calibri"/>
              <a:ea typeface="Calibri"/>
              <a:cs typeface="Calibri"/>
              <a:sym typeface="Calibri"/>
            </a:endParaRPr>
          </a:p>
        </p:txBody>
      </p:sp>
      <p:pic>
        <p:nvPicPr>
          <p:cNvPr id="1436" name="Google Shape;1436;p70"/>
          <p:cNvPicPr preferRelativeResize="0"/>
          <p:nvPr/>
        </p:nvPicPr>
        <p:blipFill rotWithShape="1">
          <a:blip r:embed="rId4">
            <a:alphaModFix/>
          </a:blip>
          <a:srcRect b="0" l="0" r="0" t="0"/>
          <a:stretch/>
        </p:blipFill>
        <p:spPr>
          <a:xfrm>
            <a:off x="8966201" y="3445933"/>
            <a:ext cx="1354667" cy="1143000"/>
          </a:xfrm>
          <a:prstGeom prst="rect">
            <a:avLst/>
          </a:prstGeom>
          <a:noFill/>
          <a:ln>
            <a:noFill/>
          </a:ln>
        </p:spPr>
      </p:pic>
      <p:sp>
        <p:nvSpPr>
          <p:cNvPr id="1437" name="Google Shape;1437;p70"/>
          <p:cNvSpPr txBox="1"/>
          <p:nvPr/>
        </p:nvSpPr>
        <p:spPr>
          <a:xfrm>
            <a:off x="9049819" y="4779433"/>
            <a:ext cx="1518920" cy="944880"/>
          </a:xfrm>
          <a:prstGeom prst="rect">
            <a:avLst/>
          </a:prstGeom>
          <a:noFill/>
          <a:ln>
            <a:noFill/>
          </a:ln>
        </p:spPr>
        <p:txBody>
          <a:bodyPr anchorCtr="0" anchor="t" bIns="0" lIns="0" spcFirstLastPara="1" rIns="0" wrap="square" tIns="16500">
            <a:spAutoFit/>
          </a:bodyPr>
          <a:lstStyle/>
          <a:p>
            <a:pPr indent="0" lvl="0" marL="12700" marR="5080" rtl="0" algn="l">
              <a:spcBef>
                <a:spcPts val="0"/>
              </a:spcBef>
              <a:spcAft>
                <a:spcPts val="0"/>
              </a:spcAft>
              <a:buNone/>
            </a:pPr>
            <a:r>
              <a:rPr lang="en-US" sz="1500">
                <a:solidFill>
                  <a:schemeClr val="dk1"/>
                </a:solidFill>
                <a:latin typeface="Calibri"/>
                <a:ea typeface="Calibri"/>
                <a:cs typeface="Calibri"/>
                <a:sym typeface="Calibri"/>
              </a:rPr>
              <a:t>Players can achieve  a </a:t>
            </a:r>
            <a:r>
              <a:rPr b="1" lang="en-US" sz="1500" u="sng">
                <a:solidFill>
                  <a:schemeClr val="dk1"/>
                </a:solidFill>
                <a:latin typeface="Calibri"/>
                <a:ea typeface="Calibri"/>
                <a:cs typeface="Calibri"/>
                <a:sym typeface="Calibri"/>
              </a:rPr>
              <a:t>Personal Record </a:t>
            </a:r>
            <a:r>
              <a:rPr b="1" lang="en-US" sz="1500">
                <a:solidFill>
                  <a:schemeClr val="dk1"/>
                </a:solidFill>
                <a:latin typeface="Calibri"/>
                <a:ea typeface="Calibri"/>
                <a:cs typeface="Calibri"/>
                <a:sym typeface="Calibri"/>
              </a:rPr>
              <a:t> </a:t>
            </a:r>
            <a:r>
              <a:rPr lang="en-US" sz="1500">
                <a:solidFill>
                  <a:schemeClr val="dk1"/>
                </a:solidFill>
                <a:latin typeface="Calibri"/>
                <a:ea typeface="Calibri"/>
                <a:cs typeface="Calibri"/>
                <a:sym typeface="Calibri"/>
              </a:rPr>
              <a:t>linked to a specific  Game and Play</a:t>
            </a:r>
            <a:endParaRPr sz="1500">
              <a:solidFill>
                <a:schemeClr val="dk1"/>
              </a:solidFill>
              <a:latin typeface="Calibri"/>
              <a:ea typeface="Calibri"/>
              <a:cs typeface="Calibri"/>
              <a:sym typeface="Calibri"/>
            </a:endParaRPr>
          </a:p>
        </p:txBody>
      </p:sp>
      <p:grpSp>
        <p:nvGrpSpPr>
          <p:cNvPr id="1438" name="Google Shape;1438;p70"/>
          <p:cNvGrpSpPr/>
          <p:nvPr/>
        </p:nvGrpSpPr>
        <p:grpSpPr>
          <a:xfrm>
            <a:off x="4043751" y="3989220"/>
            <a:ext cx="946785" cy="398780"/>
            <a:chOff x="2519751" y="3989219"/>
            <a:chExt cx="946785" cy="398780"/>
          </a:xfrm>
        </p:grpSpPr>
        <p:sp>
          <p:nvSpPr>
            <p:cNvPr id="1439" name="Google Shape;1439;p70"/>
            <p:cNvSpPr/>
            <p:nvPr/>
          </p:nvSpPr>
          <p:spPr>
            <a:xfrm>
              <a:off x="2519751" y="3989219"/>
              <a:ext cx="946785" cy="398780"/>
            </a:xfrm>
            <a:custGeom>
              <a:rect b="b" l="l" r="r" t="t"/>
              <a:pathLst>
                <a:path extrusionOk="0" h="398779" w="946785">
                  <a:moveTo>
                    <a:pt x="473270" y="0"/>
                  </a:moveTo>
                  <a:lnTo>
                    <a:pt x="0" y="199127"/>
                  </a:lnTo>
                  <a:lnTo>
                    <a:pt x="473270" y="398254"/>
                  </a:lnTo>
                  <a:lnTo>
                    <a:pt x="946541" y="199127"/>
                  </a:lnTo>
                  <a:lnTo>
                    <a:pt x="47327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0" name="Google Shape;1440;p70"/>
            <p:cNvSpPr/>
            <p:nvPr/>
          </p:nvSpPr>
          <p:spPr>
            <a:xfrm>
              <a:off x="2519751" y="3989219"/>
              <a:ext cx="946785" cy="398780"/>
            </a:xfrm>
            <a:custGeom>
              <a:rect b="b" l="l" r="r" t="t"/>
              <a:pathLst>
                <a:path extrusionOk="0" h="398779" w="946785">
                  <a:moveTo>
                    <a:pt x="0" y="199127"/>
                  </a:moveTo>
                  <a:lnTo>
                    <a:pt x="473270" y="0"/>
                  </a:lnTo>
                  <a:lnTo>
                    <a:pt x="946541" y="199127"/>
                  </a:lnTo>
                  <a:lnTo>
                    <a:pt x="473270" y="398254"/>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441" name="Google Shape;1441;p70"/>
          <p:cNvSpPr txBox="1"/>
          <p:nvPr/>
        </p:nvSpPr>
        <p:spPr>
          <a:xfrm>
            <a:off x="4399546" y="4102100"/>
            <a:ext cx="23749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PRIn</a:t>
            </a:r>
            <a:endParaRPr sz="900">
              <a:solidFill>
                <a:schemeClr val="dk1"/>
              </a:solidFill>
              <a:latin typeface="Calibri"/>
              <a:ea typeface="Calibri"/>
              <a:cs typeface="Calibri"/>
              <a:sym typeface="Calibri"/>
            </a:endParaRPr>
          </a:p>
        </p:txBody>
      </p:sp>
      <p:grpSp>
        <p:nvGrpSpPr>
          <p:cNvPr id="1442" name="Google Shape;1442;p70"/>
          <p:cNvGrpSpPr/>
          <p:nvPr/>
        </p:nvGrpSpPr>
        <p:grpSpPr>
          <a:xfrm>
            <a:off x="3812791" y="2921877"/>
            <a:ext cx="2042371" cy="1267038"/>
            <a:chOff x="2288790" y="2921877"/>
            <a:chExt cx="2042371" cy="1267038"/>
          </a:xfrm>
        </p:grpSpPr>
        <p:sp>
          <p:nvSpPr>
            <p:cNvPr id="1443" name="Google Shape;1443;p70"/>
            <p:cNvSpPr/>
            <p:nvPr/>
          </p:nvSpPr>
          <p:spPr>
            <a:xfrm>
              <a:off x="3466292" y="3983174"/>
              <a:ext cx="864869" cy="205740"/>
            </a:xfrm>
            <a:custGeom>
              <a:rect b="b" l="l" r="r" t="t"/>
              <a:pathLst>
                <a:path extrusionOk="0" h="205739" w="864870">
                  <a:moveTo>
                    <a:pt x="864548" y="0"/>
                  </a:moveTo>
                  <a:lnTo>
                    <a:pt x="0" y="205172"/>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4" name="Google Shape;1444;p70"/>
            <p:cNvSpPr/>
            <p:nvPr/>
          </p:nvSpPr>
          <p:spPr>
            <a:xfrm>
              <a:off x="3466292" y="3983175"/>
              <a:ext cx="864869" cy="205740"/>
            </a:xfrm>
            <a:custGeom>
              <a:rect b="b" l="l" r="r" t="t"/>
              <a:pathLst>
                <a:path extrusionOk="0" h="205739" w="864870">
                  <a:moveTo>
                    <a:pt x="0" y="205172"/>
                  </a:moveTo>
                  <a:lnTo>
                    <a:pt x="864549"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5" name="Google Shape;1445;p70"/>
            <p:cNvSpPr/>
            <p:nvPr/>
          </p:nvSpPr>
          <p:spPr>
            <a:xfrm>
              <a:off x="2288790" y="2921877"/>
              <a:ext cx="231140" cy="1266825"/>
            </a:xfrm>
            <a:custGeom>
              <a:rect b="b" l="l" r="r" t="t"/>
              <a:pathLst>
                <a:path extrusionOk="0" h="1266825" w="231139">
                  <a:moveTo>
                    <a:pt x="0" y="0"/>
                  </a:moveTo>
                  <a:lnTo>
                    <a:pt x="230962" y="1266469"/>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6" name="Google Shape;1446;p70"/>
            <p:cNvSpPr/>
            <p:nvPr/>
          </p:nvSpPr>
          <p:spPr>
            <a:xfrm>
              <a:off x="2288790" y="2921877"/>
              <a:ext cx="231140" cy="1266825"/>
            </a:xfrm>
            <a:custGeom>
              <a:rect b="b" l="l" r="r" t="t"/>
              <a:pathLst>
                <a:path extrusionOk="0" h="1266825" w="231139">
                  <a:moveTo>
                    <a:pt x="0" y="0"/>
                  </a:moveTo>
                  <a:lnTo>
                    <a:pt x="230962" y="1266469"/>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447" name="Google Shape;1447;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 name="Shape 1451"/>
        <p:cNvGrpSpPr/>
        <p:nvPr/>
      </p:nvGrpSpPr>
      <p:grpSpPr>
        <a:xfrm>
          <a:off x="0" y="0"/>
          <a:ext cx="0" cy="0"/>
          <a:chOff x="0" y="0"/>
          <a:chExt cx="0" cy="0"/>
        </a:xfrm>
      </p:grpSpPr>
      <p:sp>
        <p:nvSpPr>
          <p:cNvPr id="1452" name="Google Shape;1452;p71"/>
          <p:cNvSpPr txBox="1"/>
          <p:nvPr>
            <p:ph type="title"/>
          </p:nvPr>
        </p:nvSpPr>
        <p:spPr>
          <a:xfrm>
            <a:off x="379828" y="478852"/>
            <a:ext cx="6969223" cy="69378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chemeClr val="dk1"/>
              </a:buClr>
              <a:buSzPts val="4400"/>
              <a:buFont typeface="Calibri"/>
              <a:buNone/>
            </a:pPr>
            <a:r>
              <a:rPr lang="en-US">
                <a:latin typeface="Calibri"/>
                <a:ea typeface="Calibri"/>
                <a:cs typeface="Calibri"/>
                <a:sym typeface="Calibri"/>
              </a:rPr>
              <a:t>Mapping natural language</a:t>
            </a:r>
            <a:endParaRPr/>
          </a:p>
        </p:txBody>
      </p:sp>
      <p:sp>
        <p:nvSpPr>
          <p:cNvPr id="1453" name="Google Shape;1453;p71"/>
          <p:cNvSpPr txBox="1"/>
          <p:nvPr/>
        </p:nvSpPr>
        <p:spPr>
          <a:xfrm>
            <a:off x="1845340" y="1172632"/>
            <a:ext cx="8482965" cy="1575430"/>
          </a:xfrm>
          <a:prstGeom prst="rect">
            <a:avLst/>
          </a:prstGeom>
          <a:noFill/>
          <a:ln>
            <a:noFill/>
          </a:ln>
        </p:spPr>
        <p:txBody>
          <a:bodyPr anchorCtr="0" anchor="t" bIns="0" lIns="0" spcFirstLastPara="1" rIns="0" wrap="square" tIns="26025">
            <a:spAutoFit/>
          </a:bodyPr>
          <a:lstStyle/>
          <a:p>
            <a:pPr indent="-256540" lvl="0" marL="256540" marR="0" rtl="0" algn="l">
              <a:lnSpc>
                <a:spcPct val="119583"/>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Chen proposed the following "rules of thumb" for mapping natural  language descriptions into ER diagrams:</a:t>
            </a:r>
            <a:r>
              <a:rPr lang="en-US" sz="2400">
                <a:solidFill>
                  <a:srgbClr val="800080"/>
                </a:solidFill>
                <a:latin typeface="Calibri"/>
                <a:ea typeface="Calibri"/>
                <a:cs typeface="Calibri"/>
                <a:sym typeface="Calibri"/>
              </a:rPr>
              <a:t> </a:t>
            </a:r>
            <a:r>
              <a:rPr lang="en-US" sz="2400" u="sng">
                <a:solidFill>
                  <a:srgbClr val="800080"/>
                </a:solidFill>
                <a:latin typeface="Calibri"/>
                <a:ea typeface="Calibri"/>
                <a:cs typeface="Calibri"/>
                <a:sym typeface="Calibri"/>
              </a:rPr>
              <a:t>"English, Chinese and ER </a:t>
            </a:r>
            <a:r>
              <a:rPr lang="en-US" sz="2400">
                <a:solidFill>
                  <a:srgbClr val="800080"/>
                </a:solidFill>
                <a:latin typeface="Calibri"/>
                <a:ea typeface="Calibri"/>
                <a:cs typeface="Calibri"/>
                <a:sym typeface="Calibri"/>
              </a:rPr>
              <a:t> </a:t>
            </a:r>
            <a:r>
              <a:rPr lang="en-US" sz="2400" u="sng">
                <a:solidFill>
                  <a:srgbClr val="800080"/>
                </a:solidFill>
                <a:latin typeface="Calibri"/>
                <a:ea typeface="Calibri"/>
                <a:cs typeface="Calibri"/>
                <a:sym typeface="Calibri"/>
              </a:rPr>
              <a:t>diagrams"</a:t>
            </a:r>
            <a:r>
              <a:rPr lang="en-US" sz="2400">
                <a:solidFill>
                  <a:srgbClr val="800080"/>
                </a:solidFill>
                <a:latin typeface="Calibri"/>
                <a:ea typeface="Calibri"/>
                <a:cs typeface="Calibri"/>
                <a:sym typeface="Calibri"/>
              </a:rPr>
              <a:t> </a:t>
            </a:r>
            <a:r>
              <a:rPr lang="en-US" sz="2400">
                <a:solidFill>
                  <a:schemeClr val="dk1"/>
                </a:solidFill>
                <a:latin typeface="Calibri"/>
                <a:ea typeface="Calibri"/>
                <a:cs typeface="Calibri"/>
                <a:sym typeface="Calibri"/>
              </a:rPr>
              <a:t>by Peter Chen.</a:t>
            </a:r>
            <a:endParaRPr/>
          </a:p>
          <a:p>
            <a:pPr indent="0" lvl="0" marL="0" marR="0" rtl="0" algn="l">
              <a:spcBef>
                <a:spcPts val="484"/>
              </a:spcBef>
              <a:spcAft>
                <a:spcPts val="0"/>
              </a:spcAft>
              <a:buNone/>
            </a:pPr>
            <a:r>
              <a:rPr lang="en-US" sz="2400">
                <a:solidFill>
                  <a:schemeClr val="dk1"/>
                </a:solidFill>
                <a:latin typeface="Arial"/>
                <a:ea typeface="Arial"/>
                <a:cs typeface="Arial"/>
                <a:sym typeface="Arial"/>
              </a:rPr>
              <a:t>•</a:t>
            </a:r>
            <a:endParaRPr/>
          </a:p>
        </p:txBody>
      </p:sp>
      <p:pic>
        <p:nvPicPr>
          <p:cNvPr id="1454" name="Google Shape;1454;p71"/>
          <p:cNvPicPr preferRelativeResize="0"/>
          <p:nvPr/>
        </p:nvPicPr>
        <p:blipFill rotWithShape="1">
          <a:blip r:embed="rId3">
            <a:alphaModFix/>
          </a:blip>
          <a:srcRect b="0" l="0" r="0" t="0"/>
          <a:stretch/>
        </p:blipFill>
        <p:spPr>
          <a:xfrm>
            <a:off x="3302001" y="2463800"/>
            <a:ext cx="5604933" cy="3132666"/>
          </a:xfrm>
          <a:prstGeom prst="rect">
            <a:avLst/>
          </a:prstGeom>
          <a:noFill/>
          <a:ln>
            <a:noFill/>
          </a:ln>
        </p:spPr>
      </p:pic>
      <p:sp>
        <p:nvSpPr>
          <p:cNvPr id="1455" name="Google Shape;1455;p71"/>
          <p:cNvSpPr txBox="1"/>
          <p:nvPr/>
        </p:nvSpPr>
        <p:spPr>
          <a:xfrm>
            <a:off x="1524001" y="5710770"/>
            <a:ext cx="9144000" cy="562398"/>
          </a:xfrm>
          <a:prstGeom prst="rect">
            <a:avLst/>
          </a:prstGeom>
          <a:noFill/>
          <a:ln>
            <a:noFill/>
          </a:ln>
        </p:spPr>
        <p:txBody>
          <a:bodyPr anchorCtr="0" anchor="t" bIns="0" lIns="0" spcFirstLastPara="1" rIns="0" wrap="square" tIns="6975">
            <a:spAutoFit/>
          </a:bodyPr>
          <a:lstStyle/>
          <a:p>
            <a:pPr indent="0" lvl="0" marL="12700" marR="5080" rtl="0" algn="l">
              <a:lnSpc>
                <a:spcPct val="101899"/>
              </a:lnSpc>
              <a:spcBef>
                <a:spcPts val="0"/>
              </a:spcBef>
              <a:spcAft>
                <a:spcPts val="0"/>
              </a:spcAft>
              <a:buNone/>
            </a:pPr>
            <a:r>
              <a:rPr lang="en-US" sz="1800">
                <a:solidFill>
                  <a:schemeClr val="dk1"/>
                </a:solidFill>
                <a:latin typeface="Calibri"/>
                <a:ea typeface="Calibri"/>
                <a:cs typeface="Calibri"/>
                <a:sym typeface="Calibri"/>
              </a:rPr>
              <a:t>Source: https://en.wikipedia.org/wiki/Entity%E2%80%93relationship_model#Mapping_natural_language</a:t>
            </a:r>
            <a:endParaRPr sz="1800">
              <a:solidFill>
                <a:schemeClr val="dk1"/>
              </a:solidFill>
              <a:latin typeface="Calibri"/>
              <a:ea typeface="Calibri"/>
              <a:cs typeface="Calibri"/>
              <a:sym typeface="Calibri"/>
            </a:endParaRPr>
          </a:p>
        </p:txBody>
      </p:sp>
      <p:sp>
        <p:nvSpPr>
          <p:cNvPr id="1456" name="Google Shape;1456;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0" name="Shape 1460"/>
        <p:cNvGrpSpPr/>
        <p:nvPr/>
      </p:nvGrpSpPr>
      <p:grpSpPr>
        <a:xfrm>
          <a:off x="0" y="0"/>
          <a:ext cx="0" cy="0"/>
          <a:chOff x="0" y="0"/>
          <a:chExt cx="0" cy="0"/>
        </a:xfrm>
      </p:grpSpPr>
      <p:sp>
        <p:nvSpPr>
          <p:cNvPr id="1461" name="Google Shape;1461;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E/R Summary</a:t>
            </a:r>
            <a:endParaRPr/>
          </a:p>
        </p:txBody>
      </p:sp>
      <p:sp>
        <p:nvSpPr>
          <p:cNvPr id="1462" name="Google Shape;1462;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63" name="Google Shape;1463;p72"/>
          <p:cNvSpPr txBox="1"/>
          <p:nvPr/>
        </p:nvSpPr>
        <p:spPr>
          <a:xfrm>
            <a:off x="2209800" y="1690688"/>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E/R diagrams are a visual syntax that allows technical and non-technical people to talk</a:t>
            </a:r>
            <a:endParaRPr/>
          </a:p>
          <a:p>
            <a:pPr indent="-342900" lvl="1" marL="800100" marR="0" rtl="0" algn="l">
              <a:spcBef>
                <a:spcPts val="56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For conceptual design</a:t>
            </a:r>
            <a:endParaRPr/>
          </a:p>
          <a:p>
            <a:pPr indent="-165100" lvl="1" marL="800100" marR="0" rtl="0" algn="l">
              <a:spcBef>
                <a:spcPts val="56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342900" lvl="0" marL="342900" marR="0" rtl="0" algn="l">
              <a:spcBef>
                <a:spcPts val="56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Basic constructs: </a:t>
            </a:r>
            <a:r>
              <a:rPr b="1" lang="en-US" sz="2800">
                <a:solidFill>
                  <a:schemeClr val="dk1"/>
                </a:solidFill>
                <a:latin typeface="Calibri"/>
                <a:ea typeface="Calibri"/>
                <a:cs typeface="Calibri"/>
                <a:sym typeface="Calibri"/>
              </a:rPr>
              <a:t>entity</a:t>
            </a:r>
            <a:r>
              <a:rPr lang="en-US" sz="2800">
                <a:solidFill>
                  <a:schemeClr val="dk1"/>
                </a:solidFill>
                <a:latin typeface="Calibri"/>
                <a:ea typeface="Calibri"/>
                <a:cs typeface="Calibri"/>
                <a:sym typeface="Calibri"/>
              </a:rPr>
              <a:t>, </a:t>
            </a:r>
            <a:r>
              <a:rPr b="1" lang="en-US" sz="2800">
                <a:solidFill>
                  <a:schemeClr val="dk1"/>
                </a:solidFill>
                <a:latin typeface="Calibri"/>
                <a:ea typeface="Calibri"/>
                <a:cs typeface="Calibri"/>
                <a:sym typeface="Calibri"/>
              </a:rPr>
              <a:t>relationship</a:t>
            </a:r>
            <a:r>
              <a:rPr lang="en-US" sz="2800">
                <a:solidFill>
                  <a:schemeClr val="dk1"/>
                </a:solidFill>
                <a:latin typeface="Calibri"/>
                <a:ea typeface="Calibri"/>
                <a:cs typeface="Calibri"/>
                <a:sym typeface="Calibri"/>
              </a:rPr>
              <a:t>, and </a:t>
            </a:r>
            <a:r>
              <a:rPr b="1" lang="en-US" sz="2800">
                <a:solidFill>
                  <a:schemeClr val="dk1"/>
                </a:solidFill>
                <a:latin typeface="Calibri"/>
                <a:ea typeface="Calibri"/>
                <a:cs typeface="Calibri"/>
                <a:sym typeface="Calibri"/>
              </a:rPr>
              <a:t>attributes</a:t>
            </a:r>
            <a:endParaRPr/>
          </a:p>
          <a:p>
            <a:pPr indent="-165100" lvl="0" marL="342900" marR="0" rtl="0" algn="l">
              <a:spcBef>
                <a:spcPts val="560"/>
              </a:spcBef>
              <a:spcAft>
                <a:spcPts val="0"/>
              </a:spcAft>
              <a:buClr>
                <a:schemeClr val="dk1"/>
              </a:buClr>
              <a:buSzPts val="2800"/>
              <a:buFont typeface="Calibri"/>
              <a:buNone/>
            </a:pPr>
            <a:r>
              <a:t/>
            </a:r>
            <a:endParaRPr i="1" sz="2800">
              <a:solidFill>
                <a:schemeClr val="dk1"/>
              </a:solidFill>
              <a:latin typeface="Calibri"/>
              <a:ea typeface="Calibri"/>
              <a:cs typeface="Calibri"/>
              <a:sym typeface="Calibri"/>
            </a:endParaRPr>
          </a:p>
          <a:p>
            <a:pPr indent="-342900" lvl="0" marL="342900" marR="0" rtl="0" algn="l">
              <a:spcBef>
                <a:spcPts val="56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A good design is faithful to the constraints of the application, but not overzealous</a:t>
            </a:r>
            <a:endParaRPr/>
          </a:p>
          <a:p>
            <a:pPr indent="-342900" lvl="0" marL="342900" marR="0" rtl="0" algn="l">
              <a:spcBef>
                <a:spcPts val="560"/>
              </a:spcBef>
              <a:spcAft>
                <a:spcPts val="0"/>
              </a:spcAft>
              <a:buNone/>
            </a:pPr>
            <a:r>
              <a:t/>
            </a:r>
            <a:endParaRPr sz="2800">
              <a:solidFill>
                <a:schemeClr val="dk1"/>
              </a:solidFill>
              <a:latin typeface="Calibri"/>
              <a:ea typeface="Calibri"/>
              <a:cs typeface="Calibri"/>
              <a:sym typeface="Calibri"/>
            </a:endParaRPr>
          </a:p>
          <a:p>
            <a:pPr indent="-165100" lvl="0" marL="342900" marR="0" rtl="0" algn="l">
              <a:spcBef>
                <a:spcPts val="560"/>
              </a:spcBef>
              <a:spcAft>
                <a:spcPts val="0"/>
              </a:spcAft>
              <a:buClr>
                <a:schemeClr val="dk1"/>
              </a:buClr>
              <a:buSzPts val="2800"/>
              <a:buFont typeface="Calibri"/>
              <a:buNone/>
            </a:pPr>
            <a:r>
              <a:t/>
            </a:r>
            <a:endParaRPr sz="2800">
              <a:solidFill>
                <a:schemeClr val="dk1"/>
              </a:solidFill>
              <a:latin typeface="Calibri"/>
              <a:ea typeface="Calibri"/>
              <a:cs typeface="Calibri"/>
              <a:sym typeface="Calibri"/>
            </a:endParaRPr>
          </a:p>
          <a:p>
            <a:pPr indent="-165100" lvl="0" marL="342900" marR="0" rtl="0" algn="l">
              <a:spcBef>
                <a:spcPts val="560"/>
              </a:spcBef>
              <a:spcAft>
                <a:spcPts val="0"/>
              </a:spcAft>
              <a:buClr>
                <a:schemeClr val="dk1"/>
              </a:buClr>
              <a:buSzPts val="2800"/>
              <a:buFont typeface="Calibri"/>
              <a:buNone/>
            </a:pPr>
            <a:r>
              <a:t/>
            </a:r>
            <a:endParaRPr sz="2800">
              <a:solidFill>
                <a:schemeClr val="dk1"/>
              </a:solidFill>
              <a:latin typeface="Calibri"/>
              <a:ea typeface="Calibri"/>
              <a:cs typeface="Calibri"/>
              <a:sym typeface="Calibri"/>
            </a:endParaRPr>
          </a:p>
        </p:txBody>
      </p:sp>
      <p:sp>
        <p:nvSpPr>
          <p:cNvPr id="1464" name="Google Shape;1464;p72"/>
          <p:cNvSpPr txBox="1"/>
          <p:nvPr/>
        </p:nvSpPr>
        <p:spPr>
          <a:xfrm>
            <a:off x="188780" y="-22510"/>
            <a:ext cx="95019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Summary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8" name="Shape 1468"/>
        <p:cNvGrpSpPr/>
        <p:nvPr/>
      </p:nvGrpSpPr>
      <p:grpSpPr>
        <a:xfrm>
          <a:off x="0" y="0"/>
          <a:ext cx="0" cy="0"/>
          <a:chOff x="0" y="0"/>
          <a:chExt cx="0" cy="0"/>
        </a:xfrm>
      </p:grpSpPr>
      <p:sp>
        <p:nvSpPr>
          <p:cNvPr id="1469" name="Google Shape;1469;p7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From E/R Diagrams to Relational Schema</a:t>
            </a:r>
            <a:endParaRPr/>
          </a:p>
        </p:txBody>
      </p:sp>
      <p:sp>
        <p:nvSpPr>
          <p:cNvPr id="1470" name="Google Shape;1470;p7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600"/>
              <a:buChar char="•"/>
            </a:pPr>
            <a:r>
              <a:rPr lang="en-US" sz="3600"/>
              <a:t>Key concept:</a:t>
            </a:r>
            <a:endParaRPr/>
          </a:p>
          <a:p>
            <a:pPr indent="0" lvl="1" marL="457200" rtl="0" algn="l">
              <a:lnSpc>
                <a:spcPct val="90000"/>
              </a:lnSpc>
              <a:spcBef>
                <a:spcPts val="500"/>
              </a:spcBef>
              <a:spcAft>
                <a:spcPts val="0"/>
              </a:spcAft>
              <a:buClr>
                <a:schemeClr val="dk1"/>
              </a:buClr>
              <a:buSzPts val="3600"/>
              <a:buNone/>
            </a:pPr>
            <a:r>
              <a:t/>
            </a:r>
            <a:endParaRPr sz="3600"/>
          </a:p>
          <a:p>
            <a:pPr indent="0" lvl="1" marL="457200" rtl="0" algn="l">
              <a:lnSpc>
                <a:spcPct val="90000"/>
              </a:lnSpc>
              <a:spcBef>
                <a:spcPts val="500"/>
              </a:spcBef>
              <a:spcAft>
                <a:spcPts val="0"/>
              </a:spcAft>
              <a:buClr>
                <a:schemeClr val="dk1"/>
              </a:buClr>
              <a:buSzPts val="3600"/>
              <a:buNone/>
            </a:pPr>
            <a:r>
              <a:rPr lang="en-US" sz="3600"/>
              <a:t>Both </a:t>
            </a:r>
            <a:r>
              <a:rPr b="1" i="1" lang="en-US" sz="3600"/>
              <a:t>Entity sets </a:t>
            </a:r>
            <a:r>
              <a:rPr lang="en-US" sz="3600"/>
              <a:t>and </a:t>
            </a:r>
            <a:r>
              <a:rPr b="1" i="1" lang="en-US" sz="3600"/>
              <a:t>Relationships</a:t>
            </a:r>
            <a:r>
              <a:rPr lang="en-US" sz="3600"/>
              <a:t> become relations (tables in RDBMS)</a:t>
            </a:r>
            <a:endParaRPr/>
          </a:p>
        </p:txBody>
      </p:sp>
      <p:sp>
        <p:nvSpPr>
          <p:cNvPr id="1471" name="Google Shape;1471;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0">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p7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From E/R Diagrams to Relational Schema</a:t>
            </a:r>
            <a:endParaRPr/>
          </a:p>
        </p:txBody>
      </p:sp>
      <p:graphicFrame>
        <p:nvGraphicFramePr>
          <p:cNvPr id="1477" name="Google Shape;1477;p74"/>
          <p:cNvGraphicFramePr/>
          <p:nvPr/>
        </p:nvGraphicFramePr>
        <p:xfrm>
          <a:off x="7790604" y="4723722"/>
          <a:ext cx="3000000" cy="3000000"/>
        </p:xfrm>
        <a:graphic>
          <a:graphicData uri="http://schemas.openxmlformats.org/drawingml/2006/table">
            <a:tbl>
              <a:tblPr bandRow="1" firstRow="1">
                <a:noFill/>
                <a:tableStyleId>{CB8B14D9-80D3-47F0-B131-A9B4214C1CD3}</a:tableStyleId>
              </a:tblPr>
              <a:tblGrid>
                <a:gridCol w="1130525"/>
                <a:gridCol w="1130525"/>
                <a:gridCol w="1130525"/>
              </a:tblGrid>
              <a:tr h="389775">
                <a:tc>
                  <a:txBody>
                    <a:bodyPr/>
                    <a:lstStyle/>
                    <a:p>
                      <a:pPr indent="0" lvl="0" marL="0" marR="0" rtl="0" algn="l">
                        <a:spcBef>
                          <a:spcPts val="0"/>
                        </a:spcBef>
                        <a:spcAft>
                          <a:spcPts val="0"/>
                        </a:spcAft>
                        <a:buNone/>
                      </a:pPr>
                      <a:r>
                        <a:rPr lang="en-US" sz="1800" u="sng"/>
                        <a:t>name</a:t>
                      </a:r>
                      <a:endParaRPr/>
                    </a:p>
                  </a:txBody>
                  <a:tcPr marT="45725" marB="45725" marR="91450" marL="91450"/>
                </a:tc>
                <a:tc>
                  <a:txBody>
                    <a:bodyPr/>
                    <a:lstStyle/>
                    <a:p>
                      <a:pPr indent="0" lvl="0" marL="0" marR="0" rtl="0" algn="l">
                        <a:spcBef>
                          <a:spcPts val="0"/>
                        </a:spcBef>
                        <a:spcAft>
                          <a:spcPts val="0"/>
                        </a:spcAft>
                        <a:buNone/>
                      </a:pPr>
                      <a:r>
                        <a:rPr lang="en-US" sz="1800" u="none"/>
                        <a:t>price</a:t>
                      </a:r>
                      <a:endParaRPr/>
                    </a:p>
                  </a:txBody>
                  <a:tcPr marT="45725" marB="45725" marR="91450" marL="91450"/>
                </a:tc>
                <a:tc>
                  <a:txBody>
                    <a:bodyPr/>
                    <a:lstStyle/>
                    <a:p>
                      <a:pPr indent="0" lvl="0" marL="0" marR="0" rtl="0" algn="l">
                        <a:spcBef>
                          <a:spcPts val="0"/>
                        </a:spcBef>
                        <a:spcAft>
                          <a:spcPts val="0"/>
                        </a:spcAft>
                        <a:buNone/>
                      </a:pPr>
                      <a:r>
                        <a:rPr lang="en-US" sz="1800"/>
                        <a:t>category</a:t>
                      </a:r>
                      <a:endParaRPr/>
                    </a:p>
                  </a:txBody>
                  <a:tcPr marT="45725" marB="45725" marR="91450" marL="91450"/>
                </a:tc>
              </a:tr>
              <a:tr h="389775">
                <a:tc>
                  <a:txBody>
                    <a:bodyPr/>
                    <a:lstStyle/>
                    <a:p>
                      <a:pPr indent="0" lvl="0" marL="0" marR="0" rtl="0" algn="l">
                        <a:spcBef>
                          <a:spcPts val="0"/>
                        </a:spcBef>
                        <a:spcAft>
                          <a:spcPts val="0"/>
                        </a:spcAft>
                        <a:buNone/>
                      </a:pPr>
                      <a:r>
                        <a:rPr lang="en-US" sz="1800"/>
                        <a:t>Gizmo1</a:t>
                      </a:r>
                      <a:endParaRPr/>
                    </a:p>
                  </a:txBody>
                  <a:tcPr marT="45725" marB="45725" marR="91450" marL="91450"/>
                </a:tc>
                <a:tc>
                  <a:txBody>
                    <a:bodyPr/>
                    <a:lstStyle/>
                    <a:p>
                      <a:pPr indent="0" lvl="0" marL="0" marR="0" rtl="0" algn="l">
                        <a:spcBef>
                          <a:spcPts val="0"/>
                        </a:spcBef>
                        <a:spcAft>
                          <a:spcPts val="0"/>
                        </a:spcAft>
                        <a:buNone/>
                      </a:pPr>
                      <a:r>
                        <a:rPr lang="en-US" sz="1800"/>
                        <a:t>99.99</a:t>
                      </a:r>
                      <a:endParaRPr/>
                    </a:p>
                  </a:txBody>
                  <a:tcPr marT="45725" marB="45725" marR="91450" marL="91450"/>
                </a:tc>
                <a:tc>
                  <a:txBody>
                    <a:bodyPr/>
                    <a:lstStyle/>
                    <a:p>
                      <a:pPr indent="0" lvl="0" marL="0" marR="0" rtl="0" algn="l">
                        <a:spcBef>
                          <a:spcPts val="0"/>
                        </a:spcBef>
                        <a:spcAft>
                          <a:spcPts val="0"/>
                        </a:spcAft>
                        <a:buNone/>
                      </a:pPr>
                      <a:r>
                        <a:rPr lang="en-US" sz="1800"/>
                        <a:t>Camera</a:t>
                      </a:r>
                      <a:endParaRPr/>
                    </a:p>
                  </a:txBody>
                  <a:tcPr marT="45725" marB="45725" marR="91450" marL="91450"/>
                </a:tc>
              </a:tr>
              <a:tr h="389775">
                <a:tc>
                  <a:txBody>
                    <a:bodyPr/>
                    <a:lstStyle/>
                    <a:p>
                      <a:pPr indent="0" lvl="0" marL="0" marR="0" rtl="0" algn="l">
                        <a:spcBef>
                          <a:spcPts val="0"/>
                        </a:spcBef>
                        <a:spcAft>
                          <a:spcPts val="0"/>
                        </a:spcAft>
                        <a:buNone/>
                      </a:pPr>
                      <a:r>
                        <a:rPr lang="en-US" sz="1800"/>
                        <a:t>Gizmo2</a:t>
                      </a:r>
                      <a:endParaRPr/>
                    </a:p>
                  </a:txBody>
                  <a:tcPr marT="45725" marB="45725" marR="91450" marL="91450"/>
                </a:tc>
                <a:tc>
                  <a:txBody>
                    <a:bodyPr/>
                    <a:lstStyle/>
                    <a:p>
                      <a:pPr indent="0" lvl="0" marL="0" marR="0" rtl="0" algn="l">
                        <a:spcBef>
                          <a:spcPts val="0"/>
                        </a:spcBef>
                        <a:spcAft>
                          <a:spcPts val="0"/>
                        </a:spcAft>
                        <a:buNone/>
                      </a:pPr>
                      <a:r>
                        <a:rPr lang="en-US" sz="1800"/>
                        <a:t>19.99</a:t>
                      </a:r>
                      <a:endParaRPr/>
                    </a:p>
                  </a:txBody>
                  <a:tcPr marT="45725" marB="45725" marR="91450" marL="91450"/>
                </a:tc>
                <a:tc>
                  <a:txBody>
                    <a:bodyPr/>
                    <a:lstStyle/>
                    <a:p>
                      <a:pPr indent="0" lvl="0" marL="0" marR="0" rtl="0" algn="l">
                        <a:spcBef>
                          <a:spcPts val="0"/>
                        </a:spcBef>
                        <a:spcAft>
                          <a:spcPts val="0"/>
                        </a:spcAft>
                        <a:buNone/>
                      </a:pPr>
                      <a:r>
                        <a:rPr lang="en-US" sz="1800"/>
                        <a:t>Edible</a:t>
                      </a:r>
                      <a:endParaRPr/>
                    </a:p>
                  </a:txBody>
                  <a:tcPr marT="45725" marB="45725" marR="91450" marL="91450"/>
                </a:tc>
              </a:tr>
            </a:tbl>
          </a:graphicData>
        </a:graphic>
      </p:graphicFrame>
      <p:sp>
        <p:nvSpPr>
          <p:cNvPr id="1478" name="Google Shape;1478;p7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grpSp>
        <p:nvGrpSpPr>
          <p:cNvPr id="1479" name="Google Shape;1479;p74"/>
          <p:cNvGrpSpPr/>
          <p:nvPr/>
        </p:nvGrpSpPr>
        <p:grpSpPr>
          <a:xfrm>
            <a:off x="7874790" y="1690596"/>
            <a:ext cx="2835208" cy="1126368"/>
            <a:chOff x="7874790" y="1690596"/>
            <a:chExt cx="2835208" cy="1126368"/>
          </a:xfrm>
        </p:grpSpPr>
        <p:sp>
          <p:nvSpPr>
            <p:cNvPr id="1480" name="Google Shape;1480;p74"/>
            <p:cNvSpPr/>
            <p:nvPr/>
          </p:nvSpPr>
          <p:spPr>
            <a:xfrm>
              <a:off x="9397402" y="2458574"/>
              <a:ext cx="840062" cy="35839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Product</a:t>
              </a:r>
              <a:endParaRPr/>
            </a:p>
          </p:txBody>
        </p:sp>
        <p:sp>
          <p:nvSpPr>
            <p:cNvPr id="1481" name="Google Shape;1481;p74"/>
            <p:cNvSpPr/>
            <p:nvPr/>
          </p:nvSpPr>
          <p:spPr>
            <a:xfrm>
              <a:off x="8609844" y="1690596"/>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price</a:t>
              </a:r>
              <a:endParaRPr/>
            </a:p>
          </p:txBody>
        </p:sp>
        <p:sp>
          <p:nvSpPr>
            <p:cNvPr id="1482" name="Google Shape;1482;p74"/>
            <p:cNvSpPr/>
            <p:nvPr/>
          </p:nvSpPr>
          <p:spPr>
            <a:xfrm>
              <a:off x="9712425" y="1741795"/>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category</a:t>
              </a:r>
              <a:endParaRPr/>
            </a:p>
          </p:txBody>
        </p:sp>
        <p:sp>
          <p:nvSpPr>
            <p:cNvPr id="1483" name="Google Shape;1483;p74"/>
            <p:cNvSpPr/>
            <p:nvPr/>
          </p:nvSpPr>
          <p:spPr>
            <a:xfrm>
              <a:off x="7874790" y="2100184"/>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name</a:t>
              </a:r>
              <a:endParaRPr/>
            </a:p>
          </p:txBody>
        </p:sp>
        <p:cxnSp>
          <p:nvCxnSpPr>
            <p:cNvPr id="1484" name="Google Shape;1484;p74"/>
            <p:cNvCxnSpPr/>
            <p:nvPr/>
          </p:nvCxnSpPr>
          <p:spPr>
            <a:xfrm flipH="1" rot="-5400000">
              <a:off x="8989699" y="2230065"/>
              <a:ext cx="144278" cy="67113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485" name="Google Shape;1485;p74"/>
            <p:cNvCxnSpPr/>
            <p:nvPr/>
          </p:nvCxnSpPr>
          <p:spPr>
            <a:xfrm flipH="1" rot="-5400000">
              <a:off x="9452044" y="2093184"/>
              <a:ext cx="374672" cy="356107"/>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486" name="Google Shape;1486;p74"/>
            <p:cNvCxnSpPr/>
            <p:nvPr/>
          </p:nvCxnSpPr>
          <p:spPr>
            <a:xfrm rot="5400000">
              <a:off x="9886326" y="2133688"/>
              <a:ext cx="255993" cy="393779"/>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1487" name="Google Shape;1487;p74"/>
          <p:cNvSpPr/>
          <p:nvPr/>
        </p:nvSpPr>
        <p:spPr>
          <a:xfrm>
            <a:off x="9260378" y="3150524"/>
            <a:ext cx="452047" cy="947651"/>
          </a:xfrm>
          <a:prstGeom prst="downArrow">
            <a:avLst>
              <a:gd fmla="val 50000" name="adj1"/>
              <a:gd fmla="val 50000" name="adj2"/>
            </a:avLst>
          </a:prstGeom>
          <a:solidFill>
            <a:srgbClr val="C0C0C0">
              <a:alpha val="49803"/>
            </a:srgb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488" name="Google Shape;1488;p74"/>
          <p:cNvSpPr txBox="1"/>
          <p:nvPr/>
        </p:nvSpPr>
        <p:spPr>
          <a:xfrm>
            <a:off x="9034994" y="4354390"/>
            <a:ext cx="9028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Product</a:t>
            </a:r>
            <a:endParaRPr/>
          </a:p>
        </p:txBody>
      </p:sp>
      <p:sp>
        <p:nvSpPr>
          <p:cNvPr id="1489" name="Google Shape;1489;p74"/>
          <p:cNvSpPr txBox="1"/>
          <p:nvPr/>
        </p:nvSpPr>
        <p:spPr>
          <a:xfrm>
            <a:off x="914400" y="1981200"/>
            <a:ext cx="6566612" cy="4114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An entity set becomes table</a:t>
            </a:r>
            <a:endParaRPr/>
          </a:p>
          <a:p>
            <a:pPr indent="-107950" lvl="1" marL="742950" marR="0" rtl="0" algn="l">
              <a:spcBef>
                <a:spcPts val="56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285750" lvl="1" marL="742950" marR="0" rtl="0" algn="l">
              <a:spcBef>
                <a:spcPts val="56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Each tuple is one entity</a:t>
            </a:r>
            <a:endParaRPr/>
          </a:p>
          <a:p>
            <a:pPr indent="-107950" lvl="1" marL="742950" marR="0" rtl="0" algn="l">
              <a:spcBef>
                <a:spcPts val="56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285750" lvl="1" marL="742950" marR="0" rtl="0" algn="l">
              <a:spcBef>
                <a:spcPts val="56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Each tuple is composed of the entity’s attributes, and has the same primary key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sp>
        <p:nvSpPr>
          <p:cNvPr id="1494" name="Google Shape;1494;p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From E/R Diagrams to Relational Schema</a:t>
            </a:r>
            <a:endParaRPr/>
          </a:p>
        </p:txBody>
      </p:sp>
      <p:graphicFrame>
        <p:nvGraphicFramePr>
          <p:cNvPr id="1495" name="Google Shape;1495;p75"/>
          <p:cNvGraphicFramePr/>
          <p:nvPr/>
        </p:nvGraphicFramePr>
        <p:xfrm>
          <a:off x="7790604" y="4723722"/>
          <a:ext cx="3000000" cy="3000000"/>
        </p:xfrm>
        <a:graphic>
          <a:graphicData uri="http://schemas.openxmlformats.org/drawingml/2006/table">
            <a:tbl>
              <a:tblPr bandRow="1" firstRow="1">
                <a:noFill/>
                <a:tableStyleId>{CB8B14D9-80D3-47F0-B131-A9B4214C1CD3}</a:tableStyleId>
              </a:tblPr>
              <a:tblGrid>
                <a:gridCol w="1130525"/>
                <a:gridCol w="1130525"/>
                <a:gridCol w="1130525"/>
              </a:tblGrid>
              <a:tr h="389775">
                <a:tc>
                  <a:txBody>
                    <a:bodyPr/>
                    <a:lstStyle/>
                    <a:p>
                      <a:pPr indent="0" lvl="0" marL="0" marR="0" rtl="0" algn="l">
                        <a:spcBef>
                          <a:spcPts val="0"/>
                        </a:spcBef>
                        <a:spcAft>
                          <a:spcPts val="0"/>
                        </a:spcAft>
                        <a:buNone/>
                      </a:pPr>
                      <a:r>
                        <a:rPr lang="en-US" sz="1800" u="sng"/>
                        <a:t>name</a:t>
                      </a:r>
                      <a:endParaRPr/>
                    </a:p>
                  </a:txBody>
                  <a:tcPr marT="45725" marB="45725" marR="91450" marL="91450"/>
                </a:tc>
                <a:tc>
                  <a:txBody>
                    <a:bodyPr/>
                    <a:lstStyle/>
                    <a:p>
                      <a:pPr indent="0" lvl="0" marL="0" marR="0" rtl="0" algn="l">
                        <a:spcBef>
                          <a:spcPts val="0"/>
                        </a:spcBef>
                        <a:spcAft>
                          <a:spcPts val="0"/>
                        </a:spcAft>
                        <a:buNone/>
                      </a:pPr>
                      <a:r>
                        <a:rPr lang="en-US" sz="1800" u="none"/>
                        <a:t>price</a:t>
                      </a:r>
                      <a:endParaRPr/>
                    </a:p>
                  </a:txBody>
                  <a:tcPr marT="45725" marB="45725" marR="91450" marL="91450"/>
                </a:tc>
                <a:tc>
                  <a:txBody>
                    <a:bodyPr/>
                    <a:lstStyle/>
                    <a:p>
                      <a:pPr indent="0" lvl="0" marL="0" marR="0" rtl="0" algn="l">
                        <a:spcBef>
                          <a:spcPts val="0"/>
                        </a:spcBef>
                        <a:spcAft>
                          <a:spcPts val="0"/>
                        </a:spcAft>
                        <a:buNone/>
                      </a:pPr>
                      <a:r>
                        <a:rPr lang="en-US" sz="1800"/>
                        <a:t>category</a:t>
                      </a:r>
                      <a:endParaRPr/>
                    </a:p>
                  </a:txBody>
                  <a:tcPr marT="45725" marB="45725" marR="91450" marL="91450"/>
                </a:tc>
              </a:tr>
              <a:tr h="389775">
                <a:tc>
                  <a:txBody>
                    <a:bodyPr/>
                    <a:lstStyle/>
                    <a:p>
                      <a:pPr indent="0" lvl="0" marL="0" marR="0" rtl="0" algn="l">
                        <a:spcBef>
                          <a:spcPts val="0"/>
                        </a:spcBef>
                        <a:spcAft>
                          <a:spcPts val="0"/>
                        </a:spcAft>
                        <a:buNone/>
                      </a:pPr>
                      <a:r>
                        <a:rPr lang="en-US" sz="1800"/>
                        <a:t>Gizmo1</a:t>
                      </a:r>
                      <a:endParaRPr/>
                    </a:p>
                  </a:txBody>
                  <a:tcPr marT="45725" marB="45725" marR="91450" marL="91450"/>
                </a:tc>
                <a:tc>
                  <a:txBody>
                    <a:bodyPr/>
                    <a:lstStyle/>
                    <a:p>
                      <a:pPr indent="0" lvl="0" marL="0" marR="0" rtl="0" algn="l">
                        <a:spcBef>
                          <a:spcPts val="0"/>
                        </a:spcBef>
                        <a:spcAft>
                          <a:spcPts val="0"/>
                        </a:spcAft>
                        <a:buNone/>
                      </a:pPr>
                      <a:r>
                        <a:rPr lang="en-US" sz="1800"/>
                        <a:t>99.99</a:t>
                      </a:r>
                      <a:endParaRPr/>
                    </a:p>
                  </a:txBody>
                  <a:tcPr marT="45725" marB="45725" marR="91450" marL="91450"/>
                </a:tc>
                <a:tc>
                  <a:txBody>
                    <a:bodyPr/>
                    <a:lstStyle/>
                    <a:p>
                      <a:pPr indent="0" lvl="0" marL="0" marR="0" rtl="0" algn="l">
                        <a:spcBef>
                          <a:spcPts val="0"/>
                        </a:spcBef>
                        <a:spcAft>
                          <a:spcPts val="0"/>
                        </a:spcAft>
                        <a:buNone/>
                      </a:pPr>
                      <a:r>
                        <a:rPr lang="en-US" sz="1800"/>
                        <a:t>Camera</a:t>
                      </a:r>
                      <a:endParaRPr/>
                    </a:p>
                  </a:txBody>
                  <a:tcPr marT="45725" marB="45725" marR="91450" marL="91450"/>
                </a:tc>
              </a:tr>
              <a:tr h="389775">
                <a:tc>
                  <a:txBody>
                    <a:bodyPr/>
                    <a:lstStyle/>
                    <a:p>
                      <a:pPr indent="0" lvl="0" marL="0" marR="0" rtl="0" algn="l">
                        <a:spcBef>
                          <a:spcPts val="0"/>
                        </a:spcBef>
                        <a:spcAft>
                          <a:spcPts val="0"/>
                        </a:spcAft>
                        <a:buNone/>
                      </a:pPr>
                      <a:r>
                        <a:rPr lang="en-US" sz="1800"/>
                        <a:t>Gizmo2</a:t>
                      </a:r>
                      <a:endParaRPr/>
                    </a:p>
                  </a:txBody>
                  <a:tcPr marT="45725" marB="45725" marR="91450" marL="91450"/>
                </a:tc>
                <a:tc>
                  <a:txBody>
                    <a:bodyPr/>
                    <a:lstStyle/>
                    <a:p>
                      <a:pPr indent="0" lvl="0" marL="0" marR="0" rtl="0" algn="l">
                        <a:spcBef>
                          <a:spcPts val="0"/>
                        </a:spcBef>
                        <a:spcAft>
                          <a:spcPts val="0"/>
                        </a:spcAft>
                        <a:buNone/>
                      </a:pPr>
                      <a:r>
                        <a:rPr lang="en-US" sz="1800"/>
                        <a:t>19.99</a:t>
                      </a:r>
                      <a:endParaRPr/>
                    </a:p>
                  </a:txBody>
                  <a:tcPr marT="45725" marB="45725" marR="91450" marL="91450"/>
                </a:tc>
                <a:tc>
                  <a:txBody>
                    <a:bodyPr/>
                    <a:lstStyle/>
                    <a:p>
                      <a:pPr indent="0" lvl="0" marL="0" marR="0" rtl="0" algn="l">
                        <a:spcBef>
                          <a:spcPts val="0"/>
                        </a:spcBef>
                        <a:spcAft>
                          <a:spcPts val="0"/>
                        </a:spcAft>
                        <a:buNone/>
                      </a:pPr>
                      <a:r>
                        <a:rPr lang="en-US" sz="1800"/>
                        <a:t>Edible</a:t>
                      </a:r>
                      <a:endParaRPr/>
                    </a:p>
                  </a:txBody>
                  <a:tcPr marT="45725" marB="45725" marR="91450" marL="91450"/>
                </a:tc>
              </a:tr>
            </a:tbl>
          </a:graphicData>
        </a:graphic>
      </p:graphicFrame>
      <p:sp>
        <p:nvSpPr>
          <p:cNvPr id="1496" name="Google Shape;1496;p7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1497" name="Google Shape;1497;p75"/>
          <p:cNvSpPr/>
          <p:nvPr/>
        </p:nvSpPr>
        <p:spPr>
          <a:xfrm>
            <a:off x="9397402" y="2458574"/>
            <a:ext cx="840062" cy="35839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Product</a:t>
            </a:r>
            <a:endParaRPr/>
          </a:p>
        </p:txBody>
      </p:sp>
      <p:sp>
        <p:nvSpPr>
          <p:cNvPr id="1498" name="Google Shape;1498;p75"/>
          <p:cNvSpPr/>
          <p:nvPr/>
        </p:nvSpPr>
        <p:spPr>
          <a:xfrm>
            <a:off x="8609844" y="1690596"/>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price</a:t>
            </a:r>
            <a:endParaRPr/>
          </a:p>
        </p:txBody>
      </p:sp>
      <p:sp>
        <p:nvSpPr>
          <p:cNvPr id="1499" name="Google Shape;1499;p75"/>
          <p:cNvSpPr/>
          <p:nvPr/>
        </p:nvSpPr>
        <p:spPr>
          <a:xfrm>
            <a:off x="9712425" y="1741795"/>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category</a:t>
            </a:r>
            <a:endParaRPr/>
          </a:p>
        </p:txBody>
      </p:sp>
      <p:sp>
        <p:nvSpPr>
          <p:cNvPr id="1500" name="Google Shape;1500;p75"/>
          <p:cNvSpPr/>
          <p:nvPr/>
        </p:nvSpPr>
        <p:spPr>
          <a:xfrm>
            <a:off x="7874790" y="2100184"/>
            <a:ext cx="997573" cy="460787"/>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name</a:t>
            </a:r>
            <a:endParaRPr/>
          </a:p>
        </p:txBody>
      </p:sp>
      <p:cxnSp>
        <p:nvCxnSpPr>
          <p:cNvPr id="1501" name="Google Shape;1501;p75"/>
          <p:cNvCxnSpPr/>
          <p:nvPr/>
        </p:nvCxnSpPr>
        <p:spPr>
          <a:xfrm flipH="1" rot="-5400000">
            <a:off x="8989699" y="2230065"/>
            <a:ext cx="144278" cy="67113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502" name="Google Shape;1502;p75"/>
          <p:cNvCxnSpPr/>
          <p:nvPr/>
        </p:nvCxnSpPr>
        <p:spPr>
          <a:xfrm flipH="1" rot="-5400000">
            <a:off x="9452044" y="2093184"/>
            <a:ext cx="374672" cy="356107"/>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503" name="Google Shape;1503;p75"/>
          <p:cNvCxnSpPr/>
          <p:nvPr/>
        </p:nvCxnSpPr>
        <p:spPr>
          <a:xfrm rot="5400000">
            <a:off x="9886326" y="2133688"/>
            <a:ext cx="255993" cy="393779"/>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1504" name="Google Shape;1504;p75"/>
          <p:cNvSpPr/>
          <p:nvPr/>
        </p:nvSpPr>
        <p:spPr>
          <a:xfrm>
            <a:off x="9260378" y="3150524"/>
            <a:ext cx="452047" cy="947651"/>
          </a:xfrm>
          <a:prstGeom prst="downArrow">
            <a:avLst>
              <a:gd fmla="val 50000" name="adj1"/>
              <a:gd fmla="val 50000" name="adj2"/>
            </a:avLst>
          </a:prstGeom>
          <a:solidFill>
            <a:srgbClr val="C0C0C0">
              <a:alpha val="49803"/>
            </a:srgb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505" name="Google Shape;1505;p75"/>
          <p:cNvSpPr txBox="1"/>
          <p:nvPr/>
        </p:nvSpPr>
        <p:spPr>
          <a:xfrm>
            <a:off x="9034994" y="4354390"/>
            <a:ext cx="9028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Product</a:t>
            </a:r>
            <a:endParaRPr/>
          </a:p>
        </p:txBody>
      </p:sp>
      <p:sp>
        <p:nvSpPr>
          <p:cNvPr id="1506" name="Google Shape;1506;p75"/>
          <p:cNvSpPr/>
          <p:nvPr/>
        </p:nvSpPr>
        <p:spPr>
          <a:xfrm>
            <a:off x="756023" y="2654853"/>
            <a:ext cx="6320961" cy="1938992"/>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CREATE TABLE</a:t>
            </a:r>
            <a:r>
              <a:rPr lang="en-US" sz="2400">
                <a:solidFill>
                  <a:schemeClr val="dk1"/>
                </a:solidFill>
                <a:latin typeface="Arial"/>
                <a:ea typeface="Arial"/>
                <a:cs typeface="Arial"/>
                <a:sym typeface="Arial"/>
              </a:rPr>
              <a:t> Product(</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  name     CHAR(50) PRIMARY KEY,</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  price    DOUBLE,</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  category VARCHAR(30)</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7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From E/R Diagrams to Relational Schema</a:t>
            </a:r>
            <a:endParaRPr/>
          </a:p>
        </p:txBody>
      </p:sp>
      <p:graphicFrame>
        <p:nvGraphicFramePr>
          <p:cNvPr id="1512" name="Google Shape;1512;p76"/>
          <p:cNvGraphicFramePr/>
          <p:nvPr/>
        </p:nvGraphicFramePr>
        <p:xfrm>
          <a:off x="7790604" y="4723722"/>
          <a:ext cx="3000000" cy="3000000"/>
        </p:xfrm>
        <a:graphic>
          <a:graphicData uri="http://schemas.openxmlformats.org/drawingml/2006/table">
            <a:tbl>
              <a:tblPr bandRow="1" firstRow="1">
                <a:noFill/>
                <a:tableStyleId>{CB8B14D9-80D3-47F0-B131-A9B4214C1CD3}</a:tableStyleId>
              </a:tblPr>
              <a:tblGrid>
                <a:gridCol w="954375"/>
                <a:gridCol w="1155475"/>
                <a:gridCol w="1155475"/>
                <a:gridCol w="922725"/>
              </a:tblGrid>
              <a:tr h="389775">
                <a:tc>
                  <a:txBody>
                    <a:bodyPr/>
                    <a:lstStyle/>
                    <a:p>
                      <a:pPr indent="0" lvl="0" marL="0" marR="0" rtl="0" algn="l">
                        <a:spcBef>
                          <a:spcPts val="0"/>
                        </a:spcBef>
                        <a:spcAft>
                          <a:spcPts val="0"/>
                        </a:spcAft>
                        <a:buNone/>
                      </a:pPr>
                      <a:r>
                        <a:rPr lang="en-US" sz="1400" u="sng"/>
                        <a:t>name</a:t>
                      </a:r>
                      <a:endParaRPr/>
                    </a:p>
                  </a:txBody>
                  <a:tcPr marT="45725" marB="45725" marR="91450" marL="91450"/>
                </a:tc>
                <a:tc>
                  <a:txBody>
                    <a:bodyPr/>
                    <a:lstStyle/>
                    <a:p>
                      <a:pPr indent="0" lvl="0" marL="0" marR="0" rtl="0" algn="l">
                        <a:spcBef>
                          <a:spcPts val="0"/>
                        </a:spcBef>
                        <a:spcAft>
                          <a:spcPts val="0"/>
                        </a:spcAft>
                        <a:buNone/>
                      </a:pPr>
                      <a:r>
                        <a:rPr lang="en-US" sz="1400" u="sng"/>
                        <a:t>firstname</a:t>
                      </a:r>
                      <a:endParaRPr sz="1400" u="sng"/>
                    </a:p>
                  </a:txBody>
                  <a:tcPr marT="45725" marB="45725" marR="91450" marL="91450"/>
                </a:tc>
                <a:tc>
                  <a:txBody>
                    <a:bodyPr/>
                    <a:lstStyle/>
                    <a:p>
                      <a:pPr indent="0" lvl="0" marL="0" marR="0" rtl="0" algn="l">
                        <a:spcBef>
                          <a:spcPts val="0"/>
                        </a:spcBef>
                        <a:spcAft>
                          <a:spcPts val="0"/>
                        </a:spcAft>
                        <a:buNone/>
                      </a:pPr>
                      <a:r>
                        <a:rPr lang="en-US" sz="1400" u="sng"/>
                        <a:t>lastname</a:t>
                      </a:r>
                      <a:endParaRPr sz="1400" u="sng"/>
                    </a:p>
                  </a:txBody>
                  <a:tcPr marT="45725" marB="45725" marR="91450" marL="91450"/>
                </a:tc>
                <a:tc>
                  <a:txBody>
                    <a:bodyPr/>
                    <a:lstStyle/>
                    <a:p>
                      <a:pPr indent="0" lvl="0" marL="0" marR="0" rtl="0" algn="l">
                        <a:spcBef>
                          <a:spcPts val="0"/>
                        </a:spcBef>
                        <a:spcAft>
                          <a:spcPts val="0"/>
                        </a:spcAft>
                        <a:buNone/>
                      </a:pPr>
                      <a:r>
                        <a:rPr lang="en-US" sz="1400"/>
                        <a:t>date</a:t>
                      </a:r>
                      <a:endParaRPr/>
                    </a:p>
                  </a:txBody>
                  <a:tcPr marT="45725" marB="45725" marR="91450" marL="91450"/>
                </a:tc>
              </a:tr>
              <a:tr h="389775">
                <a:tc>
                  <a:txBody>
                    <a:bodyPr/>
                    <a:lstStyle/>
                    <a:p>
                      <a:pPr indent="0" lvl="0" marL="0" marR="0" rtl="0" algn="l">
                        <a:spcBef>
                          <a:spcPts val="0"/>
                        </a:spcBef>
                        <a:spcAft>
                          <a:spcPts val="0"/>
                        </a:spcAft>
                        <a:buNone/>
                      </a:pPr>
                      <a:r>
                        <a:rPr lang="en-US" sz="1400"/>
                        <a:t>Gizmo1</a:t>
                      </a:r>
                      <a:endParaRPr/>
                    </a:p>
                  </a:txBody>
                  <a:tcPr marT="45725" marB="45725" marR="91450" marL="91450"/>
                </a:tc>
                <a:tc>
                  <a:txBody>
                    <a:bodyPr/>
                    <a:lstStyle/>
                    <a:p>
                      <a:pPr indent="0" lvl="0" marL="0" marR="0" rtl="0" algn="l">
                        <a:spcBef>
                          <a:spcPts val="0"/>
                        </a:spcBef>
                        <a:spcAft>
                          <a:spcPts val="0"/>
                        </a:spcAft>
                        <a:buNone/>
                      </a:pPr>
                      <a:r>
                        <a:rPr lang="en-US" sz="1400"/>
                        <a:t>Bob</a:t>
                      </a:r>
                      <a:endParaRPr/>
                    </a:p>
                  </a:txBody>
                  <a:tcPr marT="45725" marB="45725" marR="91450" marL="91450"/>
                </a:tc>
                <a:tc>
                  <a:txBody>
                    <a:bodyPr/>
                    <a:lstStyle/>
                    <a:p>
                      <a:pPr indent="0" lvl="0" marL="0" marR="0" rtl="0" algn="l">
                        <a:spcBef>
                          <a:spcPts val="0"/>
                        </a:spcBef>
                        <a:spcAft>
                          <a:spcPts val="0"/>
                        </a:spcAft>
                        <a:buNone/>
                      </a:pPr>
                      <a:r>
                        <a:rPr lang="en-US" sz="1400"/>
                        <a:t>Joe</a:t>
                      </a:r>
                      <a:endParaRPr/>
                    </a:p>
                  </a:txBody>
                  <a:tcPr marT="45725" marB="45725" marR="91450" marL="91450"/>
                </a:tc>
                <a:tc>
                  <a:txBody>
                    <a:bodyPr/>
                    <a:lstStyle/>
                    <a:p>
                      <a:pPr indent="0" lvl="0" marL="0" marR="0" rtl="0" algn="l">
                        <a:spcBef>
                          <a:spcPts val="0"/>
                        </a:spcBef>
                        <a:spcAft>
                          <a:spcPts val="0"/>
                        </a:spcAft>
                        <a:buNone/>
                      </a:pPr>
                      <a:r>
                        <a:rPr lang="en-US" sz="1400"/>
                        <a:t>01/01/15</a:t>
                      </a:r>
                      <a:endParaRPr/>
                    </a:p>
                  </a:txBody>
                  <a:tcPr marT="45725" marB="45725" marR="91450" marL="91450"/>
                </a:tc>
              </a:tr>
              <a:tr h="389775">
                <a:tc>
                  <a:txBody>
                    <a:bodyPr/>
                    <a:lstStyle/>
                    <a:p>
                      <a:pPr indent="0" lvl="0" marL="0" marR="0" rtl="0" algn="l">
                        <a:spcBef>
                          <a:spcPts val="0"/>
                        </a:spcBef>
                        <a:spcAft>
                          <a:spcPts val="0"/>
                        </a:spcAft>
                        <a:buNone/>
                      </a:pPr>
                      <a:r>
                        <a:rPr lang="en-US" sz="1400"/>
                        <a:t>Gizmo2</a:t>
                      </a:r>
                      <a:endParaRPr/>
                    </a:p>
                  </a:txBody>
                  <a:tcPr marT="45725" marB="45725" marR="91450" marL="91450"/>
                </a:tc>
                <a:tc>
                  <a:txBody>
                    <a:bodyPr/>
                    <a:lstStyle/>
                    <a:p>
                      <a:pPr indent="0" lvl="0" marL="0" marR="0" rtl="0" algn="l">
                        <a:spcBef>
                          <a:spcPts val="0"/>
                        </a:spcBef>
                        <a:spcAft>
                          <a:spcPts val="0"/>
                        </a:spcAft>
                        <a:buNone/>
                      </a:pPr>
                      <a:r>
                        <a:rPr lang="en-US" sz="1400"/>
                        <a:t>Joe</a:t>
                      </a:r>
                      <a:endParaRPr/>
                    </a:p>
                  </a:txBody>
                  <a:tcPr marT="45725" marB="45725" marR="91450" marL="91450"/>
                </a:tc>
                <a:tc>
                  <a:txBody>
                    <a:bodyPr/>
                    <a:lstStyle/>
                    <a:p>
                      <a:pPr indent="0" lvl="0" marL="0" marR="0" rtl="0" algn="l">
                        <a:spcBef>
                          <a:spcPts val="0"/>
                        </a:spcBef>
                        <a:spcAft>
                          <a:spcPts val="0"/>
                        </a:spcAft>
                        <a:buNone/>
                      </a:pPr>
                      <a:r>
                        <a:rPr lang="en-US" sz="1400"/>
                        <a:t>Bob</a:t>
                      </a:r>
                      <a:endParaRPr/>
                    </a:p>
                  </a:txBody>
                  <a:tcPr marT="45725" marB="45725" marR="91450" marL="91450"/>
                </a:tc>
                <a:tc>
                  <a:txBody>
                    <a:bodyPr/>
                    <a:lstStyle/>
                    <a:p>
                      <a:pPr indent="0" lvl="0" marL="0" marR="0" rtl="0" algn="l">
                        <a:spcBef>
                          <a:spcPts val="0"/>
                        </a:spcBef>
                        <a:spcAft>
                          <a:spcPts val="0"/>
                        </a:spcAft>
                        <a:buNone/>
                      </a:pPr>
                      <a:r>
                        <a:rPr lang="en-US" sz="1400"/>
                        <a:t>01/03/15</a:t>
                      </a:r>
                      <a:endParaRPr/>
                    </a:p>
                  </a:txBody>
                  <a:tcPr marT="45725" marB="45725" marR="91450" marL="91450"/>
                </a:tc>
              </a:tr>
              <a:tr h="389775">
                <a:tc>
                  <a:txBody>
                    <a:bodyPr/>
                    <a:lstStyle/>
                    <a:p>
                      <a:pPr indent="0" lvl="0" marL="0" marR="0" rtl="0" algn="l">
                        <a:spcBef>
                          <a:spcPts val="0"/>
                        </a:spcBef>
                        <a:spcAft>
                          <a:spcPts val="0"/>
                        </a:spcAft>
                        <a:buNone/>
                      </a:pPr>
                      <a:r>
                        <a:rPr lang="en-US" sz="1400"/>
                        <a:t>Gizmo1</a:t>
                      </a:r>
                      <a:endParaRPr/>
                    </a:p>
                  </a:txBody>
                  <a:tcPr marT="45725" marB="45725" marR="91450" marL="91450"/>
                </a:tc>
                <a:tc>
                  <a:txBody>
                    <a:bodyPr/>
                    <a:lstStyle/>
                    <a:p>
                      <a:pPr indent="0" lvl="0" marL="0" marR="0" rtl="0" algn="l">
                        <a:spcBef>
                          <a:spcPts val="0"/>
                        </a:spcBef>
                        <a:spcAft>
                          <a:spcPts val="0"/>
                        </a:spcAft>
                        <a:buNone/>
                      </a:pPr>
                      <a:r>
                        <a:rPr lang="en-US" sz="1400"/>
                        <a:t>JoeBob</a:t>
                      </a:r>
                      <a:endParaRPr sz="1400"/>
                    </a:p>
                  </a:txBody>
                  <a:tcPr marT="45725" marB="45725" marR="91450" marL="91450"/>
                </a:tc>
                <a:tc>
                  <a:txBody>
                    <a:bodyPr/>
                    <a:lstStyle/>
                    <a:p>
                      <a:pPr indent="0" lvl="0" marL="0" marR="0" rtl="0" algn="l">
                        <a:spcBef>
                          <a:spcPts val="0"/>
                        </a:spcBef>
                        <a:spcAft>
                          <a:spcPts val="0"/>
                        </a:spcAft>
                        <a:buNone/>
                      </a:pPr>
                      <a:r>
                        <a:rPr lang="en-US" sz="1400"/>
                        <a:t>Smith</a:t>
                      </a:r>
                      <a:endParaRPr/>
                    </a:p>
                  </a:txBody>
                  <a:tcPr marT="45725" marB="45725" marR="91450" marL="91450"/>
                </a:tc>
                <a:tc>
                  <a:txBody>
                    <a:bodyPr/>
                    <a:lstStyle/>
                    <a:p>
                      <a:pPr indent="0" lvl="0" marL="0" marR="0" rtl="0" algn="l">
                        <a:spcBef>
                          <a:spcPts val="0"/>
                        </a:spcBef>
                        <a:spcAft>
                          <a:spcPts val="0"/>
                        </a:spcAft>
                        <a:buNone/>
                      </a:pPr>
                      <a:r>
                        <a:rPr lang="en-US" sz="1400"/>
                        <a:t>01/05/15</a:t>
                      </a:r>
                      <a:endParaRPr/>
                    </a:p>
                  </a:txBody>
                  <a:tcPr marT="45725" marB="45725" marR="91450" marL="91450"/>
                </a:tc>
              </a:tr>
            </a:tbl>
          </a:graphicData>
        </a:graphic>
      </p:graphicFrame>
      <p:sp>
        <p:nvSpPr>
          <p:cNvPr id="1513" name="Google Shape;1513;p7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1514" name="Google Shape;1514;p76"/>
          <p:cNvSpPr/>
          <p:nvPr/>
        </p:nvSpPr>
        <p:spPr>
          <a:xfrm>
            <a:off x="9385906" y="3134025"/>
            <a:ext cx="452047" cy="947651"/>
          </a:xfrm>
          <a:prstGeom prst="downArrow">
            <a:avLst>
              <a:gd fmla="val 50000" name="adj1"/>
              <a:gd fmla="val 50000" name="adj2"/>
            </a:avLst>
          </a:prstGeom>
          <a:solidFill>
            <a:srgbClr val="C0C0C0">
              <a:alpha val="49803"/>
            </a:srgb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515" name="Google Shape;1515;p76"/>
          <p:cNvSpPr txBox="1"/>
          <p:nvPr/>
        </p:nvSpPr>
        <p:spPr>
          <a:xfrm>
            <a:off x="9136747" y="4344553"/>
            <a:ext cx="11336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Purchased</a:t>
            </a:r>
            <a:endParaRPr/>
          </a:p>
        </p:txBody>
      </p:sp>
      <p:sp>
        <p:nvSpPr>
          <p:cNvPr id="1516" name="Google Shape;1516;p76"/>
          <p:cNvSpPr txBox="1"/>
          <p:nvPr/>
        </p:nvSpPr>
        <p:spPr>
          <a:xfrm>
            <a:off x="914400" y="1981200"/>
            <a:ext cx="6566612" cy="4114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A relation </a:t>
            </a:r>
            <a:r>
              <a:rPr lang="en-US" sz="2400" u="sng">
                <a:solidFill>
                  <a:schemeClr val="dk1"/>
                </a:solidFill>
                <a:latin typeface="Calibri"/>
                <a:ea typeface="Calibri"/>
                <a:cs typeface="Calibri"/>
                <a:sym typeface="Calibri"/>
              </a:rPr>
              <a:t>between entity sets A</a:t>
            </a:r>
            <a:r>
              <a:rPr baseline="-25000" lang="en-US" sz="2400" u="sng">
                <a:solidFill>
                  <a:schemeClr val="dk1"/>
                </a:solidFill>
                <a:latin typeface="Calibri"/>
                <a:ea typeface="Calibri"/>
                <a:cs typeface="Calibri"/>
                <a:sym typeface="Calibri"/>
              </a:rPr>
              <a:t>1</a:t>
            </a:r>
            <a:r>
              <a:rPr lang="en-US" sz="2400" u="sng">
                <a:solidFill>
                  <a:schemeClr val="dk1"/>
                </a:solidFill>
                <a:latin typeface="Calibri"/>
                <a:ea typeface="Calibri"/>
                <a:cs typeface="Calibri"/>
                <a:sym typeface="Calibri"/>
              </a:rPr>
              <a:t>, …, A</a:t>
            </a:r>
            <a:r>
              <a:rPr baseline="-25000" lang="en-US" sz="2400" u="sng">
                <a:solidFill>
                  <a:schemeClr val="dk1"/>
                </a:solidFill>
                <a:latin typeface="Calibri"/>
                <a:ea typeface="Calibri"/>
                <a:cs typeface="Calibri"/>
                <a:sym typeface="Calibri"/>
              </a:rPr>
              <a:t>N</a:t>
            </a:r>
            <a:r>
              <a:rPr lang="en-US" sz="2400">
                <a:solidFill>
                  <a:schemeClr val="dk1"/>
                </a:solidFill>
                <a:latin typeface="Calibri"/>
                <a:ea typeface="Calibri"/>
                <a:cs typeface="Calibri"/>
                <a:sym typeface="Calibri"/>
              </a:rPr>
              <a:t> </a:t>
            </a:r>
            <a:r>
              <a:rPr i="1" lang="en-US" sz="2400">
                <a:solidFill>
                  <a:schemeClr val="dk1"/>
                </a:solidFill>
                <a:latin typeface="Calibri"/>
                <a:ea typeface="Calibri"/>
                <a:cs typeface="Calibri"/>
                <a:sym typeface="Calibri"/>
              </a:rPr>
              <a:t>also </a:t>
            </a:r>
            <a:r>
              <a:rPr lang="en-US" sz="2400">
                <a:solidFill>
                  <a:schemeClr val="dk1"/>
                </a:solidFill>
                <a:latin typeface="Calibri"/>
                <a:ea typeface="Calibri"/>
                <a:cs typeface="Calibri"/>
                <a:sym typeface="Calibri"/>
              </a:rPr>
              <a:t>becomes a multiset of tuples / a table</a:t>
            </a:r>
            <a:endParaRPr/>
          </a:p>
          <a:p>
            <a:pPr indent="-190500" lvl="0" marL="342900" marR="0" rtl="0" algn="l">
              <a:spcBef>
                <a:spcPts val="48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285750" lvl="1" marL="742950" marR="0" rtl="0" algn="l">
              <a:spcBef>
                <a:spcPts val="48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Each row/tuple is one relation, i.e. one unique combination of entities (a</a:t>
            </a:r>
            <a:r>
              <a:rPr b="0" baseline="-25000" i="0" lang="en-US" sz="2400" u="none" cap="none" strike="noStrike">
                <a:solidFill>
                  <a:schemeClr val="dk1"/>
                </a:solidFill>
                <a:latin typeface="Calibri"/>
                <a:ea typeface="Calibri"/>
                <a:cs typeface="Calibri"/>
                <a:sym typeface="Calibri"/>
              </a:rPr>
              <a:t>1</a:t>
            </a:r>
            <a:r>
              <a:rPr b="0" i="0" lang="en-US" sz="2400" u="none" cap="none" strike="noStrike">
                <a:solidFill>
                  <a:schemeClr val="dk1"/>
                </a:solidFill>
                <a:latin typeface="Calibri"/>
                <a:ea typeface="Calibri"/>
                <a:cs typeface="Calibri"/>
                <a:sym typeface="Calibri"/>
              </a:rPr>
              <a:t>,…,a</a:t>
            </a:r>
            <a:r>
              <a:rPr b="0" baseline="-25000" i="0" lang="en-US" sz="2400" u="none" cap="none" strike="noStrike">
                <a:solidFill>
                  <a:schemeClr val="dk1"/>
                </a:solidFill>
                <a:latin typeface="Calibri"/>
                <a:ea typeface="Calibri"/>
                <a:cs typeface="Calibri"/>
                <a:sym typeface="Calibri"/>
              </a:rPr>
              <a:t>N</a:t>
            </a:r>
            <a:r>
              <a:rPr b="0" i="0" lang="en-US" sz="2400" u="none" cap="none" strike="noStrike">
                <a:solidFill>
                  <a:schemeClr val="dk1"/>
                </a:solidFill>
                <a:latin typeface="Calibri"/>
                <a:ea typeface="Calibri"/>
                <a:cs typeface="Calibri"/>
                <a:sym typeface="Calibri"/>
              </a:rPr>
              <a:t>)</a:t>
            </a:r>
            <a:endParaRPr/>
          </a:p>
          <a:p>
            <a:pPr indent="-133350" lvl="1" marL="742950" marR="0" rtl="0" algn="l">
              <a:spcBef>
                <a:spcPts val="48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a:p>
            <a:pPr indent="-285750" lvl="1" marL="742950" marR="0" rtl="0" algn="l">
              <a:spcBef>
                <a:spcPts val="48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Each row/tuple is </a:t>
            </a:r>
            <a:endParaRPr/>
          </a:p>
          <a:p>
            <a:pPr indent="-228600" lvl="2" marL="1143000" marR="0" rtl="0" algn="l">
              <a:spcBef>
                <a:spcPts val="40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composed of the </a:t>
            </a:r>
            <a:r>
              <a:rPr b="1" i="0" lang="en-US" sz="2000" u="none" cap="none" strike="noStrike">
                <a:solidFill>
                  <a:schemeClr val="dk1"/>
                </a:solidFill>
                <a:latin typeface="Calibri"/>
                <a:ea typeface="Calibri"/>
                <a:cs typeface="Calibri"/>
                <a:sym typeface="Calibri"/>
              </a:rPr>
              <a:t>union of the entity sets’ keys</a:t>
            </a:r>
            <a:endParaRPr b="0" i="0" sz="2000" u="none" cap="none" strike="noStrike">
              <a:solidFill>
                <a:schemeClr val="dk1"/>
              </a:solidFill>
              <a:latin typeface="Calibri"/>
              <a:ea typeface="Calibri"/>
              <a:cs typeface="Calibri"/>
              <a:sym typeface="Calibri"/>
            </a:endParaRPr>
          </a:p>
          <a:p>
            <a:pPr indent="-228600" lvl="2" marL="1143000" marR="0" rtl="0" algn="l">
              <a:spcBef>
                <a:spcPts val="40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has the entities’ primary keys as foreign keys</a:t>
            </a:r>
            <a:endParaRPr/>
          </a:p>
          <a:p>
            <a:pPr indent="-228600" lvl="2" marL="1143000" marR="0" rtl="0" algn="l">
              <a:spcBef>
                <a:spcPts val="40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has the union of the entity sets’ keys as primary key</a:t>
            </a:r>
            <a:endParaRPr/>
          </a:p>
        </p:txBody>
      </p:sp>
      <p:grpSp>
        <p:nvGrpSpPr>
          <p:cNvPr id="1517" name="Google Shape;1517;p76"/>
          <p:cNvGrpSpPr/>
          <p:nvPr/>
        </p:nvGrpSpPr>
        <p:grpSpPr>
          <a:xfrm>
            <a:off x="7004792" y="1690688"/>
            <a:ext cx="5113185" cy="1140194"/>
            <a:chOff x="7943078" y="1690688"/>
            <a:chExt cx="4174900" cy="930965"/>
          </a:xfrm>
        </p:grpSpPr>
        <p:grpSp>
          <p:nvGrpSpPr>
            <p:cNvPr id="1518" name="Google Shape;1518;p76"/>
            <p:cNvGrpSpPr/>
            <p:nvPr/>
          </p:nvGrpSpPr>
          <p:grpSpPr>
            <a:xfrm>
              <a:off x="7943078" y="1690688"/>
              <a:ext cx="3532723" cy="930965"/>
              <a:chOff x="1676400" y="2271055"/>
              <a:chExt cx="8382000" cy="2286000"/>
            </a:xfrm>
          </p:grpSpPr>
          <p:sp>
            <p:nvSpPr>
              <p:cNvPr id="1519" name="Google Shape;1519;p76"/>
              <p:cNvSpPr/>
              <p:nvPr/>
            </p:nvSpPr>
            <p:spPr>
              <a:xfrm>
                <a:off x="5791200" y="3871255"/>
                <a:ext cx="1828800" cy="6858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rgbClr val="000000"/>
                    </a:solidFill>
                    <a:latin typeface="Calibri"/>
                    <a:ea typeface="Calibri"/>
                    <a:cs typeface="Calibri"/>
                    <a:sym typeface="Calibri"/>
                  </a:rPr>
                  <a:t>Purchased</a:t>
                </a:r>
                <a:endParaRPr/>
              </a:p>
            </p:txBody>
          </p:sp>
          <p:sp>
            <p:nvSpPr>
              <p:cNvPr id="1520" name="Google Shape;1520;p76"/>
              <p:cNvSpPr/>
              <p:nvPr/>
            </p:nvSpPr>
            <p:spPr>
              <a:xfrm>
                <a:off x="3886200" y="3947455"/>
                <a:ext cx="1219200"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Product</a:t>
                </a:r>
                <a:endParaRPr/>
              </a:p>
            </p:txBody>
          </p:sp>
          <p:sp>
            <p:nvSpPr>
              <p:cNvPr id="1521" name="Google Shape;1521;p76"/>
              <p:cNvSpPr/>
              <p:nvPr/>
            </p:nvSpPr>
            <p:spPr>
              <a:xfrm>
                <a:off x="2743200" y="2804455"/>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name</a:t>
                </a:r>
                <a:endParaRPr/>
              </a:p>
            </p:txBody>
          </p:sp>
          <p:sp>
            <p:nvSpPr>
              <p:cNvPr id="1522" name="Google Shape;1522;p76"/>
              <p:cNvSpPr/>
              <p:nvPr/>
            </p:nvSpPr>
            <p:spPr>
              <a:xfrm>
                <a:off x="4343400" y="2880655"/>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category</a:t>
                </a:r>
                <a:endParaRPr/>
              </a:p>
            </p:txBody>
          </p:sp>
          <p:sp>
            <p:nvSpPr>
              <p:cNvPr id="1523" name="Google Shape;1523;p76"/>
              <p:cNvSpPr/>
              <p:nvPr/>
            </p:nvSpPr>
            <p:spPr>
              <a:xfrm>
                <a:off x="1676400" y="3414055"/>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price</a:t>
                </a:r>
                <a:endParaRPr/>
              </a:p>
            </p:txBody>
          </p:sp>
          <p:cxnSp>
            <p:nvCxnSpPr>
              <p:cNvPr id="1524" name="Google Shape;1524;p76"/>
              <p:cNvCxnSpPr/>
              <p:nvPr/>
            </p:nvCxnSpPr>
            <p:spPr>
              <a:xfrm flipH="1" rot="-5400000">
                <a:off x="3291822" y="3619775"/>
                <a:ext cx="214733" cy="974026"/>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525" name="Google Shape;1525;p76"/>
              <p:cNvCxnSpPr/>
              <p:nvPr/>
            </p:nvCxnSpPr>
            <p:spPr>
              <a:xfrm flipH="1" rot="-5400000">
                <a:off x="3958572" y="3410225"/>
                <a:ext cx="557633" cy="516826"/>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526" name="Google Shape;1526;p76"/>
              <p:cNvCxnSpPr/>
              <p:nvPr/>
            </p:nvCxnSpPr>
            <p:spPr>
              <a:xfrm rot="5400000">
                <a:off x="4591050" y="3471205"/>
                <a:ext cx="381000" cy="571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1527" name="Google Shape;1527;p76"/>
              <p:cNvSpPr/>
              <p:nvPr/>
            </p:nvSpPr>
            <p:spPr>
              <a:xfrm>
                <a:off x="8229600" y="3947454"/>
                <a:ext cx="1828800"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Person</a:t>
                </a:r>
                <a:endParaRPr/>
              </a:p>
            </p:txBody>
          </p:sp>
          <p:sp>
            <p:nvSpPr>
              <p:cNvPr id="1528" name="Google Shape;1528;p76"/>
              <p:cNvSpPr/>
              <p:nvPr/>
            </p:nvSpPr>
            <p:spPr>
              <a:xfrm>
                <a:off x="8037854" y="2381425"/>
                <a:ext cx="1447801"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firstname</a:t>
                </a:r>
                <a:endParaRPr sz="1200" u="sng">
                  <a:solidFill>
                    <a:srgbClr val="000000"/>
                  </a:solidFill>
                  <a:latin typeface="Calibri"/>
                  <a:ea typeface="Calibri"/>
                  <a:cs typeface="Calibri"/>
                  <a:sym typeface="Calibri"/>
                </a:endParaRPr>
              </a:p>
            </p:txBody>
          </p:sp>
          <p:cxnSp>
            <p:nvCxnSpPr>
              <p:cNvPr id="1529" name="Google Shape;1529;p76"/>
              <p:cNvCxnSpPr>
                <a:stCxn id="1528" idx="4"/>
              </p:cNvCxnSpPr>
              <p:nvPr/>
            </p:nvCxnSpPr>
            <p:spPr>
              <a:xfrm>
                <a:off x="8761755" y="3067225"/>
                <a:ext cx="572700" cy="8802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530" name="Google Shape;1530;p76"/>
              <p:cNvCxnSpPr/>
              <p:nvPr/>
            </p:nvCxnSpPr>
            <p:spPr>
              <a:xfrm>
                <a:off x="5105400" y="4214155"/>
                <a:ext cx="685800" cy="1588"/>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531" name="Google Shape;1531;p76"/>
              <p:cNvCxnSpPr/>
              <p:nvPr/>
            </p:nvCxnSpPr>
            <p:spPr>
              <a:xfrm>
                <a:off x="7620000" y="4214155"/>
                <a:ext cx="609600" cy="1143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1532" name="Google Shape;1532;p76"/>
              <p:cNvSpPr/>
              <p:nvPr/>
            </p:nvSpPr>
            <p:spPr>
              <a:xfrm>
                <a:off x="6172200" y="2271055"/>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date</a:t>
                </a:r>
                <a:endParaRPr/>
              </a:p>
            </p:txBody>
          </p:sp>
          <p:cxnSp>
            <p:nvCxnSpPr>
              <p:cNvPr id="1533" name="Google Shape;1533;p76"/>
              <p:cNvCxnSpPr/>
              <p:nvPr/>
            </p:nvCxnSpPr>
            <p:spPr>
              <a:xfrm rot="5400000">
                <a:off x="6343650" y="3318805"/>
                <a:ext cx="914400" cy="190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1534" name="Google Shape;1534;p76"/>
            <p:cNvSpPr/>
            <p:nvPr/>
          </p:nvSpPr>
          <p:spPr>
            <a:xfrm>
              <a:off x="11439950" y="1725929"/>
              <a:ext cx="678028" cy="313186"/>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lastname</a:t>
              </a:r>
              <a:endParaRPr sz="1200" u="sng">
                <a:solidFill>
                  <a:srgbClr val="000000"/>
                </a:solidFill>
                <a:latin typeface="Calibri"/>
                <a:ea typeface="Calibri"/>
                <a:cs typeface="Calibri"/>
                <a:sym typeface="Calibri"/>
              </a:endParaRPr>
            </a:p>
          </p:txBody>
        </p:sp>
        <p:cxnSp>
          <p:nvCxnSpPr>
            <p:cNvPr id="1535" name="Google Shape;1535;p76"/>
            <p:cNvCxnSpPr>
              <a:stCxn id="1534" idx="4"/>
              <a:endCxn id="1527" idx="0"/>
            </p:cNvCxnSpPr>
            <p:nvPr/>
          </p:nvCxnSpPr>
          <p:spPr>
            <a:xfrm flipH="1">
              <a:off x="11090464" y="2039115"/>
              <a:ext cx="688500" cy="3342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id="1541" name="Google Shape;1541;p7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From E/R Diagrams to Relational Schema</a:t>
            </a:r>
            <a:endParaRPr/>
          </a:p>
        </p:txBody>
      </p:sp>
      <p:graphicFrame>
        <p:nvGraphicFramePr>
          <p:cNvPr id="1542" name="Google Shape;1542;p77"/>
          <p:cNvGraphicFramePr/>
          <p:nvPr/>
        </p:nvGraphicFramePr>
        <p:xfrm>
          <a:off x="7790604" y="4723722"/>
          <a:ext cx="3000000" cy="3000000"/>
        </p:xfrm>
        <a:graphic>
          <a:graphicData uri="http://schemas.openxmlformats.org/drawingml/2006/table">
            <a:tbl>
              <a:tblPr bandRow="1" firstRow="1">
                <a:noFill/>
                <a:tableStyleId>{CB8B14D9-80D3-47F0-B131-A9B4214C1CD3}</a:tableStyleId>
              </a:tblPr>
              <a:tblGrid>
                <a:gridCol w="954375"/>
                <a:gridCol w="1155475"/>
                <a:gridCol w="1155475"/>
                <a:gridCol w="922725"/>
              </a:tblGrid>
              <a:tr h="389775">
                <a:tc>
                  <a:txBody>
                    <a:bodyPr/>
                    <a:lstStyle/>
                    <a:p>
                      <a:pPr indent="0" lvl="0" marL="0" marR="0" rtl="0" algn="l">
                        <a:spcBef>
                          <a:spcPts val="0"/>
                        </a:spcBef>
                        <a:spcAft>
                          <a:spcPts val="0"/>
                        </a:spcAft>
                        <a:buNone/>
                      </a:pPr>
                      <a:r>
                        <a:rPr lang="en-US" sz="1400" u="sng"/>
                        <a:t>name</a:t>
                      </a:r>
                      <a:endParaRPr/>
                    </a:p>
                  </a:txBody>
                  <a:tcPr marT="45725" marB="45725" marR="91450" marL="91450"/>
                </a:tc>
                <a:tc>
                  <a:txBody>
                    <a:bodyPr/>
                    <a:lstStyle/>
                    <a:p>
                      <a:pPr indent="0" lvl="0" marL="0" marR="0" rtl="0" algn="l">
                        <a:spcBef>
                          <a:spcPts val="0"/>
                        </a:spcBef>
                        <a:spcAft>
                          <a:spcPts val="0"/>
                        </a:spcAft>
                        <a:buNone/>
                      </a:pPr>
                      <a:r>
                        <a:rPr lang="en-US" sz="1400" u="sng"/>
                        <a:t>firstname</a:t>
                      </a:r>
                      <a:endParaRPr sz="1400" u="sng"/>
                    </a:p>
                  </a:txBody>
                  <a:tcPr marT="45725" marB="45725" marR="91450" marL="91450"/>
                </a:tc>
                <a:tc>
                  <a:txBody>
                    <a:bodyPr/>
                    <a:lstStyle/>
                    <a:p>
                      <a:pPr indent="0" lvl="0" marL="0" marR="0" rtl="0" algn="l">
                        <a:spcBef>
                          <a:spcPts val="0"/>
                        </a:spcBef>
                        <a:spcAft>
                          <a:spcPts val="0"/>
                        </a:spcAft>
                        <a:buNone/>
                      </a:pPr>
                      <a:r>
                        <a:rPr lang="en-US" sz="1400" u="sng"/>
                        <a:t>lastname</a:t>
                      </a:r>
                      <a:endParaRPr sz="1400" u="sng"/>
                    </a:p>
                  </a:txBody>
                  <a:tcPr marT="45725" marB="45725" marR="91450" marL="91450"/>
                </a:tc>
                <a:tc>
                  <a:txBody>
                    <a:bodyPr/>
                    <a:lstStyle/>
                    <a:p>
                      <a:pPr indent="0" lvl="0" marL="0" marR="0" rtl="0" algn="l">
                        <a:spcBef>
                          <a:spcPts val="0"/>
                        </a:spcBef>
                        <a:spcAft>
                          <a:spcPts val="0"/>
                        </a:spcAft>
                        <a:buNone/>
                      </a:pPr>
                      <a:r>
                        <a:rPr lang="en-US" sz="1400"/>
                        <a:t>date</a:t>
                      </a:r>
                      <a:endParaRPr/>
                    </a:p>
                  </a:txBody>
                  <a:tcPr marT="45725" marB="45725" marR="91450" marL="91450"/>
                </a:tc>
              </a:tr>
              <a:tr h="389775">
                <a:tc>
                  <a:txBody>
                    <a:bodyPr/>
                    <a:lstStyle/>
                    <a:p>
                      <a:pPr indent="0" lvl="0" marL="0" marR="0" rtl="0" algn="l">
                        <a:spcBef>
                          <a:spcPts val="0"/>
                        </a:spcBef>
                        <a:spcAft>
                          <a:spcPts val="0"/>
                        </a:spcAft>
                        <a:buNone/>
                      </a:pPr>
                      <a:r>
                        <a:rPr lang="en-US" sz="1400"/>
                        <a:t>Gizmo1</a:t>
                      </a:r>
                      <a:endParaRPr/>
                    </a:p>
                  </a:txBody>
                  <a:tcPr marT="45725" marB="45725" marR="91450" marL="91450"/>
                </a:tc>
                <a:tc>
                  <a:txBody>
                    <a:bodyPr/>
                    <a:lstStyle/>
                    <a:p>
                      <a:pPr indent="0" lvl="0" marL="0" marR="0" rtl="0" algn="l">
                        <a:spcBef>
                          <a:spcPts val="0"/>
                        </a:spcBef>
                        <a:spcAft>
                          <a:spcPts val="0"/>
                        </a:spcAft>
                        <a:buNone/>
                      </a:pPr>
                      <a:r>
                        <a:rPr lang="en-US" sz="1400"/>
                        <a:t>Bob</a:t>
                      </a:r>
                      <a:endParaRPr/>
                    </a:p>
                  </a:txBody>
                  <a:tcPr marT="45725" marB="45725" marR="91450" marL="91450"/>
                </a:tc>
                <a:tc>
                  <a:txBody>
                    <a:bodyPr/>
                    <a:lstStyle/>
                    <a:p>
                      <a:pPr indent="0" lvl="0" marL="0" marR="0" rtl="0" algn="l">
                        <a:spcBef>
                          <a:spcPts val="0"/>
                        </a:spcBef>
                        <a:spcAft>
                          <a:spcPts val="0"/>
                        </a:spcAft>
                        <a:buNone/>
                      </a:pPr>
                      <a:r>
                        <a:rPr lang="en-US" sz="1400"/>
                        <a:t>Joe</a:t>
                      </a:r>
                      <a:endParaRPr/>
                    </a:p>
                  </a:txBody>
                  <a:tcPr marT="45725" marB="45725" marR="91450" marL="91450"/>
                </a:tc>
                <a:tc>
                  <a:txBody>
                    <a:bodyPr/>
                    <a:lstStyle/>
                    <a:p>
                      <a:pPr indent="0" lvl="0" marL="0" marR="0" rtl="0" algn="l">
                        <a:spcBef>
                          <a:spcPts val="0"/>
                        </a:spcBef>
                        <a:spcAft>
                          <a:spcPts val="0"/>
                        </a:spcAft>
                        <a:buNone/>
                      </a:pPr>
                      <a:r>
                        <a:rPr lang="en-US" sz="1400"/>
                        <a:t>01/01/15</a:t>
                      </a:r>
                      <a:endParaRPr/>
                    </a:p>
                  </a:txBody>
                  <a:tcPr marT="45725" marB="45725" marR="91450" marL="91450"/>
                </a:tc>
              </a:tr>
              <a:tr h="389775">
                <a:tc>
                  <a:txBody>
                    <a:bodyPr/>
                    <a:lstStyle/>
                    <a:p>
                      <a:pPr indent="0" lvl="0" marL="0" marR="0" rtl="0" algn="l">
                        <a:spcBef>
                          <a:spcPts val="0"/>
                        </a:spcBef>
                        <a:spcAft>
                          <a:spcPts val="0"/>
                        </a:spcAft>
                        <a:buNone/>
                      </a:pPr>
                      <a:r>
                        <a:rPr lang="en-US" sz="1400"/>
                        <a:t>Gizmo2</a:t>
                      </a:r>
                      <a:endParaRPr/>
                    </a:p>
                  </a:txBody>
                  <a:tcPr marT="45725" marB="45725" marR="91450" marL="91450"/>
                </a:tc>
                <a:tc>
                  <a:txBody>
                    <a:bodyPr/>
                    <a:lstStyle/>
                    <a:p>
                      <a:pPr indent="0" lvl="0" marL="0" marR="0" rtl="0" algn="l">
                        <a:spcBef>
                          <a:spcPts val="0"/>
                        </a:spcBef>
                        <a:spcAft>
                          <a:spcPts val="0"/>
                        </a:spcAft>
                        <a:buNone/>
                      </a:pPr>
                      <a:r>
                        <a:rPr lang="en-US" sz="1400"/>
                        <a:t>Joe</a:t>
                      </a:r>
                      <a:endParaRPr/>
                    </a:p>
                  </a:txBody>
                  <a:tcPr marT="45725" marB="45725" marR="91450" marL="91450"/>
                </a:tc>
                <a:tc>
                  <a:txBody>
                    <a:bodyPr/>
                    <a:lstStyle/>
                    <a:p>
                      <a:pPr indent="0" lvl="0" marL="0" marR="0" rtl="0" algn="l">
                        <a:spcBef>
                          <a:spcPts val="0"/>
                        </a:spcBef>
                        <a:spcAft>
                          <a:spcPts val="0"/>
                        </a:spcAft>
                        <a:buNone/>
                      </a:pPr>
                      <a:r>
                        <a:rPr lang="en-US" sz="1400"/>
                        <a:t>Bob</a:t>
                      </a:r>
                      <a:endParaRPr/>
                    </a:p>
                  </a:txBody>
                  <a:tcPr marT="45725" marB="45725" marR="91450" marL="91450"/>
                </a:tc>
                <a:tc>
                  <a:txBody>
                    <a:bodyPr/>
                    <a:lstStyle/>
                    <a:p>
                      <a:pPr indent="0" lvl="0" marL="0" marR="0" rtl="0" algn="l">
                        <a:spcBef>
                          <a:spcPts val="0"/>
                        </a:spcBef>
                        <a:spcAft>
                          <a:spcPts val="0"/>
                        </a:spcAft>
                        <a:buNone/>
                      </a:pPr>
                      <a:r>
                        <a:rPr lang="en-US" sz="1400"/>
                        <a:t>01/03/15</a:t>
                      </a:r>
                      <a:endParaRPr/>
                    </a:p>
                  </a:txBody>
                  <a:tcPr marT="45725" marB="45725" marR="91450" marL="91450"/>
                </a:tc>
              </a:tr>
              <a:tr h="389775">
                <a:tc>
                  <a:txBody>
                    <a:bodyPr/>
                    <a:lstStyle/>
                    <a:p>
                      <a:pPr indent="0" lvl="0" marL="0" marR="0" rtl="0" algn="l">
                        <a:spcBef>
                          <a:spcPts val="0"/>
                        </a:spcBef>
                        <a:spcAft>
                          <a:spcPts val="0"/>
                        </a:spcAft>
                        <a:buNone/>
                      </a:pPr>
                      <a:r>
                        <a:rPr lang="en-US" sz="1400"/>
                        <a:t>Gizmo1</a:t>
                      </a:r>
                      <a:endParaRPr/>
                    </a:p>
                  </a:txBody>
                  <a:tcPr marT="45725" marB="45725" marR="91450" marL="91450"/>
                </a:tc>
                <a:tc>
                  <a:txBody>
                    <a:bodyPr/>
                    <a:lstStyle/>
                    <a:p>
                      <a:pPr indent="0" lvl="0" marL="0" marR="0" rtl="0" algn="l">
                        <a:spcBef>
                          <a:spcPts val="0"/>
                        </a:spcBef>
                        <a:spcAft>
                          <a:spcPts val="0"/>
                        </a:spcAft>
                        <a:buNone/>
                      </a:pPr>
                      <a:r>
                        <a:rPr lang="en-US" sz="1400"/>
                        <a:t>JoeBob</a:t>
                      </a:r>
                      <a:endParaRPr sz="1400"/>
                    </a:p>
                  </a:txBody>
                  <a:tcPr marT="45725" marB="45725" marR="91450" marL="91450"/>
                </a:tc>
                <a:tc>
                  <a:txBody>
                    <a:bodyPr/>
                    <a:lstStyle/>
                    <a:p>
                      <a:pPr indent="0" lvl="0" marL="0" marR="0" rtl="0" algn="l">
                        <a:spcBef>
                          <a:spcPts val="0"/>
                        </a:spcBef>
                        <a:spcAft>
                          <a:spcPts val="0"/>
                        </a:spcAft>
                        <a:buNone/>
                      </a:pPr>
                      <a:r>
                        <a:rPr lang="en-US" sz="1400"/>
                        <a:t>Smith</a:t>
                      </a:r>
                      <a:endParaRPr/>
                    </a:p>
                  </a:txBody>
                  <a:tcPr marT="45725" marB="45725" marR="91450" marL="91450"/>
                </a:tc>
                <a:tc>
                  <a:txBody>
                    <a:bodyPr/>
                    <a:lstStyle/>
                    <a:p>
                      <a:pPr indent="0" lvl="0" marL="0" marR="0" rtl="0" algn="l">
                        <a:spcBef>
                          <a:spcPts val="0"/>
                        </a:spcBef>
                        <a:spcAft>
                          <a:spcPts val="0"/>
                        </a:spcAft>
                        <a:buNone/>
                      </a:pPr>
                      <a:r>
                        <a:rPr lang="en-US" sz="1400"/>
                        <a:t>01/05/15</a:t>
                      </a:r>
                      <a:endParaRPr/>
                    </a:p>
                  </a:txBody>
                  <a:tcPr marT="45725" marB="45725" marR="91450" marL="91450"/>
                </a:tc>
              </a:tr>
            </a:tbl>
          </a:graphicData>
        </a:graphic>
      </p:graphicFrame>
      <p:sp>
        <p:nvSpPr>
          <p:cNvPr id="1543" name="Google Shape;1543;p7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1544" name="Google Shape;1544;p77"/>
          <p:cNvSpPr/>
          <p:nvPr/>
        </p:nvSpPr>
        <p:spPr>
          <a:xfrm>
            <a:off x="9563706" y="3134025"/>
            <a:ext cx="452047" cy="947651"/>
          </a:xfrm>
          <a:prstGeom prst="downArrow">
            <a:avLst>
              <a:gd fmla="val 50000" name="adj1"/>
              <a:gd fmla="val 50000" name="adj2"/>
            </a:avLst>
          </a:prstGeom>
          <a:solidFill>
            <a:srgbClr val="C0C0C0">
              <a:alpha val="49803"/>
            </a:srgb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545" name="Google Shape;1545;p77"/>
          <p:cNvSpPr txBox="1"/>
          <p:nvPr/>
        </p:nvSpPr>
        <p:spPr>
          <a:xfrm>
            <a:off x="9314547" y="4344553"/>
            <a:ext cx="11336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Purchased</a:t>
            </a:r>
            <a:endParaRPr/>
          </a:p>
        </p:txBody>
      </p:sp>
      <p:grpSp>
        <p:nvGrpSpPr>
          <p:cNvPr id="1546" name="Google Shape;1546;p77"/>
          <p:cNvGrpSpPr/>
          <p:nvPr/>
        </p:nvGrpSpPr>
        <p:grpSpPr>
          <a:xfrm>
            <a:off x="7660499" y="1675526"/>
            <a:ext cx="3925423" cy="1043955"/>
            <a:chOff x="1676400" y="2271055"/>
            <a:chExt cx="8382000" cy="2286003"/>
          </a:xfrm>
        </p:grpSpPr>
        <p:sp>
          <p:nvSpPr>
            <p:cNvPr id="1547" name="Google Shape;1547;p77"/>
            <p:cNvSpPr/>
            <p:nvPr/>
          </p:nvSpPr>
          <p:spPr>
            <a:xfrm>
              <a:off x="5791200" y="3871255"/>
              <a:ext cx="1828800" cy="6858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rgbClr val="000000"/>
                  </a:solidFill>
                  <a:latin typeface="Calibri"/>
                  <a:ea typeface="Calibri"/>
                  <a:cs typeface="Calibri"/>
                  <a:sym typeface="Calibri"/>
                </a:rPr>
                <a:t>Purchased</a:t>
              </a:r>
              <a:endParaRPr/>
            </a:p>
          </p:txBody>
        </p:sp>
        <p:sp>
          <p:nvSpPr>
            <p:cNvPr id="1548" name="Google Shape;1548;p77"/>
            <p:cNvSpPr/>
            <p:nvPr/>
          </p:nvSpPr>
          <p:spPr>
            <a:xfrm>
              <a:off x="3886200" y="3947455"/>
              <a:ext cx="1219200" cy="5334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Product</a:t>
              </a:r>
              <a:endParaRPr/>
            </a:p>
          </p:txBody>
        </p:sp>
        <p:sp>
          <p:nvSpPr>
            <p:cNvPr id="1549" name="Google Shape;1549;p77"/>
            <p:cNvSpPr/>
            <p:nvPr/>
          </p:nvSpPr>
          <p:spPr>
            <a:xfrm>
              <a:off x="2743200" y="2804455"/>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name</a:t>
              </a:r>
              <a:endParaRPr/>
            </a:p>
          </p:txBody>
        </p:sp>
        <p:sp>
          <p:nvSpPr>
            <p:cNvPr id="1550" name="Google Shape;1550;p77"/>
            <p:cNvSpPr/>
            <p:nvPr/>
          </p:nvSpPr>
          <p:spPr>
            <a:xfrm>
              <a:off x="4343400" y="2880655"/>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category</a:t>
              </a:r>
              <a:endParaRPr/>
            </a:p>
          </p:txBody>
        </p:sp>
        <p:sp>
          <p:nvSpPr>
            <p:cNvPr id="1551" name="Google Shape;1551;p77"/>
            <p:cNvSpPr/>
            <p:nvPr/>
          </p:nvSpPr>
          <p:spPr>
            <a:xfrm>
              <a:off x="1676400" y="3414055"/>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price</a:t>
              </a:r>
              <a:endParaRPr/>
            </a:p>
          </p:txBody>
        </p:sp>
        <p:cxnSp>
          <p:nvCxnSpPr>
            <p:cNvPr id="1552" name="Google Shape;1552;p77"/>
            <p:cNvCxnSpPr/>
            <p:nvPr/>
          </p:nvCxnSpPr>
          <p:spPr>
            <a:xfrm flipH="1" rot="-5400000">
              <a:off x="3291822" y="3619775"/>
              <a:ext cx="214733" cy="974026"/>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553" name="Google Shape;1553;p77"/>
            <p:cNvCxnSpPr/>
            <p:nvPr/>
          </p:nvCxnSpPr>
          <p:spPr>
            <a:xfrm flipH="1" rot="-5400000">
              <a:off x="3958572" y="3410225"/>
              <a:ext cx="557633" cy="516826"/>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554" name="Google Shape;1554;p77"/>
            <p:cNvCxnSpPr/>
            <p:nvPr/>
          </p:nvCxnSpPr>
          <p:spPr>
            <a:xfrm rot="5400000">
              <a:off x="4591050" y="3471205"/>
              <a:ext cx="381000" cy="571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1555" name="Google Shape;1555;p77"/>
            <p:cNvSpPr/>
            <p:nvPr/>
          </p:nvSpPr>
          <p:spPr>
            <a:xfrm>
              <a:off x="8229600" y="3947457"/>
              <a:ext cx="1828800" cy="609601"/>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Person</a:t>
              </a:r>
              <a:endParaRPr/>
            </a:p>
          </p:txBody>
        </p:sp>
        <p:sp>
          <p:nvSpPr>
            <p:cNvPr id="1556" name="Google Shape;1556;p77"/>
            <p:cNvSpPr/>
            <p:nvPr/>
          </p:nvSpPr>
          <p:spPr>
            <a:xfrm>
              <a:off x="8037854" y="2381425"/>
              <a:ext cx="1447801"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firstname</a:t>
              </a:r>
              <a:endParaRPr sz="1200" u="sng">
                <a:solidFill>
                  <a:srgbClr val="000000"/>
                </a:solidFill>
                <a:latin typeface="Calibri"/>
                <a:ea typeface="Calibri"/>
                <a:cs typeface="Calibri"/>
                <a:sym typeface="Calibri"/>
              </a:endParaRPr>
            </a:p>
          </p:txBody>
        </p:sp>
        <p:cxnSp>
          <p:nvCxnSpPr>
            <p:cNvPr id="1557" name="Google Shape;1557;p77"/>
            <p:cNvCxnSpPr>
              <a:stCxn id="1556" idx="4"/>
            </p:cNvCxnSpPr>
            <p:nvPr/>
          </p:nvCxnSpPr>
          <p:spPr>
            <a:xfrm>
              <a:off x="8761755" y="3067225"/>
              <a:ext cx="572700" cy="8802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558" name="Google Shape;1558;p77"/>
            <p:cNvCxnSpPr/>
            <p:nvPr/>
          </p:nvCxnSpPr>
          <p:spPr>
            <a:xfrm>
              <a:off x="5105400" y="4214155"/>
              <a:ext cx="685800" cy="1588"/>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559" name="Google Shape;1559;p77"/>
            <p:cNvCxnSpPr/>
            <p:nvPr/>
          </p:nvCxnSpPr>
          <p:spPr>
            <a:xfrm>
              <a:off x="7620000" y="4214155"/>
              <a:ext cx="609600" cy="1143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1560" name="Google Shape;1560;p77"/>
            <p:cNvSpPr/>
            <p:nvPr/>
          </p:nvSpPr>
          <p:spPr>
            <a:xfrm>
              <a:off x="6172200" y="2271055"/>
              <a:ext cx="1447800" cy="685800"/>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date</a:t>
              </a:r>
              <a:endParaRPr/>
            </a:p>
          </p:txBody>
        </p:sp>
        <p:cxnSp>
          <p:nvCxnSpPr>
            <p:cNvPr id="1561" name="Google Shape;1561;p77"/>
            <p:cNvCxnSpPr/>
            <p:nvPr/>
          </p:nvCxnSpPr>
          <p:spPr>
            <a:xfrm rot="5400000">
              <a:off x="6343650" y="3318805"/>
              <a:ext cx="914400" cy="190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1562" name="Google Shape;1562;p77"/>
          <p:cNvSpPr/>
          <p:nvPr/>
        </p:nvSpPr>
        <p:spPr>
          <a:xfrm>
            <a:off x="11439950" y="1725929"/>
            <a:ext cx="678028" cy="313186"/>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lastname</a:t>
            </a:r>
            <a:endParaRPr sz="1200" u="sng">
              <a:solidFill>
                <a:srgbClr val="000000"/>
              </a:solidFill>
              <a:latin typeface="Calibri"/>
              <a:ea typeface="Calibri"/>
              <a:cs typeface="Calibri"/>
              <a:sym typeface="Calibri"/>
            </a:endParaRPr>
          </a:p>
        </p:txBody>
      </p:sp>
      <p:cxnSp>
        <p:nvCxnSpPr>
          <p:cNvPr id="1563" name="Google Shape;1563;p77"/>
          <p:cNvCxnSpPr>
            <a:stCxn id="1562" idx="4"/>
            <a:endCxn id="1555" idx="0"/>
          </p:cNvCxnSpPr>
          <p:nvPr/>
        </p:nvCxnSpPr>
        <p:spPr>
          <a:xfrm flipH="1">
            <a:off x="11157664" y="2039115"/>
            <a:ext cx="621300" cy="4020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1564" name="Google Shape;1564;p77"/>
          <p:cNvSpPr/>
          <p:nvPr/>
        </p:nvSpPr>
        <p:spPr>
          <a:xfrm>
            <a:off x="568541" y="1868912"/>
            <a:ext cx="6647974" cy="3477875"/>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2000">
                <a:solidFill>
                  <a:schemeClr val="accent2"/>
                </a:solidFill>
                <a:latin typeface="Arial"/>
                <a:ea typeface="Arial"/>
                <a:cs typeface="Arial"/>
                <a:sym typeface="Arial"/>
              </a:rPr>
              <a:t>CREATE TABLE</a:t>
            </a:r>
            <a:r>
              <a:rPr lang="en-US" sz="2000">
                <a:solidFill>
                  <a:schemeClr val="dk1"/>
                </a:solidFill>
                <a:latin typeface="Arial"/>
                <a:ea typeface="Arial"/>
                <a:cs typeface="Arial"/>
                <a:sym typeface="Arial"/>
              </a:rPr>
              <a:t> Purchased(</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  name      CHAR(50),</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  firstname CHAR(50),</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  lastname  CHAR(50),</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  date      DATE,</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  PRIMARY KEY (name, firstname, lastname),</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  FOREIGN KEY (name)</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	REFERENCES Product,</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  FOREIGN KEY (firstname, lastname)</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	REFERENCES Person</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8" name="Shape 1568"/>
        <p:cNvGrpSpPr/>
        <p:nvPr/>
      </p:nvGrpSpPr>
      <p:grpSpPr>
        <a:xfrm>
          <a:off x="0" y="0"/>
          <a:ext cx="0" cy="0"/>
          <a:chOff x="0" y="0"/>
          <a:chExt cx="0" cy="0"/>
        </a:xfrm>
      </p:grpSpPr>
      <p:sp>
        <p:nvSpPr>
          <p:cNvPr id="1569" name="Google Shape;1569;p7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From E/R Diagram to Relational Schema</a:t>
            </a:r>
            <a:endParaRPr/>
          </a:p>
        </p:txBody>
      </p:sp>
      <p:sp>
        <p:nvSpPr>
          <p:cNvPr id="1570" name="Google Shape;1570;p7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grpSp>
        <p:nvGrpSpPr>
          <p:cNvPr id="1571" name="Google Shape;1571;p78"/>
          <p:cNvGrpSpPr/>
          <p:nvPr/>
        </p:nvGrpSpPr>
        <p:grpSpPr>
          <a:xfrm>
            <a:off x="4982510" y="1509998"/>
            <a:ext cx="7444412" cy="3245878"/>
            <a:chOff x="2390230" y="3196755"/>
            <a:chExt cx="7444412" cy="3245878"/>
          </a:xfrm>
        </p:grpSpPr>
        <p:sp>
          <p:nvSpPr>
            <p:cNvPr id="1572" name="Google Shape;1572;p78"/>
            <p:cNvSpPr/>
            <p:nvPr/>
          </p:nvSpPr>
          <p:spPr>
            <a:xfrm>
              <a:off x="5503777" y="4377476"/>
              <a:ext cx="1383799" cy="506023"/>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Purchased</a:t>
              </a:r>
              <a:endParaRPr/>
            </a:p>
          </p:txBody>
        </p:sp>
        <p:sp>
          <p:nvSpPr>
            <p:cNvPr id="1573" name="Google Shape;1573;p78"/>
            <p:cNvSpPr/>
            <p:nvPr/>
          </p:nvSpPr>
          <p:spPr>
            <a:xfrm>
              <a:off x="4062320" y="4433700"/>
              <a:ext cx="922533" cy="393573"/>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Product</a:t>
              </a:r>
              <a:endParaRPr/>
            </a:p>
          </p:txBody>
        </p:sp>
        <p:sp>
          <p:nvSpPr>
            <p:cNvPr id="1574" name="Google Shape;1574;p78"/>
            <p:cNvSpPr/>
            <p:nvPr/>
          </p:nvSpPr>
          <p:spPr>
            <a:xfrm>
              <a:off x="3197445" y="3590328"/>
              <a:ext cx="1095508" cy="506023"/>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name</a:t>
              </a:r>
              <a:endParaRPr/>
            </a:p>
          </p:txBody>
        </p:sp>
        <p:sp>
          <p:nvSpPr>
            <p:cNvPr id="1575" name="Google Shape;1575;p78"/>
            <p:cNvSpPr/>
            <p:nvPr/>
          </p:nvSpPr>
          <p:spPr>
            <a:xfrm>
              <a:off x="4408269" y="3646554"/>
              <a:ext cx="1095508" cy="506023"/>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category</a:t>
              </a:r>
              <a:endParaRPr/>
            </a:p>
          </p:txBody>
        </p:sp>
        <p:sp>
          <p:nvSpPr>
            <p:cNvPr id="1576" name="Google Shape;1576;p78"/>
            <p:cNvSpPr/>
            <p:nvPr/>
          </p:nvSpPr>
          <p:spPr>
            <a:xfrm>
              <a:off x="2390230" y="4040127"/>
              <a:ext cx="1095508" cy="506023"/>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price</a:t>
              </a:r>
              <a:endParaRPr/>
            </a:p>
          </p:txBody>
        </p:sp>
        <p:cxnSp>
          <p:nvCxnSpPr>
            <p:cNvPr id="1577" name="Google Shape;1577;p78"/>
            <p:cNvCxnSpPr/>
            <p:nvPr/>
          </p:nvCxnSpPr>
          <p:spPr>
            <a:xfrm flipH="1" rot="-5400000">
              <a:off x="3614592" y="4182757"/>
              <a:ext cx="158443" cy="737017"/>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578" name="Google Shape;1578;p78"/>
            <p:cNvCxnSpPr/>
            <p:nvPr/>
          </p:nvCxnSpPr>
          <p:spPr>
            <a:xfrm flipH="1" rot="-5400000">
              <a:off x="4122326" y="4032440"/>
              <a:ext cx="411454" cy="391067"/>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579" name="Google Shape;1579;p78"/>
            <p:cNvCxnSpPr/>
            <p:nvPr/>
          </p:nvCxnSpPr>
          <p:spPr>
            <a:xfrm rot="5400000">
              <a:off x="4599243" y="4076920"/>
              <a:ext cx="281124" cy="432436"/>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1580" name="Google Shape;1580;p78"/>
            <p:cNvSpPr/>
            <p:nvPr/>
          </p:nvSpPr>
          <p:spPr>
            <a:xfrm>
              <a:off x="7348842" y="4433700"/>
              <a:ext cx="1261758" cy="393573"/>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Person</a:t>
              </a:r>
              <a:endParaRPr/>
            </a:p>
          </p:txBody>
        </p:sp>
        <p:sp>
          <p:nvSpPr>
            <p:cNvPr id="1581" name="Google Shape;1581;p78"/>
            <p:cNvSpPr/>
            <p:nvPr/>
          </p:nvSpPr>
          <p:spPr>
            <a:xfrm>
              <a:off x="7203753" y="3278192"/>
              <a:ext cx="1095508" cy="506023"/>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firstname</a:t>
              </a:r>
              <a:endParaRPr sz="1200" u="sng">
                <a:solidFill>
                  <a:srgbClr val="000000"/>
                </a:solidFill>
                <a:latin typeface="Calibri"/>
                <a:ea typeface="Calibri"/>
                <a:cs typeface="Calibri"/>
                <a:sym typeface="Calibri"/>
              </a:endParaRPr>
            </a:p>
          </p:txBody>
        </p:sp>
        <p:cxnSp>
          <p:nvCxnSpPr>
            <p:cNvPr id="1582" name="Google Shape;1582;p78"/>
            <p:cNvCxnSpPr>
              <a:stCxn id="1581" idx="4"/>
            </p:cNvCxnSpPr>
            <p:nvPr/>
          </p:nvCxnSpPr>
          <p:spPr>
            <a:xfrm>
              <a:off x="7751507" y="3784215"/>
              <a:ext cx="433500" cy="649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583" name="Google Shape;1583;p78"/>
            <p:cNvCxnSpPr/>
            <p:nvPr/>
          </p:nvCxnSpPr>
          <p:spPr>
            <a:xfrm>
              <a:off x="4984853" y="4630488"/>
              <a:ext cx="518925" cy="1171"/>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584" name="Google Shape;1584;p78"/>
            <p:cNvCxnSpPr/>
            <p:nvPr/>
          </p:nvCxnSpPr>
          <p:spPr>
            <a:xfrm>
              <a:off x="6887576" y="4630488"/>
              <a:ext cx="461266" cy="84338"/>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1585" name="Google Shape;1585;p78"/>
            <p:cNvSpPr/>
            <p:nvPr/>
          </p:nvSpPr>
          <p:spPr>
            <a:xfrm>
              <a:off x="5792068" y="3196755"/>
              <a:ext cx="1095508" cy="506023"/>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date</a:t>
              </a:r>
              <a:endParaRPr/>
            </a:p>
          </p:txBody>
        </p:sp>
        <p:cxnSp>
          <p:nvCxnSpPr>
            <p:cNvPr id="1586" name="Google Shape;1586;p78"/>
            <p:cNvCxnSpPr/>
            <p:nvPr/>
          </p:nvCxnSpPr>
          <p:spPr>
            <a:xfrm rot="5400000">
              <a:off x="5930400" y="3968054"/>
              <a:ext cx="674698" cy="144145"/>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1587" name="Google Shape;1587;p78"/>
            <p:cNvSpPr/>
            <p:nvPr/>
          </p:nvSpPr>
          <p:spPr>
            <a:xfrm>
              <a:off x="8739134" y="3278192"/>
              <a:ext cx="1095508" cy="506023"/>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lastname</a:t>
              </a:r>
              <a:endParaRPr sz="1200" u="sng">
                <a:solidFill>
                  <a:srgbClr val="000000"/>
                </a:solidFill>
                <a:latin typeface="Calibri"/>
                <a:ea typeface="Calibri"/>
                <a:cs typeface="Calibri"/>
                <a:sym typeface="Calibri"/>
              </a:endParaRPr>
            </a:p>
          </p:txBody>
        </p:sp>
        <p:cxnSp>
          <p:nvCxnSpPr>
            <p:cNvPr id="1588" name="Google Shape;1588;p78"/>
            <p:cNvCxnSpPr>
              <a:stCxn id="1587" idx="4"/>
              <a:endCxn id="1580" idx="0"/>
            </p:cNvCxnSpPr>
            <p:nvPr/>
          </p:nvCxnSpPr>
          <p:spPr>
            <a:xfrm flipH="1">
              <a:off x="7979788" y="3784215"/>
              <a:ext cx="1307100" cy="649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1589" name="Google Shape;1589;p78"/>
            <p:cNvSpPr/>
            <p:nvPr/>
          </p:nvSpPr>
          <p:spPr>
            <a:xfrm>
              <a:off x="4062322" y="6049060"/>
              <a:ext cx="922533" cy="393573"/>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Store</a:t>
              </a:r>
              <a:endParaRPr/>
            </a:p>
          </p:txBody>
        </p:sp>
        <p:sp>
          <p:nvSpPr>
            <p:cNvPr id="1590" name="Google Shape;1590;p78"/>
            <p:cNvSpPr/>
            <p:nvPr/>
          </p:nvSpPr>
          <p:spPr>
            <a:xfrm>
              <a:off x="3197447" y="5205688"/>
              <a:ext cx="1095508" cy="506023"/>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u="sng">
                  <a:solidFill>
                    <a:srgbClr val="000000"/>
                  </a:solidFill>
                  <a:latin typeface="Calibri"/>
                  <a:ea typeface="Calibri"/>
                  <a:cs typeface="Calibri"/>
                  <a:sym typeface="Calibri"/>
                </a:rPr>
                <a:t>name</a:t>
              </a:r>
              <a:endParaRPr/>
            </a:p>
          </p:txBody>
        </p:sp>
        <p:sp>
          <p:nvSpPr>
            <p:cNvPr id="1591" name="Google Shape;1591;p78"/>
            <p:cNvSpPr/>
            <p:nvPr/>
          </p:nvSpPr>
          <p:spPr>
            <a:xfrm>
              <a:off x="4408271" y="5261914"/>
              <a:ext cx="1095508" cy="506023"/>
            </a:xfrm>
            <a:prstGeom prst="ellipse">
              <a:avLst/>
            </a:prstGeom>
            <a:solidFill>
              <a:srgbClr val="00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Calibri"/>
                  <a:ea typeface="Calibri"/>
                  <a:cs typeface="Calibri"/>
                  <a:sym typeface="Calibri"/>
                </a:rPr>
                <a:t>address</a:t>
              </a:r>
              <a:endParaRPr/>
            </a:p>
          </p:txBody>
        </p:sp>
        <p:cxnSp>
          <p:nvCxnSpPr>
            <p:cNvPr id="1592" name="Google Shape;1592;p78"/>
            <p:cNvCxnSpPr/>
            <p:nvPr/>
          </p:nvCxnSpPr>
          <p:spPr>
            <a:xfrm flipH="1" rot="-5400000">
              <a:off x="4122328" y="5647800"/>
              <a:ext cx="411454" cy="391067"/>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593" name="Google Shape;1593;p78"/>
            <p:cNvCxnSpPr/>
            <p:nvPr/>
          </p:nvCxnSpPr>
          <p:spPr>
            <a:xfrm rot="5400000">
              <a:off x="4599245" y="5692280"/>
              <a:ext cx="281124" cy="432436"/>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cxnSp>
        <p:nvCxnSpPr>
          <p:cNvPr id="1594" name="Google Shape;1594;p78"/>
          <p:cNvCxnSpPr>
            <a:stCxn id="1589" idx="3"/>
            <a:endCxn id="1572" idx="2"/>
          </p:cNvCxnSpPr>
          <p:nvPr/>
        </p:nvCxnSpPr>
        <p:spPr>
          <a:xfrm flipH="1" rot="10800000">
            <a:off x="7577135" y="3196789"/>
            <a:ext cx="1210800" cy="13623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1595" name="Google Shape;1595;p78"/>
          <p:cNvSpPr txBox="1"/>
          <p:nvPr/>
        </p:nvSpPr>
        <p:spPr>
          <a:xfrm>
            <a:off x="1330250" y="1690688"/>
            <a:ext cx="399010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How do we represent this as a relational schema?</a:t>
            </a:r>
            <a:endParaRPr/>
          </a:p>
        </p:txBody>
      </p:sp>
      <p:sp>
        <p:nvSpPr>
          <p:cNvPr id="1596" name="Google Shape;1596;p78"/>
          <p:cNvSpPr txBox="1"/>
          <p:nvPr>
            <p:ph idx="1" type="body"/>
          </p:nvPr>
        </p:nvSpPr>
        <p:spPr>
          <a:xfrm>
            <a:off x="838200" y="2690719"/>
            <a:ext cx="3971337" cy="3486244"/>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90000"/>
              </a:lnSpc>
              <a:spcBef>
                <a:spcPts val="0"/>
              </a:spcBef>
              <a:spcAft>
                <a:spcPts val="0"/>
              </a:spcAft>
              <a:buClr>
                <a:schemeClr val="dk1"/>
              </a:buClr>
              <a:buSzPct val="100000"/>
              <a:buNone/>
            </a:pPr>
            <a:r>
              <a:rPr lang="en-US"/>
              <a:t>CREATE TABLE purchased (</a:t>
            </a:r>
            <a:endParaRPr/>
          </a:p>
          <a:p>
            <a:pPr indent="0" lvl="1" marL="457200" rtl="0" algn="l">
              <a:lnSpc>
                <a:spcPct val="90000"/>
              </a:lnSpc>
              <a:spcBef>
                <a:spcPts val="500"/>
              </a:spcBef>
              <a:spcAft>
                <a:spcPts val="0"/>
              </a:spcAft>
              <a:buClr>
                <a:schemeClr val="dk1"/>
              </a:buClr>
              <a:buSzPct val="100000"/>
              <a:buNone/>
            </a:pPr>
            <a:r>
              <a:rPr lang="en-US"/>
              <a:t>Firstname varchar(20),</a:t>
            </a:r>
            <a:endParaRPr/>
          </a:p>
          <a:p>
            <a:pPr indent="0" lvl="1" marL="457200" rtl="0" algn="l">
              <a:lnSpc>
                <a:spcPct val="90000"/>
              </a:lnSpc>
              <a:spcBef>
                <a:spcPts val="500"/>
              </a:spcBef>
              <a:spcAft>
                <a:spcPts val="0"/>
              </a:spcAft>
              <a:buClr>
                <a:schemeClr val="dk1"/>
              </a:buClr>
              <a:buSzPct val="100000"/>
              <a:buNone/>
            </a:pPr>
            <a:r>
              <a:rPr lang="en-US"/>
              <a:t>Lastname varchar(20),</a:t>
            </a:r>
            <a:endParaRPr/>
          </a:p>
          <a:p>
            <a:pPr indent="0" lvl="1" marL="457200" rtl="0" algn="l">
              <a:lnSpc>
                <a:spcPct val="90000"/>
              </a:lnSpc>
              <a:spcBef>
                <a:spcPts val="500"/>
              </a:spcBef>
              <a:spcAft>
                <a:spcPts val="0"/>
              </a:spcAft>
              <a:buClr>
                <a:schemeClr val="dk1"/>
              </a:buClr>
              <a:buSzPct val="100000"/>
              <a:buNone/>
            </a:pPr>
            <a:r>
              <a:rPr lang="en-US"/>
              <a:t>Pname varchar(20),</a:t>
            </a:r>
            <a:endParaRPr/>
          </a:p>
          <a:p>
            <a:pPr indent="0" lvl="1" marL="457200" rtl="0" algn="l">
              <a:lnSpc>
                <a:spcPct val="90000"/>
              </a:lnSpc>
              <a:spcBef>
                <a:spcPts val="500"/>
              </a:spcBef>
              <a:spcAft>
                <a:spcPts val="0"/>
              </a:spcAft>
              <a:buClr>
                <a:schemeClr val="dk1"/>
              </a:buClr>
              <a:buSzPct val="100000"/>
              <a:buNone/>
            </a:pPr>
            <a:r>
              <a:rPr lang="en-US"/>
              <a:t>Sname varchar(20),</a:t>
            </a:r>
            <a:endParaRPr/>
          </a:p>
          <a:p>
            <a:pPr indent="0" lvl="1" marL="457200" rtl="0" algn="l">
              <a:lnSpc>
                <a:spcPct val="90000"/>
              </a:lnSpc>
              <a:spcBef>
                <a:spcPts val="500"/>
              </a:spcBef>
              <a:spcAft>
                <a:spcPts val="0"/>
              </a:spcAft>
              <a:buClr>
                <a:schemeClr val="dk1"/>
              </a:buClr>
              <a:buSzPct val="100000"/>
              <a:buNone/>
            </a:pPr>
            <a:r>
              <a:rPr lang="en-US"/>
              <a:t>pdate  date,</a:t>
            </a:r>
            <a:endParaRPr/>
          </a:p>
          <a:p>
            <a:pPr indent="0" lvl="1" marL="457200" rtl="0" algn="l">
              <a:lnSpc>
                <a:spcPct val="90000"/>
              </a:lnSpc>
              <a:spcBef>
                <a:spcPts val="500"/>
              </a:spcBef>
              <a:spcAft>
                <a:spcPts val="0"/>
              </a:spcAft>
              <a:buClr>
                <a:schemeClr val="dk1"/>
              </a:buClr>
              <a:buSzPct val="100000"/>
              <a:buNone/>
            </a:pPr>
            <a:r>
              <a:rPr lang="en-US"/>
              <a:t>Primary key (firstname, lastname, pname,sname),</a:t>
            </a:r>
            <a:endParaRPr/>
          </a:p>
          <a:p>
            <a:pPr indent="0" lvl="1" marL="457200" rtl="0" algn="l">
              <a:lnSpc>
                <a:spcPct val="90000"/>
              </a:lnSpc>
              <a:spcBef>
                <a:spcPts val="500"/>
              </a:spcBef>
              <a:spcAft>
                <a:spcPts val="0"/>
              </a:spcAft>
              <a:buClr>
                <a:schemeClr val="dk1"/>
              </a:buClr>
              <a:buSzPct val="100000"/>
              <a:buNone/>
            </a:pPr>
            <a:r>
              <a:rPr lang="en-US"/>
              <a:t>Foreign key (firstname, lastname) references Person,</a:t>
            </a:r>
            <a:endParaRPr/>
          </a:p>
          <a:p>
            <a:pPr indent="0" lvl="1" marL="457200" rtl="0" algn="l">
              <a:lnSpc>
                <a:spcPct val="90000"/>
              </a:lnSpc>
              <a:spcBef>
                <a:spcPts val="500"/>
              </a:spcBef>
              <a:spcAft>
                <a:spcPts val="0"/>
              </a:spcAft>
              <a:buClr>
                <a:schemeClr val="dk1"/>
              </a:buClr>
              <a:buSzPct val="100000"/>
              <a:buNone/>
            </a:pPr>
            <a:r>
              <a:rPr lang="en-US"/>
              <a:t>Foreign key pname references product(name),</a:t>
            </a:r>
            <a:endParaRPr/>
          </a:p>
          <a:p>
            <a:pPr indent="0" lvl="1" marL="457200" rtl="0" algn="l">
              <a:lnSpc>
                <a:spcPct val="90000"/>
              </a:lnSpc>
              <a:spcBef>
                <a:spcPts val="500"/>
              </a:spcBef>
              <a:spcAft>
                <a:spcPts val="0"/>
              </a:spcAft>
              <a:buClr>
                <a:schemeClr val="dk1"/>
              </a:buClr>
              <a:buSzPct val="100000"/>
              <a:buNone/>
            </a:pPr>
            <a:r>
              <a:rPr lang="en-US"/>
              <a:t>Foreign key sname references store(name)</a:t>
            </a:r>
            <a:endParaRPr/>
          </a:p>
          <a:p>
            <a:pPr indent="0" lvl="0" marL="0" rtl="0" algn="l">
              <a:lnSpc>
                <a:spcPct val="90000"/>
              </a:lnSpc>
              <a:spcBef>
                <a:spcPts val="1000"/>
              </a:spcBef>
              <a:spcAft>
                <a:spcPts val="0"/>
              </a:spcAft>
              <a:buClr>
                <a:schemeClr val="dk1"/>
              </a:buClr>
              <a:buSzPct val="100000"/>
              <a:buNone/>
            </a:pPr>
            <a:r>
              <a:rPr lang="en-US"/>
              <a:t>);</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1" name="Shape 1601"/>
        <p:cNvGrpSpPr/>
        <p:nvPr/>
      </p:nvGrpSpPr>
      <p:grpSpPr>
        <a:xfrm>
          <a:off x="0" y="0"/>
          <a:ext cx="0" cy="0"/>
          <a:chOff x="0" y="0"/>
          <a:chExt cx="0" cy="0"/>
        </a:xfrm>
      </p:grpSpPr>
      <p:sp>
        <p:nvSpPr>
          <p:cNvPr id="1602" name="Google Shape;1602;p7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603" name="Google Shape;1603;p79"/>
          <p:cNvPicPr preferRelativeResize="0"/>
          <p:nvPr>
            <p:ph idx="1" type="body"/>
          </p:nvPr>
        </p:nvPicPr>
        <p:blipFill rotWithShape="1">
          <a:blip r:embed="rId3">
            <a:alphaModFix/>
          </a:blip>
          <a:srcRect b="0" l="0" r="0" t="0"/>
          <a:stretch/>
        </p:blipFill>
        <p:spPr>
          <a:xfrm>
            <a:off x="1783171" y="738696"/>
            <a:ext cx="8625658" cy="4817493"/>
          </a:xfrm>
          <a:prstGeom prst="rect">
            <a:avLst/>
          </a:prstGeom>
          <a:noFill/>
          <a:ln>
            <a:noFill/>
          </a:ln>
        </p:spPr>
      </p:pic>
      <p:sp>
        <p:nvSpPr>
          <p:cNvPr id="1604" name="Google Shape;1604;p7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05" name="Google Shape;1605;p79"/>
          <p:cNvSpPr/>
          <p:nvPr/>
        </p:nvSpPr>
        <p:spPr>
          <a:xfrm>
            <a:off x="1447060" y="5841507"/>
            <a:ext cx="12192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0" i="0" lang="en-US" sz="1800" u="sng" cap="none" strike="noStrike">
                <a:solidFill>
                  <a:schemeClr val="hlink"/>
                </a:solidFill>
                <a:latin typeface="Arial"/>
                <a:ea typeface="Arial"/>
                <a:cs typeface="Arial"/>
                <a:sym typeface="Arial"/>
                <a:hlinkClick r:id="rId4"/>
              </a:rPr>
              <a:t>erd.sql</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10" name="Shape 1610"/>
        <p:cNvGrpSpPr/>
        <p:nvPr/>
      </p:nvGrpSpPr>
      <p:grpSpPr>
        <a:xfrm>
          <a:off x="0" y="0"/>
          <a:ext cx="0" cy="0"/>
          <a:chOff x="0" y="0"/>
          <a:chExt cx="0" cy="0"/>
        </a:xfrm>
      </p:grpSpPr>
      <p:sp>
        <p:nvSpPr>
          <p:cNvPr id="1611" name="Google Shape;1611;p8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612" name="Google Shape;1612;p8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It has SQL for the previous example</a:t>
            </a:r>
            <a:endParaRPr/>
          </a:p>
        </p:txBody>
      </p:sp>
      <p:sp>
        <p:nvSpPr>
          <p:cNvPr id="1613" name="Google Shape;1613;p8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7" name="Shape 1617"/>
        <p:cNvGrpSpPr/>
        <p:nvPr/>
      </p:nvGrpSpPr>
      <p:grpSpPr>
        <a:xfrm>
          <a:off x="0" y="0"/>
          <a:ext cx="0" cy="0"/>
          <a:chOff x="0" y="0"/>
          <a:chExt cx="0" cy="0"/>
        </a:xfrm>
      </p:grpSpPr>
      <p:sp>
        <p:nvSpPr>
          <p:cNvPr id="1618" name="Google Shape;1618;p8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ER-to-Relational Mapping Algorithm</a:t>
            </a:r>
            <a:endParaRPr/>
          </a:p>
        </p:txBody>
      </p:sp>
      <p:sp>
        <p:nvSpPr>
          <p:cNvPr id="1619" name="Google Shape;1619;p8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COMPANY database example</a:t>
            </a:r>
            <a:endParaRPr/>
          </a:p>
          <a:p>
            <a:pPr indent="-228600" lvl="1" marL="685800" rtl="0" algn="l">
              <a:lnSpc>
                <a:spcPct val="90000"/>
              </a:lnSpc>
              <a:spcBef>
                <a:spcPts val="500"/>
              </a:spcBef>
              <a:spcAft>
                <a:spcPts val="0"/>
              </a:spcAft>
              <a:buClr>
                <a:schemeClr val="dk1"/>
              </a:buClr>
              <a:buSzPts val="2400"/>
              <a:buChar char="•"/>
            </a:pPr>
            <a:r>
              <a:rPr lang="en-US"/>
              <a:t>Assume that the mapping will create tables with simple single-valued attributes</a:t>
            </a:r>
            <a:endParaRPr/>
          </a:p>
          <a:p>
            <a:pPr indent="-228600" lvl="0" marL="228600" rtl="0" algn="l">
              <a:lnSpc>
                <a:spcPct val="90000"/>
              </a:lnSpc>
              <a:spcBef>
                <a:spcPts val="1000"/>
              </a:spcBef>
              <a:spcAft>
                <a:spcPts val="0"/>
              </a:spcAft>
              <a:buClr>
                <a:schemeClr val="dk1"/>
              </a:buClr>
              <a:buSzPts val="2800"/>
              <a:buChar char="•"/>
            </a:pPr>
            <a:r>
              <a:rPr lang="en-US"/>
              <a:t>Step 1: Mapping of Regular Entity Types</a:t>
            </a:r>
            <a:endParaRPr/>
          </a:p>
          <a:p>
            <a:pPr indent="-228600" lvl="1" marL="685800" rtl="0" algn="l">
              <a:lnSpc>
                <a:spcPct val="90000"/>
              </a:lnSpc>
              <a:spcBef>
                <a:spcPts val="500"/>
              </a:spcBef>
              <a:spcAft>
                <a:spcPts val="0"/>
              </a:spcAft>
              <a:buClr>
                <a:schemeClr val="dk1"/>
              </a:buClr>
              <a:buSzPts val="2400"/>
              <a:buChar char="•"/>
            </a:pPr>
            <a:r>
              <a:rPr lang="en-US"/>
              <a:t>For each regular entity type, create a relation </a:t>
            </a:r>
            <a:r>
              <a:rPr i="1" lang="en-US"/>
              <a:t>R</a:t>
            </a:r>
            <a:r>
              <a:rPr lang="en-US"/>
              <a:t> that includes all the simple attributes of </a:t>
            </a:r>
            <a:r>
              <a:rPr i="1" lang="en-US"/>
              <a:t>E</a:t>
            </a:r>
            <a:endParaRPr/>
          </a:p>
          <a:p>
            <a:pPr indent="-228600" lvl="1" marL="685800" rtl="0" algn="l">
              <a:lnSpc>
                <a:spcPct val="90000"/>
              </a:lnSpc>
              <a:spcBef>
                <a:spcPts val="500"/>
              </a:spcBef>
              <a:spcAft>
                <a:spcPts val="0"/>
              </a:spcAft>
              <a:buClr>
                <a:schemeClr val="dk1"/>
              </a:buClr>
              <a:buSzPts val="2400"/>
              <a:buChar char="•"/>
            </a:pPr>
            <a:r>
              <a:rPr lang="en-US"/>
              <a:t>Called </a:t>
            </a:r>
            <a:r>
              <a:rPr b="1" lang="en-US"/>
              <a:t>entity relations </a:t>
            </a:r>
            <a:endParaRPr/>
          </a:p>
          <a:p>
            <a:pPr indent="-228600" lvl="2" marL="1143000" rtl="0" algn="l">
              <a:lnSpc>
                <a:spcPct val="90000"/>
              </a:lnSpc>
              <a:spcBef>
                <a:spcPts val="500"/>
              </a:spcBef>
              <a:spcAft>
                <a:spcPts val="0"/>
              </a:spcAft>
              <a:buClr>
                <a:schemeClr val="dk1"/>
              </a:buClr>
              <a:buSzPts val="2000"/>
              <a:buChar char="•"/>
            </a:pPr>
            <a:r>
              <a:rPr lang="en-US"/>
              <a:t>Each tuple represents an entity instance</a:t>
            </a:r>
            <a:endParaRPr/>
          </a:p>
        </p:txBody>
      </p:sp>
      <p:sp>
        <p:nvSpPr>
          <p:cNvPr id="1620" name="Google Shape;1620;p8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p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ER-to-Relational Mapping Algorithm (cont’d.)</a:t>
            </a:r>
            <a:endParaRPr/>
          </a:p>
        </p:txBody>
      </p:sp>
      <p:sp>
        <p:nvSpPr>
          <p:cNvPr id="1626" name="Google Shape;1626;p8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627" name="Google Shape;1627;p82"/>
          <p:cNvPicPr preferRelativeResize="0"/>
          <p:nvPr/>
        </p:nvPicPr>
        <p:blipFill rotWithShape="1">
          <a:blip r:embed="rId3">
            <a:alphaModFix/>
          </a:blip>
          <a:srcRect b="0" l="0" r="0" t="0"/>
          <a:stretch/>
        </p:blipFill>
        <p:spPr>
          <a:xfrm>
            <a:off x="2057400" y="1524000"/>
            <a:ext cx="7958138" cy="4743450"/>
          </a:xfrm>
          <a:prstGeom prst="rect">
            <a:avLst/>
          </a:prstGeom>
          <a:noFill/>
          <a:ln>
            <a:noFill/>
          </a:ln>
        </p:spPr>
      </p:pic>
      <p:sp>
        <p:nvSpPr>
          <p:cNvPr id="1628" name="Google Shape;1628;p8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2" name="Shape 1632"/>
        <p:cNvGrpSpPr/>
        <p:nvPr/>
      </p:nvGrpSpPr>
      <p:grpSpPr>
        <a:xfrm>
          <a:off x="0" y="0"/>
          <a:ext cx="0" cy="0"/>
          <a:chOff x="0" y="0"/>
          <a:chExt cx="0" cy="0"/>
        </a:xfrm>
      </p:grpSpPr>
      <p:sp>
        <p:nvSpPr>
          <p:cNvPr id="1633" name="Google Shape;1633;p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ER-to-Relational Mapping Algorithm (cont’d.)</a:t>
            </a:r>
            <a:endParaRPr/>
          </a:p>
        </p:txBody>
      </p:sp>
      <p:sp>
        <p:nvSpPr>
          <p:cNvPr id="1634" name="Google Shape;1634;p8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Step 3: Mapping of Binary 1:1 Relationship Types</a:t>
            </a:r>
            <a:endParaRPr/>
          </a:p>
          <a:p>
            <a:pPr indent="-228600" lvl="1" marL="685800" rtl="0" algn="l">
              <a:lnSpc>
                <a:spcPct val="90000"/>
              </a:lnSpc>
              <a:spcBef>
                <a:spcPts val="500"/>
              </a:spcBef>
              <a:spcAft>
                <a:spcPts val="0"/>
              </a:spcAft>
              <a:buClr>
                <a:schemeClr val="dk1"/>
              </a:buClr>
              <a:buSzPts val="2400"/>
              <a:buChar char="•"/>
            </a:pPr>
            <a:r>
              <a:rPr lang="en-US"/>
              <a:t>For each binary 1:1 relationship type </a:t>
            </a:r>
            <a:endParaRPr/>
          </a:p>
          <a:p>
            <a:pPr indent="-228600" lvl="2" marL="1143000" rtl="0" algn="l">
              <a:lnSpc>
                <a:spcPct val="90000"/>
              </a:lnSpc>
              <a:spcBef>
                <a:spcPts val="500"/>
              </a:spcBef>
              <a:spcAft>
                <a:spcPts val="0"/>
              </a:spcAft>
              <a:buClr>
                <a:schemeClr val="dk1"/>
              </a:buClr>
              <a:buSzPts val="2000"/>
              <a:buChar char="•"/>
            </a:pPr>
            <a:r>
              <a:rPr lang="en-US"/>
              <a:t>Identify relations that correspond to entity types participating in </a:t>
            </a:r>
            <a:r>
              <a:rPr i="1" lang="en-US"/>
              <a:t>R</a:t>
            </a:r>
            <a:endParaRPr/>
          </a:p>
          <a:p>
            <a:pPr indent="-228600" lvl="1" marL="685800" rtl="0" algn="l">
              <a:lnSpc>
                <a:spcPct val="90000"/>
              </a:lnSpc>
              <a:spcBef>
                <a:spcPts val="500"/>
              </a:spcBef>
              <a:spcAft>
                <a:spcPts val="0"/>
              </a:spcAft>
              <a:buClr>
                <a:schemeClr val="dk1"/>
              </a:buClr>
              <a:buSzPts val="2400"/>
              <a:buChar char="•"/>
            </a:pPr>
            <a:r>
              <a:rPr lang="en-US"/>
              <a:t>Possible approaches: </a:t>
            </a:r>
            <a:endParaRPr/>
          </a:p>
          <a:p>
            <a:pPr indent="-228600" lvl="2" marL="1143000" rtl="0" algn="l">
              <a:lnSpc>
                <a:spcPct val="90000"/>
              </a:lnSpc>
              <a:spcBef>
                <a:spcPts val="500"/>
              </a:spcBef>
              <a:spcAft>
                <a:spcPts val="0"/>
              </a:spcAft>
              <a:buClr>
                <a:schemeClr val="dk1"/>
              </a:buClr>
              <a:buSzPts val="2000"/>
              <a:buChar char="•"/>
            </a:pPr>
            <a:r>
              <a:rPr b="1" lang="en-US"/>
              <a:t>Foreign key approach</a:t>
            </a:r>
            <a:endParaRPr/>
          </a:p>
          <a:p>
            <a:pPr indent="-228600" lvl="2" marL="1143000" rtl="0" algn="l">
              <a:lnSpc>
                <a:spcPct val="90000"/>
              </a:lnSpc>
              <a:spcBef>
                <a:spcPts val="500"/>
              </a:spcBef>
              <a:spcAft>
                <a:spcPts val="0"/>
              </a:spcAft>
              <a:buClr>
                <a:schemeClr val="dk1"/>
              </a:buClr>
              <a:buSzPts val="2000"/>
              <a:buChar char="•"/>
            </a:pPr>
            <a:r>
              <a:rPr b="1" lang="en-US"/>
              <a:t>Merged relationship approach</a:t>
            </a:r>
            <a:endParaRPr/>
          </a:p>
          <a:p>
            <a:pPr indent="-228600" lvl="2" marL="1143000" rtl="0" algn="l">
              <a:lnSpc>
                <a:spcPct val="90000"/>
              </a:lnSpc>
              <a:spcBef>
                <a:spcPts val="500"/>
              </a:spcBef>
              <a:spcAft>
                <a:spcPts val="0"/>
              </a:spcAft>
              <a:buClr>
                <a:schemeClr val="dk1"/>
              </a:buClr>
              <a:buSzPts val="2000"/>
              <a:buChar char="•"/>
            </a:pPr>
            <a:r>
              <a:rPr b="1" lang="en-US"/>
              <a:t>Crossreference or relationship relation approach</a:t>
            </a:r>
            <a:endParaRPr/>
          </a:p>
          <a:p>
            <a:pPr indent="-101600" lvl="2" marL="1143000" rtl="0" algn="l">
              <a:lnSpc>
                <a:spcPct val="90000"/>
              </a:lnSpc>
              <a:spcBef>
                <a:spcPts val="500"/>
              </a:spcBef>
              <a:spcAft>
                <a:spcPts val="0"/>
              </a:spcAft>
              <a:buClr>
                <a:schemeClr val="dk1"/>
              </a:buClr>
              <a:buSzPts val="2000"/>
              <a:buNone/>
            </a:pPr>
            <a:r>
              <a:t/>
            </a:r>
            <a:endParaRPr b="1"/>
          </a:p>
          <a:p>
            <a:pPr indent="-228600" lvl="1" marL="685800" rtl="0" algn="l">
              <a:lnSpc>
                <a:spcPct val="90000"/>
              </a:lnSpc>
              <a:spcBef>
                <a:spcPts val="500"/>
              </a:spcBef>
              <a:spcAft>
                <a:spcPts val="0"/>
              </a:spcAft>
              <a:buClr>
                <a:schemeClr val="dk1"/>
              </a:buClr>
              <a:buSzPts val="2400"/>
              <a:buChar char="•"/>
            </a:pPr>
            <a:r>
              <a:rPr lang="en-US"/>
              <a:t>Alternative approach (Avoid this)</a:t>
            </a:r>
            <a:endParaRPr/>
          </a:p>
          <a:p>
            <a:pPr indent="-228600" lvl="2" marL="1143000" rtl="0" algn="l">
              <a:lnSpc>
                <a:spcPct val="90000"/>
              </a:lnSpc>
              <a:spcBef>
                <a:spcPts val="500"/>
              </a:spcBef>
              <a:spcAft>
                <a:spcPts val="0"/>
              </a:spcAft>
              <a:buClr>
                <a:schemeClr val="dk1"/>
              </a:buClr>
              <a:buSzPts val="2000"/>
              <a:buChar char="•"/>
            </a:pPr>
            <a:r>
              <a:rPr lang="en-US"/>
              <a:t>Use the </a:t>
            </a:r>
            <a:r>
              <a:rPr b="1" lang="en-US"/>
              <a:t>relationship relation </a:t>
            </a:r>
            <a:r>
              <a:rPr lang="en-US"/>
              <a:t>(cross-reference) option as in the third option for binary 1:1 relationships</a:t>
            </a:r>
            <a:endParaRPr/>
          </a:p>
          <a:p>
            <a:pPr indent="-101600" lvl="2" marL="1143000" rtl="0" algn="l">
              <a:lnSpc>
                <a:spcPct val="90000"/>
              </a:lnSpc>
              <a:spcBef>
                <a:spcPts val="500"/>
              </a:spcBef>
              <a:spcAft>
                <a:spcPts val="0"/>
              </a:spcAft>
              <a:buClr>
                <a:schemeClr val="dk1"/>
              </a:buClr>
              <a:buSzPts val="2000"/>
              <a:buNone/>
            </a:pPr>
            <a:r>
              <a:t/>
            </a:r>
            <a:endParaRPr b="1"/>
          </a:p>
        </p:txBody>
      </p:sp>
      <p:sp>
        <p:nvSpPr>
          <p:cNvPr id="1635" name="Google Shape;1635;p8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9" name="Shape 1639"/>
        <p:cNvGrpSpPr/>
        <p:nvPr/>
      </p:nvGrpSpPr>
      <p:grpSpPr>
        <a:xfrm>
          <a:off x="0" y="0"/>
          <a:ext cx="0" cy="0"/>
          <a:chOff x="0" y="0"/>
          <a:chExt cx="0" cy="0"/>
        </a:xfrm>
      </p:grpSpPr>
      <p:sp>
        <p:nvSpPr>
          <p:cNvPr id="1640" name="Google Shape;1640;p8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ER-to-Relational Mapping Algorithm (cont’d.)</a:t>
            </a:r>
            <a:endParaRPr/>
          </a:p>
        </p:txBody>
      </p:sp>
      <p:sp>
        <p:nvSpPr>
          <p:cNvPr id="1641" name="Google Shape;1641;p8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Step 4: Mapping of Binary 1:</a:t>
            </a:r>
            <a:r>
              <a:rPr i="1" lang="en-US"/>
              <a:t>N</a:t>
            </a:r>
            <a:r>
              <a:rPr lang="en-US"/>
              <a:t> Relationship Types</a:t>
            </a:r>
            <a:endParaRPr/>
          </a:p>
          <a:p>
            <a:pPr indent="-228600" lvl="1" marL="685800" rtl="0" algn="l">
              <a:lnSpc>
                <a:spcPct val="90000"/>
              </a:lnSpc>
              <a:spcBef>
                <a:spcPts val="500"/>
              </a:spcBef>
              <a:spcAft>
                <a:spcPts val="0"/>
              </a:spcAft>
              <a:buClr>
                <a:schemeClr val="dk1"/>
              </a:buClr>
              <a:buSzPts val="2400"/>
              <a:buChar char="•"/>
            </a:pPr>
            <a:r>
              <a:rPr lang="en-US"/>
              <a:t>For each regular binary 1:</a:t>
            </a:r>
            <a:r>
              <a:rPr i="1" lang="en-US"/>
              <a:t>N</a:t>
            </a:r>
            <a:r>
              <a:rPr lang="en-US"/>
              <a:t> relationship type </a:t>
            </a:r>
            <a:endParaRPr/>
          </a:p>
          <a:p>
            <a:pPr indent="-228600" lvl="2" marL="1143000" rtl="0" algn="l">
              <a:lnSpc>
                <a:spcPct val="90000"/>
              </a:lnSpc>
              <a:spcBef>
                <a:spcPts val="500"/>
              </a:spcBef>
              <a:spcAft>
                <a:spcPts val="0"/>
              </a:spcAft>
              <a:buClr>
                <a:schemeClr val="dk1"/>
              </a:buClr>
              <a:buSzPts val="2000"/>
              <a:buChar char="•"/>
            </a:pPr>
            <a:r>
              <a:rPr lang="en-US"/>
              <a:t>Identify relation that represents participating entity type at </a:t>
            </a:r>
            <a:r>
              <a:rPr i="1" lang="en-US"/>
              <a:t>N</a:t>
            </a:r>
            <a:r>
              <a:rPr lang="en-US"/>
              <a:t>-side of relationship type</a:t>
            </a:r>
            <a:endParaRPr/>
          </a:p>
          <a:p>
            <a:pPr indent="-228600" lvl="2" marL="1143000" rtl="0" algn="l">
              <a:lnSpc>
                <a:spcPct val="90000"/>
              </a:lnSpc>
              <a:spcBef>
                <a:spcPts val="500"/>
              </a:spcBef>
              <a:spcAft>
                <a:spcPts val="0"/>
              </a:spcAft>
              <a:buClr>
                <a:schemeClr val="dk1"/>
              </a:buClr>
              <a:buSzPts val="2000"/>
              <a:buChar char="•"/>
            </a:pPr>
            <a:r>
              <a:rPr lang="en-US"/>
              <a:t>Include primary key of other entity type as foreign key in </a:t>
            </a:r>
            <a:r>
              <a:rPr i="1" lang="en-US"/>
              <a:t>S </a:t>
            </a:r>
            <a:endParaRPr/>
          </a:p>
          <a:p>
            <a:pPr indent="-228600" lvl="2" marL="1143000" rtl="0" algn="l">
              <a:lnSpc>
                <a:spcPct val="90000"/>
              </a:lnSpc>
              <a:spcBef>
                <a:spcPts val="500"/>
              </a:spcBef>
              <a:spcAft>
                <a:spcPts val="0"/>
              </a:spcAft>
              <a:buClr>
                <a:schemeClr val="dk1"/>
              </a:buClr>
              <a:buSzPts val="2000"/>
              <a:buChar char="•"/>
            </a:pPr>
            <a:r>
              <a:rPr lang="en-US"/>
              <a:t>Include simple attributes of 1:</a:t>
            </a:r>
            <a:r>
              <a:rPr i="1" lang="en-US"/>
              <a:t>N</a:t>
            </a:r>
            <a:r>
              <a:rPr lang="en-US"/>
              <a:t> relationship type as attributes of </a:t>
            </a:r>
            <a:r>
              <a:rPr i="1" lang="en-US"/>
              <a:t>S</a:t>
            </a:r>
            <a:endParaRPr/>
          </a:p>
        </p:txBody>
      </p:sp>
      <p:sp>
        <p:nvSpPr>
          <p:cNvPr id="1642" name="Google Shape;1642;p8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6" name="Shape 1646"/>
        <p:cNvGrpSpPr/>
        <p:nvPr/>
      </p:nvGrpSpPr>
      <p:grpSpPr>
        <a:xfrm>
          <a:off x="0" y="0"/>
          <a:ext cx="0" cy="0"/>
          <a:chOff x="0" y="0"/>
          <a:chExt cx="0" cy="0"/>
        </a:xfrm>
      </p:grpSpPr>
      <p:sp>
        <p:nvSpPr>
          <p:cNvPr id="1647" name="Google Shape;1647;p8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ER-to-Relational Mapping Algorithm (cont’d.)</a:t>
            </a:r>
            <a:endParaRPr/>
          </a:p>
        </p:txBody>
      </p:sp>
      <p:sp>
        <p:nvSpPr>
          <p:cNvPr id="1648" name="Google Shape;1648;p8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Step 5: Mapping of Binary </a:t>
            </a:r>
            <a:r>
              <a:rPr i="1" lang="en-US"/>
              <a:t>M</a:t>
            </a:r>
            <a:r>
              <a:rPr lang="en-US"/>
              <a:t>:</a:t>
            </a:r>
            <a:r>
              <a:rPr i="1" lang="en-US"/>
              <a:t>N</a:t>
            </a:r>
            <a:r>
              <a:rPr lang="en-US"/>
              <a:t> Relationship Types</a:t>
            </a:r>
            <a:endParaRPr/>
          </a:p>
          <a:p>
            <a:pPr indent="-228600" lvl="1" marL="685800" rtl="0" algn="l">
              <a:lnSpc>
                <a:spcPct val="90000"/>
              </a:lnSpc>
              <a:spcBef>
                <a:spcPts val="500"/>
              </a:spcBef>
              <a:spcAft>
                <a:spcPts val="0"/>
              </a:spcAft>
              <a:buClr>
                <a:schemeClr val="dk1"/>
              </a:buClr>
              <a:buSzPts val="2400"/>
              <a:buChar char="•"/>
            </a:pPr>
            <a:r>
              <a:rPr lang="en-US"/>
              <a:t>For each binary </a:t>
            </a:r>
            <a:r>
              <a:rPr i="1" lang="en-US"/>
              <a:t>M</a:t>
            </a:r>
            <a:r>
              <a:rPr lang="en-US"/>
              <a:t>:</a:t>
            </a:r>
            <a:r>
              <a:rPr i="1" lang="en-US"/>
              <a:t>N</a:t>
            </a:r>
            <a:r>
              <a:rPr lang="en-US"/>
              <a:t> relationship type</a:t>
            </a:r>
            <a:endParaRPr/>
          </a:p>
          <a:p>
            <a:pPr indent="-228600" lvl="2" marL="1143000" rtl="0" algn="l">
              <a:lnSpc>
                <a:spcPct val="90000"/>
              </a:lnSpc>
              <a:spcBef>
                <a:spcPts val="500"/>
              </a:spcBef>
              <a:spcAft>
                <a:spcPts val="0"/>
              </a:spcAft>
              <a:buClr>
                <a:schemeClr val="dk1"/>
              </a:buClr>
              <a:buSzPts val="2000"/>
              <a:buChar char="•"/>
            </a:pPr>
            <a:r>
              <a:rPr lang="en-US"/>
              <a:t>Create a new relation </a:t>
            </a:r>
            <a:r>
              <a:rPr i="1" lang="en-US"/>
              <a:t>S </a:t>
            </a:r>
            <a:endParaRPr/>
          </a:p>
          <a:p>
            <a:pPr indent="-228600" lvl="2" marL="1143000" rtl="0" algn="l">
              <a:lnSpc>
                <a:spcPct val="90000"/>
              </a:lnSpc>
              <a:spcBef>
                <a:spcPts val="500"/>
              </a:spcBef>
              <a:spcAft>
                <a:spcPts val="0"/>
              </a:spcAft>
              <a:buClr>
                <a:schemeClr val="dk1"/>
              </a:buClr>
              <a:buSzPts val="2000"/>
              <a:buChar char="•"/>
            </a:pPr>
            <a:r>
              <a:rPr lang="en-US"/>
              <a:t>Include primary key of participating entity types as foreign key attributes in </a:t>
            </a:r>
            <a:r>
              <a:rPr i="1" lang="en-US"/>
              <a:t>S</a:t>
            </a:r>
            <a:r>
              <a:rPr lang="en-US"/>
              <a:t> </a:t>
            </a:r>
            <a:endParaRPr/>
          </a:p>
          <a:p>
            <a:pPr indent="-228600" lvl="2" marL="1143000" rtl="0" algn="l">
              <a:lnSpc>
                <a:spcPct val="90000"/>
              </a:lnSpc>
              <a:spcBef>
                <a:spcPts val="500"/>
              </a:spcBef>
              <a:spcAft>
                <a:spcPts val="0"/>
              </a:spcAft>
              <a:buClr>
                <a:schemeClr val="dk1"/>
              </a:buClr>
              <a:buSzPts val="2000"/>
              <a:buChar char="•"/>
            </a:pPr>
            <a:r>
              <a:rPr lang="en-US"/>
              <a:t>Include any simple attributes of </a:t>
            </a:r>
            <a:r>
              <a:rPr i="1" lang="en-US"/>
              <a:t>M</a:t>
            </a:r>
            <a:r>
              <a:rPr lang="en-US"/>
              <a:t>:</a:t>
            </a:r>
            <a:r>
              <a:rPr i="1" lang="en-US"/>
              <a:t>N</a:t>
            </a:r>
            <a:r>
              <a:rPr lang="en-US"/>
              <a:t> relationship type</a:t>
            </a:r>
            <a:endParaRPr/>
          </a:p>
        </p:txBody>
      </p:sp>
      <p:sp>
        <p:nvSpPr>
          <p:cNvPr id="1649" name="Google Shape;1649;p8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3" name="Shape 1653"/>
        <p:cNvGrpSpPr/>
        <p:nvPr/>
      </p:nvGrpSpPr>
      <p:grpSpPr>
        <a:xfrm>
          <a:off x="0" y="0"/>
          <a:ext cx="0" cy="0"/>
          <a:chOff x="0" y="0"/>
          <a:chExt cx="0" cy="0"/>
        </a:xfrm>
      </p:grpSpPr>
      <p:sp>
        <p:nvSpPr>
          <p:cNvPr id="1654" name="Google Shape;1654;p8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ER-to-Relational Mapping Algorithm (cont’d.)</a:t>
            </a:r>
            <a:endParaRPr/>
          </a:p>
        </p:txBody>
      </p:sp>
      <p:sp>
        <p:nvSpPr>
          <p:cNvPr id="1655" name="Google Shape;1655;p8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Step 6: Mapping of Multivalued Attributes</a:t>
            </a:r>
            <a:endParaRPr/>
          </a:p>
          <a:p>
            <a:pPr indent="-228600" lvl="1" marL="685800" rtl="0" algn="l">
              <a:lnSpc>
                <a:spcPct val="90000"/>
              </a:lnSpc>
              <a:spcBef>
                <a:spcPts val="500"/>
              </a:spcBef>
              <a:spcAft>
                <a:spcPts val="0"/>
              </a:spcAft>
              <a:buClr>
                <a:schemeClr val="dk1"/>
              </a:buClr>
              <a:buSzPts val="2400"/>
              <a:buChar char="•"/>
            </a:pPr>
            <a:r>
              <a:rPr lang="en-US"/>
              <a:t>For each multivalued attribute</a:t>
            </a:r>
            <a:endParaRPr/>
          </a:p>
          <a:p>
            <a:pPr indent="-228600" lvl="2" marL="1143000" rtl="0" algn="l">
              <a:lnSpc>
                <a:spcPct val="90000"/>
              </a:lnSpc>
              <a:spcBef>
                <a:spcPts val="500"/>
              </a:spcBef>
              <a:spcAft>
                <a:spcPts val="0"/>
              </a:spcAft>
              <a:buClr>
                <a:schemeClr val="dk1"/>
              </a:buClr>
              <a:buSzPts val="2000"/>
              <a:buChar char="•"/>
            </a:pPr>
            <a:r>
              <a:rPr lang="en-US"/>
              <a:t>Create a new relation</a:t>
            </a:r>
            <a:endParaRPr/>
          </a:p>
          <a:p>
            <a:pPr indent="-228600" lvl="2" marL="1143000" rtl="0" algn="l">
              <a:lnSpc>
                <a:spcPct val="90000"/>
              </a:lnSpc>
              <a:spcBef>
                <a:spcPts val="500"/>
              </a:spcBef>
              <a:spcAft>
                <a:spcPts val="0"/>
              </a:spcAft>
              <a:buClr>
                <a:schemeClr val="dk1"/>
              </a:buClr>
              <a:buSzPts val="2000"/>
              <a:buChar char="•"/>
            </a:pPr>
            <a:r>
              <a:rPr lang="en-US"/>
              <a:t>Primary key of </a:t>
            </a:r>
            <a:r>
              <a:rPr i="1" lang="en-US"/>
              <a:t>R</a:t>
            </a:r>
            <a:r>
              <a:rPr lang="en-US"/>
              <a:t> is the combination of </a:t>
            </a:r>
            <a:r>
              <a:rPr i="1" lang="en-US"/>
              <a:t>A</a:t>
            </a:r>
            <a:r>
              <a:rPr lang="en-US"/>
              <a:t> and </a:t>
            </a:r>
            <a:r>
              <a:rPr i="1" lang="en-US"/>
              <a:t>K</a:t>
            </a:r>
            <a:endParaRPr/>
          </a:p>
          <a:p>
            <a:pPr indent="-228600" lvl="2" marL="1143000" rtl="0" algn="l">
              <a:lnSpc>
                <a:spcPct val="90000"/>
              </a:lnSpc>
              <a:spcBef>
                <a:spcPts val="500"/>
              </a:spcBef>
              <a:spcAft>
                <a:spcPts val="0"/>
              </a:spcAft>
              <a:buClr>
                <a:schemeClr val="dk1"/>
              </a:buClr>
              <a:buSzPts val="2000"/>
              <a:buChar char="•"/>
            </a:pPr>
            <a:r>
              <a:rPr lang="en-US"/>
              <a:t>If the multivalued attribute is composite, include its simple components</a:t>
            </a:r>
            <a:endParaRPr/>
          </a:p>
        </p:txBody>
      </p:sp>
      <p:sp>
        <p:nvSpPr>
          <p:cNvPr id="1656" name="Google Shape;1656;p8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0" name="Shape 1660"/>
        <p:cNvGrpSpPr/>
        <p:nvPr/>
      </p:nvGrpSpPr>
      <p:grpSpPr>
        <a:xfrm>
          <a:off x="0" y="0"/>
          <a:ext cx="0" cy="0"/>
          <a:chOff x="0" y="0"/>
          <a:chExt cx="0" cy="0"/>
        </a:xfrm>
      </p:grpSpPr>
      <p:sp>
        <p:nvSpPr>
          <p:cNvPr id="1661" name="Google Shape;1661;p8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ER-to-Relational Mapping Algorithm (cont’d.)</a:t>
            </a:r>
            <a:endParaRPr/>
          </a:p>
        </p:txBody>
      </p:sp>
      <p:sp>
        <p:nvSpPr>
          <p:cNvPr id="1662" name="Google Shape;1662;p8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Step 7: Mapping of </a:t>
            </a:r>
            <a:r>
              <a:rPr i="1" lang="en-US"/>
              <a:t>N</a:t>
            </a:r>
            <a:r>
              <a:rPr lang="en-US"/>
              <a:t>-ary Relationship Types</a:t>
            </a:r>
            <a:endParaRPr/>
          </a:p>
          <a:p>
            <a:pPr indent="-228600" lvl="1" marL="685800" rtl="0" algn="l">
              <a:lnSpc>
                <a:spcPct val="90000"/>
              </a:lnSpc>
              <a:spcBef>
                <a:spcPts val="500"/>
              </a:spcBef>
              <a:spcAft>
                <a:spcPts val="0"/>
              </a:spcAft>
              <a:buClr>
                <a:schemeClr val="dk1"/>
              </a:buClr>
              <a:buSzPts val="2400"/>
              <a:buChar char="•"/>
            </a:pPr>
            <a:r>
              <a:rPr lang="en-US"/>
              <a:t>For each </a:t>
            </a:r>
            <a:r>
              <a:rPr i="1" lang="en-US"/>
              <a:t>n</a:t>
            </a:r>
            <a:r>
              <a:rPr lang="en-US"/>
              <a:t>-ary relationship type </a:t>
            </a:r>
            <a:r>
              <a:rPr i="1" lang="en-US"/>
              <a:t>R</a:t>
            </a:r>
            <a:endParaRPr/>
          </a:p>
          <a:p>
            <a:pPr indent="-228600" lvl="2" marL="1143000" rtl="0" algn="l">
              <a:lnSpc>
                <a:spcPct val="90000"/>
              </a:lnSpc>
              <a:spcBef>
                <a:spcPts val="500"/>
              </a:spcBef>
              <a:spcAft>
                <a:spcPts val="0"/>
              </a:spcAft>
              <a:buClr>
                <a:schemeClr val="dk1"/>
              </a:buClr>
              <a:buSzPts val="2000"/>
              <a:buChar char="•"/>
            </a:pPr>
            <a:r>
              <a:rPr lang="en-US"/>
              <a:t>Create a new relation </a:t>
            </a:r>
            <a:r>
              <a:rPr i="1" lang="en-US"/>
              <a:t>S</a:t>
            </a:r>
            <a:r>
              <a:rPr lang="en-US"/>
              <a:t> to represent </a:t>
            </a:r>
            <a:r>
              <a:rPr i="1" lang="en-US"/>
              <a:t>R</a:t>
            </a:r>
            <a:endParaRPr/>
          </a:p>
          <a:p>
            <a:pPr indent="-228600" lvl="2" marL="1143000" rtl="0" algn="l">
              <a:lnSpc>
                <a:spcPct val="90000"/>
              </a:lnSpc>
              <a:spcBef>
                <a:spcPts val="500"/>
              </a:spcBef>
              <a:spcAft>
                <a:spcPts val="0"/>
              </a:spcAft>
              <a:buClr>
                <a:schemeClr val="dk1"/>
              </a:buClr>
              <a:buSzPts val="2000"/>
              <a:buChar char="•"/>
            </a:pPr>
            <a:r>
              <a:rPr lang="en-US"/>
              <a:t>Include primary keys of participating entity types as foreign keys</a:t>
            </a:r>
            <a:endParaRPr/>
          </a:p>
          <a:p>
            <a:pPr indent="-228600" lvl="2" marL="1143000" rtl="0" algn="l">
              <a:lnSpc>
                <a:spcPct val="90000"/>
              </a:lnSpc>
              <a:spcBef>
                <a:spcPts val="500"/>
              </a:spcBef>
              <a:spcAft>
                <a:spcPts val="0"/>
              </a:spcAft>
              <a:buClr>
                <a:schemeClr val="dk1"/>
              </a:buClr>
              <a:buSzPts val="2000"/>
              <a:buChar char="•"/>
            </a:pPr>
            <a:r>
              <a:rPr lang="en-US"/>
              <a:t>Include any simple attributes as attributes </a:t>
            </a:r>
            <a:endParaRPr/>
          </a:p>
        </p:txBody>
      </p:sp>
      <p:sp>
        <p:nvSpPr>
          <p:cNvPr id="1663" name="Google Shape;1663;p8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7" name="Shape 1667"/>
        <p:cNvGrpSpPr/>
        <p:nvPr/>
      </p:nvGrpSpPr>
      <p:grpSpPr>
        <a:xfrm>
          <a:off x="0" y="0"/>
          <a:ext cx="0" cy="0"/>
          <a:chOff x="0" y="0"/>
          <a:chExt cx="0" cy="0"/>
        </a:xfrm>
      </p:grpSpPr>
      <p:sp>
        <p:nvSpPr>
          <p:cNvPr id="1668" name="Google Shape;1668;p8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Discussion and Summary of Mapping for ER Model Constructs</a:t>
            </a:r>
            <a:endParaRPr/>
          </a:p>
        </p:txBody>
      </p:sp>
      <p:sp>
        <p:nvSpPr>
          <p:cNvPr id="1669" name="Google Shape;1669;p8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670" name="Google Shape;1670;p88"/>
          <p:cNvPicPr preferRelativeResize="0"/>
          <p:nvPr/>
        </p:nvPicPr>
        <p:blipFill rotWithShape="1">
          <a:blip r:embed="rId3">
            <a:alphaModFix/>
          </a:blip>
          <a:srcRect b="0" l="0" r="0" t="0"/>
          <a:stretch/>
        </p:blipFill>
        <p:spPr>
          <a:xfrm>
            <a:off x="2743200" y="2438401"/>
            <a:ext cx="6534150" cy="3267075"/>
          </a:xfrm>
          <a:prstGeom prst="rect">
            <a:avLst/>
          </a:prstGeom>
          <a:noFill/>
          <a:ln>
            <a:noFill/>
          </a:ln>
        </p:spPr>
      </p:pic>
      <p:sp>
        <p:nvSpPr>
          <p:cNvPr id="1671" name="Google Shape;1671;p8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5" name="Shape 1675"/>
        <p:cNvGrpSpPr/>
        <p:nvPr/>
      </p:nvGrpSpPr>
      <p:grpSpPr>
        <a:xfrm>
          <a:off x="0" y="0"/>
          <a:ext cx="0" cy="0"/>
          <a:chOff x="0" y="0"/>
          <a:chExt cx="0" cy="0"/>
        </a:xfrm>
      </p:grpSpPr>
      <p:pic>
        <p:nvPicPr>
          <p:cNvPr id="1676" name="Google Shape;1676;p89"/>
          <p:cNvPicPr preferRelativeResize="0"/>
          <p:nvPr/>
        </p:nvPicPr>
        <p:blipFill rotWithShape="1">
          <a:blip r:embed="rId3">
            <a:alphaModFix/>
          </a:blip>
          <a:srcRect b="0" l="0" r="0" t="0"/>
          <a:stretch/>
        </p:blipFill>
        <p:spPr>
          <a:xfrm>
            <a:off x="1981201" y="685801"/>
            <a:ext cx="8029575" cy="5286375"/>
          </a:xfrm>
          <a:prstGeom prst="rect">
            <a:avLst/>
          </a:prstGeom>
          <a:noFill/>
          <a:ln>
            <a:noFill/>
          </a:ln>
        </p:spPr>
      </p:pic>
      <p:sp>
        <p:nvSpPr>
          <p:cNvPr id="1677" name="Google Shape;1677;p8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1" name="Shape 1681"/>
        <p:cNvGrpSpPr/>
        <p:nvPr/>
      </p:nvGrpSpPr>
      <p:grpSpPr>
        <a:xfrm>
          <a:off x="0" y="0"/>
          <a:ext cx="0" cy="0"/>
          <a:chOff x="0" y="0"/>
          <a:chExt cx="0" cy="0"/>
        </a:xfrm>
      </p:grpSpPr>
      <p:sp>
        <p:nvSpPr>
          <p:cNvPr id="1682" name="Google Shape;1682;p9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Mapping Summary</a:t>
            </a:r>
            <a:endParaRPr/>
          </a:p>
        </p:txBody>
      </p:sp>
      <p:sp>
        <p:nvSpPr>
          <p:cNvPr id="1683" name="Google Shape;1683;p9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Entity set -&gt; table</a:t>
            </a:r>
            <a:endParaRPr/>
          </a:p>
          <a:p>
            <a:pPr indent="-228600" lvl="0" marL="228600" rtl="0" algn="l">
              <a:lnSpc>
                <a:spcPct val="90000"/>
              </a:lnSpc>
              <a:spcBef>
                <a:spcPts val="1000"/>
              </a:spcBef>
              <a:spcAft>
                <a:spcPts val="0"/>
              </a:spcAft>
              <a:buClr>
                <a:schemeClr val="dk1"/>
              </a:buClr>
              <a:buSzPct val="100000"/>
              <a:buChar char="•"/>
            </a:pPr>
            <a:r>
              <a:rPr lang="en-US"/>
              <a:t>Single attribute 🡪 table attribute (column)</a:t>
            </a:r>
            <a:endParaRPr/>
          </a:p>
          <a:p>
            <a:pPr indent="-228600" lvl="0" marL="228600" rtl="0" algn="l">
              <a:lnSpc>
                <a:spcPct val="90000"/>
              </a:lnSpc>
              <a:spcBef>
                <a:spcPts val="1000"/>
              </a:spcBef>
              <a:spcAft>
                <a:spcPts val="0"/>
              </a:spcAft>
              <a:buClr>
                <a:schemeClr val="dk1"/>
              </a:buClr>
              <a:buSzPct val="100000"/>
              <a:buChar char="•"/>
            </a:pPr>
            <a:r>
              <a:rPr lang="en-US"/>
              <a:t>Multivalued Attribute-&gt; table (with the primary key of the entity set and the attribute)</a:t>
            </a:r>
            <a:endParaRPr/>
          </a:p>
          <a:p>
            <a:pPr indent="-228600" lvl="0" marL="228600" rtl="0" algn="l">
              <a:lnSpc>
                <a:spcPct val="90000"/>
              </a:lnSpc>
              <a:spcBef>
                <a:spcPts val="1000"/>
              </a:spcBef>
              <a:spcAft>
                <a:spcPts val="0"/>
              </a:spcAft>
              <a:buClr>
                <a:schemeClr val="dk1"/>
              </a:buClr>
              <a:buSzPct val="100000"/>
              <a:buChar char="•"/>
            </a:pPr>
            <a:r>
              <a:rPr lang="en-US"/>
              <a:t>Derived Attributes 🡪 nothing</a:t>
            </a:r>
            <a:endParaRPr/>
          </a:p>
          <a:p>
            <a:pPr indent="-228600" lvl="0" marL="228600" rtl="0" algn="l">
              <a:lnSpc>
                <a:spcPct val="90000"/>
              </a:lnSpc>
              <a:spcBef>
                <a:spcPts val="1000"/>
              </a:spcBef>
              <a:spcAft>
                <a:spcPts val="0"/>
              </a:spcAft>
              <a:buClr>
                <a:schemeClr val="dk1"/>
              </a:buClr>
              <a:buSzPct val="100000"/>
              <a:buChar char="•"/>
            </a:pPr>
            <a:r>
              <a:rPr lang="en-US"/>
              <a:t>Many to many binary (or unary) relationship 🡪 table</a:t>
            </a:r>
            <a:endParaRPr/>
          </a:p>
          <a:p>
            <a:pPr indent="-228600" lvl="0" marL="228600" rtl="0" algn="l">
              <a:lnSpc>
                <a:spcPct val="90000"/>
              </a:lnSpc>
              <a:spcBef>
                <a:spcPts val="1000"/>
              </a:spcBef>
              <a:spcAft>
                <a:spcPts val="0"/>
              </a:spcAft>
              <a:buClr>
                <a:schemeClr val="dk1"/>
              </a:buClr>
              <a:buSzPct val="100000"/>
              <a:buChar char="•"/>
            </a:pPr>
            <a:r>
              <a:rPr lang="en-US"/>
              <a:t>1-1 or 1-many binary (or unary) relationship -&gt; attribute to the one side</a:t>
            </a:r>
            <a:endParaRPr/>
          </a:p>
          <a:p>
            <a:pPr indent="-228600" lvl="0" marL="228600" rtl="0" algn="l">
              <a:lnSpc>
                <a:spcPct val="90000"/>
              </a:lnSpc>
              <a:spcBef>
                <a:spcPts val="1000"/>
              </a:spcBef>
              <a:spcAft>
                <a:spcPts val="0"/>
              </a:spcAft>
              <a:buClr>
                <a:schemeClr val="dk1"/>
              </a:buClr>
              <a:buSzPct val="100000"/>
              <a:buChar char="•"/>
            </a:pPr>
            <a:r>
              <a:rPr lang="en-US"/>
              <a:t>3-way or more relationship 🡪 table</a:t>
            </a:r>
            <a:endParaRPr/>
          </a:p>
          <a:p>
            <a:pPr indent="-228600" lvl="0" marL="228600" rtl="0" algn="l">
              <a:lnSpc>
                <a:spcPct val="90000"/>
              </a:lnSpc>
              <a:spcBef>
                <a:spcPts val="1000"/>
              </a:spcBef>
              <a:spcAft>
                <a:spcPts val="0"/>
              </a:spcAft>
              <a:buClr>
                <a:schemeClr val="dk1"/>
              </a:buClr>
              <a:buSzPct val="100000"/>
              <a:buChar char="•"/>
            </a:pPr>
            <a:r>
              <a:rPr lang="en-US"/>
              <a:t>Total participation 🡪 NOT NULL</a:t>
            </a:r>
            <a:endParaRPr/>
          </a:p>
        </p:txBody>
      </p:sp>
      <p:sp>
        <p:nvSpPr>
          <p:cNvPr id="1684" name="Google Shape;1684;p9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8" name="Shape 1688"/>
        <p:cNvGrpSpPr/>
        <p:nvPr/>
      </p:nvGrpSpPr>
      <p:grpSpPr>
        <a:xfrm>
          <a:off x="0" y="0"/>
          <a:ext cx="0" cy="0"/>
          <a:chOff x="0" y="0"/>
          <a:chExt cx="0" cy="0"/>
        </a:xfrm>
      </p:grpSpPr>
      <p:sp>
        <p:nvSpPr>
          <p:cNvPr id="1689" name="Google Shape;1689;p9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in Class</a:t>
            </a:r>
            <a:endParaRPr/>
          </a:p>
        </p:txBody>
      </p:sp>
      <p:sp>
        <p:nvSpPr>
          <p:cNvPr id="1690" name="Google Shape;1690;p91"/>
          <p:cNvSpPr/>
          <p:nvPr/>
        </p:nvSpPr>
        <p:spPr>
          <a:xfrm>
            <a:off x="3112477" y="3147646"/>
            <a:ext cx="914400" cy="914400"/>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Dept</a:t>
            </a:r>
            <a:endParaRPr/>
          </a:p>
        </p:txBody>
      </p:sp>
      <p:sp>
        <p:nvSpPr>
          <p:cNvPr id="1691" name="Google Shape;1691;p91"/>
          <p:cNvSpPr/>
          <p:nvPr/>
        </p:nvSpPr>
        <p:spPr>
          <a:xfrm>
            <a:off x="8165125" y="3147646"/>
            <a:ext cx="914400" cy="914400"/>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Empl</a:t>
            </a:r>
            <a:endParaRPr sz="1800">
              <a:solidFill>
                <a:schemeClr val="lt1"/>
              </a:solidFill>
              <a:latin typeface="Calibri"/>
              <a:ea typeface="Calibri"/>
              <a:cs typeface="Calibri"/>
              <a:sym typeface="Calibri"/>
            </a:endParaRPr>
          </a:p>
        </p:txBody>
      </p:sp>
      <p:sp>
        <p:nvSpPr>
          <p:cNvPr id="1692" name="Google Shape;1692;p91"/>
          <p:cNvSpPr/>
          <p:nvPr/>
        </p:nvSpPr>
        <p:spPr>
          <a:xfrm rot="-2683924">
            <a:off x="5972993" y="2848708"/>
            <a:ext cx="1233589" cy="1132613"/>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manages</a:t>
            </a:r>
            <a:endParaRPr/>
          </a:p>
        </p:txBody>
      </p:sp>
      <p:cxnSp>
        <p:nvCxnSpPr>
          <p:cNvPr id="1693" name="Google Shape;1693;p91"/>
          <p:cNvCxnSpPr>
            <a:endCxn id="1691" idx="1"/>
          </p:cNvCxnSpPr>
          <p:nvPr/>
        </p:nvCxnSpPr>
        <p:spPr>
          <a:xfrm>
            <a:off x="7199725" y="3604846"/>
            <a:ext cx="965400" cy="0"/>
          </a:xfrm>
          <a:prstGeom prst="straightConnector1">
            <a:avLst/>
          </a:prstGeom>
          <a:noFill/>
          <a:ln cap="flat" cmpd="sng" w="9525">
            <a:solidFill>
              <a:schemeClr val="accent1"/>
            </a:solidFill>
            <a:prstDash val="solid"/>
            <a:miter lim="800000"/>
            <a:headEnd len="sm" w="sm" type="none"/>
            <a:tailEnd len="sm" w="sm" type="none"/>
          </a:ln>
        </p:spPr>
      </p:cxnSp>
      <p:cxnSp>
        <p:nvCxnSpPr>
          <p:cNvPr id="1694" name="Google Shape;1694;p91"/>
          <p:cNvCxnSpPr>
            <a:stCxn id="1690" idx="3"/>
          </p:cNvCxnSpPr>
          <p:nvPr/>
        </p:nvCxnSpPr>
        <p:spPr>
          <a:xfrm>
            <a:off x="4026877" y="3604846"/>
            <a:ext cx="1879800" cy="0"/>
          </a:xfrm>
          <a:prstGeom prst="straightConnector1">
            <a:avLst/>
          </a:prstGeom>
          <a:noFill/>
          <a:ln cap="flat" cmpd="sng" w="28575">
            <a:solidFill>
              <a:schemeClr val="accent1"/>
            </a:solidFill>
            <a:prstDash val="solid"/>
            <a:miter lim="800000"/>
            <a:headEnd len="sm" w="sm" type="none"/>
            <a:tailEnd len="lg" w="lg" type="triangle"/>
          </a:ln>
        </p:spPr>
      </p:cxnSp>
      <p:sp>
        <p:nvSpPr>
          <p:cNvPr id="1695" name="Google Shape;1695;p9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9" name="Shape 1699"/>
        <p:cNvGrpSpPr/>
        <p:nvPr/>
      </p:nvGrpSpPr>
      <p:grpSpPr>
        <a:xfrm>
          <a:off x="0" y="0"/>
          <a:ext cx="0" cy="0"/>
          <a:chOff x="0" y="0"/>
          <a:chExt cx="0" cy="0"/>
        </a:xfrm>
      </p:grpSpPr>
      <p:sp>
        <p:nvSpPr>
          <p:cNvPr id="1700" name="Google Shape;1700;p9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in Class</a:t>
            </a:r>
            <a:endParaRPr/>
          </a:p>
        </p:txBody>
      </p:sp>
      <p:sp>
        <p:nvSpPr>
          <p:cNvPr id="1701" name="Google Shape;1701;p9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CREATE TABLE Dept(</a:t>
            </a:r>
            <a:endParaRPr/>
          </a:p>
          <a:p>
            <a:pPr indent="0" lvl="1" marL="457200" rtl="0" algn="l">
              <a:lnSpc>
                <a:spcPct val="90000"/>
              </a:lnSpc>
              <a:spcBef>
                <a:spcPts val="500"/>
              </a:spcBef>
              <a:spcAft>
                <a:spcPts val="0"/>
              </a:spcAft>
              <a:buClr>
                <a:schemeClr val="dk1"/>
              </a:buClr>
              <a:buSzPts val="2400"/>
              <a:buNone/>
            </a:pPr>
            <a:r>
              <a:rPr lang="en-US"/>
              <a:t>name  char(10) ,</a:t>
            </a:r>
            <a:endParaRPr/>
          </a:p>
          <a:p>
            <a:pPr indent="0" lvl="1" marL="457200" rtl="0" algn="l">
              <a:lnSpc>
                <a:spcPct val="90000"/>
              </a:lnSpc>
              <a:spcBef>
                <a:spcPts val="500"/>
              </a:spcBef>
              <a:spcAft>
                <a:spcPts val="0"/>
              </a:spcAft>
              <a:buClr>
                <a:schemeClr val="dk1"/>
              </a:buClr>
              <a:buSzPts val="2400"/>
              <a:buNone/>
            </a:pPr>
            <a:r>
              <a:rPr lang="en-US"/>
              <a:t>budget decimal(10,2),</a:t>
            </a:r>
            <a:endParaRPr/>
          </a:p>
          <a:p>
            <a:pPr indent="0" lvl="1" marL="457200" rtl="0" algn="l">
              <a:lnSpc>
                <a:spcPct val="90000"/>
              </a:lnSpc>
              <a:spcBef>
                <a:spcPts val="500"/>
              </a:spcBef>
              <a:spcAft>
                <a:spcPts val="0"/>
              </a:spcAft>
              <a:buClr>
                <a:schemeClr val="dk1"/>
              </a:buClr>
              <a:buSzPts val="2400"/>
              <a:buNone/>
            </a:pPr>
            <a:r>
              <a:rPr lang="en-US"/>
              <a:t>managerSSN char(10) NOT NULL /*Total Particpation*/,</a:t>
            </a:r>
            <a:endParaRPr/>
          </a:p>
          <a:p>
            <a:pPr indent="0" lvl="1" marL="457200" rtl="0" algn="l">
              <a:lnSpc>
                <a:spcPct val="90000"/>
              </a:lnSpc>
              <a:spcBef>
                <a:spcPts val="500"/>
              </a:spcBef>
              <a:spcAft>
                <a:spcPts val="0"/>
              </a:spcAft>
              <a:buClr>
                <a:schemeClr val="dk1"/>
              </a:buClr>
              <a:buSzPts val="2400"/>
              <a:buNone/>
            </a:pPr>
            <a:r>
              <a:rPr lang="en-US"/>
              <a:t>foreign key managerSSN references Person(ssn),</a:t>
            </a:r>
            <a:endParaRPr/>
          </a:p>
          <a:p>
            <a:pPr indent="0" lvl="1" marL="457200" rtl="0" algn="l">
              <a:lnSpc>
                <a:spcPct val="90000"/>
              </a:lnSpc>
              <a:spcBef>
                <a:spcPts val="500"/>
              </a:spcBef>
              <a:spcAft>
                <a:spcPts val="0"/>
              </a:spcAft>
              <a:buClr>
                <a:schemeClr val="dk1"/>
              </a:buClr>
              <a:buSzPts val="2400"/>
              <a:buNone/>
            </a:pPr>
            <a:r>
              <a:rPr lang="en-US"/>
              <a:t>managerstartdate date</a:t>
            </a:r>
            <a:endParaRPr/>
          </a:p>
          <a:p>
            <a:pPr indent="0" lvl="1" marL="457200" rtl="0" algn="l">
              <a:lnSpc>
                <a:spcPct val="90000"/>
              </a:lnSpc>
              <a:spcBef>
                <a:spcPts val="500"/>
              </a:spcBef>
              <a:spcAft>
                <a:spcPts val="0"/>
              </a:spcAft>
              <a:buClr>
                <a:schemeClr val="dk1"/>
              </a:buClr>
              <a:buSzPts val="2400"/>
              <a:buNone/>
            </a:pPr>
            <a:r>
              <a:rPr lang="en-US"/>
              <a:t>Primary Key(name)</a:t>
            </a:r>
            <a:endParaRPr/>
          </a:p>
          <a:p>
            <a:pPr indent="0" lvl="0" marL="0" rtl="0" algn="l">
              <a:lnSpc>
                <a:spcPct val="90000"/>
              </a:lnSpc>
              <a:spcBef>
                <a:spcPts val="1000"/>
              </a:spcBef>
              <a:spcAft>
                <a:spcPts val="0"/>
              </a:spcAft>
              <a:buClr>
                <a:schemeClr val="dk1"/>
              </a:buClr>
              <a:buSzPts val="2800"/>
              <a:buNone/>
            </a:pPr>
            <a:r>
              <a:rPr lang="en-US"/>
              <a:t>);</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702" name="Google Shape;1702;p9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6" name="Shape 1706"/>
        <p:cNvGrpSpPr/>
        <p:nvPr/>
      </p:nvGrpSpPr>
      <p:grpSpPr>
        <a:xfrm>
          <a:off x="0" y="0"/>
          <a:ext cx="0" cy="0"/>
          <a:chOff x="0" y="0"/>
          <a:chExt cx="0" cy="0"/>
        </a:xfrm>
      </p:grpSpPr>
      <p:sp>
        <p:nvSpPr>
          <p:cNvPr id="1707" name="Google Shape;1707;p9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708" name="Google Shape;1708;p9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 no longer needed*/ Not Recommended</a:t>
            </a:r>
            <a:endParaRPr/>
          </a:p>
          <a:p>
            <a:pPr indent="0" lvl="0" marL="0" rtl="0" algn="l">
              <a:lnSpc>
                <a:spcPct val="90000"/>
              </a:lnSpc>
              <a:spcBef>
                <a:spcPts val="1000"/>
              </a:spcBef>
              <a:spcAft>
                <a:spcPts val="0"/>
              </a:spcAft>
              <a:buClr>
                <a:schemeClr val="dk1"/>
              </a:buClr>
              <a:buSzPts val="2800"/>
              <a:buNone/>
            </a:pPr>
            <a:r>
              <a:rPr lang="en-US"/>
              <a:t>CREATE TABLE Manages(</a:t>
            </a:r>
            <a:endParaRPr/>
          </a:p>
          <a:p>
            <a:pPr indent="0" lvl="0" marL="0" rtl="0" algn="l">
              <a:lnSpc>
                <a:spcPct val="90000"/>
              </a:lnSpc>
              <a:spcBef>
                <a:spcPts val="1000"/>
              </a:spcBef>
              <a:spcAft>
                <a:spcPts val="0"/>
              </a:spcAft>
              <a:buClr>
                <a:schemeClr val="dk1"/>
              </a:buClr>
              <a:buSzPts val="2800"/>
              <a:buNone/>
            </a:pPr>
            <a:r>
              <a:rPr lang="en-US"/>
              <a:t>managerSSN char(10),</a:t>
            </a:r>
            <a:endParaRPr/>
          </a:p>
          <a:p>
            <a:pPr indent="0" lvl="0" marL="0" rtl="0" algn="l">
              <a:lnSpc>
                <a:spcPct val="90000"/>
              </a:lnSpc>
              <a:spcBef>
                <a:spcPts val="1000"/>
              </a:spcBef>
              <a:spcAft>
                <a:spcPts val="0"/>
              </a:spcAft>
              <a:buClr>
                <a:schemeClr val="dk1"/>
              </a:buClr>
              <a:buSzPts val="2800"/>
              <a:buNone/>
            </a:pPr>
            <a:r>
              <a:rPr lang="en-US"/>
              <a:t>deptname char(10),</a:t>
            </a:r>
            <a:endParaRPr/>
          </a:p>
          <a:p>
            <a:pPr indent="0" lvl="0" marL="0" rtl="0" algn="l">
              <a:lnSpc>
                <a:spcPct val="90000"/>
              </a:lnSpc>
              <a:spcBef>
                <a:spcPts val="1000"/>
              </a:spcBef>
              <a:spcAft>
                <a:spcPts val="0"/>
              </a:spcAft>
              <a:buClr>
                <a:schemeClr val="dk1"/>
              </a:buClr>
              <a:buSzPts val="2800"/>
              <a:buNone/>
            </a:pPr>
            <a:r>
              <a:rPr lang="en-US"/>
              <a:t>startdate DATE,</a:t>
            </a:r>
            <a:endParaRPr/>
          </a:p>
          <a:p>
            <a:pPr indent="0" lvl="0" marL="0" rtl="0" algn="l">
              <a:lnSpc>
                <a:spcPct val="90000"/>
              </a:lnSpc>
              <a:spcBef>
                <a:spcPts val="1000"/>
              </a:spcBef>
              <a:spcAft>
                <a:spcPts val="0"/>
              </a:spcAft>
              <a:buClr>
                <a:schemeClr val="dk1"/>
              </a:buClr>
              <a:buSzPts val="2800"/>
              <a:buNone/>
            </a:pPr>
            <a:r>
              <a:rPr lang="en-US"/>
              <a:t>Primary key (managerSSN,deptname),</a:t>
            </a:r>
            <a:endParaRPr/>
          </a:p>
          <a:p>
            <a:pPr indent="0" lvl="0" marL="0" rtl="0" algn="l">
              <a:lnSpc>
                <a:spcPct val="90000"/>
              </a:lnSpc>
              <a:spcBef>
                <a:spcPts val="1000"/>
              </a:spcBef>
              <a:spcAft>
                <a:spcPts val="0"/>
              </a:spcAft>
              <a:buClr>
                <a:schemeClr val="dk1"/>
              </a:buClr>
              <a:buSzPts val="2800"/>
              <a:buNone/>
            </a:pPr>
            <a:r>
              <a:rPr lang="en-US"/>
              <a:t>Foreign Key deptname references dept(name),</a:t>
            </a:r>
            <a:endParaRPr/>
          </a:p>
          <a:p>
            <a:pPr indent="0" lvl="0" marL="0" rtl="0" algn="l">
              <a:lnSpc>
                <a:spcPct val="90000"/>
              </a:lnSpc>
              <a:spcBef>
                <a:spcPts val="1000"/>
              </a:spcBef>
              <a:spcAft>
                <a:spcPts val="0"/>
              </a:spcAft>
              <a:buClr>
                <a:schemeClr val="dk1"/>
              </a:buClr>
              <a:buSzPts val="2800"/>
              <a:buNone/>
            </a:pPr>
            <a:r>
              <a:rPr lang="en-US"/>
              <a:t>Foreign Key managerSSN references person(ssn)</a:t>
            </a:r>
            <a:endParaRPr/>
          </a:p>
          <a:p>
            <a:pPr indent="0" lvl="0" marL="0" rtl="0" algn="l">
              <a:lnSpc>
                <a:spcPct val="90000"/>
              </a:lnSpc>
              <a:spcBef>
                <a:spcPts val="1000"/>
              </a:spcBef>
              <a:spcAft>
                <a:spcPts val="0"/>
              </a:spcAft>
              <a:buClr>
                <a:schemeClr val="dk1"/>
              </a:buClr>
              <a:buSzPts val="2800"/>
              <a:buNone/>
            </a:pPr>
            <a:r>
              <a:rPr lang="en-US"/>
              <a:t>)</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709" name="Google Shape;1709;p9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3" name="Shape 1713"/>
        <p:cNvGrpSpPr/>
        <p:nvPr/>
      </p:nvGrpSpPr>
      <p:grpSpPr>
        <a:xfrm>
          <a:off x="0" y="0"/>
          <a:ext cx="0" cy="0"/>
          <a:chOff x="0" y="0"/>
          <a:chExt cx="0" cy="0"/>
        </a:xfrm>
      </p:grpSpPr>
      <p:sp>
        <p:nvSpPr>
          <p:cNvPr id="1714" name="Google Shape;1714;p9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715" name="Google Shape;1715;p9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CREATE TABLE Person(</a:t>
            </a:r>
            <a:endParaRPr/>
          </a:p>
          <a:p>
            <a:pPr indent="0" lvl="0" marL="0" rtl="0" algn="l">
              <a:lnSpc>
                <a:spcPct val="90000"/>
              </a:lnSpc>
              <a:spcBef>
                <a:spcPts val="1000"/>
              </a:spcBef>
              <a:spcAft>
                <a:spcPts val="0"/>
              </a:spcAft>
              <a:buClr>
                <a:schemeClr val="dk1"/>
              </a:buClr>
              <a:buSzPts val="2800"/>
              <a:buNone/>
            </a:pPr>
            <a:r>
              <a:rPr lang="en-US"/>
              <a:t>name  varchar(100) not null,</a:t>
            </a:r>
            <a:endParaRPr/>
          </a:p>
          <a:p>
            <a:pPr indent="0" lvl="0" marL="0" rtl="0" algn="l">
              <a:lnSpc>
                <a:spcPct val="90000"/>
              </a:lnSpc>
              <a:spcBef>
                <a:spcPts val="1000"/>
              </a:spcBef>
              <a:spcAft>
                <a:spcPts val="0"/>
              </a:spcAft>
              <a:buClr>
                <a:schemeClr val="dk1"/>
              </a:buClr>
              <a:buSzPts val="2800"/>
              <a:buNone/>
            </a:pPr>
            <a:r>
              <a:rPr lang="en-US"/>
              <a:t>salary decimal(10,2),</a:t>
            </a:r>
            <a:endParaRPr/>
          </a:p>
          <a:p>
            <a:pPr indent="0" lvl="0" marL="0" rtl="0" algn="l">
              <a:lnSpc>
                <a:spcPct val="90000"/>
              </a:lnSpc>
              <a:spcBef>
                <a:spcPts val="1000"/>
              </a:spcBef>
              <a:spcAft>
                <a:spcPts val="0"/>
              </a:spcAft>
              <a:buClr>
                <a:schemeClr val="dk1"/>
              </a:buClr>
              <a:buSzPts val="2800"/>
              <a:buNone/>
            </a:pPr>
            <a:r>
              <a:rPr lang="en-US"/>
              <a:t>SSN char(10),</a:t>
            </a:r>
            <a:endParaRPr/>
          </a:p>
          <a:p>
            <a:pPr indent="0" lvl="0" marL="0" rtl="0" algn="l">
              <a:lnSpc>
                <a:spcPct val="90000"/>
              </a:lnSpc>
              <a:spcBef>
                <a:spcPts val="1000"/>
              </a:spcBef>
              <a:spcAft>
                <a:spcPts val="0"/>
              </a:spcAft>
              <a:buClr>
                <a:schemeClr val="dk1"/>
              </a:buClr>
              <a:buSzPts val="2800"/>
              <a:buNone/>
            </a:pPr>
            <a:r>
              <a:rPr lang="en-US"/>
              <a:t>unique(name),</a:t>
            </a:r>
            <a:endParaRPr/>
          </a:p>
          <a:p>
            <a:pPr indent="0" lvl="0" marL="0" rtl="0" algn="l">
              <a:lnSpc>
                <a:spcPct val="90000"/>
              </a:lnSpc>
              <a:spcBef>
                <a:spcPts val="1000"/>
              </a:spcBef>
              <a:spcAft>
                <a:spcPts val="0"/>
              </a:spcAft>
              <a:buClr>
                <a:schemeClr val="dk1"/>
              </a:buClr>
              <a:buSzPts val="2800"/>
              <a:buNone/>
            </a:pPr>
            <a:r>
              <a:rPr lang="en-US"/>
              <a:t>Primary Key(ssn)</a:t>
            </a:r>
            <a:endParaRPr/>
          </a:p>
          <a:p>
            <a:pPr indent="0" lvl="0" marL="0" rtl="0" algn="l">
              <a:lnSpc>
                <a:spcPct val="90000"/>
              </a:lnSpc>
              <a:spcBef>
                <a:spcPts val="1000"/>
              </a:spcBef>
              <a:spcAft>
                <a:spcPts val="0"/>
              </a:spcAft>
              <a:buClr>
                <a:schemeClr val="dk1"/>
              </a:buClr>
              <a:buSzPts val="2800"/>
              <a:buNone/>
            </a:pPr>
            <a:r>
              <a:rPr lang="en-US"/>
              <a:t>);</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716" name="Google Shape;1716;p9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0" name="Shape 1720"/>
        <p:cNvGrpSpPr/>
        <p:nvPr/>
      </p:nvGrpSpPr>
      <p:grpSpPr>
        <a:xfrm>
          <a:off x="0" y="0"/>
          <a:ext cx="0" cy="0"/>
          <a:chOff x="0" y="0"/>
          <a:chExt cx="0" cy="0"/>
        </a:xfrm>
      </p:grpSpPr>
      <p:sp>
        <p:nvSpPr>
          <p:cNvPr id="1721" name="Google Shape;1721;p9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3. Advanced E/R Concepts (EERD)</a:t>
            </a:r>
            <a:endParaRPr/>
          </a:p>
        </p:txBody>
      </p:sp>
      <p:sp>
        <p:nvSpPr>
          <p:cNvPr id="1722" name="Google Shape;1722;p9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7" name="Shape 1727"/>
        <p:cNvGrpSpPr/>
        <p:nvPr/>
      </p:nvGrpSpPr>
      <p:grpSpPr>
        <a:xfrm>
          <a:off x="0" y="0"/>
          <a:ext cx="0" cy="0"/>
          <a:chOff x="0" y="0"/>
          <a:chExt cx="0" cy="0"/>
        </a:xfrm>
      </p:grpSpPr>
      <p:sp>
        <p:nvSpPr>
          <p:cNvPr id="1728" name="Google Shape;1728;p9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you will learn about in this section</a:t>
            </a:r>
            <a:endParaRPr/>
          </a:p>
        </p:txBody>
      </p:sp>
      <p:sp>
        <p:nvSpPr>
          <p:cNvPr id="1729" name="Google Shape;1729;p96"/>
          <p:cNvSpPr txBox="1"/>
          <p:nvPr>
            <p:ph idx="1" type="body"/>
          </p:nvPr>
        </p:nvSpPr>
        <p:spPr>
          <a:xfrm>
            <a:off x="838200" y="1825624"/>
            <a:ext cx="10515600" cy="4175783"/>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AutoNum type="arabicPeriod"/>
            </a:pPr>
            <a:r>
              <a:rPr lang="en-US">
                <a:latin typeface="Calibri"/>
                <a:ea typeface="Calibri"/>
                <a:cs typeface="Calibri"/>
                <a:sym typeface="Calibri"/>
              </a:rPr>
              <a:t>Subclasses &amp; connection to OO</a:t>
            </a:r>
            <a:endParaRPr/>
          </a:p>
          <a:p>
            <a:pPr indent="-336550" lvl="0" marL="514350" rtl="0" algn="l">
              <a:lnSpc>
                <a:spcPct val="90000"/>
              </a:lnSpc>
              <a:spcBef>
                <a:spcPts val="1000"/>
              </a:spcBef>
              <a:spcAft>
                <a:spcPts val="0"/>
              </a:spcAft>
              <a:buClr>
                <a:schemeClr val="dk1"/>
              </a:buClr>
              <a:buSzPts val="2800"/>
              <a:buNone/>
            </a:pPr>
            <a:r>
              <a:t/>
            </a:r>
            <a:endParaRPr>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AutoNum type="arabicPeriod"/>
            </a:pPr>
            <a:r>
              <a:rPr lang="en-US">
                <a:latin typeface="Calibri"/>
                <a:ea typeface="Calibri"/>
                <a:cs typeface="Calibri"/>
                <a:sym typeface="Calibri"/>
              </a:rPr>
              <a:t>Constraints</a:t>
            </a:r>
            <a:endParaRPr/>
          </a:p>
          <a:p>
            <a:pPr indent="-336550" lvl="0" marL="514350" rtl="0" algn="l">
              <a:lnSpc>
                <a:spcPct val="90000"/>
              </a:lnSpc>
              <a:spcBef>
                <a:spcPts val="1000"/>
              </a:spcBef>
              <a:spcAft>
                <a:spcPts val="0"/>
              </a:spcAft>
              <a:buClr>
                <a:schemeClr val="dk1"/>
              </a:buClr>
              <a:buSzPts val="2800"/>
              <a:buNone/>
            </a:pPr>
            <a:r>
              <a:t/>
            </a:r>
            <a:endParaRPr>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AutoNum type="arabicPeriod"/>
            </a:pPr>
            <a:r>
              <a:rPr lang="en-US">
                <a:latin typeface="Calibri"/>
                <a:ea typeface="Calibri"/>
                <a:cs typeface="Calibri"/>
                <a:sym typeface="Calibri"/>
              </a:rPr>
              <a:t>Weak entity sets</a:t>
            </a:r>
            <a:endParaRPr/>
          </a:p>
          <a:p>
            <a:pPr indent="-336550" lvl="0" marL="514350" rtl="0" algn="l">
              <a:lnSpc>
                <a:spcPct val="90000"/>
              </a:lnSpc>
              <a:spcBef>
                <a:spcPts val="1000"/>
              </a:spcBef>
              <a:spcAft>
                <a:spcPts val="0"/>
              </a:spcAft>
              <a:buClr>
                <a:schemeClr val="dk1"/>
              </a:buClr>
              <a:buSzPts val="2800"/>
              <a:buNone/>
            </a:pPr>
            <a:r>
              <a:t/>
            </a:r>
            <a:endParaRPr>
              <a:latin typeface="Calibri"/>
              <a:ea typeface="Calibri"/>
              <a:cs typeface="Calibri"/>
              <a:sym typeface="Calibri"/>
            </a:endParaRPr>
          </a:p>
        </p:txBody>
      </p:sp>
      <p:sp>
        <p:nvSpPr>
          <p:cNvPr id="1730" name="Google Shape;1730;p9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4" name="Shape 1734"/>
        <p:cNvGrpSpPr/>
        <p:nvPr/>
      </p:nvGrpSpPr>
      <p:grpSpPr>
        <a:xfrm>
          <a:off x="0" y="0"/>
          <a:ext cx="0" cy="0"/>
          <a:chOff x="0" y="0"/>
          <a:chExt cx="0" cy="0"/>
        </a:xfrm>
      </p:grpSpPr>
      <p:sp>
        <p:nvSpPr>
          <p:cNvPr id="1735" name="Google Shape;1735;p9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Modeling Subclasses</a:t>
            </a:r>
            <a:endParaRPr/>
          </a:p>
        </p:txBody>
      </p:sp>
      <p:sp>
        <p:nvSpPr>
          <p:cNvPr id="1736" name="Google Shape;1736;p9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1737" name="Google Shape;1737;p97"/>
          <p:cNvSpPr txBox="1"/>
          <p:nvPr/>
        </p:nvSpPr>
        <p:spPr>
          <a:xfrm>
            <a:off x="923731" y="1793054"/>
            <a:ext cx="10039737" cy="2677656"/>
          </a:xfrm>
          <a:prstGeom prst="rect">
            <a:avLst/>
          </a:prstGeom>
          <a:noFill/>
          <a:ln>
            <a:noFill/>
          </a:ln>
        </p:spPr>
        <p:txBody>
          <a:bodyPr anchorCtr="0" anchor="t" bIns="45700" lIns="91425" spcFirstLastPara="1" rIns="91425" wrap="square" tIns="45700">
            <a:spAutoFit/>
          </a:bodyPr>
          <a:lstStyle/>
          <a:p>
            <a:pPr indent="-342900" lvl="1" marL="457200" marR="0" rtl="0" algn="l">
              <a:spcBef>
                <a:spcPts val="0"/>
              </a:spcBef>
              <a:spcAft>
                <a:spcPts val="0"/>
              </a:spcAft>
              <a:buClr>
                <a:srgbClr val="000000"/>
              </a:buClr>
              <a:buSzPts val="2400"/>
              <a:buFont typeface="Calibri"/>
              <a:buChar char="•"/>
            </a:pPr>
            <a:r>
              <a:rPr b="0" i="0" lang="en-US" sz="2400" u="none" cap="none" strike="noStrike">
                <a:solidFill>
                  <a:srgbClr val="000000"/>
                </a:solidFill>
                <a:latin typeface="Calibri"/>
                <a:ea typeface="Calibri"/>
                <a:cs typeface="Calibri"/>
                <a:sym typeface="Calibri"/>
              </a:rPr>
              <a:t>Some objects in a class may be special, i.e. worthy of their own class</a:t>
            </a:r>
            <a:endParaRPr/>
          </a:p>
          <a:p>
            <a:pPr indent="0" lvl="1" marL="45720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 </a:t>
            </a:r>
            <a:endParaRPr/>
          </a:p>
          <a:p>
            <a:pPr indent="-152400" lvl="1" marL="457200" marR="0" rtl="0" algn="l">
              <a:spcBef>
                <a:spcPts val="0"/>
              </a:spcBef>
              <a:spcAft>
                <a:spcPts val="0"/>
              </a:spcAft>
              <a:buClr>
                <a:srgbClr val="000000"/>
              </a:buClr>
              <a:buSzPts val="2400"/>
              <a:buFont typeface="Calibri"/>
              <a:buChar char="•"/>
            </a:pPr>
            <a:r>
              <a:rPr b="0" i="0" lang="en-US" sz="2400" u="none" cap="none" strike="noStrike">
                <a:solidFill>
                  <a:srgbClr val="000000"/>
                </a:solidFill>
                <a:latin typeface="Calibri"/>
                <a:ea typeface="Calibri"/>
                <a:cs typeface="Calibri"/>
                <a:sym typeface="Calibri"/>
              </a:rPr>
              <a:t> Define a new class?</a:t>
            </a:r>
            <a:endParaRPr/>
          </a:p>
          <a:p>
            <a:pPr indent="-152400" lvl="2" marL="914400" marR="0" rtl="0" algn="l">
              <a:spcBef>
                <a:spcPts val="0"/>
              </a:spcBef>
              <a:spcAft>
                <a:spcPts val="0"/>
              </a:spcAft>
              <a:buClr>
                <a:srgbClr val="000000"/>
              </a:buClr>
              <a:buSzPts val="2400"/>
              <a:buFont typeface="Calibri"/>
              <a:buChar char="•"/>
            </a:pPr>
            <a:r>
              <a:rPr b="0" i="1" lang="en-US" sz="2400" u="none" cap="none" strike="noStrike">
                <a:solidFill>
                  <a:srgbClr val="000000"/>
                </a:solidFill>
                <a:latin typeface="Calibri"/>
                <a:ea typeface="Calibri"/>
                <a:cs typeface="Calibri"/>
                <a:sym typeface="Calibri"/>
              </a:rPr>
              <a:t> But what if we want to maintain connection to current class?</a:t>
            </a:r>
            <a:endParaRPr/>
          </a:p>
          <a:p>
            <a:pPr indent="0" lvl="1" marL="457200" marR="0" rtl="0" algn="l">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a:p>
            <a:pPr indent="-152400" lvl="1" marL="457200" marR="0" rtl="0" algn="l">
              <a:spcBef>
                <a:spcPts val="0"/>
              </a:spcBef>
              <a:spcAft>
                <a:spcPts val="0"/>
              </a:spcAft>
              <a:buClr>
                <a:srgbClr val="000000"/>
              </a:buClr>
              <a:buSzPts val="2400"/>
              <a:buFont typeface="Calibri"/>
              <a:buChar char="•"/>
            </a:pPr>
            <a:r>
              <a:rPr b="0" i="0" lang="en-US" sz="2400" u="none" cap="none" strike="noStrike">
                <a:solidFill>
                  <a:srgbClr val="000000"/>
                </a:solidFill>
                <a:latin typeface="Calibri"/>
                <a:ea typeface="Calibri"/>
                <a:cs typeface="Calibri"/>
                <a:sym typeface="Calibri"/>
              </a:rPr>
              <a:t> </a:t>
            </a:r>
            <a:r>
              <a:rPr b="0" i="0" lang="en-US" sz="2400" u="sng" cap="none" strike="noStrike">
                <a:solidFill>
                  <a:srgbClr val="000000"/>
                </a:solidFill>
                <a:latin typeface="Calibri"/>
                <a:ea typeface="Calibri"/>
                <a:cs typeface="Calibri"/>
                <a:sym typeface="Calibri"/>
              </a:rPr>
              <a:t>Better: define a </a:t>
            </a:r>
            <a:r>
              <a:rPr b="0" i="1" lang="en-US" sz="2400" u="sng" cap="none" strike="noStrike">
                <a:solidFill>
                  <a:srgbClr val="000000"/>
                </a:solidFill>
                <a:latin typeface="Calibri"/>
                <a:ea typeface="Calibri"/>
                <a:cs typeface="Calibri"/>
                <a:sym typeface="Calibri"/>
              </a:rPr>
              <a:t>subclass</a:t>
            </a:r>
            <a:endParaRPr/>
          </a:p>
          <a:p>
            <a:pPr indent="-152400" lvl="2" marL="914400" marR="0" rtl="0" algn="l">
              <a:spcBef>
                <a:spcPts val="0"/>
              </a:spcBef>
              <a:spcAft>
                <a:spcPts val="0"/>
              </a:spcAft>
              <a:buClr>
                <a:srgbClr val="000000"/>
              </a:buClr>
              <a:buSzPts val="2400"/>
              <a:buFont typeface="Calibri"/>
              <a:buChar char="•"/>
            </a:pPr>
            <a:r>
              <a:rPr b="0" i="1" lang="en-US" sz="2400" u="none" cap="none" strike="noStrike">
                <a:solidFill>
                  <a:srgbClr val="000000"/>
                </a:solidFill>
                <a:latin typeface="Calibri"/>
                <a:ea typeface="Calibri"/>
                <a:cs typeface="Calibri"/>
                <a:sym typeface="Calibri"/>
              </a:rPr>
              <a:t> Ex:</a:t>
            </a:r>
            <a:endParaRPr b="0" i="0" sz="2400" u="none" cap="none" strike="noStrike">
              <a:solidFill>
                <a:srgbClr val="000000"/>
              </a:solidFill>
              <a:latin typeface="Calibri"/>
              <a:ea typeface="Calibri"/>
              <a:cs typeface="Calibri"/>
              <a:sym typeface="Calibri"/>
            </a:endParaRPr>
          </a:p>
        </p:txBody>
      </p:sp>
      <p:sp>
        <p:nvSpPr>
          <p:cNvPr id="1738" name="Google Shape;1738;p97"/>
          <p:cNvSpPr txBox="1"/>
          <p:nvPr/>
        </p:nvSpPr>
        <p:spPr>
          <a:xfrm>
            <a:off x="5699125" y="4003675"/>
            <a:ext cx="1250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Products</a:t>
            </a:r>
            <a:endParaRPr/>
          </a:p>
        </p:txBody>
      </p:sp>
      <p:sp>
        <p:nvSpPr>
          <p:cNvPr id="1739" name="Google Shape;1739;p97"/>
          <p:cNvSpPr txBox="1"/>
          <p:nvPr/>
        </p:nvSpPr>
        <p:spPr>
          <a:xfrm>
            <a:off x="3962400" y="4876801"/>
            <a:ext cx="137249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Software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products</a:t>
            </a:r>
            <a:endParaRPr/>
          </a:p>
        </p:txBody>
      </p:sp>
      <p:sp>
        <p:nvSpPr>
          <p:cNvPr id="1740" name="Google Shape;1740;p97"/>
          <p:cNvSpPr txBox="1"/>
          <p:nvPr/>
        </p:nvSpPr>
        <p:spPr>
          <a:xfrm>
            <a:off x="6926478" y="4876801"/>
            <a:ext cx="1728358"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Educational </a:t>
            </a:r>
            <a:endParaRPr/>
          </a:p>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products</a:t>
            </a:r>
            <a:endParaRPr/>
          </a:p>
        </p:txBody>
      </p:sp>
      <p:cxnSp>
        <p:nvCxnSpPr>
          <p:cNvPr id="1741" name="Google Shape;1741;p97"/>
          <p:cNvCxnSpPr/>
          <p:nvPr/>
        </p:nvCxnSpPr>
        <p:spPr>
          <a:xfrm flipH="1">
            <a:off x="4572000" y="4495800"/>
            <a:ext cx="1752600" cy="457200"/>
          </a:xfrm>
          <a:prstGeom prst="straightConnector1">
            <a:avLst/>
          </a:prstGeom>
          <a:noFill/>
          <a:ln cap="flat" cmpd="sng" w="9525">
            <a:solidFill>
              <a:schemeClr val="dk1"/>
            </a:solidFill>
            <a:prstDash val="solid"/>
            <a:round/>
            <a:headEnd len="med" w="med" type="none"/>
            <a:tailEnd len="med" w="med" type="triangle"/>
          </a:ln>
        </p:spPr>
      </p:cxnSp>
      <p:cxnSp>
        <p:nvCxnSpPr>
          <p:cNvPr id="1742" name="Google Shape;1742;p97"/>
          <p:cNvCxnSpPr/>
          <p:nvPr/>
        </p:nvCxnSpPr>
        <p:spPr>
          <a:xfrm>
            <a:off x="6324600" y="4495800"/>
            <a:ext cx="1371600" cy="457200"/>
          </a:xfrm>
          <a:prstGeom prst="straightConnector1">
            <a:avLst/>
          </a:prstGeom>
          <a:noFill/>
          <a:ln cap="flat" cmpd="sng" w="9525">
            <a:solidFill>
              <a:schemeClr val="dk1"/>
            </a:solidFill>
            <a:prstDash val="solid"/>
            <a:round/>
            <a:headEnd len="med" w="med" type="none"/>
            <a:tailEnd len="med" w="med" type="triangle"/>
          </a:ln>
        </p:spPr>
      </p:cxnSp>
      <p:sp>
        <p:nvSpPr>
          <p:cNvPr id="1743" name="Google Shape;1743;p97"/>
          <p:cNvSpPr txBox="1"/>
          <p:nvPr/>
        </p:nvSpPr>
        <p:spPr>
          <a:xfrm>
            <a:off x="3615737" y="6015692"/>
            <a:ext cx="4960525" cy="523220"/>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We can define </a:t>
            </a:r>
            <a:r>
              <a:rPr b="1" lang="en-US" sz="2800">
                <a:solidFill>
                  <a:schemeClr val="dk1"/>
                </a:solidFill>
                <a:latin typeface="Calibri"/>
                <a:ea typeface="Calibri"/>
                <a:cs typeface="Calibri"/>
                <a:sym typeface="Calibri"/>
              </a:rPr>
              <a:t>subclasses</a:t>
            </a:r>
            <a:r>
              <a:rPr lang="en-US" sz="2800">
                <a:solidFill>
                  <a:schemeClr val="dk1"/>
                </a:solidFill>
                <a:latin typeface="Calibri"/>
                <a:ea typeface="Calibri"/>
                <a:cs typeface="Calibri"/>
                <a:sym typeface="Calibri"/>
              </a:rPr>
              <a:t> in 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7" name="Shape 1747"/>
        <p:cNvGrpSpPr/>
        <p:nvPr/>
      </p:nvGrpSpPr>
      <p:grpSpPr>
        <a:xfrm>
          <a:off x="0" y="0"/>
          <a:ext cx="0" cy="0"/>
          <a:chOff x="0" y="0"/>
          <a:chExt cx="0" cy="0"/>
        </a:xfrm>
      </p:grpSpPr>
      <p:sp>
        <p:nvSpPr>
          <p:cNvPr id="1748" name="Google Shape;1748;p98"/>
          <p:cNvSpPr txBox="1"/>
          <p:nvPr>
            <p:ph type="title"/>
          </p:nvPr>
        </p:nvSpPr>
        <p:spPr>
          <a:xfrm>
            <a:off x="2133600" y="0"/>
            <a:ext cx="7772400" cy="1143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lang="en-US"/>
            </a:br>
            <a:endParaRPr/>
          </a:p>
        </p:txBody>
      </p:sp>
      <p:sp>
        <p:nvSpPr>
          <p:cNvPr id="1749" name="Google Shape;1749;p9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grpSp>
        <p:nvGrpSpPr>
          <p:cNvPr id="1750" name="Google Shape;1750;p98"/>
          <p:cNvGrpSpPr/>
          <p:nvPr/>
        </p:nvGrpSpPr>
        <p:grpSpPr>
          <a:xfrm>
            <a:off x="4320919" y="1663432"/>
            <a:ext cx="2284701" cy="1991791"/>
            <a:chOff x="4320919" y="1663432"/>
            <a:chExt cx="2284701" cy="1991791"/>
          </a:xfrm>
        </p:grpSpPr>
        <p:sp>
          <p:nvSpPr>
            <p:cNvPr id="1751" name="Google Shape;1751;p98"/>
            <p:cNvSpPr/>
            <p:nvPr/>
          </p:nvSpPr>
          <p:spPr>
            <a:xfrm>
              <a:off x="4965322" y="3069402"/>
              <a:ext cx="1640298" cy="585821"/>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Product</a:t>
              </a:r>
              <a:endParaRPr/>
            </a:p>
          </p:txBody>
        </p:sp>
        <p:sp>
          <p:nvSpPr>
            <p:cNvPr id="1752" name="Google Shape;1752;p98"/>
            <p:cNvSpPr/>
            <p:nvPr/>
          </p:nvSpPr>
          <p:spPr>
            <a:xfrm>
              <a:off x="5199650" y="1663432"/>
              <a:ext cx="1113059" cy="527239"/>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rgbClr val="000000"/>
                  </a:solidFill>
                  <a:latin typeface="Calibri"/>
                  <a:ea typeface="Calibri"/>
                  <a:cs typeface="Calibri"/>
                  <a:sym typeface="Calibri"/>
                </a:rPr>
                <a:t>name</a:t>
              </a:r>
              <a:endParaRPr/>
            </a:p>
          </p:txBody>
        </p:sp>
        <p:sp>
          <p:nvSpPr>
            <p:cNvPr id="1753" name="Google Shape;1753;p98"/>
            <p:cNvSpPr/>
            <p:nvPr/>
          </p:nvSpPr>
          <p:spPr>
            <a:xfrm>
              <a:off x="4320919" y="2366417"/>
              <a:ext cx="1113059" cy="527239"/>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price</a:t>
              </a:r>
              <a:endParaRPr/>
            </a:p>
          </p:txBody>
        </p:sp>
        <p:cxnSp>
          <p:nvCxnSpPr>
            <p:cNvPr id="1754" name="Google Shape;1754;p98"/>
            <p:cNvCxnSpPr/>
            <p:nvPr/>
          </p:nvCxnSpPr>
          <p:spPr>
            <a:xfrm rot="10800000">
              <a:off x="5199650" y="2835074"/>
              <a:ext cx="234328" cy="234328"/>
            </a:xfrm>
            <a:prstGeom prst="straightConnector1">
              <a:avLst/>
            </a:prstGeom>
            <a:noFill/>
            <a:ln cap="flat" cmpd="sng" w="9525">
              <a:solidFill>
                <a:schemeClr val="dk1"/>
              </a:solidFill>
              <a:prstDash val="solid"/>
              <a:round/>
              <a:headEnd len="med" w="med" type="none"/>
              <a:tailEnd len="med" w="med" type="none"/>
            </a:ln>
          </p:spPr>
        </p:cxnSp>
        <p:cxnSp>
          <p:nvCxnSpPr>
            <p:cNvPr id="1755" name="Google Shape;1755;p98"/>
            <p:cNvCxnSpPr/>
            <p:nvPr/>
          </p:nvCxnSpPr>
          <p:spPr>
            <a:xfrm rot="10800000">
              <a:off x="5785471" y="2190671"/>
              <a:ext cx="0" cy="878731"/>
            </a:xfrm>
            <a:prstGeom prst="straightConnector1">
              <a:avLst/>
            </a:prstGeom>
            <a:noFill/>
            <a:ln cap="flat" cmpd="sng" w="9525">
              <a:solidFill>
                <a:schemeClr val="dk1"/>
              </a:solidFill>
              <a:prstDash val="solid"/>
              <a:round/>
              <a:headEnd len="med" w="med" type="none"/>
              <a:tailEnd len="med" w="med" type="none"/>
            </a:ln>
          </p:spPr>
        </p:cxnSp>
      </p:grpSp>
      <p:grpSp>
        <p:nvGrpSpPr>
          <p:cNvPr id="1756" name="Google Shape;1756;p98"/>
          <p:cNvGrpSpPr/>
          <p:nvPr/>
        </p:nvGrpSpPr>
        <p:grpSpPr>
          <a:xfrm>
            <a:off x="2563457" y="5061192"/>
            <a:ext cx="2167536" cy="1230224"/>
            <a:chOff x="2563457" y="5061192"/>
            <a:chExt cx="2167536" cy="1230224"/>
          </a:xfrm>
        </p:grpSpPr>
        <p:sp>
          <p:nvSpPr>
            <p:cNvPr id="1757" name="Google Shape;1757;p98"/>
            <p:cNvSpPr/>
            <p:nvPr/>
          </p:nvSpPr>
          <p:spPr>
            <a:xfrm>
              <a:off x="2914949" y="5061192"/>
              <a:ext cx="1816044" cy="585821"/>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Software Product</a:t>
              </a:r>
              <a:endParaRPr/>
            </a:p>
          </p:txBody>
        </p:sp>
        <p:sp>
          <p:nvSpPr>
            <p:cNvPr id="1758" name="Google Shape;1758;p98"/>
            <p:cNvSpPr/>
            <p:nvPr/>
          </p:nvSpPr>
          <p:spPr>
            <a:xfrm>
              <a:off x="2563457" y="5764177"/>
              <a:ext cx="1113059" cy="527239"/>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platforms</a:t>
              </a:r>
              <a:endParaRPr/>
            </a:p>
          </p:txBody>
        </p:sp>
        <p:cxnSp>
          <p:nvCxnSpPr>
            <p:cNvPr id="1759" name="Google Shape;1759;p98"/>
            <p:cNvCxnSpPr/>
            <p:nvPr/>
          </p:nvCxnSpPr>
          <p:spPr>
            <a:xfrm flipH="1">
              <a:off x="3676516" y="5647013"/>
              <a:ext cx="820149" cy="351492"/>
            </a:xfrm>
            <a:prstGeom prst="straightConnector1">
              <a:avLst/>
            </a:prstGeom>
            <a:noFill/>
            <a:ln cap="flat" cmpd="sng" w="9525">
              <a:solidFill>
                <a:schemeClr val="dk1"/>
              </a:solidFill>
              <a:prstDash val="solid"/>
              <a:round/>
              <a:headEnd len="med" w="med" type="none"/>
              <a:tailEnd len="med" w="med" type="none"/>
            </a:ln>
          </p:spPr>
        </p:cxnSp>
      </p:grpSp>
      <p:grpSp>
        <p:nvGrpSpPr>
          <p:cNvPr id="1760" name="Google Shape;1760;p98"/>
          <p:cNvGrpSpPr/>
          <p:nvPr/>
        </p:nvGrpSpPr>
        <p:grpSpPr>
          <a:xfrm>
            <a:off x="6722784" y="5061192"/>
            <a:ext cx="2753358" cy="1230224"/>
            <a:chOff x="6722784" y="5061192"/>
            <a:chExt cx="2753358" cy="1230224"/>
          </a:xfrm>
        </p:grpSpPr>
        <p:sp>
          <p:nvSpPr>
            <p:cNvPr id="1761" name="Google Shape;1761;p98"/>
            <p:cNvSpPr/>
            <p:nvPr/>
          </p:nvSpPr>
          <p:spPr>
            <a:xfrm>
              <a:off x="6722784" y="5061192"/>
              <a:ext cx="2050373" cy="585821"/>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Educational Product</a:t>
              </a:r>
              <a:endParaRPr/>
            </a:p>
          </p:txBody>
        </p:sp>
        <p:sp>
          <p:nvSpPr>
            <p:cNvPr id="1762" name="Google Shape;1762;p98"/>
            <p:cNvSpPr/>
            <p:nvPr/>
          </p:nvSpPr>
          <p:spPr>
            <a:xfrm>
              <a:off x="8363083" y="5764177"/>
              <a:ext cx="1113059" cy="527239"/>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ageGroup</a:t>
              </a:r>
              <a:endParaRPr sz="1800">
                <a:solidFill>
                  <a:srgbClr val="000000"/>
                </a:solidFill>
                <a:latin typeface="Calibri"/>
                <a:ea typeface="Calibri"/>
                <a:cs typeface="Calibri"/>
                <a:sym typeface="Calibri"/>
              </a:endParaRPr>
            </a:p>
          </p:txBody>
        </p:sp>
        <p:cxnSp>
          <p:nvCxnSpPr>
            <p:cNvPr id="1763" name="Google Shape;1763;p98"/>
            <p:cNvCxnSpPr/>
            <p:nvPr/>
          </p:nvCxnSpPr>
          <p:spPr>
            <a:xfrm>
              <a:off x="7484351" y="5647013"/>
              <a:ext cx="878731" cy="351492"/>
            </a:xfrm>
            <a:prstGeom prst="straightConnector1">
              <a:avLst/>
            </a:prstGeom>
            <a:noFill/>
            <a:ln cap="flat" cmpd="sng" w="9525">
              <a:solidFill>
                <a:schemeClr val="dk1"/>
              </a:solidFill>
              <a:prstDash val="solid"/>
              <a:round/>
              <a:headEnd len="med" w="med" type="none"/>
              <a:tailEnd len="med" w="med" type="none"/>
            </a:ln>
          </p:spPr>
        </p:cxnSp>
      </p:grpSp>
      <p:grpSp>
        <p:nvGrpSpPr>
          <p:cNvPr id="1764" name="Google Shape;1764;p98"/>
          <p:cNvGrpSpPr/>
          <p:nvPr/>
        </p:nvGrpSpPr>
        <p:grpSpPr>
          <a:xfrm>
            <a:off x="3852297" y="3655115"/>
            <a:ext cx="3895674" cy="1406103"/>
            <a:chOff x="3852297" y="3655115"/>
            <a:chExt cx="3895674" cy="1406103"/>
          </a:xfrm>
        </p:grpSpPr>
        <p:sp>
          <p:nvSpPr>
            <p:cNvPr id="1765" name="Google Shape;1765;p98"/>
            <p:cNvSpPr/>
            <p:nvPr/>
          </p:nvSpPr>
          <p:spPr>
            <a:xfrm>
              <a:off x="5375397" y="4006715"/>
              <a:ext cx="761567" cy="644403"/>
            </a:xfrm>
            <a:prstGeom prst="triangle">
              <a:avLst>
                <a:gd fmla="val 50000" name="adj"/>
              </a:avLst>
            </a:prstGeom>
            <a:solidFill>
              <a:srgbClr val="00B0F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isA</a:t>
              </a:r>
              <a:endParaRPr sz="1800">
                <a:solidFill>
                  <a:srgbClr val="000000"/>
                </a:solidFill>
                <a:latin typeface="Calibri"/>
                <a:ea typeface="Calibri"/>
                <a:cs typeface="Calibri"/>
                <a:sym typeface="Calibri"/>
              </a:endParaRPr>
            </a:p>
          </p:txBody>
        </p:sp>
        <p:cxnSp>
          <p:nvCxnSpPr>
            <p:cNvPr id="1766" name="Google Shape;1766;p98"/>
            <p:cNvCxnSpPr>
              <a:endCxn id="1765" idx="2"/>
            </p:cNvCxnSpPr>
            <p:nvPr/>
          </p:nvCxnSpPr>
          <p:spPr>
            <a:xfrm flipH="1" rot="10800000">
              <a:off x="3852297" y="4651118"/>
              <a:ext cx="1523100" cy="4101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767" name="Google Shape;1767;p98"/>
            <p:cNvCxnSpPr>
              <a:stCxn id="1761" idx="0"/>
              <a:endCxn id="1765" idx="4"/>
            </p:cNvCxnSpPr>
            <p:nvPr/>
          </p:nvCxnSpPr>
          <p:spPr>
            <a:xfrm rot="10800000">
              <a:off x="6136971" y="4651092"/>
              <a:ext cx="1611000" cy="4101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768" name="Google Shape;1768;p98"/>
            <p:cNvCxnSpPr>
              <a:stCxn id="1765" idx="0"/>
              <a:endCxn id="1751" idx="2"/>
            </p:cNvCxnSpPr>
            <p:nvPr/>
          </p:nvCxnSpPr>
          <p:spPr>
            <a:xfrm flipH="1" rot="10800000">
              <a:off x="5756181" y="3655115"/>
              <a:ext cx="29400" cy="3516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1769" name="Google Shape;1769;p98"/>
          <p:cNvSpPr txBox="1"/>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Modeling Subclasses</a:t>
            </a:r>
            <a:endParaRPr/>
          </a:p>
        </p:txBody>
      </p:sp>
      <p:sp>
        <p:nvSpPr>
          <p:cNvPr id="1770" name="Google Shape;1770;p98"/>
          <p:cNvSpPr txBox="1"/>
          <p:nvPr/>
        </p:nvSpPr>
        <p:spPr>
          <a:xfrm>
            <a:off x="9013371" y="2438398"/>
            <a:ext cx="2743200" cy="1938992"/>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Child subclasses contain all the attributes of </a:t>
            </a:r>
            <a:r>
              <a:rPr i="1" lang="en-US" sz="2000">
                <a:solidFill>
                  <a:schemeClr val="dk1"/>
                </a:solidFill>
                <a:latin typeface="Calibri"/>
                <a:ea typeface="Calibri"/>
                <a:cs typeface="Calibri"/>
                <a:sym typeface="Calibri"/>
              </a:rPr>
              <a:t>all </a:t>
            </a:r>
            <a:r>
              <a:rPr lang="en-US" sz="2000">
                <a:solidFill>
                  <a:schemeClr val="dk1"/>
                </a:solidFill>
                <a:latin typeface="Calibri"/>
                <a:ea typeface="Calibri"/>
                <a:cs typeface="Calibri"/>
                <a:sym typeface="Calibri"/>
              </a:rPr>
              <a:t>of their parent classes </a:t>
            </a:r>
            <a:r>
              <a:rPr b="1" lang="en-US" sz="2000" u="sng">
                <a:solidFill>
                  <a:schemeClr val="dk1"/>
                </a:solidFill>
                <a:latin typeface="Calibri"/>
                <a:ea typeface="Calibri"/>
                <a:cs typeface="Calibri"/>
                <a:sym typeface="Calibri"/>
              </a:rPr>
              <a:t>plus</a:t>
            </a:r>
            <a:r>
              <a:rPr lang="en-US" sz="2000">
                <a:solidFill>
                  <a:schemeClr val="dk1"/>
                </a:solidFill>
                <a:latin typeface="Calibri"/>
                <a:ea typeface="Calibri"/>
                <a:cs typeface="Calibri"/>
                <a:sym typeface="Calibri"/>
              </a:rPr>
              <a:t> the new attributes shown attached to them in the E/R diagram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4"/>
                                        </p:tgtEl>
                                        <p:attrNameLst>
                                          <p:attrName>style.visibility</p:attrName>
                                        </p:attrNameLst>
                                      </p:cBhvr>
                                      <p:to>
                                        <p:strVal val="visible"/>
                                      </p:to>
                                    </p:set>
                                    <p:animEffect filter="fade" transition="in">
                                      <p:cBhvr>
                                        <p:cTn dur="500"/>
                                        <p:tgtEl>
                                          <p:spTgt spid="17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4" name="Shape 1774"/>
        <p:cNvGrpSpPr/>
        <p:nvPr/>
      </p:nvGrpSpPr>
      <p:grpSpPr>
        <a:xfrm>
          <a:off x="0" y="0"/>
          <a:ext cx="0" cy="0"/>
          <a:chOff x="0" y="0"/>
          <a:chExt cx="0" cy="0"/>
        </a:xfrm>
      </p:grpSpPr>
      <p:sp>
        <p:nvSpPr>
          <p:cNvPr id="1775" name="Google Shape;1775;p9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Understanding Subclasses</a:t>
            </a:r>
            <a:endParaRPr/>
          </a:p>
        </p:txBody>
      </p:sp>
      <p:sp>
        <p:nvSpPr>
          <p:cNvPr id="1776" name="Google Shape;1776;p99"/>
          <p:cNvSpPr txBox="1"/>
          <p:nvPr>
            <p:ph idx="1" type="body"/>
          </p:nvPr>
        </p:nvSpPr>
        <p:spPr>
          <a:xfrm>
            <a:off x="3168574" y="1897166"/>
            <a:ext cx="4647041" cy="4048801"/>
          </a:xfrm>
          <a:prstGeom prst="rect">
            <a:avLst/>
          </a:prstGeom>
          <a:noFill/>
          <a:ln>
            <a:noFill/>
          </a:ln>
        </p:spPr>
        <p:txBody>
          <a:bodyPr anchorCtr="0" anchor="t" bIns="45700" lIns="91425" spcFirstLastPara="1" rIns="91425" wrap="square" tIns="45700">
            <a:spAutoFit/>
          </a:bodyPr>
          <a:lstStyle/>
          <a:p>
            <a:pPr indent="-228600" lvl="0" marL="228600" rtl="0" algn="l">
              <a:lnSpc>
                <a:spcPct val="90000"/>
              </a:lnSpc>
              <a:spcBef>
                <a:spcPts val="0"/>
              </a:spcBef>
              <a:spcAft>
                <a:spcPts val="0"/>
              </a:spcAft>
              <a:buClr>
                <a:schemeClr val="dk1"/>
              </a:buClr>
              <a:buSzPts val="2800"/>
              <a:buChar char="•"/>
            </a:pPr>
            <a:r>
              <a:rPr lang="en-US"/>
              <a:t>Think in terms of records; ex:</a:t>
            </a:r>
            <a:endParaRPr/>
          </a:p>
          <a:p>
            <a:pPr indent="-76200" lvl="1" marL="685800" rtl="0" algn="l">
              <a:lnSpc>
                <a:spcPct val="90000"/>
              </a:lnSpc>
              <a:spcBef>
                <a:spcPts val="500"/>
              </a:spcBef>
              <a:spcAft>
                <a:spcPts val="0"/>
              </a:spcAft>
              <a:buClr>
                <a:schemeClr val="dk1"/>
              </a:buClr>
              <a:buSzPts val="2400"/>
              <a:buNone/>
            </a:pPr>
            <a:r>
              <a:t/>
            </a:r>
            <a:endParaRPr>
              <a:solidFill>
                <a:schemeClr val="accent2"/>
              </a:solidFill>
            </a:endParaRPr>
          </a:p>
          <a:p>
            <a:pPr indent="-228600" lvl="1" marL="685800" rtl="0" algn="l">
              <a:lnSpc>
                <a:spcPct val="90000"/>
              </a:lnSpc>
              <a:spcBef>
                <a:spcPts val="500"/>
              </a:spcBef>
              <a:spcAft>
                <a:spcPts val="0"/>
              </a:spcAft>
              <a:buClr>
                <a:schemeClr val="accent2"/>
              </a:buClr>
              <a:buSzPts val="2400"/>
              <a:buChar char="•"/>
            </a:pPr>
            <a:r>
              <a:rPr lang="en-US">
                <a:solidFill>
                  <a:schemeClr val="accent2"/>
                </a:solidFill>
              </a:rPr>
              <a:t>Product</a:t>
            </a:r>
            <a:endParaRPr/>
          </a:p>
          <a:p>
            <a:pPr indent="-76200" lvl="1" marL="685800" rtl="0" algn="l">
              <a:lnSpc>
                <a:spcPct val="90000"/>
              </a:lnSpc>
              <a:spcBef>
                <a:spcPts val="500"/>
              </a:spcBef>
              <a:spcAft>
                <a:spcPts val="0"/>
              </a:spcAft>
              <a:buClr>
                <a:schemeClr val="dk1"/>
              </a:buClr>
              <a:buSzPts val="2400"/>
              <a:buNone/>
            </a:pPr>
            <a:r>
              <a:t/>
            </a:r>
            <a:endParaRPr>
              <a:solidFill>
                <a:schemeClr val="accent2"/>
              </a:solidFill>
            </a:endParaRPr>
          </a:p>
          <a:p>
            <a:pPr indent="-76200" lvl="1" marL="685800" rtl="0" algn="l">
              <a:lnSpc>
                <a:spcPct val="90000"/>
              </a:lnSpc>
              <a:spcBef>
                <a:spcPts val="500"/>
              </a:spcBef>
              <a:spcAft>
                <a:spcPts val="0"/>
              </a:spcAft>
              <a:buClr>
                <a:schemeClr val="dk1"/>
              </a:buClr>
              <a:buSzPts val="2400"/>
              <a:buNone/>
            </a:pPr>
            <a:r>
              <a:t/>
            </a:r>
            <a:endParaRPr>
              <a:solidFill>
                <a:schemeClr val="accent2"/>
              </a:solidFill>
            </a:endParaRPr>
          </a:p>
          <a:p>
            <a:pPr indent="-228600" lvl="1" marL="685800" rtl="0" algn="l">
              <a:lnSpc>
                <a:spcPct val="90000"/>
              </a:lnSpc>
              <a:spcBef>
                <a:spcPts val="500"/>
              </a:spcBef>
              <a:spcAft>
                <a:spcPts val="0"/>
              </a:spcAft>
              <a:buClr>
                <a:schemeClr val="accent2"/>
              </a:buClr>
              <a:buSzPts val="2400"/>
              <a:buChar char="•"/>
            </a:pPr>
            <a:r>
              <a:rPr lang="en-US">
                <a:solidFill>
                  <a:schemeClr val="accent2"/>
                </a:solidFill>
              </a:rPr>
              <a:t>SoftwareProduct</a:t>
            </a:r>
            <a:endParaRPr>
              <a:solidFill>
                <a:schemeClr val="accent2"/>
              </a:solidFill>
            </a:endParaRPr>
          </a:p>
          <a:p>
            <a:pPr indent="-76200" lvl="1" marL="685800" rtl="0" algn="l">
              <a:lnSpc>
                <a:spcPct val="90000"/>
              </a:lnSpc>
              <a:spcBef>
                <a:spcPts val="500"/>
              </a:spcBef>
              <a:spcAft>
                <a:spcPts val="0"/>
              </a:spcAft>
              <a:buClr>
                <a:schemeClr val="dk1"/>
              </a:buClr>
              <a:buSzPts val="2400"/>
              <a:buNone/>
            </a:pPr>
            <a:r>
              <a:t/>
            </a:r>
            <a:endParaRPr>
              <a:solidFill>
                <a:schemeClr val="accent2"/>
              </a:solidFill>
            </a:endParaRPr>
          </a:p>
          <a:p>
            <a:pPr indent="-76200" lvl="1" marL="685800" rtl="0" algn="l">
              <a:lnSpc>
                <a:spcPct val="90000"/>
              </a:lnSpc>
              <a:spcBef>
                <a:spcPts val="500"/>
              </a:spcBef>
              <a:spcAft>
                <a:spcPts val="0"/>
              </a:spcAft>
              <a:buClr>
                <a:schemeClr val="dk1"/>
              </a:buClr>
              <a:buSzPts val="2400"/>
              <a:buNone/>
            </a:pPr>
            <a:r>
              <a:t/>
            </a:r>
            <a:endParaRPr>
              <a:solidFill>
                <a:schemeClr val="accent2"/>
              </a:solidFill>
            </a:endParaRPr>
          </a:p>
          <a:p>
            <a:pPr indent="-76200" lvl="1" marL="685800" rtl="0" algn="l">
              <a:lnSpc>
                <a:spcPct val="90000"/>
              </a:lnSpc>
              <a:spcBef>
                <a:spcPts val="500"/>
              </a:spcBef>
              <a:spcAft>
                <a:spcPts val="0"/>
              </a:spcAft>
              <a:buClr>
                <a:schemeClr val="dk1"/>
              </a:buClr>
              <a:buSzPts val="2400"/>
              <a:buNone/>
            </a:pPr>
            <a:r>
              <a:t/>
            </a:r>
            <a:endParaRPr>
              <a:solidFill>
                <a:schemeClr val="accent2"/>
              </a:solidFill>
            </a:endParaRPr>
          </a:p>
          <a:p>
            <a:pPr indent="-228600" lvl="1" marL="685800" rtl="0" algn="l">
              <a:lnSpc>
                <a:spcPct val="90000"/>
              </a:lnSpc>
              <a:spcBef>
                <a:spcPts val="500"/>
              </a:spcBef>
              <a:spcAft>
                <a:spcPts val="0"/>
              </a:spcAft>
              <a:buClr>
                <a:schemeClr val="accent2"/>
              </a:buClr>
              <a:buSzPts val="2400"/>
              <a:buChar char="•"/>
            </a:pPr>
            <a:r>
              <a:rPr lang="en-US">
                <a:solidFill>
                  <a:schemeClr val="accent2"/>
                </a:solidFill>
              </a:rPr>
              <a:t>EducationalProduct</a:t>
            </a:r>
            <a:endParaRPr>
              <a:solidFill>
                <a:schemeClr val="accent2"/>
              </a:solidFill>
            </a:endParaRPr>
          </a:p>
        </p:txBody>
      </p:sp>
      <p:sp>
        <p:nvSpPr>
          <p:cNvPr id="1777" name="Google Shape;1777;p9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grpSp>
        <p:nvGrpSpPr>
          <p:cNvPr id="1778" name="Google Shape;1778;p99"/>
          <p:cNvGrpSpPr/>
          <p:nvPr/>
        </p:nvGrpSpPr>
        <p:grpSpPr>
          <a:xfrm>
            <a:off x="6781800" y="4572000"/>
            <a:ext cx="1219200" cy="304800"/>
            <a:chOff x="6781800" y="4572000"/>
            <a:chExt cx="1219200" cy="304800"/>
          </a:xfrm>
        </p:grpSpPr>
        <p:cxnSp>
          <p:nvCxnSpPr>
            <p:cNvPr id="1779" name="Google Shape;1779;p99"/>
            <p:cNvCxnSpPr/>
            <p:nvPr/>
          </p:nvCxnSpPr>
          <p:spPr>
            <a:xfrm>
              <a:off x="6781800" y="4572000"/>
              <a:ext cx="0" cy="304800"/>
            </a:xfrm>
            <a:prstGeom prst="straightConnector1">
              <a:avLst/>
            </a:prstGeom>
            <a:noFill/>
            <a:ln cap="rnd" cmpd="sng" w="9525">
              <a:solidFill>
                <a:schemeClr val="dk1"/>
              </a:solidFill>
              <a:prstDash val="dot"/>
              <a:round/>
              <a:headEnd len="med" w="med" type="none"/>
              <a:tailEnd len="med" w="med" type="none"/>
            </a:ln>
          </p:spPr>
        </p:cxnSp>
        <p:cxnSp>
          <p:nvCxnSpPr>
            <p:cNvPr id="1780" name="Google Shape;1780;p99"/>
            <p:cNvCxnSpPr/>
            <p:nvPr/>
          </p:nvCxnSpPr>
          <p:spPr>
            <a:xfrm>
              <a:off x="6781800" y="4876800"/>
              <a:ext cx="1219200" cy="0"/>
            </a:xfrm>
            <a:prstGeom prst="straightConnector1">
              <a:avLst/>
            </a:prstGeom>
            <a:noFill/>
            <a:ln cap="rnd" cmpd="sng" w="9525">
              <a:solidFill>
                <a:schemeClr val="dk1"/>
              </a:solidFill>
              <a:prstDash val="dot"/>
              <a:round/>
              <a:headEnd len="med" w="med" type="none"/>
              <a:tailEnd len="med" w="med" type="none"/>
            </a:ln>
          </p:spPr>
        </p:cxnSp>
        <p:cxnSp>
          <p:nvCxnSpPr>
            <p:cNvPr id="1781" name="Google Shape;1781;p99"/>
            <p:cNvCxnSpPr/>
            <p:nvPr/>
          </p:nvCxnSpPr>
          <p:spPr>
            <a:xfrm rot="10800000">
              <a:off x="8001000" y="4572000"/>
              <a:ext cx="0" cy="304800"/>
            </a:xfrm>
            <a:prstGeom prst="straightConnector1">
              <a:avLst/>
            </a:prstGeom>
            <a:noFill/>
            <a:ln cap="rnd" cmpd="sng" w="9525">
              <a:solidFill>
                <a:schemeClr val="dk1"/>
              </a:solidFill>
              <a:prstDash val="dot"/>
              <a:round/>
              <a:headEnd len="med" w="med" type="none"/>
              <a:tailEnd len="med" w="med" type="none"/>
            </a:ln>
          </p:spPr>
        </p:cxnSp>
      </p:grpSp>
      <p:grpSp>
        <p:nvGrpSpPr>
          <p:cNvPr id="1782" name="Google Shape;1782;p99"/>
          <p:cNvGrpSpPr/>
          <p:nvPr/>
        </p:nvGrpSpPr>
        <p:grpSpPr>
          <a:xfrm>
            <a:off x="6781800" y="6096000"/>
            <a:ext cx="1219200" cy="228600"/>
            <a:chOff x="6781800" y="6096000"/>
            <a:chExt cx="1219200" cy="228600"/>
          </a:xfrm>
        </p:grpSpPr>
        <p:cxnSp>
          <p:nvCxnSpPr>
            <p:cNvPr id="1783" name="Google Shape;1783;p99"/>
            <p:cNvCxnSpPr/>
            <p:nvPr/>
          </p:nvCxnSpPr>
          <p:spPr>
            <a:xfrm>
              <a:off x="6781800" y="6096000"/>
              <a:ext cx="0" cy="228600"/>
            </a:xfrm>
            <a:prstGeom prst="straightConnector1">
              <a:avLst/>
            </a:prstGeom>
            <a:noFill/>
            <a:ln cap="rnd" cmpd="sng" w="9525">
              <a:solidFill>
                <a:schemeClr val="dk1"/>
              </a:solidFill>
              <a:prstDash val="dot"/>
              <a:round/>
              <a:headEnd len="med" w="med" type="none"/>
              <a:tailEnd len="med" w="med" type="none"/>
            </a:ln>
          </p:spPr>
        </p:cxnSp>
        <p:cxnSp>
          <p:nvCxnSpPr>
            <p:cNvPr id="1784" name="Google Shape;1784;p99"/>
            <p:cNvCxnSpPr/>
            <p:nvPr/>
          </p:nvCxnSpPr>
          <p:spPr>
            <a:xfrm>
              <a:off x="6781800" y="6324600"/>
              <a:ext cx="1219200" cy="0"/>
            </a:xfrm>
            <a:prstGeom prst="straightConnector1">
              <a:avLst/>
            </a:prstGeom>
            <a:noFill/>
            <a:ln cap="rnd" cmpd="sng" w="9525">
              <a:solidFill>
                <a:schemeClr val="dk1"/>
              </a:solidFill>
              <a:prstDash val="dot"/>
              <a:round/>
              <a:headEnd len="med" w="med" type="none"/>
              <a:tailEnd len="med" w="med" type="none"/>
            </a:ln>
          </p:spPr>
        </p:cxnSp>
        <p:cxnSp>
          <p:nvCxnSpPr>
            <p:cNvPr id="1785" name="Google Shape;1785;p99"/>
            <p:cNvCxnSpPr/>
            <p:nvPr/>
          </p:nvCxnSpPr>
          <p:spPr>
            <a:xfrm rot="10800000">
              <a:off x="8001000" y="6096000"/>
              <a:ext cx="0" cy="228600"/>
            </a:xfrm>
            <a:prstGeom prst="straightConnector1">
              <a:avLst/>
            </a:prstGeom>
            <a:noFill/>
            <a:ln cap="rnd" cmpd="sng" w="9525">
              <a:solidFill>
                <a:schemeClr val="dk1"/>
              </a:solidFill>
              <a:prstDash val="dot"/>
              <a:round/>
              <a:headEnd len="med" w="med" type="none"/>
              <a:tailEnd len="med" w="med" type="none"/>
            </a:ln>
          </p:spPr>
        </p:cxnSp>
      </p:grpSp>
      <p:grpSp>
        <p:nvGrpSpPr>
          <p:cNvPr id="1786" name="Google Shape;1786;p99"/>
          <p:cNvGrpSpPr/>
          <p:nvPr/>
        </p:nvGrpSpPr>
        <p:grpSpPr>
          <a:xfrm>
            <a:off x="6781800" y="2479676"/>
            <a:ext cx="1219200" cy="919163"/>
            <a:chOff x="6781800" y="2479676"/>
            <a:chExt cx="1219200" cy="919163"/>
          </a:xfrm>
        </p:grpSpPr>
        <p:grpSp>
          <p:nvGrpSpPr>
            <p:cNvPr id="1787" name="Google Shape;1787;p99"/>
            <p:cNvGrpSpPr/>
            <p:nvPr/>
          </p:nvGrpSpPr>
          <p:grpSpPr>
            <a:xfrm>
              <a:off x="6781800" y="2514600"/>
              <a:ext cx="1219200" cy="838200"/>
              <a:chOff x="3360" y="1632"/>
              <a:chExt cx="768" cy="528"/>
            </a:xfrm>
          </p:grpSpPr>
          <p:sp>
            <p:nvSpPr>
              <p:cNvPr id="1788" name="Google Shape;1788;p99"/>
              <p:cNvSpPr/>
              <p:nvPr/>
            </p:nvSpPr>
            <p:spPr>
              <a:xfrm>
                <a:off x="3360" y="1632"/>
                <a:ext cx="768" cy="528"/>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p:txBody>
          </p:sp>
          <p:cxnSp>
            <p:nvCxnSpPr>
              <p:cNvPr id="1789" name="Google Shape;1789;p99"/>
              <p:cNvCxnSpPr/>
              <p:nvPr/>
            </p:nvCxnSpPr>
            <p:spPr>
              <a:xfrm>
                <a:off x="3360" y="1920"/>
                <a:ext cx="768" cy="0"/>
              </a:xfrm>
              <a:prstGeom prst="straightConnector1">
                <a:avLst/>
              </a:prstGeom>
              <a:noFill/>
              <a:ln cap="flat" cmpd="sng" w="28575">
                <a:solidFill>
                  <a:schemeClr val="dk1"/>
                </a:solidFill>
                <a:prstDash val="solid"/>
                <a:round/>
                <a:headEnd len="med" w="med" type="none"/>
                <a:tailEnd len="med" w="med" type="none"/>
              </a:ln>
            </p:spPr>
          </p:cxnSp>
        </p:grpSp>
        <p:grpSp>
          <p:nvGrpSpPr>
            <p:cNvPr id="1790" name="Google Shape;1790;p99"/>
            <p:cNvGrpSpPr/>
            <p:nvPr/>
          </p:nvGrpSpPr>
          <p:grpSpPr>
            <a:xfrm>
              <a:off x="6918326" y="2479676"/>
              <a:ext cx="893763" cy="919163"/>
              <a:chOff x="3398" y="1562"/>
              <a:chExt cx="563" cy="579"/>
            </a:xfrm>
          </p:grpSpPr>
          <p:sp>
            <p:nvSpPr>
              <p:cNvPr id="1791" name="Google Shape;1791;p99"/>
              <p:cNvSpPr txBox="1"/>
              <p:nvPr/>
            </p:nvSpPr>
            <p:spPr>
              <a:xfrm>
                <a:off x="3398" y="1562"/>
                <a:ext cx="56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name</a:t>
                </a:r>
                <a:endParaRPr/>
              </a:p>
            </p:txBody>
          </p:sp>
          <p:sp>
            <p:nvSpPr>
              <p:cNvPr id="1792" name="Google Shape;1792;p99"/>
              <p:cNvSpPr txBox="1"/>
              <p:nvPr/>
            </p:nvSpPr>
            <p:spPr>
              <a:xfrm>
                <a:off x="3398" y="1850"/>
                <a:ext cx="509"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price</a:t>
                </a:r>
                <a:endParaRPr/>
              </a:p>
            </p:txBody>
          </p:sp>
        </p:grpSp>
      </p:grpSp>
      <p:grpSp>
        <p:nvGrpSpPr>
          <p:cNvPr id="1793" name="Google Shape;1793;p99"/>
          <p:cNvGrpSpPr/>
          <p:nvPr/>
        </p:nvGrpSpPr>
        <p:grpSpPr>
          <a:xfrm>
            <a:off x="6781800" y="3733800"/>
            <a:ext cx="1219200" cy="1173161"/>
            <a:chOff x="6781800" y="3733800"/>
            <a:chExt cx="1219200" cy="1173161"/>
          </a:xfrm>
        </p:grpSpPr>
        <p:grpSp>
          <p:nvGrpSpPr>
            <p:cNvPr id="1794" name="Google Shape;1794;p99"/>
            <p:cNvGrpSpPr/>
            <p:nvPr/>
          </p:nvGrpSpPr>
          <p:grpSpPr>
            <a:xfrm>
              <a:off x="6781800" y="3733800"/>
              <a:ext cx="1219200" cy="838200"/>
              <a:chOff x="3360" y="1632"/>
              <a:chExt cx="768" cy="528"/>
            </a:xfrm>
          </p:grpSpPr>
          <p:sp>
            <p:nvSpPr>
              <p:cNvPr id="1795" name="Google Shape;1795;p99"/>
              <p:cNvSpPr/>
              <p:nvPr/>
            </p:nvSpPr>
            <p:spPr>
              <a:xfrm>
                <a:off x="3360" y="1632"/>
                <a:ext cx="768" cy="528"/>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p:txBody>
          </p:sp>
          <p:cxnSp>
            <p:nvCxnSpPr>
              <p:cNvPr id="1796" name="Google Shape;1796;p99"/>
              <p:cNvCxnSpPr/>
              <p:nvPr/>
            </p:nvCxnSpPr>
            <p:spPr>
              <a:xfrm>
                <a:off x="3360" y="1920"/>
                <a:ext cx="768" cy="0"/>
              </a:xfrm>
              <a:prstGeom prst="straightConnector1">
                <a:avLst/>
              </a:prstGeom>
              <a:noFill/>
              <a:ln cap="flat" cmpd="sng" w="28575">
                <a:solidFill>
                  <a:schemeClr val="dk1"/>
                </a:solidFill>
                <a:prstDash val="solid"/>
                <a:round/>
                <a:headEnd len="med" w="med" type="none"/>
                <a:tailEnd len="med" w="med" type="none"/>
              </a:ln>
            </p:spPr>
          </p:cxnSp>
        </p:grpSp>
        <p:grpSp>
          <p:nvGrpSpPr>
            <p:cNvPr id="1797" name="Google Shape;1797;p99"/>
            <p:cNvGrpSpPr/>
            <p:nvPr/>
          </p:nvGrpSpPr>
          <p:grpSpPr>
            <a:xfrm>
              <a:off x="6934201" y="3733801"/>
              <a:ext cx="893763" cy="919163"/>
              <a:chOff x="3398" y="1562"/>
              <a:chExt cx="563" cy="579"/>
            </a:xfrm>
          </p:grpSpPr>
          <p:sp>
            <p:nvSpPr>
              <p:cNvPr id="1798" name="Google Shape;1798;p99"/>
              <p:cNvSpPr txBox="1"/>
              <p:nvPr/>
            </p:nvSpPr>
            <p:spPr>
              <a:xfrm>
                <a:off x="3398" y="1562"/>
                <a:ext cx="56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name</a:t>
                </a:r>
                <a:endParaRPr/>
              </a:p>
            </p:txBody>
          </p:sp>
          <p:sp>
            <p:nvSpPr>
              <p:cNvPr id="1799" name="Google Shape;1799;p99"/>
              <p:cNvSpPr txBox="1"/>
              <p:nvPr/>
            </p:nvSpPr>
            <p:spPr>
              <a:xfrm>
                <a:off x="3398" y="1850"/>
                <a:ext cx="509"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price</a:t>
                </a:r>
                <a:endParaRPr/>
              </a:p>
            </p:txBody>
          </p:sp>
        </p:grpSp>
        <p:sp>
          <p:nvSpPr>
            <p:cNvPr id="1800" name="Google Shape;1800;p99"/>
            <p:cNvSpPr txBox="1"/>
            <p:nvPr/>
          </p:nvSpPr>
          <p:spPr>
            <a:xfrm>
              <a:off x="6895515" y="4537629"/>
              <a:ext cx="10869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platforms</a:t>
              </a:r>
              <a:endParaRPr sz="2000">
                <a:solidFill>
                  <a:srgbClr val="000000"/>
                </a:solidFill>
                <a:latin typeface="Calibri"/>
                <a:ea typeface="Calibri"/>
                <a:cs typeface="Calibri"/>
                <a:sym typeface="Calibri"/>
              </a:endParaRPr>
            </a:p>
          </p:txBody>
        </p:sp>
      </p:grpSp>
      <p:grpSp>
        <p:nvGrpSpPr>
          <p:cNvPr id="1801" name="Google Shape;1801;p99"/>
          <p:cNvGrpSpPr/>
          <p:nvPr/>
        </p:nvGrpSpPr>
        <p:grpSpPr>
          <a:xfrm>
            <a:off x="6781800" y="5257800"/>
            <a:ext cx="1219200" cy="1145366"/>
            <a:chOff x="6781800" y="5257800"/>
            <a:chExt cx="1219200" cy="1145366"/>
          </a:xfrm>
        </p:grpSpPr>
        <p:grpSp>
          <p:nvGrpSpPr>
            <p:cNvPr id="1802" name="Google Shape;1802;p99"/>
            <p:cNvGrpSpPr/>
            <p:nvPr/>
          </p:nvGrpSpPr>
          <p:grpSpPr>
            <a:xfrm>
              <a:off x="6781800" y="5257800"/>
              <a:ext cx="1219200" cy="838200"/>
              <a:chOff x="3360" y="1632"/>
              <a:chExt cx="768" cy="528"/>
            </a:xfrm>
          </p:grpSpPr>
          <p:sp>
            <p:nvSpPr>
              <p:cNvPr id="1803" name="Google Shape;1803;p99"/>
              <p:cNvSpPr/>
              <p:nvPr/>
            </p:nvSpPr>
            <p:spPr>
              <a:xfrm>
                <a:off x="3360" y="1632"/>
                <a:ext cx="768" cy="528"/>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p:txBody>
          </p:sp>
          <p:cxnSp>
            <p:nvCxnSpPr>
              <p:cNvPr id="1804" name="Google Shape;1804;p99"/>
              <p:cNvCxnSpPr/>
              <p:nvPr/>
            </p:nvCxnSpPr>
            <p:spPr>
              <a:xfrm>
                <a:off x="3360" y="1920"/>
                <a:ext cx="768" cy="0"/>
              </a:xfrm>
              <a:prstGeom prst="straightConnector1">
                <a:avLst/>
              </a:prstGeom>
              <a:noFill/>
              <a:ln cap="flat" cmpd="sng" w="28575">
                <a:solidFill>
                  <a:schemeClr val="dk1"/>
                </a:solidFill>
                <a:prstDash val="solid"/>
                <a:round/>
                <a:headEnd len="med" w="med" type="none"/>
                <a:tailEnd len="med" w="med" type="none"/>
              </a:ln>
            </p:spPr>
          </p:cxnSp>
        </p:grpSp>
        <p:grpSp>
          <p:nvGrpSpPr>
            <p:cNvPr id="1805" name="Google Shape;1805;p99"/>
            <p:cNvGrpSpPr/>
            <p:nvPr/>
          </p:nvGrpSpPr>
          <p:grpSpPr>
            <a:xfrm>
              <a:off x="6934201" y="5257801"/>
              <a:ext cx="893763" cy="919163"/>
              <a:chOff x="3398" y="1562"/>
              <a:chExt cx="563" cy="579"/>
            </a:xfrm>
          </p:grpSpPr>
          <p:sp>
            <p:nvSpPr>
              <p:cNvPr id="1806" name="Google Shape;1806;p99"/>
              <p:cNvSpPr txBox="1"/>
              <p:nvPr/>
            </p:nvSpPr>
            <p:spPr>
              <a:xfrm>
                <a:off x="3398" y="1562"/>
                <a:ext cx="56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name</a:t>
                </a:r>
                <a:endParaRPr/>
              </a:p>
            </p:txBody>
          </p:sp>
          <p:sp>
            <p:nvSpPr>
              <p:cNvPr id="1807" name="Google Shape;1807;p99"/>
              <p:cNvSpPr txBox="1"/>
              <p:nvPr/>
            </p:nvSpPr>
            <p:spPr>
              <a:xfrm>
                <a:off x="3398" y="1850"/>
                <a:ext cx="509"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price</a:t>
                </a:r>
                <a:endParaRPr/>
              </a:p>
            </p:txBody>
          </p:sp>
        </p:grpSp>
        <p:sp>
          <p:nvSpPr>
            <p:cNvPr id="1808" name="Google Shape;1808;p99"/>
            <p:cNvSpPr txBox="1"/>
            <p:nvPr/>
          </p:nvSpPr>
          <p:spPr>
            <a:xfrm>
              <a:off x="6819352" y="6033834"/>
              <a:ext cx="110912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ageGroup</a:t>
              </a:r>
              <a:endParaRPr sz="1800">
                <a:solidFill>
                  <a:srgbClr val="000000"/>
                </a:solidFill>
                <a:latin typeface="Calibri"/>
                <a:ea typeface="Calibri"/>
                <a:cs typeface="Calibri"/>
                <a:sym typeface="Calibri"/>
              </a:endParaRPr>
            </a:p>
          </p:txBody>
        </p:sp>
      </p:grpSp>
      <p:sp>
        <p:nvSpPr>
          <p:cNvPr id="1809" name="Google Shape;1809;p99"/>
          <p:cNvSpPr txBox="1"/>
          <p:nvPr/>
        </p:nvSpPr>
        <p:spPr>
          <a:xfrm>
            <a:off x="9013371" y="2438398"/>
            <a:ext cx="2743200" cy="1938992"/>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Child subclasses contain all the attributes of </a:t>
            </a:r>
            <a:r>
              <a:rPr i="1" lang="en-US" sz="2000">
                <a:solidFill>
                  <a:schemeClr val="dk1"/>
                </a:solidFill>
                <a:latin typeface="Calibri"/>
                <a:ea typeface="Calibri"/>
                <a:cs typeface="Calibri"/>
                <a:sym typeface="Calibri"/>
              </a:rPr>
              <a:t>all </a:t>
            </a:r>
            <a:r>
              <a:rPr lang="en-US" sz="2000">
                <a:solidFill>
                  <a:schemeClr val="dk1"/>
                </a:solidFill>
                <a:latin typeface="Calibri"/>
                <a:ea typeface="Calibri"/>
                <a:cs typeface="Calibri"/>
                <a:sym typeface="Calibri"/>
              </a:rPr>
              <a:t>of their parent classes </a:t>
            </a:r>
            <a:r>
              <a:rPr b="1" lang="en-US" sz="2000" u="sng">
                <a:solidFill>
                  <a:schemeClr val="dk1"/>
                </a:solidFill>
                <a:latin typeface="Calibri"/>
                <a:ea typeface="Calibri"/>
                <a:cs typeface="Calibri"/>
                <a:sym typeface="Calibri"/>
              </a:rPr>
              <a:t>plus</a:t>
            </a:r>
            <a:r>
              <a:rPr lang="en-US" sz="2000">
                <a:solidFill>
                  <a:schemeClr val="dk1"/>
                </a:solidFill>
                <a:latin typeface="Calibri"/>
                <a:ea typeface="Calibri"/>
                <a:cs typeface="Calibri"/>
                <a:sym typeface="Calibri"/>
              </a:rPr>
              <a:t> the new attributes shown attached to them in the E/R diagram</a:t>
            </a:r>
            <a:endParaRPr/>
          </a:p>
        </p:txBody>
      </p:sp>
      <p:grpSp>
        <p:nvGrpSpPr>
          <p:cNvPr id="1810" name="Google Shape;1810;p99"/>
          <p:cNvGrpSpPr/>
          <p:nvPr/>
        </p:nvGrpSpPr>
        <p:grpSpPr>
          <a:xfrm>
            <a:off x="253390" y="2806701"/>
            <a:ext cx="3398119" cy="2275012"/>
            <a:chOff x="1676400" y="838200"/>
            <a:chExt cx="8991600" cy="6019800"/>
          </a:xfrm>
        </p:grpSpPr>
        <p:sp>
          <p:nvSpPr>
            <p:cNvPr id="1811" name="Google Shape;1811;p99"/>
            <p:cNvSpPr/>
            <p:nvPr/>
          </p:nvSpPr>
          <p:spPr>
            <a:xfrm>
              <a:off x="4800600" y="2667000"/>
              <a:ext cx="2133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rgbClr val="000000"/>
                  </a:solidFill>
                  <a:latin typeface="Calibri"/>
                  <a:ea typeface="Calibri"/>
                  <a:cs typeface="Calibri"/>
                  <a:sym typeface="Calibri"/>
                </a:rPr>
                <a:t>Product</a:t>
              </a:r>
              <a:endParaRPr/>
            </a:p>
          </p:txBody>
        </p:sp>
        <p:sp>
          <p:nvSpPr>
            <p:cNvPr id="1812" name="Google Shape;1812;p99"/>
            <p:cNvSpPr/>
            <p:nvPr/>
          </p:nvSpPr>
          <p:spPr>
            <a:xfrm>
              <a:off x="5105400" y="838200"/>
              <a:ext cx="1447800" cy="685800"/>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u="sng">
                  <a:solidFill>
                    <a:srgbClr val="000000"/>
                  </a:solidFill>
                  <a:latin typeface="Calibri"/>
                  <a:ea typeface="Calibri"/>
                  <a:cs typeface="Calibri"/>
                  <a:sym typeface="Calibri"/>
                </a:rPr>
                <a:t>name</a:t>
              </a:r>
              <a:endParaRPr/>
            </a:p>
          </p:txBody>
        </p:sp>
        <p:sp>
          <p:nvSpPr>
            <p:cNvPr id="1813" name="Google Shape;1813;p99"/>
            <p:cNvSpPr/>
            <p:nvPr/>
          </p:nvSpPr>
          <p:spPr>
            <a:xfrm>
              <a:off x="3962400" y="1752600"/>
              <a:ext cx="1447800" cy="685800"/>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rgbClr val="000000"/>
                  </a:solidFill>
                  <a:latin typeface="Calibri"/>
                  <a:ea typeface="Calibri"/>
                  <a:cs typeface="Calibri"/>
                  <a:sym typeface="Calibri"/>
                </a:rPr>
                <a:t>price</a:t>
              </a:r>
              <a:endParaRPr/>
            </a:p>
          </p:txBody>
        </p:sp>
        <p:cxnSp>
          <p:nvCxnSpPr>
            <p:cNvPr id="1814" name="Google Shape;1814;p99"/>
            <p:cNvCxnSpPr/>
            <p:nvPr/>
          </p:nvCxnSpPr>
          <p:spPr>
            <a:xfrm rot="10800000">
              <a:off x="5105400" y="2362200"/>
              <a:ext cx="304800" cy="304800"/>
            </a:xfrm>
            <a:prstGeom prst="straightConnector1">
              <a:avLst/>
            </a:prstGeom>
            <a:noFill/>
            <a:ln cap="flat" cmpd="sng" w="9525">
              <a:solidFill>
                <a:schemeClr val="dk1"/>
              </a:solidFill>
              <a:prstDash val="solid"/>
              <a:round/>
              <a:headEnd len="med" w="med" type="none"/>
              <a:tailEnd len="med" w="med" type="none"/>
            </a:ln>
          </p:spPr>
        </p:cxnSp>
        <p:cxnSp>
          <p:nvCxnSpPr>
            <p:cNvPr id="1815" name="Google Shape;1815;p99"/>
            <p:cNvCxnSpPr/>
            <p:nvPr/>
          </p:nvCxnSpPr>
          <p:spPr>
            <a:xfrm rot="10800000">
              <a:off x="5867400" y="1524000"/>
              <a:ext cx="0" cy="1143000"/>
            </a:xfrm>
            <a:prstGeom prst="straightConnector1">
              <a:avLst/>
            </a:prstGeom>
            <a:noFill/>
            <a:ln cap="flat" cmpd="sng" w="9525">
              <a:solidFill>
                <a:schemeClr val="dk1"/>
              </a:solidFill>
              <a:prstDash val="solid"/>
              <a:round/>
              <a:headEnd len="med" w="med" type="none"/>
              <a:tailEnd len="med" w="med" type="none"/>
            </a:ln>
          </p:spPr>
        </p:cxnSp>
        <p:sp>
          <p:nvSpPr>
            <p:cNvPr id="1816" name="Google Shape;1816;p99"/>
            <p:cNvSpPr/>
            <p:nvPr/>
          </p:nvSpPr>
          <p:spPr>
            <a:xfrm>
              <a:off x="5334000" y="3886200"/>
              <a:ext cx="990600" cy="838200"/>
            </a:xfrm>
            <a:prstGeom prst="triangle">
              <a:avLst>
                <a:gd fmla="val 50000" name="adj"/>
              </a:avLst>
            </a:prstGeom>
            <a:solidFill>
              <a:srgbClr val="00B0F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rgbClr val="000000"/>
                  </a:solidFill>
                  <a:latin typeface="Calibri"/>
                  <a:ea typeface="Calibri"/>
                  <a:cs typeface="Calibri"/>
                  <a:sym typeface="Calibri"/>
                </a:rPr>
                <a:t>isA</a:t>
              </a:r>
              <a:endParaRPr sz="800">
                <a:solidFill>
                  <a:srgbClr val="000000"/>
                </a:solidFill>
                <a:latin typeface="Calibri"/>
                <a:ea typeface="Calibri"/>
                <a:cs typeface="Calibri"/>
                <a:sym typeface="Calibri"/>
              </a:endParaRPr>
            </a:p>
          </p:txBody>
        </p:sp>
        <p:sp>
          <p:nvSpPr>
            <p:cNvPr id="1817" name="Google Shape;1817;p99"/>
            <p:cNvSpPr/>
            <p:nvPr/>
          </p:nvSpPr>
          <p:spPr>
            <a:xfrm>
              <a:off x="7086600" y="5257800"/>
              <a:ext cx="26670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rgbClr val="000000"/>
                  </a:solidFill>
                  <a:latin typeface="Calibri"/>
                  <a:ea typeface="Calibri"/>
                  <a:cs typeface="Calibri"/>
                  <a:sym typeface="Calibri"/>
                </a:rPr>
                <a:t>Educational Product</a:t>
              </a:r>
              <a:endParaRPr/>
            </a:p>
          </p:txBody>
        </p:sp>
        <p:sp>
          <p:nvSpPr>
            <p:cNvPr id="1818" name="Google Shape;1818;p99"/>
            <p:cNvSpPr/>
            <p:nvPr/>
          </p:nvSpPr>
          <p:spPr>
            <a:xfrm>
              <a:off x="2133600" y="5257800"/>
              <a:ext cx="23622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rgbClr val="000000"/>
                  </a:solidFill>
                  <a:latin typeface="Calibri"/>
                  <a:ea typeface="Calibri"/>
                  <a:cs typeface="Calibri"/>
                  <a:sym typeface="Calibri"/>
                </a:rPr>
                <a:t>Software Product</a:t>
              </a:r>
              <a:endParaRPr/>
            </a:p>
          </p:txBody>
        </p:sp>
        <p:sp>
          <p:nvSpPr>
            <p:cNvPr id="1819" name="Google Shape;1819;p99"/>
            <p:cNvSpPr/>
            <p:nvPr/>
          </p:nvSpPr>
          <p:spPr>
            <a:xfrm>
              <a:off x="9220200" y="6172200"/>
              <a:ext cx="1447800" cy="685800"/>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rgbClr val="000000"/>
                  </a:solidFill>
                  <a:latin typeface="Calibri"/>
                  <a:ea typeface="Calibri"/>
                  <a:cs typeface="Calibri"/>
                  <a:sym typeface="Calibri"/>
                </a:rPr>
                <a:t>ageGroup</a:t>
              </a:r>
              <a:endParaRPr sz="800">
                <a:solidFill>
                  <a:srgbClr val="000000"/>
                </a:solidFill>
                <a:latin typeface="Calibri"/>
                <a:ea typeface="Calibri"/>
                <a:cs typeface="Calibri"/>
                <a:sym typeface="Calibri"/>
              </a:endParaRPr>
            </a:p>
          </p:txBody>
        </p:sp>
        <p:sp>
          <p:nvSpPr>
            <p:cNvPr id="1820" name="Google Shape;1820;p99"/>
            <p:cNvSpPr/>
            <p:nvPr/>
          </p:nvSpPr>
          <p:spPr>
            <a:xfrm>
              <a:off x="1676400" y="6172200"/>
              <a:ext cx="1447800" cy="685800"/>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rgbClr val="000000"/>
                  </a:solidFill>
                  <a:latin typeface="Calibri"/>
                  <a:ea typeface="Calibri"/>
                  <a:cs typeface="Calibri"/>
                  <a:sym typeface="Calibri"/>
                </a:rPr>
                <a:t>platforms</a:t>
              </a:r>
              <a:endParaRPr/>
            </a:p>
          </p:txBody>
        </p:sp>
        <p:cxnSp>
          <p:nvCxnSpPr>
            <p:cNvPr id="1821" name="Google Shape;1821;p99"/>
            <p:cNvCxnSpPr/>
            <p:nvPr/>
          </p:nvCxnSpPr>
          <p:spPr>
            <a:xfrm flipH="1">
              <a:off x="3124200" y="6019800"/>
              <a:ext cx="1066800" cy="457200"/>
            </a:xfrm>
            <a:prstGeom prst="straightConnector1">
              <a:avLst/>
            </a:prstGeom>
            <a:noFill/>
            <a:ln cap="flat" cmpd="sng" w="9525">
              <a:solidFill>
                <a:schemeClr val="dk1"/>
              </a:solidFill>
              <a:prstDash val="solid"/>
              <a:round/>
              <a:headEnd len="med" w="med" type="none"/>
              <a:tailEnd len="med" w="med" type="none"/>
            </a:ln>
          </p:spPr>
        </p:cxnSp>
        <p:cxnSp>
          <p:nvCxnSpPr>
            <p:cNvPr id="1822" name="Google Shape;1822;p99"/>
            <p:cNvCxnSpPr/>
            <p:nvPr/>
          </p:nvCxnSpPr>
          <p:spPr>
            <a:xfrm>
              <a:off x="8077200" y="6019800"/>
              <a:ext cx="1143000" cy="457200"/>
            </a:xfrm>
            <a:prstGeom prst="straightConnector1">
              <a:avLst/>
            </a:prstGeom>
            <a:noFill/>
            <a:ln cap="flat" cmpd="sng" w="9525">
              <a:solidFill>
                <a:schemeClr val="dk1"/>
              </a:solidFill>
              <a:prstDash val="solid"/>
              <a:round/>
              <a:headEnd len="med" w="med" type="none"/>
              <a:tailEnd len="med" w="med" type="none"/>
            </a:ln>
          </p:spPr>
        </p:cxnSp>
        <p:cxnSp>
          <p:nvCxnSpPr>
            <p:cNvPr id="1823" name="Google Shape;1823;p99"/>
            <p:cNvCxnSpPr/>
            <p:nvPr/>
          </p:nvCxnSpPr>
          <p:spPr>
            <a:xfrm flipH="1" rot="10800000">
              <a:off x="3352800" y="4724400"/>
              <a:ext cx="1981200" cy="5334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824" name="Google Shape;1824;p99"/>
            <p:cNvCxnSpPr/>
            <p:nvPr/>
          </p:nvCxnSpPr>
          <p:spPr>
            <a:xfrm flipH="1" rot="5400000">
              <a:off x="7105650" y="3943350"/>
              <a:ext cx="533400" cy="20955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825" name="Google Shape;1825;p99"/>
            <p:cNvCxnSpPr/>
            <p:nvPr/>
          </p:nvCxnSpPr>
          <p:spPr>
            <a:xfrm rot="-5400000">
              <a:off x="5619750" y="3638550"/>
              <a:ext cx="457200" cy="381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9" name="Shape 1829"/>
        <p:cNvGrpSpPr/>
        <p:nvPr/>
      </p:nvGrpSpPr>
      <p:grpSpPr>
        <a:xfrm>
          <a:off x="0" y="0"/>
          <a:ext cx="0" cy="0"/>
          <a:chOff x="0" y="0"/>
          <a:chExt cx="0" cy="0"/>
        </a:xfrm>
      </p:grpSpPr>
      <p:sp>
        <p:nvSpPr>
          <p:cNvPr id="1830" name="Google Shape;1830;p100"/>
          <p:cNvSpPr txBox="1"/>
          <p:nvPr>
            <p:ph type="title"/>
          </p:nvPr>
        </p:nvSpPr>
        <p:spPr>
          <a:xfrm>
            <a:off x="1905000" y="152400"/>
            <a:ext cx="4800600" cy="9906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83333"/>
              <a:buFont typeface="Calibri"/>
              <a:buNone/>
            </a:pPr>
            <a:br>
              <a:rPr lang="en-US"/>
            </a:br>
            <a:r>
              <a:rPr lang="en-US"/>
              <a:t>Think like tables…</a:t>
            </a:r>
            <a:br>
              <a:rPr lang="en-US" sz="2400">
                <a:solidFill>
                  <a:schemeClr val="dk1"/>
                </a:solidFill>
              </a:rPr>
            </a:br>
            <a:endParaRPr sz="2400">
              <a:solidFill>
                <a:schemeClr val="dk1"/>
              </a:solidFill>
            </a:endParaRPr>
          </a:p>
        </p:txBody>
      </p:sp>
      <p:sp>
        <p:nvSpPr>
          <p:cNvPr id="1831" name="Google Shape;1831;p10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grpSp>
        <p:nvGrpSpPr>
          <p:cNvPr id="1832" name="Google Shape;1832;p100"/>
          <p:cNvGrpSpPr/>
          <p:nvPr/>
        </p:nvGrpSpPr>
        <p:grpSpPr>
          <a:xfrm>
            <a:off x="609601" y="1905000"/>
            <a:ext cx="5867400" cy="3927475"/>
            <a:chOff x="96" y="528"/>
            <a:chExt cx="5664" cy="3792"/>
          </a:xfrm>
        </p:grpSpPr>
        <p:sp>
          <p:nvSpPr>
            <p:cNvPr id="1833" name="Google Shape;1833;p100"/>
            <p:cNvSpPr/>
            <p:nvPr/>
          </p:nvSpPr>
          <p:spPr>
            <a:xfrm>
              <a:off x="2064" y="1680"/>
              <a:ext cx="1344" cy="480"/>
            </a:xfrm>
            <a:prstGeom prst="rect">
              <a:avLst/>
            </a:prstGeom>
            <a:solidFill>
              <a:srgbClr val="FFF2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Calibri"/>
                  <a:ea typeface="Calibri"/>
                  <a:cs typeface="Calibri"/>
                  <a:sym typeface="Calibri"/>
                </a:rPr>
                <a:t>Product</a:t>
              </a:r>
              <a:endParaRPr/>
            </a:p>
          </p:txBody>
        </p:sp>
        <p:sp>
          <p:nvSpPr>
            <p:cNvPr id="1834" name="Google Shape;1834;p100"/>
            <p:cNvSpPr/>
            <p:nvPr/>
          </p:nvSpPr>
          <p:spPr>
            <a:xfrm>
              <a:off x="2256" y="528"/>
              <a:ext cx="912" cy="432"/>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u="sng">
                  <a:solidFill>
                    <a:srgbClr val="000000"/>
                  </a:solidFill>
                  <a:latin typeface="Calibri"/>
                  <a:ea typeface="Calibri"/>
                  <a:cs typeface="Calibri"/>
                  <a:sym typeface="Calibri"/>
                </a:rPr>
                <a:t>name</a:t>
              </a:r>
              <a:endParaRPr/>
            </a:p>
          </p:txBody>
        </p:sp>
        <p:sp>
          <p:nvSpPr>
            <p:cNvPr id="1835" name="Google Shape;1835;p100"/>
            <p:cNvSpPr/>
            <p:nvPr/>
          </p:nvSpPr>
          <p:spPr>
            <a:xfrm>
              <a:off x="1536" y="1104"/>
              <a:ext cx="912" cy="432"/>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Calibri"/>
                  <a:ea typeface="Calibri"/>
                  <a:cs typeface="Calibri"/>
                  <a:sym typeface="Calibri"/>
                </a:rPr>
                <a:t>price</a:t>
              </a:r>
              <a:endParaRPr/>
            </a:p>
          </p:txBody>
        </p:sp>
        <p:cxnSp>
          <p:nvCxnSpPr>
            <p:cNvPr id="1836" name="Google Shape;1836;p100"/>
            <p:cNvCxnSpPr/>
            <p:nvPr/>
          </p:nvCxnSpPr>
          <p:spPr>
            <a:xfrm rot="10800000">
              <a:off x="2256" y="1488"/>
              <a:ext cx="192" cy="192"/>
            </a:xfrm>
            <a:prstGeom prst="straightConnector1">
              <a:avLst/>
            </a:prstGeom>
            <a:noFill/>
            <a:ln cap="flat" cmpd="sng" w="9525">
              <a:solidFill>
                <a:schemeClr val="dk1"/>
              </a:solidFill>
              <a:prstDash val="solid"/>
              <a:round/>
              <a:headEnd len="med" w="med" type="none"/>
              <a:tailEnd len="med" w="med" type="none"/>
            </a:ln>
          </p:spPr>
        </p:cxnSp>
        <p:cxnSp>
          <p:nvCxnSpPr>
            <p:cNvPr id="1837" name="Google Shape;1837;p100"/>
            <p:cNvCxnSpPr/>
            <p:nvPr/>
          </p:nvCxnSpPr>
          <p:spPr>
            <a:xfrm rot="10800000">
              <a:off x="2736" y="960"/>
              <a:ext cx="0" cy="720"/>
            </a:xfrm>
            <a:prstGeom prst="straightConnector1">
              <a:avLst/>
            </a:prstGeom>
            <a:noFill/>
            <a:ln cap="flat" cmpd="sng" w="9525">
              <a:solidFill>
                <a:schemeClr val="dk1"/>
              </a:solidFill>
              <a:prstDash val="solid"/>
              <a:round/>
              <a:headEnd len="med" w="med" type="none"/>
              <a:tailEnd len="med" w="med" type="none"/>
            </a:ln>
          </p:spPr>
        </p:cxnSp>
        <p:sp>
          <p:nvSpPr>
            <p:cNvPr id="1838" name="Google Shape;1838;p100"/>
            <p:cNvSpPr/>
            <p:nvPr/>
          </p:nvSpPr>
          <p:spPr>
            <a:xfrm>
              <a:off x="2376" y="2294"/>
              <a:ext cx="624" cy="528"/>
            </a:xfrm>
            <a:prstGeom prst="triangle">
              <a:avLst>
                <a:gd fmla="val 50000" name="adj"/>
              </a:avLst>
            </a:prstGeom>
            <a:solidFill>
              <a:srgbClr val="00B0F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Calibri"/>
                  <a:ea typeface="Calibri"/>
                  <a:cs typeface="Calibri"/>
                  <a:sym typeface="Calibri"/>
                </a:rPr>
                <a:t>isA</a:t>
              </a:r>
              <a:endParaRPr sz="1600">
                <a:solidFill>
                  <a:srgbClr val="000000"/>
                </a:solidFill>
                <a:latin typeface="Calibri"/>
                <a:ea typeface="Calibri"/>
                <a:cs typeface="Calibri"/>
                <a:sym typeface="Calibri"/>
              </a:endParaRPr>
            </a:p>
          </p:txBody>
        </p:sp>
        <p:sp>
          <p:nvSpPr>
            <p:cNvPr id="1839" name="Google Shape;1839;p100"/>
            <p:cNvSpPr/>
            <p:nvPr/>
          </p:nvSpPr>
          <p:spPr>
            <a:xfrm>
              <a:off x="3504" y="3312"/>
              <a:ext cx="1680" cy="480"/>
            </a:xfrm>
            <a:prstGeom prst="rect">
              <a:avLst/>
            </a:prstGeom>
            <a:solidFill>
              <a:srgbClr val="FFF2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Calibri"/>
                  <a:ea typeface="Calibri"/>
                  <a:cs typeface="Calibri"/>
                  <a:sym typeface="Calibri"/>
                </a:rPr>
                <a:t>Educational Product</a:t>
              </a:r>
              <a:endParaRPr/>
            </a:p>
          </p:txBody>
        </p:sp>
        <p:sp>
          <p:nvSpPr>
            <p:cNvPr id="1840" name="Google Shape;1840;p100"/>
            <p:cNvSpPr/>
            <p:nvPr/>
          </p:nvSpPr>
          <p:spPr>
            <a:xfrm>
              <a:off x="384" y="3312"/>
              <a:ext cx="1488" cy="480"/>
            </a:xfrm>
            <a:prstGeom prst="rect">
              <a:avLst/>
            </a:prstGeom>
            <a:solidFill>
              <a:srgbClr val="FFF2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Calibri"/>
                  <a:ea typeface="Calibri"/>
                  <a:cs typeface="Calibri"/>
                  <a:sym typeface="Calibri"/>
                </a:rPr>
                <a:t>Software Product</a:t>
              </a:r>
              <a:endParaRPr/>
            </a:p>
          </p:txBody>
        </p:sp>
        <p:sp>
          <p:nvSpPr>
            <p:cNvPr id="1841" name="Google Shape;1841;p100"/>
            <p:cNvSpPr/>
            <p:nvPr/>
          </p:nvSpPr>
          <p:spPr>
            <a:xfrm>
              <a:off x="4848" y="3888"/>
              <a:ext cx="912" cy="432"/>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Calibri"/>
                  <a:ea typeface="Calibri"/>
                  <a:cs typeface="Calibri"/>
                  <a:sym typeface="Calibri"/>
                </a:rPr>
                <a:t>ageGroup</a:t>
              </a:r>
              <a:endParaRPr sz="1600">
                <a:solidFill>
                  <a:srgbClr val="000000"/>
                </a:solidFill>
                <a:latin typeface="Calibri"/>
                <a:ea typeface="Calibri"/>
                <a:cs typeface="Calibri"/>
                <a:sym typeface="Calibri"/>
              </a:endParaRPr>
            </a:p>
          </p:txBody>
        </p:sp>
        <p:sp>
          <p:nvSpPr>
            <p:cNvPr id="1842" name="Google Shape;1842;p100"/>
            <p:cNvSpPr/>
            <p:nvPr/>
          </p:nvSpPr>
          <p:spPr>
            <a:xfrm>
              <a:off x="96" y="3888"/>
              <a:ext cx="912" cy="432"/>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Calibri"/>
                  <a:ea typeface="Calibri"/>
                  <a:cs typeface="Calibri"/>
                  <a:sym typeface="Calibri"/>
                </a:rPr>
                <a:t>platforms</a:t>
              </a:r>
              <a:endParaRPr/>
            </a:p>
          </p:txBody>
        </p:sp>
        <p:cxnSp>
          <p:nvCxnSpPr>
            <p:cNvPr id="1843" name="Google Shape;1843;p100"/>
            <p:cNvCxnSpPr/>
            <p:nvPr/>
          </p:nvCxnSpPr>
          <p:spPr>
            <a:xfrm flipH="1">
              <a:off x="1008" y="3792"/>
              <a:ext cx="672" cy="288"/>
            </a:xfrm>
            <a:prstGeom prst="straightConnector1">
              <a:avLst/>
            </a:prstGeom>
            <a:noFill/>
            <a:ln cap="flat" cmpd="sng" w="9525">
              <a:solidFill>
                <a:schemeClr val="dk1"/>
              </a:solidFill>
              <a:prstDash val="solid"/>
              <a:round/>
              <a:headEnd len="med" w="med" type="none"/>
              <a:tailEnd len="med" w="med" type="none"/>
            </a:ln>
          </p:spPr>
        </p:cxnSp>
        <p:cxnSp>
          <p:nvCxnSpPr>
            <p:cNvPr id="1844" name="Google Shape;1844;p100"/>
            <p:cNvCxnSpPr/>
            <p:nvPr/>
          </p:nvCxnSpPr>
          <p:spPr>
            <a:xfrm>
              <a:off x="4128" y="3792"/>
              <a:ext cx="720" cy="288"/>
            </a:xfrm>
            <a:prstGeom prst="straightConnector1">
              <a:avLst/>
            </a:prstGeom>
            <a:noFill/>
            <a:ln cap="flat" cmpd="sng" w="9525">
              <a:solidFill>
                <a:schemeClr val="dk1"/>
              </a:solidFill>
              <a:prstDash val="solid"/>
              <a:round/>
              <a:headEnd len="med" w="med" type="none"/>
              <a:tailEnd len="med" w="med" type="none"/>
            </a:ln>
          </p:spPr>
        </p:cxnSp>
      </p:grpSp>
      <p:graphicFrame>
        <p:nvGraphicFramePr>
          <p:cNvPr id="1845" name="Google Shape;1845;p100"/>
          <p:cNvGraphicFramePr/>
          <p:nvPr/>
        </p:nvGraphicFramePr>
        <p:xfrm>
          <a:off x="7010400" y="914400"/>
          <a:ext cx="3000000" cy="3000000"/>
        </p:xfrm>
        <a:graphic>
          <a:graphicData uri="http://schemas.openxmlformats.org/drawingml/2006/table">
            <a:tbl>
              <a:tblPr>
                <a:noFill/>
                <a:tableStyleId>{76483B8C-9486-497F-8D0B-44230879F61F}</a:tableStyleId>
              </a:tblPr>
              <a:tblGrid>
                <a:gridCol w="1143000"/>
                <a:gridCol w="1143000"/>
                <a:gridCol w="1143000"/>
              </a:tblGrid>
              <a:tr h="495300">
                <a:tc>
                  <a:txBody>
                    <a:bodyPr/>
                    <a:lstStyle/>
                    <a:p>
                      <a:pPr indent="0" lvl="0" marL="0" marR="0" rtl="0" algn="ctr">
                        <a:lnSpc>
                          <a:spcPct val="100000"/>
                        </a:lnSpc>
                        <a:spcBef>
                          <a:spcPts val="0"/>
                        </a:spcBef>
                        <a:spcAft>
                          <a:spcPts val="0"/>
                        </a:spcAft>
                        <a:buClr>
                          <a:schemeClr val="accent2"/>
                        </a:buClr>
                        <a:buSzPts val="2000"/>
                        <a:buFont typeface="Times New Roman"/>
                        <a:buNone/>
                      </a:pPr>
                      <a:r>
                        <a:rPr b="0" i="0" lang="en-US" sz="2000" u="sng" cap="none" strike="noStrike">
                          <a:solidFill>
                            <a:schemeClr val="accent2"/>
                          </a:solidFill>
                          <a:latin typeface="Times New Roman"/>
                          <a:ea typeface="Times New Roman"/>
                          <a:cs typeface="Times New Roman"/>
                          <a:sym typeface="Times New Roman"/>
                        </a:rPr>
                        <a:t>name</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2000"/>
                        <a:buFont typeface="Times New Roman"/>
                        <a:buNone/>
                      </a:pPr>
                      <a:r>
                        <a:rPr b="0" i="0" lang="en-US" sz="2000" u="none" cap="none" strike="noStrike">
                          <a:solidFill>
                            <a:schemeClr val="accent2"/>
                          </a:solidFill>
                          <a:latin typeface="Times New Roman"/>
                          <a:ea typeface="Times New Roman"/>
                          <a:cs typeface="Times New Roman"/>
                          <a:sym typeface="Times New Roman"/>
                        </a:rPr>
                        <a:t>price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2000"/>
                        <a:buFont typeface="Times New Roman"/>
                        <a:buNone/>
                      </a:pPr>
                      <a:r>
                        <a:rPr b="0" i="0" lang="en-US" sz="2000" u="none" cap="none" strike="noStrike">
                          <a:solidFill>
                            <a:schemeClr val="accent2"/>
                          </a:solidFill>
                          <a:latin typeface="Times New Roman"/>
                          <a:ea typeface="Times New Roman"/>
                          <a:cs typeface="Times New Roman"/>
                          <a:sym typeface="Times New Roman"/>
                        </a:rPr>
                        <a:t>category</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95300">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Gizmo</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99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gadget</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95300">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Camera</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49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photo</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95300">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Toy</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39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gadget</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846" name="Google Shape;1846;p100"/>
          <p:cNvGraphicFramePr/>
          <p:nvPr/>
        </p:nvGraphicFramePr>
        <p:xfrm>
          <a:off x="7772400" y="3276600"/>
          <a:ext cx="3000000" cy="3000000"/>
        </p:xfrm>
        <a:graphic>
          <a:graphicData uri="http://schemas.openxmlformats.org/drawingml/2006/table">
            <a:tbl>
              <a:tblPr>
                <a:noFill/>
                <a:tableStyleId>{76483B8C-9486-497F-8D0B-44230879F61F}</a:tableStyleId>
              </a:tblPr>
              <a:tblGrid>
                <a:gridCol w="1333500"/>
                <a:gridCol w="1333500"/>
              </a:tblGrid>
              <a:tr h="495300">
                <a:tc>
                  <a:txBody>
                    <a:bodyPr/>
                    <a:lstStyle/>
                    <a:p>
                      <a:pPr indent="0" lvl="0" marL="0" marR="0" rtl="0" algn="ctr">
                        <a:lnSpc>
                          <a:spcPct val="100000"/>
                        </a:lnSpc>
                        <a:spcBef>
                          <a:spcPts val="0"/>
                        </a:spcBef>
                        <a:spcAft>
                          <a:spcPts val="0"/>
                        </a:spcAft>
                        <a:buClr>
                          <a:schemeClr val="accent2"/>
                        </a:buClr>
                        <a:buSzPts val="2000"/>
                        <a:buFont typeface="Times New Roman"/>
                        <a:buNone/>
                      </a:pPr>
                      <a:r>
                        <a:rPr b="0" i="0" lang="en-US" sz="2000" u="sng" cap="none" strike="noStrike">
                          <a:solidFill>
                            <a:schemeClr val="accent2"/>
                          </a:solidFill>
                          <a:latin typeface="Times New Roman"/>
                          <a:ea typeface="Times New Roman"/>
                          <a:cs typeface="Times New Roman"/>
                          <a:sym typeface="Times New Roman"/>
                        </a:rPr>
                        <a:t>name</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2000"/>
                        <a:buFont typeface="Times New Roman"/>
                        <a:buNone/>
                      </a:pPr>
                      <a:r>
                        <a:rPr b="0" i="0" lang="en-US" sz="2000" u="none" cap="none" strike="noStrike">
                          <a:solidFill>
                            <a:schemeClr val="accent2"/>
                          </a:solidFill>
                          <a:latin typeface="Times New Roman"/>
                          <a:ea typeface="Times New Roman"/>
                          <a:cs typeface="Times New Roman"/>
                          <a:sym typeface="Times New Roman"/>
                        </a:rPr>
                        <a:t>platforms</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95300">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Gizmo</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unix</a:t>
                      </a:r>
                      <a:endParaRPr b="0" i="0" sz="2000" u="none" cap="none" strike="noStrike">
                        <a:solidFill>
                          <a:schemeClr val="dk1"/>
                        </a:solidFill>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847" name="Google Shape;1847;p100"/>
          <p:cNvGraphicFramePr/>
          <p:nvPr/>
        </p:nvGraphicFramePr>
        <p:xfrm>
          <a:off x="7696200" y="4800600"/>
          <a:ext cx="3000000" cy="3000000"/>
        </p:xfrm>
        <a:graphic>
          <a:graphicData uri="http://schemas.openxmlformats.org/drawingml/2006/table">
            <a:tbl>
              <a:tblPr>
                <a:noFill/>
                <a:tableStyleId>{76483B8C-9486-497F-8D0B-44230879F61F}</a:tableStyleId>
              </a:tblPr>
              <a:tblGrid>
                <a:gridCol w="1333500"/>
                <a:gridCol w="1333500"/>
              </a:tblGrid>
              <a:tr h="495300">
                <a:tc>
                  <a:txBody>
                    <a:bodyPr/>
                    <a:lstStyle/>
                    <a:p>
                      <a:pPr indent="0" lvl="0" marL="0" marR="0" rtl="0" algn="ctr">
                        <a:lnSpc>
                          <a:spcPct val="100000"/>
                        </a:lnSpc>
                        <a:spcBef>
                          <a:spcPts val="0"/>
                        </a:spcBef>
                        <a:spcAft>
                          <a:spcPts val="0"/>
                        </a:spcAft>
                        <a:buClr>
                          <a:schemeClr val="accent2"/>
                        </a:buClr>
                        <a:buSzPts val="2000"/>
                        <a:buFont typeface="Times New Roman"/>
                        <a:buNone/>
                      </a:pPr>
                      <a:r>
                        <a:rPr b="0" i="0" lang="en-US" sz="2000" u="sng" cap="none" strike="noStrike">
                          <a:solidFill>
                            <a:schemeClr val="accent2"/>
                          </a:solidFill>
                          <a:latin typeface="Times New Roman"/>
                          <a:ea typeface="Times New Roman"/>
                          <a:cs typeface="Times New Roman"/>
                          <a:sym typeface="Times New Roman"/>
                        </a:rPr>
                        <a:t>name</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2000"/>
                        <a:buFont typeface="Times New Roman"/>
                        <a:buNone/>
                      </a:pPr>
                      <a:r>
                        <a:rPr b="0" i="0" lang="en-US" sz="2000" u="none" cap="none" strike="noStrike">
                          <a:solidFill>
                            <a:schemeClr val="accent2"/>
                          </a:solidFill>
                          <a:latin typeface="Times New Roman"/>
                          <a:ea typeface="Times New Roman"/>
                          <a:cs typeface="Times New Roman"/>
                          <a:sym typeface="Times New Roman"/>
                        </a:rPr>
                        <a:t>ageGroup</a:t>
                      </a:r>
                      <a:endParaRPr b="0" i="0" sz="2000" u="none" cap="none" strike="noStrike">
                        <a:solidFill>
                          <a:schemeClr val="accent2"/>
                        </a:solidFill>
                        <a:latin typeface="Times New Roman"/>
                        <a:ea typeface="Times New Roman"/>
                        <a:cs typeface="Times New Roman"/>
                        <a:sym typeface="Times New Roman"/>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95300">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Gizmo</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toddler</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95300">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Toy</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retired</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848" name="Google Shape;1848;p100"/>
          <p:cNvSpPr txBox="1"/>
          <p:nvPr/>
        </p:nvSpPr>
        <p:spPr>
          <a:xfrm>
            <a:off x="6562726" y="385742"/>
            <a:ext cx="116397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Calibri"/>
                <a:ea typeface="Calibri"/>
                <a:cs typeface="Calibri"/>
                <a:sym typeface="Calibri"/>
              </a:rPr>
              <a:t>Product</a:t>
            </a:r>
            <a:endParaRPr/>
          </a:p>
        </p:txBody>
      </p:sp>
      <p:sp>
        <p:nvSpPr>
          <p:cNvPr id="1849" name="Google Shape;1849;p100"/>
          <p:cNvSpPr txBox="1"/>
          <p:nvPr/>
        </p:nvSpPr>
        <p:spPr>
          <a:xfrm>
            <a:off x="6096001" y="3200400"/>
            <a:ext cx="15986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Calibri"/>
                <a:ea typeface="Calibri"/>
                <a:cs typeface="Calibri"/>
                <a:sym typeface="Calibri"/>
              </a:rPr>
              <a:t>Sw.Product</a:t>
            </a:r>
            <a:endParaRPr/>
          </a:p>
        </p:txBody>
      </p:sp>
      <p:sp>
        <p:nvSpPr>
          <p:cNvPr id="1850" name="Google Shape;1850;p100"/>
          <p:cNvSpPr txBox="1"/>
          <p:nvPr/>
        </p:nvSpPr>
        <p:spPr>
          <a:xfrm>
            <a:off x="6629401" y="4267200"/>
            <a:ext cx="154622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Calibri"/>
                <a:ea typeface="Calibri"/>
                <a:cs typeface="Calibri"/>
                <a:sym typeface="Calibri"/>
              </a:rPr>
              <a:t>Ed.Product</a:t>
            </a:r>
            <a:endParaRPr/>
          </a:p>
        </p:txBody>
      </p:sp>
      <p:cxnSp>
        <p:nvCxnSpPr>
          <p:cNvPr id="1851" name="Google Shape;1851;p100"/>
          <p:cNvCxnSpPr>
            <a:stCxn id="1840" idx="0"/>
            <a:endCxn id="1838" idx="3"/>
          </p:cNvCxnSpPr>
          <p:nvPr/>
        </p:nvCxnSpPr>
        <p:spPr>
          <a:xfrm flipH="1" rot="10800000">
            <a:off x="1678661" y="4280863"/>
            <a:ext cx="1616100" cy="5076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852" name="Google Shape;1852;p100"/>
          <p:cNvCxnSpPr>
            <a:stCxn id="1839" idx="0"/>
            <a:endCxn id="1838" idx="3"/>
          </p:cNvCxnSpPr>
          <p:nvPr/>
        </p:nvCxnSpPr>
        <p:spPr>
          <a:xfrm rot="10800000">
            <a:off x="3294751" y="4280863"/>
            <a:ext cx="1715400" cy="5076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853" name="Google Shape;1853;p100"/>
          <p:cNvCxnSpPr>
            <a:stCxn id="1838" idx="0"/>
            <a:endCxn id="1833" idx="2"/>
          </p:cNvCxnSpPr>
          <p:nvPr/>
        </p:nvCxnSpPr>
        <p:spPr>
          <a:xfrm flipH="1" rot="10800000">
            <a:off x="3294682" y="3595193"/>
            <a:ext cx="49800" cy="1389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7" name="Shape 1857"/>
        <p:cNvGrpSpPr/>
        <p:nvPr/>
      </p:nvGrpSpPr>
      <p:grpSpPr>
        <a:xfrm>
          <a:off x="0" y="0"/>
          <a:ext cx="0" cy="0"/>
          <a:chOff x="0" y="0"/>
          <a:chExt cx="0" cy="0"/>
        </a:xfrm>
      </p:grpSpPr>
      <p:sp>
        <p:nvSpPr>
          <p:cNvPr id="1858" name="Google Shape;1858;p10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IsA Review</a:t>
            </a:r>
            <a:endParaRPr/>
          </a:p>
        </p:txBody>
      </p:sp>
      <p:sp>
        <p:nvSpPr>
          <p:cNvPr id="1859" name="Google Shape;1859;p10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If we declare </a:t>
            </a:r>
            <a:r>
              <a:rPr b="1" i="1" lang="en-US"/>
              <a:t>A IsA B </a:t>
            </a:r>
            <a:r>
              <a:rPr lang="en-US"/>
              <a:t>then every </a:t>
            </a:r>
            <a:r>
              <a:rPr b="1" lang="en-US"/>
              <a:t>A</a:t>
            </a:r>
            <a:r>
              <a:rPr lang="en-US"/>
              <a:t> is a </a:t>
            </a:r>
            <a:r>
              <a:rPr b="1" lang="en-US"/>
              <a:t>B</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We use IsA to</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Add descriptive attributes to a subclass</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To identify entities that participate in a relationship</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b="1" lang="en-US"/>
              <a:t>No need for multiple inheritance</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860" name="Google Shape;1860;p10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9">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4" name="Shape 1864"/>
        <p:cNvGrpSpPr/>
        <p:nvPr/>
      </p:nvGrpSpPr>
      <p:grpSpPr>
        <a:xfrm>
          <a:off x="0" y="0"/>
          <a:ext cx="0" cy="0"/>
          <a:chOff x="0" y="0"/>
          <a:chExt cx="0" cy="0"/>
        </a:xfrm>
      </p:grpSpPr>
      <p:sp>
        <p:nvSpPr>
          <p:cNvPr id="1865" name="Google Shape;1865;p10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Modeling UnionTypes With Subclasses</a:t>
            </a:r>
            <a:endParaRPr/>
          </a:p>
        </p:txBody>
      </p:sp>
      <p:sp>
        <p:nvSpPr>
          <p:cNvPr id="1866" name="Google Shape;1866;p10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1867" name="Google Shape;1867;p102"/>
          <p:cNvSpPr/>
          <p:nvPr/>
        </p:nvSpPr>
        <p:spPr>
          <a:xfrm>
            <a:off x="2895600" y="4747866"/>
            <a:ext cx="6705600" cy="138499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Suppose each piece of furniture is owned either by a person, or by a company.  </a:t>
            </a:r>
            <a:r>
              <a:rPr i="1" lang="en-US" sz="2800">
                <a:solidFill>
                  <a:srgbClr val="000000"/>
                </a:solidFill>
                <a:latin typeface="Calibri"/>
                <a:ea typeface="Calibri"/>
                <a:cs typeface="Calibri"/>
                <a:sym typeface="Calibri"/>
              </a:rPr>
              <a:t>How do we represent this?</a:t>
            </a:r>
            <a:endParaRPr/>
          </a:p>
        </p:txBody>
      </p:sp>
      <p:sp>
        <p:nvSpPr>
          <p:cNvPr id="1868" name="Google Shape;1868;p102"/>
          <p:cNvSpPr/>
          <p:nvPr/>
        </p:nvSpPr>
        <p:spPr>
          <a:xfrm>
            <a:off x="5334000" y="2985914"/>
            <a:ext cx="1985963" cy="466725"/>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FurniturePiece</a:t>
            </a:r>
            <a:endParaRPr/>
          </a:p>
        </p:txBody>
      </p:sp>
      <p:sp>
        <p:nvSpPr>
          <p:cNvPr id="1869" name="Google Shape;1869;p102"/>
          <p:cNvSpPr/>
          <p:nvPr/>
        </p:nvSpPr>
        <p:spPr>
          <a:xfrm>
            <a:off x="2895600" y="2985914"/>
            <a:ext cx="1023938" cy="466725"/>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a:t>
            </a:r>
            <a:endParaRPr/>
          </a:p>
        </p:txBody>
      </p:sp>
      <p:sp>
        <p:nvSpPr>
          <p:cNvPr id="1870" name="Google Shape;1870;p102"/>
          <p:cNvSpPr/>
          <p:nvPr/>
        </p:nvSpPr>
        <p:spPr>
          <a:xfrm>
            <a:off x="8610600" y="2985914"/>
            <a:ext cx="1377950" cy="466725"/>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2400">
                <a:solidFill>
                  <a:srgbClr val="000000"/>
                </a:solidFill>
                <a:latin typeface="Calibri"/>
                <a:ea typeface="Calibri"/>
                <a:cs typeface="Calibri"/>
                <a:sym typeface="Calibri"/>
              </a:rPr>
              <a:t>Company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4" name="Shape 1874"/>
        <p:cNvGrpSpPr/>
        <p:nvPr/>
      </p:nvGrpSpPr>
      <p:grpSpPr>
        <a:xfrm>
          <a:off x="0" y="0"/>
          <a:ext cx="0" cy="0"/>
          <a:chOff x="0" y="0"/>
          <a:chExt cx="0" cy="0"/>
        </a:xfrm>
      </p:grpSpPr>
      <p:sp>
        <p:nvSpPr>
          <p:cNvPr id="1875" name="Google Shape;1875;p10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Modeling Union Types with Subclasses</a:t>
            </a:r>
            <a:endParaRPr/>
          </a:p>
        </p:txBody>
      </p:sp>
      <p:sp>
        <p:nvSpPr>
          <p:cNvPr id="1876" name="Google Shape;1876;p103"/>
          <p:cNvSpPr txBox="1"/>
          <p:nvPr>
            <p:ph idx="1" type="body"/>
          </p:nvPr>
        </p:nvSpPr>
        <p:spPr>
          <a:xfrm>
            <a:off x="1752600" y="1752600"/>
            <a:ext cx="8686800" cy="4114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None/>
            </a:pPr>
            <a:r>
              <a:rPr lang="en-US">
                <a:latin typeface="Calibri"/>
                <a:ea typeface="Calibri"/>
                <a:cs typeface="Calibri"/>
                <a:sym typeface="Calibri"/>
              </a:rPr>
              <a:t>Say: each piece of furniture is owned either by a person, or by a company</a:t>
            </a:r>
            <a:endParaRPr/>
          </a:p>
          <a:p>
            <a:pPr indent="-228600" lvl="0" marL="228600" rtl="0" algn="l">
              <a:lnSpc>
                <a:spcPct val="90000"/>
              </a:lnSpc>
              <a:spcBef>
                <a:spcPts val="1000"/>
              </a:spcBef>
              <a:spcAft>
                <a:spcPts val="0"/>
              </a:spcAft>
              <a:buClr>
                <a:schemeClr val="dk1"/>
              </a:buClr>
              <a:buSzPts val="2800"/>
              <a:buFont typeface="Calibri"/>
              <a:buNone/>
            </a:pPr>
            <a:r>
              <a:t/>
            </a:r>
            <a:endParaRPr>
              <a:latin typeface="Calibri"/>
              <a:ea typeface="Calibri"/>
              <a:cs typeface="Calibri"/>
              <a:sym typeface="Calibri"/>
            </a:endParaRPr>
          </a:p>
          <a:p>
            <a:pPr indent="-228600" lvl="0" marL="228600" rtl="0" algn="l">
              <a:lnSpc>
                <a:spcPct val="90000"/>
              </a:lnSpc>
              <a:spcBef>
                <a:spcPts val="1000"/>
              </a:spcBef>
              <a:spcAft>
                <a:spcPts val="0"/>
              </a:spcAft>
              <a:buClr>
                <a:schemeClr val="dk1"/>
              </a:buClr>
              <a:buSzPts val="2800"/>
              <a:buFont typeface="Calibri"/>
              <a:buNone/>
            </a:pPr>
            <a:r>
              <a:rPr b="1" lang="en-US" u="sng">
                <a:latin typeface="Calibri"/>
                <a:ea typeface="Calibri"/>
                <a:cs typeface="Calibri"/>
                <a:sym typeface="Calibri"/>
              </a:rPr>
              <a:t>Solution 1.</a:t>
            </a:r>
            <a:r>
              <a:rPr lang="en-US">
                <a:latin typeface="Calibri"/>
                <a:ea typeface="Calibri"/>
                <a:cs typeface="Calibri"/>
                <a:sym typeface="Calibri"/>
              </a:rPr>
              <a:t> Acceptable, but imperfect (What’s wrong ?)</a:t>
            </a:r>
            <a:endParaRPr/>
          </a:p>
        </p:txBody>
      </p:sp>
      <p:sp>
        <p:nvSpPr>
          <p:cNvPr id="1877" name="Google Shape;1877;p10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1878" name="Google Shape;1878;p103"/>
          <p:cNvSpPr/>
          <p:nvPr/>
        </p:nvSpPr>
        <p:spPr>
          <a:xfrm>
            <a:off x="5181600" y="3979862"/>
            <a:ext cx="1985963" cy="466725"/>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FurniturePiece</a:t>
            </a:r>
            <a:endParaRPr/>
          </a:p>
        </p:txBody>
      </p:sp>
      <p:sp>
        <p:nvSpPr>
          <p:cNvPr id="1879" name="Google Shape;1879;p103"/>
          <p:cNvSpPr/>
          <p:nvPr/>
        </p:nvSpPr>
        <p:spPr>
          <a:xfrm>
            <a:off x="2743200" y="3979862"/>
            <a:ext cx="1023938" cy="466725"/>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a:t>
            </a:r>
            <a:endParaRPr/>
          </a:p>
        </p:txBody>
      </p:sp>
      <p:sp>
        <p:nvSpPr>
          <p:cNvPr id="1880" name="Google Shape;1880;p103"/>
          <p:cNvSpPr/>
          <p:nvPr/>
        </p:nvSpPr>
        <p:spPr>
          <a:xfrm>
            <a:off x="8458200" y="3979862"/>
            <a:ext cx="1377950" cy="466725"/>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2400">
                <a:solidFill>
                  <a:srgbClr val="000000"/>
                </a:solidFill>
                <a:latin typeface="Calibri"/>
                <a:ea typeface="Calibri"/>
                <a:cs typeface="Calibri"/>
                <a:sym typeface="Calibri"/>
              </a:rPr>
              <a:t>Company</a:t>
            </a:r>
            <a:endParaRPr/>
          </a:p>
        </p:txBody>
      </p:sp>
      <p:sp>
        <p:nvSpPr>
          <p:cNvPr id="1881" name="Google Shape;1881;p103"/>
          <p:cNvSpPr/>
          <p:nvPr/>
        </p:nvSpPr>
        <p:spPr>
          <a:xfrm>
            <a:off x="3505200" y="5122862"/>
            <a:ext cx="2286000" cy="141605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ownedByPerson</a:t>
            </a:r>
            <a:endParaRPr/>
          </a:p>
        </p:txBody>
      </p:sp>
      <p:sp>
        <p:nvSpPr>
          <p:cNvPr id="1882" name="Google Shape;1882;p103"/>
          <p:cNvSpPr/>
          <p:nvPr/>
        </p:nvSpPr>
        <p:spPr>
          <a:xfrm>
            <a:off x="6705600" y="5122862"/>
            <a:ext cx="2286000" cy="141605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ownedByComp</a:t>
            </a:r>
            <a:endParaRPr sz="2400">
              <a:solidFill>
                <a:srgbClr val="000000"/>
              </a:solidFill>
              <a:latin typeface="Calibri"/>
              <a:ea typeface="Calibri"/>
              <a:cs typeface="Calibri"/>
              <a:sym typeface="Calibri"/>
            </a:endParaRPr>
          </a:p>
        </p:txBody>
      </p:sp>
      <p:cxnSp>
        <p:nvCxnSpPr>
          <p:cNvPr id="1883" name="Google Shape;1883;p103"/>
          <p:cNvCxnSpPr>
            <a:stCxn id="1878" idx="2"/>
            <a:endCxn id="1881" idx="3"/>
          </p:cNvCxnSpPr>
          <p:nvPr/>
        </p:nvCxnSpPr>
        <p:spPr>
          <a:xfrm flipH="1">
            <a:off x="5791182" y="4446587"/>
            <a:ext cx="383400" cy="1384200"/>
          </a:xfrm>
          <a:prstGeom prst="straightConnector1">
            <a:avLst/>
          </a:prstGeom>
          <a:solidFill>
            <a:srgbClr val="C0C0C0">
              <a:alpha val="49803"/>
            </a:srgbClr>
          </a:solidFill>
          <a:ln cap="flat" cmpd="sng" w="9525">
            <a:solidFill>
              <a:schemeClr val="dk1"/>
            </a:solidFill>
            <a:prstDash val="solid"/>
            <a:round/>
            <a:headEnd len="sm" w="sm" type="none"/>
            <a:tailEnd len="lg" w="lg" type="triangle"/>
          </a:ln>
        </p:spPr>
      </p:cxnSp>
      <p:cxnSp>
        <p:nvCxnSpPr>
          <p:cNvPr id="1884" name="Google Shape;1884;p103"/>
          <p:cNvCxnSpPr>
            <a:stCxn id="1878" idx="2"/>
            <a:endCxn id="1882" idx="1"/>
          </p:cNvCxnSpPr>
          <p:nvPr/>
        </p:nvCxnSpPr>
        <p:spPr>
          <a:xfrm>
            <a:off x="6174582" y="4446587"/>
            <a:ext cx="531000" cy="1384200"/>
          </a:xfrm>
          <a:prstGeom prst="straightConnector1">
            <a:avLst/>
          </a:prstGeom>
          <a:solidFill>
            <a:srgbClr val="C0C0C0">
              <a:alpha val="49803"/>
            </a:srgbClr>
          </a:solidFill>
          <a:ln cap="flat" cmpd="sng" w="9525">
            <a:solidFill>
              <a:schemeClr val="dk1"/>
            </a:solidFill>
            <a:prstDash val="solid"/>
            <a:round/>
            <a:headEnd len="sm" w="sm" type="none"/>
            <a:tailEnd len="lg" w="lg" type="triangle"/>
          </a:ln>
        </p:spPr>
      </p:cxnSp>
      <p:cxnSp>
        <p:nvCxnSpPr>
          <p:cNvPr id="1885" name="Google Shape;1885;p103"/>
          <p:cNvCxnSpPr>
            <a:stCxn id="1881" idx="1"/>
            <a:endCxn id="1879" idx="2"/>
          </p:cNvCxnSpPr>
          <p:nvPr/>
        </p:nvCxnSpPr>
        <p:spPr>
          <a:xfrm rot="10800000">
            <a:off x="3255300" y="4446687"/>
            <a:ext cx="249900" cy="13842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886" name="Google Shape;1886;p103"/>
          <p:cNvCxnSpPr>
            <a:stCxn id="1882" idx="3"/>
            <a:endCxn id="1880" idx="2"/>
          </p:cNvCxnSpPr>
          <p:nvPr/>
        </p:nvCxnSpPr>
        <p:spPr>
          <a:xfrm flipH="1" rot="10800000">
            <a:off x="8991600" y="4446687"/>
            <a:ext cx="155700" cy="13842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0" name="Shape 1890"/>
        <p:cNvGrpSpPr/>
        <p:nvPr/>
      </p:nvGrpSpPr>
      <p:grpSpPr>
        <a:xfrm>
          <a:off x="0" y="0"/>
          <a:ext cx="0" cy="0"/>
          <a:chOff x="0" y="0"/>
          <a:chExt cx="0" cy="0"/>
        </a:xfrm>
      </p:grpSpPr>
      <p:sp>
        <p:nvSpPr>
          <p:cNvPr id="1891" name="Google Shape;1891;p10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Modeling Union Types with Subclasses</a:t>
            </a:r>
            <a:endParaRPr/>
          </a:p>
        </p:txBody>
      </p:sp>
      <p:sp>
        <p:nvSpPr>
          <p:cNvPr id="1892" name="Google Shape;1892;p104"/>
          <p:cNvSpPr txBox="1"/>
          <p:nvPr>
            <p:ph idx="1" type="body"/>
          </p:nvPr>
        </p:nvSpPr>
        <p:spPr>
          <a:xfrm>
            <a:off x="914400" y="1750071"/>
            <a:ext cx="10363200" cy="4114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None/>
            </a:pPr>
            <a:r>
              <a:rPr lang="en-US"/>
              <a:t>Solution 2: better (though more laborious)</a:t>
            </a:r>
            <a:endParaRPr/>
          </a:p>
        </p:txBody>
      </p:sp>
      <p:sp>
        <p:nvSpPr>
          <p:cNvPr id="1893" name="Google Shape;1893;p10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1894" name="Google Shape;1894;p104"/>
          <p:cNvSpPr txBox="1"/>
          <p:nvPr>
            <p:ph idx="4294967295" type="body"/>
          </p:nvPr>
        </p:nvSpPr>
        <p:spPr>
          <a:xfrm>
            <a:off x="8319294" y="5105401"/>
            <a:ext cx="1377950" cy="466725"/>
          </a:xfrm>
          <a:prstGeom prst="rect">
            <a:avLst/>
          </a:prstGeom>
          <a:solidFill>
            <a:srgbClr val="FBE4D4"/>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228600" lvl="0" marL="228600" rtl="0" algn="l">
              <a:lnSpc>
                <a:spcPct val="90000"/>
              </a:lnSpc>
              <a:spcBef>
                <a:spcPts val="0"/>
              </a:spcBef>
              <a:spcAft>
                <a:spcPts val="0"/>
              </a:spcAft>
              <a:buClr>
                <a:schemeClr val="dk1"/>
              </a:buClr>
              <a:buSzPts val="2400"/>
              <a:buFont typeface="Calibri"/>
              <a:buNone/>
            </a:pPr>
            <a:r>
              <a:rPr lang="en-US" sz="2400"/>
              <a:t>Company</a:t>
            </a:r>
            <a:endParaRPr/>
          </a:p>
        </p:txBody>
      </p:sp>
      <p:sp>
        <p:nvSpPr>
          <p:cNvPr id="1895" name="Google Shape;1895;p104"/>
          <p:cNvSpPr/>
          <p:nvPr/>
        </p:nvSpPr>
        <p:spPr>
          <a:xfrm>
            <a:off x="5257801" y="2514601"/>
            <a:ext cx="1985963" cy="466725"/>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FurniturePiece</a:t>
            </a:r>
            <a:endParaRPr sz="2400">
              <a:solidFill>
                <a:srgbClr val="000000"/>
              </a:solidFill>
              <a:latin typeface="Calibri"/>
              <a:ea typeface="Calibri"/>
              <a:cs typeface="Calibri"/>
              <a:sym typeface="Calibri"/>
            </a:endParaRPr>
          </a:p>
        </p:txBody>
      </p:sp>
      <p:sp>
        <p:nvSpPr>
          <p:cNvPr id="1896" name="Google Shape;1896;p104"/>
          <p:cNvSpPr/>
          <p:nvPr/>
        </p:nvSpPr>
        <p:spPr>
          <a:xfrm>
            <a:off x="3429000" y="5105401"/>
            <a:ext cx="1023036" cy="461665"/>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a:t>
            </a:r>
            <a:endParaRPr/>
          </a:p>
        </p:txBody>
      </p:sp>
      <p:sp>
        <p:nvSpPr>
          <p:cNvPr id="1897" name="Google Shape;1897;p104"/>
          <p:cNvSpPr/>
          <p:nvPr/>
        </p:nvSpPr>
        <p:spPr>
          <a:xfrm>
            <a:off x="5105400" y="3581400"/>
            <a:ext cx="2286000" cy="8382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ownedBy</a:t>
            </a:r>
            <a:endParaRPr/>
          </a:p>
        </p:txBody>
      </p:sp>
      <p:sp>
        <p:nvSpPr>
          <p:cNvPr id="1898" name="Google Shape;1898;p104"/>
          <p:cNvSpPr/>
          <p:nvPr/>
        </p:nvSpPr>
        <p:spPr>
          <a:xfrm>
            <a:off x="5715001" y="4953001"/>
            <a:ext cx="1023937" cy="466725"/>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Owner</a:t>
            </a:r>
            <a:endParaRPr/>
          </a:p>
        </p:txBody>
      </p:sp>
      <p:sp>
        <p:nvSpPr>
          <p:cNvPr id="1899" name="Google Shape;1899;p104"/>
          <p:cNvSpPr/>
          <p:nvPr/>
        </p:nvSpPr>
        <p:spPr>
          <a:xfrm>
            <a:off x="5867400" y="5867401"/>
            <a:ext cx="762000" cy="644525"/>
          </a:xfrm>
          <a:prstGeom prst="triangle">
            <a:avLst>
              <a:gd fmla="val 50000" name="adj"/>
            </a:avLst>
          </a:prstGeom>
          <a:solidFill>
            <a:srgbClr val="00B0F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isa</a:t>
            </a:r>
            <a:endParaRPr sz="2400">
              <a:solidFill>
                <a:srgbClr val="000000"/>
              </a:solidFill>
              <a:latin typeface="Calibri"/>
              <a:ea typeface="Calibri"/>
              <a:cs typeface="Calibri"/>
              <a:sym typeface="Calibri"/>
            </a:endParaRPr>
          </a:p>
        </p:txBody>
      </p:sp>
      <p:cxnSp>
        <p:nvCxnSpPr>
          <p:cNvPr id="1900" name="Google Shape;1900;p104"/>
          <p:cNvCxnSpPr>
            <a:stCxn id="1895" idx="2"/>
            <a:endCxn id="1897" idx="0"/>
          </p:cNvCxnSpPr>
          <p:nvPr/>
        </p:nvCxnSpPr>
        <p:spPr>
          <a:xfrm flipH="1">
            <a:off x="6248383" y="2981326"/>
            <a:ext cx="2400" cy="600000"/>
          </a:xfrm>
          <a:prstGeom prst="straightConnector1">
            <a:avLst/>
          </a:prstGeom>
          <a:solidFill>
            <a:srgbClr val="C0C0C0">
              <a:alpha val="49803"/>
            </a:srgbClr>
          </a:solidFill>
          <a:ln cap="flat" cmpd="sng" w="9525">
            <a:solidFill>
              <a:schemeClr val="dk1"/>
            </a:solidFill>
            <a:prstDash val="solid"/>
            <a:round/>
            <a:headEnd len="sm" w="sm" type="none"/>
            <a:tailEnd len="lg" w="lg" type="triangle"/>
          </a:ln>
        </p:spPr>
      </p:cxnSp>
      <p:cxnSp>
        <p:nvCxnSpPr>
          <p:cNvPr id="1901" name="Google Shape;1901;p104"/>
          <p:cNvCxnSpPr>
            <a:stCxn id="1897" idx="2"/>
            <a:endCxn id="1898" idx="0"/>
          </p:cNvCxnSpPr>
          <p:nvPr/>
        </p:nvCxnSpPr>
        <p:spPr>
          <a:xfrm flipH="1">
            <a:off x="6227100" y="4419600"/>
            <a:ext cx="21300" cy="5334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902" name="Google Shape;1902;p104"/>
          <p:cNvCxnSpPr>
            <a:stCxn id="1898" idx="2"/>
            <a:endCxn id="1899" idx="0"/>
          </p:cNvCxnSpPr>
          <p:nvPr/>
        </p:nvCxnSpPr>
        <p:spPr>
          <a:xfrm>
            <a:off x="6226970" y="5419726"/>
            <a:ext cx="21300" cy="44760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cxnSp>
        <p:nvCxnSpPr>
          <p:cNvPr id="1903" name="Google Shape;1903;p104"/>
          <p:cNvCxnSpPr>
            <a:stCxn id="1896" idx="2"/>
            <a:endCxn id="1899" idx="3"/>
          </p:cNvCxnSpPr>
          <p:nvPr/>
        </p:nvCxnSpPr>
        <p:spPr>
          <a:xfrm flipH="1" rot="-5400000">
            <a:off x="4621968" y="4885616"/>
            <a:ext cx="945000" cy="2307900"/>
          </a:xfrm>
          <a:prstGeom prst="bentConnector3">
            <a:avLst>
              <a:gd fmla="val 124175" name="adj1"/>
            </a:avLst>
          </a:prstGeom>
          <a:solidFill>
            <a:srgbClr val="C0C0C0">
              <a:alpha val="49803"/>
            </a:srgbClr>
          </a:solidFill>
          <a:ln cap="flat" cmpd="sng" w="9525">
            <a:solidFill>
              <a:schemeClr val="dk1"/>
            </a:solidFill>
            <a:prstDash val="solid"/>
            <a:round/>
            <a:headEnd len="sm" w="sm" type="none"/>
            <a:tailEnd len="sm" w="sm" type="none"/>
          </a:ln>
        </p:spPr>
      </p:cxnSp>
      <p:cxnSp>
        <p:nvCxnSpPr>
          <p:cNvPr id="1904" name="Google Shape;1904;p104"/>
          <p:cNvCxnSpPr>
            <a:stCxn id="1899" idx="3"/>
            <a:endCxn id="1894" idx="2"/>
          </p:cNvCxnSpPr>
          <p:nvPr/>
        </p:nvCxnSpPr>
        <p:spPr>
          <a:xfrm rot="-5400000">
            <a:off x="7158450" y="4661976"/>
            <a:ext cx="939900" cy="2760000"/>
          </a:xfrm>
          <a:prstGeom prst="bentConnector3">
            <a:avLst>
              <a:gd fmla="val -24321" name="adj1"/>
            </a:avLst>
          </a:prstGeom>
          <a:solidFill>
            <a:srgbClr val="C0C0C0">
              <a:alpha val="49803"/>
            </a:srgbClr>
          </a:solidFill>
          <a:ln cap="flat" cmpd="sng" w="9525">
            <a:solidFill>
              <a:schemeClr val="dk1"/>
            </a:solidFill>
            <a:prstDash val="solid"/>
            <a:round/>
            <a:headEnd len="sm" w="sm" type="none"/>
            <a:tailEnd len="sm" w="sm" type="none"/>
          </a:ln>
        </p:spPr>
      </p:cxnSp>
      <p:sp>
        <p:nvSpPr>
          <p:cNvPr id="1905" name="Google Shape;1905;p104"/>
          <p:cNvSpPr txBox="1"/>
          <p:nvPr/>
        </p:nvSpPr>
        <p:spPr>
          <a:xfrm>
            <a:off x="8397551" y="3009708"/>
            <a:ext cx="3269806" cy="461665"/>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What is happening here?</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9" name="Shape 1909"/>
        <p:cNvGrpSpPr/>
        <p:nvPr/>
      </p:nvGrpSpPr>
      <p:grpSpPr>
        <a:xfrm>
          <a:off x="0" y="0"/>
          <a:ext cx="0" cy="0"/>
          <a:chOff x="0" y="0"/>
          <a:chExt cx="0" cy="0"/>
        </a:xfrm>
      </p:grpSpPr>
      <p:sp>
        <p:nvSpPr>
          <p:cNvPr id="1910" name="Google Shape;1910;p105"/>
          <p:cNvSpPr txBox="1"/>
          <p:nvPr>
            <p:ph type="title"/>
          </p:nvPr>
        </p:nvSpPr>
        <p:spPr>
          <a:xfrm>
            <a:off x="2209800" y="381001"/>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Constraints in E/R Diagrams</a:t>
            </a:r>
            <a:endParaRPr/>
          </a:p>
        </p:txBody>
      </p:sp>
      <p:sp>
        <p:nvSpPr>
          <p:cNvPr id="1911" name="Google Shape;1911;p10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1912" name="Google Shape;1912;p105"/>
          <p:cNvSpPr txBox="1"/>
          <p:nvPr/>
        </p:nvSpPr>
        <p:spPr>
          <a:xfrm>
            <a:off x="905069" y="1524001"/>
            <a:ext cx="10291666" cy="526297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0000"/>
              </a:buClr>
              <a:buSzPts val="2400"/>
              <a:buFont typeface="Arial"/>
              <a:buChar char="•"/>
            </a:pPr>
            <a:r>
              <a:rPr lang="en-US" sz="2400">
                <a:solidFill>
                  <a:srgbClr val="000000"/>
                </a:solidFill>
                <a:latin typeface="Calibri"/>
                <a:ea typeface="Calibri"/>
                <a:cs typeface="Calibri"/>
                <a:sym typeface="Calibri"/>
              </a:rPr>
              <a:t>Finding constraints is part of the E/R modeling process. Commonly used constraints are:</a:t>
            </a:r>
            <a:endParaRPr/>
          </a:p>
          <a:p>
            <a:pPr indent="-190500" lvl="1" marL="800100" marR="0" rtl="0" algn="l">
              <a:spcBef>
                <a:spcPts val="0"/>
              </a:spcBef>
              <a:spcAft>
                <a:spcPts val="0"/>
              </a:spcAft>
              <a:buClr>
                <a:schemeClr val="dk1"/>
              </a:buClr>
              <a:buSzPts val="2400"/>
              <a:buFont typeface="Arial"/>
              <a:buNone/>
            </a:pPr>
            <a:r>
              <a:t/>
            </a:r>
            <a:endParaRPr b="0" i="0" sz="2400" u="sng"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sng" cap="none" strike="noStrike">
                <a:solidFill>
                  <a:schemeClr val="dk1"/>
                </a:solidFill>
                <a:latin typeface="Calibri"/>
                <a:ea typeface="Calibri"/>
                <a:cs typeface="Calibri"/>
                <a:sym typeface="Calibri"/>
              </a:rPr>
              <a:t>Keys</a:t>
            </a:r>
            <a:r>
              <a:rPr b="0" i="0" lang="en-US" sz="2400" u="none" cap="none" strike="noStrike">
                <a:solidFill>
                  <a:srgbClr val="3333CC"/>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Implicit constraints on uniqueness of entities</a:t>
            </a:r>
            <a:endParaRPr/>
          </a:p>
          <a:p>
            <a:pPr indent="-342900" lvl="2" marL="1257300" marR="0" rtl="0" algn="l">
              <a:spcBef>
                <a:spcPts val="0"/>
              </a:spcBef>
              <a:spcAft>
                <a:spcPts val="0"/>
              </a:spcAft>
              <a:buClr>
                <a:srgbClr val="000000"/>
              </a:buClr>
              <a:buSzPts val="2400"/>
              <a:buFont typeface="Arial"/>
              <a:buChar char="•"/>
            </a:pPr>
            <a:r>
              <a:rPr b="0" i="1" lang="en-US" sz="2400" u="none" cap="none" strike="noStrike">
                <a:solidFill>
                  <a:srgbClr val="000000"/>
                </a:solidFill>
                <a:latin typeface="Calibri"/>
                <a:ea typeface="Calibri"/>
                <a:cs typeface="Calibri"/>
                <a:sym typeface="Calibri"/>
              </a:rPr>
              <a:t>Ex: An SSN uniquely identifies a person</a:t>
            </a:r>
            <a:endParaRPr/>
          </a:p>
          <a:p>
            <a:pPr indent="-190500" lvl="2" marL="1257300" marR="0" rtl="0" algn="l">
              <a:spcBef>
                <a:spcPts val="0"/>
              </a:spcBef>
              <a:spcAft>
                <a:spcPts val="0"/>
              </a:spcAft>
              <a:buClr>
                <a:schemeClr val="dk1"/>
              </a:buClr>
              <a:buSzPts val="2400"/>
              <a:buFont typeface="Arial"/>
              <a:buNone/>
            </a:pPr>
            <a:r>
              <a:t/>
            </a:r>
            <a:endParaRPr b="0" i="1" sz="2400" u="none" cap="none" strike="noStrike">
              <a:solidFill>
                <a:srgbClr val="000000"/>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sng" cap="none" strike="noStrike">
                <a:solidFill>
                  <a:schemeClr val="dk1"/>
                </a:solidFill>
                <a:latin typeface="Calibri"/>
                <a:ea typeface="Calibri"/>
                <a:cs typeface="Calibri"/>
                <a:sym typeface="Calibri"/>
              </a:rPr>
              <a:t>Single-value constraints:</a:t>
            </a:r>
            <a:r>
              <a:rPr b="0" i="0" lang="en-US" sz="2400" u="none" cap="none" strike="noStrike">
                <a:solidFill>
                  <a:schemeClr val="dk1"/>
                </a:solidFill>
                <a:latin typeface="Calibri"/>
                <a:ea typeface="Calibri"/>
                <a:cs typeface="Calibri"/>
                <a:sym typeface="Calibri"/>
              </a:rPr>
              <a:t> </a:t>
            </a:r>
            <a:endParaRPr/>
          </a:p>
          <a:p>
            <a:pPr indent="-342900" lvl="2" marL="1257300" marR="0" rtl="0" algn="l">
              <a:spcBef>
                <a:spcPts val="0"/>
              </a:spcBef>
              <a:spcAft>
                <a:spcPts val="0"/>
              </a:spcAft>
              <a:buClr>
                <a:srgbClr val="000000"/>
              </a:buClr>
              <a:buSzPts val="2400"/>
              <a:buFont typeface="Arial"/>
              <a:buChar char="•"/>
            </a:pPr>
            <a:r>
              <a:rPr b="0" i="1" lang="en-US" sz="2400" u="none" cap="none" strike="noStrike">
                <a:solidFill>
                  <a:srgbClr val="000000"/>
                </a:solidFill>
                <a:latin typeface="Calibri"/>
                <a:ea typeface="Calibri"/>
                <a:cs typeface="Calibri"/>
                <a:sym typeface="Calibri"/>
              </a:rPr>
              <a:t>Ex: a person can have only one father</a:t>
            </a:r>
            <a:endParaRPr/>
          </a:p>
          <a:p>
            <a:pPr indent="-190500" lvl="2" marL="1257300" marR="0" rtl="0" algn="l">
              <a:spcBef>
                <a:spcPts val="0"/>
              </a:spcBef>
              <a:spcAft>
                <a:spcPts val="0"/>
              </a:spcAft>
              <a:buClr>
                <a:schemeClr val="dk1"/>
              </a:buClr>
              <a:buSzPts val="2400"/>
              <a:buFont typeface="Arial"/>
              <a:buNone/>
            </a:pPr>
            <a:r>
              <a:t/>
            </a:r>
            <a:endParaRPr b="0" i="1" sz="2400" u="none" cap="none" strike="noStrike">
              <a:solidFill>
                <a:srgbClr val="000000"/>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sng" cap="none" strike="noStrike">
                <a:solidFill>
                  <a:schemeClr val="dk1"/>
                </a:solidFill>
                <a:latin typeface="Calibri"/>
                <a:ea typeface="Calibri"/>
                <a:cs typeface="Calibri"/>
                <a:sym typeface="Calibri"/>
              </a:rPr>
              <a:t>Referential integrity constraints:</a:t>
            </a:r>
            <a:r>
              <a:rPr b="0" i="0" lang="en-US" sz="2400" u="none" cap="none" strike="noStrike">
                <a:solidFill>
                  <a:srgbClr val="000000"/>
                </a:solidFill>
                <a:latin typeface="Calibri"/>
                <a:ea typeface="Calibri"/>
                <a:cs typeface="Calibri"/>
                <a:sym typeface="Calibri"/>
              </a:rPr>
              <a:t> Referenced entities must exist</a:t>
            </a:r>
            <a:endParaRPr/>
          </a:p>
          <a:p>
            <a:pPr indent="-342900" lvl="2" marL="1257300" marR="0" rtl="0" algn="l">
              <a:spcBef>
                <a:spcPts val="0"/>
              </a:spcBef>
              <a:spcAft>
                <a:spcPts val="0"/>
              </a:spcAft>
              <a:buClr>
                <a:srgbClr val="000000"/>
              </a:buClr>
              <a:buSzPts val="2400"/>
              <a:buFont typeface="Arial"/>
              <a:buChar char="•"/>
            </a:pPr>
            <a:r>
              <a:rPr b="0" i="1" lang="en-US" sz="2400" u="none" cap="none" strike="noStrike">
                <a:solidFill>
                  <a:srgbClr val="000000"/>
                </a:solidFill>
                <a:latin typeface="Calibri"/>
                <a:ea typeface="Calibri"/>
                <a:cs typeface="Calibri"/>
                <a:sym typeface="Calibri"/>
              </a:rPr>
              <a:t>Ex: if you work for a company, it must exist in the database</a:t>
            </a:r>
            <a:endParaRPr/>
          </a:p>
          <a:p>
            <a:pPr indent="-190500" lvl="2" marL="1257300" marR="0" rtl="0" algn="l">
              <a:spcBef>
                <a:spcPts val="0"/>
              </a:spcBef>
              <a:spcAft>
                <a:spcPts val="0"/>
              </a:spcAft>
              <a:buClr>
                <a:schemeClr val="dk1"/>
              </a:buClr>
              <a:buSzPts val="2400"/>
              <a:buFont typeface="Arial"/>
              <a:buNone/>
            </a:pPr>
            <a:r>
              <a:t/>
            </a:r>
            <a:endParaRPr b="0" i="1" sz="2400" u="none" cap="none" strike="noStrike">
              <a:solidFill>
                <a:srgbClr val="000000"/>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sng" cap="none" strike="noStrike">
                <a:solidFill>
                  <a:schemeClr val="dk1"/>
                </a:solidFill>
                <a:latin typeface="Calibri"/>
                <a:ea typeface="Calibri"/>
                <a:cs typeface="Calibri"/>
                <a:sym typeface="Calibri"/>
              </a:rPr>
              <a:t>Other constraints:</a:t>
            </a:r>
            <a:r>
              <a:rPr b="0" i="0" lang="en-US" sz="2400" u="none" cap="none" strike="noStrike">
                <a:solidFill>
                  <a:srgbClr val="000000"/>
                </a:solidFill>
                <a:latin typeface="Calibri"/>
                <a:ea typeface="Calibri"/>
                <a:cs typeface="Calibri"/>
                <a:sym typeface="Calibri"/>
              </a:rPr>
              <a:t>  </a:t>
            </a:r>
            <a:endParaRPr/>
          </a:p>
          <a:p>
            <a:pPr indent="-342900" lvl="2" marL="1257300" marR="0" rtl="0" algn="l">
              <a:spcBef>
                <a:spcPts val="0"/>
              </a:spcBef>
              <a:spcAft>
                <a:spcPts val="0"/>
              </a:spcAft>
              <a:buClr>
                <a:srgbClr val="000000"/>
              </a:buClr>
              <a:buSzPts val="2400"/>
              <a:buFont typeface="Arial"/>
              <a:buChar char="•"/>
            </a:pPr>
            <a:r>
              <a:rPr b="0" i="1" lang="en-US" sz="2400" u="none" cap="none" strike="noStrike">
                <a:solidFill>
                  <a:srgbClr val="000000"/>
                </a:solidFill>
                <a:latin typeface="Calibri"/>
                <a:ea typeface="Calibri"/>
                <a:cs typeface="Calibri"/>
                <a:sym typeface="Calibri"/>
              </a:rPr>
              <a:t>Ex: peoples’ ages are between 0 and 150</a:t>
            </a:r>
            <a:endParaRPr/>
          </a:p>
        </p:txBody>
      </p:sp>
      <p:sp>
        <p:nvSpPr>
          <p:cNvPr id="1913" name="Google Shape;1913;p105"/>
          <p:cNvSpPr txBox="1"/>
          <p:nvPr/>
        </p:nvSpPr>
        <p:spPr>
          <a:xfrm>
            <a:off x="10170366" y="4802497"/>
            <a:ext cx="1390262" cy="1200329"/>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Recall FOREIGN KEYs!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7" name="Shape 1917"/>
        <p:cNvGrpSpPr/>
        <p:nvPr/>
      </p:nvGrpSpPr>
      <p:grpSpPr>
        <a:xfrm>
          <a:off x="0" y="0"/>
          <a:ext cx="0" cy="0"/>
          <a:chOff x="0" y="0"/>
          <a:chExt cx="0" cy="0"/>
        </a:xfrm>
      </p:grpSpPr>
      <p:sp>
        <p:nvSpPr>
          <p:cNvPr id="1918" name="Google Shape;1918;p10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Participation Constraints: Partial v. Total</a:t>
            </a:r>
            <a:endParaRPr/>
          </a:p>
        </p:txBody>
      </p:sp>
      <p:sp>
        <p:nvSpPr>
          <p:cNvPr id="1919" name="Google Shape;1919;p10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grpSp>
        <p:nvGrpSpPr>
          <p:cNvPr id="1920" name="Google Shape;1920;p106"/>
          <p:cNvGrpSpPr/>
          <p:nvPr/>
        </p:nvGrpSpPr>
        <p:grpSpPr>
          <a:xfrm>
            <a:off x="1981200" y="1793054"/>
            <a:ext cx="7811278" cy="1371600"/>
            <a:chOff x="1981200" y="1793054"/>
            <a:chExt cx="7811278" cy="1371600"/>
          </a:xfrm>
        </p:grpSpPr>
        <p:sp>
          <p:nvSpPr>
            <p:cNvPr id="1921" name="Google Shape;1921;p106"/>
            <p:cNvSpPr/>
            <p:nvPr/>
          </p:nvSpPr>
          <p:spPr>
            <a:xfrm>
              <a:off x="5162939" y="1793054"/>
              <a:ext cx="1524000" cy="13716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makes</a:t>
              </a:r>
              <a:endParaRPr/>
            </a:p>
          </p:txBody>
        </p:sp>
        <p:sp>
          <p:nvSpPr>
            <p:cNvPr id="1922" name="Google Shape;1922;p106"/>
            <p:cNvSpPr/>
            <p:nvPr/>
          </p:nvSpPr>
          <p:spPr>
            <a:xfrm>
              <a:off x="1981200" y="2097854"/>
              <a:ext cx="2133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cxnSp>
          <p:nvCxnSpPr>
            <p:cNvPr id="1923" name="Google Shape;1923;p106"/>
            <p:cNvCxnSpPr>
              <a:stCxn id="1922" idx="3"/>
              <a:endCxn id="1921" idx="1"/>
            </p:cNvCxnSpPr>
            <p:nvPr/>
          </p:nvCxnSpPr>
          <p:spPr>
            <a:xfrm>
              <a:off x="4114800" y="2478854"/>
              <a:ext cx="1048200" cy="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sp>
          <p:nvSpPr>
            <p:cNvPr id="1924" name="Google Shape;1924;p106"/>
            <p:cNvSpPr/>
            <p:nvPr/>
          </p:nvSpPr>
          <p:spPr>
            <a:xfrm>
              <a:off x="7658878" y="2097854"/>
              <a:ext cx="2133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Company</a:t>
              </a:r>
              <a:endParaRPr/>
            </a:p>
          </p:txBody>
        </p:sp>
        <p:cxnSp>
          <p:nvCxnSpPr>
            <p:cNvPr id="1925" name="Google Shape;1925;p106"/>
            <p:cNvCxnSpPr>
              <a:stCxn id="1921" idx="3"/>
              <a:endCxn id="1924" idx="1"/>
            </p:cNvCxnSpPr>
            <p:nvPr/>
          </p:nvCxnSpPr>
          <p:spPr>
            <a:xfrm>
              <a:off x="6686939" y="2478854"/>
              <a:ext cx="972000" cy="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1926" name="Google Shape;1926;p106"/>
          <p:cNvSpPr txBox="1"/>
          <p:nvPr/>
        </p:nvSpPr>
        <p:spPr>
          <a:xfrm>
            <a:off x="3162300" y="3349378"/>
            <a:ext cx="58674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Are there products made by no company? Companies that don’t make a product?</a:t>
            </a:r>
            <a:endParaRPr/>
          </a:p>
        </p:txBody>
      </p:sp>
      <p:grpSp>
        <p:nvGrpSpPr>
          <p:cNvPr id="1927" name="Google Shape;1927;p106"/>
          <p:cNvGrpSpPr/>
          <p:nvPr/>
        </p:nvGrpSpPr>
        <p:grpSpPr>
          <a:xfrm>
            <a:off x="1981200" y="4374477"/>
            <a:ext cx="7811278" cy="1371600"/>
            <a:chOff x="1981200" y="4374477"/>
            <a:chExt cx="7811278" cy="1371600"/>
          </a:xfrm>
        </p:grpSpPr>
        <p:sp>
          <p:nvSpPr>
            <p:cNvPr id="1928" name="Google Shape;1928;p106"/>
            <p:cNvSpPr/>
            <p:nvPr/>
          </p:nvSpPr>
          <p:spPr>
            <a:xfrm>
              <a:off x="5162939" y="4374477"/>
              <a:ext cx="1524000" cy="13716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makes</a:t>
              </a:r>
              <a:endParaRPr/>
            </a:p>
          </p:txBody>
        </p:sp>
        <p:sp>
          <p:nvSpPr>
            <p:cNvPr id="1929" name="Google Shape;1929;p106"/>
            <p:cNvSpPr/>
            <p:nvPr/>
          </p:nvSpPr>
          <p:spPr>
            <a:xfrm>
              <a:off x="1981200" y="4679277"/>
              <a:ext cx="2133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cxnSp>
          <p:nvCxnSpPr>
            <p:cNvPr id="1930" name="Google Shape;1930;p106"/>
            <p:cNvCxnSpPr>
              <a:stCxn id="1929" idx="3"/>
              <a:endCxn id="1928" idx="1"/>
            </p:cNvCxnSpPr>
            <p:nvPr/>
          </p:nvCxnSpPr>
          <p:spPr>
            <a:xfrm>
              <a:off x="4114800" y="5060277"/>
              <a:ext cx="1048200" cy="0"/>
            </a:xfrm>
            <a:prstGeom prst="straightConnector1">
              <a:avLst/>
            </a:prstGeom>
            <a:solidFill>
              <a:srgbClr val="C0C0C0">
                <a:alpha val="49803"/>
              </a:srgbClr>
            </a:solidFill>
            <a:ln cap="flat" cmpd="sng" w="50800">
              <a:solidFill>
                <a:schemeClr val="dk1"/>
              </a:solidFill>
              <a:prstDash val="solid"/>
              <a:round/>
              <a:headEnd len="sm" w="sm" type="none"/>
              <a:tailEnd len="sm" w="sm" type="none"/>
            </a:ln>
          </p:spPr>
        </p:cxnSp>
        <p:sp>
          <p:nvSpPr>
            <p:cNvPr id="1931" name="Google Shape;1931;p106"/>
            <p:cNvSpPr/>
            <p:nvPr/>
          </p:nvSpPr>
          <p:spPr>
            <a:xfrm>
              <a:off x="7658878" y="4679277"/>
              <a:ext cx="2133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Company</a:t>
              </a:r>
              <a:endParaRPr/>
            </a:p>
          </p:txBody>
        </p:sp>
        <p:cxnSp>
          <p:nvCxnSpPr>
            <p:cNvPr id="1932" name="Google Shape;1932;p106"/>
            <p:cNvCxnSpPr>
              <a:stCxn id="1928" idx="3"/>
              <a:endCxn id="1931" idx="1"/>
            </p:cNvCxnSpPr>
            <p:nvPr/>
          </p:nvCxnSpPr>
          <p:spPr>
            <a:xfrm>
              <a:off x="6686939" y="5060277"/>
              <a:ext cx="972000" cy="0"/>
            </a:xfrm>
            <a:prstGeom prst="straightConnector1">
              <a:avLst/>
            </a:prstGeom>
            <a:solidFill>
              <a:srgbClr val="C0C0C0">
                <a:alpha val="49803"/>
              </a:srgbClr>
            </a:solidFill>
            <a:ln cap="flat" cmpd="sng" w="9525">
              <a:solidFill>
                <a:schemeClr val="dk1"/>
              </a:solidFill>
              <a:prstDash val="solid"/>
              <a:round/>
              <a:headEnd len="sm" w="sm" type="none"/>
              <a:tailEnd len="sm" w="sm" type="none"/>
            </a:ln>
          </p:spPr>
        </p:cxnSp>
      </p:grpSp>
      <p:sp>
        <p:nvSpPr>
          <p:cNvPr id="1933" name="Google Shape;1933;p106"/>
          <p:cNvSpPr txBox="1"/>
          <p:nvPr/>
        </p:nvSpPr>
        <p:spPr>
          <a:xfrm>
            <a:off x="914399" y="6167736"/>
            <a:ext cx="10689771" cy="461665"/>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Bold line indicates </a:t>
            </a:r>
            <a:r>
              <a:rPr i="1" lang="en-US" sz="2400" u="sng">
                <a:solidFill>
                  <a:srgbClr val="000000"/>
                </a:solidFill>
                <a:latin typeface="Calibri"/>
                <a:ea typeface="Calibri"/>
                <a:cs typeface="Calibri"/>
                <a:sym typeface="Calibri"/>
              </a:rPr>
              <a:t>total participation</a:t>
            </a:r>
            <a:r>
              <a:rPr lang="en-US" sz="2400">
                <a:solidFill>
                  <a:srgbClr val="000000"/>
                </a:solidFill>
                <a:latin typeface="Calibri"/>
                <a:ea typeface="Calibri"/>
                <a:cs typeface="Calibri"/>
                <a:sym typeface="Calibri"/>
              </a:rPr>
              <a:t> (i.e. here: all products are made by a company)</a:t>
            </a:r>
            <a:endParaRPr i="1" sz="2400" u="sng">
              <a:solidFill>
                <a:srgbClr val="000000"/>
              </a:solidFill>
              <a:latin typeface="Calibri"/>
              <a:ea typeface="Calibri"/>
              <a:cs typeface="Calibri"/>
              <a:sym typeface="Calibri"/>
            </a:endParaRPr>
          </a:p>
        </p:txBody>
      </p:sp>
      <p:sp>
        <p:nvSpPr>
          <p:cNvPr id="1934" name="Google Shape;1934;p106"/>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8" name="Shape 1938"/>
        <p:cNvGrpSpPr/>
        <p:nvPr/>
      </p:nvGrpSpPr>
      <p:grpSpPr>
        <a:xfrm>
          <a:off x="0" y="0"/>
          <a:ext cx="0" cy="0"/>
          <a:chOff x="0" y="0"/>
          <a:chExt cx="0" cy="0"/>
        </a:xfrm>
      </p:grpSpPr>
      <p:sp>
        <p:nvSpPr>
          <p:cNvPr id="1939" name="Google Shape;1939;p107"/>
          <p:cNvSpPr txBox="1"/>
          <p:nvPr>
            <p:ph type="title"/>
          </p:nvPr>
        </p:nvSpPr>
        <p:spPr>
          <a:xfrm>
            <a:off x="2209800" y="228600"/>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Keys in E/R Diagrams</a:t>
            </a:r>
            <a:endParaRPr/>
          </a:p>
        </p:txBody>
      </p:sp>
      <p:sp>
        <p:nvSpPr>
          <p:cNvPr id="1940" name="Google Shape;1940;p10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1941" name="Google Shape;1941;p107"/>
          <p:cNvSpPr/>
          <p:nvPr/>
        </p:nvSpPr>
        <p:spPr>
          <a:xfrm>
            <a:off x="2819400" y="6019800"/>
            <a:ext cx="1447800" cy="685800"/>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address</a:t>
            </a:r>
            <a:endParaRPr/>
          </a:p>
        </p:txBody>
      </p:sp>
      <p:sp>
        <p:nvSpPr>
          <p:cNvPr id="1942" name="Google Shape;1942;p107"/>
          <p:cNvSpPr/>
          <p:nvPr/>
        </p:nvSpPr>
        <p:spPr>
          <a:xfrm>
            <a:off x="5410200" y="5943600"/>
            <a:ext cx="1447800" cy="685800"/>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name</a:t>
            </a:r>
            <a:endParaRPr/>
          </a:p>
        </p:txBody>
      </p:sp>
      <p:sp>
        <p:nvSpPr>
          <p:cNvPr id="1943" name="Google Shape;1943;p107"/>
          <p:cNvSpPr/>
          <p:nvPr/>
        </p:nvSpPr>
        <p:spPr>
          <a:xfrm>
            <a:off x="8077200" y="5943600"/>
            <a:ext cx="1447800" cy="685800"/>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ssn</a:t>
            </a:r>
            <a:endParaRPr/>
          </a:p>
        </p:txBody>
      </p:sp>
      <p:sp>
        <p:nvSpPr>
          <p:cNvPr id="1944" name="Google Shape;1944;p107"/>
          <p:cNvSpPr/>
          <p:nvPr/>
        </p:nvSpPr>
        <p:spPr>
          <a:xfrm>
            <a:off x="4953000" y="4724400"/>
            <a:ext cx="2133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Person</a:t>
            </a:r>
            <a:endParaRPr/>
          </a:p>
        </p:txBody>
      </p:sp>
      <p:sp>
        <p:nvSpPr>
          <p:cNvPr id="1945" name="Google Shape;1945;p107"/>
          <p:cNvSpPr/>
          <p:nvPr/>
        </p:nvSpPr>
        <p:spPr>
          <a:xfrm>
            <a:off x="4953000" y="3429000"/>
            <a:ext cx="2133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1946" name="Google Shape;1946;p107"/>
          <p:cNvSpPr/>
          <p:nvPr/>
        </p:nvSpPr>
        <p:spPr>
          <a:xfrm>
            <a:off x="5257800" y="1600200"/>
            <a:ext cx="1447800" cy="685800"/>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name</a:t>
            </a:r>
            <a:endParaRPr/>
          </a:p>
        </p:txBody>
      </p:sp>
      <p:sp>
        <p:nvSpPr>
          <p:cNvPr id="1947" name="Google Shape;1947;p107"/>
          <p:cNvSpPr/>
          <p:nvPr/>
        </p:nvSpPr>
        <p:spPr>
          <a:xfrm>
            <a:off x="6858000" y="1600200"/>
            <a:ext cx="1447800" cy="685800"/>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category</a:t>
            </a:r>
            <a:endParaRPr/>
          </a:p>
        </p:txBody>
      </p:sp>
      <p:sp>
        <p:nvSpPr>
          <p:cNvPr id="1948" name="Google Shape;1948;p107"/>
          <p:cNvSpPr/>
          <p:nvPr/>
        </p:nvSpPr>
        <p:spPr>
          <a:xfrm>
            <a:off x="4114800" y="2514600"/>
            <a:ext cx="1447800" cy="685800"/>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price</a:t>
            </a:r>
            <a:endParaRPr/>
          </a:p>
        </p:txBody>
      </p:sp>
      <p:cxnSp>
        <p:nvCxnSpPr>
          <p:cNvPr id="1949" name="Google Shape;1949;p107"/>
          <p:cNvCxnSpPr/>
          <p:nvPr/>
        </p:nvCxnSpPr>
        <p:spPr>
          <a:xfrm rot="10800000">
            <a:off x="5257800" y="3124200"/>
            <a:ext cx="304800" cy="304800"/>
          </a:xfrm>
          <a:prstGeom prst="straightConnector1">
            <a:avLst/>
          </a:prstGeom>
          <a:noFill/>
          <a:ln cap="flat" cmpd="sng" w="9525">
            <a:solidFill>
              <a:schemeClr val="dk1"/>
            </a:solidFill>
            <a:prstDash val="solid"/>
            <a:round/>
            <a:headEnd len="med" w="med" type="none"/>
            <a:tailEnd len="med" w="med" type="none"/>
          </a:ln>
        </p:spPr>
      </p:cxnSp>
      <p:cxnSp>
        <p:nvCxnSpPr>
          <p:cNvPr id="1950" name="Google Shape;1950;p107"/>
          <p:cNvCxnSpPr/>
          <p:nvPr/>
        </p:nvCxnSpPr>
        <p:spPr>
          <a:xfrm rot="10800000">
            <a:off x="6019800" y="2286000"/>
            <a:ext cx="0" cy="1143000"/>
          </a:xfrm>
          <a:prstGeom prst="straightConnector1">
            <a:avLst/>
          </a:prstGeom>
          <a:noFill/>
          <a:ln cap="flat" cmpd="sng" w="9525">
            <a:solidFill>
              <a:schemeClr val="dk1"/>
            </a:solidFill>
            <a:prstDash val="solid"/>
            <a:round/>
            <a:headEnd len="med" w="med" type="none"/>
            <a:tailEnd len="med" w="med" type="none"/>
          </a:ln>
        </p:spPr>
      </p:cxnSp>
      <p:cxnSp>
        <p:nvCxnSpPr>
          <p:cNvPr id="1951" name="Google Shape;1951;p107"/>
          <p:cNvCxnSpPr/>
          <p:nvPr/>
        </p:nvCxnSpPr>
        <p:spPr>
          <a:xfrm flipH="1" rot="10800000">
            <a:off x="6629400" y="2286000"/>
            <a:ext cx="762000" cy="1143000"/>
          </a:xfrm>
          <a:prstGeom prst="straightConnector1">
            <a:avLst/>
          </a:prstGeom>
          <a:noFill/>
          <a:ln cap="flat" cmpd="sng" w="9525">
            <a:solidFill>
              <a:schemeClr val="dk1"/>
            </a:solidFill>
            <a:prstDash val="solid"/>
            <a:round/>
            <a:headEnd len="med" w="med" type="none"/>
            <a:tailEnd len="med" w="med" type="none"/>
          </a:ln>
        </p:spPr>
      </p:cxnSp>
      <p:cxnSp>
        <p:nvCxnSpPr>
          <p:cNvPr id="1952" name="Google Shape;1952;p107"/>
          <p:cNvCxnSpPr/>
          <p:nvPr/>
        </p:nvCxnSpPr>
        <p:spPr>
          <a:xfrm flipH="1">
            <a:off x="4114800" y="5486400"/>
            <a:ext cx="1676400" cy="685800"/>
          </a:xfrm>
          <a:prstGeom prst="straightConnector1">
            <a:avLst/>
          </a:prstGeom>
          <a:noFill/>
          <a:ln cap="flat" cmpd="sng" w="9525">
            <a:solidFill>
              <a:schemeClr val="dk1"/>
            </a:solidFill>
            <a:prstDash val="solid"/>
            <a:round/>
            <a:headEnd len="med" w="med" type="none"/>
            <a:tailEnd len="med" w="med" type="none"/>
          </a:ln>
        </p:spPr>
      </p:cxnSp>
      <p:cxnSp>
        <p:nvCxnSpPr>
          <p:cNvPr id="1953" name="Google Shape;1953;p107"/>
          <p:cNvCxnSpPr/>
          <p:nvPr/>
        </p:nvCxnSpPr>
        <p:spPr>
          <a:xfrm>
            <a:off x="5791200" y="5486400"/>
            <a:ext cx="304800" cy="457200"/>
          </a:xfrm>
          <a:prstGeom prst="straightConnector1">
            <a:avLst/>
          </a:prstGeom>
          <a:noFill/>
          <a:ln cap="flat" cmpd="sng" w="9525">
            <a:solidFill>
              <a:schemeClr val="dk1"/>
            </a:solidFill>
            <a:prstDash val="solid"/>
            <a:round/>
            <a:headEnd len="med" w="med" type="none"/>
            <a:tailEnd len="med" w="med" type="none"/>
          </a:ln>
        </p:spPr>
      </p:cxnSp>
      <p:cxnSp>
        <p:nvCxnSpPr>
          <p:cNvPr id="1954" name="Google Shape;1954;p107"/>
          <p:cNvCxnSpPr/>
          <p:nvPr/>
        </p:nvCxnSpPr>
        <p:spPr>
          <a:xfrm>
            <a:off x="6553200" y="5486400"/>
            <a:ext cx="1676400" cy="533400"/>
          </a:xfrm>
          <a:prstGeom prst="straightConnector1">
            <a:avLst/>
          </a:prstGeom>
          <a:noFill/>
          <a:ln cap="flat" cmpd="sng" w="9525">
            <a:solidFill>
              <a:schemeClr val="dk1"/>
            </a:solidFill>
            <a:prstDash val="solid"/>
            <a:round/>
            <a:headEnd len="med" w="med" type="none"/>
            <a:tailEnd len="med" w="med" type="none"/>
          </a:ln>
        </p:spPr>
      </p:cxnSp>
      <p:cxnSp>
        <p:nvCxnSpPr>
          <p:cNvPr id="1955" name="Google Shape;1955;p107"/>
          <p:cNvCxnSpPr/>
          <p:nvPr/>
        </p:nvCxnSpPr>
        <p:spPr>
          <a:xfrm>
            <a:off x="5638800" y="2057400"/>
            <a:ext cx="685800" cy="0"/>
          </a:xfrm>
          <a:prstGeom prst="straightConnector1">
            <a:avLst/>
          </a:prstGeom>
          <a:noFill/>
          <a:ln cap="flat" cmpd="sng" w="9525">
            <a:solidFill>
              <a:schemeClr val="dk1"/>
            </a:solidFill>
            <a:prstDash val="solid"/>
            <a:round/>
            <a:headEnd len="med" w="med" type="none"/>
            <a:tailEnd len="med" w="med" type="none"/>
          </a:ln>
        </p:spPr>
      </p:cxnSp>
      <p:cxnSp>
        <p:nvCxnSpPr>
          <p:cNvPr id="1956" name="Google Shape;1956;p107"/>
          <p:cNvCxnSpPr/>
          <p:nvPr/>
        </p:nvCxnSpPr>
        <p:spPr>
          <a:xfrm>
            <a:off x="7086600" y="2133600"/>
            <a:ext cx="990600" cy="0"/>
          </a:xfrm>
          <a:prstGeom prst="straightConnector1">
            <a:avLst/>
          </a:prstGeom>
          <a:noFill/>
          <a:ln cap="flat" cmpd="sng" w="9525">
            <a:solidFill>
              <a:schemeClr val="dk1"/>
            </a:solidFill>
            <a:prstDash val="solid"/>
            <a:round/>
            <a:headEnd len="med" w="med" type="none"/>
            <a:tailEnd len="med" w="med" type="none"/>
          </a:ln>
        </p:spPr>
      </p:cxnSp>
      <p:cxnSp>
        <p:nvCxnSpPr>
          <p:cNvPr id="1957" name="Google Shape;1957;p107"/>
          <p:cNvCxnSpPr/>
          <p:nvPr/>
        </p:nvCxnSpPr>
        <p:spPr>
          <a:xfrm>
            <a:off x="8534400" y="6400800"/>
            <a:ext cx="609600" cy="0"/>
          </a:xfrm>
          <a:prstGeom prst="straightConnector1">
            <a:avLst/>
          </a:prstGeom>
          <a:noFill/>
          <a:ln cap="flat" cmpd="sng" w="9525">
            <a:solidFill>
              <a:schemeClr val="dk1"/>
            </a:solidFill>
            <a:prstDash val="solid"/>
            <a:round/>
            <a:headEnd len="med" w="med" type="none"/>
            <a:tailEnd len="med" w="med" type="none"/>
          </a:ln>
        </p:spPr>
      </p:cxnSp>
      <p:sp>
        <p:nvSpPr>
          <p:cNvPr id="1958" name="Google Shape;1958;p107"/>
          <p:cNvSpPr txBox="1"/>
          <p:nvPr/>
        </p:nvSpPr>
        <p:spPr>
          <a:xfrm>
            <a:off x="1897779" y="1824335"/>
            <a:ext cx="21130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Underline keys:</a:t>
            </a:r>
            <a:endParaRPr/>
          </a:p>
        </p:txBody>
      </p:sp>
      <p:sp>
        <p:nvSpPr>
          <p:cNvPr id="1959" name="Google Shape;1959;p107"/>
          <p:cNvSpPr txBox="1"/>
          <p:nvPr/>
        </p:nvSpPr>
        <p:spPr>
          <a:xfrm>
            <a:off x="8534400" y="2943394"/>
            <a:ext cx="2536371" cy="1569660"/>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Note: no formal way to specify </a:t>
            </a:r>
            <a:r>
              <a:rPr i="1" lang="en-US" sz="2400">
                <a:solidFill>
                  <a:schemeClr val="dk1"/>
                </a:solidFill>
                <a:latin typeface="Calibri"/>
                <a:ea typeface="Calibri"/>
                <a:cs typeface="Calibri"/>
                <a:sym typeface="Calibri"/>
              </a:rPr>
              <a:t>multiple</a:t>
            </a:r>
            <a:r>
              <a:rPr lang="en-US" sz="2400">
                <a:solidFill>
                  <a:schemeClr val="dk1"/>
                </a:solidFill>
                <a:latin typeface="Calibri"/>
                <a:ea typeface="Calibri"/>
                <a:cs typeface="Calibri"/>
                <a:sym typeface="Calibri"/>
              </a:rPr>
              <a:t> keys in E/R diagrams…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3" name="Shape 1963"/>
        <p:cNvGrpSpPr/>
        <p:nvPr/>
      </p:nvGrpSpPr>
      <p:grpSpPr>
        <a:xfrm>
          <a:off x="0" y="0"/>
          <a:ext cx="0" cy="0"/>
          <a:chOff x="0" y="0"/>
          <a:chExt cx="0" cy="0"/>
        </a:xfrm>
      </p:grpSpPr>
      <p:sp>
        <p:nvSpPr>
          <p:cNvPr id="1964" name="Google Shape;1964;p10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Single Value Constraints</a:t>
            </a:r>
            <a:endParaRPr/>
          </a:p>
        </p:txBody>
      </p:sp>
      <p:sp>
        <p:nvSpPr>
          <p:cNvPr id="1965" name="Google Shape;1965;p10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1966" name="Google Shape;1966;p108"/>
          <p:cNvSpPr/>
          <p:nvPr/>
        </p:nvSpPr>
        <p:spPr>
          <a:xfrm>
            <a:off x="5097278" y="2722359"/>
            <a:ext cx="1927141" cy="917079"/>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makes</a:t>
            </a:r>
            <a:endParaRPr/>
          </a:p>
        </p:txBody>
      </p:sp>
      <p:cxnSp>
        <p:nvCxnSpPr>
          <p:cNvPr id="1967" name="Google Shape;1967;p108"/>
          <p:cNvCxnSpPr/>
          <p:nvPr/>
        </p:nvCxnSpPr>
        <p:spPr>
          <a:xfrm rot="10800000">
            <a:off x="4640035" y="3180897"/>
            <a:ext cx="552450" cy="0"/>
          </a:xfrm>
          <a:prstGeom prst="straightConnector1">
            <a:avLst/>
          </a:prstGeom>
          <a:noFill/>
          <a:ln cap="flat" cmpd="sng" w="9525">
            <a:solidFill>
              <a:schemeClr val="dk1"/>
            </a:solidFill>
            <a:prstDash val="solid"/>
            <a:round/>
            <a:headEnd len="lg" w="lg" type="triangle"/>
            <a:tailEnd len="sm" w="sm" type="none"/>
          </a:ln>
        </p:spPr>
      </p:cxnSp>
      <p:cxnSp>
        <p:nvCxnSpPr>
          <p:cNvPr id="1968" name="Google Shape;1968;p108"/>
          <p:cNvCxnSpPr/>
          <p:nvPr/>
        </p:nvCxnSpPr>
        <p:spPr>
          <a:xfrm>
            <a:off x="6945086" y="3180897"/>
            <a:ext cx="506413" cy="0"/>
          </a:xfrm>
          <a:prstGeom prst="straightConnector1">
            <a:avLst/>
          </a:prstGeom>
          <a:noFill/>
          <a:ln cap="flat" cmpd="sng" w="9525">
            <a:solidFill>
              <a:schemeClr val="dk1"/>
            </a:solidFill>
            <a:prstDash val="solid"/>
            <a:round/>
            <a:headEnd len="med" w="med" type="none"/>
            <a:tailEnd len="sm" w="sm" type="none"/>
          </a:ln>
        </p:spPr>
      </p:cxnSp>
      <p:sp>
        <p:nvSpPr>
          <p:cNvPr id="1969" name="Google Shape;1969;p108"/>
          <p:cNvSpPr/>
          <p:nvPr/>
        </p:nvSpPr>
        <p:spPr>
          <a:xfrm>
            <a:off x="5116328" y="4633709"/>
            <a:ext cx="1927141" cy="917079"/>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makes</a:t>
            </a:r>
            <a:endParaRPr/>
          </a:p>
        </p:txBody>
      </p:sp>
      <p:cxnSp>
        <p:nvCxnSpPr>
          <p:cNvPr id="1970" name="Google Shape;1970;p108"/>
          <p:cNvCxnSpPr/>
          <p:nvPr/>
        </p:nvCxnSpPr>
        <p:spPr>
          <a:xfrm rot="10800000">
            <a:off x="4659085" y="5092247"/>
            <a:ext cx="552450" cy="0"/>
          </a:xfrm>
          <a:prstGeom prst="straightConnector1">
            <a:avLst/>
          </a:prstGeom>
          <a:noFill/>
          <a:ln cap="flat" cmpd="sng" w="9525">
            <a:solidFill>
              <a:schemeClr val="dk1"/>
            </a:solidFill>
            <a:prstDash val="solid"/>
            <a:round/>
            <a:headEnd len="med" w="med" type="none"/>
            <a:tailEnd len="med" w="med" type="none"/>
          </a:ln>
        </p:spPr>
      </p:cxnSp>
      <p:cxnSp>
        <p:nvCxnSpPr>
          <p:cNvPr id="1971" name="Google Shape;1971;p108"/>
          <p:cNvCxnSpPr/>
          <p:nvPr/>
        </p:nvCxnSpPr>
        <p:spPr>
          <a:xfrm>
            <a:off x="6964136" y="5092247"/>
            <a:ext cx="506413" cy="0"/>
          </a:xfrm>
          <a:prstGeom prst="straightConnector1">
            <a:avLst/>
          </a:prstGeom>
          <a:noFill/>
          <a:ln cap="flat" cmpd="sng" w="9525">
            <a:solidFill>
              <a:schemeClr val="dk1"/>
            </a:solidFill>
            <a:prstDash val="solid"/>
            <a:round/>
            <a:headEnd len="med" w="med" type="none"/>
            <a:tailEnd len="sm" w="sm" type="none"/>
          </a:ln>
        </p:spPr>
      </p:cxnSp>
      <p:sp>
        <p:nvSpPr>
          <p:cNvPr id="1972" name="Google Shape;1972;p108"/>
          <p:cNvSpPr txBox="1"/>
          <p:nvPr/>
        </p:nvSpPr>
        <p:spPr>
          <a:xfrm>
            <a:off x="5651273" y="3907972"/>
            <a:ext cx="68421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v. s.</a:t>
            </a:r>
            <a:endParaRPr/>
          </a:p>
        </p:txBody>
      </p:sp>
      <p:sp>
        <p:nvSpPr>
          <p:cNvPr id="1973" name="Google Shape;1973;p108"/>
          <p:cNvSpPr txBox="1"/>
          <p:nvPr/>
        </p:nvSpPr>
        <p:spPr>
          <a:xfrm>
            <a:off x="838200" y="2174182"/>
            <a:ext cx="3286797" cy="523220"/>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See previous section!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7" name="Shape 1977"/>
        <p:cNvGrpSpPr/>
        <p:nvPr/>
      </p:nvGrpSpPr>
      <p:grpSpPr>
        <a:xfrm>
          <a:off x="0" y="0"/>
          <a:ext cx="0" cy="0"/>
          <a:chOff x="0" y="0"/>
          <a:chExt cx="0" cy="0"/>
        </a:xfrm>
      </p:grpSpPr>
      <p:sp>
        <p:nvSpPr>
          <p:cNvPr id="1978" name="Google Shape;1978;p10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Referential Integrity Constraints</a:t>
            </a:r>
            <a:endParaRPr/>
          </a:p>
        </p:txBody>
      </p:sp>
      <p:sp>
        <p:nvSpPr>
          <p:cNvPr id="1979" name="Google Shape;1979;p10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grpSp>
        <p:nvGrpSpPr>
          <p:cNvPr id="1980" name="Google Shape;1980;p109"/>
          <p:cNvGrpSpPr/>
          <p:nvPr/>
        </p:nvGrpSpPr>
        <p:grpSpPr>
          <a:xfrm>
            <a:off x="2286000" y="1793054"/>
            <a:ext cx="7543800" cy="1371600"/>
            <a:chOff x="2286000" y="1793054"/>
            <a:chExt cx="7543800" cy="1371600"/>
          </a:xfrm>
        </p:grpSpPr>
        <p:sp>
          <p:nvSpPr>
            <p:cNvPr id="1981" name="Google Shape;1981;p109"/>
            <p:cNvSpPr/>
            <p:nvPr/>
          </p:nvSpPr>
          <p:spPr>
            <a:xfrm>
              <a:off x="7696200" y="2174054"/>
              <a:ext cx="2133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Company</a:t>
              </a:r>
              <a:endParaRPr/>
            </a:p>
          </p:txBody>
        </p:sp>
        <p:sp>
          <p:nvSpPr>
            <p:cNvPr id="1982" name="Google Shape;1982;p109"/>
            <p:cNvSpPr/>
            <p:nvPr/>
          </p:nvSpPr>
          <p:spPr>
            <a:xfrm>
              <a:off x="2286000" y="2174054"/>
              <a:ext cx="2133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1983" name="Google Shape;1983;p109"/>
            <p:cNvSpPr/>
            <p:nvPr/>
          </p:nvSpPr>
          <p:spPr>
            <a:xfrm>
              <a:off x="5334000" y="1793054"/>
              <a:ext cx="1524000" cy="13716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makes</a:t>
              </a:r>
              <a:endParaRPr/>
            </a:p>
          </p:txBody>
        </p:sp>
        <p:cxnSp>
          <p:nvCxnSpPr>
            <p:cNvPr id="1984" name="Google Shape;1984;p109"/>
            <p:cNvCxnSpPr/>
            <p:nvPr/>
          </p:nvCxnSpPr>
          <p:spPr>
            <a:xfrm rot="10800000">
              <a:off x="4419600" y="2478854"/>
              <a:ext cx="914400" cy="0"/>
            </a:xfrm>
            <a:prstGeom prst="straightConnector1">
              <a:avLst/>
            </a:prstGeom>
            <a:noFill/>
            <a:ln cap="flat" cmpd="sng" w="9525">
              <a:solidFill>
                <a:schemeClr val="dk1"/>
              </a:solidFill>
              <a:prstDash val="solid"/>
              <a:round/>
              <a:headEnd len="lg" w="lg" type="triangle"/>
              <a:tailEnd len="med" w="med" type="none"/>
            </a:ln>
          </p:spPr>
        </p:cxnSp>
        <p:cxnSp>
          <p:nvCxnSpPr>
            <p:cNvPr id="1985" name="Google Shape;1985;p109"/>
            <p:cNvCxnSpPr/>
            <p:nvPr/>
          </p:nvCxnSpPr>
          <p:spPr>
            <a:xfrm>
              <a:off x="6858000" y="2478854"/>
              <a:ext cx="838200" cy="0"/>
            </a:xfrm>
            <a:prstGeom prst="straightConnector1">
              <a:avLst/>
            </a:prstGeom>
            <a:noFill/>
            <a:ln cap="flat" cmpd="sng" w="9525">
              <a:solidFill>
                <a:schemeClr val="dk1"/>
              </a:solidFill>
              <a:prstDash val="solid"/>
              <a:round/>
              <a:headEnd len="med" w="med" type="none"/>
              <a:tailEnd len="sm" w="sm" type="none"/>
            </a:ln>
          </p:spPr>
        </p:cxnSp>
      </p:grpSp>
      <p:grpSp>
        <p:nvGrpSpPr>
          <p:cNvPr id="1986" name="Google Shape;1986;p109"/>
          <p:cNvGrpSpPr/>
          <p:nvPr/>
        </p:nvGrpSpPr>
        <p:grpSpPr>
          <a:xfrm>
            <a:off x="2286000" y="4307654"/>
            <a:ext cx="7543800" cy="1371600"/>
            <a:chOff x="2286000" y="4307654"/>
            <a:chExt cx="7543800" cy="1371600"/>
          </a:xfrm>
        </p:grpSpPr>
        <p:sp>
          <p:nvSpPr>
            <p:cNvPr id="1987" name="Google Shape;1987;p109"/>
            <p:cNvSpPr/>
            <p:nvPr/>
          </p:nvSpPr>
          <p:spPr>
            <a:xfrm>
              <a:off x="7696200" y="4688654"/>
              <a:ext cx="2133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Company</a:t>
              </a:r>
              <a:endParaRPr/>
            </a:p>
          </p:txBody>
        </p:sp>
        <p:sp>
          <p:nvSpPr>
            <p:cNvPr id="1988" name="Google Shape;1988;p109"/>
            <p:cNvSpPr/>
            <p:nvPr/>
          </p:nvSpPr>
          <p:spPr>
            <a:xfrm>
              <a:off x="2286000" y="4688654"/>
              <a:ext cx="2133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Product</a:t>
              </a:r>
              <a:endParaRPr/>
            </a:p>
          </p:txBody>
        </p:sp>
        <p:sp>
          <p:nvSpPr>
            <p:cNvPr id="1989" name="Google Shape;1989;p109"/>
            <p:cNvSpPr/>
            <p:nvPr/>
          </p:nvSpPr>
          <p:spPr>
            <a:xfrm>
              <a:off x="5334000" y="4307654"/>
              <a:ext cx="1524000" cy="13716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makes</a:t>
              </a:r>
              <a:endParaRPr/>
            </a:p>
          </p:txBody>
        </p:sp>
        <p:cxnSp>
          <p:nvCxnSpPr>
            <p:cNvPr id="1990" name="Google Shape;1990;p109"/>
            <p:cNvCxnSpPr/>
            <p:nvPr/>
          </p:nvCxnSpPr>
          <p:spPr>
            <a:xfrm rot="10800000">
              <a:off x="4419600" y="4993454"/>
              <a:ext cx="914400" cy="0"/>
            </a:xfrm>
            <a:prstGeom prst="straightConnector1">
              <a:avLst/>
            </a:prstGeom>
            <a:noFill/>
            <a:ln cap="flat" cmpd="sng" w="38100">
              <a:solidFill>
                <a:schemeClr val="dk1"/>
              </a:solidFill>
              <a:prstDash val="solid"/>
              <a:round/>
              <a:headEnd len="lg" w="lg" type="triangle"/>
              <a:tailEnd len="sm" w="sm" type="none"/>
            </a:ln>
          </p:spPr>
        </p:cxnSp>
        <p:cxnSp>
          <p:nvCxnSpPr>
            <p:cNvPr id="1991" name="Google Shape;1991;p109"/>
            <p:cNvCxnSpPr/>
            <p:nvPr/>
          </p:nvCxnSpPr>
          <p:spPr>
            <a:xfrm>
              <a:off x="6858000" y="4993454"/>
              <a:ext cx="838200" cy="0"/>
            </a:xfrm>
            <a:prstGeom prst="straightConnector1">
              <a:avLst/>
            </a:prstGeom>
            <a:noFill/>
            <a:ln cap="flat" cmpd="sng" w="9525">
              <a:solidFill>
                <a:schemeClr val="dk1"/>
              </a:solidFill>
              <a:prstDash val="solid"/>
              <a:round/>
              <a:headEnd len="med" w="med" type="none"/>
              <a:tailEnd len="sm" w="sm" type="none"/>
            </a:ln>
          </p:spPr>
        </p:cxnSp>
      </p:grpSp>
      <p:sp>
        <p:nvSpPr>
          <p:cNvPr id="1992" name="Google Shape;1992;p109"/>
          <p:cNvSpPr txBox="1"/>
          <p:nvPr/>
        </p:nvSpPr>
        <p:spPr>
          <a:xfrm>
            <a:off x="3247688" y="3262344"/>
            <a:ext cx="569662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Each product made by at most one company.</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Some products made by no company?</a:t>
            </a:r>
            <a:endParaRPr/>
          </a:p>
        </p:txBody>
      </p:sp>
      <p:sp>
        <p:nvSpPr>
          <p:cNvPr id="1993" name="Google Shape;1993;p109"/>
          <p:cNvSpPr txBox="1"/>
          <p:nvPr/>
        </p:nvSpPr>
        <p:spPr>
          <a:xfrm>
            <a:off x="3278187" y="6096000"/>
            <a:ext cx="5635625" cy="457200"/>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Each product made by </a:t>
            </a:r>
            <a:r>
              <a:rPr i="1" lang="en-US" sz="2400" u="sng">
                <a:solidFill>
                  <a:srgbClr val="000000"/>
                </a:solidFill>
                <a:latin typeface="Calibri"/>
                <a:ea typeface="Calibri"/>
                <a:cs typeface="Calibri"/>
                <a:sym typeface="Calibri"/>
              </a:rPr>
              <a:t>exactly</a:t>
            </a:r>
            <a:r>
              <a:rPr lang="en-US" sz="2400">
                <a:solidFill>
                  <a:srgbClr val="000000"/>
                </a:solidFill>
                <a:latin typeface="Calibri"/>
                <a:ea typeface="Calibri"/>
                <a:cs typeface="Calibri"/>
                <a:sym typeface="Calibri"/>
              </a:rPr>
              <a:t> one company.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7" name="Shape 1997"/>
        <p:cNvGrpSpPr/>
        <p:nvPr/>
      </p:nvGrpSpPr>
      <p:grpSpPr>
        <a:xfrm>
          <a:off x="0" y="0"/>
          <a:ext cx="0" cy="0"/>
          <a:chOff x="0" y="0"/>
          <a:chExt cx="0" cy="0"/>
        </a:xfrm>
      </p:grpSpPr>
      <p:sp>
        <p:nvSpPr>
          <p:cNvPr id="1998" name="Google Shape;1998;p1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Weak Entity Sets</a:t>
            </a:r>
            <a:endParaRPr/>
          </a:p>
        </p:txBody>
      </p:sp>
      <p:sp>
        <p:nvSpPr>
          <p:cNvPr id="1999" name="Google Shape;1999;p110"/>
          <p:cNvSpPr txBox="1"/>
          <p:nvPr>
            <p:ph idx="12" type="sldNum"/>
          </p:nvPr>
        </p:nvSpPr>
        <p:spPr>
          <a:xfrm>
            <a:off x="8077200" y="5943600"/>
            <a:ext cx="1905000" cy="457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2000" name="Google Shape;2000;p110"/>
          <p:cNvSpPr txBox="1"/>
          <p:nvPr/>
        </p:nvSpPr>
        <p:spPr>
          <a:xfrm>
            <a:off x="2695069" y="1585572"/>
            <a:ext cx="6801862" cy="830997"/>
          </a:xfrm>
          <a:prstGeom prst="rect">
            <a:avLst/>
          </a:prstGeom>
          <a:solidFill>
            <a:srgbClr val="D8E2F3"/>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Entity sets are </a:t>
            </a:r>
            <a:r>
              <a:rPr i="1" lang="en-US" sz="2400" u="sng">
                <a:solidFill>
                  <a:srgbClr val="000000"/>
                </a:solidFill>
                <a:latin typeface="Calibri"/>
                <a:ea typeface="Calibri"/>
                <a:cs typeface="Calibri"/>
                <a:sym typeface="Calibri"/>
              </a:rPr>
              <a:t>weak</a:t>
            </a:r>
            <a:r>
              <a:rPr lang="en-US" sz="2400">
                <a:solidFill>
                  <a:srgbClr val="000000"/>
                </a:solidFill>
                <a:latin typeface="Calibri"/>
                <a:ea typeface="Calibri"/>
                <a:cs typeface="Calibri"/>
                <a:sym typeface="Calibri"/>
              </a:rPr>
              <a:t> when their key comes from other</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classes to which they are related.</a:t>
            </a:r>
            <a:endParaRPr/>
          </a:p>
        </p:txBody>
      </p:sp>
      <p:sp>
        <p:nvSpPr>
          <p:cNvPr id="2001" name="Google Shape;2001;p110"/>
          <p:cNvSpPr txBox="1"/>
          <p:nvPr/>
        </p:nvSpPr>
        <p:spPr>
          <a:xfrm>
            <a:off x="5164494" y="5127231"/>
            <a:ext cx="3750906" cy="1015663"/>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Calibri"/>
                <a:ea typeface="Calibri"/>
                <a:cs typeface="Calibri"/>
                <a:sym typeface="Calibri"/>
              </a:rPr>
              <a:t>“Football team” v. “</a:t>
            </a:r>
            <a:r>
              <a:rPr b="1" i="1" lang="en-US" sz="2000">
                <a:solidFill>
                  <a:srgbClr val="000000"/>
                </a:solidFill>
                <a:latin typeface="Calibri"/>
                <a:ea typeface="Calibri"/>
                <a:cs typeface="Calibri"/>
                <a:sym typeface="Calibri"/>
              </a:rPr>
              <a:t>The Stanford </a:t>
            </a:r>
            <a:r>
              <a:rPr lang="en-US" sz="2000">
                <a:solidFill>
                  <a:srgbClr val="000000"/>
                </a:solidFill>
                <a:latin typeface="Calibri"/>
                <a:ea typeface="Calibri"/>
                <a:cs typeface="Calibri"/>
                <a:sym typeface="Calibri"/>
              </a:rPr>
              <a:t>Football team” </a:t>
            </a:r>
            <a:r>
              <a:rPr i="1" lang="en-US" sz="2000">
                <a:solidFill>
                  <a:srgbClr val="000000"/>
                </a:solidFill>
                <a:latin typeface="Calibri"/>
                <a:ea typeface="Calibri"/>
                <a:cs typeface="Calibri"/>
                <a:sym typeface="Calibri"/>
              </a:rPr>
              <a:t>(E.g., Berkeley has a football team too, sort of)</a:t>
            </a:r>
            <a:endParaRPr/>
          </a:p>
        </p:txBody>
      </p:sp>
      <p:grpSp>
        <p:nvGrpSpPr>
          <p:cNvPr id="2002" name="Google Shape;2002;p110"/>
          <p:cNvGrpSpPr/>
          <p:nvPr/>
        </p:nvGrpSpPr>
        <p:grpSpPr>
          <a:xfrm>
            <a:off x="1905000" y="2743200"/>
            <a:ext cx="8077200" cy="2133600"/>
            <a:chOff x="1905000" y="2743200"/>
            <a:chExt cx="8077200" cy="2133600"/>
          </a:xfrm>
        </p:grpSpPr>
        <p:grpSp>
          <p:nvGrpSpPr>
            <p:cNvPr id="2003" name="Google Shape;2003;p110"/>
            <p:cNvGrpSpPr/>
            <p:nvPr/>
          </p:nvGrpSpPr>
          <p:grpSpPr>
            <a:xfrm>
              <a:off x="1905000" y="2743200"/>
              <a:ext cx="8077200" cy="2133600"/>
              <a:chOff x="1905000" y="2743200"/>
              <a:chExt cx="8077200" cy="2133600"/>
            </a:xfrm>
          </p:grpSpPr>
          <p:sp>
            <p:nvSpPr>
              <p:cNvPr id="2004" name="Google Shape;2004;p110"/>
              <p:cNvSpPr/>
              <p:nvPr/>
            </p:nvSpPr>
            <p:spPr>
              <a:xfrm>
                <a:off x="7772400" y="4191000"/>
                <a:ext cx="1447800" cy="685800"/>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name</a:t>
                </a:r>
                <a:endParaRPr/>
              </a:p>
            </p:txBody>
          </p:sp>
          <p:sp>
            <p:nvSpPr>
              <p:cNvPr id="2005" name="Google Shape;2005;p110"/>
              <p:cNvSpPr/>
              <p:nvPr/>
            </p:nvSpPr>
            <p:spPr>
              <a:xfrm>
                <a:off x="7848600" y="3124200"/>
                <a:ext cx="2133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University</a:t>
                </a:r>
                <a:endParaRPr/>
              </a:p>
            </p:txBody>
          </p:sp>
          <p:sp>
            <p:nvSpPr>
              <p:cNvPr id="2006" name="Google Shape;2006;p110"/>
              <p:cNvSpPr/>
              <p:nvPr/>
            </p:nvSpPr>
            <p:spPr>
              <a:xfrm>
                <a:off x="2438400" y="3124200"/>
                <a:ext cx="2133600" cy="762000"/>
              </a:xfrm>
              <a:prstGeom prst="rect">
                <a:avLst/>
              </a:prstGeom>
              <a:solidFill>
                <a:srgbClr val="FBE4D4"/>
              </a:solidFill>
              <a:ln cap="flat" cmpd="sng" w="508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Team</a:t>
                </a:r>
                <a:endParaRPr/>
              </a:p>
            </p:txBody>
          </p:sp>
          <p:sp>
            <p:nvSpPr>
              <p:cNvPr id="2007" name="Google Shape;2007;p110"/>
              <p:cNvSpPr/>
              <p:nvPr/>
            </p:nvSpPr>
            <p:spPr>
              <a:xfrm>
                <a:off x="5486400" y="2743200"/>
                <a:ext cx="1524000" cy="1371600"/>
              </a:xfrm>
              <a:prstGeom prst="diamond">
                <a:avLst/>
              </a:prstGeom>
              <a:solidFill>
                <a:schemeClr val="accent1"/>
              </a:solidFill>
              <a:ln cap="flat" cmpd="sng" w="508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affiliation</a:t>
                </a:r>
                <a:endParaRPr/>
              </a:p>
            </p:txBody>
          </p:sp>
          <p:cxnSp>
            <p:nvCxnSpPr>
              <p:cNvPr id="2008" name="Google Shape;2008;p110"/>
              <p:cNvCxnSpPr/>
              <p:nvPr/>
            </p:nvCxnSpPr>
            <p:spPr>
              <a:xfrm rot="10800000">
                <a:off x="4572000" y="3429000"/>
                <a:ext cx="914400" cy="0"/>
              </a:xfrm>
              <a:prstGeom prst="straightConnector1">
                <a:avLst/>
              </a:prstGeom>
              <a:noFill/>
              <a:ln cap="flat" cmpd="sng" w="50800">
                <a:solidFill>
                  <a:schemeClr val="dk1"/>
                </a:solidFill>
                <a:prstDash val="solid"/>
                <a:round/>
                <a:headEnd len="med" w="med" type="stealth"/>
                <a:tailEnd len="sm" w="sm" type="none"/>
              </a:ln>
            </p:spPr>
          </p:cxnSp>
          <p:cxnSp>
            <p:nvCxnSpPr>
              <p:cNvPr id="2009" name="Google Shape;2009;p110"/>
              <p:cNvCxnSpPr/>
              <p:nvPr/>
            </p:nvCxnSpPr>
            <p:spPr>
              <a:xfrm>
                <a:off x="7010400" y="3429000"/>
                <a:ext cx="838200" cy="0"/>
              </a:xfrm>
              <a:prstGeom prst="straightConnector1">
                <a:avLst/>
              </a:prstGeom>
              <a:noFill/>
              <a:ln cap="flat" cmpd="sng" w="9525">
                <a:solidFill>
                  <a:schemeClr val="dk1"/>
                </a:solidFill>
                <a:prstDash val="solid"/>
                <a:round/>
                <a:headEnd len="med" w="med" type="none"/>
                <a:tailEnd len="sm" w="sm" type="none"/>
              </a:ln>
            </p:spPr>
          </p:cxnSp>
          <p:sp>
            <p:nvSpPr>
              <p:cNvPr id="2010" name="Google Shape;2010;p110"/>
              <p:cNvSpPr/>
              <p:nvPr/>
            </p:nvSpPr>
            <p:spPr>
              <a:xfrm>
                <a:off x="4038600" y="4191000"/>
                <a:ext cx="1447800" cy="685800"/>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number</a:t>
                </a:r>
                <a:endParaRPr/>
              </a:p>
            </p:txBody>
          </p:sp>
          <p:sp>
            <p:nvSpPr>
              <p:cNvPr id="2011" name="Google Shape;2011;p110"/>
              <p:cNvSpPr/>
              <p:nvPr/>
            </p:nvSpPr>
            <p:spPr>
              <a:xfrm>
                <a:off x="1905000" y="4191000"/>
                <a:ext cx="1447800" cy="685800"/>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sport</a:t>
                </a:r>
                <a:endParaRPr/>
              </a:p>
            </p:txBody>
          </p:sp>
          <p:cxnSp>
            <p:nvCxnSpPr>
              <p:cNvPr id="2012" name="Google Shape;2012;p110"/>
              <p:cNvCxnSpPr/>
              <p:nvPr/>
            </p:nvCxnSpPr>
            <p:spPr>
              <a:xfrm flipH="1">
                <a:off x="3048000" y="3886200"/>
                <a:ext cx="381000" cy="381000"/>
              </a:xfrm>
              <a:prstGeom prst="straightConnector1">
                <a:avLst/>
              </a:prstGeom>
              <a:noFill/>
              <a:ln cap="flat" cmpd="sng" w="9525">
                <a:solidFill>
                  <a:schemeClr val="dk1"/>
                </a:solidFill>
                <a:prstDash val="solid"/>
                <a:round/>
                <a:headEnd len="med" w="med" type="none"/>
                <a:tailEnd len="med" w="med" type="none"/>
              </a:ln>
            </p:spPr>
          </p:cxnSp>
          <p:cxnSp>
            <p:nvCxnSpPr>
              <p:cNvPr id="2013" name="Google Shape;2013;p110"/>
              <p:cNvCxnSpPr/>
              <p:nvPr/>
            </p:nvCxnSpPr>
            <p:spPr>
              <a:xfrm>
                <a:off x="3581400" y="3886200"/>
                <a:ext cx="762000" cy="381000"/>
              </a:xfrm>
              <a:prstGeom prst="straightConnector1">
                <a:avLst/>
              </a:prstGeom>
              <a:noFill/>
              <a:ln cap="flat" cmpd="sng" w="9525">
                <a:solidFill>
                  <a:schemeClr val="dk1"/>
                </a:solidFill>
                <a:prstDash val="solid"/>
                <a:round/>
                <a:headEnd len="med" w="med" type="none"/>
                <a:tailEnd len="med" w="med" type="none"/>
              </a:ln>
            </p:spPr>
          </p:cxnSp>
          <p:cxnSp>
            <p:nvCxnSpPr>
              <p:cNvPr id="2014" name="Google Shape;2014;p110"/>
              <p:cNvCxnSpPr/>
              <p:nvPr/>
            </p:nvCxnSpPr>
            <p:spPr>
              <a:xfrm flipH="1">
                <a:off x="8382000" y="3886200"/>
                <a:ext cx="228600" cy="304800"/>
              </a:xfrm>
              <a:prstGeom prst="straightConnector1">
                <a:avLst/>
              </a:prstGeom>
              <a:noFill/>
              <a:ln cap="flat" cmpd="sng" w="9525">
                <a:solidFill>
                  <a:schemeClr val="dk1"/>
                </a:solidFill>
                <a:prstDash val="solid"/>
                <a:round/>
                <a:headEnd len="med" w="med" type="none"/>
                <a:tailEnd len="med" w="med" type="none"/>
              </a:ln>
            </p:spPr>
          </p:cxnSp>
        </p:grpSp>
        <p:cxnSp>
          <p:nvCxnSpPr>
            <p:cNvPr id="2015" name="Google Shape;2015;p110"/>
            <p:cNvCxnSpPr/>
            <p:nvPr/>
          </p:nvCxnSpPr>
          <p:spPr>
            <a:xfrm>
              <a:off x="8153400" y="4724400"/>
              <a:ext cx="685800" cy="0"/>
            </a:xfrm>
            <a:prstGeom prst="straightConnector1">
              <a:avLst/>
            </a:prstGeom>
            <a:noFill/>
            <a:ln cap="flat" cmpd="sng" w="9525">
              <a:solidFill>
                <a:schemeClr val="dk1"/>
              </a:solidFill>
              <a:prstDash val="solid"/>
              <a:round/>
              <a:headEnd len="med" w="med" type="none"/>
              <a:tailEnd len="med" w="med" type="none"/>
            </a:ln>
          </p:spPr>
        </p:cxnSp>
        <p:cxnSp>
          <p:nvCxnSpPr>
            <p:cNvPr id="2016" name="Google Shape;2016;p110"/>
            <p:cNvCxnSpPr/>
            <p:nvPr/>
          </p:nvCxnSpPr>
          <p:spPr>
            <a:xfrm>
              <a:off x="4267200" y="4724400"/>
              <a:ext cx="990600" cy="0"/>
            </a:xfrm>
            <a:prstGeom prst="straightConnector1">
              <a:avLst/>
            </a:prstGeom>
            <a:noFill/>
            <a:ln cap="flat" cmpd="sng" w="9525">
              <a:solidFill>
                <a:schemeClr val="dk1"/>
              </a:solidFill>
              <a:prstDash val="dash"/>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0" name="Shape 2020"/>
        <p:cNvGrpSpPr/>
        <p:nvPr/>
      </p:nvGrpSpPr>
      <p:grpSpPr>
        <a:xfrm>
          <a:off x="0" y="0"/>
          <a:ext cx="0" cy="0"/>
          <a:chOff x="0" y="0"/>
          <a:chExt cx="0" cy="0"/>
        </a:xfrm>
      </p:grpSpPr>
      <p:sp>
        <p:nvSpPr>
          <p:cNvPr id="2021" name="Google Shape;2021;p1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Weak Entity Sets</a:t>
            </a:r>
            <a:endParaRPr/>
          </a:p>
        </p:txBody>
      </p:sp>
      <p:sp>
        <p:nvSpPr>
          <p:cNvPr id="2022" name="Google Shape;2022;p111"/>
          <p:cNvSpPr txBox="1"/>
          <p:nvPr>
            <p:ph idx="12" type="sldNum"/>
          </p:nvPr>
        </p:nvSpPr>
        <p:spPr>
          <a:xfrm>
            <a:off x="8077200" y="5943600"/>
            <a:ext cx="1905000" cy="457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2023" name="Google Shape;2023;p111"/>
          <p:cNvSpPr txBox="1"/>
          <p:nvPr/>
        </p:nvSpPr>
        <p:spPr>
          <a:xfrm>
            <a:off x="2695069" y="1585572"/>
            <a:ext cx="6801862" cy="830997"/>
          </a:xfrm>
          <a:prstGeom prst="rect">
            <a:avLst/>
          </a:prstGeom>
          <a:solidFill>
            <a:srgbClr val="D8E2F3"/>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Entity sets are </a:t>
            </a:r>
            <a:r>
              <a:rPr i="1" lang="en-US" sz="2400" u="sng">
                <a:solidFill>
                  <a:srgbClr val="000000"/>
                </a:solidFill>
                <a:latin typeface="Calibri"/>
                <a:ea typeface="Calibri"/>
                <a:cs typeface="Calibri"/>
                <a:sym typeface="Calibri"/>
              </a:rPr>
              <a:t>weak</a:t>
            </a:r>
            <a:r>
              <a:rPr lang="en-US" sz="2400">
                <a:solidFill>
                  <a:srgbClr val="000000"/>
                </a:solidFill>
                <a:latin typeface="Calibri"/>
                <a:ea typeface="Calibri"/>
                <a:cs typeface="Calibri"/>
                <a:sym typeface="Calibri"/>
              </a:rPr>
              <a:t> when their key comes from other</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classes to which they are related.</a:t>
            </a:r>
            <a:endParaRPr/>
          </a:p>
        </p:txBody>
      </p:sp>
      <p:sp>
        <p:nvSpPr>
          <p:cNvPr id="2024" name="Google Shape;2024;p111"/>
          <p:cNvSpPr/>
          <p:nvPr/>
        </p:nvSpPr>
        <p:spPr>
          <a:xfrm>
            <a:off x="7848600" y="3124200"/>
            <a:ext cx="2133600" cy="762000"/>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University</a:t>
            </a:r>
            <a:endParaRPr/>
          </a:p>
        </p:txBody>
      </p:sp>
      <p:sp>
        <p:nvSpPr>
          <p:cNvPr id="2025" name="Google Shape;2025;p111"/>
          <p:cNvSpPr/>
          <p:nvPr/>
        </p:nvSpPr>
        <p:spPr>
          <a:xfrm>
            <a:off x="2438400" y="3124200"/>
            <a:ext cx="2133600" cy="762000"/>
          </a:xfrm>
          <a:prstGeom prst="rect">
            <a:avLst/>
          </a:prstGeom>
          <a:solidFill>
            <a:srgbClr val="FBE4D4"/>
          </a:solidFill>
          <a:ln cap="flat" cmpd="sng" w="508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Team</a:t>
            </a:r>
            <a:endParaRPr/>
          </a:p>
        </p:txBody>
      </p:sp>
      <p:sp>
        <p:nvSpPr>
          <p:cNvPr id="2026" name="Google Shape;2026;p111"/>
          <p:cNvSpPr/>
          <p:nvPr/>
        </p:nvSpPr>
        <p:spPr>
          <a:xfrm>
            <a:off x="5486400" y="2743200"/>
            <a:ext cx="1524000" cy="1371600"/>
          </a:xfrm>
          <a:prstGeom prst="diamond">
            <a:avLst/>
          </a:prstGeom>
          <a:solidFill>
            <a:schemeClr val="accent1"/>
          </a:solidFill>
          <a:ln cap="flat" cmpd="sng" w="508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affiliation</a:t>
            </a:r>
            <a:endParaRPr/>
          </a:p>
        </p:txBody>
      </p:sp>
      <p:cxnSp>
        <p:nvCxnSpPr>
          <p:cNvPr id="2027" name="Google Shape;2027;p111"/>
          <p:cNvCxnSpPr/>
          <p:nvPr/>
        </p:nvCxnSpPr>
        <p:spPr>
          <a:xfrm rot="10800000">
            <a:off x="4572000" y="3429000"/>
            <a:ext cx="914400" cy="0"/>
          </a:xfrm>
          <a:prstGeom prst="straightConnector1">
            <a:avLst/>
          </a:prstGeom>
          <a:noFill/>
          <a:ln cap="flat" cmpd="sng" w="50800">
            <a:solidFill>
              <a:schemeClr val="dk1"/>
            </a:solidFill>
            <a:prstDash val="solid"/>
            <a:round/>
            <a:headEnd len="med" w="med" type="stealth"/>
            <a:tailEnd len="sm" w="sm" type="none"/>
          </a:ln>
        </p:spPr>
      </p:cxnSp>
      <p:cxnSp>
        <p:nvCxnSpPr>
          <p:cNvPr id="2028" name="Google Shape;2028;p111"/>
          <p:cNvCxnSpPr/>
          <p:nvPr/>
        </p:nvCxnSpPr>
        <p:spPr>
          <a:xfrm>
            <a:off x="7010400" y="3429000"/>
            <a:ext cx="838200" cy="0"/>
          </a:xfrm>
          <a:prstGeom prst="straightConnector1">
            <a:avLst/>
          </a:prstGeom>
          <a:noFill/>
          <a:ln cap="flat" cmpd="sng" w="9525">
            <a:solidFill>
              <a:schemeClr val="dk1"/>
            </a:solidFill>
            <a:prstDash val="solid"/>
            <a:round/>
            <a:headEnd len="med" w="med" type="none"/>
            <a:tailEnd len="sm" w="sm" type="none"/>
          </a:ln>
        </p:spPr>
      </p:cxnSp>
      <p:sp>
        <p:nvSpPr>
          <p:cNvPr id="2029" name="Google Shape;2029;p111"/>
          <p:cNvSpPr/>
          <p:nvPr/>
        </p:nvSpPr>
        <p:spPr>
          <a:xfrm>
            <a:off x="4038600" y="4191000"/>
            <a:ext cx="1447800" cy="685800"/>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number</a:t>
            </a:r>
            <a:endParaRPr/>
          </a:p>
        </p:txBody>
      </p:sp>
      <p:sp>
        <p:nvSpPr>
          <p:cNvPr id="2030" name="Google Shape;2030;p111"/>
          <p:cNvSpPr/>
          <p:nvPr/>
        </p:nvSpPr>
        <p:spPr>
          <a:xfrm>
            <a:off x="1905000" y="4191000"/>
            <a:ext cx="1447800" cy="685800"/>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sport</a:t>
            </a:r>
            <a:endParaRPr/>
          </a:p>
        </p:txBody>
      </p:sp>
      <p:sp>
        <p:nvSpPr>
          <p:cNvPr id="2031" name="Google Shape;2031;p111"/>
          <p:cNvSpPr/>
          <p:nvPr/>
        </p:nvSpPr>
        <p:spPr>
          <a:xfrm>
            <a:off x="7772400" y="4191000"/>
            <a:ext cx="1447800" cy="685800"/>
          </a:xfrm>
          <a:prstGeom prst="ellipse">
            <a:avLst/>
          </a:prstGeom>
          <a:solidFill>
            <a:srgbClr val="99FF6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name</a:t>
            </a:r>
            <a:endParaRPr/>
          </a:p>
        </p:txBody>
      </p:sp>
      <p:cxnSp>
        <p:nvCxnSpPr>
          <p:cNvPr id="2032" name="Google Shape;2032;p111"/>
          <p:cNvCxnSpPr/>
          <p:nvPr/>
        </p:nvCxnSpPr>
        <p:spPr>
          <a:xfrm>
            <a:off x="8153400" y="4724400"/>
            <a:ext cx="685800" cy="0"/>
          </a:xfrm>
          <a:prstGeom prst="straightConnector1">
            <a:avLst/>
          </a:prstGeom>
          <a:noFill/>
          <a:ln cap="flat" cmpd="sng" w="9525">
            <a:solidFill>
              <a:schemeClr val="dk1"/>
            </a:solidFill>
            <a:prstDash val="solid"/>
            <a:round/>
            <a:headEnd len="med" w="med" type="none"/>
            <a:tailEnd len="med" w="med" type="none"/>
          </a:ln>
        </p:spPr>
      </p:cxnSp>
      <p:cxnSp>
        <p:nvCxnSpPr>
          <p:cNvPr id="2033" name="Google Shape;2033;p111"/>
          <p:cNvCxnSpPr/>
          <p:nvPr/>
        </p:nvCxnSpPr>
        <p:spPr>
          <a:xfrm flipH="1">
            <a:off x="3048000" y="3886200"/>
            <a:ext cx="381000" cy="381000"/>
          </a:xfrm>
          <a:prstGeom prst="straightConnector1">
            <a:avLst/>
          </a:prstGeom>
          <a:noFill/>
          <a:ln cap="flat" cmpd="sng" w="9525">
            <a:solidFill>
              <a:schemeClr val="dk1"/>
            </a:solidFill>
            <a:prstDash val="solid"/>
            <a:round/>
            <a:headEnd len="med" w="med" type="none"/>
            <a:tailEnd len="med" w="med" type="none"/>
          </a:ln>
        </p:spPr>
      </p:cxnSp>
      <p:cxnSp>
        <p:nvCxnSpPr>
          <p:cNvPr id="2034" name="Google Shape;2034;p111"/>
          <p:cNvCxnSpPr/>
          <p:nvPr/>
        </p:nvCxnSpPr>
        <p:spPr>
          <a:xfrm>
            <a:off x="3581400" y="3886200"/>
            <a:ext cx="762000" cy="381000"/>
          </a:xfrm>
          <a:prstGeom prst="straightConnector1">
            <a:avLst/>
          </a:prstGeom>
          <a:noFill/>
          <a:ln cap="flat" cmpd="sng" w="9525">
            <a:solidFill>
              <a:schemeClr val="dk1"/>
            </a:solidFill>
            <a:prstDash val="solid"/>
            <a:round/>
            <a:headEnd len="med" w="med" type="none"/>
            <a:tailEnd len="med" w="med" type="none"/>
          </a:ln>
        </p:spPr>
      </p:cxnSp>
      <p:cxnSp>
        <p:nvCxnSpPr>
          <p:cNvPr id="2035" name="Google Shape;2035;p111"/>
          <p:cNvCxnSpPr/>
          <p:nvPr/>
        </p:nvCxnSpPr>
        <p:spPr>
          <a:xfrm flipH="1">
            <a:off x="8382000" y="3886200"/>
            <a:ext cx="228600" cy="304800"/>
          </a:xfrm>
          <a:prstGeom prst="straightConnector1">
            <a:avLst/>
          </a:prstGeom>
          <a:noFill/>
          <a:ln cap="flat" cmpd="sng" w="9525">
            <a:solidFill>
              <a:schemeClr val="dk1"/>
            </a:solidFill>
            <a:prstDash val="solid"/>
            <a:round/>
            <a:headEnd len="med" w="med" type="none"/>
            <a:tailEnd len="med" w="med" type="none"/>
          </a:ln>
        </p:spPr>
      </p:cxnSp>
      <p:cxnSp>
        <p:nvCxnSpPr>
          <p:cNvPr id="2036" name="Google Shape;2036;p111"/>
          <p:cNvCxnSpPr/>
          <p:nvPr/>
        </p:nvCxnSpPr>
        <p:spPr>
          <a:xfrm>
            <a:off x="4267200" y="4724400"/>
            <a:ext cx="990600" cy="0"/>
          </a:xfrm>
          <a:prstGeom prst="straightConnector1">
            <a:avLst/>
          </a:prstGeom>
          <a:noFill/>
          <a:ln cap="flat" cmpd="sng" w="9525">
            <a:solidFill>
              <a:schemeClr val="dk1"/>
            </a:solidFill>
            <a:prstDash val="dash"/>
            <a:round/>
            <a:headEnd len="med" w="med" type="none"/>
            <a:tailEnd len="med" w="med" type="none"/>
          </a:ln>
        </p:spPr>
      </p:cxnSp>
      <p:sp>
        <p:nvSpPr>
          <p:cNvPr id="2037" name="Google Shape;2037;p111"/>
          <p:cNvSpPr txBox="1"/>
          <p:nvPr/>
        </p:nvSpPr>
        <p:spPr>
          <a:xfrm>
            <a:off x="2247900" y="5319712"/>
            <a:ext cx="7696200" cy="1200329"/>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rgbClr val="000000"/>
              </a:buClr>
              <a:buSzPts val="2400"/>
              <a:buFont typeface="Arial"/>
              <a:buChar char="•"/>
            </a:pPr>
            <a:r>
              <a:rPr lang="en-US" sz="2400">
                <a:solidFill>
                  <a:srgbClr val="000000"/>
                </a:solidFill>
                <a:latin typeface="Calibri"/>
                <a:ea typeface="Calibri"/>
                <a:cs typeface="Calibri"/>
                <a:sym typeface="Calibri"/>
              </a:rPr>
              <a:t>number is a </a:t>
            </a:r>
            <a:r>
              <a:rPr i="1" lang="en-US" sz="2400" u="sng">
                <a:solidFill>
                  <a:srgbClr val="000000"/>
                </a:solidFill>
                <a:latin typeface="Calibri"/>
                <a:ea typeface="Calibri"/>
                <a:cs typeface="Calibri"/>
                <a:sym typeface="Calibri"/>
              </a:rPr>
              <a:t>partial key</a:t>
            </a:r>
            <a:r>
              <a:rPr lang="en-US" sz="2400">
                <a:solidFill>
                  <a:srgbClr val="000000"/>
                </a:solidFill>
                <a:latin typeface="Calibri"/>
                <a:ea typeface="Calibri"/>
                <a:cs typeface="Calibri"/>
                <a:sym typeface="Calibri"/>
              </a:rPr>
              <a:t>. (denote with dashed underline).</a:t>
            </a:r>
            <a:endParaRPr/>
          </a:p>
          <a:p>
            <a:pPr indent="-457200" lvl="0" marL="457200" marR="0" rtl="0" algn="l">
              <a:spcBef>
                <a:spcPts val="0"/>
              </a:spcBef>
              <a:spcAft>
                <a:spcPts val="0"/>
              </a:spcAft>
              <a:buClr>
                <a:srgbClr val="000000"/>
              </a:buClr>
              <a:buSzPts val="2400"/>
              <a:buFont typeface="Arial"/>
              <a:buChar char="•"/>
            </a:pPr>
            <a:r>
              <a:rPr lang="en-US" sz="2400">
                <a:solidFill>
                  <a:srgbClr val="000000"/>
                </a:solidFill>
                <a:latin typeface="Calibri"/>
                <a:ea typeface="Calibri"/>
                <a:cs typeface="Calibri"/>
                <a:sym typeface="Calibri"/>
              </a:rPr>
              <a:t>University is called the </a:t>
            </a:r>
            <a:r>
              <a:rPr i="1" lang="en-US" sz="2400" u="sng">
                <a:solidFill>
                  <a:srgbClr val="000000"/>
                </a:solidFill>
                <a:latin typeface="Calibri"/>
                <a:ea typeface="Calibri"/>
                <a:cs typeface="Calibri"/>
                <a:sym typeface="Calibri"/>
              </a:rPr>
              <a:t>identifying owner</a:t>
            </a:r>
            <a:r>
              <a:rPr lang="en-US" sz="2400">
                <a:solidFill>
                  <a:srgbClr val="000000"/>
                </a:solidFill>
                <a:latin typeface="Calibri"/>
                <a:ea typeface="Calibri"/>
                <a:cs typeface="Calibri"/>
                <a:sym typeface="Calibri"/>
              </a:rPr>
              <a:t>.</a:t>
            </a:r>
            <a:endParaRPr/>
          </a:p>
          <a:p>
            <a:pPr indent="-457200" lvl="0" marL="457200" marR="0" rtl="0" algn="l">
              <a:spcBef>
                <a:spcPts val="0"/>
              </a:spcBef>
              <a:spcAft>
                <a:spcPts val="0"/>
              </a:spcAft>
              <a:buClr>
                <a:srgbClr val="000000"/>
              </a:buClr>
              <a:buSzPts val="2400"/>
              <a:buFont typeface="Arial"/>
              <a:buChar char="•"/>
            </a:pPr>
            <a:r>
              <a:rPr lang="en-US" sz="2400">
                <a:solidFill>
                  <a:srgbClr val="000000"/>
                </a:solidFill>
                <a:latin typeface="Calibri"/>
                <a:ea typeface="Calibri"/>
                <a:cs typeface="Calibri"/>
                <a:sym typeface="Calibri"/>
              </a:rPr>
              <a:t>Participation in affiliation must be total. Why?</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1" name="Shape 2041"/>
        <p:cNvGrpSpPr/>
        <p:nvPr/>
      </p:nvGrpSpPr>
      <p:grpSpPr>
        <a:xfrm>
          <a:off x="0" y="0"/>
          <a:ext cx="0" cy="0"/>
          <a:chOff x="0" y="0"/>
          <a:chExt cx="0" cy="0"/>
        </a:xfrm>
      </p:grpSpPr>
      <p:sp>
        <p:nvSpPr>
          <p:cNvPr id="2042" name="Google Shape;2042;p112"/>
          <p:cNvSpPr txBox="1"/>
          <p:nvPr>
            <p:ph type="title"/>
          </p:nvPr>
        </p:nvSpPr>
        <p:spPr>
          <a:xfrm>
            <a:off x="609600" y="173566"/>
            <a:ext cx="10515600" cy="1325563"/>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Strong</a:t>
            </a:r>
            <a:r>
              <a:rPr lang="en-US"/>
              <a:t> </a:t>
            </a:r>
            <a:r>
              <a:rPr lang="en-US" sz="4400">
                <a:solidFill>
                  <a:schemeClr val="dk1"/>
                </a:solidFill>
                <a:latin typeface="Calibri"/>
                <a:ea typeface="Calibri"/>
                <a:cs typeface="Calibri"/>
                <a:sym typeface="Calibri"/>
              </a:rPr>
              <a:t>and</a:t>
            </a:r>
            <a:r>
              <a:rPr lang="en-US"/>
              <a:t> Weak Entities</a:t>
            </a:r>
            <a:endParaRPr/>
          </a:p>
        </p:txBody>
      </p:sp>
      <p:sp>
        <p:nvSpPr>
          <p:cNvPr id="2043" name="Google Shape;2043;p112"/>
          <p:cNvSpPr txBox="1"/>
          <p:nvPr/>
        </p:nvSpPr>
        <p:spPr>
          <a:xfrm>
            <a:off x="1593850" y="1825625"/>
            <a:ext cx="8547100" cy="3202305"/>
          </a:xfrm>
          <a:prstGeom prst="rect">
            <a:avLst/>
          </a:prstGeom>
          <a:noFill/>
          <a:ln>
            <a:noFill/>
          </a:ln>
        </p:spPr>
        <p:txBody>
          <a:bodyPr anchorCtr="0" anchor="t" bIns="0" lIns="0" spcFirstLastPara="1" rIns="0" wrap="square" tIns="26025">
            <a:spAutoFit/>
          </a:bodyPr>
          <a:lstStyle/>
          <a:p>
            <a:pPr indent="-257175" lvl="0" marL="269875" marR="433069" rtl="0" algn="l">
              <a:lnSpc>
                <a:spcPct val="119583"/>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 </a:t>
            </a:r>
            <a:r>
              <a:rPr lang="en-US" sz="2400">
                <a:solidFill>
                  <a:srgbClr val="FF0000"/>
                </a:solidFill>
                <a:latin typeface="Calibri"/>
                <a:ea typeface="Calibri"/>
                <a:cs typeface="Calibri"/>
                <a:sym typeface="Calibri"/>
              </a:rPr>
              <a:t>weak entity </a:t>
            </a:r>
            <a:r>
              <a:rPr lang="en-US" sz="2400">
                <a:solidFill>
                  <a:schemeClr val="dk1"/>
                </a:solidFill>
                <a:latin typeface="Calibri"/>
                <a:ea typeface="Calibri"/>
                <a:cs typeface="Calibri"/>
                <a:sym typeface="Calibri"/>
              </a:rPr>
              <a:t>is an entity whose instances </a:t>
            </a:r>
            <a:r>
              <a:rPr b="1" lang="en-US" sz="2400">
                <a:solidFill>
                  <a:schemeClr val="dk1"/>
                </a:solidFill>
                <a:latin typeface="Calibri"/>
                <a:ea typeface="Calibri"/>
                <a:cs typeface="Calibri"/>
                <a:sym typeface="Calibri"/>
              </a:rPr>
              <a:t>cannot </a:t>
            </a:r>
            <a:r>
              <a:rPr lang="en-US" sz="2400">
                <a:solidFill>
                  <a:schemeClr val="dk1"/>
                </a:solidFill>
                <a:latin typeface="Calibri"/>
                <a:ea typeface="Calibri"/>
                <a:cs typeface="Calibri"/>
                <a:sym typeface="Calibri"/>
              </a:rPr>
              <a:t>exist in the  database without the existence of an instance of another entity</a:t>
            </a:r>
            <a:endParaRPr sz="2400">
              <a:solidFill>
                <a:schemeClr val="dk1"/>
              </a:solidFill>
              <a:latin typeface="Calibri"/>
              <a:ea typeface="Calibri"/>
              <a:cs typeface="Calibri"/>
              <a:sym typeface="Calibri"/>
            </a:endParaRPr>
          </a:p>
          <a:p>
            <a:pPr indent="0" lvl="0" marL="0" marR="0" rtl="0" algn="l">
              <a:spcBef>
                <a:spcPts val="45"/>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a:p>
            <a:pPr indent="-257175" lvl="0" marL="269875"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Any entity that is not weak entity is called a </a:t>
            </a:r>
            <a:r>
              <a:rPr lang="en-US" sz="2400">
                <a:solidFill>
                  <a:srgbClr val="00B050"/>
                </a:solidFill>
                <a:latin typeface="Calibri"/>
                <a:ea typeface="Calibri"/>
                <a:cs typeface="Calibri"/>
                <a:sym typeface="Calibri"/>
              </a:rPr>
              <a:t>strong entity</a:t>
            </a:r>
            <a:endParaRPr sz="2400">
              <a:solidFill>
                <a:schemeClr val="dk1"/>
              </a:solidFill>
              <a:latin typeface="Calibri"/>
              <a:ea typeface="Calibri"/>
              <a:cs typeface="Calibri"/>
              <a:sym typeface="Calibri"/>
            </a:endParaRPr>
          </a:p>
          <a:p>
            <a:pPr indent="0" lvl="0" marL="355600" marR="0" rtl="0" algn="l">
              <a:spcBef>
                <a:spcPts val="490"/>
              </a:spcBef>
              <a:spcAft>
                <a:spcPts val="0"/>
              </a:spcAft>
              <a:buNone/>
            </a:pPr>
            <a:r>
              <a:rPr lang="en-US" sz="2100">
                <a:solidFill>
                  <a:schemeClr val="dk1"/>
                </a:solidFill>
                <a:latin typeface="Arial"/>
                <a:ea typeface="Arial"/>
                <a:cs typeface="Arial"/>
                <a:sym typeface="Arial"/>
              </a:rPr>
              <a:t>– </a:t>
            </a:r>
            <a:r>
              <a:rPr lang="en-US" sz="2100">
                <a:solidFill>
                  <a:schemeClr val="dk1"/>
                </a:solidFill>
                <a:latin typeface="Calibri"/>
                <a:ea typeface="Calibri"/>
                <a:cs typeface="Calibri"/>
                <a:sym typeface="Calibri"/>
              </a:rPr>
              <a:t>Instances of a strong entity can exist in the database independently</a:t>
            </a:r>
            <a:endParaRPr sz="2100">
              <a:solidFill>
                <a:schemeClr val="dk1"/>
              </a:solidFill>
              <a:latin typeface="Calibri"/>
              <a:ea typeface="Calibri"/>
              <a:cs typeface="Calibri"/>
              <a:sym typeface="Calibri"/>
            </a:endParaRPr>
          </a:p>
          <a:p>
            <a:pPr indent="0" lvl="0" marL="0" marR="0" rtl="0" algn="l">
              <a:spcBef>
                <a:spcPts val="20"/>
              </a:spcBef>
              <a:spcAft>
                <a:spcPts val="0"/>
              </a:spcAft>
              <a:buNone/>
            </a:pPr>
            <a:r>
              <a:t/>
            </a:r>
            <a:endParaRPr sz="3000">
              <a:solidFill>
                <a:schemeClr val="dk1"/>
              </a:solidFill>
              <a:latin typeface="Calibri"/>
              <a:ea typeface="Calibri"/>
              <a:cs typeface="Calibri"/>
              <a:sym typeface="Calibri"/>
            </a:endParaRPr>
          </a:p>
          <a:p>
            <a:pPr indent="-257175" lvl="0" marL="269875" marR="5080" rtl="0" algn="l">
              <a:lnSpc>
                <a:spcPct val="119583"/>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a:t>
            </a:r>
            <a:r>
              <a:rPr lang="en-US" sz="2400">
                <a:solidFill>
                  <a:srgbClr val="FF0000"/>
                </a:solidFill>
                <a:latin typeface="Calibri"/>
                <a:ea typeface="Calibri"/>
                <a:cs typeface="Calibri"/>
                <a:sym typeface="Calibri"/>
              </a:rPr>
              <a:t>weak entity’s </a:t>
            </a:r>
            <a:r>
              <a:rPr lang="en-US" sz="2400">
                <a:solidFill>
                  <a:srgbClr val="00B050"/>
                </a:solidFill>
                <a:latin typeface="Calibri"/>
                <a:ea typeface="Calibri"/>
                <a:cs typeface="Calibri"/>
                <a:sym typeface="Calibri"/>
              </a:rPr>
              <a:t>identifier </a:t>
            </a:r>
            <a:r>
              <a:rPr lang="en-US" sz="2400">
                <a:solidFill>
                  <a:schemeClr val="dk1"/>
                </a:solidFill>
                <a:latin typeface="Calibri"/>
                <a:ea typeface="Calibri"/>
                <a:cs typeface="Calibri"/>
                <a:sym typeface="Calibri"/>
              </a:rPr>
              <a:t>is a combination of the </a:t>
            </a:r>
            <a:r>
              <a:rPr lang="en-US" sz="2400">
                <a:solidFill>
                  <a:srgbClr val="0070C0"/>
                </a:solidFill>
                <a:latin typeface="Calibri"/>
                <a:ea typeface="Calibri"/>
                <a:cs typeface="Calibri"/>
                <a:sym typeface="Calibri"/>
              </a:rPr>
              <a:t>identifier </a:t>
            </a:r>
            <a:r>
              <a:rPr lang="en-US" sz="2400">
                <a:solidFill>
                  <a:schemeClr val="dk1"/>
                </a:solidFill>
                <a:latin typeface="Calibri"/>
                <a:ea typeface="Calibri"/>
                <a:cs typeface="Calibri"/>
                <a:sym typeface="Calibri"/>
              </a:rPr>
              <a:t>of the  owner entity and the </a:t>
            </a:r>
            <a:r>
              <a:rPr lang="en-US" sz="2400">
                <a:solidFill>
                  <a:srgbClr val="215968"/>
                </a:solidFill>
                <a:latin typeface="Calibri"/>
                <a:ea typeface="Calibri"/>
                <a:cs typeface="Calibri"/>
                <a:sym typeface="Calibri"/>
              </a:rPr>
              <a:t>partial key </a:t>
            </a:r>
            <a:r>
              <a:rPr lang="en-US" sz="2400">
                <a:solidFill>
                  <a:schemeClr val="dk1"/>
                </a:solidFill>
                <a:latin typeface="Calibri"/>
                <a:ea typeface="Calibri"/>
                <a:cs typeface="Calibri"/>
                <a:sym typeface="Calibri"/>
              </a:rPr>
              <a:t>of the weak entity.</a:t>
            </a:r>
            <a:endParaRPr sz="2400">
              <a:solidFill>
                <a:schemeClr val="dk1"/>
              </a:solidFill>
              <a:latin typeface="Calibri"/>
              <a:ea typeface="Calibri"/>
              <a:cs typeface="Calibri"/>
              <a:sym typeface="Calibri"/>
            </a:endParaRPr>
          </a:p>
        </p:txBody>
      </p:sp>
      <p:sp>
        <p:nvSpPr>
          <p:cNvPr id="2044" name="Google Shape;2044;p1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8" name="Shape 2048"/>
        <p:cNvGrpSpPr/>
        <p:nvPr/>
      </p:nvGrpSpPr>
      <p:grpSpPr>
        <a:xfrm>
          <a:off x="0" y="0"/>
          <a:ext cx="0" cy="0"/>
          <a:chOff x="0" y="0"/>
          <a:chExt cx="0" cy="0"/>
        </a:xfrm>
      </p:grpSpPr>
      <p:sp>
        <p:nvSpPr>
          <p:cNvPr id="2049" name="Google Shape;2049;p11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ACTIVITY: E/R Diagrams</a:t>
            </a:r>
            <a:endParaRPr/>
          </a:p>
        </p:txBody>
      </p:sp>
      <p:sp>
        <p:nvSpPr>
          <p:cNvPr id="2050" name="Google Shape;2050;p1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4" name="Shape 2054"/>
        <p:cNvGrpSpPr/>
        <p:nvPr/>
      </p:nvGrpSpPr>
      <p:grpSpPr>
        <a:xfrm>
          <a:off x="0" y="0"/>
          <a:ext cx="0" cy="0"/>
          <a:chOff x="0" y="0"/>
          <a:chExt cx="0" cy="0"/>
        </a:xfrm>
      </p:grpSpPr>
      <p:sp>
        <p:nvSpPr>
          <p:cNvPr id="2055" name="Google Shape;2055;p1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056" name="Google Shape;2056;p1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2057" name="Google Shape;2057;p114"/>
          <p:cNvSpPr txBox="1"/>
          <p:nvPr/>
        </p:nvSpPr>
        <p:spPr>
          <a:xfrm>
            <a:off x="7237405" y="4084333"/>
            <a:ext cx="2282810"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Players have a </a:t>
            </a:r>
            <a:r>
              <a:rPr b="1" lang="en-US" sz="2000" u="sng">
                <a:solidFill>
                  <a:schemeClr val="dk1"/>
                </a:solidFill>
                <a:latin typeface="Calibri"/>
                <a:ea typeface="Calibri"/>
                <a:cs typeface="Calibri"/>
                <a:sym typeface="Calibri"/>
              </a:rPr>
              <a:t>weight</a:t>
            </a:r>
            <a:r>
              <a:rPr lang="en-US" sz="2000">
                <a:solidFill>
                  <a:schemeClr val="dk1"/>
                </a:solidFill>
                <a:latin typeface="Calibri"/>
                <a:ea typeface="Calibri"/>
                <a:cs typeface="Calibri"/>
                <a:sym typeface="Calibri"/>
              </a:rPr>
              <a:t> which changes in on vs. off-season</a:t>
            </a:r>
            <a:endParaRPr/>
          </a:p>
        </p:txBody>
      </p:sp>
      <p:pic>
        <p:nvPicPr>
          <p:cNvPr id="2058" name="Google Shape;2058;p114"/>
          <p:cNvPicPr preferRelativeResize="0"/>
          <p:nvPr/>
        </p:nvPicPr>
        <p:blipFill rotWithShape="1">
          <a:blip r:embed="rId3">
            <a:alphaModFix/>
          </a:blip>
          <a:srcRect b="0" l="0" r="0" t="0"/>
          <a:stretch/>
        </p:blipFill>
        <p:spPr>
          <a:xfrm>
            <a:off x="7237405" y="2337466"/>
            <a:ext cx="1168041" cy="1557388"/>
          </a:xfrm>
          <a:prstGeom prst="rect">
            <a:avLst/>
          </a:prstGeom>
          <a:noFill/>
          <a:ln>
            <a:noFill/>
          </a:ln>
        </p:spPr>
      </p:pic>
      <p:sp>
        <p:nvSpPr>
          <p:cNvPr id="2059" name="Google Shape;2059;p1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4" name="Shape 2064"/>
        <p:cNvGrpSpPr/>
        <p:nvPr/>
      </p:nvGrpSpPr>
      <p:grpSpPr>
        <a:xfrm>
          <a:off x="0" y="0"/>
          <a:ext cx="0" cy="0"/>
          <a:chOff x="0" y="0"/>
          <a:chExt cx="0" cy="0"/>
        </a:xfrm>
      </p:grpSpPr>
      <p:pic>
        <p:nvPicPr>
          <p:cNvPr id="2065" name="Google Shape;2065;p115"/>
          <p:cNvPicPr preferRelativeResize="0"/>
          <p:nvPr/>
        </p:nvPicPr>
        <p:blipFill rotWithShape="1">
          <a:blip r:embed="rId3">
            <a:alphaModFix/>
          </a:blip>
          <a:srcRect b="0" l="0" r="0" t="0"/>
          <a:stretch/>
        </p:blipFill>
        <p:spPr>
          <a:xfrm>
            <a:off x="2639528" y="1571029"/>
            <a:ext cx="6739614" cy="3502612"/>
          </a:xfrm>
          <a:prstGeom prst="rect">
            <a:avLst/>
          </a:prstGeom>
          <a:noFill/>
          <a:ln>
            <a:noFill/>
          </a:ln>
        </p:spPr>
      </p:pic>
      <p:sp>
        <p:nvSpPr>
          <p:cNvPr id="2066" name="Google Shape;2066;p115"/>
          <p:cNvSpPr txBox="1"/>
          <p:nvPr/>
        </p:nvSpPr>
        <p:spPr>
          <a:xfrm>
            <a:off x="4600325" y="3661834"/>
            <a:ext cx="61849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ParticipateIn</a:t>
            </a:r>
            <a:endParaRPr sz="900">
              <a:solidFill>
                <a:schemeClr val="dk1"/>
              </a:solidFill>
              <a:latin typeface="Calibri"/>
              <a:ea typeface="Calibri"/>
              <a:cs typeface="Calibri"/>
              <a:sym typeface="Calibri"/>
            </a:endParaRPr>
          </a:p>
        </p:txBody>
      </p:sp>
      <p:sp>
        <p:nvSpPr>
          <p:cNvPr id="2067" name="Google Shape;2067;p115"/>
          <p:cNvSpPr txBox="1"/>
          <p:nvPr/>
        </p:nvSpPr>
        <p:spPr>
          <a:xfrm>
            <a:off x="6268413" y="3890434"/>
            <a:ext cx="26416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Plays</a:t>
            </a:r>
            <a:endParaRPr sz="900">
              <a:solidFill>
                <a:schemeClr val="dk1"/>
              </a:solidFill>
              <a:latin typeface="Calibri"/>
              <a:ea typeface="Calibri"/>
              <a:cs typeface="Calibri"/>
              <a:sym typeface="Calibri"/>
            </a:endParaRPr>
          </a:p>
        </p:txBody>
      </p:sp>
      <p:sp>
        <p:nvSpPr>
          <p:cNvPr id="2068" name="Google Shape;2068;p115"/>
          <p:cNvSpPr txBox="1"/>
          <p:nvPr/>
        </p:nvSpPr>
        <p:spPr>
          <a:xfrm>
            <a:off x="5305587" y="4779434"/>
            <a:ext cx="34480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 ID</a:t>
            </a:r>
            <a:endParaRPr sz="900">
              <a:solidFill>
                <a:schemeClr val="dk1"/>
              </a:solidFill>
              <a:latin typeface="Calibri"/>
              <a:ea typeface="Calibri"/>
              <a:cs typeface="Calibri"/>
              <a:sym typeface="Calibri"/>
            </a:endParaRPr>
          </a:p>
        </p:txBody>
      </p:sp>
      <p:sp>
        <p:nvSpPr>
          <p:cNvPr id="2069" name="Google Shape;2069;p115"/>
          <p:cNvSpPr txBox="1"/>
          <p:nvPr/>
        </p:nvSpPr>
        <p:spPr>
          <a:xfrm>
            <a:off x="6103314" y="4779434"/>
            <a:ext cx="59372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Yardage Diff</a:t>
            </a:r>
            <a:endParaRPr sz="900">
              <a:solidFill>
                <a:schemeClr val="dk1"/>
              </a:solidFill>
              <a:latin typeface="Calibri"/>
              <a:ea typeface="Calibri"/>
              <a:cs typeface="Calibri"/>
              <a:sym typeface="Calibri"/>
            </a:endParaRPr>
          </a:p>
        </p:txBody>
      </p:sp>
      <p:sp>
        <p:nvSpPr>
          <p:cNvPr id="2070" name="Google Shape;2070;p115"/>
          <p:cNvSpPr txBox="1"/>
          <p:nvPr/>
        </p:nvSpPr>
        <p:spPr>
          <a:xfrm>
            <a:off x="7028884" y="4779434"/>
            <a:ext cx="57340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Touchdown</a:t>
            </a:r>
            <a:endParaRPr sz="900">
              <a:solidFill>
                <a:schemeClr val="dk1"/>
              </a:solidFill>
              <a:latin typeface="Calibri"/>
              <a:ea typeface="Calibri"/>
              <a:cs typeface="Calibri"/>
              <a:sym typeface="Calibri"/>
            </a:endParaRPr>
          </a:p>
        </p:txBody>
      </p:sp>
      <p:sp>
        <p:nvSpPr>
          <p:cNvPr id="2071" name="Google Shape;2071;p115"/>
          <p:cNvSpPr txBox="1"/>
          <p:nvPr/>
        </p:nvSpPr>
        <p:spPr>
          <a:xfrm>
            <a:off x="3633403" y="2679700"/>
            <a:ext cx="36131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Players</a:t>
            </a:r>
            <a:endParaRPr sz="900">
              <a:solidFill>
                <a:schemeClr val="dk1"/>
              </a:solidFill>
              <a:latin typeface="Calibri"/>
              <a:ea typeface="Calibri"/>
              <a:cs typeface="Calibri"/>
              <a:sym typeface="Calibri"/>
            </a:endParaRPr>
          </a:p>
        </p:txBody>
      </p:sp>
      <p:sp>
        <p:nvSpPr>
          <p:cNvPr id="2072" name="Google Shape;2072;p115"/>
          <p:cNvSpPr txBox="1"/>
          <p:nvPr/>
        </p:nvSpPr>
        <p:spPr>
          <a:xfrm>
            <a:off x="2930925" y="2044700"/>
            <a:ext cx="29083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name</a:t>
            </a:r>
            <a:endParaRPr sz="900">
              <a:solidFill>
                <a:schemeClr val="dk1"/>
              </a:solidFill>
              <a:latin typeface="Calibri"/>
              <a:ea typeface="Calibri"/>
              <a:cs typeface="Calibri"/>
              <a:sym typeface="Calibri"/>
            </a:endParaRPr>
          </a:p>
        </p:txBody>
      </p:sp>
      <p:sp>
        <p:nvSpPr>
          <p:cNvPr id="2073" name="Google Shape;2073;p115"/>
          <p:cNvSpPr txBox="1"/>
          <p:nvPr/>
        </p:nvSpPr>
        <p:spPr>
          <a:xfrm>
            <a:off x="4741449" y="2459567"/>
            <a:ext cx="54292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MemberOf</a:t>
            </a:r>
            <a:endParaRPr sz="900">
              <a:solidFill>
                <a:schemeClr val="dk1"/>
              </a:solidFill>
              <a:latin typeface="Calibri"/>
              <a:ea typeface="Calibri"/>
              <a:cs typeface="Calibri"/>
              <a:sym typeface="Calibri"/>
            </a:endParaRPr>
          </a:p>
        </p:txBody>
      </p:sp>
      <p:sp>
        <p:nvSpPr>
          <p:cNvPr id="2074" name="Google Shape;2074;p115"/>
          <p:cNvSpPr txBox="1"/>
          <p:nvPr/>
        </p:nvSpPr>
        <p:spPr>
          <a:xfrm>
            <a:off x="3824677" y="2044700"/>
            <a:ext cx="441959"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Player ID</a:t>
            </a:r>
            <a:endParaRPr sz="900">
              <a:solidFill>
                <a:schemeClr val="dk1"/>
              </a:solidFill>
              <a:latin typeface="Calibri"/>
              <a:ea typeface="Calibri"/>
              <a:cs typeface="Calibri"/>
              <a:sym typeface="Calibri"/>
            </a:endParaRPr>
          </a:p>
        </p:txBody>
      </p:sp>
      <p:sp>
        <p:nvSpPr>
          <p:cNvPr id="2075" name="Google Shape;2075;p115"/>
          <p:cNvSpPr txBox="1"/>
          <p:nvPr/>
        </p:nvSpPr>
        <p:spPr>
          <a:xfrm>
            <a:off x="6053564" y="2256367"/>
            <a:ext cx="33083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Teams</a:t>
            </a:r>
            <a:endParaRPr sz="900">
              <a:solidFill>
                <a:schemeClr val="dk1"/>
              </a:solidFill>
              <a:latin typeface="Calibri"/>
              <a:ea typeface="Calibri"/>
              <a:cs typeface="Calibri"/>
              <a:sym typeface="Calibri"/>
            </a:endParaRPr>
          </a:p>
        </p:txBody>
      </p:sp>
      <p:sp>
        <p:nvSpPr>
          <p:cNvPr id="2076" name="Google Shape;2076;p115"/>
          <p:cNvSpPr txBox="1"/>
          <p:nvPr/>
        </p:nvSpPr>
        <p:spPr>
          <a:xfrm>
            <a:off x="5936645" y="1689100"/>
            <a:ext cx="41148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Team ID</a:t>
            </a:r>
            <a:endParaRPr sz="900">
              <a:solidFill>
                <a:schemeClr val="dk1"/>
              </a:solidFill>
              <a:latin typeface="Calibri"/>
              <a:ea typeface="Calibri"/>
              <a:cs typeface="Calibri"/>
              <a:sym typeface="Calibri"/>
            </a:endParaRPr>
          </a:p>
        </p:txBody>
      </p:sp>
      <p:sp>
        <p:nvSpPr>
          <p:cNvPr id="2077" name="Google Shape;2077;p115"/>
          <p:cNvSpPr txBox="1"/>
          <p:nvPr/>
        </p:nvSpPr>
        <p:spPr>
          <a:xfrm>
            <a:off x="4989563" y="3103034"/>
            <a:ext cx="87058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Participation Type</a:t>
            </a:r>
            <a:endParaRPr/>
          </a:p>
        </p:txBody>
      </p:sp>
      <p:sp>
        <p:nvSpPr>
          <p:cNvPr id="2078" name="Google Shape;2078;p115"/>
          <p:cNvSpPr txBox="1"/>
          <p:nvPr/>
        </p:nvSpPr>
        <p:spPr>
          <a:xfrm>
            <a:off x="7539701" y="3695700"/>
            <a:ext cx="38798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OccurIn</a:t>
            </a:r>
            <a:endParaRPr sz="900">
              <a:solidFill>
                <a:schemeClr val="dk1"/>
              </a:solidFill>
              <a:latin typeface="Calibri"/>
              <a:ea typeface="Calibri"/>
              <a:cs typeface="Calibri"/>
              <a:sym typeface="Calibri"/>
            </a:endParaRPr>
          </a:p>
        </p:txBody>
      </p:sp>
      <p:sp>
        <p:nvSpPr>
          <p:cNvPr id="2079" name="Google Shape;2079;p115"/>
          <p:cNvSpPr txBox="1"/>
          <p:nvPr/>
        </p:nvSpPr>
        <p:spPr>
          <a:xfrm>
            <a:off x="8464574" y="2891367"/>
            <a:ext cx="34671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Games</a:t>
            </a:r>
            <a:endParaRPr sz="900">
              <a:solidFill>
                <a:schemeClr val="dk1"/>
              </a:solidFill>
              <a:latin typeface="Calibri"/>
              <a:ea typeface="Calibri"/>
              <a:cs typeface="Calibri"/>
              <a:sym typeface="Calibri"/>
            </a:endParaRPr>
          </a:p>
        </p:txBody>
      </p:sp>
      <p:sp>
        <p:nvSpPr>
          <p:cNvPr id="2080" name="Google Shape;2080;p115"/>
          <p:cNvSpPr txBox="1"/>
          <p:nvPr/>
        </p:nvSpPr>
        <p:spPr>
          <a:xfrm>
            <a:off x="7751564" y="1900767"/>
            <a:ext cx="236854"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date</a:t>
            </a:r>
            <a:endParaRPr sz="900">
              <a:solidFill>
                <a:schemeClr val="dk1"/>
              </a:solidFill>
              <a:latin typeface="Calibri"/>
              <a:ea typeface="Calibri"/>
              <a:cs typeface="Calibri"/>
              <a:sym typeface="Calibri"/>
            </a:endParaRPr>
          </a:p>
        </p:txBody>
      </p:sp>
      <p:sp>
        <p:nvSpPr>
          <p:cNvPr id="2081" name="Google Shape;2081;p115"/>
          <p:cNvSpPr txBox="1"/>
          <p:nvPr/>
        </p:nvSpPr>
        <p:spPr>
          <a:xfrm>
            <a:off x="6905087" y="2992967"/>
            <a:ext cx="641985"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PlayingHome</a:t>
            </a:r>
            <a:endParaRPr sz="900">
              <a:solidFill>
                <a:schemeClr val="dk1"/>
              </a:solidFill>
              <a:latin typeface="Calibri"/>
              <a:ea typeface="Calibri"/>
              <a:cs typeface="Calibri"/>
              <a:sym typeface="Calibri"/>
            </a:endParaRPr>
          </a:p>
        </p:txBody>
      </p:sp>
      <p:sp>
        <p:nvSpPr>
          <p:cNvPr id="2082" name="Google Shape;2082;p115"/>
          <p:cNvSpPr txBox="1"/>
          <p:nvPr/>
        </p:nvSpPr>
        <p:spPr>
          <a:xfrm>
            <a:off x="8743259" y="1883834"/>
            <a:ext cx="40259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location</a:t>
            </a:r>
            <a:endParaRPr sz="900">
              <a:solidFill>
                <a:schemeClr val="dk1"/>
              </a:solidFill>
              <a:latin typeface="Calibri"/>
              <a:ea typeface="Calibri"/>
              <a:cs typeface="Calibri"/>
              <a:sym typeface="Calibri"/>
            </a:endParaRPr>
          </a:p>
        </p:txBody>
      </p:sp>
      <p:sp>
        <p:nvSpPr>
          <p:cNvPr id="2083" name="Google Shape;2083;p115"/>
          <p:cNvSpPr txBox="1"/>
          <p:nvPr/>
        </p:nvSpPr>
        <p:spPr>
          <a:xfrm>
            <a:off x="6918581" y="2459567"/>
            <a:ext cx="61468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PlayingAway</a:t>
            </a:r>
            <a:endParaRPr sz="900">
              <a:solidFill>
                <a:schemeClr val="dk1"/>
              </a:solidFill>
              <a:latin typeface="Calibri"/>
              <a:ea typeface="Calibri"/>
              <a:cs typeface="Calibri"/>
              <a:sym typeface="Calibri"/>
            </a:endParaRPr>
          </a:p>
        </p:txBody>
      </p:sp>
      <p:sp>
        <p:nvSpPr>
          <p:cNvPr id="2084" name="Google Shape;2084;p115"/>
          <p:cNvSpPr txBox="1"/>
          <p:nvPr/>
        </p:nvSpPr>
        <p:spPr>
          <a:xfrm>
            <a:off x="4399546" y="4102100"/>
            <a:ext cx="23749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PRIn</a:t>
            </a:r>
            <a:endParaRPr sz="900">
              <a:solidFill>
                <a:schemeClr val="dk1"/>
              </a:solidFill>
              <a:latin typeface="Calibri"/>
              <a:ea typeface="Calibri"/>
              <a:cs typeface="Calibri"/>
              <a:sym typeface="Calibri"/>
            </a:endParaRPr>
          </a:p>
        </p:txBody>
      </p:sp>
      <p:sp>
        <p:nvSpPr>
          <p:cNvPr id="2085" name="Google Shape;2085;p115"/>
          <p:cNvSpPr txBox="1"/>
          <p:nvPr/>
        </p:nvSpPr>
        <p:spPr>
          <a:xfrm>
            <a:off x="9384732" y="2696633"/>
            <a:ext cx="1172845" cy="944880"/>
          </a:xfrm>
          <a:prstGeom prst="rect">
            <a:avLst/>
          </a:prstGeom>
          <a:noFill/>
          <a:ln>
            <a:noFill/>
          </a:ln>
        </p:spPr>
        <p:txBody>
          <a:bodyPr anchorCtr="0" anchor="t" bIns="0" lIns="0" spcFirstLastPara="1" rIns="0" wrap="square" tIns="16500">
            <a:spAutoFit/>
          </a:bodyPr>
          <a:lstStyle/>
          <a:p>
            <a:pPr indent="0" lvl="0" marL="12700" marR="5080" rtl="0" algn="l">
              <a:spcBef>
                <a:spcPts val="0"/>
              </a:spcBef>
              <a:spcAft>
                <a:spcPts val="0"/>
              </a:spcAft>
              <a:buNone/>
            </a:pPr>
            <a:r>
              <a:rPr lang="en-US" sz="1500">
                <a:solidFill>
                  <a:schemeClr val="dk1"/>
                </a:solidFill>
                <a:latin typeface="Calibri"/>
                <a:ea typeface="Calibri"/>
                <a:cs typeface="Calibri"/>
                <a:sym typeface="Calibri"/>
              </a:rPr>
              <a:t>Players might  have different  weights at  different times</a:t>
            </a:r>
            <a:endParaRPr/>
          </a:p>
        </p:txBody>
      </p:sp>
      <p:grpSp>
        <p:nvGrpSpPr>
          <p:cNvPr id="2086" name="Google Shape;2086;p115"/>
          <p:cNvGrpSpPr/>
          <p:nvPr/>
        </p:nvGrpSpPr>
        <p:grpSpPr>
          <a:xfrm>
            <a:off x="7848600" y="4013200"/>
            <a:ext cx="2819400" cy="1955800"/>
            <a:chOff x="6324600" y="4013200"/>
            <a:chExt cx="2819400" cy="1955800"/>
          </a:xfrm>
        </p:grpSpPr>
        <p:pic>
          <p:nvPicPr>
            <p:cNvPr id="2087" name="Google Shape;2087;p115"/>
            <p:cNvPicPr preferRelativeResize="0"/>
            <p:nvPr/>
          </p:nvPicPr>
          <p:blipFill rotWithShape="1">
            <a:blip r:embed="rId4">
              <a:alphaModFix/>
            </a:blip>
            <a:srcRect b="0" l="0" r="0" t="0"/>
            <a:stretch/>
          </p:blipFill>
          <p:spPr>
            <a:xfrm>
              <a:off x="6366932" y="4038600"/>
              <a:ext cx="2777067" cy="1862667"/>
            </a:xfrm>
            <a:prstGeom prst="rect">
              <a:avLst/>
            </a:prstGeom>
            <a:noFill/>
            <a:ln>
              <a:noFill/>
            </a:ln>
          </p:spPr>
        </p:pic>
        <p:pic>
          <p:nvPicPr>
            <p:cNvPr id="2088" name="Google Shape;2088;p115"/>
            <p:cNvPicPr preferRelativeResize="0"/>
            <p:nvPr/>
          </p:nvPicPr>
          <p:blipFill rotWithShape="1">
            <a:blip r:embed="rId5">
              <a:alphaModFix/>
            </a:blip>
            <a:srcRect b="0" l="0" r="0" t="0"/>
            <a:stretch/>
          </p:blipFill>
          <p:spPr>
            <a:xfrm>
              <a:off x="6324600" y="4013200"/>
              <a:ext cx="2819400" cy="1955800"/>
            </a:xfrm>
            <a:prstGeom prst="rect">
              <a:avLst/>
            </a:prstGeom>
            <a:noFill/>
            <a:ln>
              <a:noFill/>
            </a:ln>
          </p:spPr>
        </p:pic>
        <p:sp>
          <p:nvSpPr>
            <p:cNvPr id="2089" name="Google Shape;2089;p115"/>
            <p:cNvSpPr/>
            <p:nvPr/>
          </p:nvSpPr>
          <p:spPr>
            <a:xfrm>
              <a:off x="6413413" y="4082116"/>
              <a:ext cx="2688590" cy="1754505"/>
            </a:xfrm>
            <a:custGeom>
              <a:rect b="b" l="l" r="r" t="t"/>
              <a:pathLst>
                <a:path extrusionOk="0" h="1754504" w="2688590">
                  <a:moveTo>
                    <a:pt x="2688389" y="0"/>
                  </a:moveTo>
                  <a:lnTo>
                    <a:pt x="0" y="0"/>
                  </a:lnTo>
                  <a:lnTo>
                    <a:pt x="0" y="1754325"/>
                  </a:lnTo>
                  <a:lnTo>
                    <a:pt x="2688389" y="1754325"/>
                  </a:lnTo>
                  <a:lnTo>
                    <a:pt x="2688389" y="0"/>
                  </a:lnTo>
                  <a:close/>
                </a:path>
              </a:pathLst>
            </a:custGeom>
            <a:solidFill>
              <a:srgbClr val="E6E0E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90" name="Google Shape;2090;p115"/>
          <p:cNvSpPr txBox="1"/>
          <p:nvPr/>
        </p:nvSpPr>
        <p:spPr>
          <a:xfrm>
            <a:off x="7995895" y="4165301"/>
            <a:ext cx="2470785" cy="1671320"/>
          </a:xfrm>
          <a:prstGeom prst="rect">
            <a:avLst/>
          </a:prstGeom>
          <a:noFill/>
          <a:ln>
            <a:noFill/>
          </a:ln>
        </p:spPr>
        <p:txBody>
          <a:bodyPr anchorCtr="0" anchor="t" bIns="0" lIns="0" spcFirstLastPara="1" rIns="0" wrap="square" tIns="12700">
            <a:spAutoFit/>
          </a:bodyPr>
          <a:lstStyle/>
          <a:p>
            <a:pPr indent="0" lvl="0" marL="12700" marR="5080" rtl="0" algn="l">
              <a:spcBef>
                <a:spcPts val="0"/>
              </a:spcBef>
              <a:spcAft>
                <a:spcPts val="0"/>
              </a:spcAft>
              <a:buNone/>
            </a:pPr>
            <a:r>
              <a:rPr lang="en-US" sz="1800">
                <a:solidFill>
                  <a:schemeClr val="dk1"/>
                </a:solidFill>
                <a:latin typeface="Calibri"/>
                <a:ea typeface="Calibri"/>
                <a:cs typeface="Calibri"/>
                <a:sym typeface="Calibri"/>
              </a:rPr>
              <a:t>Note: point here is that  different players might  have </a:t>
            </a:r>
            <a:r>
              <a:rPr i="1" lang="en-US" sz="1800">
                <a:solidFill>
                  <a:schemeClr val="dk1"/>
                </a:solidFill>
                <a:latin typeface="Calibri"/>
                <a:ea typeface="Calibri"/>
                <a:cs typeface="Calibri"/>
                <a:sym typeface="Calibri"/>
              </a:rPr>
              <a:t>different numbers </a:t>
            </a:r>
            <a:r>
              <a:rPr lang="en-US" sz="1800">
                <a:solidFill>
                  <a:schemeClr val="dk1"/>
                </a:solidFill>
                <a:latin typeface="Calibri"/>
                <a:ea typeface="Calibri"/>
                <a:cs typeface="Calibri"/>
                <a:sym typeface="Calibri"/>
              </a:rPr>
              <a:t>of  training / weight phases-  hence should represent as  new entity!</a:t>
            </a:r>
            <a:endParaRPr sz="1800">
              <a:solidFill>
                <a:schemeClr val="dk1"/>
              </a:solidFill>
              <a:latin typeface="Calibri"/>
              <a:ea typeface="Calibri"/>
              <a:cs typeface="Calibri"/>
              <a:sym typeface="Calibri"/>
            </a:endParaRPr>
          </a:p>
        </p:txBody>
      </p:sp>
      <p:grpSp>
        <p:nvGrpSpPr>
          <p:cNvPr id="2091" name="Google Shape;2091;p115"/>
          <p:cNvGrpSpPr/>
          <p:nvPr/>
        </p:nvGrpSpPr>
        <p:grpSpPr>
          <a:xfrm>
            <a:off x="2477551" y="2767000"/>
            <a:ext cx="972350" cy="353890"/>
            <a:chOff x="953551" y="2767000"/>
            <a:chExt cx="972350" cy="353890"/>
          </a:xfrm>
        </p:grpSpPr>
        <p:sp>
          <p:nvSpPr>
            <p:cNvPr id="2092" name="Google Shape;2092;p115"/>
            <p:cNvSpPr/>
            <p:nvPr/>
          </p:nvSpPr>
          <p:spPr>
            <a:xfrm>
              <a:off x="1722701" y="2767001"/>
              <a:ext cx="203200" cy="192405"/>
            </a:xfrm>
            <a:custGeom>
              <a:rect b="b" l="l" r="r" t="t"/>
              <a:pathLst>
                <a:path extrusionOk="0" h="192405" w="203200">
                  <a:moveTo>
                    <a:pt x="203059" y="0"/>
                  </a:moveTo>
                  <a:lnTo>
                    <a:pt x="0" y="191848"/>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3" name="Google Shape;2093;p115"/>
            <p:cNvSpPr/>
            <p:nvPr/>
          </p:nvSpPr>
          <p:spPr>
            <a:xfrm>
              <a:off x="1722701" y="2767000"/>
              <a:ext cx="203200" cy="192405"/>
            </a:xfrm>
            <a:custGeom>
              <a:rect b="b" l="l" r="r" t="t"/>
              <a:pathLst>
                <a:path extrusionOk="0" h="192405" w="203200">
                  <a:moveTo>
                    <a:pt x="0" y="191849"/>
                  </a:moveTo>
                  <a:lnTo>
                    <a:pt x="20306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4" name="Google Shape;2094;p115"/>
            <p:cNvSpPr/>
            <p:nvPr/>
          </p:nvSpPr>
          <p:spPr>
            <a:xfrm>
              <a:off x="953551" y="2797040"/>
              <a:ext cx="769620" cy="323850"/>
            </a:xfrm>
            <a:custGeom>
              <a:rect b="b" l="l" r="r" t="t"/>
              <a:pathLst>
                <a:path extrusionOk="0" h="323850" w="769619">
                  <a:moveTo>
                    <a:pt x="384574" y="0"/>
                  </a:moveTo>
                  <a:lnTo>
                    <a:pt x="0" y="161809"/>
                  </a:lnTo>
                  <a:lnTo>
                    <a:pt x="384574" y="323617"/>
                  </a:lnTo>
                  <a:lnTo>
                    <a:pt x="769148" y="161809"/>
                  </a:lnTo>
                  <a:lnTo>
                    <a:pt x="384574"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5" name="Google Shape;2095;p115"/>
            <p:cNvSpPr/>
            <p:nvPr/>
          </p:nvSpPr>
          <p:spPr>
            <a:xfrm>
              <a:off x="953551" y="2797040"/>
              <a:ext cx="769620" cy="323850"/>
            </a:xfrm>
            <a:custGeom>
              <a:rect b="b" l="l" r="r" t="t"/>
              <a:pathLst>
                <a:path extrusionOk="0" h="323850" w="769619">
                  <a:moveTo>
                    <a:pt x="0" y="161808"/>
                  </a:moveTo>
                  <a:lnTo>
                    <a:pt x="384574" y="0"/>
                  </a:lnTo>
                  <a:lnTo>
                    <a:pt x="769149" y="161808"/>
                  </a:lnTo>
                  <a:lnTo>
                    <a:pt x="384574" y="323617"/>
                  </a:lnTo>
                  <a:lnTo>
                    <a:pt x="0" y="161808"/>
                  </a:lnTo>
                  <a:close/>
                </a:path>
              </a:pathLst>
            </a:custGeom>
            <a:noFill/>
            <a:ln cap="flat" cmpd="sng" w="349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96" name="Google Shape;2096;p115"/>
          <p:cNvSpPr txBox="1"/>
          <p:nvPr/>
        </p:nvSpPr>
        <p:spPr>
          <a:xfrm>
            <a:off x="2624795" y="2865967"/>
            <a:ext cx="47625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WeightOf</a:t>
            </a:r>
            <a:endParaRPr sz="900">
              <a:solidFill>
                <a:schemeClr val="dk1"/>
              </a:solidFill>
              <a:latin typeface="Calibri"/>
              <a:ea typeface="Calibri"/>
              <a:cs typeface="Calibri"/>
              <a:sym typeface="Calibri"/>
            </a:endParaRPr>
          </a:p>
        </p:txBody>
      </p:sp>
      <p:sp>
        <p:nvSpPr>
          <p:cNvPr id="2097" name="Google Shape;2097;p115"/>
          <p:cNvSpPr txBox="1"/>
          <p:nvPr/>
        </p:nvSpPr>
        <p:spPr>
          <a:xfrm>
            <a:off x="2157594" y="3342343"/>
            <a:ext cx="590550" cy="192360"/>
          </a:xfrm>
          <a:prstGeom prst="rect">
            <a:avLst/>
          </a:prstGeom>
          <a:noFill/>
          <a:ln cap="flat" cmpd="sng" w="41275">
            <a:solidFill>
              <a:srgbClr val="000000"/>
            </a:solidFill>
            <a:prstDash val="solid"/>
            <a:round/>
            <a:headEnd len="sm" w="sm" type="none"/>
            <a:tailEnd len="sm" w="sm" type="none"/>
          </a:ln>
        </p:spPr>
        <p:txBody>
          <a:bodyPr anchorCtr="0" anchor="t" bIns="0" lIns="0" spcFirstLastPara="1" rIns="0" wrap="square" tIns="53325">
            <a:spAutoFit/>
          </a:bodyPr>
          <a:lstStyle/>
          <a:p>
            <a:pPr indent="0" lvl="0" marL="125729" marR="0" rtl="0" algn="l">
              <a:spcBef>
                <a:spcPts val="0"/>
              </a:spcBef>
              <a:spcAft>
                <a:spcPts val="0"/>
              </a:spcAft>
              <a:buNone/>
            </a:pPr>
            <a:r>
              <a:rPr lang="en-US" sz="900">
                <a:solidFill>
                  <a:schemeClr val="dk1"/>
                </a:solidFill>
                <a:latin typeface="Calibri"/>
                <a:ea typeface="Calibri"/>
                <a:cs typeface="Calibri"/>
                <a:sym typeface="Calibri"/>
              </a:rPr>
              <a:t>Weight</a:t>
            </a:r>
            <a:endParaRPr/>
          </a:p>
        </p:txBody>
      </p:sp>
      <p:grpSp>
        <p:nvGrpSpPr>
          <p:cNvPr id="2098" name="Google Shape;2098;p115"/>
          <p:cNvGrpSpPr/>
          <p:nvPr/>
        </p:nvGrpSpPr>
        <p:grpSpPr>
          <a:xfrm>
            <a:off x="2076773" y="3808803"/>
            <a:ext cx="701040" cy="323850"/>
            <a:chOff x="552772" y="3808802"/>
            <a:chExt cx="701040" cy="323850"/>
          </a:xfrm>
        </p:grpSpPr>
        <p:sp>
          <p:nvSpPr>
            <p:cNvPr id="2099" name="Google Shape;2099;p115"/>
            <p:cNvSpPr/>
            <p:nvPr/>
          </p:nvSpPr>
          <p:spPr>
            <a:xfrm>
              <a:off x="552772" y="3808802"/>
              <a:ext cx="701040" cy="323850"/>
            </a:xfrm>
            <a:custGeom>
              <a:rect b="b" l="l" r="r" t="t"/>
              <a:pathLst>
                <a:path extrusionOk="0" h="323850" w="701040">
                  <a:moveTo>
                    <a:pt x="350304" y="0"/>
                  </a:moveTo>
                  <a:lnTo>
                    <a:pt x="287336" y="2606"/>
                  </a:lnTo>
                  <a:lnTo>
                    <a:pt x="228071" y="10123"/>
                  </a:lnTo>
                  <a:lnTo>
                    <a:pt x="173499" y="22091"/>
                  </a:lnTo>
                  <a:lnTo>
                    <a:pt x="124607" y="38055"/>
                  </a:lnTo>
                  <a:lnTo>
                    <a:pt x="82387" y="57557"/>
                  </a:lnTo>
                  <a:lnTo>
                    <a:pt x="47826" y="80141"/>
                  </a:lnTo>
                  <a:lnTo>
                    <a:pt x="5643" y="132723"/>
                  </a:lnTo>
                  <a:lnTo>
                    <a:pt x="0" y="161809"/>
                  </a:lnTo>
                  <a:lnTo>
                    <a:pt x="5643" y="190894"/>
                  </a:lnTo>
                  <a:lnTo>
                    <a:pt x="47826" y="243476"/>
                  </a:lnTo>
                  <a:lnTo>
                    <a:pt x="82387" y="266060"/>
                  </a:lnTo>
                  <a:lnTo>
                    <a:pt x="124607" y="285562"/>
                  </a:lnTo>
                  <a:lnTo>
                    <a:pt x="173499" y="301525"/>
                  </a:lnTo>
                  <a:lnTo>
                    <a:pt x="228071" y="313494"/>
                  </a:lnTo>
                  <a:lnTo>
                    <a:pt x="287336" y="321010"/>
                  </a:lnTo>
                  <a:lnTo>
                    <a:pt x="350304" y="323617"/>
                  </a:lnTo>
                  <a:lnTo>
                    <a:pt x="413272" y="321010"/>
                  </a:lnTo>
                  <a:lnTo>
                    <a:pt x="472537" y="313494"/>
                  </a:lnTo>
                  <a:lnTo>
                    <a:pt x="527109" y="301525"/>
                  </a:lnTo>
                  <a:lnTo>
                    <a:pt x="576001" y="285562"/>
                  </a:lnTo>
                  <a:lnTo>
                    <a:pt x="618221" y="266060"/>
                  </a:lnTo>
                  <a:lnTo>
                    <a:pt x="652782" y="243476"/>
                  </a:lnTo>
                  <a:lnTo>
                    <a:pt x="694965" y="190894"/>
                  </a:lnTo>
                  <a:lnTo>
                    <a:pt x="700608" y="161809"/>
                  </a:lnTo>
                  <a:lnTo>
                    <a:pt x="694965" y="132723"/>
                  </a:lnTo>
                  <a:lnTo>
                    <a:pt x="652782" y="80141"/>
                  </a:lnTo>
                  <a:lnTo>
                    <a:pt x="618221" y="57557"/>
                  </a:lnTo>
                  <a:lnTo>
                    <a:pt x="576001" y="38055"/>
                  </a:lnTo>
                  <a:lnTo>
                    <a:pt x="527109" y="22091"/>
                  </a:lnTo>
                  <a:lnTo>
                    <a:pt x="472537" y="10123"/>
                  </a:lnTo>
                  <a:lnTo>
                    <a:pt x="413272" y="2606"/>
                  </a:lnTo>
                  <a:lnTo>
                    <a:pt x="350304"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0" name="Google Shape;2100;p115"/>
            <p:cNvSpPr/>
            <p:nvPr/>
          </p:nvSpPr>
          <p:spPr>
            <a:xfrm>
              <a:off x="552772" y="3808802"/>
              <a:ext cx="701040" cy="323850"/>
            </a:xfrm>
            <a:custGeom>
              <a:rect b="b" l="l" r="r" t="t"/>
              <a:pathLst>
                <a:path extrusionOk="0" h="323850" w="701040">
                  <a:moveTo>
                    <a:pt x="0" y="161808"/>
                  </a:moveTo>
                  <a:lnTo>
                    <a:pt x="21915" y="105348"/>
                  </a:lnTo>
                  <a:lnTo>
                    <a:pt x="82387" y="57557"/>
                  </a:lnTo>
                  <a:lnTo>
                    <a:pt x="124607" y="38055"/>
                  </a:lnTo>
                  <a:lnTo>
                    <a:pt x="173499" y="22091"/>
                  </a:lnTo>
                  <a:lnTo>
                    <a:pt x="228071" y="10123"/>
                  </a:lnTo>
                  <a:lnTo>
                    <a:pt x="287336" y="2606"/>
                  </a:lnTo>
                  <a:lnTo>
                    <a:pt x="350304" y="0"/>
                  </a:lnTo>
                  <a:lnTo>
                    <a:pt x="413272" y="2606"/>
                  </a:lnTo>
                  <a:lnTo>
                    <a:pt x="472537" y="10123"/>
                  </a:lnTo>
                  <a:lnTo>
                    <a:pt x="527109" y="22091"/>
                  </a:lnTo>
                  <a:lnTo>
                    <a:pt x="576001" y="38055"/>
                  </a:lnTo>
                  <a:lnTo>
                    <a:pt x="618221" y="57557"/>
                  </a:lnTo>
                  <a:lnTo>
                    <a:pt x="652782" y="80140"/>
                  </a:lnTo>
                  <a:lnTo>
                    <a:pt x="694965" y="132723"/>
                  </a:lnTo>
                  <a:lnTo>
                    <a:pt x="700609" y="161808"/>
                  </a:lnTo>
                  <a:lnTo>
                    <a:pt x="694965" y="190893"/>
                  </a:lnTo>
                  <a:lnTo>
                    <a:pt x="652782" y="243476"/>
                  </a:lnTo>
                  <a:lnTo>
                    <a:pt x="618221" y="266059"/>
                  </a:lnTo>
                  <a:lnTo>
                    <a:pt x="576001" y="285561"/>
                  </a:lnTo>
                  <a:lnTo>
                    <a:pt x="527109" y="301525"/>
                  </a:lnTo>
                  <a:lnTo>
                    <a:pt x="472537" y="313493"/>
                  </a:lnTo>
                  <a:lnTo>
                    <a:pt x="413272" y="321010"/>
                  </a:lnTo>
                  <a:lnTo>
                    <a:pt x="350304" y="323617"/>
                  </a:lnTo>
                  <a:lnTo>
                    <a:pt x="287336" y="321010"/>
                  </a:lnTo>
                  <a:lnTo>
                    <a:pt x="228071" y="313493"/>
                  </a:lnTo>
                  <a:lnTo>
                    <a:pt x="173499" y="301525"/>
                  </a:lnTo>
                  <a:lnTo>
                    <a:pt x="124607" y="285561"/>
                  </a:lnTo>
                  <a:lnTo>
                    <a:pt x="82387" y="266059"/>
                  </a:lnTo>
                  <a:lnTo>
                    <a:pt x="47826" y="243476"/>
                  </a:lnTo>
                  <a:lnTo>
                    <a:pt x="5643" y="190893"/>
                  </a:lnTo>
                  <a:lnTo>
                    <a:pt x="0" y="161808"/>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01" name="Google Shape;2101;p115"/>
          <p:cNvSpPr txBox="1"/>
          <p:nvPr/>
        </p:nvSpPr>
        <p:spPr>
          <a:xfrm>
            <a:off x="2245308" y="3881967"/>
            <a:ext cx="36576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Weight</a:t>
            </a:r>
            <a:endParaRPr sz="900">
              <a:solidFill>
                <a:schemeClr val="dk1"/>
              </a:solidFill>
              <a:latin typeface="Calibri"/>
              <a:ea typeface="Calibri"/>
              <a:cs typeface="Calibri"/>
              <a:sym typeface="Calibri"/>
            </a:endParaRPr>
          </a:p>
        </p:txBody>
      </p:sp>
      <p:grpSp>
        <p:nvGrpSpPr>
          <p:cNvPr id="2102" name="Google Shape;2102;p115"/>
          <p:cNvGrpSpPr/>
          <p:nvPr/>
        </p:nvGrpSpPr>
        <p:grpSpPr>
          <a:xfrm>
            <a:off x="1879327" y="2958849"/>
            <a:ext cx="1432683" cy="1437744"/>
            <a:chOff x="355326" y="2958849"/>
            <a:chExt cx="1432683" cy="1437744"/>
          </a:xfrm>
        </p:grpSpPr>
        <p:sp>
          <p:nvSpPr>
            <p:cNvPr id="2103" name="Google Shape;2103;p115"/>
            <p:cNvSpPr/>
            <p:nvPr/>
          </p:nvSpPr>
          <p:spPr>
            <a:xfrm>
              <a:off x="355326" y="3563805"/>
              <a:ext cx="603250" cy="483234"/>
            </a:xfrm>
            <a:custGeom>
              <a:rect b="b" l="l" r="r" t="t"/>
              <a:pathLst>
                <a:path extrusionOk="0" h="483235" w="603250">
                  <a:moveTo>
                    <a:pt x="603062" y="0"/>
                  </a:moveTo>
                  <a:lnTo>
                    <a:pt x="0" y="482993"/>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4" name="Google Shape;2104;p115"/>
            <p:cNvSpPr/>
            <p:nvPr/>
          </p:nvSpPr>
          <p:spPr>
            <a:xfrm>
              <a:off x="899160" y="3563805"/>
              <a:ext cx="59416" cy="265668"/>
            </a:xfrm>
            <a:custGeom>
              <a:rect b="b" l="l" r="r" t="t"/>
              <a:pathLst>
                <a:path extrusionOk="0" h="483235" w="603250">
                  <a:moveTo>
                    <a:pt x="0" y="482994"/>
                  </a:moveTo>
                  <a:lnTo>
                    <a:pt x="603062"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5" name="Google Shape;2105;p115"/>
            <p:cNvSpPr/>
            <p:nvPr/>
          </p:nvSpPr>
          <p:spPr>
            <a:xfrm>
              <a:off x="953551" y="2958849"/>
              <a:ext cx="5080" cy="353695"/>
            </a:xfrm>
            <a:custGeom>
              <a:rect b="b" l="l" r="r" t="t"/>
              <a:pathLst>
                <a:path extrusionOk="0" h="353695" w="5080">
                  <a:moveTo>
                    <a:pt x="0" y="0"/>
                  </a:moveTo>
                  <a:lnTo>
                    <a:pt x="4837" y="353253"/>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6" name="Google Shape;2106;p115"/>
            <p:cNvSpPr/>
            <p:nvPr/>
          </p:nvSpPr>
          <p:spPr>
            <a:xfrm>
              <a:off x="953551" y="2958849"/>
              <a:ext cx="5080" cy="353695"/>
            </a:xfrm>
            <a:custGeom>
              <a:rect b="b" l="l" r="r" t="t"/>
              <a:pathLst>
                <a:path extrusionOk="0" h="353695" w="5080">
                  <a:moveTo>
                    <a:pt x="0" y="0"/>
                  </a:moveTo>
                  <a:lnTo>
                    <a:pt x="4837" y="353253"/>
                  </a:lnTo>
                </a:path>
              </a:pathLst>
            </a:custGeom>
            <a:noFill/>
            <a:ln cap="flat" cmpd="sng" w="31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7" name="Google Shape;2107;p115"/>
            <p:cNvSpPr/>
            <p:nvPr/>
          </p:nvSpPr>
          <p:spPr>
            <a:xfrm>
              <a:off x="1086969" y="4072743"/>
              <a:ext cx="701040" cy="323850"/>
            </a:xfrm>
            <a:custGeom>
              <a:rect b="b" l="l" r="r" t="t"/>
              <a:pathLst>
                <a:path extrusionOk="0" h="323850" w="701039">
                  <a:moveTo>
                    <a:pt x="350303" y="0"/>
                  </a:moveTo>
                  <a:lnTo>
                    <a:pt x="287336" y="2606"/>
                  </a:lnTo>
                  <a:lnTo>
                    <a:pt x="228071" y="10123"/>
                  </a:lnTo>
                  <a:lnTo>
                    <a:pt x="173498" y="22091"/>
                  </a:lnTo>
                  <a:lnTo>
                    <a:pt x="124607" y="38055"/>
                  </a:lnTo>
                  <a:lnTo>
                    <a:pt x="82387" y="57557"/>
                  </a:lnTo>
                  <a:lnTo>
                    <a:pt x="47826" y="80140"/>
                  </a:lnTo>
                  <a:lnTo>
                    <a:pt x="5643" y="132723"/>
                  </a:lnTo>
                  <a:lnTo>
                    <a:pt x="0" y="161808"/>
                  </a:lnTo>
                  <a:lnTo>
                    <a:pt x="5643" y="190893"/>
                  </a:lnTo>
                  <a:lnTo>
                    <a:pt x="47826" y="243476"/>
                  </a:lnTo>
                  <a:lnTo>
                    <a:pt x="82387" y="266059"/>
                  </a:lnTo>
                  <a:lnTo>
                    <a:pt x="124607" y="285561"/>
                  </a:lnTo>
                  <a:lnTo>
                    <a:pt x="173498" y="301524"/>
                  </a:lnTo>
                  <a:lnTo>
                    <a:pt x="228071" y="313493"/>
                  </a:lnTo>
                  <a:lnTo>
                    <a:pt x="287336" y="321009"/>
                  </a:lnTo>
                  <a:lnTo>
                    <a:pt x="350303" y="323616"/>
                  </a:lnTo>
                  <a:lnTo>
                    <a:pt x="413271" y="321009"/>
                  </a:lnTo>
                  <a:lnTo>
                    <a:pt x="472536" y="313493"/>
                  </a:lnTo>
                  <a:lnTo>
                    <a:pt x="527109" y="301524"/>
                  </a:lnTo>
                  <a:lnTo>
                    <a:pt x="576001" y="285561"/>
                  </a:lnTo>
                  <a:lnTo>
                    <a:pt x="618221" y="266059"/>
                  </a:lnTo>
                  <a:lnTo>
                    <a:pt x="652782" y="243476"/>
                  </a:lnTo>
                  <a:lnTo>
                    <a:pt x="694965" y="190893"/>
                  </a:lnTo>
                  <a:lnTo>
                    <a:pt x="700609" y="161808"/>
                  </a:lnTo>
                  <a:lnTo>
                    <a:pt x="694965" y="132723"/>
                  </a:lnTo>
                  <a:lnTo>
                    <a:pt x="652782" y="80140"/>
                  </a:lnTo>
                  <a:lnTo>
                    <a:pt x="618221" y="57557"/>
                  </a:lnTo>
                  <a:lnTo>
                    <a:pt x="576001" y="38055"/>
                  </a:lnTo>
                  <a:lnTo>
                    <a:pt x="527109" y="22091"/>
                  </a:lnTo>
                  <a:lnTo>
                    <a:pt x="472536" y="10123"/>
                  </a:lnTo>
                  <a:lnTo>
                    <a:pt x="413271" y="2606"/>
                  </a:lnTo>
                  <a:lnTo>
                    <a:pt x="350303"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8" name="Google Shape;2108;p115"/>
            <p:cNvSpPr/>
            <p:nvPr/>
          </p:nvSpPr>
          <p:spPr>
            <a:xfrm>
              <a:off x="1086969" y="4072743"/>
              <a:ext cx="701040" cy="323850"/>
            </a:xfrm>
            <a:custGeom>
              <a:rect b="b" l="l" r="r" t="t"/>
              <a:pathLst>
                <a:path extrusionOk="0" h="323850" w="701039">
                  <a:moveTo>
                    <a:pt x="0" y="161808"/>
                  </a:moveTo>
                  <a:lnTo>
                    <a:pt x="21915" y="105348"/>
                  </a:lnTo>
                  <a:lnTo>
                    <a:pt x="82387" y="57557"/>
                  </a:lnTo>
                  <a:lnTo>
                    <a:pt x="124607" y="38055"/>
                  </a:lnTo>
                  <a:lnTo>
                    <a:pt x="173499" y="22091"/>
                  </a:lnTo>
                  <a:lnTo>
                    <a:pt x="228071" y="10123"/>
                  </a:lnTo>
                  <a:lnTo>
                    <a:pt x="287336" y="2606"/>
                  </a:lnTo>
                  <a:lnTo>
                    <a:pt x="350304" y="0"/>
                  </a:lnTo>
                  <a:lnTo>
                    <a:pt x="413272" y="2606"/>
                  </a:lnTo>
                  <a:lnTo>
                    <a:pt x="472537" y="10123"/>
                  </a:lnTo>
                  <a:lnTo>
                    <a:pt x="527109" y="22091"/>
                  </a:lnTo>
                  <a:lnTo>
                    <a:pt x="576001" y="38055"/>
                  </a:lnTo>
                  <a:lnTo>
                    <a:pt x="618221" y="57557"/>
                  </a:lnTo>
                  <a:lnTo>
                    <a:pt x="652782" y="80140"/>
                  </a:lnTo>
                  <a:lnTo>
                    <a:pt x="694965" y="132723"/>
                  </a:lnTo>
                  <a:lnTo>
                    <a:pt x="700609" y="161808"/>
                  </a:lnTo>
                  <a:lnTo>
                    <a:pt x="694965" y="190893"/>
                  </a:lnTo>
                  <a:lnTo>
                    <a:pt x="652782" y="243476"/>
                  </a:lnTo>
                  <a:lnTo>
                    <a:pt x="618221" y="266059"/>
                  </a:lnTo>
                  <a:lnTo>
                    <a:pt x="576001" y="285561"/>
                  </a:lnTo>
                  <a:lnTo>
                    <a:pt x="527109" y="301525"/>
                  </a:lnTo>
                  <a:lnTo>
                    <a:pt x="472537" y="313493"/>
                  </a:lnTo>
                  <a:lnTo>
                    <a:pt x="413272" y="321010"/>
                  </a:lnTo>
                  <a:lnTo>
                    <a:pt x="350304" y="323617"/>
                  </a:lnTo>
                  <a:lnTo>
                    <a:pt x="287336" y="321010"/>
                  </a:lnTo>
                  <a:lnTo>
                    <a:pt x="228071" y="313493"/>
                  </a:lnTo>
                  <a:lnTo>
                    <a:pt x="173499" y="301525"/>
                  </a:lnTo>
                  <a:lnTo>
                    <a:pt x="124607" y="285561"/>
                  </a:lnTo>
                  <a:lnTo>
                    <a:pt x="82387" y="266059"/>
                  </a:lnTo>
                  <a:lnTo>
                    <a:pt x="47826" y="243476"/>
                  </a:lnTo>
                  <a:lnTo>
                    <a:pt x="5643" y="190893"/>
                  </a:lnTo>
                  <a:lnTo>
                    <a:pt x="0" y="161808"/>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09" name="Google Shape;2109;p115"/>
          <p:cNvSpPr txBox="1"/>
          <p:nvPr/>
        </p:nvSpPr>
        <p:spPr>
          <a:xfrm>
            <a:off x="2682524" y="4134475"/>
            <a:ext cx="58547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Time Period</a:t>
            </a:r>
            <a:endParaRPr sz="900">
              <a:solidFill>
                <a:schemeClr val="dk1"/>
              </a:solidFill>
              <a:latin typeface="Calibri"/>
              <a:ea typeface="Calibri"/>
              <a:cs typeface="Calibri"/>
              <a:sym typeface="Calibri"/>
            </a:endParaRPr>
          </a:p>
        </p:txBody>
      </p:sp>
      <p:grpSp>
        <p:nvGrpSpPr>
          <p:cNvPr id="2110" name="Google Shape;2110;p115"/>
          <p:cNvGrpSpPr/>
          <p:nvPr/>
        </p:nvGrpSpPr>
        <p:grpSpPr>
          <a:xfrm>
            <a:off x="2482388" y="3563805"/>
            <a:ext cx="479425" cy="509271"/>
            <a:chOff x="958388" y="3563804"/>
            <a:chExt cx="479425" cy="509271"/>
          </a:xfrm>
        </p:grpSpPr>
        <p:sp>
          <p:nvSpPr>
            <p:cNvPr id="2111" name="Google Shape;2111;p115"/>
            <p:cNvSpPr/>
            <p:nvPr/>
          </p:nvSpPr>
          <p:spPr>
            <a:xfrm>
              <a:off x="958388" y="3563805"/>
              <a:ext cx="479425" cy="509270"/>
            </a:xfrm>
            <a:custGeom>
              <a:rect b="b" l="l" r="r" t="t"/>
              <a:pathLst>
                <a:path extrusionOk="0" h="509270" w="479425">
                  <a:moveTo>
                    <a:pt x="0" y="0"/>
                  </a:moveTo>
                  <a:lnTo>
                    <a:pt x="478886" y="508938"/>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2" name="Google Shape;2112;p115"/>
            <p:cNvSpPr/>
            <p:nvPr/>
          </p:nvSpPr>
          <p:spPr>
            <a:xfrm>
              <a:off x="958388" y="3563804"/>
              <a:ext cx="479425" cy="509270"/>
            </a:xfrm>
            <a:custGeom>
              <a:rect b="b" l="l" r="r" t="t"/>
              <a:pathLst>
                <a:path extrusionOk="0" h="509270" w="479425">
                  <a:moveTo>
                    <a:pt x="478886" y="508939"/>
                  </a:move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2113" name="Google Shape;2113;p115"/>
          <p:cNvCxnSpPr/>
          <p:nvPr/>
        </p:nvCxnSpPr>
        <p:spPr>
          <a:xfrm flipH="1" rot="10800000">
            <a:off x="2467144" y="2971479"/>
            <a:ext cx="14733" cy="192124"/>
          </a:xfrm>
          <a:prstGeom prst="straightConnector1">
            <a:avLst/>
          </a:prstGeom>
          <a:noFill/>
          <a:ln cap="flat" cmpd="sng" w="44450">
            <a:solidFill>
              <a:schemeClr val="dk1"/>
            </a:solidFill>
            <a:prstDash val="solid"/>
            <a:miter lim="800000"/>
            <a:headEnd len="sm" w="sm" type="none"/>
            <a:tailEnd len="med" w="med" type="triangle"/>
          </a:ln>
        </p:spPr>
      </p:cxnSp>
      <p:cxnSp>
        <p:nvCxnSpPr>
          <p:cNvPr id="2114" name="Google Shape;2114;p115"/>
          <p:cNvCxnSpPr/>
          <p:nvPr/>
        </p:nvCxnSpPr>
        <p:spPr>
          <a:xfrm>
            <a:off x="2748144" y="4289646"/>
            <a:ext cx="498557" cy="0"/>
          </a:xfrm>
          <a:prstGeom prst="straightConnector1">
            <a:avLst/>
          </a:prstGeom>
          <a:noFill/>
          <a:ln cap="flat" cmpd="sng" w="25400">
            <a:solidFill>
              <a:schemeClr val="dk1"/>
            </a:solidFill>
            <a:prstDash val="dash"/>
            <a:miter lim="800000"/>
            <a:headEnd len="sm" w="sm" type="none"/>
            <a:tailEnd len="sm" w="sm" type="none"/>
          </a:ln>
        </p:spPr>
      </p:cxnSp>
      <p:sp>
        <p:nvSpPr>
          <p:cNvPr id="2115" name="Google Shape;2115;p1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9" name="Shape 2119"/>
        <p:cNvGrpSpPr/>
        <p:nvPr/>
      </p:nvGrpSpPr>
      <p:grpSpPr>
        <a:xfrm>
          <a:off x="0" y="0"/>
          <a:ext cx="0" cy="0"/>
          <a:chOff x="0" y="0"/>
          <a:chExt cx="0" cy="0"/>
        </a:xfrm>
      </p:grpSpPr>
      <p:sp>
        <p:nvSpPr>
          <p:cNvPr id="2120" name="Google Shape;2120;p116"/>
          <p:cNvSpPr txBox="1"/>
          <p:nvPr>
            <p:ph type="title"/>
          </p:nvPr>
        </p:nvSpPr>
        <p:spPr>
          <a:xfrm>
            <a:off x="403506" y="464465"/>
            <a:ext cx="9842309" cy="474489"/>
          </a:xfrm>
          <a:prstGeom prst="rect">
            <a:avLst/>
          </a:prstGeom>
          <a:noFill/>
          <a:ln>
            <a:noFill/>
          </a:ln>
        </p:spPr>
        <p:txBody>
          <a:bodyPr anchorCtr="0" anchor="ctr" bIns="0" lIns="0" spcFirstLastPara="1" rIns="0" wrap="square" tIns="12700">
            <a:spAutoFit/>
          </a:bodyPr>
          <a:lstStyle/>
          <a:p>
            <a:pPr indent="0" lvl="0" marL="12700" marR="5080" rtl="0" algn="l">
              <a:lnSpc>
                <a:spcPct val="100000"/>
              </a:lnSpc>
              <a:spcBef>
                <a:spcPts val="0"/>
              </a:spcBef>
              <a:spcAft>
                <a:spcPts val="0"/>
              </a:spcAft>
              <a:buClr>
                <a:schemeClr val="dk1"/>
              </a:buClr>
              <a:buSzPts val="3000"/>
              <a:buFont typeface="Calibri"/>
              <a:buNone/>
            </a:pPr>
            <a:r>
              <a:rPr b="1" lang="en-US" sz="3000">
                <a:latin typeface="Calibri"/>
                <a:ea typeface="Calibri"/>
                <a:cs typeface="Calibri"/>
                <a:sym typeface="Calibri"/>
              </a:rPr>
              <a:t>ADD IN: SUBCLASSES, CONSTRAINTS,  AND WEAK ENTITY SETS</a:t>
            </a:r>
            <a:endParaRPr sz="3000">
              <a:latin typeface="Calibri"/>
              <a:ea typeface="Calibri"/>
              <a:cs typeface="Calibri"/>
              <a:sym typeface="Calibri"/>
            </a:endParaRPr>
          </a:p>
        </p:txBody>
      </p:sp>
      <p:sp>
        <p:nvSpPr>
          <p:cNvPr id="2121" name="Google Shape;2121;p116"/>
          <p:cNvSpPr txBox="1"/>
          <p:nvPr/>
        </p:nvSpPr>
        <p:spPr>
          <a:xfrm>
            <a:off x="2115228" y="4720166"/>
            <a:ext cx="1309370" cy="716280"/>
          </a:xfrm>
          <a:prstGeom prst="rect">
            <a:avLst/>
          </a:prstGeom>
          <a:noFill/>
          <a:ln>
            <a:noFill/>
          </a:ln>
        </p:spPr>
        <p:txBody>
          <a:bodyPr anchorCtr="0" anchor="t" bIns="0" lIns="0" spcFirstLastPara="1" rIns="0" wrap="square" tIns="16500">
            <a:spAutoFit/>
          </a:bodyPr>
          <a:lstStyle/>
          <a:p>
            <a:pPr indent="0" lvl="0" marL="12700" marR="5080" rtl="0" algn="just">
              <a:spcBef>
                <a:spcPts val="0"/>
              </a:spcBef>
              <a:spcAft>
                <a:spcPts val="0"/>
              </a:spcAft>
              <a:buNone/>
            </a:pPr>
            <a:r>
              <a:rPr lang="en-US" sz="1500">
                <a:solidFill>
                  <a:schemeClr val="dk1"/>
                </a:solidFill>
                <a:latin typeface="Calibri"/>
                <a:ea typeface="Calibri"/>
                <a:cs typeface="Calibri"/>
                <a:sym typeface="Calibri"/>
              </a:rPr>
              <a:t>Teams belong to  cities- model as  </a:t>
            </a:r>
            <a:r>
              <a:rPr b="1" i="1" lang="en-US" sz="1500">
                <a:solidFill>
                  <a:schemeClr val="dk1"/>
                </a:solidFill>
                <a:latin typeface="Calibri"/>
                <a:ea typeface="Calibri"/>
                <a:cs typeface="Calibri"/>
                <a:sym typeface="Calibri"/>
              </a:rPr>
              <a:t>weak entity sets</a:t>
            </a:r>
            <a:endParaRPr sz="1500">
              <a:solidFill>
                <a:schemeClr val="dk1"/>
              </a:solidFill>
              <a:latin typeface="Calibri"/>
              <a:ea typeface="Calibri"/>
              <a:cs typeface="Calibri"/>
              <a:sym typeface="Calibri"/>
            </a:endParaRPr>
          </a:p>
        </p:txBody>
      </p:sp>
      <p:sp>
        <p:nvSpPr>
          <p:cNvPr id="2122" name="Google Shape;2122;p116"/>
          <p:cNvSpPr txBox="1"/>
          <p:nvPr/>
        </p:nvSpPr>
        <p:spPr>
          <a:xfrm>
            <a:off x="3949886" y="4745566"/>
            <a:ext cx="1374775" cy="1173480"/>
          </a:xfrm>
          <a:prstGeom prst="rect">
            <a:avLst/>
          </a:prstGeom>
          <a:noFill/>
          <a:ln>
            <a:noFill/>
          </a:ln>
        </p:spPr>
        <p:txBody>
          <a:bodyPr anchorCtr="0" anchor="t" bIns="0" lIns="0" spcFirstLastPara="1" rIns="0" wrap="square" tIns="16500">
            <a:spAutoFit/>
          </a:bodyPr>
          <a:lstStyle/>
          <a:p>
            <a:pPr indent="0" lvl="0" marL="12700" marR="5080" rtl="0" algn="l">
              <a:spcBef>
                <a:spcPts val="0"/>
              </a:spcBef>
              <a:spcAft>
                <a:spcPts val="0"/>
              </a:spcAft>
              <a:buNone/>
            </a:pPr>
            <a:r>
              <a:rPr lang="en-US" sz="1500">
                <a:solidFill>
                  <a:schemeClr val="dk1"/>
                </a:solidFill>
                <a:latin typeface="Calibri"/>
                <a:ea typeface="Calibri"/>
                <a:cs typeface="Calibri"/>
                <a:sym typeface="Calibri"/>
              </a:rPr>
              <a:t>Players are either  on Offense or  Defense, and are  of types (QB, RB,  WR, TE, K)</a:t>
            </a:r>
            <a:endParaRPr sz="1500">
              <a:solidFill>
                <a:schemeClr val="dk1"/>
              </a:solidFill>
              <a:latin typeface="Calibri"/>
              <a:ea typeface="Calibri"/>
              <a:cs typeface="Calibri"/>
              <a:sym typeface="Calibri"/>
            </a:endParaRPr>
          </a:p>
        </p:txBody>
      </p:sp>
      <p:pic>
        <p:nvPicPr>
          <p:cNvPr id="2123" name="Google Shape;2123;p116"/>
          <p:cNvPicPr preferRelativeResize="0"/>
          <p:nvPr/>
        </p:nvPicPr>
        <p:blipFill rotWithShape="1">
          <a:blip r:embed="rId3">
            <a:alphaModFix/>
          </a:blip>
          <a:srcRect b="0" l="0" r="0" t="0"/>
          <a:stretch/>
        </p:blipFill>
        <p:spPr>
          <a:xfrm>
            <a:off x="5867400" y="3454400"/>
            <a:ext cx="1363132" cy="1134533"/>
          </a:xfrm>
          <a:prstGeom prst="rect">
            <a:avLst/>
          </a:prstGeom>
          <a:noFill/>
          <a:ln>
            <a:noFill/>
          </a:ln>
        </p:spPr>
      </p:pic>
      <p:sp>
        <p:nvSpPr>
          <p:cNvPr id="2124" name="Google Shape;2124;p116"/>
          <p:cNvSpPr txBox="1"/>
          <p:nvPr/>
        </p:nvSpPr>
        <p:spPr>
          <a:xfrm>
            <a:off x="5942911" y="4770966"/>
            <a:ext cx="1159510" cy="1173480"/>
          </a:xfrm>
          <a:prstGeom prst="rect">
            <a:avLst/>
          </a:prstGeom>
          <a:noFill/>
          <a:ln>
            <a:noFill/>
          </a:ln>
        </p:spPr>
        <p:txBody>
          <a:bodyPr anchorCtr="0" anchor="t" bIns="0" lIns="0" spcFirstLastPara="1" rIns="0" wrap="square" tIns="16500">
            <a:spAutoFit/>
          </a:bodyPr>
          <a:lstStyle/>
          <a:p>
            <a:pPr indent="0" lvl="0" marL="12700" marR="5080" rtl="0" algn="l">
              <a:spcBef>
                <a:spcPts val="0"/>
              </a:spcBef>
              <a:spcAft>
                <a:spcPts val="0"/>
              </a:spcAft>
              <a:buNone/>
            </a:pPr>
            <a:r>
              <a:rPr lang="en-US" sz="1500">
                <a:solidFill>
                  <a:schemeClr val="dk1"/>
                </a:solidFill>
                <a:latin typeface="Calibri"/>
                <a:ea typeface="Calibri"/>
                <a:cs typeface="Calibri"/>
                <a:sym typeface="Calibri"/>
              </a:rPr>
              <a:t>All passes are  to exactly one  player; all runs  include a  player</a:t>
            </a:r>
            <a:endParaRPr sz="1500">
              <a:solidFill>
                <a:schemeClr val="dk1"/>
              </a:solidFill>
              <a:latin typeface="Calibri"/>
              <a:ea typeface="Calibri"/>
              <a:cs typeface="Calibri"/>
              <a:sym typeface="Calibri"/>
            </a:endParaRPr>
          </a:p>
        </p:txBody>
      </p:sp>
      <p:sp>
        <p:nvSpPr>
          <p:cNvPr id="2125" name="Google Shape;2125;p116"/>
          <p:cNvSpPr txBox="1"/>
          <p:nvPr/>
        </p:nvSpPr>
        <p:spPr>
          <a:xfrm>
            <a:off x="2231391" y="2798232"/>
            <a:ext cx="2708275"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chemeClr val="dk1"/>
                </a:solidFill>
                <a:latin typeface="Calibri"/>
                <a:ea typeface="Calibri"/>
                <a:cs typeface="Calibri"/>
                <a:sym typeface="Calibri"/>
              </a:rPr>
              <a:t>Concepts to include / model:</a:t>
            </a:r>
            <a:endParaRPr sz="1800">
              <a:solidFill>
                <a:schemeClr val="dk1"/>
              </a:solidFill>
              <a:latin typeface="Calibri"/>
              <a:ea typeface="Calibri"/>
              <a:cs typeface="Calibri"/>
              <a:sym typeface="Calibri"/>
            </a:endParaRPr>
          </a:p>
        </p:txBody>
      </p:sp>
      <p:pic>
        <p:nvPicPr>
          <p:cNvPr id="2126" name="Google Shape;2126;p116"/>
          <p:cNvPicPr preferRelativeResize="0"/>
          <p:nvPr/>
        </p:nvPicPr>
        <p:blipFill rotWithShape="1">
          <a:blip r:embed="rId4">
            <a:alphaModFix/>
          </a:blip>
          <a:srcRect b="0" l="0" r="0" t="0"/>
          <a:stretch/>
        </p:blipFill>
        <p:spPr>
          <a:xfrm>
            <a:off x="7975600" y="3454400"/>
            <a:ext cx="1346200" cy="1117600"/>
          </a:xfrm>
          <a:prstGeom prst="rect">
            <a:avLst/>
          </a:prstGeom>
          <a:noFill/>
          <a:ln>
            <a:noFill/>
          </a:ln>
        </p:spPr>
      </p:pic>
      <p:sp>
        <p:nvSpPr>
          <p:cNvPr id="2127" name="Google Shape;2127;p116"/>
          <p:cNvSpPr txBox="1"/>
          <p:nvPr/>
        </p:nvSpPr>
        <p:spPr>
          <a:xfrm>
            <a:off x="7907053" y="4720166"/>
            <a:ext cx="1539240" cy="1121410"/>
          </a:xfrm>
          <a:prstGeom prst="rect">
            <a:avLst/>
          </a:prstGeom>
          <a:noFill/>
          <a:ln>
            <a:noFill/>
          </a:ln>
        </p:spPr>
        <p:txBody>
          <a:bodyPr anchorCtr="0" anchor="t" bIns="0" lIns="0" spcFirstLastPara="1" rIns="0" wrap="square" tIns="13325">
            <a:spAutoFit/>
          </a:bodyPr>
          <a:lstStyle/>
          <a:p>
            <a:pPr indent="635" lvl="0" marL="12065" marR="5080" rtl="0" algn="ctr">
              <a:lnSpc>
                <a:spcPct val="99800"/>
              </a:lnSpc>
              <a:spcBef>
                <a:spcPts val="0"/>
              </a:spcBef>
              <a:spcAft>
                <a:spcPts val="0"/>
              </a:spcAft>
              <a:buNone/>
            </a:pPr>
            <a:r>
              <a:rPr lang="en-US" sz="1800">
                <a:solidFill>
                  <a:schemeClr val="dk1"/>
                </a:solidFill>
                <a:latin typeface="Calibri"/>
                <a:ea typeface="Calibri"/>
                <a:cs typeface="Calibri"/>
                <a:sym typeface="Calibri"/>
              </a:rPr>
              <a:t>Make sure you  have designated  keys for all our  concepts!</a:t>
            </a:r>
            <a:endParaRPr sz="1800">
              <a:solidFill>
                <a:schemeClr val="dk1"/>
              </a:solidFill>
              <a:latin typeface="Calibri"/>
              <a:ea typeface="Calibri"/>
              <a:cs typeface="Calibri"/>
              <a:sym typeface="Calibri"/>
            </a:endParaRPr>
          </a:p>
        </p:txBody>
      </p:sp>
      <p:pic>
        <p:nvPicPr>
          <p:cNvPr id="2128" name="Google Shape;2128;p116"/>
          <p:cNvPicPr preferRelativeResize="0"/>
          <p:nvPr/>
        </p:nvPicPr>
        <p:blipFill rotWithShape="1">
          <a:blip r:embed="rId5">
            <a:alphaModFix/>
          </a:blip>
          <a:srcRect b="0" l="0" r="0" t="0"/>
          <a:stretch/>
        </p:blipFill>
        <p:spPr>
          <a:xfrm>
            <a:off x="2192866" y="3547533"/>
            <a:ext cx="1481666" cy="1041400"/>
          </a:xfrm>
          <a:prstGeom prst="rect">
            <a:avLst/>
          </a:prstGeom>
          <a:noFill/>
          <a:ln>
            <a:noFill/>
          </a:ln>
        </p:spPr>
      </p:pic>
      <p:pic>
        <p:nvPicPr>
          <p:cNvPr id="2129" name="Google Shape;2129;p116"/>
          <p:cNvPicPr preferRelativeResize="0"/>
          <p:nvPr/>
        </p:nvPicPr>
        <p:blipFill rotWithShape="1">
          <a:blip r:embed="rId6">
            <a:alphaModFix/>
          </a:blip>
          <a:srcRect b="0" l="0" r="0" t="0"/>
          <a:stretch/>
        </p:blipFill>
        <p:spPr>
          <a:xfrm>
            <a:off x="3979332" y="3496733"/>
            <a:ext cx="1701800" cy="1143000"/>
          </a:xfrm>
          <a:prstGeom prst="rect">
            <a:avLst/>
          </a:prstGeom>
          <a:noFill/>
          <a:ln>
            <a:noFill/>
          </a:ln>
        </p:spPr>
      </p:pic>
      <p:sp>
        <p:nvSpPr>
          <p:cNvPr id="2130" name="Google Shape;2130;p1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4" name="Shape 2134"/>
        <p:cNvGrpSpPr/>
        <p:nvPr/>
      </p:nvGrpSpPr>
      <p:grpSpPr>
        <a:xfrm>
          <a:off x="0" y="0"/>
          <a:ext cx="0" cy="0"/>
          <a:chOff x="0" y="0"/>
          <a:chExt cx="0" cy="0"/>
        </a:xfrm>
      </p:grpSpPr>
      <p:grpSp>
        <p:nvGrpSpPr>
          <p:cNvPr id="2135" name="Google Shape;2135;p117"/>
          <p:cNvGrpSpPr/>
          <p:nvPr/>
        </p:nvGrpSpPr>
        <p:grpSpPr>
          <a:xfrm>
            <a:off x="5616690" y="2175269"/>
            <a:ext cx="726440" cy="309880"/>
            <a:chOff x="4092689" y="2175268"/>
            <a:chExt cx="726440" cy="309880"/>
          </a:xfrm>
        </p:grpSpPr>
        <p:sp>
          <p:nvSpPr>
            <p:cNvPr id="2136" name="Google Shape;2136;p117"/>
            <p:cNvSpPr/>
            <p:nvPr/>
          </p:nvSpPr>
          <p:spPr>
            <a:xfrm>
              <a:off x="4092689" y="2175268"/>
              <a:ext cx="726440" cy="309880"/>
            </a:xfrm>
            <a:custGeom>
              <a:rect b="b" l="l" r="r" t="t"/>
              <a:pathLst>
                <a:path extrusionOk="0" h="309880" w="726439">
                  <a:moveTo>
                    <a:pt x="726056" y="0"/>
                  </a:moveTo>
                  <a:lnTo>
                    <a:pt x="0" y="0"/>
                  </a:lnTo>
                  <a:lnTo>
                    <a:pt x="0" y="309752"/>
                  </a:lnTo>
                  <a:lnTo>
                    <a:pt x="726056" y="309752"/>
                  </a:lnTo>
                  <a:lnTo>
                    <a:pt x="726056" y="0"/>
                  </a:lnTo>
                  <a:close/>
                </a:path>
              </a:pathLst>
            </a:custGeom>
            <a:solidFill>
              <a:srgbClr val="F2DCD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7" name="Google Shape;2137;p117"/>
            <p:cNvSpPr/>
            <p:nvPr/>
          </p:nvSpPr>
          <p:spPr>
            <a:xfrm>
              <a:off x="4092689" y="2175268"/>
              <a:ext cx="726440" cy="309880"/>
            </a:xfrm>
            <a:custGeom>
              <a:rect b="b" l="l" r="r" t="t"/>
              <a:pathLst>
                <a:path extrusionOk="0" h="309880" w="726439">
                  <a:moveTo>
                    <a:pt x="0" y="0"/>
                  </a:moveTo>
                  <a:lnTo>
                    <a:pt x="726057" y="0"/>
                  </a:lnTo>
                  <a:lnTo>
                    <a:pt x="726057" y="309753"/>
                  </a:lnTo>
                  <a:lnTo>
                    <a:pt x="0" y="309753"/>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38" name="Google Shape;2138;p117"/>
          <p:cNvGrpSpPr/>
          <p:nvPr/>
        </p:nvGrpSpPr>
        <p:grpSpPr>
          <a:xfrm>
            <a:off x="5548622" y="1526601"/>
            <a:ext cx="862330" cy="649079"/>
            <a:chOff x="4024621" y="1526601"/>
            <a:chExt cx="862330" cy="649079"/>
          </a:xfrm>
        </p:grpSpPr>
        <p:sp>
          <p:nvSpPr>
            <p:cNvPr id="2139" name="Google Shape;2139;p117"/>
            <p:cNvSpPr/>
            <p:nvPr/>
          </p:nvSpPr>
          <p:spPr>
            <a:xfrm>
              <a:off x="4455717" y="1924855"/>
              <a:ext cx="0" cy="250825"/>
            </a:xfrm>
            <a:custGeom>
              <a:rect b="b" l="l" r="r" t="t"/>
              <a:pathLst>
                <a:path extrusionOk="0" h="250825" w="120000">
                  <a:moveTo>
                    <a:pt x="0" y="0"/>
                  </a:moveTo>
                  <a:lnTo>
                    <a:pt x="0" y="250413"/>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0" name="Google Shape;2140;p117"/>
            <p:cNvSpPr/>
            <p:nvPr/>
          </p:nvSpPr>
          <p:spPr>
            <a:xfrm>
              <a:off x="4455717" y="1924855"/>
              <a:ext cx="0" cy="250825"/>
            </a:xfrm>
            <a:custGeom>
              <a:rect b="b" l="l" r="r" t="t"/>
              <a:pathLst>
                <a:path extrusionOk="0" h="250825" w="120000">
                  <a:moveTo>
                    <a:pt x="0" y="0"/>
                  </a:moveTo>
                  <a:lnTo>
                    <a:pt x="0" y="250414"/>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1" name="Google Shape;2141;p117"/>
            <p:cNvSpPr/>
            <p:nvPr/>
          </p:nvSpPr>
          <p:spPr>
            <a:xfrm>
              <a:off x="4024621" y="1526601"/>
              <a:ext cx="862330" cy="398780"/>
            </a:xfrm>
            <a:custGeom>
              <a:rect b="b" l="l" r="r" t="t"/>
              <a:pathLst>
                <a:path extrusionOk="0" h="398780" w="862329">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2" name="Google Shape;2142;p117"/>
            <p:cNvSpPr/>
            <p:nvPr/>
          </p:nvSpPr>
          <p:spPr>
            <a:xfrm>
              <a:off x="4024621" y="1526601"/>
              <a:ext cx="862330" cy="398780"/>
            </a:xfrm>
            <a:custGeom>
              <a:rect b="b" l="l" r="r" t="t"/>
              <a:pathLst>
                <a:path extrusionOk="0" h="398780" w="86232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43" name="Google Shape;2143;p117"/>
          <p:cNvGrpSpPr/>
          <p:nvPr/>
        </p:nvGrpSpPr>
        <p:grpSpPr>
          <a:xfrm>
            <a:off x="5506447" y="2821316"/>
            <a:ext cx="946785" cy="398780"/>
            <a:chOff x="3982446" y="2821316"/>
            <a:chExt cx="946785" cy="398780"/>
          </a:xfrm>
        </p:grpSpPr>
        <p:sp>
          <p:nvSpPr>
            <p:cNvPr id="2144" name="Google Shape;2144;p117"/>
            <p:cNvSpPr/>
            <p:nvPr/>
          </p:nvSpPr>
          <p:spPr>
            <a:xfrm>
              <a:off x="3982446" y="2821316"/>
              <a:ext cx="946785" cy="398780"/>
            </a:xfrm>
            <a:custGeom>
              <a:rect b="b" l="l" r="r" t="t"/>
              <a:pathLst>
                <a:path extrusionOk="0" h="398780" w="946785">
                  <a:moveTo>
                    <a:pt x="473270" y="0"/>
                  </a:moveTo>
                  <a:lnTo>
                    <a:pt x="0" y="199127"/>
                  </a:lnTo>
                  <a:lnTo>
                    <a:pt x="473270" y="398254"/>
                  </a:lnTo>
                  <a:lnTo>
                    <a:pt x="946541" y="199127"/>
                  </a:lnTo>
                  <a:lnTo>
                    <a:pt x="47327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5" name="Google Shape;2145;p117"/>
            <p:cNvSpPr/>
            <p:nvPr/>
          </p:nvSpPr>
          <p:spPr>
            <a:xfrm>
              <a:off x="3982446" y="2821316"/>
              <a:ext cx="946785" cy="398780"/>
            </a:xfrm>
            <a:custGeom>
              <a:rect b="b" l="l" r="r" t="t"/>
              <a:pathLst>
                <a:path extrusionOk="0" h="398780" w="946785">
                  <a:moveTo>
                    <a:pt x="0" y="199127"/>
                  </a:moveTo>
                  <a:lnTo>
                    <a:pt x="473270" y="0"/>
                  </a:lnTo>
                  <a:lnTo>
                    <a:pt x="946541" y="199127"/>
                  </a:lnTo>
                  <a:lnTo>
                    <a:pt x="473270" y="398254"/>
                  </a:lnTo>
                  <a:lnTo>
                    <a:pt x="0" y="199127"/>
                  </a:lnTo>
                  <a:close/>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46" name="Google Shape;2146;p117"/>
          <p:cNvSpPr txBox="1"/>
          <p:nvPr/>
        </p:nvSpPr>
        <p:spPr>
          <a:xfrm>
            <a:off x="5665963" y="2908299"/>
            <a:ext cx="628650"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a:solidFill>
                  <a:schemeClr val="dk1"/>
                </a:solidFill>
                <a:latin typeface="Calibri"/>
                <a:ea typeface="Calibri"/>
                <a:cs typeface="Calibri"/>
                <a:sym typeface="Calibri"/>
              </a:rPr>
              <a:t>LocatedIn</a:t>
            </a:r>
            <a:endParaRPr sz="1200">
              <a:solidFill>
                <a:schemeClr val="dk1"/>
              </a:solidFill>
              <a:latin typeface="Calibri"/>
              <a:ea typeface="Calibri"/>
              <a:cs typeface="Calibri"/>
              <a:sym typeface="Calibri"/>
            </a:endParaRPr>
          </a:p>
        </p:txBody>
      </p:sp>
      <p:grpSp>
        <p:nvGrpSpPr>
          <p:cNvPr id="2147" name="Google Shape;2147;p117"/>
          <p:cNvGrpSpPr/>
          <p:nvPr/>
        </p:nvGrpSpPr>
        <p:grpSpPr>
          <a:xfrm>
            <a:off x="5850466" y="2463801"/>
            <a:ext cx="262466" cy="1006595"/>
            <a:chOff x="4326466" y="2463800"/>
            <a:chExt cx="262466" cy="1006595"/>
          </a:xfrm>
        </p:grpSpPr>
        <p:sp>
          <p:nvSpPr>
            <p:cNvPr id="2148" name="Google Shape;2148;p117"/>
            <p:cNvSpPr/>
            <p:nvPr/>
          </p:nvSpPr>
          <p:spPr>
            <a:xfrm>
              <a:off x="4455717" y="2485022"/>
              <a:ext cx="0" cy="336550"/>
            </a:xfrm>
            <a:custGeom>
              <a:rect b="b" l="l" r="r" t="t"/>
              <a:pathLst>
                <a:path extrusionOk="0" h="336550" w="120000">
                  <a:moveTo>
                    <a:pt x="0" y="0"/>
                  </a:moveTo>
                  <a:lnTo>
                    <a:pt x="0" y="336294"/>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9" name="Google Shape;2149;p117"/>
            <p:cNvSpPr/>
            <p:nvPr/>
          </p:nvSpPr>
          <p:spPr>
            <a:xfrm>
              <a:off x="4455717" y="2485022"/>
              <a:ext cx="0" cy="336550"/>
            </a:xfrm>
            <a:custGeom>
              <a:rect b="b" l="l" r="r" t="t"/>
              <a:pathLst>
                <a:path extrusionOk="0" h="336550" w="120000">
                  <a:moveTo>
                    <a:pt x="0" y="336295"/>
                  </a:move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0" name="Google Shape;2150;p117"/>
            <p:cNvSpPr/>
            <p:nvPr/>
          </p:nvSpPr>
          <p:spPr>
            <a:xfrm>
              <a:off x="4455717" y="3219570"/>
              <a:ext cx="0" cy="250825"/>
            </a:xfrm>
            <a:custGeom>
              <a:rect b="b" l="l" r="r" t="t"/>
              <a:pathLst>
                <a:path extrusionOk="0" h="250825" w="120000">
                  <a:moveTo>
                    <a:pt x="0" y="0"/>
                  </a:moveTo>
                  <a:lnTo>
                    <a:pt x="0" y="250414"/>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1" name="Google Shape;2151;p117"/>
            <p:cNvSpPr/>
            <p:nvPr/>
          </p:nvSpPr>
          <p:spPr>
            <a:xfrm>
              <a:off x="4455717" y="3219570"/>
              <a:ext cx="0" cy="250825"/>
            </a:xfrm>
            <a:custGeom>
              <a:rect b="b" l="l" r="r" t="t"/>
              <a:pathLst>
                <a:path extrusionOk="0" h="250825" w="120000">
                  <a:moveTo>
                    <a:pt x="0" y="250415"/>
                  </a:move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152" name="Google Shape;2152;p117"/>
            <p:cNvPicPr preferRelativeResize="0"/>
            <p:nvPr/>
          </p:nvPicPr>
          <p:blipFill rotWithShape="1">
            <a:blip r:embed="rId3">
              <a:alphaModFix/>
            </a:blip>
            <a:srcRect b="0" l="0" r="0" t="0"/>
            <a:stretch/>
          </p:blipFill>
          <p:spPr>
            <a:xfrm>
              <a:off x="4326466" y="2463800"/>
              <a:ext cx="262466" cy="508000"/>
            </a:xfrm>
            <a:prstGeom prst="rect">
              <a:avLst/>
            </a:prstGeom>
            <a:noFill/>
            <a:ln>
              <a:noFill/>
            </a:ln>
          </p:spPr>
        </p:pic>
        <p:sp>
          <p:nvSpPr>
            <p:cNvPr id="2153" name="Google Shape;2153;p117"/>
            <p:cNvSpPr/>
            <p:nvPr/>
          </p:nvSpPr>
          <p:spPr>
            <a:xfrm>
              <a:off x="4412854" y="2485022"/>
              <a:ext cx="85725" cy="336550"/>
            </a:xfrm>
            <a:custGeom>
              <a:rect b="b" l="l" r="r" t="t"/>
              <a:pathLst>
                <a:path extrusionOk="0" h="336550" w="85725">
                  <a:moveTo>
                    <a:pt x="28575" y="250569"/>
                  </a:moveTo>
                  <a:lnTo>
                    <a:pt x="0" y="250569"/>
                  </a:lnTo>
                  <a:lnTo>
                    <a:pt x="42863" y="336294"/>
                  </a:lnTo>
                  <a:lnTo>
                    <a:pt x="78581" y="264857"/>
                  </a:lnTo>
                  <a:lnTo>
                    <a:pt x="28575" y="264857"/>
                  </a:lnTo>
                  <a:lnTo>
                    <a:pt x="28575" y="250569"/>
                  </a:lnTo>
                  <a:close/>
                </a:path>
                <a:path extrusionOk="0" h="336550" w="85725">
                  <a:moveTo>
                    <a:pt x="57150" y="0"/>
                  </a:moveTo>
                  <a:lnTo>
                    <a:pt x="28575" y="0"/>
                  </a:lnTo>
                  <a:lnTo>
                    <a:pt x="28575" y="264857"/>
                  </a:lnTo>
                  <a:lnTo>
                    <a:pt x="57150" y="264857"/>
                  </a:lnTo>
                  <a:lnTo>
                    <a:pt x="57150" y="0"/>
                  </a:lnTo>
                  <a:close/>
                </a:path>
                <a:path extrusionOk="0" h="336550" w="85725">
                  <a:moveTo>
                    <a:pt x="85725" y="250569"/>
                  </a:moveTo>
                  <a:lnTo>
                    <a:pt x="57150" y="250569"/>
                  </a:lnTo>
                  <a:lnTo>
                    <a:pt x="57150" y="264857"/>
                  </a:lnTo>
                  <a:lnTo>
                    <a:pt x="78581" y="264857"/>
                  </a:lnTo>
                  <a:lnTo>
                    <a:pt x="85725" y="25056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54" name="Google Shape;2154;p117"/>
          <p:cNvSpPr txBox="1"/>
          <p:nvPr/>
        </p:nvSpPr>
        <p:spPr>
          <a:xfrm>
            <a:off x="5616689" y="3469986"/>
            <a:ext cx="726440" cy="237243"/>
          </a:xfrm>
          <a:prstGeom prst="rect">
            <a:avLst/>
          </a:prstGeom>
          <a:solidFill>
            <a:srgbClr val="F2DCDB"/>
          </a:solidFill>
          <a:ln cap="flat" cmpd="sng" w="9525">
            <a:solidFill>
              <a:srgbClr val="000000"/>
            </a:solidFill>
            <a:prstDash val="solid"/>
            <a:round/>
            <a:headEnd len="sm" w="sm" type="none"/>
            <a:tailEnd len="sm" w="sm" type="none"/>
          </a:ln>
        </p:spPr>
        <p:txBody>
          <a:bodyPr anchorCtr="0" anchor="t" bIns="0" lIns="0" spcFirstLastPara="1" rIns="0" wrap="square" tIns="52050">
            <a:spAutoFit/>
          </a:bodyPr>
          <a:lstStyle/>
          <a:p>
            <a:pPr indent="0" lvl="0" marL="193675" marR="0" rtl="0" algn="l">
              <a:spcBef>
                <a:spcPts val="0"/>
              </a:spcBef>
              <a:spcAft>
                <a:spcPts val="0"/>
              </a:spcAft>
              <a:buNone/>
            </a:pPr>
            <a:r>
              <a:rPr lang="en-US" sz="1200">
                <a:solidFill>
                  <a:schemeClr val="dk1"/>
                </a:solidFill>
                <a:latin typeface="Calibri"/>
                <a:ea typeface="Calibri"/>
                <a:cs typeface="Calibri"/>
                <a:sym typeface="Calibri"/>
              </a:rPr>
              <a:t>Cities</a:t>
            </a:r>
            <a:endParaRPr sz="1200">
              <a:solidFill>
                <a:schemeClr val="dk1"/>
              </a:solidFill>
              <a:latin typeface="Calibri"/>
              <a:ea typeface="Calibri"/>
              <a:cs typeface="Calibri"/>
              <a:sym typeface="Calibri"/>
            </a:endParaRPr>
          </a:p>
        </p:txBody>
      </p:sp>
      <p:sp>
        <p:nvSpPr>
          <p:cNvPr id="2155" name="Google Shape;2155;p117"/>
          <p:cNvSpPr txBox="1"/>
          <p:nvPr/>
        </p:nvSpPr>
        <p:spPr>
          <a:xfrm>
            <a:off x="5598336" y="1612900"/>
            <a:ext cx="762000" cy="809625"/>
          </a:xfrm>
          <a:prstGeom prst="rect">
            <a:avLst/>
          </a:prstGeom>
          <a:noFill/>
          <a:ln>
            <a:noFill/>
          </a:ln>
        </p:spPr>
        <p:txBody>
          <a:bodyPr anchorCtr="0" anchor="t" bIns="0" lIns="0" spcFirstLastPara="1" rIns="0" wrap="square" tIns="12700">
            <a:spAutoFit/>
          </a:bodyPr>
          <a:lstStyle/>
          <a:p>
            <a:pPr indent="0" lvl="0" marL="0" marR="0" rtl="0" algn="ctr">
              <a:spcBef>
                <a:spcPts val="0"/>
              </a:spcBef>
              <a:spcAft>
                <a:spcPts val="0"/>
              </a:spcAft>
              <a:buNone/>
            </a:pPr>
            <a:r>
              <a:rPr lang="en-US" sz="1200" u="sng">
                <a:solidFill>
                  <a:schemeClr val="dk1"/>
                </a:solidFill>
                <a:latin typeface="Calibri"/>
                <a:ea typeface="Calibri"/>
                <a:cs typeface="Calibri"/>
                <a:sym typeface="Calibri"/>
              </a:rPr>
              <a:t>Team Nam</a:t>
            </a:r>
            <a:r>
              <a:rPr lang="en-US" sz="1200">
                <a:solidFill>
                  <a:schemeClr val="dk1"/>
                </a:solidFill>
                <a:latin typeface="Calibri"/>
                <a:ea typeface="Calibri"/>
                <a:cs typeface="Calibri"/>
                <a:sym typeface="Calibri"/>
              </a:rPr>
              <a:t>e</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55"/>
              </a:spcBef>
              <a:spcAft>
                <a:spcPts val="0"/>
              </a:spcAft>
              <a:buNone/>
            </a:pPr>
            <a:r>
              <a:t/>
            </a:r>
            <a:endParaRPr sz="125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1200">
                <a:solidFill>
                  <a:schemeClr val="dk1"/>
                </a:solidFill>
                <a:latin typeface="Calibri"/>
                <a:ea typeface="Calibri"/>
                <a:cs typeface="Calibri"/>
                <a:sym typeface="Calibri"/>
              </a:rPr>
              <a:t>Teams</a:t>
            </a:r>
            <a:endParaRPr sz="1200">
              <a:solidFill>
                <a:schemeClr val="dk1"/>
              </a:solidFill>
              <a:latin typeface="Calibri"/>
              <a:ea typeface="Calibri"/>
              <a:cs typeface="Calibri"/>
              <a:sym typeface="Calibri"/>
            </a:endParaRPr>
          </a:p>
        </p:txBody>
      </p:sp>
      <p:sp>
        <p:nvSpPr>
          <p:cNvPr id="2156" name="Google Shape;2156;p117"/>
          <p:cNvSpPr txBox="1"/>
          <p:nvPr/>
        </p:nvSpPr>
        <p:spPr>
          <a:xfrm>
            <a:off x="7518256" y="3467099"/>
            <a:ext cx="1309370" cy="716280"/>
          </a:xfrm>
          <a:prstGeom prst="rect">
            <a:avLst/>
          </a:prstGeom>
          <a:noFill/>
          <a:ln>
            <a:noFill/>
          </a:ln>
        </p:spPr>
        <p:txBody>
          <a:bodyPr anchorCtr="0" anchor="t" bIns="0" lIns="0" spcFirstLastPara="1" rIns="0" wrap="square" tIns="16500">
            <a:spAutoFit/>
          </a:bodyPr>
          <a:lstStyle/>
          <a:p>
            <a:pPr indent="0" lvl="0" marL="12700" marR="5080" rtl="0" algn="just">
              <a:spcBef>
                <a:spcPts val="0"/>
              </a:spcBef>
              <a:spcAft>
                <a:spcPts val="0"/>
              </a:spcAft>
              <a:buNone/>
            </a:pPr>
            <a:r>
              <a:rPr lang="en-US" sz="1500">
                <a:solidFill>
                  <a:schemeClr val="dk1"/>
                </a:solidFill>
                <a:latin typeface="Calibri"/>
                <a:ea typeface="Calibri"/>
                <a:cs typeface="Calibri"/>
                <a:sym typeface="Calibri"/>
              </a:rPr>
              <a:t>Teams belong to  cities- model as  </a:t>
            </a:r>
            <a:r>
              <a:rPr b="1" i="1" lang="en-US" sz="1500">
                <a:solidFill>
                  <a:schemeClr val="dk1"/>
                </a:solidFill>
                <a:latin typeface="Calibri"/>
                <a:ea typeface="Calibri"/>
                <a:cs typeface="Calibri"/>
                <a:sym typeface="Calibri"/>
              </a:rPr>
              <a:t>weak entity sets</a:t>
            </a:r>
            <a:endParaRPr sz="1500">
              <a:solidFill>
                <a:schemeClr val="dk1"/>
              </a:solidFill>
              <a:latin typeface="Calibri"/>
              <a:ea typeface="Calibri"/>
              <a:cs typeface="Calibri"/>
              <a:sym typeface="Calibri"/>
            </a:endParaRPr>
          </a:p>
        </p:txBody>
      </p:sp>
      <p:grpSp>
        <p:nvGrpSpPr>
          <p:cNvPr id="2157" name="Google Shape;2157;p117"/>
          <p:cNvGrpSpPr/>
          <p:nvPr/>
        </p:nvGrpSpPr>
        <p:grpSpPr>
          <a:xfrm>
            <a:off x="5548622" y="4029698"/>
            <a:ext cx="862330" cy="398780"/>
            <a:chOff x="4024621" y="4029697"/>
            <a:chExt cx="862330" cy="398780"/>
          </a:xfrm>
        </p:grpSpPr>
        <p:sp>
          <p:nvSpPr>
            <p:cNvPr id="2158" name="Google Shape;2158;p117"/>
            <p:cNvSpPr/>
            <p:nvPr/>
          </p:nvSpPr>
          <p:spPr>
            <a:xfrm>
              <a:off x="4024621" y="4029697"/>
              <a:ext cx="862330" cy="398780"/>
            </a:xfrm>
            <a:custGeom>
              <a:rect b="b" l="l" r="r" t="t"/>
              <a:pathLst>
                <a:path extrusionOk="0" h="398779" w="862329">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9" name="Google Shape;2159;p117"/>
            <p:cNvSpPr/>
            <p:nvPr/>
          </p:nvSpPr>
          <p:spPr>
            <a:xfrm>
              <a:off x="4024621" y="4029697"/>
              <a:ext cx="862330" cy="398780"/>
            </a:xfrm>
            <a:custGeom>
              <a:rect b="b" l="l" r="r" t="t"/>
              <a:pathLst>
                <a:path extrusionOk="0" h="398779" w="86232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60" name="Google Shape;2160;p117"/>
          <p:cNvSpPr txBox="1"/>
          <p:nvPr/>
        </p:nvSpPr>
        <p:spPr>
          <a:xfrm>
            <a:off x="5782073" y="4119032"/>
            <a:ext cx="394970"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u="sng">
                <a:solidFill>
                  <a:schemeClr val="dk1"/>
                </a:solidFill>
                <a:latin typeface="Calibri"/>
                <a:ea typeface="Calibri"/>
                <a:cs typeface="Calibri"/>
                <a:sym typeface="Calibri"/>
              </a:rPr>
              <a:t>Name</a:t>
            </a:r>
            <a:endParaRPr sz="1200">
              <a:solidFill>
                <a:schemeClr val="dk1"/>
              </a:solidFill>
              <a:latin typeface="Calibri"/>
              <a:ea typeface="Calibri"/>
              <a:cs typeface="Calibri"/>
              <a:sym typeface="Calibri"/>
            </a:endParaRPr>
          </a:p>
        </p:txBody>
      </p:sp>
      <p:grpSp>
        <p:nvGrpSpPr>
          <p:cNvPr id="2161" name="Google Shape;2161;p117"/>
          <p:cNvGrpSpPr/>
          <p:nvPr/>
        </p:nvGrpSpPr>
        <p:grpSpPr>
          <a:xfrm>
            <a:off x="5979718" y="3779738"/>
            <a:ext cx="0" cy="250190"/>
            <a:chOff x="4455717" y="3779738"/>
            <a:chExt cx="0" cy="250190"/>
          </a:xfrm>
        </p:grpSpPr>
        <p:sp>
          <p:nvSpPr>
            <p:cNvPr id="2162" name="Google Shape;2162;p117"/>
            <p:cNvSpPr/>
            <p:nvPr/>
          </p:nvSpPr>
          <p:spPr>
            <a:xfrm>
              <a:off x="4455717" y="3779738"/>
              <a:ext cx="0" cy="250190"/>
            </a:xfrm>
            <a:custGeom>
              <a:rect b="b" l="l" r="r" t="t"/>
              <a:pathLst>
                <a:path extrusionOk="0" h="250189" w="120000">
                  <a:moveTo>
                    <a:pt x="0" y="0"/>
                  </a:moveTo>
                  <a:lnTo>
                    <a:pt x="0" y="249958"/>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3" name="Google Shape;2163;p117"/>
            <p:cNvSpPr/>
            <p:nvPr/>
          </p:nvSpPr>
          <p:spPr>
            <a:xfrm>
              <a:off x="4455717" y="3779738"/>
              <a:ext cx="0" cy="250190"/>
            </a:xfrm>
            <a:custGeom>
              <a:rect b="b" l="l" r="r" t="t"/>
              <a:pathLst>
                <a:path extrusionOk="0" h="250189" w="120000">
                  <a:moveTo>
                    <a:pt x="0" y="249959"/>
                  </a:move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64" name="Google Shape;2164;p1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8" name="Shape 2168"/>
        <p:cNvGrpSpPr/>
        <p:nvPr/>
      </p:nvGrpSpPr>
      <p:grpSpPr>
        <a:xfrm>
          <a:off x="0" y="0"/>
          <a:ext cx="0" cy="0"/>
          <a:chOff x="0" y="0"/>
          <a:chExt cx="0" cy="0"/>
        </a:xfrm>
      </p:grpSpPr>
      <p:grpSp>
        <p:nvGrpSpPr>
          <p:cNvPr id="2169" name="Google Shape;2169;p118"/>
          <p:cNvGrpSpPr/>
          <p:nvPr/>
        </p:nvGrpSpPr>
        <p:grpSpPr>
          <a:xfrm>
            <a:off x="5616690" y="2175269"/>
            <a:ext cx="726440" cy="309880"/>
            <a:chOff x="4092689" y="2175268"/>
            <a:chExt cx="726440" cy="309880"/>
          </a:xfrm>
        </p:grpSpPr>
        <p:sp>
          <p:nvSpPr>
            <p:cNvPr id="2170" name="Google Shape;2170;p118"/>
            <p:cNvSpPr/>
            <p:nvPr/>
          </p:nvSpPr>
          <p:spPr>
            <a:xfrm>
              <a:off x="4092689" y="2175268"/>
              <a:ext cx="726440" cy="309880"/>
            </a:xfrm>
            <a:custGeom>
              <a:rect b="b" l="l" r="r" t="t"/>
              <a:pathLst>
                <a:path extrusionOk="0" h="309880" w="726439">
                  <a:moveTo>
                    <a:pt x="726056" y="0"/>
                  </a:moveTo>
                  <a:lnTo>
                    <a:pt x="0" y="0"/>
                  </a:lnTo>
                  <a:lnTo>
                    <a:pt x="0" y="309752"/>
                  </a:lnTo>
                  <a:lnTo>
                    <a:pt x="726056" y="309752"/>
                  </a:lnTo>
                  <a:lnTo>
                    <a:pt x="726056" y="0"/>
                  </a:lnTo>
                  <a:close/>
                </a:path>
              </a:pathLst>
            </a:custGeom>
            <a:solidFill>
              <a:srgbClr val="F2DCD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1" name="Google Shape;2171;p118"/>
            <p:cNvSpPr/>
            <p:nvPr/>
          </p:nvSpPr>
          <p:spPr>
            <a:xfrm>
              <a:off x="4092689" y="2175268"/>
              <a:ext cx="726440" cy="309880"/>
            </a:xfrm>
            <a:custGeom>
              <a:rect b="b" l="l" r="r" t="t"/>
              <a:pathLst>
                <a:path extrusionOk="0" h="309880" w="726439">
                  <a:moveTo>
                    <a:pt x="0" y="0"/>
                  </a:moveTo>
                  <a:lnTo>
                    <a:pt x="726057" y="0"/>
                  </a:lnTo>
                  <a:lnTo>
                    <a:pt x="726057" y="309753"/>
                  </a:lnTo>
                  <a:lnTo>
                    <a:pt x="0" y="309753"/>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72" name="Google Shape;2172;p118"/>
          <p:cNvSpPr txBox="1"/>
          <p:nvPr/>
        </p:nvSpPr>
        <p:spPr>
          <a:xfrm>
            <a:off x="5770580" y="2214032"/>
            <a:ext cx="417830"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a:solidFill>
                  <a:schemeClr val="dk1"/>
                </a:solidFill>
                <a:latin typeface="Calibri"/>
                <a:ea typeface="Calibri"/>
                <a:cs typeface="Calibri"/>
                <a:sym typeface="Calibri"/>
              </a:rPr>
              <a:t>Teams</a:t>
            </a:r>
            <a:endParaRPr/>
          </a:p>
        </p:txBody>
      </p:sp>
      <p:grpSp>
        <p:nvGrpSpPr>
          <p:cNvPr id="2173" name="Google Shape;2173;p118"/>
          <p:cNvGrpSpPr/>
          <p:nvPr/>
        </p:nvGrpSpPr>
        <p:grpSpPr>
          <a:xfrm>
            <a:off x="5506447" y="2821316"/>
            <a:ext cx="946785" cy="398780"/>
            <a:chOff x="3982446" y="2821316"/>
            <a:chExt cx="946785" cy="398780"/>
          </a:xfrm>
        </p:grpSpPr>
        <p:sp>
          <p:nvSpPr>
            <p:cNvPr id="2174" name="Google Shape;2174;p118"/>
            <p:cNvSpPr/>
            <p:nvPr/>
          </p:nvSpPr>
          <p:spPr>
            <a:xfrm>
              <a:off x="3982446" y="2821316"/>
              <a:ext cx="946785" cy="398780"/>
            </a:xfrm>
            <a:custGeom>
              <a:rect b="b" l="l" r="r" t="t"/>
              <a:pathLst>
                <a:path extrusionOk="0" h="398780" w="946785">
                  <a:moveTo>
                    <a:pt x="473270" y="0"/>
                  </a:moveTo>
                  <a:lnTo>
                    <a:pt x="0" y="199127"/>
                  </a:lnTo>
                  <a:lnTo>
                    <a:pt x="473270" y="398254"/>
                  </a:lnTo>
                  <a:lnTo>
                    <a:pt x="946541" y="199127"/>
                  </a:lnTo>
                  <a:lnTo>
                    <a:pt x="47327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5" name="Google Shape;2175;p118"/>
            <p:cNvSpPr/>
            <p:nvPr/>
          </p:nvSpPr>
          <p:spPr>
            <a:xfrm>
              <a:off x="3982446" y="2821316"/>
              <a:ext cx="946785" cy="398780"/>
            </a:xfrm>
            <a:custGeom>
              <a:rect b="b" l="l" r="r" t="t"/>
              <a:pathLst>
                <a:path extrusionOk="0" h="398780" w="946785">
                  <a:moveTo>
                    <a:pt x="0" y="199127"/>
                  </a:moveTo>
                  <a:lnTo>
                    <a:pt x="473270" y="0"/>
                  </a:lnTo>
                  <a:lnTo>
                    <a:pt x="946541" y="199127"/>
                  </a:lnTo>
                  <a:lnTo>
                    <a:pt x="473270" y="398254"/>
                  </a:lnTo>
                  <a:lnTo>
                    <a:pt x="0" y="199127"/>
                  </a:lnTo>
                  <a:close/>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76" name="Google Shape;2176;p118"/>
          <p:cNvGrpSpPr/>
          <p:nvPr/>
        </p:nvGrpSpPr>
        <p:grpSpPr>
          <a:xfrm>
            <a:off x="5548622" y="1526601"/>
            <a:ext cx="862330" cy="649079"/>
            <a:chOff x="4024621" y="1526601"/>
            <a:chExt cx="862330" cy="649079"/>
          </a:xfrm>
        </p:grpSpPr>
        <p:sp>
          <p:nvSpPr>
            <p:cNvPr id="2177" name="Google Shape;2177;p118"/>
            <p:cNvSpPr/>
            <p:nvPr/>
          </p:nvSpPr>
          <p:spPr>
            <a:xfrm>
              <a:off x="4455717" y="1924855"/>
              <a:ext cx="0" cy="250825"/>
            </a:xfrm>
            <a:custGeom>
              <a:rect b="b" l="l" r="r" t="t"/>
              <a:pathLst>
                <a:path extrusionOk="0" h="250825" w="120000">
                  <a:moveTo>
                    <a:pt x="0" y="0"/>
                  </a:moveTo>
                  <a:lnTo>
                    <a:pt x="0" y="250413"/>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8" name="Google Shape;2178;p118"/>
            <p:cNvSpPr/>
            <p:nvPr/>
          </p:nvSpPr>
          <p:spPr>
            <a:xfrm>
              <a:off x="4455717" y="1924855"/>
              <a:ext cx="0" cy="250825"/>
            </a:xfrm>
            <a:custGeom>
              <a:rect b="b" l="l" r="r" t="t"/>
              <a:pathLst>
                <a:path extrusionOk="0" h="250825" w="120000">
                  <a:moveTo>
                    <a:pt x="0" y="0"/>
                  </a:moveTo>
                  <a:lnTo>
                    <a:pt x="0" y="250414"/>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9" name="Google Shape;2179;p118"/>
            <p:cNvSpPr/>
            <p:nvPr/>
          </p:nvSpPr>
          <p:spPr>
            <a:xfrm>
              <a:off x="4024621" y="1526601"/>
              <a:ext cx="862330" cy="398780"/>
            </a:xfrm>
            <a:custGeom>
              <a:rect b="b" l="l" r="r" t="t"/>
              <a:pathLst>
                <a:path extrusionOk="0" h="398780" w="862329">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0" name="Google Shape;2180;p118"/>
            <p:cNvSpPr/>
            <p:nvPr/>
          </p:nvSpPr>
          <p:spPr>
            <a:xfrm>
              <a:off x="4024621" y="1526601"/>
              <a:ext cx="862330" cy="398780"/>
            </a:xfrm>
            <a:custGeom>
              <a:rect b="b" l="l" r="r" t="t"/>
              <a:pathLst>
                <a:path extrusionOk="0" h="398780" w="86232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81" name="Google Shape;2181;p118"/>
          <p:cNvSpPr txBox="1"/>
          <p:nvPr/>
        </p:nvSpPr>
        <p:spPr>
          <a:xfrm>
            <a:off x="5665963" y="2908299"/>
            <a:ext cx="628650"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a:solidFill>
                  <a:schemeClr val="dk1"/>
                </a:solidFill>
                <a:latin typeface="Calibri"/>
                <a:ea typeface="Calibri"/>
                <a:cs typeface="Calibri"/>
                <a:sym typeface="Calibri"/>
              </a:rPr>
              <a:t>LocatedIn</a:t>
            </a:r>
            <a:endParaRPr sz="1200">
              <a:solidFill>
                <a:schemeClr val="dk1"/>
              </a:solidFill>
              <a:latin typeface="Calibri"/>
              <a:ea typeface="Calibri"/>
              <a:cs typeface="Calibri"/>
              <a:sym typeface="Calibri"/>
            </a:endParaRPr>
          </a:p>
        </p:txBody>
      </p:sp>
      <p:grpSp>
        <p:nvGrpSpPr>
          <p:cNvPr id="2182" name="Google Shape;2182;p118"/>
          <p:cNvGrpSpPr/>
          <p:nvPr/>
        </p:nvGrpSpPr>
        <p:grpSpPr>
          <a:xfrm>
            <a:off x="5850466" y="2463801"/>
            <a:ext cx="262466" cy="1006595"/>
            <a:chOff x="4326466" y="2463800"/>
            <a:chExt cx="262466" cy="1006595"/>
          </a:xfrm>
        </p:grpSpPr>
        <p:sp>
          <p:nvSpPr>
            <p:cNvPr id="2183" name="Google Shape;2183;p118"/>
            <p:cNvSpPr/>
            <p:nvPr/>
          </p:nvSpPr>
          <p:spPr>
            <a:xfrm>
              <a:off x="4455717" y="2485022"/>
              <a:ext cx="0" cy="336550"/>
            </a:xfrm>
            <a:custGeom>
              <a:rect b="b" l="l" r="r" t="t"/>
              <a:pathLst>
                <a:path extrusionOk="0" h="336550" w="120000">
                  <a:moveTo>
                    <a:pt x="0" y="0"/>
                  </a:moveTo>
                  <a:lnTo>
                    <a:pt x="0" y="336294"/>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4" name="Google Shape;2184;p118"/>
            <p:cNvSpPr/>
            <p:nvPr/>
          </p:nvSpPr>
          <p:spPr>
            <a:xfrm>
              <a:off x="4455717" y="2485022"/>
              <a:ext cx="0" cy="336550"/>
            </a:xfrm>
            <a:custGeom>
              <a:rect b="b" l="l" r="r" t="t"/>
              <a:pathLst>
                <a:path extrusionOk="0" h="336550" w="120000">
                  <a:moveTo>
                    <a:pt x="0" y="336295"/>
                  </a:move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5" name="Google Shape;2185;p118"/>
            <p:cNvSpPr/>
            <p:nvPr/>
          </p:nvSpPr>
          <p:spPr>
            <a:xfrm>
              <a:off x="4455717" y="3219570"/>
              <a:ext cx="0" cy="250825"/>
            </a:xfrm>
            <a:custGeom>
              <a:rect b="b" l="l" r="r" t="t"/>
              <a:pathLst>
                <a:path extrusionOk="0" h="250825" w="120000">
                  <a:moveTo>
                    <a:pt x="0" y="0"/>
                  </a:moveTo>
                  <a:lnTo>
                    <a:pt x="0" y="250414"/>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6" name="Google Shape;2186;p118"/>
            <p:cNvSpPr/>
            <p:nvPr/>
          </p:nvSpPr>
          <p:spPr>
            <a:xfrm>
              <a:off x="4455717" y="3219570"/>
              <a:ext cx="0" cy="250825"/>
            </a:xfrm>
            <a:custGeom>
              <a:rect b="b" l="l" r="r" t="t"/>
              <a:pathLst>
                <a:path extrusionOk="0" h="250825" w="120000">
                  <a:moveTo>
                    <a:pt x="0" y="250415"/>
                  </a:move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187" name="Google Shape;2187;p118"/>
            <p:cNvPicPr preferRelativeResize="0"/>
            <p:nvPr/>
          </p:nvPicPr>
          <p:blipFill rotWithShape="1">
            <a:blip r:embed="rId3">
              <a:alphaModFix/>
            </a:blip>
            <a:srcRect b="0" l="0" r="0" t="0"/>
            <a:stretch/>
          </p:blipFill>
          <p:spPr>
            <a:xfrm>
              <a:off x="4326466" y="2463800"/>
              <a:ext cx="262466" cy="508000"/>
            </a:xfrm>
            <a:prstGeom prst="rect">
              <a:avLst/>
            </a:prstGeom>
            <a:noFill/>
            <a:ln>
              <a:noFill/>
            </a:ln>
          </p:spPr>
        </p:pic>
        <p:sp>
          <p:nvSpPr>
            <p:cNvPr id="2188" name="Google Shape;2188;p118"/>
            <p:cNvSpPr/>
            <p:nvPr/>
          </p:nvSpPr>
          <p:spPr>
            <a:xfrm>
              <a:off x="4412854" y="2485022"/>
              <a:ext cx="85725" cy="336550"/>
            </a:xfrm>
            <a:custGeom>
              <a:rect b="b" l="l" r="r" t="t"/>
              <a:pathLst>
                <a:path extrusionOk="0" h="336550" w="85725">
                  <a:moveTo>
                    <a:pt x="28575" y="250569"/>
                  </a:moveTo>
                  <a:lnTo>
                    <a:pt x="0" y="250569"/>
                  </a:lnTo>
                  <a:lnTo>
                    <a:pt x="42863" y="336294"/>
                  </a:lnTo>
                  <a:lnTo>
                    <a:pt x="78581" y="264857"/>
                  </a:lnTo>
                  <a:lnTo>
                    <a:pt x="28575" y="264857"/>
                  </a:lnTo>
                  <a:lnTo>
                    <a:pt x="28575" y="250569"/>
                  </a:lnTo>
                  <a:close/>
                </a:path>
                <a:path extrusionOk="0" h="336550" w="85725">
                  <a:moveTo>
                    <a:pt x="57150" y="0"/>
                  </a:moveTo>
                  <a:lnTo>
                    <a:pt x="28575" y="0"/>
                  </a:lnTo>
                  <a:lnTo>
                    <a:pt x="28575" y="264857"/>
                  </a:lnTo>
                  <a:lnTo>
                    <a:pt x="57150" y="264857"/>
                  </a:lnTo>
                  <a:lnTo>
                    <a:pt x="57150" y="0"/>
                  </a:lnTo>
                  <a:close/>
                </a:path>
                <a:path extrusionOk="0" h="336550" w="85725">
                  <a:moveTo>
                    <a:pt x="85725" y="250569"/>
                  </a:moveTo>
                  <a:lnTo>
                    <a:pt x="57150" y="250569"/>
                  </a:lnTo>
                  <a:lnTo>
                    <a:pt x="57150" y="264857"/>
                  </a:lnTo>
                  <a:lnTo>
                    <a:pt x="78581" y="264857"/>
                  </a:lnTo>
                  <a:lnTo>
                    <a:pt x="85725" y="25056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89" name="Google Shape;2189;p118"/>
          <p:cNvSpPr txBox="1"/>
          <p:nvPr/>
        </p:nvSpPr>
        <p:spPr>
          <a:xfrm>
            <a:off x="5616689" y="3469986"/>
            <a:ext cx="726440" cy="237243"/>
          </a:xfrm>
          <a:prstGeom prst="rect">
            <a:avLst/>
          </a:prstGeom>
          <a:solidFill>
            <a:srgbClr val="F2DCDB"/>
          </a:solidFill>
          <a:ln cap="flat" cmpd="sng" w="9525">
            <a:solidFill>
              <a:srgbClr val="000000"/>
            </a:solidFill>
            <a:prstDash val="solid"/>
            <a:round/>
            <a:headEnd len="sm" w="sm" type="none"/>
            <a:tailEnd len="sm" w="sm" type="none"/>
          </a:ln>
        </p:spPr>
        <p:txBody>
          <a:bodyPr anchorCtr="0" anchor="t" bIns="0" lIns="0" spcFirstLastPara="1" rIns="0" wrap="square" tIns="52050">
            <a:spAutoFit/>
          </a:bodyPr>
          <a:lstStyle/>
          <a:p>
            <a:pPr indent="0" lvl="0" marL="193675" marR="0" rtl="0" algn="l">
              <a:spcBef>
                <a:spcPts val="0"/>
              </a:spcBef>
              <a:spcAft>
                <a:spcPts val="0"/>
              </a:spcAft>
              <a:buNone/>
            </a:pPr>
            <a:r>
              <a:rPr lang="en-US" sz="1200">
                <a:solidFill>
                  <a:schemeClr val="dk1"/>
                </a:solidFill>
                <a:latin typeface="Calibri"/>
                <a:ea typeface="Calibri"/>
                <a:cs typeface="Calibri"/>
                <a:sym typeface="Calibri"/>
              </a:rPr>
              <a:t>Cities</a:t>
            </a:r>
            <a:endParaRPr sz="1200">
              <a:solidFill>
                <a:schemeClr val="dk1"/>
              </a:solidFill>
              <a:latin typeface="Calibri"/>
              <a:ea typeface="Calibri"/>
              <a:cs typeface="Calibri"/>
              <a:sym typeface="Calibri"/>
            </a:endParaRPr>
          </a:p>
        </p:txBody>
      </p:sp>
      <p:sp>
        <p:nvSpPr>
          <p:cNvPr id="2190" name="Google Shape;2190;p118"/>
          <p:cNvSpPr txBox="1"/>
          <p:nvPr/>
        </p:nvSpPr>
        <p:spPr>
          <a:xfrm>
            <a:off x="5598336" y="1612899"/>
            <a:ext cx="762000"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u="sng">
                <a:solidFill>
                  <a:schemeClr val="dk1"/>
                </a:solidFill>
                <a:latin typeface="Calibri"/>
                <a:ea typeface="Calibri"/>
                <a:cs typeface="Calibri"/>
                <a:sym typeface="Calibri"/>
              </a:rPr>
              <a:t>Team Nam</a:t>
            </a:r>
            <a:r>
              <a:rPr lang="en-US" sz="1200">
                <a:solidFill>
                  <a:schemeClr val="dk1"/>
                </a:solidFill>
                <a:latin typeface="Calibri"/>
                <a:ea typeface="Calibri"/>
                <a:cs typeface="Calibri"/>
                <a:sym typeface="Calibri"/>
              </a:rPr>
              <a:t>e</a:t>
            </a:r>
            <a:endParaRPr/>
          </a:p>
        </p:txBody>
      </p:sp>
      <p:grpSp>
        <p:nvGrpSpPr>
          <p:cNvPr id="2191" name="Google Shape;2191;p118"/>
          <p:cNvGrpSpPr/>
          <p:nvPr/>
        </p:nvGrpSpPr>
        <p:grpSpPr>
          <a:xfrm>
            <a:off x="5548622" y="4029698"/>
            <a:ext cx="862330" cy="398780"/>
            <a:chOff x="4024621" y="4029697"/>
            <a:chExt cx="862330" cy="398780"/>
          </a:xfrm>
        </p:grpSpPr>
        <p:sp>
          <p:nvSpPr>
            <p:cNvPr id="2192" name="Google Shape;2192;p118"/>
            <p:cNvSpPr/>
            <p:nvPr/>
          </p:nvSpPr>
          <p:spPr>
            <a:xfrm>
              <a:off x="4024621" y="4029697"/>
              <a:ext cx="862330" cy="398780"/>
            </a:xfrm>
            <a:custGeom>
              <a:rect b="b" l="l" r="r" t="t"/>
              <a:pathLst>
                <a:path extrusionOk="0" h="398779" w="862329">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3" name="Google Shape;2193;p118"/>
            <p:cNvSpPr/>
            <p:nvPr/>
          </p:nvSpPr>
          <p:spPr>
            <a:xfrm>
              <a:off x="4024621" y="4029697"/>
              <a:ext cx="862330" cy="398780"/>
            </a:xfrm>
            <a:custGeom>
              <a:rect b="b" l="l" r="r" t="t"/>
              <a:pathLst>
                <a:path extrusionOk="0" h="398779" w="86232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94" name="Google Shape;2194;p118"/>
          <p:cNvSpPr txBox="1"/>
          <p:nvPr/>
        </p:nvSpPr>
        <p:spPr>
          <a:xfrm>
            <a:off x="5782073" y="4119032"/>
            <a:ext cx="394970"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u="sng">
                <a:solidFill>
                  <a:schemeClr val="dk1"/>
                </a:solidFill>
                <a:latin typeface="Calibri"/>
                <a:ea typeface="Calibri"/>
                <a:cs typeface="Calibri"/>
                <a:sym typeface="Calibri"/>
              </a:rPr>
              <a:t>Name</a:t>
            </a:r>
            <a:endParaRPr sz="1200">
              <a:solidFill>
                <a:schemeClr val="dk1"/>
              </a:solidFill>
              <a:latin typeface="Calibri"/>
              <a:ea typeface="Calibri"/>
              <a:cs typeface="Calibri"/>
              <a:sym typeface="Calibri"/>
            </a:endParaRPr>
          </a:p>
        </p:txBody>
      </p:sp>
      <p:grpSp>
        <p:nvGrpSpPr>
          <p:cNvPr id="2195" name="Google Shape;2195;p118"/>
          <p:cNvGrpSpPr/>
          <p:nvPr/>
        </p:nvGrpSpPr>
        <p:grpSpPr>
          <a:xfrm>
            <a:off x="5979718" y="3779738"/>
            <a:ext cx="0" cy="250190"/>
            <a:chOff x="4455717" y="3779738"/>
            <a:chExt cx="0" cy="250190"/>
          </a:xfrm>
        </p:grpSpPr>
        <p:sp>
          <p:nvSpPr>
            <p:cNvPr id="2196" name="Google Shape;2196;p118"/>
            <p:cNvSpPr/>
            <p:nvPr/>
          </p:nvSpPr>
          <p:spPr>
            <a:xfrm>
              <a:off x="4455717" y="3779738"/>
              <a:ext cx="0" cy="250190"/>
            </a:xfrm>
            <a:custGeom>
              <a:rect b="b" l="l" r="r" t="t"/>
              <a:pathLst>
                <a:path extrusionOk="0" h="250189" w="120000">
                  <a:moveTo>
                    <a:pt x="0" y="0"/>
                  </a:moveTo>
                  <a:lnTo>
                    <a:pt x="0" y="249958"/>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7" name="Google Shape;2197;p118"/>
            <p:cNvSpPr/>
            <p:nvPr/>
          </p:nvSpPr>
          <p:spPr>
            <a:xfrm>
              <a:off x="4455717" y="3779738"/>
              <a:ext cx="0" cy="250190"/>
            </a:xfrm>
            <a:custGeom>
              <a:rect b="b" l="l" r="r" t="t"/>
              <a:pathLst>
                <a:path extrusionOk="0" h="250189" w="120000">
                  <a:moveTo>
                    <a:pt x="0" y="249959"/>
                  </a:move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98" name="Google Shape;2198;p118"/>
          <p:cNvGrpSpPr/>
          <p:nvPr/>
        </p:nvGrpSpPr>
        <p:grpSpPr>
          <a:xfrm>
            <a:off x="3400258" y="2315057"/>
            <a:ext cx="726440" cy="309880"/>
            <a:chOff x="1876257" y="2315056"/>
            <a:chExt cx="726440" cy="309880"/>
          </a:xfrm>
        </p:grpSpPr>
        <p:sp>
          <p:nvSpPr>
            <p:cNvPr id="2199" name="Google Shape;2199;p118"/>
            <p:cNvSpPr/>
            <p:nvPr/>
          </p:nvSpPr>
          <p:spPr>
            <a:xfrm>
              <a:off x="1876257" y="2315056"/>
              <a:ext cx="726440" cy="309880"/>
            </a:xfrm>
            <a:custGeom>
              <a:rect b="b" l="l" r="r" t="t"/>
              <a:pathLst>
                <a:path extrusionOk="0" h="309880" w="726439">
                  <a:moveTo>
                    <a:pt x="726056" y="0"/>
                  </a:moveTo>
                  <a:lnTo>
                    <a:pt x="0" y="0"/>
                  </a:lnTo>
                  <a:lnTo>
                    <a:pt x="0" y="309752"/>
                  </a:lnTo>
                  <a:lnTo>
                    <a:pt x="726056" y="309752"/>
                  </a:lnTo>
                  <a:lnTo>
                    <a:pt x="726056" y="0"/>
                  </a:lnTo>
                  <a:close/>
                </a:path>
              </a:pathLst>
            </a:custGeom>
            <a:solidFill>
              <a:srgbClr val="F2DCD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0" name="Google Shape;2200;p118"/>
            <p:cNvSpPr/>
            <p:nvPr/>
          </p:nvSpPr>
          <p:spPr>
            <a:xfrm>
              <a:off x="1876257" y="2315056"/>
              <a:ext cx="726440" cy="309880"/>
            </a:xfrm>
            <a:custGeom>
              <a:rect b="b" l="l" r="r" t="t"/>
              <a:pathLst>
                <a:path extrusionOk="0" h="309880" w="726439">
                  <a:moveTo>
                    <a:pt x="0" y="0"/>
                  </a:moveTo>
                  <a:lnTo>
                    <a:pt x="726057" y="0"/>
                  </a:lnTo>
                  <a:lnTo>
                    <a:pt x="726057" y="309753"/>
                  </a:lnTo>
                  <a:lnTo>
                    <a:pt x="0" y="309753"/>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01" name="Google Shape;2201;p118"/>
          <p:cNvSpPr txBox="1"/>
          <p:nvPr/>
        </p:nvSpPr>
        <p:spPr>
          <a:xfrm>
            <a:off x="3531986" y="2357966"/>
            <a:ext cx="462280"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a:solidFill>
                  <a:schemeClr val="dk1"/>
                </a:solidFill>
                <a:latin typeface="Calibri"/>
                <a:ea typeface="Calibri"/>
                <a:cs typeface="Calibri"/>
                <a:sym typeface="Calibri"/>
              </a:rPr>
              <a:t>Players</a:t>
            </a:r>
            <a:endParaRPr sz="1200">
              <a:solidFill>
                <a:schemeClr val="dk1"/>
              </a:solidFill>
              <a:latin typeface="Calibri"/>
              <a:ea typeface="Calibri"/>
              <a:cs typeface="Calibri"/>
              <a:sym typeface="Calibri"/>
            </a:endParaRPr>
          </a:p>
        </p:txBody>
      </p:sp>
      <p:grpSp>
        <p:nvGrpSpPr>
          <p:cNvPr id="2202" name="Google Shape;2202;p118"/>
          <p:cNvGrpSpPr/>
          <p:nvPr/>
        </p:nvGrpSpPr>
        <p:grpSpPr>
          <a:xfrm>
            <a:off x="2836363" y="1619205"/>
            <a:ext cx="862330" cy="398780"/>
            <a:chOff x="1312362" y="1619204"/>
            <a:chExt cx="862330" cy="398780"/>
          </a:xfrm>
        </p:grpSpPr>
        <p:sp>
          <p:nvSpPr>
            <p:cNvPr id="2203" name="Google Shape;2203;p118"/>
            <p:cNvSpPr/>
            <p:nvPr/>
          </p:nvSpPr>
          <p:spPr>
            <a:xfrm>
              <a:off x="1312362" y="1619204"/>
              <a:ext cx="862330" cy="398780"/>
            </a:xfrm>
            <a:custGeom>
              <a:rect b="b" l="l" r="r" t="t"/>
              <a:pathLst>
                <a:path extrusionOk="0" h="398780" w="862330">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4" name="Google Shape;2204;p118"/>
            <p:cNvSpPr/>
            <p:nvPr/>
          </p:nvSpPr>
          <p:spPr>
            <a:xfrm>
              <a:off x="1312362" y="1619204"/>
              <a:ext cx="862330" cy="398780"/>
            </a:xfrm>
            <a:custGeom>
              <a:rect b="b" l="l" r="r" t="t"/>
              <a:pathLst>
                <a:path extrusionOk="0" h="398780" w="86233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05" name="Google Shape;2205;p118"/>
          <p:cNvSpPr txBox="1"/>
          <p:nvPr/>
        </p:nvSpPr>
        <p:spPr>
          <a:xfrm>
            <a:off x="3079339" y="1706032"/>
            <a:ext cx="375920"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a:solidFill>
                  <a:schemeClr val="dk1"/>
                </a:solidFill>
                <a:latin typeface="Calibri"/>
                <a:ea typeface="Calibri"/>
                <a:cs typeface="Calibri"/>
                <a:sym typeface="Calibri"/>
              </a:rPr>
              <a:t>name</a:t>
            </a:r>
            <a:endParaRPr/>
          </a:p>
        </p:txBody>
      </p:sp>
      <p:grpSp>
        <p:nvGrpSpPr>
          <p:cNvPr id="2206" name="Google Shape;2206;p118"/>
          <p:cNvGrpSpPr/>
          <p:nvPr/>
        </p:nvGrpSpPr>
        <p:grpSpPr>
          <a:xfrm>
            <a:off x="3282763" y="2008418"/>
            <a:ext cx="2103917" cy="565632"/>
            <a:chOff x="1758763" y="2008417"/>
            <a:chExt cx="2103917" cy="565632"/>
          </a:xfrm>
        </p:grpSpPr>
        <p:sp>
          <p:nvSpPr>
            <p:cNvPr id="2207" name="Google Shape;2207;p118"/>
            <p:cNvSpPr/>
            <p:nvPr/>
          </p:nvSpPr>
          <p:spPr>
            <a:xfrm>
              <a:off x="1758763" y="2008417"/>
              <a:ext cx="495934" cy="297815"/>
            </a:xfrm>
            <a:custGeom>
              <a:rect b="b" l="l" r="r" t="t"/>
              <a:pathLst>
                <a:path extrusionOk="0" h="297814" w="495935">
                  <a:moveTo>
                    <a:pt x="0" y="0"/>
                  </a:moveTo>
                  <a:lnTo>
                    <a:pt x="495827" y="297600"/>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8" name="Google Shape;2208;p118"/>
            <p:cNvSpPr/>
            <p:nvPr/>
          </p:nvSpPr>
          <p:spPr>
            <a:xfrm>
              <a:off x="1758763" y="2008417"/>
              <a:ext cx="495934" cy="297815"/>
            </a:xfrm>
            <a:custGeom>
              <a:rect b="b" l="l" r="r" t="t"/>
              <a:pathLst>
                <a:path extrusionOk="0" h="297814" w="495935">
                  <a:moveTo>
                    <a:pt x="0" y="0"/>
                  </a:moveTo>
                  <a:lnTo>
                    <a:pt x="495827" y="29760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9" name="Google Shape;2209;p118"/>
            <p:cNvSpPr/>
            <p:nvPr/>
          </p:nvSpPr>
          <p:spPr>
            <a:xfrm>
              <a:off x="2915895" y="2175269"/>
              <a:ext cx="946785" cy="398780"/>
            </a:xfrm>
            <a:custGeom>
              <a:rect b="b" l="l" r="r" t="t"/>
              <a:pathLst>
                <a:path extrusionOk="0" h="398780" w="946785">
                  <a:moveTo>
                    <a:pt x="473270" y="0"/>
                  </a:moveTo>
                  <a:lnTo>
                    <a:pt x="0" y="199127"/>
                  </a:lnTo>
                  <a:lnTo>
                    <a:pt x="473270" y="398254"/>
                  </a:lnTo>
                  <a:lnTo>
                    <a:pt x="946541" y="199127"/>
                  </a:lnTo>
                  <a:lnTo>
                    <a:pt x="47327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0" name="Google Shape;2210;p118"/>
            <p:cNvSpPr/>
            <p:nvPr/>
          </p:nvSpPr>
          <p:spPr>
            <a:xfrm>
              <a:off x="2915895" y="2175269"/>
              <a:ext cx="946785" cy="398780"/>
            </a:xfrm>
            <a:custGeom>
              <a:rect b="b" l="l" r="r" t="t"/>
              <a:pathLst>
                <a:path extrusionOk="0" h="398780" w="946785">
                  <a:moveTo>
                    <a:pt x="0" y="199127"/>
                  </a:moveTo>
                  <a:lnTo>
                    <a:pt x="473270" y="0"/>
                  </a:lnTo>
                  <a:lnTo>
                    <a:pt x="946541" y="199127"/>
                  </a:lnTo>
                  <a:lnTo>
                    <a:pt x="473270" y="398254"/>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11" name="Google Shape;2211;p118"/>
          <p:cNvSpPr txBox="1"/>
          <p:nvPr/>
        </p:nvSpPr>
        <p:spPr>
          <a:xfrm>
            <a:off x="4558361" y="2264832"/>
            <a:ext cx="710565"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a:solidFill>
                  <a:schemeClr val="dk1"/>
                </a:solidFill>
                <a:latin typeface="Calibri"/>
                <a:ea typeface="Calibri"/>
                <a:cs typeface="Calibri"/>
                <a:sym typeface="Calibri"/>
              </a:rPr>
              <a:t>MemberOf</a:t>
            </a:r>
            <a:endParaRPr sz="1200">
              <a:solidFill>
                <a:schemeClr val="dk1"/>
              </a:solidFill>
              <a:latin typeface="Calibri"/>
              <a:ea typeface="Calibri"/>
              <a:cs typeface="Calibri"/>
              <a:sym typeface="Calibri"/>
            </a:endParaRPr>
          </a:p>
        </p:txBody>
      </p:sp>
      <p:grpSp>
        <p:nvGrpSpPr>
          <p:cNvPr id="2212" name="Google Shape;2212;p118"/>
          <p:cNvGrpSpPr/>
          <p:nvPr/>
        </p:nvGrpSpPr>
        <p:grpSpPr>
          <a:xfrm>
            <a:off x="3763286" y="1639399"/>
            <a:ext cx="862330" cy="398780"/>
            <a:chOff x="2239285" y="1639398"/>
            <a:chExt cx="862330" cy="398780"/>
          </a:xfrm>
        </p:grpSpPr>
        <p:sp>
          <p:nvSpPr>
            <p:cNvPr id="2213" name="Google Shape;2213;p118"/>
            <p:cNvSpPr/>
            <p:nvPr/>
          </p:nvSpPr>
          <p:spPr>
            <a:xfrm>
              <a:off x="2239285" y="1639398"/>
              <a:ext cx="862330" cy="398780"/>
            </a:xfrm>
            <a:custGeom>
              <a:rect b="b" l="l" r="r" t="t"/>
              <a:pathLst>
                <a:path extrusionOk="0" h="398780" w="862330">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0"/>
                  </a:lnTo>
                  <a:lnTo>
                    <a:pt x="0" y="199125"/>
                  </a:lnTo>
                  <a:lnTo>
                    <a:pt x="4674" y="228551"/>
                  </a:lnTo>
                  <a:lnTo>
                    <a:pt x="40067" y="283073"/>
                  </a:lnTo>
                  <a:lnTo>
                    <a:pt x="69452" y="307552"/>
                  </a:lnTo>
                  <a:lnTo>
                    <a:pt x="105740" y="329768"/>
                  </a:lnTo>
                  <a:lnTo>
                    <a:pt x="148265" y="349410"/>
                  </a:lnTo>
                  <a:lnTo>
                    <a:pt x="196359" y="366172"/>
                  </a:lnTo>
                  <a:lnTo>
                    <a:pt x="249356" y="379745"/>
                  </a:lnTo>
                  <a:lnTo>
                    <a:pt x="306590" y="389822"/>
                  </a:lnTo>
                  <a:lnTo>
                    <a:pt x="367392" y="396093"/>
                  </a:lnTo>
                  <a:lnTo>
                    <a:pt x="431096" y="398252"/>
                  </a:lnTo>
                  <a:lnTo>
                    <a:pt x="494800" y="396093"/>
                  </a:lnTo>
                  <a:lnTo>
                    <a:pt x="555602" y="389822"/>
                  </a:lnTo>
                  <a:lnTo>
                    <a:pt x="612835" y="379745"/>
                  </a:lnTo>
                  <a:lnTo>
                    <a:pt x="665832" y="366172"/>
                  </a:lnTo>
                  <a:lnTo>
                    <a:pt x="713926" y="349410"/>
                  </a:lnTo>
                  <a:lnTo>
                    <a:pt x="756451" y="329768"/>
                  </a:lnTo>
                  <a:lnTo>
                    <a:pt x="792740" y="307552"/>
                  </a:lnTo>
                  <a:lnTo>
                    <a:pt x="822125" y="283073"/>
                  </a:lnTo>
                  <a:lnTo>
                    <a:pt x="857518" y="228551"/>
                  </a:lnTo>
                  <a:lnTo>
                    <a:pt x="862192" y="199125"/>
                  </a:lnTo>
                  <a:lnTo>
                    <a:pt x="857518" y="169700"/>
                  </a:lnTo>
                  <a:lnTo>
                    <a:pt x="822125" y="115179"/>
                  </a:lnTo>
                  <a:lnTo>
                    <a:pt x="792740" y="90699"/>
                  </a:lnTo>
                  <a:lnTo>
                    <a:pt x="756451" y="68484"/>
                  </a:lnTo>
                  <a:lnTo>
                    <a:pt x="713926" y="48842"/>
                  </a:lnTo>
                  <a:lnTo>
                    <a:pt x="665832"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4" name="Google Shape;2214;p118"/>
            <p:cNvSpPr/>
            <p:nvPr/>
          </p:nvSpPr>
          <p:spPr>
            <a:xfrm>
              <a:off x="2239285" y="1639398"/>
              <a:ext cx="862330" cy="398780"/>
            </a:xfrm>
            <a:custGeom>
              <a:rect b="b" l="l" r="r" t="t"/>
              <a:pathLst>
                <a:path extrusionOk="0" h="398780" w="86233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15" name="Google Shape;2215;p118"/>
          <p:cNvSpPr txBox="1"/>
          <p:nvPr/>
        </p:nvSpPr>
        <p:spPr>
          <a:xfrm>
            <a:off x="3908601" y="1722966"/>
            <a:ext cx="572135"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u="sng">
                <a:solidFill>
                  <a:schemeClr val="dk1"/>
                </a:solidFill>
                <a:latin typeface="Calibri"/>
                <a:ea typeface="Calibri"/>
                <a:cs typeface="Calibri"/>
                <a:sym typeface="Calibri"/>
              </a:rPr>
              <a:t>Player ID</a:t>
            </a:r>
            <a:endParaRPr sz="1200">
              <a:solidFill>
                <a:schemeClr val="dk1"/>
              </a:solidFill>
              <a:latin typeface="Calibri"/>
              <a:ea typeface="Calibri"/>
              <a:cs typeface="Calibri"/>
              <a:sym typeface="Calibri"/>
            </a:endParaRPr>
          </a:p>
        </p:txBody>
      </p:sp>
      <p:grpSp>
        <p:nvGrpSpPr>
          <p:cNvPr id="2216" name="Google Shape;2216;p118"/>
          <p:cNvGrpSpPr/>
          <p:nvPr/>
        </p:nvGrpSpPr>
        <p:grpSpPr>
          <a:xfrm>
            <a:off x="2836362" y="2037652"/>
            <a:ext cx="1358090" cy="1347932"/>
            <a:chOff x="1312362" y="2037651"/>
            <a:chExt cx="1358090" cy="1347932"/>
          </a:xfrm>
        </p:grpSpPr>
        <p:sp>
          <p:nvSpPr>
            <p:cNvPr id="2217" name="Google Shape;2217;p118"/>
            <p:cNvSpPr/>
            <p:nvPr/>
          </p:nvSpPr>
          <p:spPr>
            <a:xfrm>
              <a:off x="2239286" y="2037651"/>
              <a:ext cx="431165" cy="277495"/>
            </a:xfrm>
            <a:custGeom>
              <a:rect b="b" l="l" r="r" t="t"/>
              <a:pathLst>
                <a:path extrusionOk="0" h="277494" w="431164">
                  <a:moveTo>
                    <a:pt x="431096" y="0"/>
                  </a:moveTo>
                  <a:lnTo>
                    <a:pt x="0" y="277404"/>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8" name="Google Shape;2218;p118"/>
            <p:cNvSpPr/>
            <p:nvPr/>
          </p:nvSpPr>
          <p:spPr>
            <a:xfrm>
              <a:off x="2239287" y="2037651"/>
              <a:ext cx="431165" cy="277495"/>
            </a:xfrm>
            <a:custGeom>
              <a:rect b="b" l="l" r="r" t="t"/>
              <a:pathLst>
                <a:path extrusionOk="0" h="277494" w="431164">
                  <a:moveTo>
                    <a:pt x="431096" y="0"/>
                  </a:moveTo>
                  <a:lnTo>
                    <a:pt x="0" y="277406"/>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9" name="Google Shape;2219;p118"/>
            <p:cNvSpPr/>
            <p:nvPr/>
          </p:nvSpPr>
          <p:spPr>
            <a:xfrm>
              <a:off x="1312362" y="2986803"/>
              <a:ext cx="946785" cy="398780"/>
            </a:xfrm>
            <a:custGeom>
              <a:rect b="b" l="l" r="r" t="t"/>
              <a:pathLst>
                <a:path extrusionOk="0" h="398779" w="946785">
                  <a:moveTo>
                    <a:pt x="473270" y="0"/>
                  </a:moveTo>
                  <a:lnTo>
                    <a:pt x="0" y="199127"/>
                  </a:lnTo>
                  <a:lnTo>
                    <a:pt x="473270" y="398254"/>
                  </a:lnTo>
                  <a:lnTo>
                    <a:pt x="946541" y="199127"/>
                  </a:lnTo>
                  <a:lnTo>
                    <a:pt x="47327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0" name="Google Shape;2220;p118"/>
            <p:cNvSpPr/>
            <p:nvPr/>
          </p:nvSpPr>
          <p:spPr>
            <a:xfrm>
              <a:off x="1312362" y="2986803"/>
              <a:ext cx="946785" cy="398780"/>
            </a:xfrm>
            <a:custGeom>
              <a:rect b="b" l="l" r="r" t="t"/>
              <a:pathLst>
                <a:path extrusionOk="0" h="398779" w="946785">
                  <a:moveTo>
                    <a:pt x="0" y="199127"/>
                  </a:moveTo>
                  <a:lnTo>
                    <a:pt x="473270" y="0"/>
                  </a:lnTo>
                  <a:lnTo>
                    <a:pt x="946541" y="199127"/>
                  </a:lnTo>
                  <a:lnTo>
                    <a:pt x="473270" y="398254"/>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21" name="Google Shape;2221;p118"/>
          <p:cNvSpPr txBox="1"/>
          <p:nvPr/>
        </p:nvSpPr>
        <p:spPr>
          <a:xfrm>
            <a:off x="2891802" y="3069166"/>
            <a:ext cx="836930"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a:solidFill>
                  <a:schemeClr val="dk1"/>
                </a:solidFill>
                <a:latin typeface="Calibri"/>
                <a:ea typeface="Calibri"/>
                <a:cs typeface="Calibri"/>
                <a:sym typeface="Calibri"/>
              </a:rPr>
              <a:t>PlaysPosition</a:t>
            </a:r>
            <a:endParaRPr/>
          </a:p>
        </p:txBody>
      </p:sp>
      <p:grpSp>
        <p:nvGrpSpPr>
          <p:cNvPr id="2222" name="Google Shape;2222;p118"/>
          <p:cNvGrpSpPr/>
          <p:nvPr/>
        </p:nvGrpSpPr>
        <p:grpSpPr>
          <a:xfrm>
            <a:off x="1573133" y="4765560"/>
            <a:ext cx="2581392" cy="309880"/>
            <a:chOff x="350651" y="4765559"/>
            <a:chExt cx="1888841" cy="309880"/>
          </a:xfrm>
        </p:grpSpPr>
        <p:sp>
          <p:nvSpPr>
            <p:cNvPr id="2223" name="Google Shape;2223;p118"/>
            <p:cNvSpPr/>
            <p:nvPr/>
          </p:nvSpPr>
          <p:spPr>
            <a:xfrm>
              <a:off x="350651" y="4765559"/>
              <a:ext cx="826135" cy="309880"/>
            </a:xfrm>
            <a:custGeom>
              <a:rect b="b" l="l" r="r" t="t"/>
              <a:pathLst>
                <a:path extrusionOk="0" h="309879" w="826135">
                  <a:moveTo>
                    <a:pt x="826091" y="0"/>
                  </a:moveTo>
                  <a:lnTo>
                    <a:pt x="0" y="0"/>
                  </a:lnTo>
                  <a:lnTo>
                    <a:pt x="0" y="309752"/>
                  </a:lnTo>
                  <a:lnTo>
                    <a:pt x="826091" y="309752"/>
                  </a:lnTo>
                  <a:lnTo>
                    <a:pt x="826091" y="0"/>
                  </a:lnTo>
                  <a:close/>
                </a:path>
              </a:pathLst>
            </a:custGeom>
            <a:solidFill>
              <a:srgbClr val="F2DCD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4" name="Google Shape;2224;p118"/>
            <p:cNvSpPr/>
            <p:nvPr/>
          </p:nvSpPr>
          <p:spPr>
            <a:xfrm>
              <a:off x="350651" y="4765559"/>
              <a:ext cx="826135" cy="309880"/>
            </a:xfrm>
            <a:custGeom>
              <a:rect b="b" l="l" r="r" t="t"/>
              <a:pathLst>
                <a:path extrusionOk="0" h="309879" w="826135">
                  <a:moveTo>
                    <a:pt x="0" y="0"/>
                  </a:moveTo>
                  <a:lnTo>
                    <a:pt x="826092" y="0"/>
                  </a:lnTo>
                  <a:lnTo>
                    <a:pt x="826092" y="309753"/>
                  </a:lnTo>
                  <a:lnTo>
                    <a:pt x="0" y="309753"/>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5" name="Google Shape;2225;p118"/>
            <p:cNvSpPr/>
            <p:nvPr/>
          </p:nvSpPr>
          <p:spPr>
            <a:xfrm>
              <a:off x="1356207" y="4765559"/>
              <a:ext cx="883285" cy="309880"/>
            </a:xfrm>
            <a:custGeom>
              <a:rect b="b" l="l" r="r" t="t"/>
              <a:pathLst>
                <a:path extrusionOk="0" h="309879" w="883285">
                  <a:moveTo>
                    <a:pt x="883077" y="0"/>
                  </a:moveTo>
                  <a:lnTo>
                    <a:pt x="0" y="0"/>
                  </a:lnTo>
                  <a:lnTo>
                    <a:pt x="0" y="309752"/>
                  </a:lnTo>
                  <a:lnTo>
                    <a:pt x="883077" y="309752"/>
                  </a:lnTo>
                  <a:lnTo>
                    <a:pt x="883077" y="0"/>
                  </a:lnTo>
                  <a:close/>
                </a:path>
              </a:pathLst>
            </a:custGeom>
            <a:solidFill>
              <a:srgbClr val="F2DCD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6" name="Google Shape;2226;p118"/>
            <p:cNvSpPr/>
            <p:nvPr/>
          </p:nvSpPr>
          <p:spPr>
            <a:xfrm>
              <a:off x="1356207" y="4765559"/>
              <a:ext cx="883285" cy="309880"/>
            </a:xfrm>
            <a:custGeom>
              <a:rect b="b" l="l" r="r" t="t"/>
              <a:pathLst>
                <a:path extrusionOk="0" h="309879" w="883285">
                  <a:moveTo>
                    <a:pt x="0" y="0"/>
                  </a:moveTo>
                  <a:lnTo>
                    <a:pt x="883078" y="0"/>
                  </a:lnTo>
                  <a:lnTo>
                    <a:pt x="883078" y="309753"/>
                  </a:lnTo>
                  <a:lnTo>
                    <a:pt x="0" y="309753"/>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27" name="Google Shape;2227;p118"/>
          <p:cNvSpPr txBox="1"/>
          <p:nvPr/>
        </p:nvSpPr>
        <p:spPr>
          <a:xfrm>
            <a:off x="1609070" y="4801287"/>
            <a:ext cx="2682273"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a:solidFill>
                  <a:schemeClr val="dk1"/>
                </a:solidFill>
                <a:latin typeface="Calibri"/>
                <a:ea typeface="Calibri"/>
                <a:cs typeface="Calibri"/>
                <a:sym typeface="Calibri"/>
              </a:rPr>
              <a:t>OffensePosition           DefensePosition</a:t>
            </a:r>
            <a:endParaRPr sz="1200">
              <a:solidFill>
                <a:schemeClr val="dk1"/>
              </a:solidFill>
              <a:latin typeface="Calibri"/>
              <a:ea typeface="Calibri"/>
              <a:cs typeface="Calibri"/>
              <a:sym typeface="Calibri"/>
            </a:endParaRPr>
          </a:p>
        </p:txBody>
      </p:sp>
      <p:sp>
        <p:nvSpPr>
          <p:cNvPr id="2228" name="Google Shape;2228;p118"/>
          <p:cNvSpPr txBox="1"/>
          <p:nvPr/>
        </p:nvSpPr>
        <p:spPr>
          <a:xfrm>
            <a:off x="2417144" y="3529606"/>
            <a:ext cx="726440" cy="236603"/>
          </a:xfrm>
          <a:prstGeom prst="rect">
            <a:avLst/>
          </a:prstGeom>
          <a:solidFill>
            <a:srgbClr val="F2DCDB"/>
          </a:solidFill>
          <a:ln cap="flat" cmpd="sng" w="9525">
            <a:solidFill>
              <a:srgbClr val="000000"/>
            </a:solidFill>
            <a:prstDash val="solid"/>
            <a:round/>
            <a:headEnd len="sm" w="sm" type="none"/>
            <a:tailEnd len="sm" w="sm" type="none"/>
          </a:ln>
        </p:spPr>
        <p:txBody>
          <a:bodyPr anchorCtr="0" anchor="t" bIns="0" lIns="0" spcFirstLastPara="1" rIns="0" wrap="square" tIns="51425">
            <a:spAutoFit/>
          </a:bodyPr>
          <a:lstStyle/>
          <a:p>
            <a:pPr indent="0" lvl="0" marL="113664" marR="0" rtl="0" algn="l">
              <a:spcBef>
                <a:spcPts val="0"/>
              </a:spcBef>
              <a:spcAft>
                <a:spcPts val="0"/>
              </a:spcAft>
              <a:buNone/>
            </a:pPr>
            <a:r>
              <a:rPr lang="en-US" sz="1200">
                <a:solidFill>
                  <a:schemeClr val="dk1"/>
                </a:solidFill>
                <a:latin typeface="Calibri"/>
                <a:ea typeface="Calibri"/>
                <a:cs typeface="Calibri"/>
                <a:sym typeface="Calibri"/>
              </a:rPr>
              <a:t>Position</a:t>
            </a:r>
            <a:endParaRPr sz="1200">
              <a:solidFill>
                <a:schemeClr val="dk1"/>
              </a:solidFill>
              <a:latin typeface="Calibri"/>
              <a:ea typeface="Calibri"/>
              <a:cs typeface="Calibri"/>
              <a:sym typeface="Calibri"/>
            </a:endParaRPr>
          </a:p>
        </p:txBody>
      </p:sp>
      <p:grpSp>
        <p:nvGrpSpPr>
          <p:cNvPr id="2229" name="Google Shape;2229;p118"/>
          <p:cNvGrpSpPr/>
          <p:nvPr/>
        </p:nvGrpSpPr>
        <p:grpSpPr>
          <a:xfrm>
            <a:off x="2558200" y="4049860"/>
            <a:ext cx="444500" cy="375920"/>
            <a:chOff x="1034199" y="4049859"/>
            <a:chExt cx="444500" cy="375920"/>
          </a:xfrm>
        </p:grpSpPr>
        <p:sp>
          <p:nvSpPr>
            <p:cNvPr id="2230" name="Google Shape;2230;p118"/>
            <p:cNvSpPr/>
            <p:nvPr/>
          </p:nvSpPr>
          <p:spPr>
            <a:xfrm>
              <a:off x="1034199" y="4049859"/>
              <a:ext cx="444500" cy="375920"/>
            </a:xfrm>
            <a:custGeom>
              <a:rect b="b" l="l" r="r" t="t"/>
              <a:pathLst>
                <a:path extrusionOk="0" h="375920" w="444500">
                  <a:moveTo>
                    <a:pt x="221974" y="0"/>
                  </a:moveTo>
                  <a:lnTo>
                    <a:pt x="0" y="375505"/>
                  </a:lnTo>
                  <a:lnTo>
                    <a:pt x="443947" y="375505"/>
                  </a:lnTo>
                  <a:lnTo>
                    <a:pt x="221974" y="0"/>
                  </a:lnTo>
                  <a:close/>
                </a:path>
              </a:pathLst>
            </a:custGeom>
            <a:solidFill>
              <a:srgbClr val="00B0F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1" name="Google Shape;2231;p118"/>
            <p:cNvSpPr/>
            <p:nvPr/>
          </p:nvSpPr>
          <p:spPr>
            <a:xfrm>
              <a:off x="1034199" y="4049859"/>
              <a:ext cx="444500" cy="375920"/>
            </a:xfrm>
            <a:custGeom>
              <a:rect b="b" l="l" r="r" t="t"/>
              <a:pathLst>
                <a:path extrusionOk="0" h="375920" w="444500">
                  <a:moveTo>
                    <a:pt x="0" y="375506"/>
                  </a:moveTo>
                  <a:lnTo>
                    <a:pt x="221974" y="0"/>
                  </a:lnTo>
                  <a:lnTo>
                    <a:pt x="443948" y="375506"/>
                  </a:lnTo>
                  <a:lnTo>
                    <a:pt x="0" y="375506"/>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32" name="Google Shape;2232;p118"/>
          <p:cNvSpPr txBox="1"/>
          <p:nvPr/>
        </p:nvSpPr>
        <p:spPr>
          <a:xfrm>
            <a:off x="2683337" y="4220632"/>
            <a:ext cx="193675"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a:solidFill>
                  <a:schemeClr val="dk1"/>
                </a:solidFill>
                <a:latin typeface="Calibri"/>
                <a:ea typeface="Calibri"/>
                <a:cs typeface="Calibri"/>
                <a:sym typeface="Calibri"/>
              </a:rPr>
              <a:t>isa</a:t>
            </a:r>
            <a:endParaRPr/>
          </a:p>
        </p:txBody>
      </p:sp>
      <p:grpSp>
        <p:nvGrpSpPr>
          <p:cNvPr id="2233" name="Google Shape;2233;p118"/>
          <p:cNvGrpSpPr/>
          <p:nvPr/>
        </p:nvGrpSpPr>
        <p:grpSpPr>
          <a:xfrm>
            <a:off x="2179294" y="2260600"/>
            <a:ext cx="3437647" cy="3210951"/>
            <a:chOff x="655293" y="2260600"/>
            <a:chExt cx="3437647" cy="3210951"/>
          </a:xfrm>
        </p:grpSpPr>
        <p:sp>
          <p:nvSpPr>
            <p:cNvPr id="2234" name="Google Shape;2234;p118"/>
            <p:cNvSpPr/>
            <p:nvPr/>
          </p:nvSpPr>
          <p:spPr>
            <a:xfrm>
              <a:off x="1256174" y="3385058"/>
              <a:ext cx="529590" cy="144780"/>
            </a:xfrm>
            <a:custGeom>
              <a:rect b="b" l="l" r="r" t="t"/>
              <a:pathLst>
                <a:path extrusionOk="0" h="144779" w="529589">
                  <a:moveTo>
                    <a:pt x="529458" y="0"/>
                  </a:moveTo>
                  <a:lnTo>
                    <a:pt x="0" y="144547"/>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5" name="Google Shape;2235;p118"/>
            <p:cNvSpPr/>
            <p:nvPr/>
          </p:nvSpPr>
          <p:spPr>
            <a:xfrm>
              <a:off x="1256173" y="3385058"/>
              <a:ext cx="529590" cy="144780"/>
            </a:xfrm>
            <a:custGeom>
              <a:rect b="b" l="l" r="r" t="t"/>
              <a:pathLst>
                <a:path extrusionOk="0" h="144779" w="529589">
                  <a:moveTo>
                    <a:pt x="529459" y="0"/>
                  </a:moveTo>
                  <a:lnTo>
                    <a:pt x="0" y="144548"/>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236" name="Google Shape;2236;p118"/>
            <p:cNvPicPr preferRelativeResize="0"/>
            <p:nvPr/>
          </p:nvPicPr>
          <p:blipFill rotWithShape="1">
            <a:blip r:embed="rId4">
              <a:alphaModFix/>
            </a:blip>
            <a:srcRect b="0" l="0" r="0" t="0"/>
            <a:stretch/>
          </p:blipFill>
          <p:spPr>
            <a:xfrm>
              <a:off x="1676400" y="2590799"/>
              <a:ext cx="635000" cy="550333"/>
            </a:xfrm>
            <a:prstGeom prst="rect">
              <a:avLst/>
            </a:prstGeom>
            <a:noFill/>
            <a:ln>
              <a:noFill/>
            </a:ln>
          </p:spPr>
        </p:pic>
        <p:sp>
          <p:nvSpPr>
            <p:cNvPr id="2237" name="Google Shape;2237;p118"/>
            <p:cNvSpPr/>
            <p:nvPr/>
          </p:nvSpPr>
          <p:spPr>
            <a:xfrm>
              <a:off x="1805250" y="2613640"/>
              <a:ext cx="462915" cy="373380"/>
            </a:xfrm>
            <a:custGeom>
              <a:rect b="b" l="l" r="r" t="t"/>
              <a:pathLst>
                <a:path extrusionOk="0" h="373380" w="462914">
                  <a:moveTo>
                    <a:pt x="40272" y="286190"/>
                  </a:moveTo>
                  <a:lnTo>
                    <a:pt x="0" y="373161"/>
                  </a:lnTo>
                  <a:lnTo>
                    <a:pt x="93741" y="353197"/>
                  </a:lnTo>
                  <a:lnTo>
                    <a:pt x="83029" y="339773"/>
                  </a:lnTo>
                  <a:lnTo>
                    <a:pt x="64750" y="339773"/>
                  </a:lnTo>
                  <a:lnTo>
                    <a:pt x="46927" y="317437"/>
                  </a:lnTo>
                  <a:lnTo>
                    <a:pt x="58095" y="308526"/>
                  </a:lnTo>
                  <a:lnTo>
                    <a:pt x="40272" y="286190"/>
                  </a:lnTo>
                  <a:close/>
                </a:path>
                <a:path extrusionOk="0" h="373380" w="462914">
                  <a:moveTo>
                    <a:pt x="58095" y="308526"/>
                  </a:moveTo>
                  <a:lnTo>
                    <a:pt x="46927" y="317437"/>
                  </a:lnTo>
                  <a:lnTo>
                    <a:pt x="64750" y="339773"/>
                  </a:lnTo>
                  <a:lnTo>
                    <a:pt x="75918" y="330861"/>
                  </a:lnTo>
                  <a:lnTo>
                    <a:pt x="58095" y="308526"/>
                  </a:lnTo>
                  <a:close/>
                </a:path>
                <a:path extrusionOk="0" h="373380" w="462914">
                  <a:moveTo>
                    <a:pt x="75918" y="330861"/>
                  </a:moveTo>
                  <a:lnTo>
                    <a:pt x="64750" y="339773"/>
                  </a:lnTo>
                  <a:lnTo>
                    <a:pt x="83029" y="339773"/>
                  </a:lnTo>
                  <a:lnTo>
                    <a:pt x="75918" y="330861"/>
                  </a:lnTo>
                  <a:close/>
                </a:path>
                <a:path extrusionOk="0" h="373380" w="462914">
                  <a:moveTo>
                    <a:pt x="444742" y="0"/>
                  </a:moveTo>
                  <a:lnTo>
                    <a:pt x="58095" y="308526"/>
                  </a:lnTo>
                  <a:lnTo>
                    <a:pt x="75918" y="330861"/>
                  </a:lnTo>
                  <a:lnTo>
                    <a:pt x="462564" y="22335"/>
                  </a:lnTo>
                  <a:lnTo>
                    <a:pt x="444742"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238" name="Google Shape;2238;p118"/>
            <p:cNvPicPr preferRelativeResize="0"/>
            <p:nvPr/>
          </p:nvPicPr>
          <p:blipFill rotWithShape="1">
            <a:blip r:embed="rId5">
              <a:alphaModFix/>
            </a:blip>
            <a:srcRect b="0" l="0" r="0" t="0"/>
            <a:stretch/>
          </p:blipFill>
          <p:spPr>
            <a:xfrm>
              <a:off x="2565400" y="2260600"/>
              <a:ext cx="482600" cy="287866"/>
            </a:xfrm>
            <a:prstGeom prst="rect">
              <a:avLst/>
            </a:prstGeom>
            <a:noFill/>
            <a:ln>
              <a:noFill/>
            </a:ln>
          </p:spPr>
        </p:pic>
        <p:sp>
          <p:nvSpPr>
            <p:cNvPr id="2239" name="Google Shape;2239;p118"/>
            <p:cNvSpPr/>
            <p:nvPr/>
          </p:nvSpPr>
          <p:spPr>
            <a:xfrm>
              <a:off x="2613300" y="2359440"/>
              <a:ext cx="302895" cy="123189"/>
            </a:xfrm>
            <a:custGeom>
              <a:rect b="b" l="l" r="r" t="t"/>
              <a:pathLst>
                <a:path extrusionOk="0" h="123189" w="302894">
                  <a:moveTo>
                    <a:pt x="216559" y="27239"/>
                  </a:moveTo>
                  <a:lnTo>
                    <a:pt x="0" y="95881"/>
                  </a:lnTo>
                  <a:lnTo>
                    <a:pt x="8634" y="123120"/>
                  </a:lnTo>
                  <a:lnTo>
                    <a:pt x="225194" y="54478"/>
                  </a:lnTo>
                  <a:lnTo>
                    <a:pt x="216559" y="27239"/>
                  </a:lnTo>
                  <a:close/>
                </a:path>
                <a:path extrusionOk="0" h="123189" w="302894">
                  <a:moveTo>
                    <a:pt x="294390" y="22922"/>
                  </a:moveTo>
                  <a:lnTo>
                    <a:pt x="230179" y="22922"/>
                  </a:lnTo>
                  <a:lnTo>
                    <a:pt x="238813" y="50161"/>
                  </a:lnTo>
                  <a:lnTo>
                    <a:pt x="225194" y="54478"/>
                  </a:lnTo>
                  <a:lnTo>
                    <a:pt x="233828" y="81718"/>
                  </a:lnTo>
                  <a:lnTo>
                    <a:pt x="294390" y="22922"/>
                  </a:lnTo>
                  <a:close/>
                </a:path>
                <a:path extrusionOk="0" h="123189" w="302894">
                  <a:moveTo>
                    <a:pt x="230179" y="22922"/>
                  </a:moveTo>
                  <a:lnTo>
                    <a:pt x="216559" y="27239"/>
                  </a:lnTo>
                  <a:lnTo>
                    <a:pt x="225194" y="54478"/>
                  </a:lnTo>
                  <a:lnTo>
                    <a:pt x="238813" y="50161"/>
                  </a:lnTo>
                  <a:lnTo>
                    <a:pt x="230179" y="22922"/>
                  </a:lnTo>
                  <a:close/>
                </a:path>
                <a:path extrusionOk="0" h="123189" w="302894">
                  <a:moveTo>
                    <a:pt x="207925" y="0"/>
                  </a:moveTo>
                  <a:lnTo>
                    <a:pt x="216559" y="27239"/>
                  </a:lnTo>
                  <a:lnTo>
                    <a:pt x="230179" y="22922"/>
                  </a:lnTo>
                  <a:lnTo>
                    <a:pt x="294390" y="22922"/>
                  </a:lnTo>
                  <a:lnTo>
                    <a:pt x="302595" y="14956"/>
                  </a:lnTo>
                  <a:lnTo>
                    <a:pt x="207925"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0" name="Google Shape;2240;p118"/>
            <p:cNvSpPr/>
            <p:nvPr/>
          </p:nvSpPr>
          <p:spPr>
            <a:xfrm>
              <a:off x="3862436" y="2330145"/>
              <a:ext cx="230504" cy="44450"/>
            </a:xfrm>
            <a:custGeom>
              <a:rect b="b" l="l" r="r" t="t"/>
              <a:pathLst>
                <a:path extrusionOk="0" h="44450" w="230504">
                  <a:moveTo>
                    <a:pt x="230252" y="0"/>
                  </a:moveTo>
                  <a:lnTo>
                    <a:pt x="0" y="44251"/>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1" name="Google Shape;2241;p118"/>
            <p:cNvSpPr/>
            <p:nvPr/>
          </p:nvSpPr>
          <p:spPr>
            <a:xfrm>
              <a:off x="3862436" y="2330145"/>
              <a:ext cx="230504" cy="44450"/>
            </a:xfrm>
            <a:custGeom>
              <a:rect b="b" l="l" r="r" t="t"/>
              <a:pathLst>
                <a:path extrusionOk="0" h="44450" w="230504">
                  <a:moveTo>
                    <a:pt x="0" y="44252"/>
                  </a:moveTo>
                  <a:lnTo>
                    <a:pt x="230252"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2" name="Google Shape;2242;p118"/>
            <p:cNvSpPr/>
            <p:nvPr/>
          </p:nvSpPr>
          <p:spPr>
            <a:xfrm>
              <a:off x="1256172" y="3839358"/>
              <a:ext cx="0" cy="210820"/>
            </a:xfrm>
            <a:custGeom>
              <a:rect b="b" l="l" r="r" t="t"/>
              <a:pathLst>
                <a:path extrusionOk="0" h="210820" w="120000">
                  <a:moveTo>
                    <a:pt x="0" y="0"/>
                  </a:moveTo>
                  <a:lnTo>
                    <a:pt x="0" y="210501"/>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3" name="Google Shape;2243;p118"/>
            <p:cNvSpPr/>
            <p:nvPr/>
          </p:nvSpPr>
          <p:spPr>
            <a:xfrm>
              <a:off x="1256172" y="3839358"/>
              <a:ext cx="0" cy="210820"/>
            </a:xfrm>
            <a:custGeom>
              <a:rect b="b" l="l" r="r" t="t"/>
              <a:pathLst>
                <a:path extrusionOk="0" h="210820" w="120000">
                  <a:moveTo>
                    <a:pt x="0" y="0"/>
                  </a:moveTo>
                  <a:lnTo>
                    <a:pt x="0" y="210501"/>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4" name="Google Shape;2244;p118"/>
            <p:cNvSpPr/>
            <p:nvPr/>
          </p:nvSpPr>
          <p:spPr>
            <a:xfrm>
              <a:off x="813714" y="4425367"/>
              <a:ext cx="442595" cy="340360"/>
            </a:xfrm>
            <a:custGeom>
              <a:rect b="b" l="l" r="r" t="t"/>
              <a:pathLst>
                <a:path extrusionOk="0" h="340360" w="442594">
                  <a:moveTo>
                    <a:pt x="442457" y="0"/>
                  </a:moveTo>
                  <a:lnTo>
                    <a:pt x="0" y="340193"/>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5" name="Google Shape;2245;p118"/>
            <p:cNvSpPr/>
            <p:nvPr/>
          </p:nvSpPr>
          <p:spPr>
            <a:xfrm>
              <a:off x="813714" y="4425367"/>
              <a:ext cx="442595" cy="340360"/>
            </a:xfrm>
            <a:custGeom>
              <a:rect b="b" l="l" r="r" t="t"/>
              <a:pathLst>
                <a:path extrusionOk="0" h="340360" w="442594">
                  <a:moveTo>
                    <a:pt x="442458" y="0"/>
                  </a:moveTo>
                  <a:lnTo>
                    <a:pt x="0" y="340193"/>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6" name="Google Shape;2246;p118"/>
            <p:cNvSpPr/>
            <p:nvPr/>
          </p:nvSpPr>
          <p:spPr>
            <a:xfrm>
              <a:off x="1256172" y="4425367"/>
              <a:ext cx="463550" cy="340360"/>
            </a:xfrm>
            <a:custGeom>
              <a:rect b="b" l="l" r="r" t="t"/>
              <a:pathLst>
                <a:path extrusionOk="0" h="340360" w="463550">
                  <a:moveTo>
                    <a:pt x="0" y="0"/>
                  </a:moveTo>
                  <a:lnTo>
                    <a:pt x="463064" y="340193"/>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7" name="Google Shape;2247;p118"/>
            <p:cNvSpPr/>
            <p:nvPr/>
          </p:nvSpPr>
          <p:spPr>
            <a:xfrm>
              <a:off x="1256172" y="4425367"/>
              <a:ext cx="463550" cy="340360"/>
            </a:xfrm>
            <a:custGeom>
              <a:rect b="b" l="l" r="r" t="t"/>
              <a:pathLst>
                <a:path extrusionOk="0" h="340360" w="463550">
                  <a:moveTo>
                    <a:pt x="0" y="0"/>
                  </a:moveTo>
                  <a:lnTo>
                    <a:pt x="463064" y="340193"/>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8" name="Google Shape;2248;p118"/>
            <p:cNvSpPr/>
            <p:nvPr/>
          </p:nvSpPr>
          <p:spPr>
            <a:xfrm>
              <a:off x="655293" y="5075311"/>
              <a:ext cx="158750" cy="396240"/>
            </a:xfrm>
            <a:custGeom>
              <a:rect b="b" l="l" r="r" t="t"/>
              <a:pathLst>
                <a:path extrusionOk="0" h="396239" w="158750">
                  <a:moveTo>
                    <a:pt x="158422" y="0"/>
                  </a:moveTo>
                  <a:lnTo>
                    <a:pt x="0" y="396088"/>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9" name="Google Shape;2249;p118"/>
            <p:cNvSpPr/>
            <p:nvPr/>
          </p:nvSpPr>
          <p:spPr>
            <a:xfrm>
              <a:off x="655293" y="5075311"/>
              <a:ext cx="158750" cy="396240"/>
            </a:xfrm>
            <a:custGeom>
              <a:rect b="b" l="l" r="r" t="t"/>
              <a:pathLst>
                <a:path extrusionOk="0" h="396239" w="158750">
                  <a:moveTo>
                    <a:pt x="158423" y="0"/>
                  </a:moveTo>
                  <a:lnTo>
                    <a:pt x="0" y="396089"/>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0" name="Google Shape;2250;p118"/>
            <p:cNvSpPr/>
            <p:nvPr/>
          </p:nvSpPr>
          <p:spPr>
            <a:xfrm>
              <a:off x="1719238" y="5075312"/>
              <a:ext cx="186690" cy="337820"/>
            </a:xfrm>
            <a:custGeom>
              <a:rect b="b" l="l" r="r" t="t"/>
              <a:pathLst>
                <a:path extrusionOk="0" h="337820" w="186689">
                  <a:moveTo>
                    <a:pt x="0" y="0"/>
                  </a:moveTo>
                  <a:lnTo>
                    <a:pt x="186632" y="337427"/>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1" name="Google Shape;2251;p118"/>
            <p:cNvSpPr/>
            <p:nvPr/>
          </p:nvSpPr>
          <p:spPr>
            <a:xfrm>
              <a:off x="1719238" y="5075312"/>
              <a:ext cx="186690" cy="337820"/>
            </a:xfrm>
            <a:custGeom>
              <a:rect b="b" l="l" r="r" t="t"/>
              <a:pathLst>
                <a:path extrusionOk="0" h="337820" w="186689">
                  <a:moveTo>
                    <a:pt x="0" y="0"/>
                  </a:moveTo>
                  <a:lnTo>
                    <a:pt x="186633" y="337428"/>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2" name="Google Shape;2252;p118"/>
            <p:cNvSpPr/>
            <p:nvPr/>
          </p:nvSpPr>
          <p:spPr>
            <a:xfrm>
              <a:off x="2364789" y="3784569"/>
              <a:ext cx="862330" cy="398780"/>
            </a:xfrm>
            <a:custGeom>
              <a:rect b="b" l="l" r="r" t="t"/>
              <a:pathLst>
                <a:path extrusionOk="0" h="398779" w="862330">
                  <a:moveTo>
                    <a:pt x="431096" y="0"/>
                  </a:moveTo>
                  <a:lnTo>
                    <a:pt x="367392" y="2159"/>
                  </a:lnTo>
                  <a:lnTo>
                    <a:pt x="306590" y="8430"/>
                  </a:lnTo>
                  <a:lnTo>
                    <a:pt x="249357" y="18507"/>
                  </a:lnTo>
                  <a:lnTo>
                    <a:pt x="196360" y="32080"/>
                  </a:lnTo>
                  <a:lnTo>
                    <a:pt x="148265" y="48842"/>
                  </a:lnTo>
                  <a:lnTo>
                    <a:pt x="105741" y="68485"/>
                  </a:lnTo>
                  <a:lnTo>
                    <a:pt x="69452" y="90700"/>
                  </a:lnTo>
                  <a:lnTo>
                    <a:pt x="40067" y="115180"/>
                  </a:lnTo>
                  <a:lnTo>
                    <a:pt x="4674" y="169701"/>
                  </a:lnTo>
                  <a:lnTo>
                    <a:pt x="0" y="199127"/>
                  </a:lnTo>
                  <a:lnTo>
                    <a:pt x="4674" y="228552"/>
                  </a:lnTo>
                  <a:lnTo>
                    <a:pt x="40067" y="283074"/>
                  </a:lnTo>
                  <a:lnTo>
                    <a:pt x="69452" y="307554"/>
                  </a:lnTo>
                  <a:lnTo>
                    <a:pt x="105741" y="329769"/>
                  </a:lnTo>
                  <a:lnTo>
                    <a:pt x="148265" y="349411"/>
                  </a:lnTo>
                  <a:lnTo>
                    <a:pt x="196360" y="366173"/>
                  </a:lnTo>
                  <a:lnTo>
                    <a:pt x="249357"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3" name="Google Shape;2253;p118"/>
            <p:cNvSpPr/>
            <p:nvPr/>
          </p:nvSpPr>
          <p:spPr>
            <a:xfrm>
              <a:off x="2364789" y="3784569"/>
              <a:ext cx="862330" cy="398780"/>
            </a:xfrm>
            <a:custGeom>
              <a:rect b="b" l="l" r="r" t="t"/>
              <a:pathLst>
                <a:path extrusionOk="0" h="398779" w="86233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2254" name="Google Shape;2254;p118"/>
          <p:cNvPicPr preferRelativeResize="0"/>
          <p:nvPr/>
        </p:nvPicPr>
        <p:blipFill rotWithShape="1">
          <a:blip r:embed="rId6">
            <a:alphaModFix/>
          </a:blip>
          <a:srcRect b="0" l="0" r="0" t="0"/>
          <a:stretch/>
        </p:blipFill>
        <p:spPr>
          <a:xfrm>
            <a:off x="7162801" y="2980267"/>
            <a:ext cx="1507067" cy="1109133"/>
          </a:xfrm>
          <a:prstGeom prst="rect">
            <a:avLst/>
          </a:prstGeom>
          <a:noFill/>
          <a:ln>
            <a:noFill/>
          </a:ln>
        </p:spPr>
      </p:pic>
      <p:sp>
        <p:nvSpPr>
          <p:cNvPr id="2255" name="Google Shape;2255;p118"/>
          <p:cNvSpPr txBox="1"/>
          <p:nvPr/>
        </p:nvSpPr>
        <p:spPr>
          <a:xfrm>
            <a:off x="7733316" y="4279899"/>
            <a:ext cx="1374775" cy="1173480"/>
          </a:xfrm>
          <a:prstGeom prst="rect">
            <a:avLst/>
          </a:prstGeom>
          <a:noFill/>
          <a:ln>
            <a:noFill/>
          </a:ln>
        </p:spPr>
        <p:txBody>
          <a:bodyPr anchorCtr="0" anchor="t" bIns="0" lIns="0" spcFirstLastPara="1" rIns="0" wrap="square" tIns="16500">
            <a:spAutoFit/>
          </a:bodyPr>
          <a:lstStyle/>
          <a:p>
            <a:pPr indent="0" lvl="0" marL="12700" marR="5080" rtl="0" algn="l">
              <a:spcBef>
                <a:spcPts val="0"/>
              </a:spcBef>
              <a:spcAft>
                <a:spcPts val="0"/>
              </a:spcAft>
              <a:buNone/>
            </a:pPr>
            <a:r>
              <a:rPr lang="en-US" sz="1500">
                <a:solidFill>
                  <a:schemeClr val="dk1"/>
                </a:solidFill>
                <a:latin typeface="Calibri"/>
                <a:ea typeface="Calibri"/>
                <a:cs typeface="Calibri"/>
                <a:sym typeface="Calibri"/>
              </a:rPr>
              <a:t>Players are either  on Offense or  Defense, and are  of types (QB, RB,  WR, TE, etc.)</a:t>
            </a:r>
            <a:endParaRPr sz="1500">
              <a:solidFill>
                <a:schemeClr val="dk1"/>
              </a:solidFill>
              <a:latin typeface="Calibri"/>
              <a:ea typeface="Calibri"/>
              <a:cs typeface="Calibri"/>
              <a:sym typeface="Calibri"/>
            </a:endParaRPr>
          </a:p>
        </p:txBody>
      </p:sp>
      <p:sp>
        <p:nvSpPr>
          <p:cNvPr id="2256" name="Google Shape;2256;p118"/>
          <p:cNvSpPr txBox="1"/>
          <p:nvPr/>
        </p:nvSpPr>
        <p:spPr>
          <a:xfrm>
            <a:off x="4127798" y="3873499"/>
            <a:ext cx="384810"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u="sng">
                <a:solidFill>
                  <a:schemeClr val="dk1"/>
                </a:solidFill>
                <a:latin typeface="Calibri"/>
                <a:ea typeface="Calibri"/>
                <a:cs typeface="Calibri"/>
                <a:sym typeface="Calibri"/>
              </a:rPr>
              <a:t>String</a:t>
            </a:r>
            <a:endParaRPr sz="1200">
              <a:solidFill>
                <a:schemeClr val="dk1"/>
              </a:solidFill>
              <a:latin typeface="Calibri"/>
              <a:ea typeface="Calibri"/>
              <a:cs typeface="Calibri"/>
              <a:sym typeface="Calibri"/>
            </a:endParaRPr>
          </a:p>
        </p:txBody>
      </p:sp>
      <p:grpSp>
        <p:nvGrpSpPr>
          <p:cNvPr id="2257" name="Google Shape;2257;p118"/>
          <p:cNvGrpSpPr/>
          <p:nvPr/>
        </p:nvGrpSpPr>
        <p:grpSpPr>
          <a:xfrm>
            <a:off x="3143201" y="3307632"/>
            <a:ext cx="1607919" cy="676571"/>
            <a:chOff x="1619200" y="3307632"/>
            <a:chExt cx="1607919" cy="676571"/>
          </a:xfrm>
        </p:grpSpPr>
        <p:sp>
          <p:nvSpPr>
            <p:cNvPr id="2258" name="Google Shape;2258;p118"/>
            <p:cNvSpPr/>
            <p:nvPr/>
          </p:nvSpPr>
          <p:spPr>
            <a:xfrm>
              <a:off x="1619200" y="3684483"/>
              <a:ext cx="746125" cy="299720"/>
            </a:xfrm>
            <a:custGeom>
              <a:rect b="b" l="l" r="r" t="t"/>
              <a:pathLst>
                <a:path extrusionOk="0" h="299720" w="746125">
                  <a:moveTo>
                    <a:pt x="0" y="0"/>
                  </a:moveTo>
                  <a:lnTo>
                    <a:pt x="745589" y="299214"/>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9" name="Google Shape;2259;p118"/>
            <p:cNvSpPr/>
            <p:nvPr/>
          </p:nvSpPr>
          <p:spPr>
            <a:xfrm>
              <a:off x="1619200" y="3684483"/>
              <a:ext cx="746125" cy="299720"/>
            </a:xfrm>
            <a:custGeom>
              <a:rect b="b" l="l" r="r" t="t"/>
              <a:pathLst>
                <a:path extrusionOk="0" h="299720" w="746125">
                  <a:moveTo>
                    <a:pt x="745589" y="299215"/>
                  </a:move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0" name="Google Shape;2260;p118"/>
            <p:cNvSpPr/>
            <p:nvPr/>
          </p:nvSpPr>
          <p:spPr>
            <a:xfrm>
              <a:off x="2364789" y="3307632"/>
              <a:ext cx="862330" cy="398780"/>
            </a:xfrm>
            <a:custGeom>
              <a:rect b="b" l="l" r="r" t="t"/>
              <a:pathLst>
                <a:path extrusionOk="0" h="398779" w="862330">
                  <a:moveTo>
                    <a:pt x="431096" y="0"/>
                  </a:moveTo>
                  <a:lnTo>
                    <a:pt x="367392" y="2159"/>
                  </a:lnTo>
                  <a:lnTo>
                    <a:pt x="306590" y="8430"/>
                  </a:lnTo>
                  <a:lnTo>
                    <a:pt x="249357" y="18507"/>
                  </a:lnTo>
                  <a:lnTo>
                    <a:pt x="196360" y="32080"/>
                  </a:lnTo>
                  <a:lnTo>
                    <a:pt x="148265" y="48842"/>
                  </a:lnTo>
                  <a:lnTo>
                    <a:pt x="105741" y="68485"/>
                  </a:lnTo>
                  <a:lnTo>
                    <a:pt x="69452" y="90700"/>
                  </a:lnTo>
                  <a:lnTo>
                    <a:pt x="40067" y="115180"/>
                  </a:lnTo>
                  <a:lnTo>
                    <a:pt x="4674" y="169701"/>
                  </a:lnTo>
                  <a:lnTo>
                    <a:pt x="0" y="199127"/>
                  </a:lnTo>
                  <a:lnTo>
                    <a:pt x="4674" y="228552"/>
                  </a:lnTo>
                  <a:lnTo>
                    <a:pt x="40067" y="283074"/>
                  </a:lnTo>
                  <a:lnTo>
                    <a:pt x="69452" y="307554"/>
                  </a:lnTo>
                  <a:lnTo>
                    <a:pt x="105741" y="329769"/>
                  </a:lnTo>
                  <a:lnTo>
                    <a:pt x="148265" y="349411"/>
                  </a:lnTo>
                  <a:lnTo>
                    <a:pt x="196360" y="366173"/>
                  </a:lnTo>
                  <a:lnTo>
                    <a:pt x="249357"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1" name="Google Shape;2261;p118"/>
            <p:cNvSpPr/>
            <p:nvPr/>
          </p:nvSpPr>
          <p:spPr>
            <a:xfrm>
              <a:off x="2364789" y="3307632"/>
              <a:ext cx="862330" cy="398780"/>
            </a:xfrm>
            <a:custGeom>
              <a:rect b="b" l="l" r="r" t="t"/>
              <a:pathLst>
                <a:path extrusionOk="0" h="398779" w="86233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62" name="Google Shape;2262;p118"/>
          <p:cNvSpPr txBox="1"/>
          <p:nvPr/>
        </p:nvSpPr>
        <p:spPr>
          <a:xfrm>
            <a:off x="4161422" y="3390899"/>
            <a:ext cx="316865"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u="sng">
                <a:solidFill>
                  <a:schemeClr val="dk1"/>
                </a:solidFill>
                <a:latin typeface="Calibri"/>
                <a:ea typeface="Calibri"/>
                <a:cs typeface="Calibri"/>
                <a:sym typeface="Calibri"/>
              </a:rPr>
              <a:t>Type</a:t>
            </a:r>
            <a:endParaRPr sz="1200">
              <a:solidFill>
                <a:schemeClr val="dk1"/>
              </a:solidFill>
              <a:latin typeface="Calibri"/>
              <a:ea typeface="Calibri"/>
              <a:cs typeface="Calibri"/>
              <a:sym typeface="Calibri"/>
            </a:endParaRPr>
          </a:p>
        </p:txBody>
      </p:sp>
      <p:grpSp>
        <p:nvGrpSpPr>
          <p:cNvPr id="2263" name="Google Shape;2263;p118"/>
          <p:cNvGrpSpPr/>
          <p:nvPr/>
        </p:nvGrpSpPr>
        <p:grpSpPr>
          <a:xfrm>
            <a:off x="1444938" y="3506761"/>
            <a:ext cx="2443703" cy="2363419"/>
            <a:chOff x="224196" y="3506760"/>
            <a:chExt cx="2141129" cy="2363419"/>
          </a:xfrm>
        </p:grpSpPr>
        <p:sp>
          <p:nvSpPr>
            <p:cNvPr id="2264" name="Google Shape;2264;p118"/>
            <p:cNvSpPr/>
            <p:nvPr/>
          </p:nvSpPr>
          <p:spPr>
            <a:xfrm>
              <a:off x="1619200" y="3506760"/>
              <a:ext cx="746125" cy="177800"/>
            </a:xfrm>
            <a:custGeom>
              <a:rect b="b" l="l" r="r" t="t"/>
              <a:pathLst>
                <a:path extrusionOk="0" h="177800" w="746125">
                  <a:moveTo>
                    <a:pt x="745589" y="0"/>
                  </a:moveTo>
                  <a:lnTo>
                    <a:pt x="0" y="177722"/>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5" name="Google Shape;2265;p118"/>
            <p:cNvSpPr/>
            <p:nvPr/>
          </p:nvSpPr>
          <p:spPr>
            <a:xfrm>
              <a:off x="1619200" y="3506760"/>
              <a:ext cx="746125" cy="177800"/>
            </a:xfrm>
            <a:custGeom>
              <a:rect b="b" l="l" r="r" t="t"/>
              <a:pathLst>
                <a:path extrusionOk="0" h="177800" w="746125">
                  <a:moveTo>
                    <a:pt x="745589" y="0"/>
                  </a:moveTo>
                  <a:lnTo>
                    <a:pt x="0" y="177722"/>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6" name="Google Shape;2266;p118"/>
            <p:cNvSpPr/>
            <p:nvPr/>
          </p:nvSpPr>
          <p:spPr>
            <a:xfrm>
              <a:off x="224196" y="5471399"/>
              <a:ext cx="1100351" cy="398780"/>
            </a:xfrm>
            <a:custGeom>
              <a:rect b="b" l="l" r="r" t="t"/>
              <a:pathLst>
                <a:path extrusionOk="0" h="398779" w="862330">
                  <a:moveTo>
                    <a:pt x="431096" y="0"/>
                  </a:moveTo>
                  <a:lnTo>
                    <a:pt x="367392" y="2159"/>
                  </a:lnTo>
                  <a:lnTo>
                    <a:pt x="306590" y="8430"/>
                  </a:lnTo>
                  <a:lnTo>
                    <a:pt x="249357"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7"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7" name="Google Shape;2267;p118"/>
            <p:cNvSpPr/>
            <p:nvPr/>
          </p:nvSpPr>
          <p:spPr>
            <a:xfrm>
              <a:off x="224197" y="5471399"/>
              <a:ext cx="1085062" cy="398780"/>
            </a:xfrm>
            <a:custGeom>
              <a:rect b="b" l="l" r="r" t="t"/>
              <a:pathLst>
                <a:path extrusionOk="0" h="398779" w="86233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68" name="Google Shape;2268;p118"/>
          <p:cNvSpPr txBox="1"/>
          <p:nvPr/>
        </p:nvSpPr>
        <p:spPr>
          <a:xfrm>
            <a:off x="1566624" y="5544518"/>
            <a:ext cx="1116330"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a:solidFill>
                  <a:schemeClr val="dk1"/>
                </a:solidFill>
                <a:latin typeface="Calibri"/>
                <a:ea typeface="Calibri"/>
                <a:cs typeface="Calibri"/>
                <a:sym typeface="Calibri"/>
              </a:rPr>
              <a:t>OffensivePosType</a:t>
            </a:r>
            <a:endParaRPr/>
          </a:p>
        </p:txBody>
      </p:sp>
      <p:grpSp>
        <p:nvGrpSpPr>
          <p:cNvPr id="2269" name="Google Shape;2269;p118"/>
          <p:cNvGrpSpPr/>
          <p:nvPr/>
        </p:nvGrpSpPr>
        <p:grpSpPr>
          <a:xfrm>
            <a:off x="3004969" y="5412741"/>
            <a:ext cx="1558423" cy="398780"/>
            <a:chOff x="1477125" y="5412740"/>
            <a:chExt cx="862330" cy="398780"/>
          </a:xfrm>
        </p:grpSpPr>
        <p:sp>
          <p:nvSpPr>
            <p:cNvPr id="2270" name="Google Shape;2270;p118"/>
            <p:cNvSpPr/>
            <p:nvPr/>
          </p:nvSpPr>
          <p:spPr>
            <a:xfrm>
              <a:off x="1477125" y="5412740"/>
              <a:ext cx="862330" cy="398780"/>
            </a:xfrm>
            <a:custGeom>
              <a:rect b="b" l="l" r="r" t="t"/>
              <a:pathLst>
                <a:path extrusionOk="0" h="398779" w="862330">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1" name="Google Shape;2271;p118"/>
            <p:cNvSpPr/>
            <p:nvPr/>
          </p:nvSpPr>
          <p:spPr>
            <a:xfrm>
              <a:off x="1477125" y="5412740"/>
              <a:ext cx="862330" cy="398780"/>
            </a:xfrm>
            <a:custGeom>
              <a:rect b="b" l="l" r="r" t="t"/>
              <a:pathLst>
                <a:path extrusionOk="0" h="398779" w="86233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72" name="Google Shape;2272;p118"/>
          <p:cNvSpPr txBox="1"/>
          <p:nvPr/>
        </p:nvSpPr>
        <p:spPr>
          <a:xfrm>
            <a:off x="3243239" y="5513581"/>
            <a:ext cx="1138555"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a:solidFill>
                  <a:schemeClr val="dk1"/>
                </a:solidFill>
                <a:latin typeface="Calibri"/>
                <a:ea typeface="Calibri"/>
                <a:cs typeface="Calibri"/>
                <a:sym typeface="Calibri"/>
              </a:rPr>
              <a:t>DefensivePosType</a:t>
            </a:r>
            <a:endParaRPr/>
          </a:p>
        </p:txBody>
      </p:sp>
      <p:sp>
        <p:nvSpPr>
          <p:cNvPr id="2273" name="Google Shape;2273;p1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7" name="Shape 2277"/>
        <p:cNvGrpSpPr/>
        <p:nvPr/>
      </p:nvGrpSpPr>
      <p:grpSpPr>
        <a:xfrm>
          <a:off x="0" y="0"/>
          <a:ext cx="0" cy="0"/>
          <a:chOff x="0" y="0"/>
          <a:chExt cx="0" cy="0"/>
        </a:xfrm>
      </p:grpSpPr>
      <p:sp>
        <p:nvSpPr>
          <p:cNvPr id="2278" name="Google Shape;2278;p1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ER-to-Relational Mapping Algorithm (cont’d.)</a:t>
            </a:r>
            <a:endParaRPr/>
          </a:p>
        </p:txBody>
      </p:sp>
      <p:sp>
        <p:nvSpPr>
          <p:cNvPr id="2279" name="Google Shape;2279;p1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Step 2: Mapping of Weak Entity Types</a:t>
            </a:r>
            <a:endParaRPr/>
          </a:p>
          <a:p>
            <a:pPr indent="-228600" lvl="1" marL="685800" rtl="0" algn="l">
              <a:lnSpc>
                <a:spcPct val="90000"/>
              </a:lnSpc>
              <a:spcBef>
                <a:spcPts val="500"/>
              </a:spcBef>
              <a:spcAft>
                <a:spcPts val="0"/>
              </a:spcAft>
              <a:buClr>
                <a:schemeClr val="dk1"/>
              </a:buClr>
              <a:buSzPts val="2400"/>
              <a:buChar char="•"/>
            </a:pPr>
            <a:r>
              <a:rPr lang="en-US"/>
              <a:t>For each weak entity type, create a relation </a:t>
            </a:r>
            <a:r>
              <a:rPr i="1" lang="en-US"/>
              <a:t>R</a:t>
            </a:r>
            <a:r>
              <a:rPr lang="en-US"/>
              <a:t> and include all simple attributes of the entity type as attributes of </a:t>
            </a:r>
            <a:r>
              <a:rPr i="1" lang="en-US"/>
              <a:t>R</a:t>
            </a:r>
            <a:endParaRPr/>
          </a:p>
          <a:p>
            <a:pPr indent="-228600" lvl="1" marL="685800" rtl="0" algn="l">
              <a:lnSpc>
                <a:spcPct val="90000"/>
              </a:lnSpc>
              <a:spcBef>
                <a:spcPts val="500"/>
              </a:spcBef>
              <a:spcAft>
                <a:spcPts val="0"/>
              </a:spcAft>
              <a:buClr>
                <a:schemeClr val="dk1"/>
              </a:buClr>
              <a:buSzPts val="2400"/>
              <a:buChar char="•"/>
            </a:pPr>
            <a:r>
              <a:rPr lang="en-US"/>
              <a:t>Include primary key attribute of owner as foreign key attributes of </a:t>
            </a:r>
            <a:r>
              <a:rPr i="1" lang="en-US"/>
              <a:t>R</a:t>
            </a:r>
            <a:endParaRPr/>
          </a:p>
        </p:txBody>
      </p:sp>
      <p:sp>
        <p:nvSpPr>
          <p:cNvPr id="2280" name="Google Shape;2280;p1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4" name="Shape 2284"/>
        <p:cNvGrpSpPr/>
        <p:nvPr/>
      </p:nvGrpSpPr>
      <p:grpSpPr>
        <a:xfrm>
          <a:off x="0" y="0"/>
          <a:ext cx="0" cy="0"/>
          <a:chOff x="0" y="0"/>
          <a:chExt cx="0" cy="0"/>
        </a:xfrm>
      </p:grpSpPr>
      <p:sp>
        <p:nvSpPr>
          <p:cNvPr id="2285" name="Google Shape;2285;p120"/>
          <p:cNvSpPr/>
          <p:nvPr/>
        </p:nvSpPr>
        <p:spPr>
          <a:xfrm>
            <a:off x="4092235" y="1682096"/>
            <a:ext cx="862330" cy="398780"/>
          </a:xfrm>
          <a:custGeom>
            <a:rect b="b" l="l" r="r" t="t"/>
            <a:pathLst>
              <a:path extrusionOk="0" h="398780" w="862330">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6" name="Google Shape;2286;p1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87" name="Google Shape;2287;p120"/>
          <p:cNvSpPr txBox="1"/>
          <p:nvPr/>
        </p:nvSpPr>
        <p:spPr>
          <a:xfrm>
            <a:off x="4377985" y="1818595"/>
            <a:ext cx="29083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name</a:t>
            </a:r>
            <a:endParaRPr sz="900">
              <a:solidFill>
                <a:schemeClr val="dk1"/>
              </a:solidFill>
              <a:latin typeface="Calibri"/>
              <a:ea typeface="Calibri"/>
              <a:cs typeface="Calibri"/>
              <a:sym typeface="Calibri"/>
            </a:endParaRPr>
          </a:p>
        </p:txBody>
      </p:sp>
      <p:grpSp>
        <p:nvGrpSpPr>
          <p:cNvPr id="2288" name="Google Shape;2288;p120"/>
          <p:cNvGrpSpPr/>
          <p:nvPr/>
        </p:nvGrpSpPr>
        <p:grpSpPr>
          <a:xfrm>
            <a:off x="2477551" y="2660054"/>
            <a:ext cx="1038006" cy="460836"/>
            <a:chOff x="953551" y="2660054"/>
            <a:chExt cx="1038006" cy="460836"/>
          </a:xfrm>
        </p:grpSpPr>
        <p:sp>
          <p:nvSpPr>
            <p:cNvPr id="2289" name="Google Shape;2289;p120"/>
            <p:cNvSpPr/>
            <p:nvPr/>
          </p:nvSpPr>
          <p:spPr>
            <a:xfrm>
              <a:off x="1722701" y="2767001"/>
              <a:ext cx="203200" cy="192405"/>
            </a:xfrm>
            <a:custGeom>
              <a:rect b="b" l="l" r="r" t="t"/>
              <a:pathLst>
                <a:path extrusionOk="0" h="192405" w="203200">
                  <a:moveTo>
                    <a:pt x="203059" y="0"/>
                  </a:moveTo>
                  <a:lnTo>
                    <a:pt x="0" y="191848"/>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0" name="Google Shape;2290;p120"/>
            <p:cNvSpPr/>
            <p:nvPr/>
          </p:nvSpPr>
          <p:spPr>
            <a:xfrm>
              <a:off x="1722701" y="2660054"/>
              <a:ext cx="268856" cy="299351"/>
            </a:xfrm>
            <a:custGeom>
              <a:rect b="b" l="l" r="r" t="t"/>
              <a:pathLst>
                <a:path extrusionOk="0" h="192405" w="203200">
                  <a:moveTo>
                    <a:pt x="0" y="191849"/>
                  </a:moveTo>
                  <a:lnTo>
                    <a:pt x="20306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1" name="Google Shape;2291;p120"/>
            <p:cNvSpPr/>
            <p:nvPr/>
          </p:nvSpPr>
          <p:spPr>
            <a:xfrm>
              <a:off x="953551" y="2797040"/>
              <a:ext cx="769620" cy="323850"/>
            </a:xfrm>
            <a:custGeom>
              <a:rect b="b" l="l" r="r" t="t"/>
              <a:pathLst>
                <a:path extrusionOk="0" h="323850" w="769619">
                  <a:moveTo>
                    <a:pt x="384574" y="0"/>
                  </a:moveTo>
                  <a:lnTo>
                    <a:pt x="0" y="161809"/>
                  </a:lnTo>
                  <a:lnTo>
                    <a:pt x="384574" y="323617"/>
                  </a:lnTo>
                  <a:lnTo>
                    <a:pt x="769148" y="161809"/>
                  </a:lnTo>
                  <a:lnTo>
                    <a:pt x="384574"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2" name="Google Shape;2292;p120"/>
            <p:cNvSpPr/>
            <p:nvPr/>
          </p:nvSpPr>
          <p:spPr>
            <a:xfrm>
              <a:off x="953551" y="2797040"/>
              <a:ext cx="769620" cy="323850"/>
            </a:xfrm>
            <a:custGeom>
              <a:rect b="b" l="l" r="r" t="t"/>
              <a:pathLst>
                <a:path extrusionOk="0" h="323850" w="769619">
                  <a:moveTo>
                    <a:pt x="0" y="161808"/>
                  </a:moveTo>
                  <a:lnTo>
                    <a:pt x="384574" y="0"/>
                  </a:lnTo>
                  <a:lnTo>
                    <a:pt x="769149" y="161808"/>
                  </a:lnTo>
                  <a:lnTo>
                    <a:pt x="384574" y="323617"/>
                  </a:lnTo>
                  <a:lnTo>
                    <a:pt x="0" y="161808"/>
                  </a:lnTo>
                  <a:close/>
                </a:path>
              </a:pathLst>
            </a:custGeom>
            <a:noFill/>
            <a:ln cap="flat" cmpd="sng" w="349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93" name="Google Shape;2293;p120"/>
          <p:cNvSpPr txBox="1"/>
          <p:nvPr/>
        </p:nvSpPr>
        <p:spPr>
          <a:xfrm>
            <a:off x="2624795" y="2865967"/>
            <a:ext cx="47625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WeightOf</a:t>
            </a:r>
            <a:endParaRPr sz="900">
              <a:solidFill>
                <a:schemeClr val="dk1"/>
              </a:solidFill>
              <a:latin typeface="Calibri"/>
              <a:ea typeface="Calibri"/>
              <a:cs typeface="Calibri"/>
              <a:sym typeface="Calibri"/>
            </a:endParaRPr>
          </a:p>
        </p:txBody>
      </p:sp>
      <p:sp>
        <p:nvSpPr>
          <p:cNvPr id="2294" name="Google Shape;2294;p120"/>
          <p:cNvSpPr txBox="1"/>
          <p:nvPr/>
        </p:nvSpPr>
        <p:spPr>
          <a:xfrm>
            <a:off x="2157594" y="3342343"/>
            <a:ext cx="590550" cy="192360"/>
          </a:xfrm>
          <a:prstGeom prst="rect">
            <a:avLst/>
          </a:prstGeom>
          <a:noFill/>
          <a:ln cap="flat" cmpd="sng" w="41275">
            <a:solidFill>
              <a:srgbClr val="000000"/>
            </a:solidFill>
            <a:prstDash val="solid"/>
            <a:round/>
            <a:headEnd len="sm" w="sm" type="none"/>
            <a:tailEnd len="sm" w="sm" type="none"/>
          </a:ln>
        </p:spPr>
        <p:txBody>
          <a:bodyPr anchorCtr="0" anchor="t" bIns="0" lIns="0" spcFirstLastPara="1" rIns="0" wrap="square" tIns="53325">
            <a:spAutoFit/>
          </a:bodyPr>
          <a:lstStyle/>
          <a:p>
            <a:pPr indent="0" lvl="0" marL="125729" marR="0" rtl="0" algn="l">
              <a:spcBef>
                <a:spcPts val="0"/>
              </a:spcBef>
              <a:spcAft>
                <a:spcPts val="0"/>
              </a:spcAft>
              <a:buNone/>
            </a:pPr>
            <a:r>
              <a:rPr lang="en-US" sz="900">
                <a:solidFill>
                  <a:schemeClr val="dk1"/>
                </a:solidFill>
                <a:latin typeface="Calibri"/>
                <a:ea typeface="Calibri"/>
                <a:cs typeface="Calibri"/>
                <a:sym typeface="Calibri"/>
              </a:rPr>
              <a:t>Weight</a:t>
            </a:r>
            <a:endParaRPr/>
          </a:p>
        </p:txBody>
      </p:sp>
      <p:grpSp>
        <p:nvGrpSpPr>
          <p:cNvPr id="2295" name="Google Shape;2295;p120"/>
          <p:cNvGrpSpPr/>
          <p:nvPr/>
        </p:nvGrpSpPr>
        <p:grpSpPr>
          <a:xfrm>
            <a:off x="1685284" y="3808803"/>
            <a:ext cx="1089888" cy="323850"/>
            <a:chOff x="552772" y="3808802"/>
            <a:chExt cx="701040" cy="323850"/>
          </a:xfrm>
        </p:grpSpPr>
        <p:sp>
          <p:nvSpPr>
            <p:cNvPr id="2296" name="Google Shape;2296;p120"/>
            <p:cNvSpPr/>
            <p:nvPr/>
          </p:nvSpPr>
          <p:spPr>
            <a:xfrm>
              <a:off x="552772" y="3808802"/>
              <a:ext cx="701040" cy="323850"/>
            </a:xfrm>
            <a:custGeom>
              <a:rect b="b" l="l" r="r" t="t"/>
              <a:pathLst>
                <a:path extrusionOk="0" h="323850" w="701040">
                  <a:moveTo>
                    <a:pt x="350304" y="0"/>
                  </a:moveTo>
                  <a:lnTo>
                    <a:pt x="287336" y="2606"/>
                  </a:lnTo>
                  <a:lnTo>
                    <a:pt x="228071" y="10123"/>
                  </a:lnTo>
                  <a:lnTo>
                    <a:pt x="173499" y="22091"/>
                  </a:lnTo>
                  <a:lnTo>
                    <a:pt x="124607" y="38055"/>
                  </a:lnTo>
                  <a:lnTo>
                    <a:pt x="82387" y="57557"/>
                  </a:lnTo>
                  <a:lnTo>
                    <a:pt x="47826" y="80141"/>
                  </a:lnTo>
                  <a:lnTo>
                    <a:pt x="5643" y="132723"/>
                  </a:lnTo>
                  <a:lnTo>
                    <a:pt x="0" y="161809"/>
                  </a:lnTo>
                  <a:lnTo>
                    <a:pt x="5643" y="190894"/>
                  </a:lnTo>
                  <a:lnTo>
                    <a:pt x="47826" y="243476"/>
                  </a:lnTo>
                  <a:lnTo>
                    <a:pt x="82387" y="266060"/>
                  </a:lnTo>
                  <a:lnTo>
                    <a:pt x="124607" y="285562"/>
                  </a:lnTo>
                  <a:lnTo>
                    <a:pt x="173499" y="301525"/>
                  </a:lnTo>
                  <a:lnTo>
                    <a:pt x="228071" y="313494"/>
                  </a:lnTo>
                  <a:lnTo>
                    <a:pt x="287336" y="321010"/>
                  </a:lnTo>
                  <a:lnTo>
                    <a:pt x="350304" y="323617"/>
                  </a:lnTo>
                  <a:lnTo>
                    <a:pt x="413272" y="321010"/>
                  </a:lnTo>
                  <a:lnTo>
                    <a:pt x="472537" y="313494"/>
                  </a:lnTo>
                  <a:lnTo>
                    <a:pt x="527109" y="301525"/>
                  </a:lnTo>
                  <a:lnTo>
                    <a:pt x="576001" y="285562"/>
                  </a:lnTo>
                  <a:lnTo>
                    <a:pt x="618221" y="266060"/>
                  </a:lnTo>
                  <a:lnTo>
                    <a:pt x="652782" y="243476"/>
                  </a:lnTo>
                  <a:lnTo>
                    <a:pt x="694965" y="190894"/>
                  </a:lnTo>
                  <a:lnTo>
                    <a:pt x="700608" y="161809"/>
                  </a:lnTo>
                  <a:lnTo>
                    <a:pt x="694965" y="132723"/>
                  </a:lnTo>
                  <a:lnTo>
                    <a:pt x="652782" y="80141"/>
                  </a:lnTo>
                  <a:lnTo>
                    <a:pt x="618221" y="57557"/>
                  </a:lnTo>
                  <a:lnTo>
                    <a:pt x="576001" y="38055"/>
                  </a:lnTo>
                  <a:lnTo>
                    <a:pt x="527109" y="22091"/>
                  </a:lnTo>
                  <a:lnTo>
                    <a:pt x="472537" y="10123"/>
                  </a:lnTo>
                  <a:lnTo>
                    <a:pt x="413272" y="2606"/>
                  </a:lnTo>
                  <a:lnTo>
                    <a:pt x="350304"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7" name="Google Shape;2297;p120"/>
            <p:cNvSpPr/>
            <p:nvPr/>
          </p:nvSpPr>
          <p:spPr>
            <a:xfrm>
              <a:off x="552772" y="3808802"/>
              <a:ext cx="701040" cy="323850"/>
            </a:xfrm>
            <a:custGeom>
              <a:rect b="b" l="l" r="r" t="t"/>
              <a:pathLst>
                <a:path extrusionOk="0" h="323850" w="701040">
                  <a:moveTo>
                    <a:pt x="0" y="161808"/>
                  </a:moveTo>
                  <a:lnTo>
                    <a:pt x="21915" y="105348"/>
                  </a:lnTo>
                  <a:lnTo>
                    <a:pt x="82387" y="57557"/>
                  </a:lnTo>
                  <a:lnTo>
                    <a:pt x="124607" y="38055"/>
                  </a:lnTo>
                  <a:lnTo>
                    <a:pt x="173499" y="22091"/>
                  </a:lnTo>
                  <a:lnTo>
                    <a:pt x="228071" y="10123"/>
                  </a:lnTo>
                  <a:lnTo>
                    <a:pt x="287336" y="2606"/>
                  </a:lnTo>
                  <a:lnTo>
                    <a:pt x="350304" y="0"/>
                  </a:lnTo>
                  <a:lnTo>
                    <a:pt x="413272" y="2606"/>
                  </a:lnTo>
                  <a:lnTo>
                    <a:pt x="472537" y="10123"/>
                  </a:lnTo>
                  <a:lnTo>
                    <a:pt x="527109" y="22091"/>
                  </a:lnTo>
                  <a:lnTo>
                    <a:pt x="576001" y="38055"/>
                  </a:lnTo>
                  <a:lnTo>
                    <a:pt x="618221" y="57557"/>
                  </a:lnTo>
                  <a:lnTo>
                    <a:pt x="652782" y="80140"/>
                  </a:lnTo>
                  <a:lnTo>
                    <a:pt x="694965" y="132723"/>
                  </a:lnTo>
                  <a:lnTo>
                    <a:pt x="700609" y="161808"/>
                  </a:lnTo>
                  <a:lnTo>
                    <a:pt x="694965" y="190893"/>
                  </a:lnTo>
                  <a:lnTo>
                    <a:pt x="652782" y="243476"/>
                  </a:lnTo>
                  <a:lnTo>
                    <a:pt x="618221" y="266059"/>
                  </a:lnTo>
                  <a:lnTo>
                    <a:pt x="576001" y="285561"/>
                  </a:lnTo>
                  <a:lnTo>
                    <a:pt x="527109" y="301525"/>
                  </a:lnTo>
                  <a:lnTo>
                    <a:pt x="472537" y="313493"/>
                  </a:lnTo>
                  <a:lnTo>
                    <a:pt x="413272" y="321010"/>
                  </a:lnTo>
                  <a:lnTo>
                    <a:pt x="350304" y="323617"/>
                  </a:lnTo>
                  <a:lnTo>
                    <a:pt x="287336" y="321010"/>
                  </a:lnTo>
                  <a:lnTo>
                    <a:pt x="228071" y="313493"/>
                  </a:lnTo>
                  <a:lnTo>
                    <a:pt x="173499" y="301525"/>
                  </a:lnTo>
                  <a:lnTo>
                    <a:pt x="124607" y="285561"/>
                  </a:lnTo>
                  <a:lnTo>
                    <a:pt x="82387" y="266059"/>
                  </a:lnTo>
                  <a:lnTo>
                    <a:pt x="47826" y="243476"/>
                  </a:lnTo>
                  <a:lnTo>
                    <a:pt x="5643" y="190893"/>
                  </a:lnTo>
                  <a:lnTo>
                    <a:pt x="0" y="161808"/>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98" name="Google Shape;2298;p120"/>
          <p:cNvSpPr txBox="1"/>
          <p:nvPr/>
        </p:nvSpPr>
        <p:spPr>
          <a:xfrm>
            <a:off x="1879327" y="3881967"/>
            <a:ext cx="731741"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Weightinlbs</a:t>
            </a:r>
            <a:endParaRPr sz="900">
              <a:solidFill>
                <a:schemeClr val="dk1"/>
              </a:solidFill>
              <a:latin typeface="Calibri"/>
              <a:ea typeface="Calibri"/>
              <a:cs typeface="Calibri"/>
              <a:sym typeface="Calibri"/>
            </a:endParaRPr>
          </a:p>
        </p:txBody>
      </p:sp>
      <p:grpSp>
        <p:nvGrpSpPr>
          <p:cNvPr id="2299" name="Google Shape;2299;p120"/>
          <p:cNvGrpSpPr/>
          <p:nvPr/>
        </p:nvGrpSpPr>
        <p:grpSpPr>
          <a:xfrm>
            <a:off x="1879327" y="2958849"/>
            <a:ext cx="1432683" cy="1437744"/>
            <a:chOff x="355326" y="2958849"/>
            <a:chExt cx="1432683" cy="1437744"/>
          </a:xfrm>
        </p:grpSpPr>
        <p:sp>
          <p:nvSpPr>
            <p:cNvPr id="2300" name="Google Shape;2300;p120"/>
            <p:cNvSpPr/>
            <p:nvPr/>
          </p:nvSpPr>
          <p:spPr>
            <a:xfrm>
              <a:off x="355326" y="3563805"/>
              <a:ext cx="603250" cy="483234"/>
            </a:xfrm>
            <a:custGeom>
              <a:rect b="b" l="l" r="r" t="t"/>
              <a:pathLst>
                <a:path extrusionOk="0" h="483235" w="603250">
                  <a:moveTo>
                    <a:pt x="603062" y="0"/>
                  </a:moveTo>
                  <a:lnTo>
                    <a:pt x="0" y="482993"/>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1" name="Google Shape;2301;p120"/>
            <p:cNvSpPr/>
            <p:nvPr/>
          </p:nvSpPr>
          <p:spPr>
            <a:xfrm>
              <a:off x="899160" y="3563805"/>
              <a:ext cx="59416" cy="265668"/>
            </a:xfrm>
            <a:custGeom>
              <a:rect b="b" l="l" r="r" t="t"/>
              <a:pathLst>
                <a:path extrusionOk="0" h="483235" w="603250">
                  <a:moveTo>
                    <a:pt x="0" y="482994"/>
                  </a:moveTo>
                  <a:lnTo>
                    <a:pt x="603062"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2" name="Google Shape;2302;p120"/>
            <p:cNvSpPr/>
            <p:nvPr/>
          </p:nvSpPr>
          <p:spPr>
            <a:xfrm>
              <a:off x="953551" y="2958849"/>
              <a:ext cx="5080" cy="353695"/>
            </a:xfrm>
            <a:custGeom>
              <a:rect b="b" l="l" r="r" t="t"/>
              <a:pathLst>
                <a:path extrusionOk="0" h="353695" w="5080">
                  <a:moveTo>
                    <a:pt x="0" y="0"/>
                  </a:moveTo>
                  <a:lnTo>
                    <a:pt x="4837" y="353253"/>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3" name="Google Shape;2303;p120"/>
            <p:cNvSpPr/>
            <p:nvPr/>
          </p:nvSpPr>
          <p:spPr>
            <a:xfrm>
              <a:off x="953551" y="2958849"/>
              <a:ext cx="5080" cy="353695"/>
            </a:xfrm>
            <a:custGeom>
              <a:rect b="b" l="l" r="r" t="t"/>
              <a:pathLst>
                <a:path extrusionOk="0" h="353695" w="5080">
                  <a:moveTo>
                    <a:pt x="0" y="0"/>
                  </a:moveTo>
                  <a:lnTo>
                    <a:pt x="4837" y="353253"/>
                  </a:lnTo>
                </a:path>
              </a:pathLst>
            </a:custGeom>
            <a:noFill/>
            <a:ln cap="flat" cmpd="sng" w="31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4" name="Google Shape;2304;p120"/>
            <p:cNvSpPr/>
            <p:nvPr/>
          </p:nvSpPr>
          <p:spPr>
            <a:xfrm>
              <a:off x="1086969" y="4072743"/>
              <a:ext cx="701040" cy="323850"/>
            </a:xfrm>
            <a:custGeom>
              <a:rect b="b" l="l" r="r" t="t"/>
              <a:pathLst>
                <a:path extrusionOk="0" h="323850" w="701039">
                  <a:moveTo>
                    <a:pt x="350303" y="0"/>
                  </a:moveTo>
                  <a:lnTo>
                    <a:pt x="287336" y="2606"/>
                  </a:lnTo>
                  <a:lnTo>
                    <a:pt x="228071" y="10123"/>
                  </a:lnTo>
                  <a:lnTo>
                    <a:pt x="173498" y="22091"/>
                  </a:lnTo>
                  <a:lnTo>
                    <a:pt x="124607" y="38055"/>
                  </a:lnTo>
                  <a:lnTo>
                    <a:pt x="82387" y="57557"/>
                  </a:lnTo>
                  <a:lnTo>
                    <a:pt x="47826" y="80140"/>
                  </a:lnTo>
                  <a:lnTo>
                    <a:pt x="5643" y="132723"/>
                  </a:lnTo>
                  <a:lnTo>
                    <a:pt x="0" y="161808"/>
                  </a:lnTo>
                  <a:lnTo>
                    <a:pt x="5643" y="190893"/>
                  </a:lnTo>
                  <a:lnTo>
                    <a:pt x="47826" y="243476"/>
                  </a:lnTo>
                  <a:lnTo>
                    <a:pt x="82387" y="266059"/>
                  </a:lnTo>
                  <a:lnTo>
                    <a:pt x="124607" y="285561"/>
                  </a:lnTo>
                  <a:lnTo>
                    <a:pt x="173498" y="301524"/>
                  </a:lnTo>
                  <a:lnTo>
                    <a:pt x="228071" y="313493"/>
                  </a:lnTo>
                  <a:lnTo>
                    <a:pt x="287336" y="321009"/>
                  </a:lnTo>
                  <a:lnTo>
                    <a:pt x="350303" y="323616"/>
                  </a:lnTo>
                  <a:lnTo>
                    <a:pt x="413271" y="321009"/>
                  </a:lnTo>
                  <a:lnTo>
                    <a:pt x="472536" y="313493"/>
                  </a:lnTo>
                  <a:lnTo>
                    <a:pt x="527109" y="301524"/>
                  </a:lnTo>
                  <a:lnTo>
                    <a:pt x="576001" y="285561"/>
                  </a:lnTo>
                  <a:lnTo>
                    <a:pt x="618221" y="266059"/>
                  </a:lnTo>
                  <a:lnTo>
                    <a:pt x="652782" y="243476"/>
                  </a:lnTo>
                  <a:lnTo>
                    <a:pt x="694965" y="190893"/>
                  </a:lnTo>
                  <a:lnTo>
                    <a:pt x="700609" y="161808"/>
                  </a:lnTo>
                  <a:lnTo>
                    <a:pt x="694965" y="132723"/>
                  </a:lnTo>
                  <a:lnTo>
                    <a:pt x="652782" y="80140"/>
                  </a:lnTo>
                  <a:lnTo>
                    <a:pt x="618221" y="57557"/>
                  </a:lnTo>
                  <a:lnTo>
                    <a:pt x="576001" y="38055"/>
                  </a:lnTo>
                  <a:lnTo>
                    <a:pt x="527109" y="22091"/>
                  </a:lnTo>
                  <a:lnTo>
                    <a:pt x="472536" y="10123"/>
                  </a:lnTo>
                  <a:lnTo>
                    <a:pt x="413271" y="2606"/>
                  </a:lnTo>
                  <a:lnTo>
                    <a:pt x="350303"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5" name="Google Shape;2305;p120"/>
            <p:cNvSpPr/>
            <p:nvPr/>
          </p:nvSpPr>
          <p:spPr>
            <a:xfrm>
              <a:off x="1086969" y="4072743"/>
              <a:ext cx="701040" cy="323850"/>
            </a:xfrm>
            <a:custGeom>
              <a:rect b="b" l="l" r="r" t="t"/>
              <a:pathLst>
                <a:path extrusionOk="0" h="323850" w="701039">
                  <a:moveTo>
                    <a:pt x="0" y="161808"/>
                  </a:moveTo>
                  <a:lnTo>
                    <a:pt x="21915" y="105348"/>
                  </a:lnTo>
                  <a:lnTo>
                    <a:pt x="82387" y="57557"/>
                  </a:lnTo>
                  <a:lnTo>
                    <a:pt x="124607" y="38055"/>
                  </a:lnTo>
                  <a:lnTo>
                    <a:pt x="173499" y="22091"/>
                  </a:lnTo>
                  <a:lnTo>
                    <a:pt x="228071" y="10123"/>
                  </a:lnTo>
                  <a:lnTo>
                    <a:pt x="287336" y="2606"/>
                  </a:lnTo>
                  <a:lnTo>
                    <a:pt x="350304" y="0"/>
                  </a:lnTo>
                  <a:lnTo>
                    <a:pt x="413272" y="2606"/>
                  </a:lnTo>
                  <a:lnTo>
                    <a:pt x="472537" y="10123"/>
                  </a:lnTo>
                  <a:lnTo>
                    <a:pt x="527109" y="22091"/>
                  </a:lnTo>
                  <a:lnTo>
                    <a:pt x="576001" y="38055"/>
                  </a:lnTo>
                  <a:lnTo>
                    <a:pt x="618221" y="57557"/>
                  </a:lnTo>
                  <a:lnTo>
                    <a:pt x="652782" y="80140"/>
                  </a:lnTo>
                  <a:lnTo>
                    <a:pt x="694965" y="132723"/>
                  </a:lnTo>
                  <a:lnTo>
                    <a:pt x="700609" y="161808"/>
                  </a:lnTo>
                  <a:lnTo>
                    <a:pt x="694965" y="190893"/>
                  </a:lnTo>
                  <a:lnTo>
                    <a:pt x="652782" y="243476"/>
                  </a:lnTo>
                  <a:lnTo>
                    <a:pt x="618221" y="266059"/>
                  </a:lnTo>
                  <a:lnTo>
                    <a:pt x="576001" y="285561"/>
                  </a:lnTo>
                  <a:lnTo>
                    <a:pt x="527109" y="301525"/>
                  </a:lnTo>
                  <a:lnTo>
                    <a:pt x="472537" y="313493"/>
                  </a:lnTo>
                  <a:lnTo>
                    <a:pt x="413272" y="321010"/>
                  </a:lnTo>
                  <a:lnTo>
                    <a:pt x="350304" y="323617"/>
                  </a:lnTo>
                  <a:lnTo>
                    <a:pt x="287336" y="321010"/>
                  </a:lnTo>
                  <a:lnTo>
                    <a:pt x="228071" y="313493"/>
                  </a:lnTo>
                  <a:lnTo>
                    <a:pt x="173499" y="301525"/>
                  </a:lnTo>
                  <a:lnTo>
                    <a:pt x="124607" y="285561"/>
                  </a:lnTo>
                  <a:lnTo>
                    <a:pt x="82387" y="266059"/>
                  </a:lnTo>
                  <a:lnTo>
                    <a:pt x="47826" y="243476"/>
                  </a:lnTo>
                  <a:lnTo>
                    <a:pt x="5643" y="190893"/>
                  </a:lnTo>
                  <a:lnTo>
                    <a:pt x="0" y="161808"/>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06" name="Google Shape;2306;p120"/>
          <p:cNvSpPr txBox="1"/>
          <p:nvPr/>
        </p:nvSpPr>
        <p:spPr>
          <a:xfrm>
            <a:off x="2682524" y="4134475"/>
            <a:ext cx="585470" cy="155171"/>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900">
                <a:solidFill>
                  <a:schemeClr val="dk1"/>
                </a:solidFill>
                <a:latin typeface="Calibri"/>
                <a:ea typeface="Calibri"/>
                <a:cs typeface="Calibri"/>
                <a:sym typeface="Calibri"/>
              </a:rPr>
              <a:t>Time Period</a:t>
            </a:r>
            <a:endParaRPr sz="900">
              <a:solidFill>
                <a:schemeClr val="dk1"/>
              </a:solidFill>
              <a:latin typeface="Calibri"/>
              <a:ea typeface="Calibri"/>
              <a:cs typeface="Calibri"/>
              <a:sym typeface="Calibri"/>
            </a:endParaRPr>
          </a:p>
        </p:txBody>
      </p:sp>
      <p:grpSp>
        <p:nvGrpSpPr>
          <p:cNvPr id="2307" name="Google Shape;2307;p120"/>
          <p:cNvGrpSpPr/>
          <p:nvPr/>
        </p:nvGrpSpPr>
        <p:grpSpPr>
          <a:xfrm>
            <a:off x="2482388" y="3563805"/>
            <a:ext cx="479425" cy="509271"/>
            <a:chOff x="958388" y="3563804"/>
            <a:chExt cx="479425" cy="509271"/>
          </a:xfrm>
        </p:grpSpPr>
        <p:sp>
          <p:nvSpPr>
            <p:cNvPr id="2308" name="Google Shape;2308;p120"/>
            <p:cNvSpPr/>
            <p:nvPr/>
          </p:nvSpPr>
          <p:spPr>
            <a:xfrm>
              <a:off x="958388" y="3563805"/>
              <a:ext cx="479425" cy="509270"/>
            </a:xfrm>
            <a:custGeom>
              <a:rect b="b" l="l" r="r" t="t"/>
              <a:pathLst>
                <a:path extrusionOk="0" h="509270" w="479425">
                  <a:moveTo>
                    <a:pt x="0" y="0"/>
                  </a:moveTo>
                  <a:lnTo>
                    <a:pt x="478886" y="508938"/>
                  </a:lnTo>
                </a:path>
              </a:pathLst>
            </a:custGeom>
            <a:solidFill>
              <a:srgbClr val="C0C0C0">
                <a:alpha val="5019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9" name="Google Shape;2309;p120"/>
            <p:cNvSpPr/>
            <p:nvPr/>
          </p:nvSpPr>
          <p:spPr>
            <a:xfrm>
              <a:off x="958388" y="3563804"/>
              <a:ext cx="479425" cy="509270"/>
            </a:xfrm>
            <a:custGeom>
              <a:rect b="b" l="l" r="r" t="t"/>
              <a:pathLst>
                <a:path extrusionOk="0" h="509270" w="479425">
                  <a:moveTo>
                    <a:pt x="478886" y="508939"/>
                  </a:move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2310" name="Google Shape;2310;p120"/>
          <p:cNvCxnSpPr/>
          <p:nvPr/>
        </p:nvCxnSpPr>
        <p:spPr>
          <a:xfrm flipH="1" rot="10800000">
            <a:off x="2467144" y="2971479"/>
            <a:ext cx="14733" cy="192124"/>
          </a:xfrm>
          <a:prstGeom prst="straightConnector1">
            <a:avLst/>
          </a:prstGeom>
          <a:noFill/>
          <a:ln cap="flat" cmpd="sng" w="44450">
            <a:solidFill>
              <a:schemeClr val="dk1"/>
            </a:solidFill>
            <a:prstDash val="solid"/>
            <a:miter lim="800000"/>
            <a:headEnd len="sm" w="sm" type="none"/>
            <a:tailEnd len="med" w="med" type="triangle"/>
          </a:ln>
        </p:spPr>
      </p:cxnSp>
      <p:cxnSp>
        <p:nvCxnSpPr>
          <p:cNvPr id="2311" name="Google Shape;2311;p120"/>
          <p:cNvCxnSpPr/>
          <p:nvPr/>
        </p:nvCxnSpPr>
        <p:spPr>
          <a:xfrm>
            <a:off x="2748144" y="4289646"/>
            <a:ext cx="498557" cy="0"/>
          </a:xfrm>
          <a:prstGeom prst="straightConnector1">
            <a:avLst/>
          </a:prstGeom>
          <a:noFill/>
          <a:ln cap="flat" cmpd="sng" w="25400">
            <a:solidFill>
              <a:schemeClr val="dk1"/>
            </a:solidFill>
            <a:prstDash val="dash"/>
            <a:miter lim="800000"/>
            <a:headEnd len="sm" w="sm" type="none"/>
            <a:tailEnd len="sm" w="sm" type="none"/>
          </a:ln>
        </p:spPr>
      </p:cxnSp>
      <p:grpSp>
        <p:nvGrpSpPr>
          <p:cNvPr id="2312" name="Google Shape;2312;p120"/>
          <p:cNvGrpSpPr/>
          <p:nvPr/>
        </p:nvGrpSpPr>
        <p:grpSpPr>
          <a:xfrm>
            <a:off x="3400258" y="2315057"/>
            <a:ext cx="726440" cy="309880"/>
            <a:chOff x="1876257" y="2315056"/>
            <a:chExt cx="726440" cy="309880"/>
          </a:xfrm>
        </p:grpSpPr>
        <p:sp>
          <p:nvSpPr>
            <p:cNvPr id="2313" name="Google Shape;2313;p120"/>
            <p:cNvSpPr/>
            <p:nvPr/>
          </p:nvSpPr>
          <p:spPr>
            <a:xfrm>
              <a:off x="1876257" y="2315056"/>
              <a:ext cx="726440" cy="309880"/>
            </a:xfrm>
            <a:custGeom>
              <a:rect b="b" l="l" r="r" t="t"/>
              <a:pathLst>
                <a:path extrusionOk="0" h="309880" w="726439">
                  <a:moveTo>
                    <a:pt x="726056" y="0"/>
                  </a:moveTo>
                  <a:lnTo>
                    <a:pt x="0" y="0"/>
                  </a:lnTo>
                  <a:lnTo>
                    <a:pt x="0" y="309752"/>
                  </a:lnTo>
                  <a:lnTo>
                    <a:pt x="726056" y="309752"/>
                  </a:lnTo>
                  <a:lnTo>
                    <a:pt x="726056" y="0"/>
                  </a:lnTo>
                  <a:close/>
                </a:path>
              </a:pathLst>
            </a:custGeom>
            <a:solidFill>
              <a:srgbClr val="F2DCDB"/>
            </a:solid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Player</a:t>
              </a:r>
              <a:endParaRPr sz="1800">
                <a:solidFill>
                  <a:schemeClr val="dk1"/>
                </a:solidFill>
                <a:latin typeface="Calibri"/>
                <a:ea typeface="Calibri"/>
                <a:cs typeface="Calibri"/>
                <a:sym typeface="Calibri"/>
              </a:endParaRPr>
            </a:p>
          </p:txBody>
        </p:sp>
        <p:sp>
          <p:nvSpPr>
            <p:cNvPr id="2314" name="Google Shape;2314;p120"/>
            <p:cNvSpPr/>
            <p:nvPr/>
          </p:nvSpPr>
          <p:spPr>
            <a:xfrm>
              <a:off x="1876257" y="2315056"/>
              <a:ext cx="726440" cy="309880"/>
            </a:xfrm>
            <a:custGeom>
              <a:rect b="b" l="l" r="r" t="t"/>
              <a:pathLst>
                <a:path extrusionOk="0" h="309880" w="726439">
                  <a:moveTo>
                    <a:pt x="0" y="0"/>
                  </a:moveTo>
                  <a:lnTo>
                    <a:pt x="726057" y="0"/>
                  </a:lnTo>
                  <a:lnTo>
                    <a:pt x="726057" y="309753"/>
                  </a:lnTo>
                  <a:lnTo>
                    <a:pt x="0" y="309753"/>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315" name="Google Shape;2315;p120"/>
          <p:cNvGrpSpPr/>
          <p:nvPr/>
        </p:nvGrpSpPr>
        <p:grpSpPr>
          <a:xfrm>
            <a:off x="2836363" y="1619205"/>
            <a:ext cx="862330" cy="398780"/>
            <a:chOff x="1312362" y="1619204"/>
            <a:chExt cx="862330" cy="398780"/>
          </a:xfrm>
        </p:grpSpPr>
        <p:sp>
          <p:nvSpPr>
            <p:cNvPr id="2316" name="Google Shape;2316;p120"/>
            <p:cNvSpPr/>
            <p:nvPr/>
          </p:nvSpPr>
          <p:spPr>
            <a:xfrm>
              <a:off x="1312362" y="1619204"/>
              <a:ext cx="862330" cy="398780"/>
            </a:xfrm>
            <a:custGeom>
              <a:rect b="b" l="l" r="r" t="t"/>
              <a:pathLst>
                <a:path extrusionOk="0" h="398780" w="862330">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7" name="Google Shape;2317;p120"/>
            <p:cNvSpPr/>
            <p:nvPr/>
          </p:nvSpPr>
          <p:spPr>
            <a:xfrm>
              <a:off x="1312362" y="1619204"/>
              <a:ext cx="862330" cy="398780"/>
            </a:xfrm>
            <a:custGeom>
              <a:rect b="b" l="l" r="r" t="t"/>
              <a:pathLst>
                <a:path extrusionOk="0" h="398780" w="86233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18" name="Google Shape;2318;p120"/>
          <p:cNvSpPr txBox="1"/>
          <p:nvPr/>
        </p:nvSpPr>
        <p:spPr>
          <a:xfrm>
            <a:off x="3025942" y="1688220"/>
            <a:ext cx="572135" cy="19749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200" u="sng">
                <a:solidFill>
                  <a:schemeClr val="dk1"/>
                </a:solidFill>
                <a:latin typeface="Calibri"/>
                <a:ea typeface="Calibri"/>
                <a:cs typeface="Calibri"/>
                <a:sym typeface="Calibri"/>
              </a:rPr>
              <a:t>Player ID</a:t>
            </a:r>
            <a:endParaRPr sz="1200">
              <a:solidFill>
                <a:schemeClr val="dk1"/>
              </a:solidFill>
              <a:latin typeface="Calibri"/>
              <a:ea typeface="Calibri"/>
              <a:cs typeface="Calibri"/>
              <a:sym typeface="Calibri"/>
            </a:endParaRPr>
          </a:p>
        </p:txBody>
      </p:sp>
      <p:sp>
        <p:nvSpPr>
          <p:cNvPr id="2319" name="Google Shape;2319;p120"/>
          <p:cNvSpPr txBox="1"/>
          <p:nvPr/>
        </p:nvSpPr>
        <p:spPr>
          <a:xfrm>
            <a:off x="6452284" y="2255605"/>
            <a:ext cx="43166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Weight(</a:t>
            </a:r>
            <a:r>
              <a:rPr lang="en-US" sz="1800" u="sng">
                <a:solidFill>
                  <a:schemeClr val="dk1"/>
                </a:solidFill>
                <a:latin typeface="Calibri"/>
                <a:ea typeface="Calibri"/>
                <a:cs typeface="Calibri"/>
                <a:sym typeface="Calibri"/>
              </a:rPr>
              <a:t>Player_id, time_period</a:t>
            </a:r>
            <a:r>
              <a:rPr lang="en-US" sz="1800">
                <a:solidFill>
                  <a:schemeClr val="dk1"/>
                </a:solidFill>
                <a:latin typeface="Calibri"/>
                <a:ea typeface="Calibri"/>
                <a:cs typeface="Calibri"/>
                <a:sym typeface="Calibri"/>
              </a:rPr>
              <a:t>, weightinlbs)</a:t>
            </a:r>
            <a:endParaRPr/>
          </a:p>
        </p:txBody>
      </p:sp>
      <p:cxnSp>
        <p:nvCxnSpPr>
          <p:cNvPr id="2320" name="Google Shape;2320;p120"/>
          <p:cNvCxnSpPr/>
          <p:nvPr/>
        </p:nvCxnSpPr>
        <p:spPr>
          <a:xfrm rot="10800000">
            <a:off x="3400258" y="2017985"/>
            <a:ext cx="363220" cy="297072"/>
          </a:xfrm>
          <a:prstGeom prst="straightConnector1">
            <a:avLst/>
          </a:prstGeom>
          <a:noFill/>
          <a:ln cap="flat" cmpd="sng" w="9525">
            <a:solidFill>
              <a:schemeClr val="dk1"/>
            </a:solidFill>
            <a:prstDash val="solid"/>
            <a:miter lim="800000"/>
            <a:headEnd len="sm" w="sm" type="none"/>
            <a:tailEnd len="sm" w="sm" type="none"/>
          </a:ln>
        </p:spPr>
      </p:cxnSp>
      <p:cxnSp>
        <p:nvCxnSpPr>
          <p:cNvPr id="2321" name="Google Shape;2321;p120"/>
          <p:cNvCxnSpPr/>
          <p:nvPr/>
        </p:nvCxnSpPr>
        <p:spPr>
          <a:xfrm flipH="1">
            <a:off x="4126698" y="2017985"/>
            <a:ext cx="384617" cy="297072"/>
          </a:xfrm>
          <a:prstGeom prst="straightConnector1">
            <a:avLst/>
          </a:prstGeom>
          <a:noFill/>
          <a:ln cap="flat" cmpd="sng" w="9525">
            <a:solidFill>
              <a:schemeClr val="accent1"/>
            </a:solidFill>
            <a:prstDash val="solid"/>
            <a:miter lim="800000"/>
            <a:headEnd len="sm" w="sm" type="none"/>
            <a:tailEnd len="sm" w="sm" type="none"/>
          </a:ln>
        </p:spPr>
      </p:cxn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5" name="Shape 2325"/>
        <p:cNvGrpSpPr/>
        <p:nvPr/>
      </p:nvGrpSpPr>
      <p:grpSpPr>
        <a:xfrm>
          <a:off x="0" y="0"/>
          <a:ext cx="0" cy="0"/>
          <a:chOff x="0" y="0"/>
          <a:chExt cx="0" cy="0"/>
        </a:xfrm>
      </p:grpSpPr>
      <p:sp>
        <p:nvSpPr>
          <p:cNvPr id="2326" name="Google Shape;2326;p1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Mapping EER Model Constructs to Relations</a:t>
            </a:r>
            <a:endParaRPr/>
          </a:p>
        </p:txBody>
      </p:sp>
      <p:sp>
        <p:nvSpPr>
          <p:cNvPr id="2327" name="Google Shape;2327;p1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Extending ER-to-relational mapping algorithm</a:t>
            </a:r>
            <a:endParaRPr/>
          </a:p>
        </p:txBody>
      </p:sp>
      <p:sp>
        <p:nvSpPr>
          <p:cNvPr id="2328" name="Google Shape;2328;p1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2" name="Shape 2332"/>
        <p:cNvGrpSpPr/>
        <p:nvPr/>
      </p:nvGrpSpPr>
      <p:grpSpPr>
        <a:xfrm>
          <a:off x="0" y="0"/>
          <a:ext cx="0" cy="0"/>
          <a:chOff x="0" y="0"/>
          <a:chExt cx="0" cy="0"/>
        </a:xfrm>
      </p:grpSpPr>
      <p:sp>
        <p:nvSpPr>
          <p:cNvPr id="2333" name="Google Shape;2333;p1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Mapping of Specialization or Generalization</a:t>
            </a:r>
            <a:endParaRPr/>
          </a:p>
        </p:txBody>
      </p:sp>
      <p:sp>
        <p:nvSpPr>
          <p:cNvPr id="2334" name="Google Shape;2334;p122"/>
          <p:cNvSpPr txBox="1"/>
          <p:nvPr>
            <p:ph idx="1" type="body"/>
          </p:nvPr>
        </p:nvSpPr>
        <p:spPr>
          <a:xfrm>
            <a:off x="867594" y="1548905"/>
            <a:ext cx="6174486" cy="4057689"/>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Step 8: Options for Mapping Specialization or Generalization</a:t>
            </a:r>
            <a:endParaRPr/>
          </a:p>
          <a:p>
            <a:pPr indent="-228600" lvl="1" marL="685800" rtl="0" algn="l">
              <a:lnSpc>
                <a:spcPct val="90000"/>
              </a:lnSpc>
              <a:spcBef>
                <a:spcPts val="500"/>
              </a:spcBef>
              <a:spcAft>
                <a:spcPts val="0"/>
              </a:spcAft>
              <a:buClr>
                <a:schemeClr val="dk1"/>
              </a:buClr>
              <a:buSzPct val="100000"/>
              <a:buChar char="•"/>
            </a:pPr>
            <a:r>
              <a:rPr b="1" lang="en-US"/>
              <a:t>Option 8A: Multiple relations—superclass and subclasses</a:t>
            </a:r>
            <a:endParaRPr/>
          </a:p>
          <a:p>
            <a:pPr indent="-228600" lvl="2" marL="1143000" rtl="0" algn="l">
              <a:lnSpc>
                <a:spcPct val="90000"/>
              </a:lnSpc>
              <a:spcBef>
                <a:spcPts val="500"/>
              </a:spcBef>
              <a:spcAft>
                <a:spcPts val="0"/>
              </a:spcAft>
              <a:buClr>
                <a:schemeClr val="dk1"/>
              </a:buClr>
              <a:buSzPct val="100000"/>
              <a:buChar char="•"/>
            </a:pPr>
            <a:r>
              <a:rPr lang="en-US"/>
              <a:t>For any specialization (total or partial, disjoint or overlapping)</a:t>
            </a:r>
            <a:endParaRPr/>
          </a:p>
          <a:p>
            <a:pPr indent="0" lvl="2" marL="914400" rtl="0" algn="l">
              <a:lnSpc>
                <a:spcPct val="90000"/>
              </a:lnSpc>
              <a:spcBef>
                <a:spcPts val="500"/>
              </a:spcBef>
              <a:spcAft>
                <a:spcPts val="0"/>
              </a:spcAft>
              <a:buClr>
                <a:schemeClr val="dk1"/>
              </a:buClr>
              <a:buSzPct val="100000"/>
              <a:buNone/>
            </a:pPr>
            <a:r>
              <a:t/>
            </a:r>
            <a:endParaRPr b="1"/>
          </a:p>
          <a:p>
            <a:pPr indent="0" lvl="2" marL="914400" rtl="0" algn="l">
              <a:lnSpc>
                <a:spcPct val="90000"/>
              </a:lnSpc>
              <a:spcBef>
                <a:spcPts val="500"/>
              </a:spcBef>
              <a:spcAft>
                <a:spcPts val="0"/>
              </a:spcAft>
              <a:buClr>
                <a:schemeClr val="dk1"/>
              </a:buClr>
              <a:buSzPct val="100000"/>
              <a:buNone/>
            </a:pPr>
            <a:r>
              <a:rPr b="1" lang="en-US"/>
              <a:t>Person</a:t>
            </a:r>
            <a:r>
              <a:rPr lang="en-US"/>
              <a:t>(ssn, name)</a:t>
            </a:r>
            <a:endParaRPr/>
          </a:p>
          <a:p>
            <a:pPr indent="0" lvl="2" marL="914400" rtl="0" algn="l">
              <a:lnSpc>
                <a:spcPct val="90000"/>
              </a:lnSpc>
              <a:spcBef>
                <a:spcPts val="500"/>
              </a:spcBef>
              <a:spcAft>
                <a:spcPts val="0"/>
              </a:spcAft>
              <a:buClr>
                <a:schemeClr val="dk1"/>
              </a:buClr>
              <a:buSzPct val="100000"/>
              <a:buNone/>
            </a:pPr>
            <a:r>
              <a:rPr b="1" lang="en-US"/>
              <a:t>Employee</a:t>
            </a:r>
            <a:r>
              <a:rPr lang="en-US"/>
              <a:t>(ssn, salary)</a:t>
            </a:r>
            <a:endParaRPr/>
          </a:p>
          <a:p>
            <a:pPr indent="0" lvl="2" marL="914400" rtl="0" algn="l">
              <a:lnSpc>
                <a:spcPct val="90000"/>
              </a:lnSpc>
              <a:spcBef>
                <a:spcPts val="500"/>
              </a:spcBef>
              <a:spcAft>
                <a:spcPts val="0"/>
              </a:spcAft>
              <a:buClr>
                <a:schemeClr val="dk1"/>
              </a:buClr>
              <a:buSzPct val="100000"/>
              <a:buNone/>
            </a:pPr>
            <a:r>
              <a:rPr b="1" lang="en-US"/>
              <a:t>Student</a:t>
            </a:r>
            <a:r>
              <a:rPr lang="en-US"/>
              <a:t>(ssn, major)</a:t>
            </a:r>
            <a:endParaRPr/>
          </a:p>
          <a:p>
            <a:pPr indent="0" lvl="2" marL="914400" rtl="0" algn="l">
              <a:lnSpc>
                <a:spcPct val="90000"/>
              </a:lnSpc>
              <a:spcBef>
                <a:spcPts val="500"/>
              </a:spcBef>
              <a:spcAft>
                <a:spcPts val="0"/>
              </a:spcAft>
              <a:buClr>
                <a:schemeClr val="dk1"/>
              </a:buClr>
              <a:buSzPct val="100000"/>
              <a:buNone/>
            </a:pPr>
            <a:r>
              <a:rPr b="1" lang="en-US"/>
              <a:t>Alumnus</a:t>
            </a:r>
            <a:r>
              <a:rPr lang="en-US"/>
              <a:t>(ssn)</a:t>
            </a:r>
            <a:endParaRPr/>
          </a:p>
          <a:p>
            <a:pPr indent="0" lvl="2" marL="914400" rtl="0" algn="l">
              <a:lnSpc>
                <a:spcPct val="90000"/>
              </a:lnSpc>
              <a:spcBef>
                <a:spcPts val="500"/>
              </a:spcBef>
              <a:spcAft>
                <a:spcPts val="0"/>
              </a:spcAft>
              <a:buClr>
                <a:schemeClr val="dk1"/>
              </a:buClr>
              <a:buSzPct val="100000"/>
              <a:buNone/>
            </a:pPr>
            <a:r>
              <a:t/>
            </a:r>
            <a:endParaRPr/>
          </a:p>
          <a:p>
            <a:pPr indent="-228600" lvl="1" marL="685800" rtl="0" algn="l">
              <a:lnSpc>
                <a:spcPct val="90000"/>
              </a:lnSpc>
              <a:spcBef>
                <a:spcPts val="500"/>
              </a:spcBef>
              <a:spcAft>
                <a:spcPts val="0"/>
              </a:spcAft>
              <a:buClr>
                <a:schemeClr val="dk1"/>
              </a:buClr>
              <a:buSzPct val="100000"/>
              <a:buChar char="•"/>
            </a:pPr>
            <a:r>
              <a:rPr b="1" lang="en-US"/>
              <a:t>Option 8B: Multiple relations—subclass relations only</a:t>
            </a:r>
            <a:endParaRPr/>
          </a:p>
          <a:p>
            <a:pPr indent="-228600" lvl="2" marL="1143000" rtl="0" algn="l">
              <a:lnSpc>
                <a:spcPct val="90000"/>
              </a:lnSpc>
              <a:spcBef>
                <a:spcPts val="500"/>
              </a:spcBef>
              <a:spcAft>
                <a:spcPts val="0"/>
              </a:spcAft>
              <a:buClr>
                <a:schemeClr val="dk1"/>
              </a:buClr>
              <a:buSzPct val="100000"/>
              <a:buChar char="•"/>
            </a:pPr>
            <a:r>
              <a:rPr lang="en-US"/>
              <a:t>Subclasses are total</a:t>
            </a:r>
            <a:endParaRPr/>
          </a:p>
          <a:p>
            <a:pPr indent="-228600" lvl="2" marL="1143000" rtl="0" algn="l">
              <a:lnSpc>
                <a:spcPct val="90000"/>
              </a:lnSpc>
              <a:spcBef>
                <a:spcPts val="500"/>
              </a:spcBef>
              <a:spcAft>
                <a:spcPts val="0"/>
              </a:spcAft>
              <a:buClr>
                <a:schemeClr val="dk1"/>
              </a:buClr>
              <a:buSzPct val="100000"/>
              <a:buChar char="•"/>
            </a:pPr>
            <a:r>
              <a:rPr lang="en-US"/>
              <a:t>Specialization has disjointedness constraint</a:t>
            </a:r>
            <a:endParaRPr/>
          </a:p>
          <a:p>
            <a:pPr indent="-139700" lvl="2" marL="1143000" rtl="0" algn="l">
              <a:lnSpc>
                <a:spcPct val="90000"/>
              </a:lnSpc>
              <a:spcBef>
                <a:spcPts val="500"/>
              </a:spcBef>
              <a:spcAft>
                <a:spcPts val="0"/>
              </a:spcAft>
              <a:buClr>
                <a:schemeClr val="dk1"/>
              </a:buClr>
              <a:buSzPct val="100000"/>
              <a:buNone/>
            </a:pPr>
            <a:r>
              <a:t/>
            </a:r>
            <a:endParaRPr/>
          </a:p>
          <a:p>
            <a:pPr indent="0" lvl="2" marL="914400" rtl="0" algn="l">
              <a:lnSpc>
                <a:spcPct val="90000"/>
              </a:lnSpc>
              <a:spcBef>
                <a:spcPts val="500"/>
              </a:spcBef>
              <a:spcAft>
                <a:spcPts val="0"/>
              </a:spcAft>
              <a:buClr>
                <a:schemeClr val="dk1"/>
              </a:buClr>
              <a:buSzPct val="100000"/>
              <a:buNone/>
            </a:pPr>
            <a:r>
              <a:rPr b="1" lang="en-US"/>
              <a:t>Employee</a:t>
            </a:r>
            <a:r>
              <a:rPr lang="en-US"/>
              <a:t>(ssn, name,salary)</a:t>
            </a:r>
            <a:endParaRPr/>
          </a:p>
          <a:p>
            <a:pPr indent="0" lvl="2" marL="914400" rtl="0" algn="l">
              <a:lnSpc>
                <a:spcPct val="90000"/>
              </a:lnSpc>
              <a:spcBef>
                <a:spcPts val="500"/>
              </a:spcBef>
              <a:spcAft>
                <a:spcPts val="0"/>
              </a:spcAft>
              <a:buClr>
                <a:schemeClr val="dk1"/>
              </a:buClr>
              <a:buSzPct val="100000"/>
              <a:buNone/>
            </a:pPr>
            <a:r>
              <a:rPr b="1" lang="en-US"/>
              <a:t>Student</a:t>
            </a:r>
            <a:r>
              <a:rPr lang="en-US"/>
              <a:t>(ssn, name,major)</a:t>
            </a:r>
            <a:endParaRPr/>
          </a:p>
          <a:p>
            <a:pPr indent="0" lvl="2" marL="914400" rtl="0" algn="l">
              <a:lnSpc>
                <a:spcPct val="90000"/>
              </a:lnSpc>
              <a:spcBef>
                <a:spcPts val="500"/>
              </a:spcBef>
              <a:spcAft>
                <a:spcPts val="0"/>
              </a:spcAft>
              <a:buClr>
                <a:schemeClr val="dk1"/>
              </a:buClr>
              <a:buSzPct val="100000"/>
              <a:buNone/>
            </a:pPr>
            <a:r>
              <a:rPr b="1" lang="en-US"/>
              <a:t>Alumnus</a:t>
            </a:r>
            <a:r>
              <a:rPr lang="en-US"/>
              <a:t>(ssn,name)</a:t>
            </a:r>
            <a:endParaRPr/>
          </a:p>
          <a:p>
            <a:pPr indent="-139700" lvl="2" marL="1143000" rtl="0" algn="l">
              <a:lnSpc>
                <a:spcPct val="90000"/>
              </a:lnSpc>
              <a:spcBef>
                <a:spcPts val="500"/>
              </a:spcBef>
              <a:spcAft>
                <a:spcPts val="0"/>
              </a:spcAft>
              <a:buClr>
                <a:schemeClr val="dk1"/>
              </a:buClr>
              <a:buSzPct val="100000"/>
              <a:buNone/>
            </a:pPr>
            <a:r>
              <a:t/>
            </a:r>
            <a:endParaRPr/>
          </a:p>
        </p:txBody>
      </p:sp>
      <p:pic>
        <p:nvPicPr>
          <p:cNvPr id="2335" name="Google Shape;2335;p122"/>
          <p:cNvPicPr preferRelativeResize="0"/>
          <p:nvPr/>
        </p:nvPicPr>
        <p:blipFill rotWithShape="1">
          <a:blip r:embed="rId3">
            <a:alphaModFix/>
          </a:blip>
          <a:srcRect b="30122" l="0" r="9093" t="0"/>
          <a:stretch/>
        </p:blipFill>
        <p:spPr>
          <a:xfrm>
            <a:off x="8066171" y="4001003"/>
            <a:ext cx="3620626" cy="2029186"/>
          </a:xfrm>
          <a:prstGeom prst="rect">
            <a:avLst/>
          </a:prstGeom>
          <a:noFill/>
          <a:ln>
            <a:noFill/>
          </a:ln>
        </p:spPr>
      </p:pic>
      <p:grpSp>
        <p:nvGrpSpPr>
          <p:cNvPr id="2336" name="Google Shape;2336;p122"/>
          <p:cNvGrpSpPr/>
          <p:nvPr/>
        </p:nvGrpSpPr>
        <p:grpSpPr>
          <a:xfrm>
            <a:off x="7757194" y="21094"/>
            <a:ext cx="4276237" cy="3321269"/>
            <a:chOff x="7757194" y="21094"/>
            <a:chExt cx="4276237" cy="3321269"/>
          </a:xfrm>
        </p:grpSpPr>
        <p:grpSp>
          <p:nvGrpSpPr>
            <p:cNvPr id="2337" name="Google Shape;2337;p122"/>
            <p:cNvGrpSpPr/>
            <p:nvPr/>
          </p:nvGrpSpPr>
          <p:grpSpPr>
            <a:xfrm>
              <a:off x="8383495" y="21094"/>
              <a:ext cx="3649936" cy="2845963"/>
              <a:chOff x="8383495" y="21094"/>
              <a:chExt cx="3649936" cy="2845963"/>
            </a:xfrm>
          </p:grpSpPr>
          <p:sp>
            <p:nvSpPr>
              <p:cNvPr id="2338" name="Google Shape;2338;p122"/>
              <p:cNvSpPr/>
              <p:nvPr/>
            </p:nvSpPr>
            <p:spPr>
              <a:xfrm>
                <a:off x="9634322" y="504103"/>
                <a:ext cx="1702051" cy="344031"/>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Person</a:t>
                </a:r>
                <a:endParaRPr/>
              </a:p>
            </p:txBody>
          </p:sp>
          <p:sp>
            <p:nvSpPr>
              <p:cNvPr id="2339" name="Google Shape;2339;p122"/>
              <p:cNvSpPr/>
              <p:nvPr/>
            </p:nvSpPr>
            <p:spPr>
              <a:xfrm>
                <a:off x="9960241" y="1167269"/>
                <a:ext cx="1060704" cy="914400"/>
              </a:xfrm>
              <a:prstGeom prst="triangle">
                <a:avLst>
                  <a:gd fmla="val 50000" name="adj"/>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IsA</a:t>
                </a:r>
                <a:endParaRPr sz="1800">
                  <a:solidFill>
                    <a:schemeClr val="lt1"/>
                  </a:solidFill>
                  <a:latin typeface="Calibri"/>
                  <a:ea typeface="Calibri"/>
                  <a:cs typeface="Calibri"/>
                  <a:sym typeface="Calibri"/>
                </a:endParaRPr>
              </a:p>
            </p:txBody>
          </p:sp>
          <p:cxnSp>
            <p:nvCxnSpPr>
              <p:cNvPr id="2340" name="Google Shape;2340;p122"/>
              <p:cNvCxnSpPr>
                <a:stCxn id="2338" idx="2"/>
                <a:endCxn id="2339" idx="0"/>
              </p:cNvCxnSpPr>
              <p:nvPr/>
            </p:nvCxnSpPr>
            <p:spPr>
              <a:xfrm>
                <a:off x="10485348" y="848134"/>
                <a:ext cx="5100" cy="319200"/>
              </a:xfrm>
              <a:prstGeom prst="straightConnector1">
                <a:avLst/>
              </a:prstGeom>
              <a:noFill/>
              <a:ln cap="flat" cmpd="sng" w="9525">
                <a:solidFill>
                  <a:schemeClr val="accent1"/>
                </a:solidFill>
                <a:prstDash val="solid"/>
                <a:miter lim="800000"/>
                <a:headEnd len="sm" w="sm" type="none"/>
                <a:tailEnd len="sm" w="sm" type="none"/>
              </a:ln>
            </p:spPr>
          </p:cxnSp>
          <p:sp>
            <p:nvSpPr>
              <p:cNvPr id="2341" name="Google Shape;2341;p122"/>
              <p:cNvSpPr/>
              <p:nvPr/>
            </p:nvSpPr>
            <p:spPr>
              <a:xfrm>
                <a:off x="8383495" y="2523026"/>
                <a:ext cx="1250827" cy="344031"/>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Employee</a:t>
                </a:r>
                <a:endParaRPr/>
              </a:p>
            </p:txBody>
          </p:sp>
          <p:sp>
            <p:nvSpPr>
              <p:cNvPr id="2342" name="Google Shape;2342;p122"/>
              <p:cNvSpPr/>
              <p:nvPr/>
            </p:nvSpPr>
            <p:spPr>
              <a:xfrm>
                <a:off x="10972727" y="2495865"/>
                <a:ext cx="1060704" cy="344031"/>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Alumnus</a:t>
                </a:r>
                <a:endParaRPr/>
              </a:p>
            </p:txBody>
          </p:sp>
          <p:sp>
            <p:nvSpPr>
              <p:cNvPr id="2343" name="Google Shape;2343;p122"/>
              <p:cNvSpPr/>
              <p:nvPr/>
            </p:nvSpPr>
            <p:spPr>
              <a:xfrm>
                <a:off x="9773172" y="2501901"/>
                <a:ext cx="1060704" cy="344031"/>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Student</a:t>
                </a:r>
                <a:endParaRPr/>
              </a:p>
            </p:txBody>
          </p:sp>
          <p:sp>
            <p:nvSpPr>
              <p:cNvPr id="2344" name="Google Shape;2344;p122"/>
              <p:cNvSpPr/>
              <p:nvPr/>
            </p:nvSpPr>
            <p:spPr>
              <a:xfrm>
                <a:off x="9245024" y="21094"/>
                <a:ext cx="1041148" cy="344031"/>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lt1"/>
                    </a:solidFill>
                    <a:latin typeface="Calibri"/>
                    <a:ea typeface="Calibri"/>
                    <a:cs typeface="Calibri"/>
                    <a:sym typeface="Calibri"/>
                  </a:rPr>
                  <a:t>SSN</a:t>
                </a:r>
                <a:endParaRPr/>
              </a:p>
            </p:txBody>
          </p:sp>
          <p:cxnSp>
            <p:nvCxnSpPr>
              <p:cNvPr id="2345" name="Google Shape;2345;p122"/>
              <p:cNvCxnSpPr>
                <a:stCxn id="2338" idx="0"/>
                <a:endCxn id="2344" idx="5"/>
              </p:cNvCxnSpPr>
              <p:nvPr/>
            </p:nvCxnSpPr>
            <p:spPr>
              <a:xfrm rot="10800000">
                <a:off x="10133748" y="314803"/>
                <a:ext cx="351600" cy="189300"/>
              </a:xfrm>
              <a:prstGeom prst="straightConnector1">
                <a:avLst/>
              </a:prstGeom>
              <a:noFill/>
              <a:ln cap="flat" cmpd="sng" w="9525">
                <a:solidFill>
                  <a:schemeClr val="dk1"/>
                </a:solidFill>
                <a:prstDash val="solid"/>
                <a:miter lim="800000"/>
                <a:headEnd len="sm" w="sm" type="none"/>
                <a:tailEnd len="sm" w="sm" type="none"/>
              </a:ln>
            </p:spPr>
          </p:cxnSp>
          <p:cxnSp>
            <p:nvCxnSpPr>
              <p:cNvPr id="2346" name="Google Shape;2346;p122"/>
              <p:cNvCxnSpPr>
                <a:stCxn id="2339" idx="3"/>
                <a:endCxn id="2341" idx="0"/>
              </p:cNvCxnSpPr>
              <p:nvPr/>
            </p:nvCxnSpPr>
            <p:spPr>
              <a:xfrm flipH="1">
                <a:off x="9008893" y="2081669"/>
                <a:ext cx="1481700" cy="441300"/>
              </a:xfrm>
              <a:prstGeom prst="straightConnector1">
                <a:avLst/>
              </a:prstGeom>
              <a:noFill/>
              <a:ln cap="flat" cmpd="sng" w="9525">
                <a:solidFill>
                  <a:schemeClr val="accent1"/>
                </a:solidFill>
                <a:prstDash val="solid"/>
                <a:miter lim="800000"/>
                <a:headEnd len="sm" w="sm" type="none"/>
                <a:tailEnd len="sm" w="sm" type="none"/>
              </a:ln>
            </p:spPr>
          </p:cxnSp>
          <p:cxnSp>
            <p:nvCxnSpPr>
              <p:cNvPr id="2347" name="Google Shape;2347;p122"/>
              <p:cNvCxnSpPr>
                <a:stCxn id="2339" idx="3"/>
                <a:endCxn id="2343" idx="0"/>
              </p:cNvCxnSpPr>
              <p:nvPr/>
            </p:nvCxnSpPr>
            <p:spPr>
              <a:xfrm flipH="1">
                <a:off x="10303393" y="2081669"/>
                <a:ext cx="187200" cy="420300"/>
              </a:xfrm>
              <a:prstGeom prst="straightConnector1">
                <a:avLst/>
              </a:prstGeom>
              <a:noFill/>
              <a:ln cap="flat" cmpd="sng" w="9525">
                <a:solidFill>
                  <a:schemeClr val="accent1"/>
                </a:solidFill>
                <a:prstDash val="solid"/>
                <a:miter lim="800000"/>
                <a:headEnd len="sm" w="sm" type="none"/>
                <a:tailEnd len="sm" w="sm" type="none"/>
              </a:ln>
            </p:spPr>
          </p:cxnSp>
          <p:cxnSp>
            <p:nvCxnSpPr>
              <p:cNvPr id="2348" name="Google Shape;2348;p122"/>
              <p:cNvCxnSpPr>
                <a:stCxn id="2339" idx="3"/>
                <a:endCxn id="2342" idx="0"/>
              </p:cNvCxnSpPr>
              <p:nvPr/>
            </p:nvCxnSpPr>
            <p:spPr>
              <a:xfrm>
                <a:off x="10490593" y="2081669"/>
                <a:ext cx="1012500" cy="414300"/>
              </a:xfrm>
              <a:prstGeom prst="straightConnector1">
                <a:avLst/>
              </a:prstGeom>
              <a:noFill/>
              <a:ln cap="flat" cmpd="sng" w="9525">
                <a:solidFill>
                  <a:schemeClr val="accent1"/>
                </a:solidFill>
                <a:prstDash val="solid"/>
                <a:miter lim="800000"/>
                <a:headEnd len="sm" w="sm" type="none"/>
                <a:tailEnd len="sm" w="sm" type="none"/>
              </a:ln>
            </p:spPr>
          </p:cxnSp>
        </p:grpSp>
        <p:sp>
          <p:nvSpPr>
            <p:cNvPr id="2349" name="Google Shape;2349;p122"/>
            <p:cNvSpPr/>
            <p:nvPr/>
          </p:nvSpPr>
          <p:spPr>
            <a:xfrm>
              <a:off x="9876484" y="2992469"/>
              <a:ext cx="1041148" cy="344031"/>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major</a:t>
              </a:r>
              <a:endParaRPr/>
            </a:p>
          </p:txBody>
        </p:sp>
        <p:cxnSp>
          <p:nvCxnSpPr>
            <p:cNvPr id="2350" name="Google Shape;2350;p122"/>
            <p:cNvCxnSpPr>
              <a:stCxn id="2343" idx="2"/>
              <a:endCxn id="2349" idx="0"/>
            </p:cNvCxnSpPr>
            <p:nvPr/>
          </p:nvCxnSpPr>
          <p:spPr>
            <a:xfrm>
              <a:off x="10303524" y="2845932"/>
              <a:ext cx="93600" cy="146400"/>
            </a:xfrm>
            <a:prstGeom prst="straightConnector1">
              <a:avLst/>
            </a:prstGeom>
            <a:noFill/>
            <a:ln cap="flat" cmpd="sng" w="9525">
              <a:solidFill>
                <a:schemeClr val="accent1"/>
              </a:solidFill>
              <a:prstDash val="solid"/>
              <a:miter lim="800000"/>
              <a:headEnd len="sm" w="sm" type="none"/>
              <a:tailEnd len="sm" w="sm" type="none"/>
            </a:ln>
          </p:spPr>
        </p:cxnSp>
        <p:sp>
          <p:nvSpPr>
            <p:cNvPr id="2351" name="Google Shape;2351;p122"/>
            <p:cNvSpPr/>
            <p:nvPr/>
          </p:nvSpPr>
          <p:spPr>
            <a:xfrm>
              <a:off x="7757194" y="2998332"/>
              <a:ext cx="1041148" cy="344031"/>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salary</a:t>
              </a:r>
              <a:endParaRPr/>
            </a:p>
          </p:txBody>
        </p:sp>
        <p:cxnSp>
          <p:nvCxnSpPr>
            <p:cNvPr id="2352" name="Google Shape;2352;p122"/>
            <p:cNvCxnSpPr>
              <a:endCxn id="2351" idx="0"/>
            </p:cNvCxnSpPr>
            <p:nvPr/>
          </p:nvCxnSpPr>
          <p:spPr>
            <a:xfrm flipH="1">
              <a:off x="8277768" y="2851932"/>
              <a:ext cx="121200" cy="146400"/>
            </a:xfrm>
            <a:prstGeom prst="straightConnector1">
              <a:avLst/>
            </a:prstGeom>
            <a:noFill/>
            <a:ln cap="flat" cmpd="sng" w="9525">
              <a:solidFill>
                <a:schemeClr val="accent1"/>
              </a:solidFill>
              <a:prstDash val="solid"/>
              <a:miter lim="800000"/>
              <a:headEnd len="sm" w="sm" type="none"/>
              <a:tailEnd len="sm" w="sm" type="none"/>
            </a:ln>
          </p:spPr>
        </p:cxnSp>
        <p:sp>
          <p:nvSpPr>
            <p:cNvPr id="2353" name="Google Shape;2353;p122"/>
            <p:cNvSpPr/>
            <p:nvPr/>
          </p:nvSpPr>
          <p:spPr>
            <a:xfrm>
              <a:off x="7930836" y="511662"/>
              <a:ext cx="1113576" cy="316149"/>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Name</a:t>
              </a:r>
              <a:endParaRPr/>
            </a:p>
          </p:txBody>
        </p:sp>
        <p:cxnSp>
          <p:nvCxnSpPr>
            <p:cNvPr id="2354" name="Google Shape;2354;p122"/>
            <p:cNvCxnSpPr>
              <a:stCxn id="2353" idx="6"/>
            </p:cNvCxnSpPr>
            <p:nvPr/>
          </p:nvCxnSpPr>
          <p:spPr>
            <a:xfrm>
              <a:off x="9044412" y="669737"/>
              <a:ext cx="728700" cy="39300"/>
            </a:xfrm>
            <a:prstGeom prst="straightConnector1">
              <a:avLst/>
            </a:prstGeom>
            <a:noFill/>
            <a:ln cap="flat" cmpd="sng" w="9525">
              <a:solidFill>
                <a:schemeClr val="accent1"/>
              </a:solidFill>
              <a:prstDash val="solid"/>
              <a:miter lim="800000"/>
              <a:headEnd len="sm" w="sm" type="none"/>
              <a:tailEnd len="sm" w="sm" type="none"/>
            </a:ln>
          </p:spPr>
        </p:cxnSp>
      </p:grpSp>
      <p:sp>
        <p:nvSpPr>
          <p:cNvPr id="2355" name="Google Shape;2355;p1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9" name="Shape 2359"/>
        <p:cNvGrpSpPr/>
        <p:nvPr/>
      </p:nvGrpSpPr>
      <p:grpSpPr>
        <a:xfrm>
          <a:off x="0" y="0"/>
          <a:ext cx="0" cy="0"/>
          <a:chOff x="0" y="0"/>
          <a:chExt cx="0" cy="0"/>
        </a:xfrm>
      </p:grpSpPr>
      <p:sp>
        <p:nvSpPr>
          <p:cNvPr id="2360" name="Google Shape;2360;p1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Mapping of Specialization or Generalization (cont’d.)</a:t>
            </a:r>
            <a:endParaRPr/>
          </a:p>
        </p:txBody>
      </p:sp>
      <p:sp>
        <p:nvSpPr>
          <p:cNvPr id="2361" name="Google Shape;2361;p1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1" marL="685800" rtl="0" algn="l">
              <a:lnSpc>
                <a:spcPct val="90000"/>
              </a:lnSpc>
              <a:spcBef>
                <a:spcPts val="0"/>
              </a:spcBef>
              <a:spcAft>
                <a:spcPts val="0"/>
              </a:spcAft>
              <a:buClr>
                <a:schemeClr val="dk1"/>
              </a:buClr>
              <a:buSzPts val="2400"/>
              <a:buChar char="•"/>
            </a:pPr>
            <a:r>
              <a:rPr b="1" lang="en-US"/>
              <a:t>Option 8C: Single relation with one type attribute</a:t>
            </a:r>
            <a:endParaRPr/>
          </a:p>
          <a:p>
            <a:pPr indent="-228600" lvl="2" marL="1143000" rtl="0" algn="l">
              <a:lnSpc>
                <a:spcPct val="90000"/>
              </a:lnSpc>
              <a:spcBef>
                <a:spcPts val="500"/>
              </a:spcBef>
              <a:spcAft>
                <a:spcPts val="0"/>
              </a:spcAft>
              <a:buClr>
                <a:schemeClr val="dk1"/>
              </a:buClr>
              <a:buSzPts val="2000"/>
              <a:buChar char="•"/>
            </a:pPr>
            <a:r>
              <a:rPr lang="en-US"/>
              <a:t>Type or discriminating attribute indicates subclass of tuple</a:t>
            </a:r>
            <a:endParaRPr/>
          </a:p>
          <a:p>
            <a:pPr indent="-228600" lvl="2" marL="1143000" rtl="0" algn="l">
              <a:lnSpc>
                <a:spcPct val="90000"/>
              </a:lnSpc>
              <a:spcBef>
                <a:spcPts val="500"/>
              </a:spcBef>
              <a:spcAft>
                <a:spcPts val="0"/>
              </a:spcAft>
              <a:buClr>
                <a:schemeClr val="dk1"/>
              </a:buClr>
              <a:buSzPts val="2000"/>
              <a:buChar char="•"/>
            </a:pPr>
            <a:r>
              <a:rPr lang="en-US"/>
              <a:t>Subclasses are disjoint</a:t>
            </a:r>
            <a:endParaRPr/>
          </a:p>
          <a:p>
            <a:pPr indent="-228600" lvl="3" marL="1600200" rtl="0" algn="l">
              <a:lnSpc>
                <a:spcPct val="90000"/>
              </a:lnSpc>
              <a:spcBef>
                <a:spcPts val="500"/>
              </a:spcBef>
              <a:spcAft>
                <a:spcPts val="0"/>
              </a:spcAft>
              <a:buClr>
                <a:schemeClr val="dk1"/>
              </a:buClr>
              <a:buSzPts val="1800"/>
              <a:buChar char="•"/>
            </a:pPr>
            <a:r>
              <a:rPr lang="en-US"/>
              <a:t>Potential for generating many </a:t>
            </a:r>
            <a:r>
              <a:rPr lang="en-US" sz="1600"/>
              <a:t>NULL </a:t>
            </a:r>
            <a:r>
              <a:rPr lang="en-US"/>
              <a:t>values if many specific attributes exist in the subclasses</a:t>
            </a:r>
            <a:endParaRPr/>
          </a:p>
          <a:p>
            <a:pPr indent="-114300" lvl="3" marL="1600200" rtl="0" algn="l">
              <a:lnSpc>
                <a:spcPct val="90000"/>
              </a:lnSpc>
              <a:spcBef>
                <a:spcPts val="500"/>
              </a:spcBef>
              <a:spcAft>
                <a:spcPts val="0"/>
              </a:spcAft>
              <a:buClr>
                <a:schemeClr val="dk1"/>
              </a:buClr>
              <a:buSzPts val="1800"/>
              <a:buNone/>
            </a:pPr>
            <a:r>
              <a:t/>
            </a:r>
            <a:endParaRPr/>
          </a:p>
          <a:p>
            <a:pPr indent="0" lvl="3" marL="1371600" rtl="0" algn="l">
              <a:lnSpc>
                <a:spcPct val="90000"/>
              </a:lnSpc>
              <a:spcBef>
                <a:spcPts val="500"/>
              </a:spcBef>
              <a:spcAft>
                <a:spcPts val="0"/>
              </a:spcAft>
              <a:buClr>
                <a:schemeClr val="dk1"/>
              </a:buClr>
              <a:buSzPts val="1800"/>
              <a:buNone/>
            </a:pPr>
            <a:r>
              <a:rPr b="1" lang="en-US"/>
              <a:t>Person</a:t>
            </a:r>
            <a:r>
              <a:rPr lang="en-US"/>
              <a:t>(ssn, name, type, salary, major)</a:t>
            </a:r>
            <a:endParaRPr/>
          </a:p>
          <a:p>
            <a:pPr indent="-228600" lvl="1" marL="685800" rtl="0" algn="l">
              <a:lnSpc>
                <a:spcPct val="90000"/>
              </a:lnSpc>
              <a:spcBef>
                <a:spcPts val="500"/>
              </a:spcBef>
              <a:spcAft>
                <a:spcPts val="0"/>
              </a:spcAft>
              <a:buClr>
                <a:schemeClr val="dk1"/>
              </a:buClr>
              <a:buSzPts val="2400"/>
              <a:buChar char="•"/>
            </a:pPr>
            <a:r>
              <a:rPr b="1" lang="en-US"/>
              <a:t>Option 8D: Single relation with multiple type attributes</a:t>
            </a:r>
            <a:endParaRPr/>
          </a:p>
          <a:p>
            <a:pPr indent="-228600" lvl="2" marL="1143000" rtl="0" algn="l">
              <a:lnSpc>
                <a:spcPct val="90000"/>
              </a:lnSpc>
              <a:spcBef>
                <a:spcPts val="500"/>
              </a:spcBef>
              <a:spcAft>
                <a:spcPts val="0"/>
              </a:spcAft>
              <a:buClr>
                <a:schemeClr val="dk1"/>
              </a:buClr>
              <a:buSzPts val="2000"/>
              <a:buChar char="•"/>
            </a:pPr>
            <a:r>
              <a:rPr lang="en-US"/>
              <a:t>Subclasses are overlapping </a:t>
            </a:r>
            <a:endParaRPr/>
          </a:p>
          <a:p>
            <a:pPr indent="-228600" lvl="2" marL="1143000" rtl="0" algn="l">
              <a:lnSpc>
                <a:spcPct val="90000"/>
              </a:lnSpc>
              <a:spcBef>
                <a:spcPts val="500"/>
              </a:spcBef>
              <a:spcAft>
                <a:spcPts val="0"/>
              </a:spcAft>
              <a:buClr>
                <a:schemeClr val="dk1"/>
              </a:buClr>
              <a:buSzPts val="2000"/>
              <a:buChar char="•"/>
            </a:pPr>
            <a:r>
              <a:rPr lang="en-US"/>
              <a:t>Will also work for a disjoint specialization</a:t>
            </a:r>
            <a:endParaRPr/>
          </a:p>
          <a:p>
            <a:pPr indent="-114300" lvl="3" marL="1600200" rtl="0" algn="l">
              <a:lnSpc>
                <a:spcPct val="90000"/>
              </a:lnSpc>
              <a:spcBef>
                <a:spcPts val="500"/>
              </a:spcBef>
              <a:spcAft>
                <a:spcPts val="0"/>
              </a:spcAft>
              <a:buClr>
                <a:schemeClr val="dk1"/>
              </a:buClr>
              <a:buSzPts val="1800"/>
              <a:buNone/>
            </a:pPr>
            <a:r>
              <a:t/>
            </a:r>
            <a:endParaRPr b="1"/>
          </a:p>
          <a:p>
            <a:pPr indent="-228600" lvl="3" marL="1600200" rtl="0" algn="l">
              <a:lnSpc>
                <a:spcPct val="90000"/>
              </a:lnSpc>
              <a:spcBef>
                <a:spcPts val="500"/>
              </a:spcBef>
              <a:spcAft>
                <a:spcPts val="0"/>
              </a:spcAft>
              <a:buClr>
                <a:schemeClr val="dk1"/>
              </a:buClr>
              <a:buSzPts val="1800"/>
              <a:buChar char="•"/>
            </a:pPr>
            <a:r>
              <a:rPr b="1" lang="en-US"/>
              <a:t>Person</a:t>
            </a:r>
            <a:r>
              <a:rPr lang="en-US"/>
              <a:t>(ssn, name, isEmployee, isStudent, isAlumnus, salary, major)</a:t>
            </a:r>
            <a:endParaRPr/>
          </a:p>
          <a:p>
            <a:pPr indent="-114300" lvl="3" marL="1600200" rtl="0" algn="l">
              <a:lnSpc>
                <a:spcPct val="90000"/>
              </a:lnSpc>
              <a:spcBef>
                <a:spcPts val="500"/>
              </a:spcBef>
              <a:spcAft>
                <a:spcPts val="0"/>
              </a:spcAft>
              <a:buClr>
                <a:schemeClr val="dk1"/>
              </a:buClr>
              <a:buSzPts val="1800"/>
              <a:buNone/>
            </a:pPr>
            <a:r>
              <a:t/>
            </a:r>
            <a:endParaRPr b="1"/>
          </a:p>
        </p:txBody>
      </p:sp>
      <p:grpSp>
        <p:nvGrpSpPr>
          <p:cNvPr id="2362" name="Google Shape;2362;p123"/>
          <p:cNvGrpSpPr/>
          <p:nvPr/>
        </p:nvGrpSpPr>
        <p:grpSpPr>
          <a:xfrm>
            <a:off x="7757194" y="21094"/>
            <a:ext cx="4276237" cy="3321269"/>
            <a:chOff x="7757194" y="21094"/>
            <a:chExt cx="4276237" cy="3321269"/>
          </a:xfrm>
        </p:grpSpPr>
        <p:grpSp>
          <p:nvGrpSpPr>
            <p:cNvPr id="2363" name="Google Shape;2363;p123"/>
            <p:cNvGrpSpPr/>
            <p:nvPr/>
          </p:nvGrpSpPr>
          <p:grpSpPr>
            <a:xfrm>
              <a:off x="8383495" y="21094"/>
              <a:ext cx="3649936" cy="2845963"/>
              <a:chOff x="8383495" y="21094"/>
              <a:chExt cx="3649936" cy="2845963"/>
            </a:xfrm>
          </p:grpSpPr>
          <p:sp>
            <p:nvSpPr>
              <p:cNvPr id="2364" name="Google Shape;2364;p123"/>
              <p:cNvSpPr/>
              <p:nvPr/>
            </p:nvSpPr>
            <p:spPr>
              <a:xfrm>
                <a:off x="9634322" y="504103"/>
                <a:ext cx="1702051" cy="344031"/>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Person</a:t>
                </a:r>
                <a:endParaRPr/>
              </a:p>
            </p:txBody>
          </p:sp>
          <p:sp>
            <p:nvSpPr>
              <p:cNvPr id="2365" name="Google Shape;2365;p123"/>
              <p:cNvSpPr/>
              <p:nvPr/>
            </p:nvSpPr>
            <p:spPr>
              <a:xfrm>
                <a:off x="9960241" y="1167269"/>
                <a:ext cx="1060704" cy="914400"/>
              </a:xfrm>
              <a:prstGeom prst="triangle">
                <a:avLst>
                  <a:gd fmla="val 50000" name="adj"/>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IsA</a:t>
                </a:r>
                <a:endParaRPr sz="1800">
                  <a:solidFill>
                    <a:schemeClr val="lt1"/>
                  </a:solidFill>
                  <a:latin typeface="Calibri"/>
                  <a:ea typeface="Calibri"/>
                  <a:cs typeface="Calibri"/>
                  <a:sym typeface="Calibri"/>
                </a:endParaRPr>
              </a:p>
            </p:txBody>
          </p:sp>
          <p:cxnSp>
            <p:nvCxnSpPr>
              <p:cNvPr id="2366" name="Google Shape;2366;p123"/>
              <p:cNvCxnSpPr>
                <a:stCxn id="2364" idx="2"/>
                <a:endCxn id="2365" idx="0"/>
              </p:cNvCxnSpPr>
              <p:nvPr/>
            </p:nvCxnSpPr>
            <p:spPr>
              <a:xfrm>
                <a:off x="10485348" y="848134"/>
                <a:ext cx="5100" cy="319200"/>
              </a:xfrm>
              <a:prstGeom prst="straightConnector1">
                <a:avLst/>
              </a:prstGeom>
              <a:noFill/>
              <a:ln cap="flat" cmpd="sng" w="9525">
                <a:solidFill>
                  <a:schemeClr val="accent1"/>
                </a:solidFill>
                <a:prstDash val="solid"/>
                <a:miter lim="800000"/>
                <a:headEnd len="sm" w="sm" type="none"/>
                <a:tailEnd len="sm" w="sm" type="none"/>
              </a:ln>
            </p:spPr>
          </p:cxnSp>
          <p:sp>
            <p:nvSpPr>
              <p:cNvPr id="2367" name="Google Shape;2367;p123"/>
              <p:cNvSpPr/>
              <p:nvPr/>
            </p:nvSpPr>
            <p:spPr>
              <a:xfrm>
                <a:off x="8383495" y="2523026"/>
                <a:ext cx="1250827" cy="344031"/>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Employee</a:t>
                </a:r>
                <a:endParaRPr/>
              </a:p>
            </p:txBody>
          </p:sp>
          <p:sp>
            <p:nvSpPr>
              <p:cNvPr id="2368" name="Google Shape;2368;p123"/>
              <p:cNvSpPr/>
              <p:nvPr/>
            </p:nvSpPr>
            <p:spPr>
              <a:xfrm>
                <a:off x="10972727" y="2495865"/>
                <a:ext cx="1060704" cy="344031"/>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Alumnus</a:t>
                </a:r>
                <a:endParaRPr/>
              </a:p>
            </p:txBody>
          </p:sp>
          <p:sp>
            <p:nvSpPr>
              <p:cNvPr id="2369" name="Google Shape;2369;p123"/>
              <p:cNvSpPr/>
              <p:nvPr/>
            </p:nvSpPr>
            <p:spPr>
              <a:xfrm>
                <a:off x="9773172" y="2501901"/>
                <a:ext cx="1060704" cy="344031"/>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Student</a:t>
                </a:r>
                <a:endParaRPr/>
              </a:p>
            </p:txBody>
          </p:sp>
          <p:sp>
            <p:nvSpPr>
              <p:cNvPr id="2370" name="Google Shape;2370;p123"/>
              <p:cNvSpPr/>
              <p:nvPr/>
            </p:nvSpPr>
            <p:spPr>
              <a:xfrm>
                <a:off x="9245024" y="21094"/>
                <a:ext cx="1041148" cy="344031"/>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lt1"/>
                    </a:solidFill>
                    <a:latin typeface="Calibri"/>
                    <a:ea typeface="Calibri"/>
                    <a:cs typeface="Calibri"/>
                    <a:sym typeface="Calibri"/>
                  </a:rPr>
                  <a:t>SSN</a:t>
                </a:r>
                <a:endParaRPr/>
              </a:p>
            </p:txBody>
          </p:sp>
          <p:cxnSp>
            <p:nvCxnSpPr>
              <p:cNvPr id="2371" name="Google Shape;2371;p123"/>
              <p:cNvCxnSpPr>
                <a:stCxn id="2364" idx="0"/>
                <a:endCxn id="2370" idx="5"/>
              </p:cNvCxnSpPr>
              <p:nvPr/>
            </p:nvCxnSpPr>
            <p:spPr>
              <a:xfrm rot="10800000">
                <a:off x="10133748" y="314803"/>
                <a:ext cx="351600" cy="189300"/>
              </a:xfrm>
              <a:prstGeom prst="straightConnector1">
                <a:avLst/>
              </a:prstGeom>
              <a:noFill/>
              <a:ln cap="flat" cmpd="sng" w="9525">
                <a:solidFill>
                  <a:schemeClr val="dk1"/>
                </a:solidFill>
                <a:prstDash val="solid"/>
                <a:miter lim="800000"/>
                <a:headEnd len="sm" w="sm" type="none"/>
                <a:tailEnd len="sm" w="sm" type="none"/>
              </a:ln>
            </p:spPr>
          </p:cxnSp>
          <p:cxnSp>
            <p:nvCxnSpPr>
              <p:cNvPr id="2372" name="Google Shape;2372;p123"/>
              <p:cNvCxnSpPr>
                <a:stCxn id="2365" idx="3"/>
                <a:endCxn id="2367" idx="0"/>
              </p:cNvCxnSpPr>
              <p:nvPr/>
            </p:nvCxnSpPr>
            <p:spPr>
              <a:xfrm flipH="1">
                <a:off x="9008893" y="2081669"/>
                <a:ext cx="1481700" cy="441300"/>
              </a:xfrm>
              <a:prstGeom prst="straightConnector1">
                <a:avLst/>
              </a:prstGeom>
              <a:noFill/>
              <a:ln cap="flat" cmpd="sng" w="9525">
                <a:solidFill>
                  <a:schemeClr val="accent1"/>
                </a:solidFill>
                <a:prstDash val="solid"/>
                <a:miter lim="800000"/>
                <a:headEnd len="sm" w="sm" type="none"/>
                <a:tailEnd len="sm" w="sm" type="none"/>
              </a:ln>
            </p:spPr>
          </p:cxnSp>
          <p:cxnSp>
            <p:nvCxnSpPr>
              <p:cNvPr id="2373" name="Google Shape;2373;p123"/>
              <p:cNvCxnSpPr>
                <a:stCxn id="2365" idx="3"/>
                <a:endCxn id="2369" idx="0"/>
              </p:cNvCxnSpPr>
              <p:nvPr/>
            </p:nvCxnSpPr>
            <p:spPr>
              <a:xfrm flipH="1">
                <a:off x="10303393" y="2081669"/>
                <a:ext cx="187200" cy="420300"/>
              </a:xfrm>
              <a:prstGeom prst="straightConnector1">
                <a:avLst/>
              </a:prstGeom>
              <a:noFill/>
              <a:ln cap="flat" cmpd="sng" w="9525">
                <a:solidFill>
                  <a:schemeClr val="accent1"/>
                </a:solidFill>
                <a:prstDash val="solid"/>
                <a:miter lim="800000"/>
                <a:headEnd len="sm" w="sm" type="none"/>
                <a:tailEnd len="sm" w="sm" type="none"/>
              </a:ln>
            </p:spPr>
          </p:cxnSp>
          <p:cxnSp>
            <p:nvCxnSpPr>
              <p:cNvPr id="2374" name="Google Shape;2374;p123"/>
              <p:cNvCxnSpPr>
                <a:stCxn id="2365" idx="3"/>
                <a:endCxn id="2368" idx="0"/>
              </p:cNvCxnSpPr>
              <p:nvPr/>
            </p:nvCxnSpPr>
            <p:spPr>
              <a:xfrm>
                <a:off x="10490593" y="2081669"/>
                <a:ext cx="1012500" cy="414300"/>
              </a:xfrm>
              <a:prstGeom prst="straightConnector1">
                <a:avLst/>
              </a:prstGeom>
              <a:noFill/>
              <a:ln cap="flat" cmpd="sng" w="9525">
                <a:solidFill>
                  <a:schemeClr val="accent1"/>
                </a:solidFill>
                <a:prstDash val="solid"/>
                <a:miter lim="800000"/>
                <a:headEnd len="sm" w="sm" type="none"/>
                <a:tailEnd len="sm" w="sm" type="none"/>
              </a:ln>
            </p:spPr>
          </p:cxnSp>
        </p:grpSp>
        <p:sp>
          <p:nvSpPr>
            <p:cNvPr id="2375" name="Google Shape;2375;p123"/>
            <p:cNvSpPr/>
            <p:nvPr/>
          </p:nvSpPr>
          <p:spPr>
            <a:xfrm>
              <a:off x="9876484" y="2992469"/>
              <a:ext cx="1041148" cy="344031"/>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major</a:t>
              </a:r>
              <a:endParaRPr/>
            </a:p>
          </p:txBody>
        </p:sp>
        <p:cxnSp>
          <p:nvCxnSpPr>
            <p:cNvPr id="2376" name="Google Shape;2376;p123"/>
            <p:cNvCxnSpPr>
              <a:stCxn id="2369" idx="2"/>
              <a:endCxn id="2375" idx="0"/>
            </p:cNvCxnSpPr>
            <p:nvPr/>
          </p:nvCxnSpPr>
          <p:spPr>
            <a:xfrm>
              <a:off x="10303524" y="2845932"/>
              <a:ext cx="93600" cy="146400"/>
            </a:xfrm>
            <a:prstGeom prst="straightConnector1">
              <a:avLst/>
            </a:prstGeom>
            <a:noFill/>
            <a:ln cap="flat" cmpd="sng" w="9525">
              <a:solidFill>
                <a:schemeClr val="accent1"/>
              </a:solidFill>
              <a:prstDash val="solid"/>
              <a:miter lim="800000"/>
              <a:headEnd len="sm" w="sm" type="none"/>
              <a:tailEnd len="sm" w="sm" type="none"/>
            </a:ln>
          </p:spPr>
        </p:cxnSp>
        <p:sp>
          <p:nvSpPr>
            <p:cNvPr id="2377" name="Google Shape;2377;p123"/>
            <p:cNvSpPr/>
            <p:nvPr/>
          </p:nvSpPr>
          <p:spPr>
            <a:xfrm>
              <a:off x="7757194" y="2998332"/>
              <a:ext cx="1041148" cy="344031"/>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salary</a:t>
              </a:r>
              <a:endParaRPr/>
            </a:p>
          </p:txBody>
        </p:sp>
        <p:cxnSp>
          <p:nvCxnSpPr>
            <p:cNvPr id="2378" name="Google Shape;2378;p123"/>
            <p:cNvCxnSpPr>
              <a:endCxn id="2377" idx="0"/>
            </p:cNvCxnSpPr>
            <p:nvPr/>
          </p:nvCxnSpPr>
          <p:spPr>
            <a:xfrm flipH="1">
              <a:off x="8277768" y="2851932"/>
              <a:ext cx="121200" cy="146400"/>
            </a:xfrm>
            <a:prstGeom prst="straightConnector1">
              <a:avLst/>
            </a:prstGeom>
            <a:noFill/>
            <a:ln cap="flat" cmpd="sng" w="9525">
              <a:solidFill>
                <a:schemeClr val="accent1"/>
              </a:solidFill>
              <a:prstDash val="solid"/>
              <a:miter lim="800000"/>
              <a:headEnd len="sm" w="sm" type="none"/>
              <a:tailEnd len="sm" w="sm" type="none"/>
            </a:ln>
          </p:spPr>
        </p:cxnSp>
        <p:sp>
          <p:nvSpPr>
            <p:cNvPr id="2379" name="Google Shape;2379;p123"/>
            <p:cNvSpPr/>
            <p:nvPr/>
          </p:nvSpPr>
          <p:spPr>
            <a:xfrm>
              <a:off x="7930836" y="511662"/>
              <a:ext cx="1113576" cy="316149"/>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Name</a:t>
              </a:r>
              <a:endParaRPr/>
            </a:p>
          </p:txBody>
        </p:sp>
        <p:cxnSp>
          <p:nvCxnSpPr>
            <p:cNvPr id="2380" name="Google Shape;2380;p123"/>
            <p:cNvCxnSpPr>
              <a:stCxn id="2379" idx="6"/>
            </p:cNvCxnSpPr>
            <p:nvPr/>
          </p:nvCxnSpPr>
          <p:spPr>
            <a:xfrm>
              <a:off x="9044412" y="669737"/>
              <a:ext cx="728700" cy="39300"/>
            </a:xfrm>
            <a:prstGeom prst="straightConnector1">
              <a:avLst/>
            </a:prstGeom>
            <a:noFill/>
            <a:ln cap="flat" cmpd="sng" w="9525">
              <a:solidFill>
                <a:schemeClr val="accent1"/>
              </a:solidFill>
              <a:prstDash val="solid"/>
              <a:miter lim="800000"/>
              <a:headEnd len="sm" w="sm" type="none"/>
              <a:tailEnd len="sm" w="sm" type="none"/>
            </a:ln>
          </p:spPr>
        </p:cxnSp>
      </p:grpSp>
      <p:sp>
        <p:nvSpPr>
          <p:cNvPr id="2381" name="Google Shape;2381;p1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6" name="Shape 2386"/>
        <p:cNvGrpSpPr/>
        <p:nvPr/>
      </p:nvGrpSpPr>
      <p:grpSpPr>
        <a:xfrm>
          <a:off x="0" y="0"/>
          <a:ext cx="0" cy="0"/>
          <a:chOff x="0" y="0"/>
          <a:chExt cx="0" cy="0"/>
        </a:xfrm>
      </p:grpSpPr>
      <p:sp>
        <p:nvSpPr>
          <p:cNvPr id="2387" name="Google Shape;2387;p1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Mapping of Shared Subclasses (Multiple Inheritance)</a:t>
            </a:r>
            <a:endParaRPr/>
          </a:p>
        </p:txBody>
      </p:sp>
      <p:sp>
        <p:nvSpPr>
          <p:cNvPr id="2388" name="Google Shape;2388;p1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Apply any of the options discussed in step 8 to a shared subclass</a:t>
            </a:r>
            <a:endParaRPr/>
          </a:p>
        </p:txBody>
      </p:sp>
      <p:sp>
        <p:nvSpPr>
          <p:cNvPr id="2389" name="Google Shape;2389;p1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3" name="Shape 2393"/>
        <p:cNvGrpSpPr/>
        <p:nvPr/>
      </p:nvGrpSpPr>
      <p:grpSpPr>
        <a:xfrm>
          <a:off x="0" y="0"/>
          <a:ext cx="0" cy="0"/>
          <a:chOff x="0" y="0"/>
          <a:chExt cx="0" cy="0"/>
        </a:xfrm>
      </p:grpSpPr>
      <p:sp>
        <p:nvSpPr>
          <p:cNvPr id="2394" name="Google Shape;2394;p1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Mapping of Categories (Union Types)</a:t>
            </a:r>
            <a:endParaRPr/>
          </a:p>
        </p:txBody>
      </p:sp>
      <p:sp>
        <p:nvSpPr>
          <p:cNvPr id="2395" name="Google Shape;2395;p1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Step 9: Mapping of Union Types (Categories)</a:t>
            </a:r>
            <a:endParaRPr/>
          </a:p>
          <a:p>
            <a:pPr indent="-228600" lvl="1" marL="685800" rtl="0" algn="l">
              <a:lnSpc>
                <a:spcPct val="90000"/>
              </a:lnSpc>
              <a:spcBef>
                <a:spcPts val="500"/>
              </a:spcBef>
              <a:spcAft>
                <a:spcPts val="0"/>
              </a:spcAft>
              <a:buClr>
                <a:schemeClr val="dk1"/>
              </a:buClr>
              <a:buSzPts val="2400"/>
              <a:buChar char="•"/>
            </a:pPr>
            <a:r>
              <a:rPr lang="en-US"/>
              <a:t>Defining superclasses have different keys</a:t>
            </a:r>
            <a:endParaRPr/>
          </a:p>
          <a:p>
            <a:pPr indent="-228600" lvl="1" marL="685800" rtl="0" algn="l">
              <a:lnSpc>
                <a:spcPct val="90000"/>
              </a:lnSpc>
              <a:spcBef>
                <a:spcPts val="500"/>
              </a:spcBef>
              <a:spcAft>
                <a:spcPts val="0"/>
              </a:spcAft>
              <a:buClr>
                <a:schemeClr val="dk1"/>
              </a:buClr>
              <a:buSzPts val="2400"/>
              <a:buChar char="•"/>
            </a:pPr>
            <a:r>
              <a:rPr lang="en-US"/>
              <a:t>Specify a new key attribute</a:t>
            </a:r>
            <a:endParaRPr/>
          </a:p>
          <a:p>
            <a:pPr indent="-228600" lvl="2" marL="1143000" rtl="0" algn="l">
              <a:lnSpc>
                <a:spcPct val="90000"/>
              </a:lnSpc>
              <a:spcBef>
                <a:spcPts val="500"/>
              </a:spcBef>
              <a:spcAft>
                <a:spcPts val="0"/>
              </a:spcAft>
              <a:buClr>
                <a:schemeClr val="dk1"/>
              </a:buClr>
              <a:buSzPts val="2000"/>
              <a:buChar char="•"/>
            </a:pPr>
            <a:r>
              <a:rPr b="1" lang="en-US"/>
              <a:t>Surrogate key</a:t>
            </a:r>
            <a:endParaRPr/>
          </a:p>
        </p:txBody>
      </p:sp>
      <p:sp>
        <p:nvSpPr>
          <p:cNvPr id="2396" name="Google Shape;2396;p1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1" name="Shape 2401"/>
        <p:cNvGrpSpPr/>
        <p:nvPr/>
      </p:nvGrpSpPr>
      <p:grpSpPr>
        <a:xfrm>
          <a:off x="0" y="0"/>
          <a:ext cx="0" cy="0"/>
          <a:chOff x="0" y="0"/>
          <a:chExt cx="0" cy="0"/>
        </a:xfrm>
      </p:grpSpPr>
      <p:sp>
        <p:nvSpPr>
          <p:cNvPr id="2402" name="Google Shape;2402;p126"/>
          <p:cNvSpPr/>
          <p:nvPr/>
        </p:nvSpPr>
        <p:spPr>
          <a:xfrm>
            <a:off x="3737668" y="1665847"/>
            <a:ext cx="995881" cy="307818"/>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Person</a:t>
            </a:r>
            <a:endParaRPr/>
          </a:p>
        </p:txBody>
      </p:sp>
      <p:sp>
        <p:nvSpPr>
          <p:cNvPr id="2403" name="Google Shape;2403;p126"/>
          <p:cNvSpPr/>
          <p:nvPr/>
        </p:nvSpPr>
        <p:spPr>
          <a:xfrm>
            <a:off x="2243750" y="1697524"/>
            <a:ext cx="995881" cy="307818"/>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Bank</a:t>
            </a:r>
            <a:endParaRPr/>
          </a:p>
        </p:txBody>
      </p:sp>
      <p:sp>
        <p:nvSpPr>
          <p:cNvPr id="2404" name="Google Shape;2404;p126"/>
          <p:cNvSpPr/>
          <p:nvPr/>
        </p:nvSpPr>
        <p:spPr>
          <a:xfrm>
            <a:off x="552262" y="1697524"/>
            <a:ext cx="1228254" cy="307818"/>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Company</a:t>
            </a:r>
            <a:endParaRPr/>
          </a:p>
        </p:txBody>
      </p:sp>
      <p:sp>
        <p:nvSpPr>
          <p:cNvPr id="2405" name="Google Shape;2405;p126"/>
          <p:cNvSpPr/>
          <p:nvPr/>
        </p:nvSpPr>
        <p:spPr>
          <a:xfrm>
            <a:off x="2044573" y="306402"/>
            <a:ext cx="1394233" cy="307818"/>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Owner</a:t>
            </a:r>
            <a:endParaRPr/>
          </a:p>
        </p:txBody>
      </p:sp>
      <p:sp>
        <p:nvSpPr>
          <p:cNvPr id="2406" name="Google Shape;2406;p126"/>
          <p:cNvSpPr/>
          <p:nvPr/>
        </p:nvSpPr>
        <p:spPr>
          <a:xfrm>
            <a:off x="2218103" y="876773"/>
            <a:ext cx="1050473" cy="399768"/>
          </a:xfrm>
          <a:prstGeom prst="triangle">
            <a:avLst>
              <a:gd fmla="val 50000" name="adj"/>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isA</a:t>
            </a:r>
            <a:endParaRPr sz="1800">
              <a:solidFill>
                <a:schemeClr val="lt1"/>
              </a:solidFill>
              <a:latin typeface="Calibri"/>
              <a:ea typeface="Calibri"/>
              <a:cs typeface="Calibri"/>
              <a:sym typeface="Calibri"/>
            </a:endParaRPr>
          </a:p>
        </p:txBody>
      </p:sp>
      <p:cxnSp>
        <p:nvCxnSpPr>
          <p:cNvPr id="2407" name="Google Shape;2407;p126"/>
          <p:cNvCxnSpPr>
            <a:stCxn id="2405" idx="2"/>
            <a:endCxn id="2406" idx="0"/>
          </p:cNvCxnSpPr>
          <p:nvPr/>
        </p:nvCxnSpPr>
        <p:spPr>
          <a:xfrm>
            <a:off x="2741690" y="614220"/>
            <a:ext cx="1500" cy="262500"/>
          </a:xfrm>
          <a:prstGeom prst="straightConnector1">
            <a:avLst/>
          </a:prstGeom>
          <a:noFill/>
          <a:ln cap="flat" cmpd="sng" w="9525">
            <a:solidFill>
              <a:schemeClr val="accent1"/>
            </a:solidFill>
            <a:prstDash val="solid"/>
            <a:miter lim="800000"/>
            <a:headEnd len="sm" w="sm" type="none"/>
            <a:tailEnd len="sm" w="sm" type="none"/>
          </a:ln>
        </p:spPr>
      </p:cxnSp>
      <p:cxnSp>
        <p:nvCxnSpPr>
          <p:cNvPr id="2408" name="Google Shape;2408;p126"/>
          <p:cNvCxnSpPr>
            <a:stCxn id="2406" idx="3"/>
            <a:endCxn id="2404" idx="0"/>
          </p:cNvCxnSpPr>
          <p:nvPr/>
        </p:nvCxnSpPr>
        <p:spPr>
          <a:xfrm flipH="1">
            <a:off x="1166240" y="1276541"/>
            <a:ext cx="1577100" cy="420900"/>
          </a:xfrm>
          <a:prstGeom prst="straightConnector1">
            <a:avLst/>
          </a:prstGeom>
          <a:noFill/>
          <a:ln cap="flat" cmpd="sng" w="9525">
            <a:solidFill>
              <a:schemeClr val="accent1"/>
            </a:solidFill>
            <a:prstDash val="solid"/>
            <a:miter lim="800000"/>
            <a:headEnd len="sm" w="sm" type="none"/>
            <a:tailEnd len="sm" w="sm" type="none"/>
          </a:ln>
        </p:spPr>
      </p:cxnSp>
      <p:cxnSp>
        <p:nvCxnSpPr>
          <p:cNvPr id="2409" name="Google Shape;2409;p126"/>
          <p:cNvCxnSpPr>
            <a:stCxn id="2406" idx="3"/>
            <a:endCxn id="2403" idx="0"/>
          </p:cNvCxnSpPr>
          <p:nvPr/>
        </p:nvCxnSpPr>
        <p:spPr>
          <a:xfrm flipH="1">
            <a:off x="2741840" y="1276541"/>
            <a:ext cx="1500" cy="420900"/>
          </a:xfrm>
          <a:prstGeom prst="straightConnector1">
            <a:avLst/>
          </a:prstGeom>
          <a:noFill/>
          <a:ln cap="flat" cmpd="sng" w="9525">
            <a:solidFill>
              <a:schemeClr val="accent1"/>
            </a:solidFill>
            <a:prstDash val="solid"/>
            <a:miter lim="800000"/>
            <a:headEnd len="sm" w="sm" type="none"/>
            <a:tailEnd len="sm" w="sm" type="none"/>
          </a:ln>
        </p:spPr>
      </p:cxnSp>
      <p:cxnSp>
        <p:nvCxnSpPr>
          <p:cNvPr id="2410" name="Google Shape;2410;p126"/>
          <p:cNvCxnSpPr>
            <a:stCxn id="2406" idx="3"/>
            <a:endCxn id="2402" idx="0"/>
          </p:cNvCxnSpPr>
          <p:nvPr/>
        </p:nvCxnSpPr>
        <p:spPr>
          <a:xfrm>
            <a:off x="2743340" y="1276541"/>
            <a:ext cx="1492200" cy="389400"/>
          </a:xfrm>
          <a:prstGeom prst="straightConnector1">
            <a:avLst/>
          </a:prstGeom>
          <a:noFill/>
          <a:ln cap="flat" cmpd="sng" w="9525">
            <a:solidFill>
              <a:schemeClr val="accent1"/>
            </a:solidFill>
            <a:prstDash val="solid"/>
            <a:miter lim="800000"/>
            <a:headEnd len="sm" w="sm" type="none"/>
            <a:tailEnd len="sm" w="sm" type="none"/>
          </a:ln>
        </p:spPr>
      </p:cxnSp>
      <p:sp>
        <p:nvSpPr>
          <p:cNvPr id="2411" name="Google Shape;2411;p126"/>
          <p:cNvSpPr/>
          <p:nvPr/>
        </p:nvSpPr>
        <p:spPr>
          <a:xfrm>
            <a:off x="691625" y="2281478"/>
            <a:ext cx="1254353" cy="307818"/>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lt1"/>
                </a:solidFill>
                <a:latin typeface="Calibri"/>
                <a:ea typeface="Calibri"/>
                <a:cs typeface="Calibri"/>
                <a:sym typeface="Calibri"/>
              </a:rPr>
              <a:t>cname</a:t>
            </a:r>
            <a:endParaRPr sz="1800" u="sng">
              <a:solidFill>
                <a:schemeClr val="lt1"/>
              </a:solidFill>
              <a:latin typeface="Calibri"/>
              <a:ea typeface="Calibri"/>
              <a:cs typeface="Calibri"/>
              <a:sym typeface="Calibri"/>
            </a:endParaRPr>
          </a:p>
        </p:txBody>
      </p:sp>
      <p:cxnSp>
        <p:nvCxnSpPr>
          <p:cNvPr id="2412" name="Google Shape;2412;p126"/>
          <p:cNvCxnSpPr>
            <a:stCxn id="2411" idx="0"/>
            <a:endCxn id="2404" idx="2"/>
          </p:cNvCxnSpPr>
          <p:nvPr/>
        </p:nvCxnSpPr>
        <p:spPr>
          <a:xfrm rot="10800000">
            <a:off x="1166402" y="2005478"/>
            <a:ext cx="152400" cy="276000"/>
          </a:xfrm>
          <a:prstGeom prst="straightConnector1">
            <a:avLst/>
          </a:prstGeom>
          <a:noFill/>
          <a:ln cap="flat" cmpd="sng" w="9525">
            <a:solidFill>
              <a:schemeClr val="accent1"/>
            </a:solidFill>
            <a:prstDash val="solid"/>
            <a:miter lim="800000"/>
            <a:headEnd len="sm" w="sm" type="none"/>
            <a:tailEnd len="sm" w="sm" type="none"/>
          </a:ln>
        </p:spPr>
      </p:cxnSp>
      <p:sp>
        <p:nvSpPr>
          <p:cNvPr id="2413" name="Google Shape;2413;p126"/>
          <p:cNvSpPr/>
          <p:nvPr/>
        </p:nvSpPr>
        <p:spPr>
          <a:xfrm>
            <a:off x="2104754" y="2180192"/>
            <a:ext cx="1254353" cy="307818"/>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lt1"/>
                </a:solidFill>
                <a:latin typeface="Calibri"/>
                <a:ea typeface="Calibri"/>
                <a:cs typeface="Calibri"/>
                <a:sym typeface="Calibri"/>
              </a:rPr>
              <a:t>bname</a:t>
            </a:r>
            <a:endParaRPr sz="1800" u="sng">
              <a:solidFill>
                <a:schemeClr val="lt1"/>
              </a:solidFill>
              <a:latin typeface="Calibri"/>
              <a:ea typeface="Calibri"/>
              <a:cs typeface="Calibri"/>
              <a:sym typeface="Calibri"/>
            </a:endParaRPr>
          </a:p>
        </p:txBody>
      </p:sp>
      <p:cxnSp>
        <p:nvCxnSpPr>
          <p:cNvPr id="2414" name="Google Shape;2414;p126"/>
          <p:cNvCxnSpPr>
            <a:stCxn id="2413" idx="0"/>
            <a:endCxn id="2403" idx="2"/>
          </p:cNvCxnSpPr>
          <p:nvPr/>
        </p:nvCxnSpPr>
        <p:spPr>
          <a:xfrm flipH="1" rot="10800000">
            <a:off x="2731931" y="2005292"/>
            <a:ext cx="9900" cy="174900"/>
          </a:xfrm>
          <a:prstGeom prst="straightConnector1">
            <a:avLst/>
          </a:prstGeom>
          <a:noFill/>
          <a:ln cap="flat" cmpd="sng" w="9525">
            <a:solidFill>
              <a:schemeClr val="accent1"/>
            </a:solidFill>
            <a:prstDash val="solid"/>
            <a:miter lim="800000"/>
            <a:headEnd len="sm" w="sm" type="none"/>
            <a:tailEnd len="sm" w="sm" type="none"/>
          </a:ln>
        </p:spPr>
      </p:cxnSp>
      <p:sp>
        <p:nvSpPr>
          <p:cNvPr id="2415" name="Google Shape;2415;p126"/>
          <p:cNvSpPr/>
          <p:nvPr/>
        </p:nvSpPr>
        <p:spPr>
          <a:xfrm>
            <a:off x="4061378" y="2187831"/>
            <a:ext cx="1254353" cy="307818"/>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lt1"/>
                </a:solidFill>
                <a:latin typeface="Calibri"/>
                <a:ea typeface="Calibri"/>
                <a:cs typeface="Calibri"/>
                <a:sym typeface="Calibri"/>
              </a:rPr>
              <a:t>ssn</a:t>
            </a:r>
            <a:endParaRPr sz="1800" u="sng">
              <a:solidFill>
                <a:schemeClr val="lt1"/>
              </a:solidFill>
              <a:latin typeface="Calibri"/>
              <a:ea typeface="Calibri"/>
              <a:cs typeface="Calibri"/>
              <a:sym typeface="Calibri"/>
            </a:endParaRPr>
          </a:p>
        </p:txBody>
      </p:sp>
      <p:cxnSp>
        <p:nvCxnSpPr>
          <p:cNvPr id="2416" name="Google Shape;2416;p126"/>
          <p:cNvCxnSpPr>
            <a:stCxn id="2415" idx="0"/>
            <a:endCxn id="2402" idx="2"/>
          </p:cNvCxnSpPr>
          <p:nvPr/>
        </p:nvCxnSpPr>
        <p:spPr>
          <a:xfrm rot="10800000">
            <a:off x="4235555" y="1973631"/>
            <a:ext cx="453000" cy="214200"/>
          </a:xfrm>
          <a:prstGeom prst="straightConnector1">
            <a:avLst/>
          </a:prstGeom>
          <a:noFill/>
          <a:ln cap="flat" cmpd="sng" w="9525">
            <a:solidFill>
              <a:schemeClr val="accent1"/>
            </a:solidFill>
            <a:prstDash val="solid"/>
            <a:miter lim="800000"/>
            <a:headEnd len="sm" w="sm" type="none"/>
            <a:tailEnd len="sm" w="sm" type="none"/>
          </a:ln>
        </p:spPr>
      </p:cxnSp>
      <p:sp>
        <p:nvSpPr>
          <p:cNvPr id="2417" name="Google Shape;2417;p126"/>
          <p:cNvSpPr/>
          <p:nvPr/>
        </p:nvSpPr>
        <p:spPr>
          <a:xfrm>
            <a:off x="7134131" y="568955"/>
            <a:ext cx="2035379" cy="262553"/>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Registered_vehicle</a:t>
            </a:r>
            <a:endParaRPr sz="1800">
              <a:solidFill>
                <a:schemeClr val="lt1"/>
              </a:solidFill>
              <a:latin typeface="Calibri"/>
              <a:ea typeface="Calibri"/>
              <a:cs typeface="Calibri"/>
              <a:sym typeface="Calibri"/>
            </a:endParaRPr>
          </a:p>
        </p:txBody>
      </p:sp>
      <p:sp>
        <p:nvSpPr>
          <p:cNvPr id="2418" name="Google Shape;2418;p126"/>
          <p:cNvSpPr/>
          <p:nvPr/>
        </p:nvSpPr>
        <p:spPr>
          <a:xfrm>
            <a:off x="7639617" y="2048915"/>
            <a:ext cx="852533" cy="262553"/>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car</a:t>
            </a:r>
            <a:endParaRPr/>
          </a:p>
        </p:txBody>
      </p:sp>
      <p:sp>
        <p:nvSpPr>
          <p:cNvPr id="2419" name="Google Shape;2419;p126"/>
          <p:cNvSpPr/>
          <p:nvPr/>
        </p:nvSpPr>
        <p:spPr>
          <a:xfrm>
            <a:off x="10245506" y="2056554"/>
            <a:ext cx="852533" cy="262553"/>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truck</a:t>
            </a:r>
            <a:endParaRPr/>
          </a:p>
        </p:txBody>
      </p:sp>
      <p:sp>
        <p:nvSpPr>
          <p:cNvPr id="2420" name="Google Shape;2420;p126"/>
          <p:cNvSpPr/>
          <p:nvPr/>
        </p:nvSpPr>
        <p:spPr>
          <a:xfrm>
            <a:off x="9590460" y="876773"/>
            <a:ext cx="1626784" cy="307818"/>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u="sng">
                <a:solidFill>
                  <a:schemeClr val="lt1"/>
                </a:solidFill>
                <a:latin typeface="Calibri"/>
                <a:ea typeface="Calibri"/>
                <a:cs typeface="Calibri"/>
                <a:sym typeface="Calibri"/>
              </a:rPr>
              <a:t>Vehicle_id</a:t>
            </a:r>
            <a:endParaRPr sz="1600" u="sng">
              <a:solidFill>
                <a:schemeClr val="lt1"/>
              </a:solidFill>
              <a:latin typeface="Calibri"/>
              <a:ea typeface="Calibri"/>
              <a:cs typeface="Calibri"/>
              <a:sym typeface="Calibri"/>
            </a:endParaRPr>
          </a:p>
        </p:txBody>
      </p:sp>
      <p:cxnSp>
        <p:nvCxnSpPr>
          <p:cNvPr id="2421" name="Google Shape;2421;p126"/>
          <p:cNvCxnSpPr>
            <a:stCxn id="2420" idx="0"/>
            <a:endCxn id="2417" idx="3"/>
          </p:cNvCxnSpPr>
          <p:nvPr/>
        </p:nvCxnSpPr>
        <p:spPr>
          <a:xfrm rot="10800000">
            <a:off x="9169652" y="700373"/>
            <a:ext cx="1234200" cy="176400"/>
          </a:xfrm>
          <a:prstGeom prst="straightConnector1">
            <a:avLst/>
          </a:prstGeom>
          <a:noFill/>
          <a:ln cap="flat" cmpd="sng" w="9525">
            <a:solidFill>
              <a:schemeClr val="accent1"/>
            </a:solidFill>
            <a:prstDash val="solid"/>
            <a:miter lim="800000"/>
            <a:headEnd len="sm" w="sm" type="none"/>
            <a:tailEnd len="sm" w="sm" type="none"/>
          </a:ln>
        </p:spPr>
      </p:cxnSp>
      <p:sp>
        <p:nvSpPr>
          <p:cNvPr id="2422" name="Google Shape;2422;p126"/>
          <p:cNvSpPr/>
          <p:nvPr/>
        </p:nvSpPr>
        <p:spPr>
          <a:xfrm>
            <a:off x="6009865" y="999704"/>
            <a:ext cx="1747358" cy="389306"/>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Plate number</a:t>
            </a:r>
            <a:endParaRPr/>
          </a:p>
        </p:txBody>
      </p:sp>
      <p:cxnSp>
        <p:nvCxnSpPr>
          <p:cNvPr id="2423" name="Google Shape;2423;p126"/>
          <p:cNvCxnSpPr>
            <a:stCxn id="2422" idx="0"/>
            <a:endCxn id="2417" idx="2"/>
          </p:cNvCxnSpPr>
          <p:nvPr/>
        </p:nvCxnSpPr>
        <p:spPr>
          <a:xfrm flipH="1" rot="10800000">
            <a:off x="6883544" y="831404"/>
            <a:ext cx="1268400" cy="168300"/>
          </a:xfrm>
          <a:prstGeom prst="straightConnector1">
            <a:avLst/>
          </a:prstGeom>
          <a:noFill/>
          <a:ln cap="flat" cmpd="sng" w="9525">
            <a:solidFill>
              <a:schemeClr val="accent1"/>
            </a:solidFill>
            <a:prstDash val="solid"/>
            <a:miter lim="800000"/>
            <a:headEnd len="sm" w="sm" type="none"/>
            <a:tailEnd len="sm" w="sm" type="none"/>
          </a:ln>
        </p:spPr>
      </p:cxnSp>
      <p:sp>
        <p:nvSpPr>
          <p:cNvPr id="2424" name="Google Shape;2424;p126"/>
          <p:cNvSpPr/>
          <p:nvPr/>
        </p:nvSpPr>
        <p:spPr>
          <a:xfrm>
            <a:off x="8197560" y="1229057"/>
            <a:ext cx="1050473" cy="399768"/>
          </a:xfrm>
          <a:prstGeom prst="triangle">
            <a:avLst>
              <a:gd fmla="val 50000" name="adj"/>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isA</a:t>
            </a:r>
            <a:endParaRPr sz="1800">
              <a:solidFill>
                <a:schemeClr val="lt1"/>
              </a:solidFill>
              <a:latin typeface="Calibri"/>
              <a:ea typeface="Calibri"/>
              <a:cs typeface="Calibri"/>
              <a:sym typeface="Calibri"/>
            </a:endParaRPr>
          </a:p>
        </p:txBody>
      </p:sp>
      <p:cxnSp>
        <p:nvCxnSpPr>
          <p:cNvPr id="2425" name="Google Shape;2425;p126"/>
          <p:cNvCxnSpPr>
            <a:stCxn id="2424" idx="0"/>
            <a:endCxn id="2417" idx="2"/>
          </p:cNvCxnSpPr>
          <p:nvPr/>
        </p:nvCxnSpPr>
        <p:spPr>
          <a:xfrm rot="10800000">
            <a:off x="8151897" y="831557"/>
            <a:ext cx="570900" cy="397500"/>
          </a:xfrm>
          <a:prstGeom prst="straightConnector1">
            <a:avLst/>
          </a:prstGeom>
          <a:noFill/>
          <a:ln cap="flat" cmpd="sng" w="9525">
            <a:solidFill>
              <a:schemeClr val="accent1"/>
            </a:solidFill>
            <a:prstDash val="solid"/>
            <a:miter lim="800000"/>
            <a:headEnd len="sm" w="sm" type="none"/>
            <a:tailEnd len="sm" w="sm" type="none"/>
          </a:ln>
        </p:spPr>
      </p:cxnSp>
      <p:cxnSp>
        <p:nvCxnSpPr>
          <p:cNvPr id="2426" name="Google Shape;2426;p126"/>
          <p:cNvCxnSpPr>
            <a:stCxn id="2424" idx="3"/>
            <a:endCxn id="2418" idx="0"/>
          </p:cNvCxnSpPr>
          <p:nvPr/>
        </p:nvCxnSpPr>
        <p:spPr>
          <a:xfrm flipH="1">
            <a:off x="8065797" y="1628825"/>
            <a:ext cx="657000" cy="420000"/>
          </a:xfrm>
          <a:prstGeom prst="straightConnector1">
            <a:avLst/>
          </a:prstGeom>
          <a:noFill/>
          <a:ln cap="flat" cmpd="sng" w="9525">
            <a:solidFill>
              <a:schemeClr val="accent1"/>
            </a:solidFill>
            <a:prstDash val="solid"/>
            <a:miter lim="800000"/>
            <a:headEnd len="sm" w="sm" type="none"/>
            <a:tailEnd len="sm" w="sm" type="none"/>
          </a:ln>
        </p:spPr>
      </p:cxnSp>
      <p:cxnSp>
        <p:nvCxnSpPr>
          <p:cNvPr id="2427" name="Google Shape;2427;p126"/>
          <p:cNvCxnSpPr>
            <a:stCxn id="2419" idx="0"/>
            <a:endCxn id="2424" idx="3"/>
          </p:cNvCxnSpPr>
          <p:nvPr/>
        </p:nvCxnSpPr>
        <p:spPr>
          <a:xfrm rot="10800000">
            <a:off x="8722673" y="1628754"/>
            <a:ext cx="1949100" cy="427800"/>
          </a:xfrm>
          <a:prstGeom prst="straightConnector1">
            <a:avLst/>
          </a:prstGeom>
          <a:noFill/>
          <a:ln cap="flat" cmpd="sng" w="9525">
            <a:solidFill>
              <a:schemeClr val="accent1"/>
            </a:solidFill>
            <a:prstDash val="solid"/>
            <a:miter lim="800000"/>
            <a:headEnd len="sm" w="sm" type="none"/>
            <a:tailEnd len="sm" w="sm" type="none"/>
          </a:ln>
        </p:spPr>
      </p:cxnSp>
      <p:sp>
        <p:nvSpPr>
          <p:cNvPr id="2428" name="Google Shape;2428;p126"/>
          <p:cNvSpPr/>
          <p:nvPr/>
        </p:nvSpPr>
        <p:spPr>
          <a:xfrm>
            <a:off x="4517596" y="223023"/>
            <a:ext cx="1394233" cy="914400"/>
          </a:xfrm>
          <a:prstGeom prst="diamond">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owns</a:t>
            </a:r>
            <a:endParaRPr/>
          </a:p>
        </p:txBody>
      </p:sp>
      <p:sp>
        <p:nvSpPr>
          <p:cNvPr id="2429" name="Google Shape;2429;p126"/>
          <p:cNvSpPr/>
          <p:nvPr/>
        </p:nvSpPr>
        <p:spPr>
          <a:xfrm>
            <a:off x="5749587" y="0"/>
            <a:ext cx="1747357" cy="306402"/>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Purchase date</a:t>
            </a:r>
            <a:endParaRPr/>
          </a:p>
        </p:txBody>
      </p:sp>
      <p:cxnSp>
        <p:nvCxnSpPr>
          <p:cNvPr id="2430" name="Google Shape;2430;p126"/>
          <p:cNvCxnSpPr>
            <a:stCxn id="2429" idx="4"/>
          </p:cNvCxnSpPr>
          <p:nvPr/>
        </p:nvCxnSpPr>
        <p:spPr>
          <a:xfrm flipH="1">
            <a:off x="5576866" y="306402"/>
            <a:ext cx="1046400" cy="262500"/>
          </a:xfrm>
          <a:prstGeom prst="straightConnector1">
            <a:avLst/>
          </a:prstGeom>
          <a:noFill/>
          <a:ln cap="flat" cmpd="sng" w="9525">
            <a:solidFill>
              <a:schemeClr val="accent1"/>
            </a:solidFill>
            <a:prstDash val="solid"/>
            <a:miter lim="800000"/>
            <a:headEnd len="sm" w="sm" type="none"/>
            <a:tailEnd len="sm" w="sm" type="none"/>
          </a:ln>
        </p:spPr>
      </p:cxnSp>
      <p:cxnSp>
        <p:nvCxnSpPr>
          <p:cNvPr id="2431" name="Google Shape;2431;p126"/>
          <p:cNvCxnSpPr>
            <a:stCxn id="2405" idx="3"/>
            <a:endCxn id="2428" idx="1"/>
          </p:cNvCxnSpPr>
          <p:nvPr/>
        </p:nvCxnSpPr>
        <p:spPr>
          <a:xfrm>
            <a:off x="3438806" y="460311"/>
            <a:ext cx="1078800" cy="219900"/>
          </a:xfrm>
          <a:prstGeom prst="straightConnector1">
            <a:avLst/>
          </a:prstGeom>
          <a:noFill/>
          <a:ln cap="flat" cmpd="sng" w="9525">
            <a:solidFill>
              <a:schemeClr val="accent1"/>
            </a:solidFill>
            <a:prstDash val="solid"/>
            <a:miter lim="800000"/>
            <a:headEnd len="sm" w="sm" type="none"/>
            <a:tailEnd len="sm" w="sm" type="none"/>
          </a:ln>
        </p:spPr>
      </p:cxnSp>
      <p:cxnSp>
        <p:nvCxnSpPr>
          <p:cNvPr id="2432" name="Google Shape;2432;p126"/>
          <p:cNvCxnSpPr/>
          <p:nvPr/>
        </p:nvCxnSpPr>
        <p:spPr>
          <a:xfrm>
            <a:off x="5911829" y="722864"/>
            <a:ext cx="1385264" cy="0"/>
          </a:xfrm>
          <a:prstGeom prst="straightConnector1">
            <a:avLst/>
          </a:prstGeom>
          <a:noFill/>
          <a:ln cap="flat" cmpd="sng" w="9525">
            <a:solidFill>
              <a:schemeClr val="accent1"/>
            </a:solidFill>
            <a:prstDash val="solid"/>
            <a:miter lim="800000"/>
            <a:headEnd len="sm" w="sm" type="none"/>
            <a:tailEnd len="sm" w="sm" type="none"/>
          </a:ln>
        </p:spPr>
      </p:cxnSp>
      <p:sp>
        <p:nvSpPr>
          <p:cNvPr id="2433" name="Google Shape;2433;p126"/>
          <p:cNvSpPr/>
          <p:nvPr/>
        </p:nvSpPr>
        <p:spPr>
          <a:xfrm>
            <a:off x="7369000" y="2463488"/>
            <a:ext cx="1068309" cy="389306"/>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style</a:t>
            </a:r>
            <a:endParaRPr/>
          </a:p>
        </p:txBody>
      </p:sp>
      <p:sp>
        <p:nvSpPr>
          <p:cNvPr id="2434" name="Google Shape;2434;p126"/>
          <p:cNvSpPr/>
          <p:nvPr/>
        </p:nvSpPr>
        <p:spPr>
          <a:xfrm>
            <a:off x="10245506" y="2420805"/>
            <a:ext cx="1231386" cy="389306"/>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tonnage</a:t>
            </a:r>
            <a:endParaRPr/>
          </a:p>
        </p:txBody>
      </p:sp>
      <p:cxnSp>
        <p:nvCxnSpPr>
          <p:cNvPr id="2435" name="Google Shape;2435;p126"/>
          <p:cNvCxnSpPr>
            <a:stCxn id="2433" idx="0"/>
            <a:endCxn id="2418" idx="2"/>
          </p:cNvCxnSpPr>
          <p:nvPr/>
        </p:nvCxnSpPr>
        <p:spPr>
          <a:xfrm flipH="1" rot="10800000">
            <a:off x="7903155" y="2311388"/>
            <a:ext cx="162600" cy="152100"/>
          </a:xfrm>
          <a:prstGeom prst="straightConnector1">
            <a:avLst/>
          </a:prstGeom>
          <a:noFill/>
          <a:ln cap="flat" cmpd="sng" w="9525">
            <a:solidFill>
              <a:schemeClr val="accent1"/>
            </a:solidFill>
            <a:prstDash val="solid"/>
            <a:miter lim="800000"/>
            <a:headEnd len="sm" w="sm" type="none"/>
            <a:tailEnd len="sm" w="sm" type="none"/>
          </a:ln>
        </p:spPr>
      </p:cxnSp>
      <p:cxnSp>
        <p:nvCxnSpPr>
          <p:cNvPr id="2436" name="Google Shape;2436;p126"/>
          <p:cNvCxnSpPr>
            <a:stCxn id="2434" idx="0"/>
            <a:endCxn id="2419" idx="2"/>
          </p:cNvCxnSpPr>
          <p:nvPr/>
        </p:nvCxnSpPr>
        <p:spPr>
          <a:xfrm rot="10800000">
            <a:off x="10671899" y="2319105"/>
            <a:ext cx="189300" cy="101700"/>
          </a:xfrm>
          <a:prstGeom prst="straightConnector1">
            <a:avLst/>
          </a:prstGeom>
          <a:noFill/>
          <a:ln cap="flat" cmpd="sng" w="9525">
            <a:solidFill>
              <a:schemeClr val="accent1"/>
            </a:solidFill>
            <a:prstDash val="solid"/>
            <a:miter lim="800000"/>
            <a:headEnd len="sm" w="sm" type="none"/>
            <a:tailEnd len="sm" w="sm" type="none"/>
          </a:ln>
        </p:spPr>
      </p:cxnSp>
      <p:sp>
        <p:nvSpPr>
          <p:cNvPr id="2437" name="Google Shape;2437;p126"/>
          <p:cNvSpPr/>
          <p:nvPr/>
        </p:nvSpPr>
        <p:spPr>
          <a:xfrm>
            <a:off x="552262" y="505577"/>
            <a:ext cx="1301429" cy="262553"/>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u="sng">
                <a:solidFill>
                  <a:schemeClr val="lt1"/>
                </a:solidFill>
                <a:latin typeface="Calibri"/>
                <a:ea typeface="Calibri"/>
                <a:cs typeface="Calibri"/>
                <a:sym typeface="Calibri"/>
              </a:rPr>
              <a:t>Owner_id</a:t>
            </a:r>
            <a:endParaRPr sz="1000" u="sng">
              <a:solidFill>
                <a:schemeClr val="lt1"/>
              </a:solidFill>
              <a:latin typeface="Calibri"/>
              <a:ea typeface="Calibri"/>
              <a:cs typeface="Calibri"/>
              <a:sym typeface="Calibri"/>
            </a:endParaRPr>
          </a:p>
        </p:txBody>
      </p:sp>
      <p:cxnSp>
        <p:nvCxnSpPr>
          <p:cNvPr id="2438" name="Google Shape;2438;p126"/>
          <p:cNvCxnSpPr>
            <a:stCxn id="2437" idx="0"/>
            <a:endCxn id="2405" idx="1"/>
          </p:cNvCxnSpPr>
          <p:nvPr/>
        </p:nvCxnSpPr>
        <p:spPr>
          <a:xfrm flipH="1" rot="10800000">
            <a:off x="1202977" y="460277"/>
            <a:ext cx="841500" cy="45300"/>
          </a:xfrm>
          <a:prstGeom prst="straightConnector1">
            <a:avLst/>
          </a:prstGeom>
          <a:noFill/>
          <a:ln cap="flat" cmpd="sng" w="9525">
            <a:solidFill>
              <a:schemeClr val="accent1"/>
            </a:solidFill>
            <a:prstDash val="solid"/>
            <a:miter lim="800000"/>
            <a:headEnd len="sm" w="sm" type="none"/>
            <a:tailEnd len="sm" w="sm" type="none"/>
          </a:ln>
        </p:spPr>
      </p:cxnSp>
      <p:sp>
        <p:nvSpPr>
          <p:cNvPr id="2439" name="Google Shape;2439;p1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440" name="Google Shape;2440;p126"/>
          <p:cNvPicPr preferRelativeResize="0"/>
          <p:nvPr/>
        </p:nvPicPr>
        <p:blipFill rotWithShape="1">
          <a:blip r:embed="rId3">
            <a:alphaModFix/>
          </a:blip>
          <a:srcRect b="0" l="30685" r="0" t="0"/>
          <a:stretch/>
        </p:blipFill>
        <p:spPr>
          <a:xfrm>
            <a:off x="4004069" y="2005342"/>
            <a:ext cx="4011592" cy="435133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4" name="Shape 2444"/>
        <p:cNvGrpSpPr/>
        <p:nvPr/>
      </p:nvGrpSpPr>
      <p:grpSpPr>
        <a:xfrm>
          <a:off x="0" y="0"/>
          <a:ext cx="0" cy="0"/>
          <a:chOff x="0" y="0"/>
          <a:chExt cx="0" cy="0"/>
        </a:xfrm>
      </p:grpSpPr>
      <p:sp>
        <p:nvSpPr>
          <p:cNvPr id="2445" name="Google Shape;2445;p127"/>
          <p:cNvSpPr txBox="1"/>
          <p:nvPr>
            <p:ph type="title"/>
          </p:nvPr>
        </p:nvSpPr>
        <p:spPr>
          <a:xfrm>
            <a:off x="255429" y="260617"/>
            <a:ext cx="3908742" cy="41549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Chen Notation</a:t>
            </a:r>
            <a:endParaRPr/>
          </a:p>
        </p:txBody>
      </p:sp>
      <p:sp>
        <p:nvSpPr>
          <p:cNvPr id="2446" name="Google Shape;2446;p1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47" name="Google Shape;2447;p127"/>
          <p:cNvSpPr/>
          <p:nvPr/>
        </p:nvSpPr>
        <p:spPr>
          <a:xfrm>
            <a:off x="713232" y="881142"/>
            <a:ext cx="1125202" cy="301752"/>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48" name="Google Shape;2448;p127"/>
          <p:cNvSpPr txBox="1"/>
          <p:nvPr/>
        </p:nvSpPr>
        <p:spPr>
          <a:xfrm>
            <a:off x="2020824" y="813562"/>
            <a:ext cx="10774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Entity Set</a:t>
            </a:r>
            <a:endParaRPr/>
          </a:p>
        </p:txBody>
      </p:sp>
      <p:sp>
        <p:nvSpPr>
          <p:cNvPr id="2449" name="Google Shape;2449;p127"/>
          <p:cNvSpPr/>
          <p:nvPr/>
        </p:nvSpPr>
        <p:spPr>
          <a:xfrm>
            <a:off x="713232" y="1624102"/>
            <a:ext cx="1125202" cy="369332"/>
          </a:xfrm>
          <a:prstGeom prst="rect">
            <a:avLst/>
          </a:prstGeom>
          <a:solidFill>
            <a:schemeClr val="accent1"/>
          </a:solidFill>
          <a:ln cap="flat" cmpd="sng" w="5715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50" name="Google Shape;2450;p127"/>
          <p:cNvSpPr txBox="1"/>
          <p:nvPr/>
        </p:nvSpPr>
        <p:spPr>
          <a:xfrm>
            <a:off x="2020824" y="1588419"/>
            <a:ext cx="16572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Weak Entity Set</a:t>
            </a:r>
            <a:endParaRPr/>
          </a:p>
        </p:txBody>
      </p:sp>
      <p:sp>
        <p:nvSpPr>
          <p:cNvPr id="2451" name="Google Shape;2451;p127"/>
          <p:cNvSpPr/>
          <p:nvPr/>
        </p:nvSpPr>
        <p:spPr>
          <a:xfrm>
            <a:off x="713232" y="2279755"/>
            <a:ext cx="820745" cy="900671"/>
          </a:xfrm>
          <a:prstGeom prst="flowChartDecision">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52" name="Google Shape;2452;p127"/>
          <p:cNvSpPr txBox="1"/>
          <p:nvPr/>
        </p:nvSpPr>
        <p:spPr>
          <a:xfrm>
            <a:off x="2219352" y="2545425"/>
            <a:ext cx="13422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Relationship</a:t>
            </a:r>
            <a:endParaRPr/>
          </a:p>
        </p:txBody>
      </p:sp>
      <p:grpSp>
        <p:nvGrpSpPr>
          <p:cNvPr id="2453" name="Google Shape;2453;p127"/>
          <p:cNvGrpSpPr/>
          <p:nvPr/>
        </p:nvGrpSpPr>
        <p:grpSpPr>
          <a:xfrm>
            <a:off x="4535780" y="881142"/>
            <a:ext cx="1221892" cy="369332"/>
            <a:chOff x="4535780" y="881142"/>
            <a:chExt cx="1221892" cy="369332"/>
          </a:xfrm>
        </p:grpSpPr>
        <p:sp>
          <p:nvSpPr>
            <p:cNvPr id="2454" name="Google Shape;2454;p127"/>
            <p:cNvSpPr/>
            <p:nvPr/>
          </p:nvSpPr>
          <p:spPr>
            <a:xfrm>
              <a:off x="4860380" y="881142"/>
              <a:ext cx="897292" cy="369332"/>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455" name="Google Shape;2455;p127"/>
            <p:cNvCxnSpPr>
              <a:stCxn id="2454" idx="2"/>
            </p:cNvCxnSpPr>
            <p:nvPr/>
          </p:nvCxnSpPr>
          <p:spPr>
            <a:xfrm flipH="1">
              <a:off x="4535780" y="1065808"/>
              <a:ext cx="324600" cy="117000"/>
            </a:xfrm>
            <a:prstGeom prst="straightConnector1">
              <a:avLst/>
            </a:prstGeom>
            <a:noFill/>
            <a:ln cap="flat" cmpd="sng" w="9525">
              <a:solidFill>
                <a:schemeClr val="accent1"/>
              </a:solidFill>
              <a:prstDash val="solid"/>
              <a:miter lim="800000"/>
              <a:headEnd len="sm" w="sm" type="none"/>
              <a:tailEnd len="sm" w="sm" type="none"/>
            </a:ln>
          </p:spPr>
        </p:cxnSp>
      </p:grpSp>
      <p:grpSp>
        <p:nvGrpSpPr>
          <p:cNvPr id="2456" name="Google Shape;2456;p127"/>
          <p:cNvGrpSpPr/>
          <p:nvPr/>
        </p:nvGrpSpPr>
        <p:grpSpPr>
          <a:xfrm>
            <a:off x="4685453" y="1379492"/>
            <a:ext cx="1221892" cy="369332"/>
            <a:chOff x="4535780" y="881142"/>
            <a:chExt cx="1221892" cy="369332"/>
          </a:xfrm>
        </p:grpSpPr>
        <p:sp>
          <p:nvSpPr>
            <p:cNvPr id="2457" name="Google Shape;2457;p127"/>
            <p:cNvSpPr/>
            <p:nvPr/>
          </p:nvSpPr>
          <p:spPr>
            <a:xfrm>
              <a:off x="4860380" y="881142"/>
              <a:ext cx="897292" cy="369332"/>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lt1"/>
                  </a:solidFill>
                  <a:latin typeface="Calibri"/>
                  <a:ea typeface="Calibri"/>
                  <a:cs typeface="Calibri"/>
                  <a:sym typeface="Calibri"/>
                </a:rPr>
                <a:t>      </a:t>
              </a:r>
              <a:endParaRPr/>
            </a:p>
          </p:txBody>
        </p:sp>
        <p:cxnSp>
          <p:nvCxnSpPr>
            <p:cNvPr id="2458" name="Google Shape;2458;p127"/>
            <p:cNvCxnSpPr>
              <a:stCxn id="2457" idx="2"/>
            </p:cNvCxnSpPr>
            <p:nvPr/>
          </p:nvCxnSpPr>
          <p:spPr>
            <a:xfrm flipH="1">
              <a:off x="4535780" y="1065808"/>
              <a:ext cx="324600" cy="117000"/>
            </a:xfrm>
            <a:prstGeom prst="straightConnector1">
              <a:avLst/>
            </a:prstGeom>
            <a:noFill/>
            <a:ln cap="flat" cmpd="sng" w="9525">
              <a:solidFill>
                <a:schemeClr val="accent1"/>
              </a:solidFill>
              <a:prstDash val="solid"/>
              <a:miter lim="800000"/>
              <a:headEnd len="sm" w="sm" type="none"/>
              <a:tailEnd len="sm" w="sm" type="none"/>
            </a:ln>
          </p:spPr>
        </p:cxnSp>
      </p:grpSp>
      <p:cxnSp>
        <p:nvCxnSpPr>
          <p:cNvPr id="2459" name="Google Shape;2459;p127"/>
          <p:cNvCxnSpPr/>
          <p:nvPr/>
        </p:nvCxnSpPr>
        <p:spPr>
          <a:xfrm>
            <a:off x="5223470" y="1602928"/>
            <a:ext cx="470458" cy="0"/>
          </a:xfrm>
          <a:prstGeom prst="straightConnector1">
            <a:avLst/>
          </a:prstGeom>
          <a:noFill/>
          <a:ln cap="flat" cmpd="sng" w="28575">
            <a:solidFill>
              <a:srgbClr val="0C0C0C"/>
            </a:solidFill>
            <a:prstDash val="solid"/>
            <a:miter lim="800000"/>
            <a:headEnd len="sm" w="sm" type="none"/>
            <a:tailEnd len="sm" w="sm" type="none"/>
          </a:ln>
        </p:spPr>
      </p:cxnSp>
      <p:grpSp>
        <p:nvGrpSpPr>
          <p:cNvPr id="2460" name="Google Shape;2460;p127"/>
          <p:cNvGrpSpPr/>
          <p:nvPr/>
        </p:nvGrpSpPr>
        <p:grpSpPr>
          <a:xfrm>
            <a:off x="4685453" y="1933490"/>
            <a:ext cx="1268043" cy="462835"/>
            <a:chOff x="4698017" y="2707408"/>
            <a:chExt cx="1268043" cy="462835"/>
          </a:xfrm>
        </p:grpSpPr>
        <p:sp>
          <p:nvSpPr>
            <p:cNvPr id="2461" name="Google Shape;2461;p127"/>
            <p:cNvSpPr/>
            <p:nvPr/>
          </p:nvSpPr>
          <p:spPr>
            <a:xfrm>
              <a:off x="4997328" y="2707408"/>
              <a:ext cx="968732" cy="462835"/>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462" name="Google Shape;2462;p127"/>
            <p:cNvGrpSpPr/>
            <p:nvPr/>
          </p:nvGrpSpPr>
          <p:grpSpPr>
            <a:xfrm>
              <a:off x="4698017" y="2756013"/>
              <a:ext cx="1221892" cy="369332"/>
              <a:chOff x="4535780" y="881142"/>
              <a:chExt cx="1221892" cy="369332"/>
            </a:xfrm>
          </p:grpSpPr>
          <p:sp>
            <p:nvSpPr>
              <p:cNvPr id="2463" name="Google Shape;2463;p127"/>
              <p:cNvSpPr/>
              <p:nvPr/>
            </p:nvSpPr>
            <p:spPr>
              <a:xfrm>
                <a:off x="4860380" y="881142"/>
                <a:ext cx="897292" cy="369332"/>
              </a:xfrm>
              <a:prstGeom prst="ellipse">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464" name="Google Shape;2464;p127"/>
              <p:cNvCxnSpPr>
                <a:stCxn id="2463" idx="2"/>
              </p:cNvCxnSpPr>
              <p:nvPr/>
            </p:nvCxnSpPr>
            <p:spPr>
              <a:xfrm flipH="1">
                <a:off x="4535780" y="1065808"/>
                <a:ext cx="324600" cy="117000"/>
              </a:xfrm>
              <a:prstGeom prst="straightConnector1">
                <a:avLst/>
              </a:prstGeom>
              <a:noFill/>
              <a:ln cap="flat" cmpd="sng" w="9525">
                <a:solidFill>
                  <a:schemeClr val="accent1"/>
                </a:solidFill>
                <a:prstDash val="solid"/>
                <a:miter lim="800000"/>
                <a:headEnd len="sm" w="sm" type="none"/>
                <a:tailEnd len="sm" w="sm" type="none"/>
              </a:ln>
            </p:spPr>
          </p:cxnSp>
        </p:grpSp>
      </p:grpSp>
      <p:grpSp>
        <p:nvGrpSpPr>
          <p:cNvPr id="2465" name="Google Shape;2465;p127"/>
          <p:cNvGrpSpPr/>
          <p:nvPr/>
        </p:nvGrpSpPr>
        <p:grpSpPr>
          <a:xfrm>
            <a:off x="4725991" y="2652278"/>
            <a:ext cx="1221892" cy="369332"/>
            <a:chOff x="4535780" y="881142"/>
            <a:chExt cx="1221892" cy="369332"/>
          </a:xfrm>
        </p:grpSpPr>
        <p:sp>
          <p:nvSpPr>
            <p:cNvPr id="2466" name="Google Shape;2466;p127"/>
            <p:cNvSpPr/>
            <p:nvPr/>
          </p:nvSpPr>
          <p:spPr>
            <a:xfrm>
              <a:off x="4860380" y="881142"/>
              <a:ext cx="897292" cy="369332"/>
            </a:xfrm>
            <a:prstGeom prst="ellipse">
              <a:avLst/>
            </a:prstGeom>
            <a:solidFill>
              <a:schemeClr val="accent1"/>
            </a:solidFill>
            <a:ln cap="flat" cmpd="sng" w="12700">
              <a:solidFill>
                <a:srgbClr val="264159"/>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467" name="Google Shape;2467;p127"/>
            <p:cNvCxnSpPr>
              <a:stCxn id="2466" idx="2"/>
            </p:cNvCxnSpPr>
            <p:nvPr/>
          </p:nvCxnSpPr>
          <p:spPr>
            <a:xfrm flipH="1">
              <a:off x="4535780" y="1065808"/>
              <a:ext cx="324600" cy="117000"/>
            </a:xfrm>
            <a:prstGeom prst="straightConnector1">
              <a:avLst/>
            </a:prstGeom>
            <a:noFill/>
            <a:ln cap="flat" cmpd="sng" w="9525">
              <a:solidFill>
                <a:schemeClr val="accent1"/>
              </a:solidFill>
              <a:prstDash val="solid"/>
              <a:miter lim="800000"/>
              <a:headEnd len="sm" w="sm" type="none"/>
              <a:tailEnd len="sm" w="sm" type="none"/>
            </a:ln>
          </p:spPr>
        </p:cxnSp>
      </p:grpSp>
      <p:sp>
        <p:nvSpPr>
          <p:cNvPr id="2468" name="Google Shape;2468;p127"/>
          <p:cNvSpPr txBox="1"/>
          <p:nvPr/>
        </p:nvSpPr>
        <p:spPr>
          <a:xfrm>
            <a:off x="6226609" y="847352"/>
            <a:ext cx="10290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Attribute</a:t>
            </a:r>
            <a:endParaRPr/>
          </a:p>
        </p:txBody>
      </p:sp>
      <p:sp>
        <p:nvSpPr>
          <p:cNvPr id="2469" name="Google Shape;2469;p127"/>
          <p:cNvSpPr txBox="1"/>
          <p:nvPr/>
        </p:nvSpPr>
        <p:spPr>
          <a:xfrm>
            <a:off x="6210261" y="1311912"/>
            <a:ext cx="14161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Key Attribute</a:t>
            </a:r>
            <a:endParaRPr/>
          </a:p>
        </p:txBody>
      </p:sp>
      <p:sp>
        <p:nvSpPr>
          <p:cNvPr id="2470" name="Google Shape;2470;p127"/>
          <p:cNvSpPr txBox="1"/>
          <p:nvPr/>
        </p:nvSpPr>
        <p:spPr>
          <a:xfrm>
            <a:off x="6173449" y="1957751"/>
            <a:ext cx="22070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Multivalued Attribute</a:t>
            </a:r>
            <a:endParaRPr/>
          </a:p>
        </p:txBody>
      </p:sp>
      <p:sp>
        <p:nvSpPr>
          <p:cNvPr id="2471" name="Google Shape;2471;p127"/>
          <p:cNvSpPr txBox="1"/>
          <p:nvPr/>
        </p:nvSpPr>
        <p:spPr>
          <a:xfrm>
            <a:off x="6133866" y="2652278"/>
            <a:ext cx="18122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Derived Attribute</a:t>
            </a:r>
            <a:endParaRPr/>
          </a:p>
        </p:txBody>
      </p:sp>
      <p:sp>
        <p:nvSpPr>
          <p:cNvPr id="2472" name="Google Shape;2472;p127"/>
          <p:cNvSpPr/>
          <p:nvPr/>
        </p:nvSpPr>
        <p:spPr>
          <a:xfrm>
            <a:off x="2555502" y="3649817"/>
            <a:ext cx="914400" cy="531603"/>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E1</a:t>
            </a:r>
            <a:endParaRPr/>
          </a:p>
        </p:txBody>
      </p:sp>
      <p:sp>
        <p:nvSpPr>
          <p:cNvPr id="2473" name="Google Shape;2473;p127"/>
          <p:cNvSpPr/>
          <p:nvPr/>
        </p:nvSpPr>
        <p:spPr>
          <a:xfrm>
            <a:off x="5577449" y="3641200"/>
            <a:ext cx="1022863" cy="548855"/>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E2</a:t>
            </a:r>
            <a:endParaRPr/>
          </a:p>
        </p:txBody>
      </p:sp>
      <p:sp>
        <p:nvSpPr>
          <p:cNvPr id="2474" name="Google Shape;2474;p127"/>
          <p:cNvSpPr/>
          <p:nvPr/>
        </p:nvSpPr>
        <p:spPr>
          <a:xfrm>
            <a:off x="4033464" y="3609303"/>
            <a:ext cx="1095555" cy="612648"/>
          </a:xfrm>
          <a:prstGeom prst="flowChartDecision">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chemeClr val="lt1"/>
                </a:solidFill>
                <a:latin typeface="Calibri"/>
                <a:ea typeface="Calibri"/>
                <a:cs typeface="Calibri"/>
                <a:sym typeface="Calibri"/>
              </a:rPr>
              <a:t>R</a:t>
            </a:r>
            <a:endParaRPr/>
          </a:p>
        </p:txBody>
      </p:sp>
      <p:cxnSp>
        <p:nvCxnSpPr>
          <p:cNvPr id="2475" name="Google Shape;2475;p127"/>
          <p:cNvCxnSpPr>
            <a:stCxn id="2474" idx="3"/>
            <a:endCxn id="2473" idx="1"/>
          </p:cNvCxnSpPr>
          <p:nvPr/>
        </p:nvCxnSpPr>
        <p:spPr>
          <a:xfrm>
            <a:off x="5129019" y="3915627"/>
            <a:ext cx="448500" cy="0"/>
          </a:xfrm>
          <a:prstGeom prst="straightConnector1">
            <a:avLst/>
          </a:prstGeom>
          <a:noFill/>
          <a:ln cap="flat" cmpd="sng" w="12700">
            <a:solidFill>
              <a:schemeClr val="accent1"/>
            </a:solidFill>
            <a:prstDash val="solid"/>
            <a:miter lim="800000"/>
            <a:headEnd len="sm" w="sm" type="none"/>
            <a:tailEnd len="sm" w="sm" type="none"/>
          </a:ln>
        </p:spPr>
      </p:cxnSp>
      <p:cxnSp>
        <p:nvCxnSpPr>
          <p:cNvPr id="2476" name="Google Shape;2476;p127"/>
          <p:cNvCxnSpPr>
            <a:stCxn id="2472" idx="3"/>
            <a:endCxn id="2474" idx="1"/>
          </p:cNvCxnSpPr>
          <p:nvPr/>
        </p:nvCxnSpPr>
        <p:spPr>
          <a:xfrm>
            <a:off x="3469902" y="3915619"/>
            <a:ext cx="563700" cy="0"/>
          </a:xfrm>
          <a:prstGeom prst="straightConnector1">
            <a:avLst/>
          </a:prstGeom>
          <a:noFill/>
          <a:ln cap="flat" cmpd="sng" w="12700">
            <a:solidFill>
              <a:schemeClr val="accent1"/>
            </a:solidFill>
            <a:prstDash val="solid"/>
            <a:miter lim="800000"/>
            <a:headEnd len="sm" w="sm" type="none"/>
            <a:tailEnd len="med" w="med" type="triangle"/>
          </a:ln>
        </p:spPr>
      </p:cxnSp>
      <p:sp>
        <p:nvSpPr>
          <p:cNvPr id="2477" name="Google Shape;2477;p127"/>
          <p:cNvSpPr txBox="1"/>
          <p:nvPr/>
        </p:nvSpPr>
        <p:spPr>
          <a:xfrm>
            <a:off x="7255673" y="3651725"/>
            <a:ext cx="23461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E1 has a most one in R </a:t>
            </a:r>
            <a:endParaRPr/>
          </a:p>
        </p:txBody>
      </p:sp>
      <p:sp>
        <p:nvSpPr>
          <p:cNvPr id="2478" name="Google Shape;2478;p127"/>
          <p:cNvSpPr/>
          <p:nvPr/>
        </p:nvSpPr>
        <p:spPr>
          <a:xfrm>
            <a:off x="2639662" y="5207939"/>
            <a:ext cx="914400" cy="531603"/>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E1</a:t>
            </a:r>
            <a:endParaRPr/>
          </a:p>
        </p:txBody>
      </p:sp>
      <p:sp>
        <p:nvSpPr>
          <p:cNvPr id="2479" name="Google Shape;2479;p127"/>
          <p:cNvSpPr/>
          <p:nvPr/>
        </p:nvSpPr>
        <p:spPr>
          <a:xfrm>
            <a:off x="5661609" y="5199322"/>
            <a:ext cx="1022863" cy="548855"/>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E2</a:t>
            </a:r>
            <a:endParaRPr/>
          </a:p>
        </p:txBody>
      </p:sp>
      <p:sp>
        <p:nvSpPr>
          <p:cNvPr id="2480" name="Google Shape;2480;p127"/>
          <p:cNvSpPr/>
          <p:nvPr/>
        </p:nvSpPr>
        <p:spPr>
          <a:xfrm>
            <a:off x="4117624" y="5167425"/>
            <a:ext cx="1095555" cy="612648"/>
          </a:xfrm>
          <a:prstGeom prst="flowChartDecision">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chemeClr val="lt1"/>
                </a:solidFill>
                <a:latin typeface="Calibri"/>
                <a:ea typeface="Calibri"/>
                <a:cs typeface="Calibri"/>
                <a:sym typeface="Calibri"/>
              </a:rPr>
              <a:t>R</a:t>
            </a:r>
            <a:endParaRPr/>
          </a:p>
        </p:txBody>
      </p:sp>
      <p:cxnSp>
        <p:nvCxnSpPr>
          <p:cNvPr id="2481" name="Google Shape;2481;p127"/>
          <p:cNvCxnSpPr>
            <a:stCxn id="2480" idx="3"/>
            <a:endCxn id="2479" idx="1"/>
          </p:cNvCxnSpPr>
          <p:nvPr/>
        </p:nvCxnSpPr>
        <p:spPr>
          <a:xfrm>
            <a:off x="5213179" y="5473749"/>
            <a:ext cx="448500" cy="0"/>
          </a:xfrm>
          <a:prstGeom prst="straightConnector1">
            <a:avLst/>
          </a:prstGeom>
          <a:noFill/>
          <a:ln cap="flat" cmpd="sng" w="57150">
            <a:solidFill>
              <a:schemeClr val="accent1"/>
            </a:solidFill>
            <a:prstDash val="solid"/>
            <a:miter lim="800000"/>
            <a:headEnd len="sm" w="sm" type="none"/>
            <a:tailEnd len="sm" w="sm" type="none"/>
          </a:ln>
        </p:spPr>
      </p:cxnSp>
      <p:cxnSp>
        <p:nvCxnSpPr>
          <p:cNvPr id="2482" name="Google Shape;2482;p127"/>
          <p:cNvCxnSpPr>
            <a:endCxn id="2480" idx="1"/>
          </p:cNvCxnSpPr>
          <p:nvPr/>
        </p:nvCxnSpPr>
        <p:spPr>
          <a:xfrm>
            <a:off x="3553924" y="5463249"/>
            <a:ext cx="563700" cy="10500"/>
          </a:xfrm>
          <a:prstGeom prst="straightConnector1">
            <a:avLst/>
          </a:prstGeom>
          <a:noFill/>
          <a:ln cap="flat" cmpd="sng" w="12700">
            <a:solidFill>
              <a:schemeClr val="accent1"/>
            </a:solidFill>
            <a:prstDash val="solid"/>
            <a:miter lim="800000"/>
            <a:headEnd len="sm" w="sm" type="none"/>
            <a:tailEnd len="sm" w="sm" type="none"/>
          </a:ln>
        </p:spPr>
      </p:cxnSp>
      <p:sp>
        <p:nvSpPr>
          <p:cNvPr id="2483" name="Google Shape;2483;p127"/>
          <p:cNvSpPr txBox="1"/>
          <p:nvPr/>
        </p:nvSpPr>
        <p:spPr>
          <a:xfrm>
            <a:off x="7318559" y="5278698"/>
            <a:ext cx="360797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Each item in E2 must participate in R</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7" name="Shape 2487"/>
        <p:cNvGrpSpPr/>
        <p:nvPr/>
      </p:nvGrpSpPr>
      <p:grpSpPr>
        <a:xfrm>
          <a:off x="0" y="0"/>
          <a:ext cx="0" cy="0"/>
          <a:chOff x="0" y="0"/>
          <a:chExt cx="0" cy="0"/>
        </a:xfrm>
      </p:grpSpPr>
      <p:sp>
        <p:nvSpPr>
          <p:cNvPr id="2488" name="Google Shape;2488;p1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a:t>
            </a:r>
            <a:endParaRPr/>
          </a:p>
        </p:txBody>
      </p:sp>
      <p:sp>
        <p:nvSpPr>
          <p:cNvPr id="2489" name="Google Shape;2489;p1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90" name="Google Shape;2490;p128"/>
          <p:cNvSpPr txBox="1"/>
          <p:nvPr/>
        </p:nvSpPr>
        <p:spPr>
          <a:xfrm>
            <a:off x="4841502" y="3543632"/>
            <a:ext cx="34620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 Employee works in 1 department</a:t>
            </a:r>
            <a:endParaRPr/>
          </a:p>
        </p:txBody>
      </p:sp>
      <p:sp>
        <p:nvSpPr>
          <p:cNvPr id="2491" name="Google Shape;2491;p128"/>
          <p:cNvSpPr/>
          <p:nvPr/>
        </p:nvSpPr>
        <p:spPr>
          <a:xfrm>
            <a:off x="4384302" y="2536449"/>
            <a:ext cx="914400" cy="531603"/>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Employee</a:t>
            </a:r>
            <a:endParaRPr/>
          </a:p>
        </p:txBody>
      </p:sp>
      <p:sp>
        <p:nvSpPr>
          <p:cNvPr id="2492" name="Google Shape;2492;p128"/>
          <p:cNvSpPr/>
          <p:nvPr/>
        </p:nvSpPr>
        <p:spPr>
          <a:xfrm>
            <a:off x="7406249" y="2527832"/>
            <a:ext cx="1022863" cy="548855"/>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Department</a:t>
            </a:r>
            <a:endParaRPr/>
          </a:p>
        </p:txBody>
      </p:sp>
      <p:sp>
        <p:nvSpPr>
          <p:cNvPr id="2493" name="Google Shape;2493;p128"/>
          <p:cNvSpPr/>
          <p:nvPr/>
        </p:nvSpPr>
        <p:spPr>
          <a:xfrm>
            <a:off x="5862264" y="2495935"/>
            <a:ext cx="1095555" cy="612648"/>
          </a:xfrm>
          <a:prstGeom prst="flowChartDecision">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chemeClr val="lt1"/>
                </a:solidFill>
                <a:latin typeface="Calibri"/>
                <a:ea typeface="Calibri"/>
                <a:cs typeface="Calibri"/>
                <a:sym typeface="Calibri"/>
              </a:rPr>
              <a:t>works</a:t>
            </a:r>
            <a:endParaRPr/>
          </a:p>
        </p:txBody>
      </p:sp>
      <p:cxnSp>
        <p:nvCxnSpPr>
          <p:cNvPr id="2494" name="Google Shape;2494;p128"/>
          <p:cNvCxnSpPr>
            <a:stCxn id="2493" idx="3"/>
            <a:endCxn id="2492" idx="1"/>
          </p:cNvCxnSpPr>
          <p:nvPr/>
        </p:nvCxnSpPr>
        <p:spPr>
          <a:xfrm>
            <a:off x="6957819" y="2802259"/>
            <a:ext cx="448500" cy="0"/>
          </a:xfrm>
          <a:prstGeom prst="straightConnector1">
            <a:avLst/>
          </a:prstGeom>
          <a:noFill/>
          <a:ln cap="flat" cmpd="sng" w="9525">
            <a:solidFill>
              <a:schemeClr val="accent1"/>
            </a:solidFill>
            <a:prstDash val="solid"/>
            <a:miter lim="800000"/>
            <a:headEnd len="sm" w="sm" type="none"/>
            <a:tailEnd len="sm" w="sm" type="none"/>
          </a:ln>
        </p:spPr>
      </p:cxnSp>
      <p:cxnSp>
        <p:nvCxnSpPr>
          <p:cNvPr id="2495" name="Google Shape;2495;p128"/>
          <p:cNvCxnSpPr>
            <a:stCxn id="2491" idx="3"/>
            <a:endCxn id="2493" idx="1"/>
          </p:cNvCxnSpPr>
          <p:nvPr/>
        </p:nvCxnSpPr>
        <p:spPr>
          <a:xfrm>
            <a:off x="5298702" y="2802251"/>
            <a:ext cx="563700" cy="0"/>
          </a:xfrm>
          <a:prstGeom prst="straightConnector1">
            <a:avLst/>
          </a:prstGeom>
          <a:noFill/>
          <a:ln cap="flat" cmpd="sng" w="57150">
            <a:solidFill>
              <a:schemeClr val="accent1"/>
            </a:solidFill>
            <a:prstDash val="solid"/>
            <a:miter lim="800000"/>
            <a:headEnd len="sm" w="sm" type="none"/>
            <a:tailEnd len="med" w="med" type="triangle"/>
          </a:ln>
        </p:spPr>
      </p:cxnSp>
      <p:sp>
        <p:nvSpPr>
          <p:cNvPr id="2496" name="Google Shape;2496;p128"/>
          <p:cNvSpPr txBox="1"/>
          <p:nvPr/>
        </p:nvSpPr>
        <p:spPr>
          <a:xfrm>
            <a:off x="4760166" y="4035480"/>
            <a:ext cx="390151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 Department  have  Many Employees</a:t>
            </a:r>
            <a:endParaRPr/>
          </a:p>
        </p:txBody>
      </p:sp>
      <p:sp>
        <p:nvSpPr>
          <p:cNvPr id="2497" name="Google Shape;2497;p128"/>
          <p:cNvSpPr txBox="1"/>
          <p:nvPr/>
        </p:nvSpPr>
        <p:spPr>
          <a:xfrm>
            <a:off x="4465460" y="4592195"/>
            <a:ext cx="39444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Every employee works for a department</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1" name="Shape 2501"/>
        <p:cNvGrpSpPr/>
        <p:nvPr/>
      </p:nvGrpSpPr>
      <p:grpSpPr>
        <a:xfrm>
          <a:off x="0" y="0"/>
          <a:ext cx="0" cy="0"/>
          <a:chOff x="0" y="0"/>
          <a:chExt cx="0" cy="0"/>
        </a:xfrm>
      </p:grpSpPr>
      <p:sp>
        <p:nvSpPr>
          <p:cNvPr id="2502" name="Google Shape;2502;p129"/>
          <p:cNvSpPr txBox="1"/>
          <p:nvPr>
            <p:ph type="title"/>
          </p:nvPr>
        </p:nvSpPr>
        <p:spPr>
          <a:xfrm>
            <a:off x="7464614" y="1783959"/>
            <a:ext cx="4087306" cy="28891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ERD Examples</a:t>
            </a:r>
            <a:endParaRPr/>
          </a:p>
        </p:txBody>
      </p:sp>
      <p:sp>
        <p:nvSpPr>
          <p:cNvPr id="2503" name="Google Shape;2503;p1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7" name="Shape 2507"/>
        <p:cNvGrpSpPr/>
        <p:nvPr/>
      </p:nvGrpSpPr>
      <p:grpSpPr>
        <a:xfrm>
          <a:off x="0" y="0"/>
          <a:ext cx="0" cy="0"/>
          <a:chOff x="0" y="0"/>
          <a:chExt cx="0" cy="0"/>
        </a:xfrm>
      </p:grpSpPr>
      <p:sp>
        <p:nvSpPr>
          <p:cNvPr id="2508" name="Google Shape;2508;p1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509" name="Google Shape;2509;p130"/>
          <p:cNvPicPr preferRelativeResize="0"/>
          <p:nvPr>
            <p:ph idx="1" type="body"/>
          </p:nvPr>
        </p:nvPicPr>
        <p:blipFill rotWithShape="1">
          <a:blip r:embed="rId3">
            <a:alphaModFix/>
          </a:blip>
          <a:srcRect b="0" l="0" r="0" t="0"/>
          <a:stretch/>
        </p:blipFill>
        <p:spPr>
          <a:xfrm>
            <a:off x="2870784" y="591428"/>
            <a:ext cx="6450431" cy="6266572"/>
          </a:xfrm>
          <a:prstGeom prst="rect">
            <a:avLst/>
          </a:prstGeom>
          <a:noFill/>
          <a:ln>
            <a:noFill/>
          </a:ln>
        </p:spPr>
      </p:pic>
      <p:sp>
        <p:nvSpPr>
          <p:cNvPr id="2510" name="Google Shape;2510;p1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4" name="Shape 2514"/>
        <p:cNvGrpSpPr/>
        <p:nvPr/>
      </p:nvGrpSpPr>
      <p:grpSpPr>
        <a:xfrm>
          <a:off x="0" y="0"/>
          <a:ext cx="0" cy="0"/>
          <a:chOff x="0" y="0"/>
          <a:chExt cx="0" cy="0"/>
        </a:xfrm>
      </p:grpSpPr>
      <p:sp>
        <p:nvSpPr>
          <p:cNvPr id="2515" name="Google Shape;2515;p1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516" name="Google Shape;2516;p131"/>
          <p:cNvPicPr preferRelativeResize="0"/>
          <p:nvPr>
            <p:ph idx="1" type="body"/>
          </p:nvPr>
        </p:nvPicPr>
        <p:blipFill rotWithShape="1">
          <a:blip r:embed="rId3">
            <a:alphaModFix/>
          </a:blip>
          <a:srcRect b="0" l="0" r="0" t="0"/>
          <a:stretch/>
        </p:blipFill>
        <p:spPr>
          <a:xfrm>
            <a:off x="2717009" y="365125"/>
            <a:ext cx="6757982" cy="6294048"/>
          </a:xfrm>
          <a:prstGeom prst="rect">
            <a:avLst/>
          </a:prstGeom>
          <a:noFill/>
          <a:ln>
            <a:noFill/>
          </a:ln>
        </p:spPr>
      </p:pic>
      <p:sp>
        <p:nvSpPr>
          <p:cNvPr id="2517" name="Google Shape;2517;p1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1" name="Shape 2521"/>
        <p:cNvGrpSpPr/>
        <p:nvPr/>
      </p:nvGrpSpPr>
      <p:grpSpPr>
        <a:xfrm>
          <a:off x="0" y="0"/>
          <a:ext cx="0" cy="0"/>
          <a:chOff x="0" y="0"/>
          <a:chExt cx="0" cy="0"/>
        </a:xfrm>
      </p:grpSpPr>
      <p:sp>
        <p:nvSpPr>
          <p:cNvPr id="2522" name="Google Shape;2522;p1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523" name="Google Shape;2523;p132"/>
          <p:cNvPicPr preferRelativeResize="0"/>
          <p:nvPr>
            <p:ph idx="1" type="body"/>
          </p:nvPr>
        </p:nvPicPr>
        <p:blipFill rotWithShape="1">
          <a:blip r:embed="rId3">
            <a:alphaModFix/>
          </a:blip>
          <a:srcRect b="0" l="0" r="0" t="0"/>
          <a:stretch/>
        </p:blipFill>
        <p:spPr>
          <a:xfrm>
            <a:off x="2363373" y="302217"/>
            <a:ext cx="5928030" cy="5874746"/>
          </a:xfrm>
          <a:prstGeom prst="rect">
            <a:avLst/>
          </a:prstGeom>
          <a:noFill/>
          <a:ln>
            <a:noFill/>
          </a:ln>
        </p:spPr>
      </p:pic>
      <p:sp>
        <p:nvSpPr>
          <p:cNvPr id="2524" name="Google Shape;2524;p1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8" name="Shape 2528"/>
        <p:cNvGrpSpPr/>
        <p:nvPr/>
      </p:nvGrpSpPr>
      <p:grpSpPr>
        <a:xfrm>
          <a:off x="0" y="0"/>
          <a:ext cx="0" cy="0"/>
          <a:chOff x="0" y="0"/>
          <a:chExt cx="0" cy="0"/>
        </a:xfrm>
      </p:grpSpPr>
      <p:sp>
        <p:nvSpPr>
          <p:cNvPr id="2529" name="Google Shape;2529;p1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530" name="Google Shape;2530;p133"/>
          <p:cNvPicPr preferRelativeResize="0"/>
          <p:nvPr>
            <p:ph idx="1" type="body"/>
          </p:nvPr>
        </p:nvPicPr>
        <p:blipFill rotWithShape="1">
          <a:blip r:embed="rId3">
            <a:alphaModFix/>
          </a:blip>
          <a:srcRect b="0" l="0" r="0" t="0"/>
          <a:stretch/>
        </p:blipFill>
        <p:spPr>
          <a:xfrm>
            <a:off x="1719037" y="654836"/>
            <a:ext cx="7579186" cy="5706269"/>
          </a:xfrm>
          <a:prstGeom prst="rect">
            <a:avLst/>
          </a:prstGeom>
          <a:noFill/>
          <a:ln>
            <a:noFill/>
          </a:ln>
        </p:spPr>
      </p:pic>
      <p:sp>
        <p:nvSpPr>
          <p:cNvPr id="2531" name="Google Shape;2531;p1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5" name="Shape 2535"/>
        <p:cNvGrpSpPr/>
        <p:nvPr/>
      </p:nvGrpSpPr>
      <p:grpSpPr>
        <a:xfrm>
          <a:off x="0" y="0"/>
          <a:ext cx="0" cy="0"/>
          <a:chOff x="0" y="0"/>
          <a:chExt cx="0" cy="0"/>
        </a:xfrm>
      </p:grpSpPr>
      <p:sp>
        <p:nvSpPr>
          <p:cNvPr id="2536" name="Google Shape;2536;p1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537" name="Google Shape;2537;p134"/>
          <p:cNvPicPr preferRelativeResize="0"/>
          <p:nvPr>
            <p:ph idx="1" type="body"/>
          </p:nvPr>
        </p:nvPicPr>
        <p:blipFill rotWithShape="1">
          <a:blip r:embed="rId3">
            <a:alphaModFix/>
          </a:blip>
          <a:srcRect b="0" l="0" r="0" t="0"/>
          <a:stretch/>
        </p:blipFill>
        <p:spPr>
          <a:xfrm>
            <a:off x="2785403" y="760752"/>
            <a:ext cx="6246056" cy="6097248"/>
          </a:xfrm>
          <a:prstGeom prst="rect">
            <a:avLst/>
          </a:prstGeom>
          <a:noFill/>
          <a:ln>
            <a:noFill/>
          </a:ln>
        </p:spPr>
      </p:pic>
      <p:sp>
        <p:nvSpPr>
          <p:cNvPr id="2538" name="Google Shape;2538;p1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2" name="Shape 2542"/>
        <p:cNvGrpSpPr/>
        <p:nvPr/>
      </p:nvGrpSpPr>
      <p:grpSpPr>
        <a:xfrm>
          <a:off x="0" y="0"/>
          <a:ext cx="0" cy="0"/>
          <a:chOff x="0" y="0"/>
          <a:chExt cx="0" cy="0"/>
        </a:xfrm>
      </p:grpSpPr>
      <p:sp>
        <p:nvSpPr>
          <p:cNvPr id="2543" name="Google Shape;2543;p1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Advanced Notation</a:t>
            </a:r>
            <a:endParaRPr/>
          </a:p>
        </p:txBody>
      </p:sp>
      <p:pic>
        <p:nvPicPr>
          <p:cNvPr id="2544" name="Google Shape;2544;p135"/>
          <p:cNvPicPr preferRelativeResize="0"/>
          <p:nvPr>
            <p:ph idx="1" type="body"/>
          </p:nvPr>
        </p:nvPicPr>
        <p:blipFill rotWithShape="1">
          <a:blip r:embed="rId3">
            <a:alphaModFix/>
          </a:blip>
          <a:srcRect b="0" l="0" r="0" t="0"/>
          <a:stretch/>
        </p:blipFill>
        <p:spPr>
          <a:xfrm>
            <a:off x="2810824" y="1253136"/>
            <a:ext cx="8058227" cy="5239739"/>
          </a:xfrm>
          <a:prstGeom prst="rect">
            <a:avLst/>
          </a:prstGeom>
          <a:noFill/>
          <a:ln>
            <a:noFill/>
          </a:ln>
        </p:spPr>
      </p:pic>
      <p:sp>
        <p:nvSpPr>
          <p:cNvPr id="2545" name="Google Shape;2545;p1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50" name="Shape 2550"/>
        <p:cNvGrpSpPr/>
        <p:nvPr/>
      </p:nvGrpSpPr>
      <p:grpSpPr>
        <a:xfrm>
          <a:off x="0" y="0"/>
          <a:ext cx="0" cy="0"/>
          <a:chOff x="0" y="0"/>
          <a:chExt cx="0" cy="0"/>
        </a:xfrm>
      </p:grpSpPr>
      <p:sp>
        <p:nvSpPr>
          <p:cNvPr id="2551" name="Google Shape;2551;p136"/>
          <p:cNvSpPr txBox="1"/>
          <p:nvPr>
            <p:ph type="title"/>
          </p:nvPr>
        </p:nvSpPr>
        <p:spPr>
          <a:xfrm>
            <a:off x="238979" y="373021"/>
            <a:ext cx="6380041" cy="69378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chemeClr val="dk1"/>
              </a:buClr>
              <a:buSzPts val="4400"/>
              <a:buFont typeface="Calibri"/>
              <a:buNone/>
            </a:pPr>
            <a:r>
              <a:rPr lang="en-US"/>
              <a:t>Weak Entity in E/R Diagrams</a:t>
            </a:r>
            <a:endParaRPr/>
          </a:p>
        </p:txBody>
      </p:sp>
      <p:sp>
        <p:nvSpPr>
          <p:cNvPr id="2552" name="Google Shape;2552;p136"/>
          <p:cNvSpPr txBox="1"/>
          <p:nvPr/>
        </p:nvSpPr>
        <p:spPr>
          <a:xfrm>
            <a:off x="3505200" y="2743201"/>
            <a:ext cx="1143000" cy="556563"/>
          </a:xfrm>
          <a:prstGeom prst="rect">
            <a:avLst/>
          </a:prstGeom>
          <a:solidFill>
            <a:srgbClr val="4F81BD"/>
          </a:solidFill>
          <a:ln cap="flat" cmpd="sng" w="9525">
            <a:solidFill>
              <a:srgbClr val="000000"/>
            </a:solidFill>
            <a:prstDash val="solid"/>
            <a:round/>
            <a:headEnd len="sm" w="sm" type="none"/>
            <a:tailEnd len="sm" w="sm" type="none"/>
          </a:ln>
        </p:spPr>
        <p:txBody>
          <a:bodyPr anchorCtr="0" anchor="t" bIns="0" lIns="0" spcFirstLastPara="1" rIns="0" wrap="square" tIns="2525">
            <a:spAutoFit/>
          </a:bodyPr>
          <a:lstStyle/>
          <a:p>
            <a:pPr indent="0" lvl="0" marL="243840" marR="0" rtl="0" algn="l">
              <a:spcBef>
                <a:spcPts val="0"/>
              </a:spcBef>
              <a:spcAft>
                <a:spcPts val="0"/>
              </a:spcAft>
              <a:buNone/>
            </a:pPr>
            <a:r>
              <a:rPr lang="en-US" sz="1800">
                <a:solidFill>
                  <a:schemeClr val="dk1"/>
                </a:solidFill>
                <a:latin typeface="Calibri"/>
                <a:ea typeface="Calibri"/>
                <a:cs typeface="Calibri"/>
                <a:sym typeface="Calibri"/>
              </a:rPr>
              <a:t>Player Weight</a:t>
            </a:r>
            <a:endParaRPr sz="1800">
              <a:solidFill>
                <a:schemeClr val="dk1"/>
              </a:solidFill>
              <a:latin typeface="Calibri"/>
              <a:ea typeface="Calibri"/>
              <a:cs typeface="Calibri"/>
              <a:sym typeface="Calibri"/>
            </a:endParaRPr>
          </a:p>
        </p:txBody>
      </p:sp>
      <p:sp>
        <p:nvSpPr>
          <p:cNvPr id="2553" name="Google Shape;2553;p136"/>
          <p:cNvSpPr/>
          <p:nvPr/>
        </p:nvSpPr>
        <p:spPr>
          <a:xfrm>
            <a:off x="7391400" y="2743200"/>
            <a:ext cx="1143000" cy="633507"/>
          </a:xfrm>
          <a:custGeom>
            <a:rect b="b" l="l" r="r" t="t"/>
            <a:pathLst>
              <a:path extrusionOk="0" h="990600" w="1143000">
                <a:moveTo>
                  <a:pt x="1143000" y="0"/>
                </a:moveTo>
                <a:lnTo>
                  <a:pt x="0" y="0"/>
                </a:lnTo>
                <a:lnTo>
                  <a:pt x="0" y="990600"/>
                </a:lnTo>
                <a:lnTo>
                  <a:pt x="1143000" y="990600"/>
                </a:lnTo>
                <a:lnTo>
                  <a:pt x="1143000" y="0"/>
                </a:lnTo>
                <a:close/>
              </a:path>
            </a:pathLst>
          </a:custGeom>
          <a:solidFill>
            <a:srgbClr val="4F81B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4" name="Google Shape;2554;p136"/>
          <p:cNvSpPr txBox="1"/>
          <p:nvPr/>
        </p:nvSpPr>
        <p:spPr>
          <a:xfrm>
            <a:off x="7391400" y="2743201"/>
            <a:ext cx="1143000" cy="556563"/>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2525">
            <a:spAutoFit/>
          </a:bodyPr>
          <a:lstStyle/>
          <a:p>
            <a:pPr indent="0" lvl="0" marL="27813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278130" marR="0" rtl="0" algn="l">
              <a:spcBef>
                <a:spcPts val="0"/>
              </a:spcBef>
              <a:spcAft>
                <a:spcPts val="0"/>
              </a:spcAft>
              <a:buNone/>
            </a:pPr>
            <a:r>
              <a:rPr lang="en-US" sz="1800">
                <a:solidFill>
                  <a:schemeClr val="dk1"/>
                </a:solidFill>
                <a:latin typeface="Calibri"/>
                <a:ea typeface="Calibri"/>
                <a:cs typeface="Calibri"/>
                <a:sym typeface="Calibri"/>
              </a:rPr>
              <a:t>Player</a:t>
            </a:r>
            <a:endParaRPr sz="1800">
              <a:solidFill>
                <a:schemeClr val="dk1"/>
              </a:solidFill>
              <a:latin typeface="Calibri"/>
              <a:ea typeface="Calibri"/>
              <a:cs typeface="Calibri"/>
              <a:sym typeface="Calibri"/>
            </a:endParaRPr>
          </a:p>
        </p:txBody>
      </p:sp>
      <p:grpSp>
        <p:nvGrpSpPr>
          <p:cNvPr id="2555" name="Google Shape;2555;p136"/>
          <p:cNvGrpSpPr/>
          <p:nvPr/>
        </p:nvGrpSpPr>
        <p:grpSpPr>
          <a:xfrm>
            <a:off x="3429001" y="2667001"/>
            <a:ext cx="3352800" cy="1219200"/>
            <a:chOff x="1905000" y="2667000"/>
            <a:chExt cx="3352800" cy="1219200"/>
          </a:xfrm>
        </p:grpSpPr>
        <p:sp>
          <p:nvSpPr>
            <p:cNvPr id="2556" name="Google Shape;2556;p136"/>
            <p:cNvSpPr/>
            <p:nvPr/>
          </p:nvSpPr>
          <p:spPr>
            <a:xfrm>
              <a:off x="1905000" y="2667000"/>
              <a:ext cx="1295400" cy="761998"/>
            </a:xfrm>
            <a:custGeom>
              <a:rect b="b" l="l" r="r" t="t"/>
              <a:pathLst>
                <a:path extrusionOk="0" h="1143000" w="1295400">
                  <a:moveTo>
                    <a:pt x="0" y="0"/>
                  </a:moveTo>
                  <a:lnTo>
                    <a:pt x="1295400" y="0"/>
                  </a:lnTo>
                  <a:lnTo>
                    <a:pt x="1295400" y="1143000"/>
                  </a:lnTo>
                  <a:lnTo>
                    <a:pt x="0" y="114300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7" name="Google Shape;2557;p136"/>
            <p:cNvSpPr/>
            <p:nvPr/>
          </p:nvSpPr>
          <p:spPr>
            <a:xfrm>
              <a:off x="3885404" y="2667000"/>
              <a:ext cx="1372395" cy="1219200"/>
            </a:xfrm>
            <a:custGeom>
              <a:rect b="b" l="l" r="r" t="t"/>
              <a:pathLst>
                <a:path extrusionOk="0" h="1219200" w="1447800">
                  <a:moveTo>
                    <a:pt x="723900" y="0"/>
                  </a:moveTo>
                  <a:lnTo>
                    <a:pt x="0" y="609600"/>
                  </a:lnTo>
                  <a:lnTo>
                    <a:pt x="723900" y="1219200"/>
                  </a:lnTo>
                  <a:lnTo>
                    <a:pt x="1447800" y="609600"/>
                  </a:lnTo>
                  <a:lnTo>
                    <a:pt x="723900" y="0"/>
                  </a:lnTo>
                  <a:close/>
                </a:path>
              </a:pathLst>
            </a:custGeom>
            <a:solidFill>
              <a:srgbClr val="CC99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8" name="Google Shape;2558;p136"/>
            <p:cNvSpPr/>
            <p:nvPr/>
          </p:nvSpPr>
          <p:spPr>
            <a:xfrm>
              <a:off x="3810000" y="2667000"/>
              <a:ext cx="1447800" cy="1219200"/>
            </a:xfrm>
            <a:custGeom>
              <a:rect b="b" l="l" r="r" t="t"/>
              <a:pathLst>
                <a:path extrusionOk="0" h="1219200" w="1447800">
                  <a:moveTo>
                    <a:pt x="0" y="609600"/>
                  </a:moveTo>
                  <a:lnTo>
                    <a:pt x="723900" y="0"/>
                  </a:lnTo>
                  <a:lnTo>
                    <a:pt x="1447800" y="609600"/>
                  </a:lnTo>
                  <a:lnTo>
                    <a:pt x="723900" y="1219200"/>
                  </a:lnTo>
                  <a:lnTo>
                    <a:pt x="0" y="6096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59" name="Google Shape;2559;p136"/>
          <p:cNvSpPr txBox="1"/>
          <p:nvPr/>
        </p:nvSpPr>
        <p:spPr>
          <a:xfrm>
            <a:off x="6845300" y="2976032"/>
            <a:ext cx="558800"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u="sng">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p:txBody>
      </p:sp>
      <p:sp>
        <p:nvSpPr>
          <p:cNvPr id="2560" name="Google Shape;2560;p136"/>
          <p:cNvSpPr txBox="1"/>
          <p:nvPr/>
        </p:nvSpPr>
        <p:spPr>
          <a:xfrm>
            <a:off x="5777707" y="2976032"/>
            <a:ext cx="560705" cy="579120"/>
          </a:xfrm>
          <a:prstGeom prst="rect">
            <a:avLst/>
          </a:prstGeom>
          <a:noFill/>
          <a:ln>
            <a:noFill/>
          </a:ln>
        </p:spPr>
        <p:txBody>
          <a:bodyPr anchorCtr="0" anchor="t" bIns="0" lIns="0" spcFirstLastPara="1" rIns="0" wrap="square" tIns="6975">
            <a:spAutoFit/>
          </a:bodyPr>
          <a:lstStyle/>
          <a:p>
            <a:pPr indent="-147320" lvl="0" marL="159385" marR="5080" rtl="0" algn="l">
              <a:lnSpc>
                <a:spcPct val="101899"/>
              </a:lnSpc>
              <a:spcBef>
                <a:spcPts val="0"/>
              </a:spcBef>
              <a:spcAft>
                <a:spcPts val="0"/>
              </a:spcAft>
              <a:buNone/>
            </a:pPr>
            <a:r>
              <a:rPr lang="en-US" sz="1800">
                <a:solidFill>
                  <a:schemeClr val="dk1"/>
                </a:solidFill>
                <a:latin typeface="Calibri"/>
                <a:ea typeface="Calibri"/>
                <a:cs typeface="Calibri"/>
                <a:sym typeface="Calibri"/>
              </a:rPr>
              <a:t>Plays-  on</a:t>
            </a:r>
            <a:endParaRPr/>
          </a:p>
        </p:txBody>
      </p:sp>
      <p:grpSp>
        <p:nvGrpSpPr>
          <p:cNvPr id="2561" name="Google Shape;2561;p136"/>
          <p:cNvGrpSpPr/>
          <p:nvPr/>
        </p:nvGrpSpPr>
        <p:grpSpPr>
          <a:xfrm>
            <a:off x="2349821" y="1905001"/>
            <a:ext cx="4508180" cy="2057400"/>
            <a:chOff x="825820" y="1905000"/>
            <a:chExt cx="4508180" cy="2057400"/>
          </a:xfrm>
        </p:grpSpPr>
        <p:sp>
          <p:nvSpPr>
            <p:cNvPr id="2562" name="Google Shape;2562;p136"/>
            <p:cNvSpPr/>
            <p:nvPr/>
          </p:nvSpPr>
          <p:spPr>
            <a:xfrm>
              <a:off x="3733800" y="2590800"/>
              <a:ext cx="1600200" cy="1371600"/>
            </a:xfrm>
            <a:custGeom>
              <a:rect b="b" l="l" r="r" t="t"/>
              <a:pathLst>
                <a:path extrusionOk="0" h="1371600" w="1600200">
                  <a:moveTo>
                    <a:pt x="0" y="685800"/>
                  </a:moveTo>
                  <a:lnTo>
                    <a:pt x="800100" y="0"/>
                  </a:lnTo>
                  <a:lnTo>
                    <a:pt x="1600200" y="685800"/>
                  </a:lnTo>
                  <a:lnTo>
                    <a:pt x="800100" y="1371600"/>
                  </a:lnTo>
                  <a:lnTo>
                    <a:pt x="0" y="6858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3" name="Google Shape;2563;p136"/>
            <p:cNvSpPr/>
            <p:nvPr/>
          </p:nvSpPr>
          <p:spPr>
            <a:xfrm>
              <a:off x="825820" y="1905000"/>
              <a:ext cx="1307780" cy="533400"/>
            </a:xfrm>
            <a:custGeom>
              <a:rect b="b" l="l" r="r" t="t"/>
              <a:pathLst>
                <a:path extrusionOk="0" h="533400" w="990600">
                  <a:moveTo>
                    <a:pt x="495300" y="0"/>
                  </a:moveTo>
                  <a:lnTo>
                    <a:pt x="433170" y="2077"/>
                  </a:lnTo>
                  <a:lnTo>
                    <a:pt x="373344" y="8145"/>
                  </a:lnTo>
                  <a:lnTo>
                    <a:pt x="316284" y="17951"/>
                  </a:lnTo>
                  <a:lnTo>
                    <a:pt x="262457" y="31248"/>
                  </a:lnTo>
                  <a:lnTo>
                    <a:pt x="212324" y="47783"/>
                  </a:lnTo>
                  <a:lnTo>
                    <a:pt x="166351" y="67308"/>
                  </a:lnTo>
                  <a:lnTo>
                    <a:pt x="125002" y="89573"/>
                  </a:lnTo>
                  <a:lnTo>
                    <a:pt x="88741" y="114328"/>
                  </a:lnTo>
                  <a:lnTo>
                    <a:pt x="58032" y="141322"/>
                  </a:lnTo>
                  <a:lnTo>
                    <a:pt x="15126" y="201031"/>
                  </a:lnTo>
                  <a:lnTo>
                    <a:pt x="0" y="266700"/>
                  </a:lnTo>
                  <a:lnTo>
                    <a:pt x="3859" y="300154"/>
                  </a:lnTo>
                  <a:lnTo>
                    <a:pt x="33339" y="363092"/>
                  </a:lnTo>
                  <a:lnTo>
                    <a:pt x="88741" y="419071"/>
                  </a:lnTo>
                  <a:lnTo>
                    <a:pt x="125002" y="443826"/>
                  </a:lnTo>
                  <a:lnTo>
                    <a:pt x="166351" y="466091"/>
                  </a:lnTo>
                  <a:lnTo>
                    <a:pt x="212324" y="485616"/>
                  </a:lnTo>
                  <a:lnTo>
                    <a:pt x="262457" y="502151"/>
                  </a:lnTo>
                  <a:lnTo>
                    <a:pt x="316284" y="515448"/>
                  </a:lnTo>
                  <a:lnTo>
                    <a:pt x="373344" y="525254"/>
                  </a:lnTo>
                  <a:lnTo>
                    <a:pt x="433170" y="531322"/>
                  </a:lnTo>
                  <a:lnTo>
                    <a:pt x="495300" y="533400"/>
                  </a:lnTo>
                  <a:lnTo>
                    <a:pt x="557429" y="531322"/>
                  </a:lnTo>
                  <a:lnTo>
                    <a:pt x="617255" y="525254"/>
                  </a:lnTo>
                  <a:lnTo>
                    <a:pt x="674315" y="515448"/>
                  </a:lnTo>
                  <a:lnTo>
                    <a:pt x="728142" y="502151"/>
                  </a:lnTo>
                  <a:lnTo>
                    <a:pt x="778275" y="485616"/>
                  </a:lnTo>
                  <a:lnTo>
                    <a:pt x="824248" y="466091"/>
                  </a:lnTo>
                  <a:lnTo>
                    <a:pt x="865597" y="443826"/>
                  </a:lnTo>
                  <a:lnTo>
                    <a:pt x="901858" y="419071"/>
                  </a:lnTo>
                  <a:lnTo>
                    <a:pt x="932567" y="392077"/>
                  </a:lnTo>
                  <a:lnTo>
                    <a:pt x="975473" y="332368"/>
                  </a:lnTo>
                  <a:lnTo>
                    <a:pt x="990600" y="266700"/>
                  </a:lnTo>
                  <a:lnTo>
                    <a:pt x="986740" y="233245"/>
                  </a:lnTo>
                  <a:lnTo>
                    <a:pt x="957260" y="170307"/>
                  </a:lnTo>
                  <a:lnTo>
                    <a:pt x="901858" y="114328"/>
                  </a:lnTo>
                  <a:lnTo>
                    <a:pt x="865597" y="89573"/>
                  </a:lnTo>
                  <a:lnTo>
                    <a:pt x="824248" y="67308"/>
                  </a:lnTo>
                  <a:lnTo>
                    <a:pt x="778275" y="47783"/>
                  </a:lnTo>
                  <a:lnTo>
                    <a:pt x="728142" y="31248"/>
                  </a:lnTo>
                  <a:lnTo>
                    <a:pt x="674315" y="17951"/>
                  </a:lnTo>
                  <a:lnTo>
                    <a:pt x="617255" y="8145"/>
                  </a:lnTo>
                  <a:lnTo>
                    <a:pt x="557429" y="2077"/>
                  </a:lnTo>
                  <a:lnTo>
                    <a:pt x="495300" y="0"/>
                  </a:lnTo>
                  <a:close/>
                </a:path>
              </a:pathLst>
            </a:custGeom>
            <a:solidFill>
              <a:srgbClr val="FFFF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4" name="Google Shape;2564;p136"/>
            <p:cNvSpPr/>
            <p:nvPr/>
          </p:nvSpPr>
          <p:spPr>
            <a:xfrm>
              <a:off x="838200" y="1905000"/>
              <a:ext cx="1295400" cy="533400"/>
            </a:xfrm>
            <a:custGeom>
              <a:rect b="b" l="l" r="r" t="t"/>
              <a:pathLst>
                <a:path extrusionOk="0" h="533400" w="990600">
                  <a:moveTo>
                    <a:pt x="0" y="266700"/>
                  </a:moveTo>
                  <a:lnTo>
                    <a:pt x="15126" y="201031"/>
                  </a:lnTo>
                  <a:lnTo>
                    <a:pt x="58032" y="141322"/>
                  </a:lnTo>
                  <a:lnTo>
                    <a:pt x="88741" y="114328"/>
                  </a:lnTo>
                  <a:lnTo>
                    <a:pt x="125002" y="89573"/>
                  </a:lnTo>
                  <a:lnTo>
                    <a:pt x="166351" y="67308"/>
                  </a:lnTo>
                  <a:lnTo>
                    <a:pt x="212324" y="47783"/>
                  </a:lnTo>
                  <a:lnTo>
                    <a:pt x="262456" y="31248"/>
                  </a:lnTo>
                  <a:lnTo>
                    <a:pt x="316284" y="17951"/>
                  </a:lnTo>
                  <a:lnTo>
                    <a:pt x="373344" y="8145"/>
                  </a:lnTo>
                  <a:lnTo>
                    <a:pt x="433170" y="2077"/>
                  </a:lnTo>
                  <a:lnTo>
                    <a:pt x="495300" y="0"/>
                  </a:lnTo>
                  <a:lnTo>
                    <a:pt x="557429" y="2077"/>
                  </a:lnTo>
                  <a:lnTo>
                    <a:pt x="617255" y="8145"/>
                  </a:lnTo>
                  <a:lnTo>
                    <a:pt x="674315" y="17951"/>
                  </a:lnTo>
                  <a:lnTo>
                    <a:pt x="728143" y="31248"/>
                  </a:lnTo>
                  <a:lnTo>
                    <a:pt x="778275" y="47783"/>
                  </a:lnTo>
                  <a:lnTo>
                    <a:pt x="824248" y="67308"/>
                  </a:lnTo>
                  <a:lnTo>
                    <a:pt x="865597" y="89573"/>
                  </a:lnTo>
                  <a:lnTo>
                    <a:pt x="901858" y="114328"/>
                  </a:lnTo>
                  <a:lnTo>
                    <a:pt x="932567" y="141322"/>
                  </a:lnTo>
                  <a:lnTo>
                    <a:pt x="975473" y="201031"/>
                  </a:lnTo>
                  <a:lnTo>
                    <a:pt x="990600" y="266700"/>
                  </a:lnTo>
                  <a:lnTo>
                    <a:pt x="986740" y="300154"/>
                  </a:lnTo>
                  <a:lnTo>
                    <a:pt x="957260" y="363092"/>
                  </a:lnTo>
                  <a:lnTo>
                    <a:pt x="901858" y="419071"/>
                  </a:lnTo>
                  <a:lnTo>
                    <a:pt x="865597" y="443826"/>
                  </a:lnTo>
                  <a:lnTo>
                    <a:pt x="824248" y="466090"/>
                  </a:lnTo>
                  <a:lnTo>
                    <a:pt x="778275" y="485616"/>
                  </a:lnTo>
                  <a:lnTo>
                    <a:pt x="728143" y="502151"/>
                  </a:lnTo>
                  <a:lnTo>
                    <a:pt x="674315" y="515448"/>
                  </a:lnTo>
                  <a:lnTo>
                    <a:pt x="617255" y="525254"/>
                  </a:lnTo>
                  <a:lnTo>
                    <a:pt x="557429" y="531322"/>
                  </a:lnTo>
                  <a:lnTo>
                    <a:pt x="495300" y="533400"/>
                  </a:lnTo>
                  <a:lnTo>
                    <a:pt x="433170" y="531322"/>
                  </a:lnTo>
                  <a:lnTo>
                    <a:pt x="373344" y="525254"/>
                  </a:lnTo>
                  <a:lnTo>
                    <a:pt x="316284" y="515448"/>
                  </a:lnTo>
                  <a:lnTo>
                    <a:pt x="262456" y="502151"/>
                  </a:lnTo>
                  <a:lnTo>
                    <a:pt x="212324" y="485616"/>
                  </a:lnTo>
                  <a:lnTo>
                    <a:pt x="166351" y="466090"/>
                  </a:lnTo>
                  <a:lnTo>
                    <a:pt x="125002" y="443826"/>
                  </a:lnTo>
                  <a:lnTo>
                    <a:pt x="88741" y="419071"/>
                  </a:lnTo>
                  <a:lnTo>
                    <a:pt x="58032" y="392077"/>
                  </a:lnTo>
                  <a:lnTo>
                    <a:pt x="15126" y="332368"/>
                  </a:lnTo>
                  <a:lnTo>
                    <a:pt x="0" y="2667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65" name="Google Shape;2565;p136"/>
          <p:cNvSpPr txBox="1"/>
          <p:nvPr/>
        </p:nvSpPr>
        <p:spPr>
          <a:xfrm>
            <a:off x="2578100" y="1990068"/>
            <a:ext cx="859791" cy="289823"/>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chemeClr val="dk1"/>
                </a:solidFill>
                <a:latin typeface="Calibri"/>
                <a:ea typeface="Calibri"/>
                <a:cs typeface="Calibri"/>
                <a:sym typeface="Calibri"/>
              </a:rPr>
              <a:t>weight</a:t>
            </a:r>
            <a:endParaRPr sz="1800">
              <a:solidFill>
                <a:schemeClr val="dk1"/>
              </a:solidFill>
              <a:latin typeface="Calibri"/>
              <a:ea typeface="Calibri"/>
              <a:cs typeface="Calibri"/>
              <a:sym typeface="Calibri"/>
            </a:endParaRPr>
          </a:p>
        </p:txBody>
      </p:sp>
      <p:grpSp>
        <p:nvGrpSpPr>
          <p:cNvPr id="2566" name="Google Shape;2566;p136"/>
          <p:cNvGrpSpPr/>
          <p:nvPr/>
        </p:nvGrpSpPr>
        <p:grpSpPr>
          <a:xfrm>
            <a:off x="7391401" y="1905001"/>
            <a:ext cx="990600" cy="533400"/>
            <a:chOff x="5867400" y="1905000"/>
            <a:chExt cx="990600" cy="533400"/>
          </a:xfrm>
        </p:grpSpPr>
        <p:sp>
          <p:nvSpPr>
            <p:cNvPr id="2567" name="Google Shape;2567;p136"/>
            <p:cNvSpPr/>
            <p:nvPr/>
          </p:nvSpPr>
          <p:spPr>
            <a:xfrm>
              <a:off x="5867400" y="1905000"/>
              <a:ext cx="990600" cy="533400"/>
            </a:xfrm>
            <a:custGeom>
              <a:rect b="b" l="l" r="r" t="t"/>
              <a:pathLst>
                <a:path extrusionOk="0" h="533400" w="990600">
                  <a:moveTo>
                    <a:pt x="495300" y="0"/>
                  </a:moveTo>
                  <a:lnTo>
                    <a:pt x="433170" y="2077"/>
                  </a:lnTo>
                  <a:lnTo>
                    <a:pt x="373344" y="8145"/>
                  </a:lnTo>
                  <a:lnTo>
                    <a:pt x="316284" y="17951"/>
                  </a:lnTo>
                  <a:lnTo>
                    <a:pt x="262457" y="31248"/>
                  </a:lnTo>
                  <a:lnTo>
                    <a:pt x="212324" y="47783"/>
                  </a:lnTo>
                  <a:lnTo>
                    <a:pt x="166351" y="67308"/>
                  </a:lnTo>
                  <a:lnTo>
                    <a:pt x="125002" y="89573"/>
                  </a:lnTo>
                  <a:lnTo>
                    <a:pt x="88741" y="114328"/>
                  </a:lnTo>
                  <a:lnTo>
                    <a:pt x="58032" y="141322"/>
                  </a:lnTo>
                  <a:lnTo>
                    <a:pt x="15126" y="201031"/>
                  </a:lnTo>
                  <a:lnTo>
                    <a:pt x="0" y="266700"/>
                  </a:lnTo>
                  <a:lnTo>
                    <a:pt x="3859" y="300154"/>
                  </a:lnTo>
                  <a:lnTo>
                    <a:pt x="33339" y="363092"/>
                  </a:lnTo>
                  <a:lnTo>
                    <a:pt x="88741" y="419071"/>
                  </a:lnTo>
                  <a:lnTo>
                    <a:pt x="125002" y="443826"/>
                  </a:lnTo>
                  <a:lnTo>
                    <a:pt x="166351" y="466091"/>
                  </a:lnTo>
                  <a:lnTo>
                    <a:pt x="212324" y="485616"/>
                  </a:lnTo>
                  <a:lnTo>
                    <a:pt x="262457" y="502151"/>
                  </a:lnTo>
                  <a:lnTo>
                    <a:pt x="316284" y="515448"/>
                  </a:lnTo>
                  <a:lnTo>
                    <a:pt x="373344" y="525254"/>
                  </a:lnTo>
                  <a:lnTo>
                    <a:pt x="433170" y="531322"/>
                  </a:lnTo>
                  <a:lnTo>
                    <a:pt x="495300" y="533400"/>
                  </a:lnTo>
                  <a:lnTo>
                    <a:pt x="557429" y="531322"/>
                  </a:lnTo>
                  <a:lnTo>
                    <a:pt x="617255" y="525254"/>
                  </a:lnTo>
                  <a:lnTo>
                    <a:pt x="674315" y="515448"/>
                  </a:lnTo>
                  <a:lnTo>
                    <a:pt x="728142" y="502151"/>
                  </a:lnTo>
                  <a:lnTo>
                    <a:pt x="778275" y="485616"/>
                  </a:lnTo>
                  <a:lnTo>
                    <a:pt x="824248" y="466091"/>
                  </a:lnTo>
                  <a:lnTo>
                    <a:pt x="865597" y="443826"/>
                  </a:lnTo>
                  <a:lnTo>
                    <a:pt x="901858" y="419071"/>
                  </a:lnTo>
                  <a:lnTo>
                    <a:pt x="932567" y="392077"/>
                  </a:lnTo>
                  <a:lnTo>
                    <a:pt x="975473" y="332368"/>
                  </a:lnTo>
                  <a:lnTo>
                    <a:pt x="990600" y="266700"/>
                  </a:lnTo>
                  <a:lnTo>
                    <a:pt x="986740" y="233245"/>
                  </a:lnTo>
                  <a:lnTo>
                    <a:pt x="957260" y="170307"/>
                  </a:lnTo>
                  <a:lnTo>
                    <a:pt x="901858" y="114328"/>
                  </a:lnTo>
                  <a:lnTo>
                    <a:pt x="865597" y="89573"/>
                  </a:lnTo>
                  <a:lnTo>
                    <a:pt x="824248" y="67308"/>
                  </a:lnTo>
                  <a:lnTo>
                    <a:pt x="778275" y="47783"/>
                  </a:lnTo>
                  <a:lnTo>
                    <a:pt x="728142" y="31248"/>
                  </a:lnTo>
                  <a:lnTo>
                    <a:pt x="674315" y="17951"/>
                  </a:lnTo>
                  <a:lnTo>
                    <a:pt x="617255" y="8145"/>
                  </a:lnTo>
                  <a:lnTo>
                    <a:pt x="557429" y="2077"/>
                  </a:lnTo>
                  <a:lnTo>
                    <a:pt x="495300" y="0"/>
                  </a:lnTo>
                  <a:close/>
                </a:path>
              </a:pathLst>
            </a:custGeom>
            <a:solidFill>
              <a:srgbClr val="FFFF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8" name="Google Shape;2568;p136"/>
            <p:cNvSpPr/>
            <p:nvPr/>
          </p:nvSpPr>
          <p:spPr>
            <a:xfrm>
              <a:off x="5867400" y="1905000"/>
              <a:ext cx="990600" cy="533400"/>
            </a:xfrm>
            <a:custGeom>
              <a:rect b="b" l="l" r="r" t="t"/>
              <a:pathLst>
                <a:path extrusionOk="0" h="533400" w="990600">
                  <a:moveTo>
                    <a:pt x="0" y="266700"/>
                  </a:moveTo>
                  <a:lnTo>
                    <a:pt x="15126" y="201031"/>
                  </a:lnTo>
                  <a:lnTo>
                    <a:pt x="58032" y="141322"/>
                  </a:lnTo>
                  <a:lnTo>
                    <a:pt x="88741" y="114328"/>
                  </a:lnTo>
                  <a:lnTo>
                    <a:pt x="125002" y="89573"/>
                  </a:lnTo>
                  <a:lnTo>
                    <a:pt x="166351" y="67308"/>
                  </a:lnTo>
                  <a:lnTo>
                    <a:pt x="212324" y="47783"/>
                  </a:lnTo>
                  <a:lnTo>
                    <a:pt x="262456" y="31248"/>
                  </a:lnTo>
                  <a:lnTo>
                    <a:pt x="316284" y="17951"/>
                  </a:lnTo>
                  <a:lnTo>
                    <a:pt x="373344" y="8145"/>
                  </a:lnTo>
                  <a:lnTo>
                    <a:pt x="433170" y="2077"/>
                  </a:lnTo>
                  <a:lnTo>
                    <a:pt x="495300" y="0"/>
                  </a:lnTo>
                  <a:lnTo>
                    <a:pt x="557429" y="2077"/>
                  </a:lnTo>
                  <a:lnTo>
                    <a:pt x="617255" y="8145"/>
                  </a:lnTo>
                  <a:lnTo>
                    <a:pt x="674315" y="17951"/>
                  </a:lnTo>
                  <a:lnTo>
                    <a:pt x="728143" y="31248"/>
                  </a:lnTo>
                  <a:lnTo>
                    <a:pt x="778275" y="47783"/>
                  </a:lnTo>
                  <a:lnTo>
                    <a:pt x="824248" y="67308"/>
                  </a:lnTo>
                  <a:lnTo>
                    <a:pt x="865597" y="89573"/>
                  </a:lnTo>
                  <a:lnTo>
                    <a:pt x="901858" y="114328"/>
                  </a:lnTo>
                  <a:lnTo>
                    <a:pt x="932567" y="141322"/>
                  </a:lnTo>
                  <a:lnTo>
                    <a:pt x="975473" y="201031"/>
                  </a:lnTo>
                  <a:lnTo>
                    <a:pt x="990600" y="266700"/>
                  </a:lnTo>
                  <a:lnTo>
                    <a:pt x="986740" y="300154"/>
                  </a:lnTo>
                  <a:lnTo>
                    <a:pt x="957260" y="363092"/>
                  </a:lnTo>
                  <a:lnTo>
                    <a:pt x="901858" y="419071"/>
                  </a:lnTo>
                  <a:lnTo>
                    <a:pt x="865597" y="443826"/>
                  </a:lnTo>
                  <a:lnTo>
                    <a:pt x="824248" y="466090"/>
                  </a:lnTo>
                  <a:lnTo>
                    <a:pt x="778275" y="485616"/>
                  </a:lnTo>
                  <a:lnTo>
                    <a:pt x="728143" y="502151"/>
                  </a:lnTo>
                  <a:lnTo>
                    <a:pt x="674315" y="515448"/>
                  </a:lnTo>
                  <a:lnTo>
                    <a:pt x="617255" y="525254"/>
                  </a:lnTo>
                  <a:lnTo>
                    <a:pt x="557429" y="531322"/>
                  </a:lnTo>
                  <a:lnTo>
                    <a:pt x="495300" y="533400"/>
                  </a:lnTo>
                  <a:lnTo>
                    <a:pt x="433170" y="531322"/>
                  </a:lnTo>
                  <a:lnTo>
                    <a:pt x="373344" y="525254"/>
                  </a:lnTo>
                  <a:lnTo>
                    <a:pt x="316284" y="515448"/>
                  </a:lnTo>
                  <a:lnTo>
                    <a:pt x="262456" y="502151"/>
                  </a:lnTo>
                  <a:lnTo>
                    <a:pt x="212324" y="485616"/>
                  </a:lnTo>
                  <a:lnTo>
                    <a:pt x="166351" y="466090"/>
                  </a:lnTo>
                  <a:lnTo>
                    <a:pt x="125002" y="443826"/>
                  </a:lnTo>
                  <a:lnTo>
                    <a:pt x="88741" y="419071"/>
                  </a:lnTo>
                  <a:lnTo>
                    <a:pt x="58032" y="392077"/>
                  </a:lnTo>
                  <a:lnTo>
                    <a:pt x="15126" y="332368"/>
                  </a:lnTo>
                  <a:lnTo>
                    <a:pt x="0" y="2667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69" name="Google Shape;2569;p136"/>
          <p:cNvSpPr txBox="1"/>
          <p:nvPr/>
        </p:nvSpPr>
        <p:spPr>
          <a:xfrm>
            <a:off x="7610476" y="2002366"/>
            <a:ext cx="551815"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u="sng">
                <a:solidFill>
                  <a:schemeClr val="dk1"/>
                </a:solidFill>
                <a:latin typeface="Calibri"/>
                <a:ea typeface="Calibri"/>
                <a:cs typeface="Calibri"/>
                <a:sym typeface="Calibri"/>
              </a:rPr>
              <a:t>name</a:t>
            </a:r>
            <a:endParaRPr sz="1800">
              <a:solidFill>
                <a:schemeClr val="dk1"/>
              </a:solidFill>
              <a:latin typeface="Calibri"/>
              <a:ea typeface="Calibri"/>
              <a:cs typeface="Calibri"/>
              <a:sym typeface="Calibri"/>
            </a:endParaRPr>
          </a:p>
        </p:txBody>
      </p:sp>
      <p:grpSp>
        <p:nvGrpSpPr>
          <p:cNvPr id="2570" name="Google Shape;2570;p136"/>
          <p:cNvGrpSpPr/>
          <p:nvPr/>
        </p:nvGrpSpPr>
        <p:grpSpPr>
          <a:xfrm>
            <a:off x="4038601" y="1905001"/>
            <a:ext cx="1295400" cy="533400"/>
            <a:chOff x="2514600" y="1905000"/>
            <a:chExt cx="1295400" cy="533400"/>
          </a:xfrm>
        </p:grpSpPr>
        <p:sp>
          <p:nvSpPr>
            <p:cNvPr id="2571" name="Google Shape;2571;p136"/>
            <p:cNvSpPr/>
            <p:nvPr/>
          </p:nvSpPr>
          <p:spPr>
            <a:xfrm>
              <a:off x="2514600" y="1905000"/>
              <a:ext cx="1295400" cy="533400"/>
            </a:xfrm>
            <a:custGeom>
              <a:rect b="b" l="l" r="r" t="t"/>
              <a:pathLst>
                <a:path extrusionOk="0" h="533400" w="1295400">
                  <a:moveTo>
                    <a:pt x="647700" y="0"/>
                  </a:moveTo>
                  <a:lnTo>
                    <a:pt x="581476" y="1376"/>
                  </a:lnTo>
                  <a:lnTo>
                    <a:pt x="517165" y="5418"/>
                  </a:lnTo>
                  <a:lnTo>
                    <a:pt x="455093" y="11990"/>
                  </a:lnTo>
                  <a:lnTo>
                    <a:pt x="395586" y="20958"/>
                  </a:lnTo>
                  <a:lnTo>
                    <a:pt x="338967" y="32189"/>
                  </a:lnTo>
                  <a:lnTo>
                    <a:pt x="285564" y="45548"/>
                  </a:lnTo>
                  <a:lnTo>
                    <a:pt x="235702" y="60901"/>
                  </a:lnTo>
                  <a:lnTo>
                    <a:pt x="189707" y="78114"/>
                  </a:lnTo>
                  <a:lnTo>
                    <a:pt x="147903" y="97053"/>
                  </a:lnTo>
                  <a:lnTo>
                    <a:pt x="110617" y="117585"/>
                  </a:lnTo>
                  <a:lnTo>
                    <a:pt x="78173" y="139574"/>
                  </a:lnTo>
                  <a:lnTo>
                    <a:pt x="29119" y="187391"/>
                  </a:lnTo>
                  <a:lnTo>
                    <a:pt x="3344" y="239431"/>
                  </a:lnTo>
                  <a:lnTo>
                    <a:pt x="0" y="266700"/>
                  </a:lnTo>
                  <a:lnTo>
                    <a:pt x="3344" y="293968"/>
                  </a:lnTo>
                  <a:lnTo>
                    <a:pt x="29119" y="346008"/>
                  </a:lnTo>
                  <a:lnTo>
                    <a:pt x="78173" y="393825"/>
                  </a:lnTo>
                  <a:lnTo>
                    <a:pt x="110617" y="415814"/>
                  </a:lnTo>
                  <a:lnTo>
                    <a:pt x="147903" y="436346"/>
                  </a:lnTo>
                  <a:lnTo>
                    <a:pt x="189707" y="455285"/>
                  </a:lnTo>
                  <a:lnTo>
                    <a:pt x="235702" y="472498"/>
                  </a:lnTo>
                  <a:lnTo>
                    <a:pt x="285564" y="487851"/>
                  </a:lnTo>
                  <a:lnTo>
                    <a:pt x="338967" y="501210"/>
                  </a:lnTo>
                  <a:lnTo>
                    <a:pt x="395586" y="512441"/>
                  </a:lnTo>
                  <a:lnTo>
                    <a:pt x="455093" y="521409"/>
                  </a:lnTo>
                  <a:lnTo>
                    <a:pt x="517165" y="527981"/>
                  </a:lnTo>
                  <a:lnTo>
                    <a:pt x="581476" y="532023"/>
                  </a:lnTo>
                  <a:lnTo>
                    <a:pt x="647700" y="533400"/>
                  </a:lnTo>
                  <a:lnTo>
                    <a:pt x="713923" y="532023"/>
                  </a:lnTo>
                  <a:lnTo>
                    <a:pt x="778234" y="527981"/>
                  </a:lnTo>
                  <a:lnTo>
                    <a:pt x="840306" y="521409"/>
                  </a:lnTo>
                  <a:lnTo>
                    <a:pt x="899813" y="512441"/>
                  </a:lnTo>
                  <a:lnTo>
                    <a:pt x="956432" y="501210"/>
                  </a:lnTo>
                  <a:lnTo>
                    <a:pt x="1009835" y="487851"/>
                  </a:lnTo>
                  <a:lnTo>
                    <a:pt x="1059697" y="472498"/>
                  </a:lnTo>
                  <a:lnTo>
                    <a:pt x="1105692" y="455285"/>
                  </a:lnTo>
                  <a:lnTo>
                    <a:pt x="1147496" y="436346"/>
                  </a:lnTo>
                  <a:lnTo>
                    <a:pt x="1184782" y="415814"/>
                  </a:lnTo>
                  <a:lnTo>
                    <a:pt x="1217226" y="393825"/>
                  </a:lnTo>
                  <a:lnTo>
                    <a:pt x="1266280" y="346008"/>
                  </a:lnTo>
                  <a:lnTo>
                    <a:pt x="1292055" y="293968"/>
                  </a:lnTo>
                  <a:lnTo>
                    <a:pt x="1295400" y="266700"/>
                  </a:lnTo>
                  <a:lnTo>
                    <a:pt x="1292055" y="239431"/>
                  </a:lnTo>
                  <a:lnTo>
                    <a:pt x="1266280" y="187391"/>
                  </a:lnTo>
                  <a:lnTo>
                    <a:pt x="1217226" y="139574"/>
                  </a:lnTo>
                  <a:lnTo>
                    <a:pt x="1184782" y="117585"/>
                  </a:lnTo>
                  <a:lnTo>
                    <a:pt x="1147496" y="97053"/>
                  </a:lnTo>
                  <a:lnTo>
                    <a:pt x="1105692" y="78114"/>
                  </a:lnTo>
                  <a:lnTo>
                    <a:pt x="1059697" y="60901"/>
                  </a:lnTo>
                  <a:lnTo>
                    <a:pt x="1009835" y="45548"/>
                  </a:lnTo>
                  <a:lnTo>
                    <a:pt x="956432" y="32189"/>
                  </a:lnTo>
                  <a:lnTo>
                    <a:pt x="899813" y="20958"/>
                  </a:lnTo>
                  <a:lnTo>
                    <a:pt x="840306" y="11990"/>
                  </a:lnTo>
                  <a:lnTo>
                    <a:pt x="778234" y="5418"/>
                  </a:lnTo>
                  <a:lnTo>
                    <a:pt x="713923" y="1376"/>
                  </a:lnTo>
                  <a:lnTo>
                    <a:pt x="647700" y="0"/>
                  </a:lnTo>
                  <a:close/>
                </a:path>
              </a:pathLst>
            </a:custGeom>
            <a:solidFill>
              <a:srgbClr val="FFFF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2" name="Google Shape;2572;p136"/>
            <p:cNvSpPr/>
            <p:nvPr/>
          </p:nvSpPr>
          <p:spPr>
            <a:xfrm>
              <a:off x="2514600" y="1905000"/>
              <a:ext cx="1295400" cy="533400"/>
            </a:xfrm>
            <a:custGeom>
              <a:rect b="b" l="l" r="r" t="t"/>
              <a:pathLst>
                <a:path extrusionOk="0" h="533400" w="1295400">
                  <a:moveTo>
                    <a:pt x="0" y="266700"/>
                  </a:moveTo>
                  <a:lnTo>
                    <a:pt x="13158" y="212950"/>
                  </a:lnTo>
                  <a:lnTo>
                    <a:pt x="50899" y="162888"/>
                  </a:lnTo>
                  <a:lnTo>
                    <a:pt x="110616" y="117585"/>
                  </a:lnTo>
                  <a:lnTo>
                    <a:pt x="147903" y="97054"/>
                  </a:lnTo>
                  <a:lnTo>
                    <a:pt x="189706" y="78114"/>
                  </a:lnTo>
                  <a:lnTo>
                    <a:pt x="235702" y="60901"/>
                  </a:lnTo>
                  <a:lnTo>
                    <a:pt x="285564" y="45548"/>
                  </a:lnTo>
                  <a:lnTo>
                    <a:pt x="338967" y="32189"/>
                  </a:lnTo>
                  <a:lnTo>
                    <a:pt x="395585" y="20958"/>
                  </a:lnTo>
                  <a:lnTo>
                    <a:pt x="455093" y="11990"/>
                  </a:lnTo>
                  <a:lnTo>
                    <a:pt x="517165" y="5418"/>
                  </a:lnTo>
                  <a:lnTo>
                    <a:pt x="581476" y="1376"/>
                  </a:lnTo>
                  <a:lnTo>
                    <a:pt x="647700" y="0"/>
                  </a:lnTo>
                  <a:lnTo>
                    <a:pt x="713923" y="1376"/>
                  </a:lnTo>
                  <a:lnTo>
                    <a:pt x="778234" y="5418"/>
                  </a:lnTo>
                  <a:lnTo>
                    <a:pt x="840306" y="11990"/>
                  </a:lnTo>
                  <a:lnTo>
                    <a:pt x="899814" y="20958"/>
                  </a:lnTo>
                  <a:lnTo>
                    <a:pt x="956432" y="32189"/>
                  </a:lnTo>
                  <a:lnTo>
                    <a:pt x="1009835" y="45548"/>
                  </a:lnTo>
                  <a:lnTo>
                    <a:pt x="1059697" y="60901"/>
                  </a:lnTo>
                  <a:lnTo>
                    <a:pt x="1105693" y="78114"/>
                  </a:lnTo>
                  <a:lnTo>
                    <a:pt x="1147496" y="97054"/>
                  </a:lnTo>
                  <a:lnTo>
                    <a:pt x="1184783" y="117585"/>
                  </a:lnTo>
                  <a:lnTo>
                    <a:pt x="1217226" y="139574"/>
                  </a:lnTo>
                  <a:lnTo>
                    <a:pt x="1266280" y="187391"/>
                  </a:lnTo>
                  <a:lnTo>
                    <a:pt x="1292056" y="239431"/>
                  </a:lnTo>
                  <a:lnTo>
                    <a:pt x="1295400" y="266700"/>
                  </a:lnTo>
                  <a:lnTo>
                    <a:pt x="1292056" y="293968"/>
                  </a:lnTo>
                  <a:lnTo>
                    <a:pt x="1266280" y="346008"/>
                  </a:lnTo>
                  <a:lnTo>
                    <a:pt x="1217226" y="393825"/>
                  </a:lnTo>
                  <a:lnTo>
                    <a:pt x="1184783" y="415814"/>
                  </a:lnTo>
                  <a:lnTo>
                    <a:pt x="1147496" y="436345"/>
                  </a:lnTo>
                  <a:lnTo>
                    <a:pt x="1105693" y="455285"/>
                  </a:lnTo>
                  <a:lnTo>
                    <a:pt x="1059697" y="472498"/>
                  </a:lnTo>
                  <a:lnTo>
                    <a:pt x="1009835" y="487851"/>
                  </a:lnTo>
                  <a:lnTo>
                    <a:pt x="956432" y="501210"/>
                  </a:lnTo>
                  <a:lnTo>
                    <a:pt x="899814" y="512441"/>
                  </a:lnTo>
                  <a:lnTo>
                    <a:pt x="840306" y="521409"/>
                  </a:lnTo>
                  <a:lnTo>
                    <a:pt x="778234" y="527981"/>
                  </a:lnTo>
                  <a:lnTo>
                    <a:pt x="713923" y="532023"/>
                  </a:lnTo>
                  <a:lnTo>
                    <a:pt x="647700" y="533400"/>
                  </a:lnTo>
                  <a:lnTo>
                    <a:pt x="581476" y="532023"/>
                  </a:lnTo>
                  <a:lnTo>
                    <a:pt x="517165" y="527981"/>
                  </a:lnTo>
                  <a:lnTo>
                    <a:pt x="455093" y="521409"/>
                  </a:lnTo>
                  <a:lnTo>
                    <a:pt x="395585" y="512441"/>
                  </a:lnTo>
                  <a:lnTo>
                    <a:pt x="338967" y="501210"/>
                  </a:lnTo>
                  <a:lnTo>
                    <a:pt x="285564" y="487851"/>
                  </a:lnTo>
                  <a:lnTo>
                    <a:pt x="235702" y="472498"/>
                  </a:lnTo>
                  <a:lnTo>
                    <a:pt x="189706" y="455285"/>
                  </a:lnTo>
                  <a:lnTo>
                    <a:pt x="147903" y="436345"/>
                  </a:lnTo>
                  <a:lnTo>
                    <a:pt x="110616" y="415814"/>
                  </a:lnTo>
                  <a:lnTo>
                    <a:pt x="78173" y="393825"/>
                  </a:lnTo>
                  <a:lnTo>
                    <a:pt x="29119" y="346008"/>
                  </a:lnTo>
                  <a:lnTo>
                    <a:pt x="3344" y="293968"/>
                  </a:lnTo>
                  <a:lnTo>
                    <a:pt x="0" y="2667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73" name="Google Shape;2573;p136"/>
          <p:cNvSpPr txBox="1"/>
          <p:nvPr/>
        </p:nvSpPr>
        <p:spPr>
          <a:xfrm>
            <a:off x="4189093" y="1913628"/>
            <a:ext cx="1132208" cy="289823"/>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chemeClr val="dk1"/>
                </a:solidFill>
                <a:latin typeface="Calibri"/>
                <a:ea typeface="Calibri"/>
                <a:cs typeface="Calibri"/>
                <a:sym typeface="Calibri"/>
              </a:rPr>
              <a:t>Time</a:t>
            </a:r>
            <a:r>
              <a:rPr lang="en-US" sz="1800" u="sng">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Period</a:t>
            </a:r>
            <a:endParaRPr sz="1800">
              <a:solidFill>
                <a:schemeClr val="dk1"/>
              </a:solidFill>
              <a:latin typeface="Calibri"/>
              <a:ea typeface="Calibri"/>
              <a:cs typeface="Calibri"/>
              <a:sym typeface="Calibri"/>
            </a:endParaRPr>
          </a:p>
        </p:txBody>
      </p:sp>
      <p:grpSp>
        <p:nvGrpSpPr>
          <p:cNvPr id="2574" name="Google Shape;2574;p136"/>
          <p:cNvGrpSpPr/>
          <p:nvPr/>
        </p:nvGrpSpPr>
        <p:grpSpPr>
          <a:xfrm>
            <a:off x="3200400" y="2438401"/>
            <a:ext cx="2057400" cy="838200"/>
            <a:chOff x="1676400" y="2438400"/>
            <a:chExt cx="2057400" cy="838200"/>
          </a:xfrm>
        </p:grpSpPr>
        <p:sp>
          <p:nvSpPr>
            <p:cNvPr id="2575" name="Google Shape;2575;p136"/>
            <p:cNvSpPr/>
            <p:nvPr/>
          </p:nvSpPr>
          <p:spPr>
            <a:xfrm>
              <a:off x="3200400" y="3276600"/>
              <a:ext cx="533400" cy="0"/>
            </a:xfrm>
            <a:custGeom>
              <a:rect b="b" l="l" r="r" t="t"/>
              <a:pathLst>
                <a:path extrusionOk="0" h="120000" w="533400">
                  <a:moveTo>
                    <a:pt x="0" y="0"/>
                  </a:moveTo>
                  <a:lnTo>
                    <a:pt x="533400" y="0"/>
                  </a:lnTo>
                </a:path>
              </a:pathLst>
            </a:custGeom>
            <a:noFill/>
            <a:ln cap="flat" cmpd="sng" w="50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6" name="Google Shape;2576;p136"/>
            <p:cNvSpPr/>
            <p:nvPr/>
          </p:nvSpPr>
          <p:spPr>
            <a:xfrm>
              <a:off x="1676400" y="2438400"/>
              <a:ext cx="228600" cy="228600"/>
            </a:xfrm>
            <a:custGeom>
              <a:rect b="b" l="l" r="r" t="t"/>
              <a:pathLst>
                <a:path extrusionOk="0" h="228600" w="228600">
                  <a:moveTo>
                    <a:pt x="0" y="0"/>
                  </a:moveTo>
                  <a:lnTo>
                    <a:pt x="228600" y="22860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7" name="Google Shape;2577;p136"/>
            <p:cNvSpPr/>
            <p:nvPr/>
          </p:nvSpPr>
          <p:spPr>
            <a:xfrm>
              <a:off x="2819400" y="2438400"/>
              <a:ext cx="381000" cy="228600"/>
            </a:xfrm>
            <a:custGeom>
              <a:rect b="b" l="l" r="r" t="t"/>
              <a:pathLst>
                <a:path extrusionOk="0" h="228600" w="381000">
                  <a:moveTo>
                    <a:pt x="381000" y="0"/>
                  </a:moveTo>
                  <a:lnTo>
                    <a:pt x="0" y="22860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78" name="Google Shape;2578;p136"/>
          <p:cNvSpPr/>
          <p:nvPr/>
        </p:nvSpPr>
        <p:spPr>
          <a:xfrm>
            <a:off x="7924800" y="2438400"/>
            <a:ext cx="0" cy="304800"/>
          </a:xfrm>
          <a:custGeom>
            <a:rect b="b" l="l" r="r" t="t"/>
            <a:pathLst>
              <a:path extrusionOk="0" h="304800" w="120000">
                <a:moveTo>
                  <a:pt x="0" y="0"/>
                </a:moveTo>
                <a:lnTo>
                  <a:pt x="0" y="30480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9" name="Google Shape;2579;p136"/>
          <p:cNvSpPr txBox="1"/>
          <p:nvPr/>
        </p:nvSpPr>
        <p:spPr>
          <a:xfrm>
            <a:off x="2136141" y="5346699"/>
            <a:ext cx="6974205" cy="579120"/>
          </a:xfrm>
          <a:prstGeom prst="rect">
            <a:avLst/>
          </a:prstGeom>
          <a:noFill/>
          <a:ln>
            <a:noFill/>
          </a:ln>
        </p:spPr>
        <p:txBody>
          <a:bodyPr anchorCtr="0" anchor="t" bIns="0" lIns="0" spcFirstLastPara="1" rIns="0" wrap="square" tIns="12700">
            <a:spAutoFit/>
          </a:bodyPr>
          <a:lstStyle/>
          <a:p>
            <a:pPr indent="-167005" lvl="0" marL="17907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Double diamond for </a:t>
            </a:r>
            <a:r>
              <a:rPr i="1" lang="en-US" sz="1800">
                <a:solidFill>
                  <a:srgbClr val="FF0066"/>
                </a:solidFill>
                <a:latin typeface="Calibri"/>
                <a:ea typeface="Calibri"/>
                <a:cs typeface="Calibri"/>
                <a:sym typeface="Calibri"/>
              </a:rPr>
              <a:t>supporting </a:t>
            </a:r>
            <a:r>
              <a:rPr lang="en-US" sz="1800">
                <a:solidFill>
                  <a:schemeClr val="dk1"/>
                </a:solidFill>
                <a:latin typeface="Calibri"/>
                <a:ea typeface="Calibri"/>
                <a:cs typeface="Calibri"/>
                <a:sym typeface="Calibri"/>
              </a:rPr>
              <a:t>many-one relationship with Weak Entity.</a:t>
            </a:r>
            <a:endParaRPr sz="1800">
              <a:solidFill>
                <a:schemeClr val="dk1"/>
              </a:solidFill>
              <a:latin typeface="Calibri"/>
              <a:ea typeface="Calibri"/>
              <a:cs typeface="Calibri"/>
              <a:sym typeface="Calibri"/>
            </a:endParaRPr>
          </a:p>
          <a:p>
            <a:pPr indent="-167005" lvl="0" marL="179070" marR="0" rtl="0" algn="l">
              <a:spcBef>
                <a:spcPts val="4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Double rectangle for the weak entity set.</a:t>
            </a:r>
            <a:endParaRPr sz="1800">
              <a:solidFill>
                <a:schemeClr val="dk1"/>
              </a:solidFill>
              <a:latin typeface="Calibri"/>
              <a:ea typeface="Calibri"/>
              <a:cs typeface="Calibri"/>
              <a:sym typeface="Calibri"/>
            </a:endParaRPr>
          </a:p>
        </p:txBody>
      </p:sp>
      <p:sp>
        <p:nvSpPr>
          <p:cNvPr id="2580" name="Google Shape;2580;p136"/>
          <p:cNvSpPr/>
          <p:nvPr/>
        </p:nvSpPr>
        <p:spPr>
          <a:xfrm flipH="1" rot="10800000">
            <a:off x="4724400" y="3080173"/>
            <a:ext cx="685004" cy="45719"/>
          </a:xfrm>
          <a:custGeom>
            <a:rect b="b" l="l" r="r" t="t"/>
            <a:pathLst>
              <a:path extrusionOk="0" h="120000" w="533400">
                <a:moveTo>
                  <a:pt x="0" y="0"/>
                </a:moveTo>
                <a:lnTo>
                  <a:pt x="533400" y="3"/>
                </a:lnTo>
              </a:path>
            </a:pathLst>
          </a:custGeom>
          <a:noFill/>
          <a:ln cap="flat" cmpd="sng" w="571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581" name="Google Shape;2581;p136"/>
          <p:cNvCxnSpPr/>
          <p:nvPr/>
        </p:nvCxnSpPr>
        <p:spPr>
          <a:xfrm>
            <a:off x="4286250" y="2267191"/>
            <a:ext cx="876300" cy="0"/>
          </a:xfrm>
          <a:prstGeom prst="straightConnector1">
            <a:avLst/>
          </a:prstGeom>
          <a:noFill/>
          <a:ln cap="flat" cmpd="sng" w="34925">
            <a:solidFill>
              <a:schemeClr val="accent1"/>
            </a:solidFill>
            <a:prstDash val="dash"/>
            <a:miter lim="800000"/>
            <a:headEnd len="sm" w="sm" type="none"/>
            <a:tailEnd len="sm" w="sm" type="none"/>
          </a:ln>
        </p:spPr>
      </p:cxnSp>
      <p:sp>
        <p:nvSpPr>
          <p:cNvPr id="2582" name="Google Shape;2582;p1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2586" name="Shape 2586"/>
        <p:cNvGrpSpPr/>
        <p:nvPr/>
      </p:nvGrpSpPr>
      <p:grpSpPr>
        <a:xfrm>
          <a:off x="0" y="0"/>
          <a:ext cx="0" cy="0"/>
          <a:chOff x="0" y="0"/>
          <a:chExt cx="0" cy="0"/>
        </a:xfrm>
      </p:grpSpPr>
      <p:sp>
        <p:nvSpPr>
          <p:cNvPr id="2587" name="Google Shape;2587;p137"/>
          <p:cNvSpPr txBox="1"/>
          <p:nvPr>
            <p:ph type="title"/>
          </p:nvPr>
        </p:nvSpPr>
        <p:spPr>
          <a:xfrm>
            <a:off x="7464614" y="1783959"/>
            <a:ext cx="4087306" cy="28891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Calibri"/>
              <a:buNone/>
            </a:pPr>
            <a:r>
              <a:rPr lang="en-US" sz="5400"/>
              <a:t>ERD Problems</a:t>
            </a:r>
            <a:endParaRPr/>
          </a:p>
        </p:txBody>
      </p:sp>
      <p:sp>
        <p:nvSpPr>
          <p:cNvPr id="2588" name="Google Shape;2588;p1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2" name="Shape 2592"/>
        <p:cNvGrpSpPr/>
        <p:nvPr/>
      </p:nvGrpSpPr>
      <p:grpSpPr>
        <a:xfrm>
          <a:off x="0" y="0"/>
          <a:ext cx="0" cy="0"/>
          <a:chOff x="0" y="0"/>
          <a:chExt cx="0" cy="0"/>
        </a:xfrm>
      </p:grpSpPr>
      <p:sp>
        <p:nvSpPr>
          <p:cNvPr id="2593" name="Google Shape;2593;p138"/>
          <p:cNvSpPr txBox="1"/>
          <p:nvPr>
            <p:ph type="title"/>
          </p:nvPr>
        </p:nvSpPr>
        <p:spPr>
          <a:xfrm>
            <a:off x="613632" y="37346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Congress</a:t>
            </a:r>
            <a:endParaRPr/>
          </a:p>
        </p:txBody>
      </p:sp>
      <p:sp>
        <p:nvSpPr>
          <p:cNvPr id="2594" name="Google Shape;2594;p138"/>
          <p:cNvSpPr txBox="1"/>
          <p:nvPr>
            <p:ph idx="1" type="body"/>
          </p:nvPr>
        </p:nvSpPr>
        <p:spPr>
          <a:xfrm>
            <a:off x="771698" y="1704109"/>
            <a:ext cx="10515600" cy="4780425"/>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t>Design an ER schema for keeping track of information about votes taken in the U.S. House of Representatives during the current two-year congressional session. </a:t>
            </a:r>
            <a:endParaRPr/>
          </a:p>
          <a:p>
            <a:pPr indent="-228600" lvl="0" marL="228600" rtl="0" algn="l">
              <a:lnSpc>
                <a:spcPct val="90000"/>
              </a:lnSpc>
              <a:spcBef>
                <a:spcPts val="1000"/>
              </a:spcBef>
              <a:spcAft>
                <a:spcPts val="0"/>
              </a:spcAft>
              <a:buClr>
                <a:schemeClr val="dk1"/>
              </a:buClr>
              <a:buSzPct val="100000"/>
              <a:buChar char="•"/>
            </a:pPr>
            <a:r>
              <a:rPr lang="en-US"/>
              <a:t>The database needs to keep track of each U.S. </a:t>
            </a:r>
            <a:r>
              <a:rPr b="1" lang="en-US"/>
              <a:t>STATEs</a:t>
            </a:r>
            <a:r>
              <a:rPr lang="en-US"/>
              <a:t> Name (e.g., Texas, New York, California) and include the Region of the state(whose domain is Northeast, Midwest, Southeast, Southwest, West). </a:t>
            </a:r>
            <a:endParaRPr/>
          </a:p>
          <a:p>
            <a:pPr indent="-228600" lvl="0" marL="228600" rtl="0" algn="l">
              <a:lnSpc>
                <a:spcPct val="90000"/>
              </a:lnSpc>
              <a:spcBef>
                <a:spcPts val="1000"/>
              </a:spcBef>
              <a:spcAft>
                <a:spcPts val="0"/>
              </a:spcAft>
              <a:buClr>
                <a:schemeClr val="dk1"/>
              </a:buClr>
              <a:buSzPct val="100000"/>
              <a:buChar char="•"/>
            </a:pPr>
            <a:r>
              <a:rPr lang="en-US"/>
              <a:t>Each </a:t>
            </a:r>
            <a:r>
              <a:rPr b="1" lang="en-US"/>
              <a:t>CONGRESSPERSON</a:t>
            </a:r>
            <a:r>
              <a:rPr lang="en-US"/>
              <a:t> in the House of Representatives is described by his or her Name, plus the District represented, the Start date when the congressperson was first elected, and the political Party to which he or she belongs (whose domain is Republican, Democrat, Independent, Other). </a:t>
            </a:r>
            <a:endParaRPr/>
          </a:p>
          <a:p>
            <a:pPr indent="-228600" lvl="0" marL="228600" rtl="0" algn="l">
              <a:lnSpc>
                <a:spcPct val="90000"/>
              </a:lnSpc>
              <a:spcBef>
                <a:spcPts val="1000"/>
              </a:spcBef>
              <a:spcAft>
                <a:spcPts val="0"/>
              </a:spcAft>
              <a:buClr>
                <a:schemeClr val="dk1"/>
              </a:buClr>
              <a:buSzPct val="100000"/>
              <a:buChar char="•"/>
            </a:pPr>
            <a:r>
              <a:rPr lang="en-US"/>
              <a:t>The database keeps track of each </a:t>
            </a:r>
            <a:r>
              <a:rPr b="1" lang="en-US"/>
              <a:t>BILL</a:t>
            </a:r>
            <a:r>
              <a:rPr lang="en-US"/>
              <a:t> (i.e., proposed law), including the Bill name, the Date of vote on the bill, whether the bill Passed or failed (whose domain is Yes, No), and the Sponsor (the congressperson(s) who </a:t>
            </a:r>
            <a:r>
              <a:rPr i="1" lang="en-US"/>
              <a:t>sponsored</a:t>
            </a:r>
            <a:r>
              <a:rPr lang="en-US"/>
              <a:t> that is, proposed the bill). </a:t>
            </a:r>
            <a:endParaRPr/>
          </a:p>
          <a:p>
            <a:pPr indent="-228600" lvl="0" marL="228600" rtl="0" algn="l">
              <a:lnSpc>
                <a:spcPct val="90000"/>
              </a:lnSpc>
              <a:spcBef>
                <a:spcPts val="1000"/>
              </a:spcBef>
              <a:spcAft>
                <a:spcPts val="0"/>
              </a:spcAft>
              <a:buClr>
                <a:schemeClr val="dk1"/>
              </a:buClr>
              <a:buSzPct val="100000"/>
              <a:buChar char="•"/>
            </a:pPr>
            <a:r>
              <a:rPr lang="en-US"/>
              <a:t>The database also keeps track of how each congressperson voted on each bill (domain of Vote attribute is Yes, No, Abstain, Absent). </a:t>
            </a:r>
            <a:endParaRPr/>
          </a:p>
          <a:p>
            <a:pPr indent="-228600" lvl="0" marL="228600" rtl="0" algn="l">
              <a:lnSpc>
                <a:spcPct val="90000"/>
              </a:lnSpc>
              <a:spcBef>
                <a:spcPts val="1000"/>
              </a:spcBef>
              <a:spcAft>
                <a:spcPts val="0"/>
              </a:spcAft>
              <a:buClr>
                <a:schemeClr val="dk1"/>
              </a:buClr>
              <a:buSzPct val="100000"/>
              <a:buChar char="•"/>
            </a:pPr>
            <a:r>
              <a:rPr lang="en-US"/>
              <a:t>Draw an ER schema diagram for this application. State clearly any assumptions you make</a:t>
            </a:r>
            <a:endParaRPr/>
          </a:p>
          <a:p>
            <a:pPr indent="-90804" lvl="0" marL="228600" rtl="0" algn="l">
              <a:lnSpc>
                <a:spcPct val="90000"/>
              </a:lnSpc>
              <a:spcBef>
                <a:spcPts val="1000"/>
              </a:spcBef>
              <a:spcAft>
                <a:spcPts val="0"/>
              </a:spcAft>
              <a:buClr>
                <a:schemeClr val="dk1"/>
              </a:buClr>
              <a:buSzPct val="100000"/>
              <a:buNone/>
            </a:pPr>
            <a:r>
              <a:t/>
            </a:r>
            <a:endParaRPr/>
          </a:p>
        </p:txBody>
      </p:sp>
      <p:sp>
        <p:nvSpPr>
          <p:cNvPr id="2595" name="Google Shape;2595;p1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4">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9" name="Shape 2599"/>
        <p:cNvGrpSpPr/>
        <p:nvPr/>
      </p:nvGrpSpPr>
      <p:grpSpPr>
        <a:xfrm>
          <a:off x="0" y="0"/>
          <a:ext cx="0" cy="0"/>
          <a:chOff x="0" y="0"/>
          <a:chExt cx="0" cy="0"/>
        </a:xfrm>
      </p:grpSpPr>
      <p:sp>
        <p:nvSpPr>
          <p:cNvPr id="2600" name="Google Shape;2600;p1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601" name="Google Shape;2601;p1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2602" name="Google Shape;2602;p1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603" name="Google Shape;2603;p139"/>
          <p:cNvPicPr preferRelativeResize="0"/>
          <p:nvPr/>
        </p:nvPicPr>
        <p:blipFill rotWithShape="1">
          <a:blip r:embed="rId3">
            <a:alphaModFix/>
          </a:blip>
          <a:srcRect b="0" l="0" r="0" t="0"/>
          <a:stretch/>
        </p:blipFill>
        <p:spPr>
          <a:xfrm>
            <a:off x="1927275" y="2219324"/>
            <a:ext cx="7737230" cy="3618767"/>
          </a:xfrm>
          <a:prstGeom prst="rect">
            <a:avLst/>
          </a:prstGeom>
          <a:noFill/>
          <a:ln>
            <a:noFill/>
          </a:ln>
        </p:spPr>
      </p:pic>
      <p:sp>
        <p:nvSpPr>
          <p:cNvPr id="2604" name="Google Shape;2604;p139"/>
          <p:cNvSpPr txBox="1"/>
          <p:nvPr/>
        </p:nvSpPr>
        <p:spPr>
          <a:xfrm>
            <a:off x="1730326" y="5804992"/>
            <a:ext cx="759655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u="sng">
                <a:solidFill>
                  <a:schemeClr val="dk1"/>
                </a:solidFill>
                <a:latin typeface="Calibri"/>
                <a:ea typeface="Calibri"/>
                <a:cs typeface="Calibri"/>
                <a:sym typeface="Calibri"/>
              </a:rPr>
              <a:t>Diagram https://www.tldraw.com/r/12YKkWcscWMT87vOHgE_b?d=v0.0.1920.919.page</a:t>
            </a:r>
            <a:endParaRPr sz="1800">
              <a:solidFill>
                <a:schemeClr val="dk1"/>
              </a:solidFill>
              <a:latin typeface="Calibri"/>
              <a:ea typeface="Calibri"/>
              <a:cs typeface="Calibri"/>
              <a:sym typeface="Calibri"/>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8" name="Shape 2608"/>
        <p:cNvGrpSpPr/>
        <p:nvPr/>
      </p:nvGrpSpPr>
      <p:grpSpPr>
        <a:xfrm>
          <a:off x="0" y="0"/>
          <a:ext cx="0" cy="0"/>
          <a:chOff x="0" y="0"/>
          <a:chExt cx="0" cy="0"/>
        </a:xfrm>
      </p:grpSpPr>
      <p:sp>
        <p:nvSpPr>
          <p:cNvPr id="2609" name="Google Shape;2609;p140"/>
          <p:cNvSpPr txBox="1"/>
          <p:nvPr>
            <p:ph type="title"/>
          </p:nvPr>
        </p:nvSpPr>
        <p:spPr>
          <a:xfrm>
            <a:off x="838200" y="-21165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Problem 2</a:t>
            </a:r>
            <a:endParaRPr/>
          </a:p>
        </p:txBody>
      </p:sp>
      <p:sp>
        <p:nvSpPr>
          <p:cNvPr id="2610" name="Google Shape;2610;p140"/>
          <p:cNvSpPr txBox="1"/>
          <p:nvPr>
            <p:ph idx="1" type="body"/>
          </p:nvPr>
        </p:nvSpPr>
        <p:spPr>
          <a:xfrm>
            <a:off x="-1" y="766689"/>
            <a:ext cx="11549575" cy="5324622"/>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600"/>
              <a:buChar char="•"/>
            </a:pPr>
            <a:r>
              <a:rPr lang="en-US" sz="1600"/>
              <a:t>You have just been hired as a consultant by the local airport. Impressed by your background in databases, they want you to completely redesign their database system. Your first task is to organize the information about all the airplanes stationed and maintained at the airport. The relevant information is as follows:</a:t>
            </a:r>
            <a:endParaRPr/>
          </a:p>
          <a:p>
            <a:pPr indent="-228600" lvl="0" marL="228600" rtl="0" algn="l">
              <a:lnSpc>
                <a:spcPct val="90000"/>
              </a:lnSpc>
              <a:spcBef>
                <a:spcPts val="1000"/>
              </a:spcBef>
              <a:spcAft>
                <a:spcPts val="0"/>
              </a:spcAft>
              <a:buClr>
                <a:schemeClr val="dk1"/>
              </a:buClr>
              <a:buSzPts val="1600"/>
              <a:buChar char="•"/>
            </a:pPr>
            <a:r>
              <a:rPr lang="en-US" sz="1600"/>
              <a:t>Every airplane has a registration number, and each airplane is of a specific model.</a:t>
            </a:r>
            <a:endParaRPr/>
          </a:p>
          <a:p>
            <a:pPr indent="-228600" lvl="0" marL="228600" rtl="0" algn="l">
              <a:lnSpc>
                <a:spcPct val="90000"/>
              </a:lnSpc>
              <a:spcBef>
                <a:spcPts val="1000"/>
              </a:spcBef>
              <a:spcAft>
                <a:spcPts val="0"/>
              </a:spcAft>
              <a:buClr>
                <a:schemeClr val="dk1"/>
              </a:buClr>
              <a:buSzPts val="1600"/>
              <a:buChar char="•"/>
            </a:pPr>
            <a:r>
              <a:rPr lang="en-US" sz="1600"/>
              <a:t>The airport accommodates a number of airplane models, and each model is identified by a model number (e.g., DC-lO) and has a</a:t>
            </a:r>
            <a:br>
              <a:rPr lang="en-US" sz="1600"/>
            </a:br>
            <a:r>
              <a:rPr lang="en-US" sz="1600"/>
              <a:t>capacity and a weight.</a:t>
            </a:r>
            <a:endParaRPr/>
          </a:p>
          <a:p>
            <a:pPr indent="-228600" lvl="0" marL="228600" rtl="0" algn="l">
              <a:lnSpc>
                <a:spcPct val="90000"/>
              </a:lnSpc>
              <a:spcBef>
                <a:spcPts val="1000"/>
              </a:spcBef>
              <a:spcAft>
                <a:spcPts val="0"/>
              </a:spcAft>
              <a:buClr>
                <a:schemeClr val="dk1"/>
              </a:buClr>
              <a:buSzPts val="1600"/>
              <a:buChar char="•"/>
            </a:pPr>
            <a:r>
              <a:rPr lang="en-US" sz="1600"/>
              <a:t>A number of technicians work at the airport. You need to store the name, SSN, address, phone number, and salary of each technician</a:t>
            </a:r>
            <a:endParaRPr/>
          </a:p>
          <a:p>
            <a:pPr indent="-228600" lvl="0" marL="228600" rtl="0" algn="l">
              <a:lnSpc>
                <a:spcPct val="90000"/>
              </a:lnSpc>
              <a:spcBef>
                <a:spcPts val="1000"/>
              </a:spcBef>
              <a:spcAft>
                <a:spcPts val="0"/>
              </a:spcAft>
              <a:buClr>
                <a:schemeClr val="dk1"/>
              </a:buClr>
              <a:buSzPts val="1600"/>
              <a:buChar char="•"/>
            </a:pPr>
            <a:r>
              <a:rPr lang="en-US" sz="1600"/>
              <a:t>Each technician is an expert on one or more plane model(s), and his or her expertise may overlap with that of other technicians. This information about technicians must also be recorded.</a:t>
            </a:r>
            <a:endParaRPr/>
          </a:p>
          <a:p>
            <a:pPr indent="-228600" lvl="0" marL="228600" rtl="0" algn="l">
              <a:lnSpc>
                <a:spcPct val="90000"/>
              </a:lnSpc>
              <a:spcBef>
                <a:spcPts val="1000"/>
              </a:spcBef>
              <a:spcAft>
                <a:spcPts val="0"/>
              </a:spcAft>
              <a:buClr>
                <a:schemeClr val="dk1"/>
              </a:buClr>
              <a:buSzPts val="1600"/>
              <a:buChar char="•"/>
            </a:pPr>
            <a:r>
              <a:rPr lang="en-US" sz="1600"/>
              <a:t>Traffic controllers must have an annual medical examination. For each traffic controller, you must store the date of the most recent exam.</a:t>
            </a:r>
            <a:endParaRPr/>
          </a:p>
          <a:p>
            <a:pPr indent="-228600" lvl="0" marL="228600" rtl="0" algn="l">
              <a:lnSpc>
                <a:spcPct val="90000"/>
              </a:lnSpc>
              <a:spcBef>
                <a:spcPts val="1000"/>
              </a:spcBef>
              <a:spcAft>
                <a:spcPts val="0"/>
              </a:spcAft>
              <a:buClr>
                <a:schemeClr val="dk1"/>
              </a:buClr>
              <a:buSzPts val="1600"/>
              <a:buChar char="•"/>
            </a:pPr>
            <a:r>
              <a:rPr lang="en-US" sz="1600"/>
              <a:t>All airport employees (including technicians) belong to a union. You must store the union member-ship number of each employee. You can assume that each employee is uniquely identified by a social security number</a:t>
            </a:r>
            <a:endParaRPr/>
          </a:p>
          <a:p>
            <a:pPr indent="-228600" lvl="0" marL="228600" rtl="0" algn="l">
              <a:lnSpc>
                <a:spcPct val="90000"/>
              </a:lnSpc>
              <a:spcBef>
                <a:spcPts val="1000"/>
              </a:spcBef>
              <a:spcAft>
                <a:spcPts val="0"/>
              </a:spcAft>
              <a:buClr>
                <a:schemeClr val="dk1"/>
              </a:buClr>
              <a:buSzPts val="1600"/>
              <a:buChar char="•"/>
            </a:pPr>
            <a:r>
              <a:rPr lang="en-US" sz="1600"/>
              <a:t>The airport has a number of tests that are used periodically to ensure that airplanes are still airworthy.Each test has a Federal Aviation Administration (FAA) test number, a name, and a maximum possible score.</a:t>
            </a:r>
            <a:endParaRPr/>
          </a:p>
          <a:p>
            <a:pPr indent="-228600" lvl="0" marL="228600" rtl="0" algn="l">
              <a:lnSpc>
                <a:spcPct val="90000"/>
              </a:lnSpc>
              <a:spcBef>
                <a:spcPts val="1000"/>
              </a:spcBef>
              <a:spcAft>
                <a:spcPts val="0"/>
              </a:spcAft>
              <a:buClr>
                <a:schemeClr val="dk1"/>
              </a:buClr>
              <a:buSzPts val="1600"/>
              <a:buChar char="•"/>
            </a:pPr>
            <a:r>
              <a:rPr lang="en-US" sz="1600"/>
              <a:t>The FAA requires the airport to keep track of each time a given airplane is tested by a given technician using a given test. For each testing event, the information needed is the date, the number of hours the technician spent doing the test, and the score the airplane received on the test</a:t>
            </a:r>
            <a:endParaRPr/>
          </a:p>
          <a:p>
            <a:pPr indent="-228600" lvl="0" marL="228600" rtl="0" algn="l">
              <a:lnSpc>
                <a:spcPct val="90000"/>
              </a:lnSpc>
              <a:spcBef>
                <a:spcPts val="1000"/>
              </a:spcBef>
              <a:spcAft>
                <a:spcPts val="0"/>
              </a:spcAft>
              <a:buClr>
                <a:schemeClr val="dk1"/>
              </a:buClr>
              <a:buSzPts val="1600"/>
              <a:buChar char="•"/>
            </a:pPr>
            <a:r>
              <a:rPr lang="en-US" sz="1600"/>
              <a:t>(20 points) Draw an ER diagram for the airport database. Be sure to indicate the various attributes of each entity and relationship set; also specify the key and participation constraints for each relationships. Specify any necessary overlap and covering constraints a.s well (in English)</a:t>
            </a:r>
            <a:br>
              <a:rPr lang="en-US" sz="1600"/>
            </a:br>
            <a:r>
              <a:rPr lang="en-US" sz="1600"/>
              <a:t>(5 points) The FAA passes a regulation that tests on a plane must be conducted by a technician whois an expert on that model. How would you express this constraint in the ER diagram? If you cannot express it, explain briefly.</a:t>
            </a:r>
            <a:endParaRPr/>
          </a:p>
          <a:p>
            <a:pPr indent="-127000" lvl="0" marL="228600" rtl="0" algn="l">
              <a:lnSpc>
                <a:spcPct val="90000"/>
              </a:lnSpc>
              <a:spcBef>
                <a:spcPts val="1000"/>
              </a:spcBef>
              <a:spcAft>
                <a:spcPts val="0"/>
              </a:spcAft>
              <a:buClr>
                <a:schemeClr val="dk1"/>
              </a:buClr>
              <a:buSzPts val="1600"/>
              <a:buNone/>
            </a:pPr>
            <a:r>
              <a:t/>
            </a:r>
            <a:endParaRPr sz="1600"/>
          </a:p>
        </p:txBody>
      </p:sp>
      <p:sp>
        <p:nvSpPr>
          <p:cNvPr id="2611" name="Google Shape;2611;p1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0">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5" name="Shape 2615"/>
        <p:cNvGrpSpPr/>
        <p:nvPr/>
      </p:nvGrpSpPr>
      <p:grpSpPr>
        <a:xfrm>
          <a:off x="0" y="0"/>
          <a:ext cx="0" cy="0"/>
          <a:chOff x="0" y="0"/>
          <a:chExt cx="0" cy="0"/>
        </a:xfrm>
      </p:grpSpPr>
      <p:sp>
        <p:nvSpPr>
          <p:cNvPr id="2616" name="Google Shape;2616;p1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617" name="Google Shape;2617;p141"/>
          <p:cNvPicPr preferRelativeResize="0"/>
          <p:nvPr>
            <p:ph idx="1" type="body"/>
          </p:nvPr>
        </p:nvPicPr>
        <p:blipFill rotWithShape="1">
          <a:blip r:embed="rId3">
            <a:alphaModFix/>
          </a:blip>
          <a:srcRect b="0" l="0" r="0" t="0"/>
          <a:stretch/>
        </p:blipFill>
        <p:spPr>
          <a:xfrm>
            <a:off x="3368402" y="1825625"/>
            <a:ext cx="5455196" cy="4351338"/>
          </a:xfrm>
          <a:prstGeom prst="rect">
            <a:avLst/>
          </a:prstGeom>
          <a:noFill/>
          <a:ln>
            <a:noFill/>
          </a:ln>
        </p:spPr>
      </p:pic>
      <p:sp>
        <p:nvSpPr>
          <p:cNvPr id="2618" name="Google Shape;2618;p1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2" name="Shape 2622"/>
        <p:cNvGrpSpPr/>
        <p:nvPr/>
      </p:nvGrpSpPr>
      <p:grpSpPr>
        <a:xfrm>
          <a:off x="0" y="0"/>
          <a:ext cx="0" cy="0"/>
          <a:chOff x="0" y="0"/>
          <a:chExt cx="0" cy="0"/>
        </a:xfrm>
      </p:grpSpPr>
      <p:sp>
        <p:nvSpPr>
          <p:cNvPr id="2623" name="Google Shape;2623;p1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Convert to logical Schema</a:t>
            </a:r>
            <a:endParaRPr/>
          </a:p>
        </p:txBody>
      </p:sp>
      <p:sp>
        <p:nvSpPr>
          <p:cNvPr id="2624" name="Google Shape;2624;p142"/>
          <p:cNvSpPr txBox="1"/>
          <p:nvPr>
            <p:ph idx="1" type="body"/>
          </p:nvPr>
        </p:nvSpPr>
        <p:spPr>
          <a:xfrm>
            <a:off x="281247" y="1892127"/>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000"/>
              <a:buChar char="•"/>
            </a:pPr>
            <a:r>
              <a:rPr lang="en-US" sz="2000"/>
              <a:t>Airport(</a:t>
            </a:r>
            <a:r>
              <a:rPr lang="en-US" sz="2000" u="sng"/>
              <a:t>airport code</a:t>
            </a:r>
            <a:r>
              <a:rPr lang="en-US" sz="2000"/>
              <a:t>, city , state, Name)</a:t>
            </a:r>
            <a:endParaRPr/>
          </a:p>
          <a:p>
            <a:pPr indent="-228600" lvl="0" marL="228600" rtl="0" algn="l">
              <a:lnSpc>
                <a:spcPct val="90000"/>
              </a:lnSpc>
              <a:spcBef>
                <a:spcPts val="1000"/>
              </a:spcBef>
              <a:spcAft>
                <a:spcPts val="0"/>
              </a:spcAft>
              <a:buClr>
                <a:schemeClr val="dk1"/>
              </a:buClr>
              <a:buSzPts val="2000"/>
              <a:buChar char="•"/>
            </a:pPr>
            <a:r>
              <a:rPr lang="en-US" sz="2000"/>
              <a:t>Airplane(</a:t>
            </a:r>
            <a:r>
              <a:rPr lang="en-US" sz="2000" u="sng"/>
              <a:t>airplane_id </a:t>
            </a:r>
            <a:r>
              <a:rPr lang="en-US" sz="2000"/>
              <a:t>, total_no_of_seats, type_name)</a:t>
            </a:r>
            <a:endParaRPr/>
          </a:p>
          <a:p>
            <a:pPr indent="-228600" lvl="0" marL="228600" rtl="0" algn="l">
              <a:lnSpc>
                <a:spcPct val="90000"/>
              </a:lnSpc>
              <a:spcBef>
                <a:spcPts val="1000"/>
              </a:spcBef>
              <a:spcAft>
                <a:spcPts val="0"/>
              </a:spcAft>
              <a:buClr>
                <a:schemeClr val="dk1"/>
              </a:buClr>
              <a:buSzPts val="2000"/>
              <a:buChar char="•"/>
            </a:pPr>
            <a:r>
              <a:rPr lang="en-US" sz="2000"/>
              <a:t>Airplane_type(</a:t>
            </a:r>
            <a:r>
              <a:rPr lang="en-US" sz="2000" u="sng"/>
              <a:t>type_name</a:t>
            </a:r>
            <a:r>
              <a:rPr lang="en-US" sz="2000"/>
              <a:t>, company, max_seat)</a:t>
            </a:r>
            <a:endParaRPr/>
          </a:p>
          <a:p>
            <a:pPr indent="-228600" lvl="0" marL="228600" rtl="0" algn="l">
              <a:lnSpc>
                <a:spcPct val="90000"/>
              </a:lnSpc>
              <a:spcBef>
                <a:spcPts val="1000"/>
              </a:spcBef>
              <a:spcAft>
                <a:spcPts val="0"/>
              </a:spcAft>
              <a:buClr>
                <a:schemeClr val="dk1"/>
              </a:buClr>
              <a:buSzPts val="2000"/>
              <a:buChar char="•"/>
            </a:pPr>
            <a:r>
              <a:rPr lang="en-US" sz="2000"/>
              <a:t>FLIGHT(</a:t>
            </a:r>
            <a:r>
              <a:rPr lang="en-US" sz="2000" u="sng"/>
              <a:t>flight</a:t>
            </a:r>
            <a:r>
              <a:rPr lang="en-US" sz="2000"/>
              <a:t>_</a:t>
            </a:r>
            <a:r>
              <a:rPr lang="en-US" sz="2000" u="sng"/>
              <a:t>number</a:t>
            </a:r>
            <a:r>
              <a:rPr lang="en-US" sz="2000"/>
              <a:t>, weekdays, airline)</a:t>
            </a:r>
            <a:endParaRPr/>
          </a:p>
          <a:p>
            <a:pPr indent="-228600" lvl="0" marL="228600" rtl="0" algn="l">
              <a:lnSpc>
                <a:spcPct val="90000"/>
              </a:lnSpc>
              <a:spcBef>
                <a:spcPts val="1000"/>
              </a:spcBef>
              <a:spcAft>
                <a:spcPts val="0"/>
              </a:spcAft>
              <a:buClr>
                <a:schemeClr val="dk1"/>
              </a:buClr>
              <a:buSzPts val="2000"/>
              <a:buChar char="•"/>
            </a:pPr>
            <a:r>
              <a:rPr lang="en-US" sz="2000"/>
              <a:t>CAN_LAND(</a:t>
            </a:r>
            <a:r>
              <a:rPr lang="en-US" sz="2000" u="sng"/>
              <a:t>airport_code, type_name</a:t>
            </a:r>
            <a:r>
              <a:rPr lang="en-US" sz="2000"/>
              <a:t>)</a:t>
            </a:r>
            <a:endParaRPr/>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FARE(</a:t>
            </a:r>
            <a:r>
              <a:rPr lang="en-US" sz="2000" u="sng"/>
              <a:t>code, flight_numbe</a:t>
            </a:r>
            <a:r>
              <a:rPr lang="en-US" sz="2000"/>
              <a:t>r, amount, restriction)</a:t>
            </a:r>
            <a:endParaRPr/>
          </a:p>
          <a:p>
            <a:pPr indent="-228600" lvl="0" marL="228600" rtl="0" algn="l">
              <a:lnSpc>
                <a:spcPct val="90000"/>
              </a:lnSpc>
              <a:spcBef>
                <a:spcPts val="1000"/>
              </a:spcBef>
              <a:spcAft>
                <a:spcPts val="0"/>
              </a:spcAft>
              <a:buClr>
                <a:schemeClr val="dk1"/>
              </a:buClr>
              <a:buSzPts val="2000"/>
              <a:buChar char="•"/>
            </a:pPr>
            <a:r>
              <a:rPr lang="en-US" sz="2000"/>
              <a:t>FLIGHT_LEG(</a:t>
            </a:r>
            <a:r>
              <a:rPr lang="en-US" sz="2000" u="sng"/>
              <a:t>leg_no, flight_number</a:t>
            </a:r>
            <a:r>
              <a:rPr lang="en-US" sz="2000"/>
              <a:t>, dep_airport_code,</a:t>
            </a:r>
            <a:endParaRPr/>
          </a:p>
          <a:p>
            <a:pPr indent="0" lvl="0" marL="0" rtl="0" algn="l">
              <a:lnSpc>
                <a:spcPct val="90000"/>
              </a:lnSpc>
              <a:spcBef>
                <a:spcPts val="1000"/>
              </a:spcBef>
              <a:spcAft>
                <a:spcPts val="0"/>
              </a:spcAft>
              <a:buClr>
                <a:schemeClr val="dk1"/>
              </a:buClr>
              <a:buSzPts val="2000"/>
              <a:buNone/>
            </a:pPr>
            <a:r>
              <a:rPr lang="en-US" sz="2000"/>
              <a:t>sch_dep_time, arr_airport_code, sch_arr_time)</a:t>
            </a:r>
            <a:endParaRPr/>
          </a:p>
          <a:p>
            <a:pPr indent="-228600" lvl="0" marL="228600" rtl="0" algn="l">
              <a:lnSpc>
                <a:spcPct val="90000"/>
              </a:lnSpc>
              <a:spcBef>
                <a:spcPts val="1000"/>
              </a:spcBef>
              <a:spcAft>
                <a:spcPts val="0"/>
              </a:spcAft>
              <a:buClr>
                <a:schemeClr val="dk1"/>
              </a:buClr>
              <a:buSzPts val="2000"/>
              <a:buChar char="•"/>
            </a:pPr>
            <a:r>
              <a:rPr lang="en-US" sz="2000"/>
              <a:t>LEG_INSTANCE(</a:t>
            </a:r>
            <a:r>
              <a:rPr lang="en-US" sz="2000" u="sng"/>
              <a:t>leg_no, flight_number, date</a:t>
            </a:r>
            <a:r>
              <a:rPr lang="en-US" sz="2000"/>
              <a:t>,no_of_avail_seats,airplane_id)</a:t>
            </a:r>
            <a:endParaRPr/>
          </a:p>
          <a:p>
            <a:pPr indent="-228600" lvl="0" marL="228600" rtl="0" algn="l">
              <a:lnSpc>
                <a:spcPct val="90000"/>
              </a:lnSpc>
              <a:spcBef>
                <a:spcPts val="1000"/>
              </a:spcBef>
              <a:spcAft>
                <a:spcPts val="0"/>
              </a:spcAft>
              <a:buClr>
                <a:schemeClr val="dk1"/>
              </a:buClr>
              <a:buSzPts val="2000"/>
              <a:buChar char="•"/>
            </a:pPr>
            <a:r>
              <a:rPr lang="en-US" sz="2000"/>
              <a:t>SEAT(</a:t>
            </a:r>
            <a:r>
              <a:rPr lang="en-US" sz="2000" u="sng"/>
              <a:t>leg_no, flight_number, date,seat_no</a:t>
            </a:r>
            <a:r>
              <a:rPr lang="en-US" sz="2000"/>
              <a:t>, customer_name, cphone)</a:t>
            </a:r>
            <a:endParaRPr/>
          </a:p>
          <a:p>
            <a:pPr indent="-101600" lvl="0" marL="228600" rtl="0" algn="l">
              <a:lnSpc>
                <a:spcPct val="90000"/>
              </a:lnSpc>
              <a:spcBef>
                <a:spcPts val="1000"/>
              </a:spcBef>
              <a:spcAft>
                <a:spcPts val="0"/>
              </a:spcAft>
              <a:buClr>
                <a:schemeClr val="dk1"/>
              </a:buClr>
              <a:buSzPts val="2000"/>
              <a:buNone/>
            </a:pPr>
            <a:r>
              <a:t/>
            </a:r>
            <a:endParaRPr sz="2000"/>
          </a:p>
        </p:txBody>
      </p:sp>
      <p:pic>
        <p:nvPicPr>
          <p:cNvPr id="2625" name="Google Shape;2625;p142"/>
          <p:cNvPicPr preferRelativeResize="0"/>
          <p:nvPr/>
        </p:nvPicPr>
        <p:blipFill rotWithShape="1">
          <a:blip r:embed="rId3">
            <a:alphaModFix/>
          </a:blip>
          <a:srcRect b="0" l="0" r="0" t="0"/>
          <a:stretch/>
        </p:blipFill>
        <p:spPr>
          <a:xfrm>
            <a:off x="7719291" y="220153"/>
            <a:ext cx="4525818" cy="6705600"/>
          </a:xfrm>
          <a:prstGeom prst="rect">
            <a:avLst/>
          </a:prstGeom>
          <a:noFill/>
          <a:ln>
            <a:noFill/>
          </a:ln>
        </p:spPr>
      </p:pic>
      <p:sp>
        <p:nvSpPr>
          <p:cNvPr id="2626" name="Google Shape;2626;p1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4">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0" name="Shape 2630"/>
        <p:cNvGrpSpPr/>
        <p:nvPr/>
      </p:nvGrpSpPr>
      <p:grpSpPr>
        <a:xfrm>
          <a:off x="0" y="0"/>
          <a:ext cx="0" cy="0"/>
          <a:chOff x="0" y="0"/>
          <a:chExt cx="0" cy="0"/>
        </a:xfrm>
      </p:grpSpPr>
      <p:sp>
        <p:nvSpPr>
          <p:cNvPr id="2631" name="Google Shape;2631;p143"/>
          <p:cNvSpPr/>
          <p:nvPr/>
        </p:nvSpPr>
        <p:spPr>
          <a:xfrm>
            <a:off x="1726531" y="4691743"/>
            <a:ext cx="8559996" cy="2031325"/>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rgbClr val="815E38"/>
              </a:buClr>
              <a:buSzPts val="1400"/>
              <a:buFont typeface="Arial"/>
              <a:buChar char="•"/>
            </a:pPr>
            <a:r>
              <a:rPr b="0" i="0" lang="en-US" sz="1400">
                <a:solidFill>
                  <a:srgbClr val="815E38"/>
                </a:solidFill>
                <a:latin typeface="Arial"/>
                <a:ea typeface="Arial"/>
                <a:cs typeface="Arial"/>
                <a:sym typeface="Arial"/>
              </a:rPr>
              <a:t>Company(</a:t>
            </a:r>
            <a:r>
              <a:rPr b="1" i="0" lang="en-US" sz="1400" u="sng">
                <a:solidFill>
                  <a:srgbClr val="815E38"/>
                </a:solidFill>
                <a:latin typeface="Arial"/>
                <a:ea typeface="Arial"/>
                <a:cs typeface="Arial"/>
                <a:sym typeface="Arial"/>
              </a:rPr>
              <a:t>ID</a:t>
            </a:r>
            <a:r>
              <a:rPr b="0" i="0" lang="en-US" sz="1400">
                <a:solidFill>
                  <a:srgbClr val="815E38"/>
                </a:solidFill>
                <a:latin typeface="Arial"/>
                <a:ea typeface="Arial"/>
                <a:cs typeface="Arial"/>
                <a:sym typeface="Arial"/>
              </a:rPr>
              <a:t>, </a:t>
            </a:r>
            <a:r>
              <a:rPr b="0" i="0" lang="en-US" sz="1400" u="sng">
                <a:solidFill>
                  <a:srgbClr val="815E38"/>
                </a:solidFill>
                <a:latin typeface="Arial"/>
                <a:ea typeface="Arial"/>
                <a:cs typeface="Arial"/>
                <a:sym typeface="Arial"/>
              </a:rPr>
              <a:t> </a:t>
            </a:r>
            <a:r>
              <a:rPr b="0" i="0" lang="en-US" sz="1400">
                <a:solidFill>
                  <a:srgbClr val="815E38"/>
                </a:solidFill>
                <a:latin typeface="Arial"/>
                <a:ea typeface="Arial"/>
                <a:cs typeface="Arial"/>
                <a:sym typeface="Arial"/>
              </a:rPr>
              <a:t>name , address )</a:t>
            </a:r>
            <a:endParaRPr/>
          </a:p>
          <a:p>
            <a:pPr indent="-285750" lvl="0" marL="285750" marR="0" rtl="0" algn="l">
              <a:spcBef>
                <a:spcPts val="0"/>
              </a:spcBef>
              <a:spcAft>
                <a:spcPts val="0"/>
              </a:spcAft>
              <a:buClr>
                <a:srgbClr val="815E38"/>
              </a:buClr>
              <a:buSzPts val="1400"/>
              <a:buFont typeface="Arial"/>
              <a:buChar char="•"/>
            </a:pPr>
            <a:r>
              <a:rPr b="0" i="0" lang="en-US" sz="1400">
                <a:solidFill>
                  <a:srgbClr val="815E38"/>
                </a:solidFill>
                <a:latin typeface="Arial"/>
                <a:ea typeface="Arial"/>
                <a:cs typeface="Arial"/>
                <a:sym typeface="Arial"/>
              </a:rPr>
              <a:t>Staff( </a:t>
            </a:r>
            <a:r>
              <a:rPr b="0" i="0" lang="en-US" sz="1400" u="sng">
                <a:solidFill>
                  <a:srgbClr val="815E38"/>
                </a:solidFill>
                <a:latin typeface="Arial"/>
                <a:ea typeface="Arial"/>
                <a:cs typeface="Arial"/>
                <a:sym typeface="Arial"/>
              </a:rPr>
              <a:t>StaffID</a:t>
            </a:r>
            <a:r>
              <a:rPr b="0" i="0" lang="en-US" sz="1400">
                <a:solidFill>
                  <a:srgbClr val="815E38"/>
                </a:solidFill>
                <a:latin typeface="Arial"/>
                <a:ea typeface="Arial"/>
                <a:cs typeface="Arial"/>
                <a:sym typeface="Arial"/>
              </a:rPr>
              <a:t> , dob , address</a:t>
            </a:r>
            <a:r>
              <a:rPr b="1" i="1" lang="en-US" sz="1400">
                <a:solidFill>
                  <a:srgbClr val="815E38"/>
                </a:solidFill>
                <a:latin typeface="Arial"/>
                <a:ea typeface="Arial"/>
                <a:cs typeface="Arial"/>
                <a:sym typeface="Arial"/>
              </a:rPr>
              <a:t>, companyID</a:t>
            </a:r>
            <a:r>
              <a:rPr b="0" i="0" lang="en-US" sz="1400">
                <a:solidFill>
                  <a:srgbClr val="815E38"/>
                </a:solidFill>
                <a:latin typeface="Arial"/>
                <a:ea typeface="Arial"/>
                <a:cs typeface="Arial"/>
                <a:sym typeface="Arial"/>
              </a:rPr>
              <a:t>, since )</a:t>
            </a:r>
            <a:endParaRPr sz="1400">
              <a:solidFill>
                <a:schemeClr val="dk1"/>
              </a:solidFill>
              <a:latin typeface="Calibri"/>
              <a:ea typeface="Calibri"/>
              <a:cs typeface="Calibri"/>
              <a:sym typeface="Calibri"/>
            </a:endParaRPr>
          </a:p>
          <a:p>
            <a:pPr indent="-285750" lvl="0" marL="285750" marR="0" rtl="0" algn="l">
              <a:spcBef>
                <a:spcPts val="0"/>
              </a:spcBef>
              <a:spcAft>
                <a:spcPts val="0"/>
              </a:spcAft>
              <a:buClr>
                <a:srgbClr val="815E38"/>
              </a:buClr>
              <a:buSzPts val="1400"/>
              <a:buFont typeface="Arial"/>
              <a:buChar char="•"/>
            </a:pPr>
            <a:r>
              <a:rPr b="0" i="0" lang="en-US" sz="1400">
                <a:solidFill>
                  <a:srgbClr val="815E38"/>
                </a:solidFill>
                <a:latin typeface="Arial"/>
                <a:ea typeface="Arial"/>
                <a:cs typeface="Arial"/>
                <a:sym typeface="Arial"/>
              </a:rPr>
              <a:t>Child( </a:t>
            </a:r>
            <a:r>
              <a:rPr b="0" i="0" lang="en-US" sz="1400" u="sng">
                <a:solidFill>
                  <a:srgbClr val="815E38"/>
                </a:solidFill>
                <a:latin typeface="Arial"/>
                <a:ea typeface="Arial"/>
                <a:cs typeface="Arial"/>
                <a:sym typeface="Arial"/>
              </a:rPr>
              <a:t>ChildID</a:t>
            </a:r>
            <a:r>
              <a:rPr b="0" i="0" lang="en-US" sz="1400">
                <a:solidFill>
                  <a:srgbClr val="815E38"/>
                </a:solidFill>
                <a:latin typeface="Arial"/>
                <a:ea typeface="Arial"/>
                <a:cs typeface="Arial"/>
                <a:sym typeface="Arial"/>
              </a:rPr>
              <a:t> , name ,</a:t>
            </a:r>
            <a:r>
              <a:rPr b="1" i="1" lang="en-US" sz="1400">
                <a:solidFill>
                  <a:srgbClr val="815E38"/>
                </a:solidFill>
                <a:latin typeface="Georgia"/>
                <a:ea typeface="Georgia"/>
                <a:cs typeface="Georgia"/>
                <a:sym typeface="Georgia"/>
              </a:rPr>
              <a:t> StaffID</a:t>
            </a:r>
            <a:r>
              <a:rPr b="0" i="0" lang="en-US" sz="1400">
                <a:solidFill>
                  <a:srgbClr val="815E38"/>
                </a:solidFill>
                <a:latin typeface="Arial"/>
                <a:ea typeface="Arial"/>
                <a:cs typeface="Arial"/>
                <a:sym typeface="Arial"/>
              </a:rPr>
              <a:t> )</a:t>
            </a:r>
            <a:endParaRPr sz="1400">
              <a:solidFill>
                <a:schemeClr val="dk1"/>
              </a:solidFill>
              <a:latin typeface="Calibri"/>
              <a:ea typeface="Calibri"/>
              <a:cs typeface="Calibri"/>
              <a:sym typeface="Calibri"/>
            </a:endParaRPr>
          </a:p>
          <a:p>
            <a:pPr indent="-285750" lvl="0" marL="285750" marR="0" rtl="0" algn="l">
              <a:spcBef>
                <a:spcPts val="0"/>
              </a:spcBef>
              <a:spcAft>
                <a:spcPts val="0"/>
              </a:spcAft>
              <a:buClr>
                <a:srgbClr val="815E38"/>
              </a:buClr>
              <a:buSzPts val="1400"/>
              <a:buFont typeface="Arial"/>
              <a:buChar char="•"/>
            </a:pPr>
            <a:r>
              <a:rPr b="0" i="0" lang="en-US" sz="1400">
                <a:solidFill>
                  <a:srgbClr val="815E38"/>
                </a:solidFill>
                <a:latin typeface="Arial"/>
                <a:ea typeface="Arial"/>
                <a:cs typeface="Arial"/>
                <a:sym typeface="Arial"/>
              </a:rPr>
              <a:t>Wife ( </a:t>
            </a:r>
            <a:r>
              <a:rPr b="0" i="0" lang="en-US" sz="1400" u="sng">
                <a:solidFill>
                  <a:srgbClr val="815E38"/>
                </a:solidFill>
                <a:latin typeface="Arial"/>
                <a:ea typeface="Arial"/>
                <a:cs typeface="Arial"/>
                <a:sym typeface="Arial"/>
              </a:rPr>
              <a:t>WifeID</a:t>
            </a:r>
            <a:r>
              <a:rPr b="0" i="0" lang="en-US" sz="1400">
                <a:solidFill>
                  <a:srgbClr val="815E38"/>
                </a:solidFill>
                <a:latin typeface="Arial"/>
                <a:ea typeface="Arial"/>
                <a:cs typeface="Arial"/>
                <a:sym typeface="Arial"/>
              </a:rPr>
              <a:t> , name, </a:t>
            </a:r>
            <a:r>
              <a:rPr b="1" i="1" lang="en-US" sz="1400">
                <a:solidFill>
                  <a:srgbClr val="815E38"/>
                </a:solidFill>
                <a:latin typeface="Georgia"/>
                <a:ea typeface="Georgia"/>
                <a:cs typeface="Georgia"/>
                <a:sym typeface="Georgia"/>
              </a:rPr>
              <a:t>StaffID</a:t>
            </a:r>
            <a:r>
              <a:rPr b="0" i="0" lang="en-US" sz="1400">
                <a:solidFill>
                  <a:srgbClr val="815E38"/>
                </a:solidFill>
                <a:latin typeface="Arial"/>
                <a:ea typeface="Arial"/>
                <a:cs typeface="Arial"/>
                <a:sym typeface="Arial"/>
              </a:rPr>
              <a:t>)</a:t>
            </a:r>
            <a:endParaRPr sz="1400">
              <a:solidFill>
                <a:schemeClr val="dk1"/>
              </a:solidFill>
              <a:latin typeface="Calibri"/>
              <a:ea typeface="Calibri"/>
              <a:cs typeface="Calibri"/>
              <a:sym typeface="Calibri"/>
            </a:endParaRPr>
          </a:p>
          <a:p>
            <a:pPr indent="-285750" lvl="0" marL="285750" marR="0" rtl="0" algn="l">
              <a:spcBef>
                <a:spcPts val="0"/>
              </a:spcBef>
              <a:spcAft>
                <a:spcPts val="0"/>
              </a:spcAft>
              <a:buClr>
                <a:srgbClr val="815E38"/>
              </a:buClr>
              <a:buSzPts val="1400"/>
              <a:buFont typeface="Arial"/>
              <a:buChar char="•"/>
            </a:pPr>
            <a:r>
              <a:rPr b="0" i="0" lang="en-US" sz="1400">
                <a:solidFill>
                  <a:srgbClr val="815E38"/>
                </a:solidFill>
                <a:latin typeface="Arial"/>
                <a:ea typeface="Arial"/>
                <a:cs typeface="Arial"/>
                <a:sym typeface="Arial"/>
              </a:rPr>
              <a:t>Phone( </a:t>
            </a:r>
            <a:r>
              <a:rPr b="1" i="1" lang="en-US" sz="1400" u="sng">
                <a:solidFill>
                  <a:srgbClr val="815E38"/>
                </a:solidFill>
                <a:latin typeface="Georgia"/>
                <a:ea typeface="Georgia"/>
                <a:cs typeface="Georgia"/>
                <a:sym typeface="Georgia"/>
              </a:rPr>
              <a:t>StaffID</a:t>
            </a:r>
            <a:r>
              <a:rPr b="1" i="1" lang="en-US" sz="1400">
                <a:solidFill>
                  <a:srgbClr val="815E38"/>
                </a:solidFill>
                <a:latin typeface="Georgia"/>
                <a:ea typeface="Georgia"/>
                <a:cs typeface="Georgia"/>
                <a:sym typeface="Georgia"/>
              </a:rPr>
              <a:t>, </a:t>
            </a:r>
            <a:r>
              <a:rPr b="0" i="0" lang="en-US" sz="1400">
                <a:solidFill>
                  <a:srgbClr val="815E38"/>
                </a:solidFill>
                <a:latin typeface="Arial"/>
                <a:ea typeface="Arial"/>
                <a:cs typeface="Arial"/>
                <a:sym typeface="Arial"/>
              </a:rPr>
              <a:t>phoneNumber )</a:t>
            </a:r>
            <a:endParaRPr sz="1400">
              <a:solidFill>
                <a:schemeClr val="dk1"/>
              </a:solidFill>
              <a:latin typeface="Calibri"/>
              <a:ea typeface="Calibri"/>
              <a:cs typeface="Calibri"/>
              <a:sym typeface="Calibri"/>
            </a:endParaRPr>
          </a:p>
          <a:p>
            <a:pPr indent="-285750" lvl="0" marL="285750" marR="0" rtl="0" algn="l">
              <a:spcBef>
                <a:spcPts val="0"/>
              </a:spcBef>
              <a:spcAft>
                <a:spcPts val="0"/>
              </a:spcAft>
              <a:buClr>
                <a:srgbClr val="815E38"/>
              </a:buClr>
              <a:buSzPts val="1400"/>
              <a:buFont typeface="Arial"/>
              <a:buChar char="•"/>
            </a:pPr>
            <a:r>
              <a:rPr b="0" i="0" lang="en-US" sz="1400">
                <a:solidFill>
                  <a:srgbClr val="815E38"/>
                </a:solidFill>
                <a:latin typeface="Arial"/>
                <a:ea typeface="Arial"/>
                <a:cs typeface="Arial"/>
                <a:sym typeface="Arial"/>
              </a:rPr>
              <a:t>Task ( </a:t>
            </a:r>
            <a:r>
              <a:rPr b="0" i="0" lang="en-US" sz="1400" u="sng">
                <a:solidFill>
                  <a:srgbClr val="815E38"/>
                </a:solidFill>
                <a:latin typeface="Arial"/>
                <a:ea typeface="Arial"/>
                <a:cs typeface="Arial"/>
                <a:sym typeface="Arial"/>
              </a:rPr>
              <a:t>TaskID</a:t>
            </a:r>
            <a:r>
              <a:rPr b="0" i="0" lang="en-US" sz="1400">
                <a:solidFill>
                  <a:srgbClr val="815E38"/>
                </a:solidFill>
                <a:latin typeface="Arial"/>
                <a:ea typeface="Arial"/>
                <a:cs typeface="Arial"/>
                <a:sym typeface="Arial"/>
              </a:rPr>
              <a:t> , description)</a:t>
            </a:r>
            <a:endParaRPr sz="1400">
              <a:solidFill>
                <a:schemeClr val="dk1"/>
              </a:solidFill>
              <a:latin typeface="Calibri"/>
              <a:ea typeface="Calibri"/>
              <a:cs typeface="Calibri"/>
              <a:sym typeface="Calibri"/>
            </a:endParaRPr>
          </a:p>
          <a:p>
            <a:pPr indent="-285750" lvl="0" marL="285750" marR="0" rtl="0" algn="l">
              <a:spcBef>
                <a:spcPts val="0"/>
              </a:spcBef>
              <a:spcAft>
                <a:spcPts val="0"/>
              </a:spcAft>
              <a:buClr>
                <a:srgbClr val="815E38"/>
              </a:buClr>
              <a:buSzPts val="1400"/>
              <a:buFont typeface="Arial"/>
              <a:buChar char="•"/>
            </a:pPr>
            <a:r>
              <a:rPr b="0" i="0" lang="en-US" sz="1400">
                <a:solidFill>
                  <a:srgbClr val="815E38"/>
                </a:solidFill>
                <a:latin typeface="Arial"/>
                <a:ea typeface="Arial"/>
                <a:cs typeface="Arial"/>
                <a:sym typeface="Arial"/>
              </a:rPr>
              <a:t>Perform(</a:t>
            </a:r>
            <a:r>
              <a:rPr b="1" i="1" lang="en-US" sz="1400" u="sng">
                <a:solidFill>
                  <a:srgbClr val="815E38"/>
                </a:solidFill>
                <a:latin typeface="Georgia"/>
                <a:ea typeface="Georgia"/>
                <a:cs typeface="Georgia"/>
                <a:sym typeface="Georgia"/>
              </a:rPr>
              <a:t>StaffID , TaskID</a:t>
            </a:r>
            <a:r>
              <a:rPr b="1" i="1" lang="en-US" sz="1400" u="sng">
                <a:solidFill>
                  <a:srgbClr val="815E38"/>
                </a:solidFill>
                <a:latin typeface="Arial"/>
                <a:ea typeface="Arial"/>
                <a:cs typeface="Arial"/>
                <a:sym typeface="Arial"/>
              </a:rPr>
              <a:t> </a:t>
            </a:r>
            <a:r>
              <a:rPr b="0" i="0" lang="en-US" sz="1400">
                <a:solidFill>
                  <a:srgbClr val="815E38"/>
                </a:solidFill>
                <a:latin typeface="Arial"/>
                <a:ea typeface="Arial"/>
                <a:cs typeface="Arial"/>
                <a:sym typeface="Arial"/>
              </a:rPr>
              <a:t>)</a:t>
            </a:r>
            <a:endParaRPr/>
          </a:p>
          <a:p>
            <a:pPr indent="0" lvl="0" marL="0" marR="0" rtl="0" algn="l">
              <a:spcBef>
                <a:spcPts val="0"/>
              </a:spcBef>
              <a:spcAft>
                <a:spcPts val="0"/>
              </a:spcAft>
              <a:buNone/>
            </a:pPr>
            <a:r>
              <a:t/>
            </a:r>
            <a:endParaRPr sz="1400">
              <a:solidFill>
                <a:srgbClr val="815E38"/>
              </a:solidFill>
              <a:latin typeface="Arial"/>
              <a:ea typeface="Arial"/>
              <a:cs typeface="Arial"/>
              <a:sym typeface="Arial"/>
            </a:endParaRPr>
          </a:p>
          <a:p>
            <a:pPr indent="0" lvl="0" marL="0" marR="0" rtl="0" algn="l">
              <a:spcBef>
                <a:spcPts val="0"/>
              </a:spcBef>
              <a:spcAft>
                <a:spcPts val="0"/>
              </a:spcAft>
              <a:buNone/>
            </a:pPr>
            <a:r>
              <a:rPr lang="en-US" sz="1400" u="sng">
                <a:solidFill>
                  <a:srgbClr val="815E38"/>
                </a:solidFill>
                <a:latin typeface="Arial"/>
                <a:ea typeface="Arial"/>
                <a:cs typeface="Arial"/>
                <a:sym typeface="Arial"/>
              </a:rPr>
              <a:t>Primary Key</a:t>
            </a:r>
            <a:r>
              <a:rPr lang="en-US" sz="1400">
                <a:solidFill>
                  <a:srgbClr val="815E38"/>
                </a:solidFill>
                <a:latin typeface="Arial"/>
                <a:ea typeface="Arial"/>
                <a:cs typeface="Arial"/>
                <a:sym typeface="Arial"/>
              </a:rPr>
              <a:t> is underlined. </a:t>
            </a:r>
            <a:r>
              <a:rPr b="1" i="1" lang="en-US" sz="1400">
                <a:solidFill>
                  <a:srgbClr val="815E38"/>
                </a:solidFill>
                <a:latin typeface="Arial"/>
                <a:ea typeface="Arial"/>
                <a:cs typeface="Arial"/>
                <a:sym typeface="Arial"/>
              </a:rPr>
              <a:t>Foreign key</a:t>
            </a:r>
            <a:r>
              <a:rPr lang="en-US" sz="1400">
                <a:solidFill>
                  <a:srgbClr val="815E38"/>
                </a:solidFill>
                <a:latin typeface="Arial"/>
                <a:ea typeface="Arial"/>
                <a:cs typeface="Arial"/>
                <a:sym typeface="Arial"/>
              </a:rPr>
              <a:t> is bold italic </a:t>
            </a:r>
            <a:endParaRPr sz="1400">
              <a:solidFill>
                <a:schemeClr val="dk1"/>
              </a:solidFill>
              <a:latin typeface="Calibri"/>
              <a:ea typeface="Calibri"/>
              <a:cs typeface="Calibri"/>
              <a:sym typeface="Calibri"/>
            </a:endParaRPr>
          </a:p>
        </p:txBody>
      </p:sp>
      <p:pic>
        <p:nvPicPr>
          <p:cNvPr id="2632" name="Google Shape;2632;p143"/>
          <p:cNvPicPr preferRelativeResize="0"/>
          <p:nvPr/>
        </p:nvPicPr>
        <p:blipFill rotWithShape="1">
          <a:blip r:embed="rId3">
            <a:alphaModFix/>
          </a:blip>
          <a:srcRect b="0" l="0" r="0" t="0"/>
          <a:stretch/>
        </p:blipFill>
        <p:spPr>
          <a:xfrm>
            <a:off x="2354745" y="0"/>
            <a:ext cx="7675571" cy="4691743"/>
          </a:xfrm>
          <a:prstGeom prst="rect">
            <a:avLst/>
          </a:prstGeom>
          <a:noFill/>
          <a:ln>
            <a:noFill/>
          </a:ln>
        </p:spPr>
      </p:pic>
      <p:sp>
        <p:nvSpPr>
          <p:cNvPr id="2633" name="Google Shape;2633;p1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1">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7" name="Shape 2637"/>
        <p:cNvGrpSpPr/>
        <p:nvPr/>
      </p:nvGrpSpPr>
      <p:grpSpPr>
        <a:xfrm>
          <a:off x="0" y="0"/>
          <a:ext cx="0" cy="0"/>
          <a:chOff x="0" y="0"/>
          <a:chExt cx="0" cy="0"/>
        </a:xfrm>
      </p:grpSpPr>
      <p:sp>
        <p:nvSpPr>
          <p:cNvPr id="2638" name="Google Shape;2638;p144"/>
          <p:cNvSpPr txBox="1"/>
          <p:nvPr>
            <p:ph type="title"/>
          </p:nvPr>
        </p:nvSpPr>
        <p:spPr>
          <a:xfrm>
            <a:off x="935305" y="609428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Convert to logical Schema</a:t>
            </a:r>
            <a:endParaRPr/>
          </a:p>
        </p:txBody>
      </p:sp>
      <p:pic>
        <p:nvPicPr>
          <p:cNvPr id="2639" name="Google Shape;2639;p144"/>
          <p:cNvPicPr preferRelativeResize="0"/>
          <p:nvPr>
            <p:ph idx="1" type="body"/>
          </p:nvPr>
        </p:nvPicPr>
        <p:blipFill rotWithShape="1">
          <a:blip r:embed="rId3">
            <a:alphaModFix/>
          </a:blip>
          <a:srcRect b="0" l="0" r="0" t="0"/>
          <a:stretch/>
        </p:blipFill>
        <p:spPr>
          <a:xfrm>
            <a:off x="629119" y="0"/>
            <a:ext cx="9405005" cy="6530273"/>
          </a:xfrm>
          <a:prstGeom prst="rect">
            <a:avLst/>
          </a:prstGeom>
          <a:noFill/>
          <a:ln>
            <a:noFill/>
          </a:ln>
        </p:spPr>
      </p:pic>
      <p:sp>
        <p:nvSpPr>
          <p:cNvPr id="2640" name="Google Shape;2640;p1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5" name="Shape 2645"/>
        <p:cNvGrpSpPr/>
        <p:nvPr/>
      </p:nvGrpSpPr>
      <p:grpSpPr>
        <a:xfrm>
          <a:off x="0" y="0"/>
          <a:ext cx="0" cy="0"/>
          <a:chOff x="0" y="0"/>
          <a:chExt cx="0" cy="0"/>
        </a:xfrm>
      </p:grpSpPr>
      <p:sp>
        <p:nvSpPr>
          <p:cNvPr id="2646" name="Google Shape;2646;p1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647" name="Google Shape;2647;p145"/>
          <p:cNvPicPr preferRelativeResize="0"/>
          <p:nvPr>
            <p:ph idx="1" type="body"/>
          </p:nvPr>
        </p:nvPicPr>
        <p:blipFill rotWithShape="1">
          <a:blip r:embed="rId3">
            <a:alphaModFix/>
          </a:blip>
          <a:srcRect b="0" l="0" r="0" t="0"/>
          <a:stretch/>
        </p:blipFill>
        <p:spPr>
          <a:xfrm>
            <a:off x="3181026" y="1825625"/>
            <a:ext cx="5829948" cy="4351338"/>
          </a:xfrm>
          <a:prstGeom prst="rect">
            <a:avLst/>
          </a:prstGeom>
          <a:noFill/>
          <a:ln>
            <a:noFill/>
          </a:ln>
        </p:spPr>
      </p:pic>
      <p:sp>
        <p:nvSpPr>
          <p:cNvPr id="2648" name="Google Shape;2648;p1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2" name="Shape 2652"/>
        <p:cNvGrpSpPr/>
        <p:nvPr/>
      </p:nvGrpSpPr>
      <p:grpSpPr>
        <a:xfrm>
          <a:off x="0" y="0"/>
          <a:ext cx="0" cy="0"/>
          <a:chOff x="0" y="0"/>
          <a:chExt cx="0" cy="0"/>
        </a:xfrm>
      </p:grpSpPr>
      <p:sp>
        <p:nvSpPr>
          <p:cNvPr id="2653" name="Google Shape;2653;p1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create table </a:t>
            </a:r>
            <a:r>
              <a:rPr b="1" lang="en-US"/>
              <a:t>bank</a:t>
            </a:r>
            <a:r>
              <a:rPr lang="en-US"/>
              <a:t>(code char(10), name varchar(20), addr varchar(100), primary key code)</a:t>
            </a:r>
            <a:endParaRPr/>
          </a:p>
          <a:p>
            <a:pPr indent="-228600" lvl="0" marL="228600" rtl="0" algn="l">
              <a:lnSpc>
                <a:spcPct val="90000"/>
              </a:lnSpc>
              <a:spcBef>
                <a:spcPts val="1000"/>
              </a:spcBef>
              <a:spcAft>
                <a:spcPts val="0"/>
              </a:spcAft>
              <a:buClr>
                <a:schemeClr val="dk1"/>
              </a:buClr>
              <a:buSzPct val="100000"/>
              <a:buChar char="•"/>
            </a:pPr>
            <a:r>
              <a:rPr lang="en-US"/>
              <a:t>Create table </a:t>
            </a:r>
            <a:r>
              <a:rPr b="1" lang="en-US"/>
              <a:t>bankbranch</a:t>
            </a:r>
            <a:r>
              <a:rPr lang="en-US"/>
              <a:t> (code char(10), bronchno int, addr varchar(100), primary key (code, brachno), foreign key code references bank on delete cascade)</a:t>
            </a:r>
            <a:endParaRPr/>
          </a:p>
          <a:p>
            <a:pPr indent="-228600" lvl="0" marL="228600" rtl="0" algn="l">
              <a:lnSpc>
                <a:spcPct val="90000"/>
              </a:lnSpc>
              <a:spcBef>
                <a:spcPts val="1000"/>
              </a:spcBef>
              <a:spcAft>
                <a:spcPts val="0"/>
              </a:spcAft>
              <a:buClr>
                <a:schemeClr val="dk1"/>
              </a:buClr>
              <a:buSzPct val="100000"/>
              <a:buChar char="•"/>
            </a:pPr>
            <a:r>
              <a:rPr lang="en-US"/>
              <a:t>create table </a:t>
            </a:r>
            <a:r>
              <a:rPr b="1" lang="en-US"/>
              <a:t>loan</a:t>
            </a:r>
            <a:r>
              <a:rPr lang="en-US"/>
              <a:t>(loanno int primary key amount decimal (10,2), type char(10) , code char(10) </a:t>
            </a:r>
            <a:r>
              <a:rPr b="1" i="1" lang="en-US"/>
              <a:t>NOT  NULL</a:t>
            </a:r>
            <a:r>
              <a:rPr lang="en-US"/>
              <a:t>, branchno int NOT NULL, foreign key code reference bankbranch, foreign key branchno references bankbranch )</a:t>
            </a:r>
            <a:endParaRPr/>
          </a:p>
          <a:p>
            <a:pPr indent="-228600" lvl="0" marL="228600" rtl="0" algn="l">
              <a:lnSpc>
                <a:spcPct val="90000"/>
              </a:lnSpc>
              <a:spcBef>
                <a:spcPts val="1000"/>
              </a:spcBef>
              <a:spcAft>
                <a:spcPts val="0"/>
              </a:spcAft>
              <a:buClr>
                <a:schemeClr val="dk1"/>
              </a:buClr>
              <a:buSzPct val="100000"/>
              <a:buChar char="•"/>
            </a:pPr>
            <a:r>
              <a:rPr lang="en-US"/>
              <a:t>create table </a:t>
            </a:r>
            <a:r>
              <a:rPr b="1" lang="en-US"/>
              <a:t>account</a:t>
            </a:r>
            <a:r>
              <a:rPr lang="en-US"/>
              <a:t>(acctno int primary key, balance decimal (10,2), type char(10) , code char(10) , branchno, foreign key code reference bankbrach ,foreign key branchno references bankbranch)</a:t>
            </a:r>
            <a:endParaRPr/>
          </a:p>
          <a:p>
            <a:pPr indent="-228600" lvl="0" marL="228600" rtl="0" algn="l">
              <a:lnSpc>
                <a:spcPct val="90000"/>
              </a:lnSpc>
              <a:spcBef>
                <a:spcPts val="1000"/>
              </a:spcBef>
              <a:spcAft>
                <a:spcPts val="0"/>
              </a:spcAft>
              <a:buClr>
                <a:schemeClr val="dk1"/>
              </a:buClr>
              <a:buSzPct val="100000"/>
              <a:buChar char="•"/>
            </a:pPr>
            <a:r>
              <a:rPr lang="en-US"/>
              <a:t>create table </a:t>
            </a:r>
            <a:r>
              <a:rPr b="1" lang="en-US"/>
              <a:t>customer</a:t>
            </a:r>
            <a:r>
              <a:rPr lang="en-US"/>
              <a:t>(ssn char(10) primary key, name varchar(20),phone char(10), addr varchar(100))</a:t>
            </a:r>
            <a:endParaRPr/>
          </a:p>
          <a:p>
            <a:pPr indent="-228600" lvl="0" marL="228600" rtl="0" algn="l">
              <a:lnSpc>
                <a:spcPct val="90000"/>
              </a:lnSpc>
              <a:spcBef>
                <a:spcPts val="1000"/>
              </a:spcBef>
              <a:spcAft>
                <a:spcPts val="0"/>
              </a:spcAft>
              <a:buClr>
                <a:schemeClr val="dk1"/>
              </a:buClr>
              <a:buSzPct val="100000"/>
              <a:buChar char="•"/>
            </a:pPr>
            <a:r>
              <a:rPr lang="en-US"/>
              <a:t>create table </a:t>
            </a:r>
            <a:r>
              <a:rPr b="1" lang="en-US"/>
              <a:t>AC</a:t>
            </a:r>
            <a:r>
              <a:rPr lang="en-US"/>
              <a:t> (ssn char(10), actno int, primary key (ssn_actno), foreign key (ssn) references customer, foreign key (act_no) references account)</a:t>
            </a:r>
            <a:endParaRPr/>
          </a:p>
          <a:p>
            <a:pPr indent="-228600" lvl="0" marL="228600" rtl="0" algn="l">
              <a:lnSpc>
                <a:spcPct val="90000"/>
              </a:lnSpc>
              <a:spcBef>
                <a:spcPts val="1000"/>
              </a:spcBef>
              <a:spcAft>
                <a:spcPts val="0"/>
              </a:spcAft>
              <a:buClr>
                <a:schemeClr val="dk1"/>
              </a:buClr>
              <a:buSzPct val="100000"/>
              <a:buChar char="•"/>
            </a:pPr>
            <a:r>
              <a:rPr lang="en-US"/>
              <a:t>create table </a:t>
            </a:r>
            <a:r>
              <a:rPr b="1" lang="en-US"/>
              <a:t>LC</a:t>
            </a:r>
            <a:r>
              <a:rPr lang="en-US"/>
              <a:t> (ssn char(10), loanno int, primary key (ssn_actno), foreign key (ssn) references customer, foreign key (loanno) references loan)</a:t>
            </a:r>
            <a:endParaRPr/>
          </a:p>
        </p:txBody>
      </p:sp>
      <p:sp>
        <p:nvSpPr>
          <p:cNvPr id="2654" name="Google Shape;2654;p1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9" name="Shape 2659"/>
        <p:cNvGrpSpPr/>
        <p:nvPr/>
      </p:nvGrpSpPr>
      <p:grpSpPr>
        <a:xfrm>
          <a:off x="0" y="0"/>
          <a:ext cx="0" cy="0"/>
          <a:chOff x="0" y="0"/>
          <a:chExt cx="0" cy="0"/>
        </a:xfrm>
      </p:grpSpPr>
      <p:sp>
        <p:nvSpPr>
          <p:cNvPr id="2660" name="Google Shape;2660;p1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ERD Example</a:t>
            </a:r>
            <a:endParaRPr/>
          </a:p>
        </p:txBody>
      </p:sp>
      <p:sp>
        <p:nvSpPr>
          <p:cNvPr id="2661" name="Google Shape;2661;p147"/>
          <p:cNvSpPr txBox="1"/>
          <p:nvPr>
            <p:ph idx="1" type="body"/>
          </p:nvPr>
        </p:nvSpPr>
        <p:spPr>
          <a:xfrm>
            <a:off x="838200" y="1509311"/>
            <a:ext cx="10515600" cy="4983564"/>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A retail company keeps tracks of </a:t>
            </a:r>
            <a:r>
              <a:rPr b="0" i="0" lang="en-US">
                <a:latin typeface="Arial"/>
                <a:ea typeface="Arial"/>
                <a:cs typeface="Arial"/>
                <a:sym typeface="Arial"/>
              </a:rPr>
              <a:t>Customer, Order, Line Item, Part, Supplier, Nation.</a:t>
            </a:r>
            <a:endParaRPr/>
          </a:p>
          <a:p>
            <a:pPr indent="-228600" lvl="0" marL="228600" rtl="0" algn="l">
              <a:lnSpc>
                <a:spcPct val="90000"/>
              </a:lnSpc>
              <a:spcBef>
                <a:spcPts val="1000"/>
              </a:spcBef>
              <a:spcAft>
                <a:spcPts val="0"/>
              </a:spcAft>
              <a:buClr>
                <a:schemeClr val="dk1"/>
              </a:buClr>
              <a:buSzPct val="100000"/>
              <a:buChar char="•"/>
            </a:pPr>
            <a:r>
              <a:rPr lang="en-US">
                <a:latin typeface="Arial"/>
                <a:ea typeface="Arial"/>
                <a:cs typeface="Arial"/>
                <a:sym typeface="Arial"/>
              </a:rPr>
              <a:t>For customer, we keep track of name, id, and market segment. </a:t>
            </a:r>
            <a:endParaRPr/>
          </a:p>
          <a:p>
            <a:pPr indent="-228600" lvl="0" marL="228600" rtl="0" algn="l">
              <a:lnSpc>
                <a:spcPct val="90000"/>
              </a:lnSpc>
              <a:spcBef>
                <a:spcPts val="1000"/>
              </a:spcBef>
              <a:spcAft>
                <a:spcPts val="0"/>
              </a:spcAft>
              <a:buClr>
                <a:schemeClr val="dk1"/>
              </a:buClr>
              <a:buSzPct val="100000"/>
              <a:buChar char="•"/>
            </a:pPr>
            <a:r>
              <a:rPr b="0" i="0" lang="en-US">
                <a:latin typeface="Arial"/>
                <a:ea typeface="Arial"/>
                <a:cs typeface="Arial"/>
                <a:sym typeface="Arial"/>
              </a:rPr>
              <a:t>Customer makes  orders.  The systems stores order number, order total price and date of the order.</a:t>
            </a:r>
            <a:endParaRPr/>
          </a:p>
          <a:p>
            <a:pPr indent="-228600" lvl="0" marL="228600" rtl="0" algn="l">
              <a:lnSpc>
                <a:spcPct val="90000"/>
              </a:lnSpc>
              <a:spcBef>
                <a:spcPts val="1000"/>
              </a:spcBef>
              <a:spcAft>
                <a:spcPts val="0"/>
              </a:spcAft>
              <a:buClr>
                <a:schemeClr val="dk1"/>
              </a:buClr>
              <a:buSzPct val="100000"/>
              <a:buChar char="•"/>
            </a:pPr>
            <a:r>
              <a:rPr b="0" i="0" lang="en-US">
                <a:latin typeface="Arial"/>
                <a:ea typeface="Arial"/>
                <a:cs typeface="Arial"/>
                <a:sym typeface="Arial"/>
              </a:rPr>
              <a:t> Each </a:t>
            </a:r>
            <a:r>
              <a:rPr lang="en-US">
                <a:latin typeface="Arial"/>
                <a:ea typeface="Arial"/>
                <a:cs typeface="Arial"/>
                <a:sym typeface="Arial"/>
              </a:rPr>
              <a:t>order can have multiple line items. For each line item, we store </a:t>
            </a:r>
            <a:r>
              <a:rPr b="0" i="0" lang="en-US">
                <a:latin typeface="Arial"/>
                <a:ea typeface="Arial"/>
                <a:cs typeface="Arial"/>
                <a:sym typeface="Arial"/>
              </a:rPr>
              <a:t>quantity, extended price, and return flag. </a:t>
            </a:r>
            <a:endParaRPr/>
          </a:p>
          <a:p>
            <a:pPr indent="-228600" lvl="0" marL="228600" rtl="0" algn="l">
              <a:lnSpc>
                <a:spcPct val="90000"/>
              </a:lnSpc>
              <a:spcBef>
                <a:spcPts val="1000"/>
              </a:spcBef>
              <a:spcAft>
                <a:spcPts val="0"/>
              </a:spcAft>
              <a:buClr>
                <a:schemeClr val="dk1"/>
              </a:buClr>
              <a:buSzPct val="100000"/>
              <a:buChar char="•"/>
            </a:pPr>
            <a:r>
              <a:rPr lang="en-US">
                <a:latin typeface="Arial"/>
                <a:ea typeface="Arial"/>
                <a:cs typeface="Arial"/>
                <a:sym typeface="Arial"/>
              </a:rPr>
              <a:t>Each l</a:t>
            </a:r>
            <a:r>
              <a:rPr b="0" i="0" lang="en-US">
                <a:latin typeface="Arial"/>
                <a:ea typeface="Arial"/>
                <a:cs typeface="Arial"/>
                <a:sym typeface="Arial"/>
              </a:rPr>
              <a:t>ine item (with in an order is identified by line no) corresponds to a part, we store id for this part,  its   size, and  its retail price. The Supplier supplies these parts. We store supplier_id, name, address and account balance for supplier. </a:t>
            </a:r>
            <a:endParaRPr/>
          </a:p>
          <a:p>
            <a:pPr indent="-228600" lvl="0" marL="228600" rtl="0" algn="l">
              <a:lnSpc>
                <a:spcPct val="90000"/>
              </a:lnSpc>
              <a:spcBef>
                <a:spcPts val="1000"/>
              </a:spcBef>
              <a:spcAft>
                <a:spcPts val="0"/>
              </a:spcAft>
              <a:buClr>
                <a:schemeClr val="dk1"/>
              </a:buClr>
              <a:buSzPct val="100000"/>
              <a:buChar char="•"/>
            </a:pPr>
            <a:r>
              <a:rPr b="0" i="0" lang="en-US">
                <a:latin typeface="Arial"/>
                <a:ea typeface="Arial"/>
                <a:cs typeface="Arial"/>
                <a:sym typeface="Arial"/>
              </a:rPr>
              <a:t> Both suppliers and customers belongs to a nation. We store nation name, capital and region.w</a:t>
            </a:r>
            <a:endParaRPr/>
          </a:p>
        </p:txBody>
      </p:sp>
      <p:sp>
        <p:nvSpPr>
          <p:cNvPr id="2662" name="Google Shape;2662;p1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66" name="Shape 2666"/>
        <p:cNvGrpSpPr/>
        <p:nvPr/>
      </p:nvGrpSpPr>
      <p:grpSpPr>
        <a:xfrm>
          <a:off x="0" y="0"/>
          <a:ext cx="0" cy="0"/>
          <a:chOff x="0" y="0"/>
          <a:chExt cx="0" cy="0"/>
        </a:xfrm>
      </p:grpSpPr>
      <p:sp>
        <p:nvSpPr>
          <p:cNvPr id="2667" name="Google Shape;2667;p1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668" name="Google Shape;2668;p1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25000" lnSpcReduction="20000"/>
          </a:bodyPr>
          <a:lstStyle/>
          <a:p>
            <a:pPr indent="-228600" lvl="0" marL="228600" rtl="0" algn="l">
              <a:lnSpc>
                <a:spcPct val="90000"/>
              </a:lnSpc>
              <a:spcBef>
                <a:spcPts val="0"/>
              </a:spcBef>
              <a:spcAft>
                <a:spcPts val="0"/>
              </a:spcAft>
              <a:buClr>
                <a:schemeClr val="dk1"/>
              </a:buClr>
              <a:buSzPct val="100000"/>
              <a:buChar char="•"/>
            </a:pPr>
            <a:r>
              <a:rPr lang="en-US"/>
              <a:t>Employee(</a:t>
            </a:r>
            <a:endParaRPr/>
          </a:p>
          <a:p>
            <a:pPr indent="-228600" lvl="0" marL="228600" rtl="0" algn="l">
              <a:lnSpc>
                <a:spcPct val="90000"/>
              </a:lnSpc>
              <a:spcBef>
                <a:spcPts val="1000"/>
              </a:spcBef>
              <a:spcAft>
                <a:spcPts val="0"/>
              </a:spcAft>
              <a:buClr>
                <a:schemeClr val="dk1"/>
              </a:buClr>
              <a:buSzPct val="100000"/>
              <a:buChar char="•"/>
            </a:pPr>
            <a:r>
              <a:rPr lang="en-US"/>
              <a:t>SSN, fname, lname, minit, bdate, gender, salary, address,</a:t>
            </a:r>
            <a:endParaRPr/>
          </a:p>
          <a:p>
            <a:pPr indent="-228600" lvl="0" marL="228600" rtl="0" algn="l">
              <a:lnSpc>
                <a:spcPct val="90000"/>
              </a:lnSpc>
              <a:spcBef>
                <a:spcPts val="1000"/>
              </a:spcBef>
              <a:spcAft>
                <a:spcPts val="0"/>
              </a:spcAft>
              <a:buClr>
                <a:schemeClr val="dk1"/>
              </a:buClr>
              <a:buSzPct val="100000"/>
              <a:buChar char="•"/>
            </a:pPr>
            <a:r>
              <a:rPr lang="en-US"/>
              <a:t>d_number NOT NULL,</a:t>
            </a:r>
            <a:endParaRPr/>
          </a:p>
          <a:p>
            <a:pPr indent="-228600" lvl="0" marL="228600" rtl="0" algn="l">
              <a:lnSpc>
                <a:spcPct val="90000"/>
              </a:lnSpc>
              <a:spcBef>
                <a:spcPts val="1000"/>
              </a:spcBef>
              <a:spcAft>
                <a:spcPts val="0"/>
              </a:spcAft>
              <a:buClr>
                <a:schemeClr val="dk1"/>
              </a:buClr>
              <a:buSzPct val="100000"/>
              <a:buChar char="•"/>
            </a:pPr>
            <a:r>
              <a:rPr lang="en-US"/>
              <a:t>supervisor_ssn </a:t>
            </a:r>
            <a:endParaRPr/>
          </a:p>
          <a:p>
            <a:pPr indent="-228600" lvl="0" marL="228600" rtl="0" algn="l">
              <a:lnSpc>
                <a:spcPct val="90000"/>
              </a:lnSpc>
              <a:spcBef>
                <a:spcPts val="1000"/>
              </a:spcBef>
              <a:spcAft>
                <a:spcPts val="0"/>
              </a:spcAft>
              <a:buClr>
                <a:schemeClr val="dk1"/>
              </a:buClr>
              <a:buSzPct val="100000"/>
              <a:buChar char="•"/>
            </a:pPr>
            <a:r>
              <a:rPr lang="en-US"/>
              <a:t>primary key (SSN)</a:t>
            </a:r>
            <a:endParaRPr/>
          </a:p>
          <a:p>
            <a:pPr indent="-228600" lvl="0" marL="228600" rtl="0" algn="l">
              <a:lnSpc>
                <a:spcPct val="90000"/>
              </a:lnSpc>
              <a:spcBef>
                <a:spcPts val="1000"/>
              </a:spcBef>
              <a:spcAft>
                <a:spcPts val="0"/>
              </a:spcAft>
              <a:buClr>
                <a:schemeClr val="dk1"/>
              </a:buClr>
              <a:buSzPct val="100000"/>
              <a:buChar char="•"/>
            </a:pPr>
            <a:r>
              <a:rPr lang="en-US"/>
              <a:t> )</a:t>
            </a:r>
            <a:endParaRPr/>
          </a:p>
          <a:p>
            <a:pPr indent="-18415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Department(Number, Name)</a:t>
            </a:r>
            <a:endParaRPr/>
          </a:p>
          <a:p>
            <a:pPr indent="-228600" lvl="0" marL="228600" rtl="0" algn="l">
              <a:lnSpc>
                <a:spcPct val="90000"/>
              </a:lnSpc>
              <a:spcBef>
                <a:spcPts val="1000"/>
              </a:spcBef>
              <a:spcAft>
                <a:spcPts val="0"/>
              </a:spcAft>
              <a:buClr>
                <a:schemeClr val="dk1"/>
              </a:buClr>
              <a:buSzPct val="100000"/>
              <a:buChar char="•"/>
            </a:pPr>
            <a:r>
              <a:rPr lang="en-US"/>
              <a:t>Dept_loc(Number, location, </a:t>
            </a:r>
            <a:endParaRPr/>
          </a:p>
          <a:p>
            <a:pPr indent="-228600" lvl="0" marL="228600" rtl="0" algn="l">
              <a:lnSpc>
                <a:spcPct val="90000"/>
              </a:lnSpc>
              <a:spcBef>
                <a:spcPts val="1000"/>
              </a:spcBef>
              <a:spcAft>
                <a:spcPts val="0"/>
              </a:spcAft>
              <a:buClr>
                <a:schemeClr val="dk1"/>
              </a:buClr>
              <a:buSzPct val="100000"/>
              <a:buChar char="•"/>
            </a:pPr>
            <a:r>
              <a:rPr lang="en-US"/>
              <a:t>manager_ssn NOT NULL</a:t>
            </a:r>
            <a:endParaRPr/>
          </a:p>
          <a:p>
            <a:pPr indent="-228600" lvl="0" marL="228600" rtl="0" algn="l">
              <a:lnSpc>
                <a:spcPct val="90000"/>
              </a:lnSpc>
              <a:spcBef>
                <a:spcPts val="1000"/>
              </a:spcBef>
              <a:spcAft>
                <a:spcPts val="0"/>
              </a:spcAft>
              <a:buClr>
                <a:schemeClr val="dk1"/>
              </a:buClr>
              <a:buSzPct val="100000"/>
              <a:buChar char="•"/>
            </a:pPr>
            <a:r>
              <a:rPr lang="en-US"/>
              <a:t>primary key (Number, location))</a:t>
            </a:r>
            <a:endParaRPr/>
          </a:p>
          <a:p>
            <a:pPr indent="-184150" lvl="0" marL="228600" rtl="0" algn="l">
              <a:lnSpc>
                <a:spcPct val="90000"/>
              </a:lnSpc>
              <a:spcBef>
                <a:spcPts val="1000"/>
              </a:spcBef>
              <a:spcAft>
                <a:spcPts val="0"/>
              </a:spcAft>
              <a:buClr>
                <a:schemeClr val="dk1"/>
              </a:buClr>
              <a:buSzPct val="100000"/>
              <a:buNone/>
            </a:pPr>
            <a:r>
              <a:t/>
            </a:r>
            <a:endParaRPr/>
          </a:p>
          <a:p>
            <a:pPr indent="-18415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Project(Number, Name, Location, </a:t>
            </a:r>
            <a:endParaRPr/>
          </a:p>
          <a:p>
            <a:pPr indent="-228600" lvl="0" marL="228600" rtl="0" algn="l">
              <a:lnSpc>
                <a:spcPct val="90000"/>
              </a:lnSpc>
              <a:spcBef>
                <a:spcPts val="1000"/>
              </a:spcBef>
              <a:spcAft>
                <a:spcPts val="0"/>
              </a:spcAft>
              <a:buClr>
                <a:schemeClr val="dk1"/>
              </a:buClr>
              <a:buSzPct val="100000"/>
              <a:buChar char="•"/>
            </a:pPr>
            <a:r>
              <a:rPr lang="en-US"/>
              <a:t>department_number NOT NULL)</a:t>
            </a:r>
            <a:endParaRPr/>
          </a:p>
          <a:p>
            <a:pPr indent="-18415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Works_on(Project_number, ssn, hours</a:t>
            </a:r>
            <a:endParaRPr/>
          </a:p>
          <a:p>
            <a:pPr indent="-228600" lvl="0" marL="228600" rtl="0" algn="l">
              <a:lnSpc>
                <a:spcPct val="90000"/>
              </a:lnSpc>
              <a:spcBef>
                <a:spcPts val="1000"/>
              </a:spcBef>
              <a:spcAft>
                <a:spcPts val="0"/>
              </a:spcAft>
              <a:buClr>
                <a:schemeClr val="dk1"/>
              </a:buClr>
              <a:buSzPct val="100000"/>
              <a:buChar char="•"/>
            </a:pPr>
            <a:r>
              <a:rPr lang="en-US"/>
              <a:t> primary key (project_number, ssn))</a:t>
            </a:r>
            <a:endParaRPr/>
          </a:p>
          <a:p>
            <a:pPr indent="-18415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 </a:t>
            </a:r>
            <a:endParaRPr/>
          </a:p>
          <a:p>
            <a:pPr indent="-184150" lvl="0" marL="228600" rtl="0" algn="l">
              <a:lnSpc>
                <a:spcPct val="90000"/>
              </a:lnSpc>
              <a:spcBef>
                <a:spcPts val="1000"/>
              </a:spcBef>
              <a:spcAft>
                <a:spcPts val="0"/>
              </a:spcAft>
              <a:buClr>
                <a:schemeClr val="dk1"/>
              </a:buClr>
              <a:buSzPct val="100000"/>
              <a:buNone/>
            </a:pPr>
            <a:r>
              <a:t/>
            </a:r>
            <a:endParaRPr/>
          </a:p>
        </p:txBody>
      </p:sp>
      <p:sp>
        <p:nvSpPr>
          <p:cNvPr id="2669" name="Google Shape;2669;p1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