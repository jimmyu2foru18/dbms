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84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6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82.xml"/>
  <Override ContentType="application/vnd.openxmlformats-officedocument.presentationml.notesSlide+xml" PartName="/ppt/notesSlides/notesSlide8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77.xml"/>
  <Override ContentType="application/vnd.openxmlformats-officedocument.presentationml.notesSlide+xml" PartName="/ppt/notesSlides/notesSlide90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8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8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80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87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8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75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89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78.xml"/>
  <Override ContentType="application/vnd.openxmlformats-officedocument.presentationml.notesSlide+xml" PartName="/ppt/notesSlides/notesSlide79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83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78.xml"/>
  <Override ContentType="application/vnd.openxmlformats-officedocument.presentationml.slide+xml" PartName="/ppt/slides/slide86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69.xml"/>
  <Override ContentType="application/vnd.openxmlformats-officedocument.presentationml.slide+xml" PartName="/ppt/slides/slide8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77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6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84.xml"/>
  <Override ContentType="application/vnd.openxmlformats-officedocument.presentationml.slide+xml" PartName="/ppt/slides/slide37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67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66.xml"/>
  <Override ContentType="application/vnd.openxmlformats-officedocument.presentationml.slide+xml" PartName="/ppt/slides/slide79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83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7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82.xml"/>
  <Override ContentType="application/vnd.openxmlformats-officedocument.presentationml.slide+xml" PartName="/ppt/slides/slide39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72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1.xml"/>
  <Override ContentType="application/vnd.openxmlformats-officedocument.presentationml.slide+xml" PartName="/ppt/slides/slide90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8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75.xml"/>
  <Override ContentType="application/vnd.openxmlformats-officedocument.presentationml.slide+xml" PartName="/ppt/slides/slide76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80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87.xml"/>
  <Override ContentType="application/vnd.openxmlformats-officedocument.presentationml.slide+xml" PartName="/ppt/slides/slide74.xml"/>
  <Override ContentType="application/vnd.openxmlformats-officedocument.presentationml.slide+xml" PartName="/ppt/slides/slide88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</p:sldIdLst>
  <p:sldSz cy="6858000" cx="12192000"/>
  <p:notesSz cx="6858000" cy="9144000"/>
  <p:embeddedFontLst>
    <p:embeddedFont>
      <p:font typeface="Noto Sans Symbols"/>
      <p:regular r:id="rId97"/>
      <p:bold r:id="rId9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F7F3F90-F409-4991-A1C1-19F25B11114E}">
  <a:tblStyle styleId="{CF7F3F90-F409-4991-A1C1-19F25B11114E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7243359E-227B-4974-B2ED-5EDE406F0A3F}" styleName="Table_1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F3500A4C-2BD7-46E5-876E-577A631CE535}" styleName="Table_2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>
          <a:top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bottom>
        </a:tcBdr>
      </a:tcStyle>
    </a:band1H>
    <a:band2H>
      <a:tcTxStyle/>
    </a:band2H>
    <a:band1V>
      <a:tcTxStyle/>
      <a:tcStyle>
        <a:tcBdr>
          <a:left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right>
        </a:tcBdr>
      </a:tcStyle>
    </a:band1V>
    <a:band2V>
      <a:tcTxStyle/>
      <a:tcStyle>
        <a:tcBdr>
          <a:left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right>
        </a:tcBdr>
      </a:tcStyle>
    </a:band2V>
    <a:lastCol>
      <a:tcTxStyle b="on" i="off"/>
    </a:lastCol>
    <a:firstCol>
      <a:tcTxStyle b="on" i="off"/>
    </a:firstCol>
    <a:lastRow>
      <a:tcTxStyle b="on" i="off"/>
      <a:tcStyle>
        <a:tcBdr>
          <a:top>
            <a:ln cap="flat" cmpd="sng" w="508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top>
        </a:tcBdr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95" Type="http://schemas.openxmlformats.org/officeDocument/2006/relationships/slide" Target="slides/slide89.xml"/><Relationship Id="rId94" Type="http://schemas.openxmlformats.org/officeDocument/2006/relationships/slide" Target="slides/slide88.xml"/><Relationship Id="rId97" Type="http://schemas.openxmlformats.org/officeDocument/2006/relationships/font" Target="fonts/NotoSansSymbols-regular.fntdata"/><Relationship Id="rId96" Type="http://schemas.openxmlformats.org/officeDocument/2006/relationships/slide" Target="slides/slide90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98" Type="http://schemas.openxmlformats.org/officeDocument/2006/relationships/font" Target="fonts/NotoSansSymbols-bold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91" Type="http://schemas.openxmlformats.org/officeDocument/2006/relationships/slide" Target="slides/slide85.xml"/><Relationship Id="rId90" Type="http://schemas.openxmlformats.org/officeDocument/2006/relationships/slide" Target="slides/slide84.xml"/><Relationship Id="rId93" Type="http://schemas.openxmlformats.org/officeDocument/2006/relationships/slide" Target="slides/slide87.xml"/><Relationship Id="rId92" Type="http://schemas.openxmlformats.org/officeDocument/2006/relationships/slide" Target="slides/slide8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Relationship Id="rId84" Type="http://schemas.openxmlformats.org/officeDocument/2006/relationships/slide" Target="slides/slide78.xml"/><Relationship Id="rId83" Type="http://schemas.openxmlformats.org/officeDocument/2006/relationships/slide" Target="slides/slide77.xml"/><Relationship Id="rId86" Type="http://schemas.openxmlformats.org/officeDocument/2006/relationships/slide" Target="slides/slide80.xml"/><Relationship Id="rId85" Type="http://schemas.openxmlformats.org/officeDocument/2006/relationships/slide" Target="slides/slide79.xml"/><Relationship Id="rId88" Type="http://schemas.openxmlformats.org/officeDocument/2006/relationships/slide" Target="slides/slide82.xml"/><Relationship Id="rId87" Type="http://schemas.openxmlformats.org/officeDocument/2006/relationships/slide" Target="slides/slide81.xml"/><Relationship Id="rId89" Type="http://schemas.openxmlformats.org/officeDocument/2006/relationships/slide" Target="slides/slide83.xml"/><Relationship Id="rId80" Type="http://schemas.openxmlformats.org/officeDocument/2006/relationships/slide" Target="slides/slide74.xml"/><Relationship Id="rId82" Type="http://schemas.openxmlformats.org/officeDocument/2006/relationships/slide" Target="slides/slide76.xml"/><Relationship Id="rId81" Type="http://schemas.openxmlformats.org/officeDocument/2006/relationships/slide" Target="slides/slide75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73" Type="http://schemas.openxmlformats.org/officeDocument/2006/relationships/slide" Target="slides/slide67.xml"/><Relationship Id="rId72" Type="http://schemas.openxmlformats.org/officeDocument/2006/relationships/slide" Target="slides/slide66.xml"/><Relationship Id="rId75" Type="http://schemas.openxmlformats.org/officeDocument/2006/relationships/slide" Target="slides/slide69.xml"/><Relationship Id="rId74" Type="http://schemas.openxmlformats.org/officeDocument/2006/relationships/slide" Target="slides/slide68.xml"/><Relationship Id="rId77" Type="http://schemas.openxmlformats.org/officeDocument/2006/relationships/slide" Target="slides/slide71.xml"/><Relationship Id="rId76" Type="http://schemas.openxmlformats.org/officeDocument/2006/relationships/slide" Target="slides/slide70.xml"/><Relationship Id="rId79" Type="http://schemas.openxmlformats.org/officeDocument/2006/relationships/slide" Target="slides/slide73.xml"/><Relationship Id="rId78" Type="http://schemas.openxmlformats.org/officeDocument/2006/relationships/slide" Target="slides/slide72.xml"/><Relationship Id="rId71" Type="http://schemas.openxmlformats.org/officeDocument/2006/relationships/slide" Target="slides/slide65.xml"/><Relationship Id="rId70" Type="http://schemas.openxmlformats.org/officeDocument/2006/relationships/slide" Target="slides/slide64.xml"/><Relationship Id="rId62" Type="http://schemas.openxmlformats.org/officeDocument/2006/relationships/slide" Target="slides/slide56.xml"/><Relationship Id="rId61" Type="http://schemas.openxmlformats.org/officeDocument/2006/relationships/slide" Target="slides/slide55.xml"/><Relationship Id="rId64" Type="http://schemas.openxmlformats.org/officeDocument/2006/relationships/slide" Target="slides/slide58.xml"/><Relationship Id="rId63" Type="http://schemas.openxmlformats.org/officeDocument/2006/relationships/slide" Target="slides/slide57.xml"/><Relationship Id="rId66" Type="http://schemas.openxmlformats.org/officeDocument/2006/relationships/slide" Target="slides/slide60.xml"/><Relationship Id="rId65" Type="http://schemas.openxmlformats.org/officeDocument/2006/relationships/slide" Target="slides/slide59.xml"/><Relationship Id="rId68" Type="http://schemas.openxmlformats.org/officeDocument/2006/relationships/slide" Target="slides/slide62.xml"/><Relationship Id="rId67" Type="http://schemas.openxmlformats.org/officeDocument/2006/relationships/slide" Target="slides/slide61.xml"/><Relationship Id="rId60" Type="http://schemas.openxmlformats.org/officeDocument/2006/relationships/slide" Target="slides/slide54.xml"/><Relationship Id="rId69" Type="http://schemas.openxmlformats.org/officeDocument/2006/relationships/slide" Target="slides/slide6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55" Type="http://schemas.openxmlformats.org/officeDocument/2006/relationships/slide" Target="slides/slide49.xml"/><Relationship Id="rId54" Type="http://schemas.openxmlformats.org/officeDocument/2006/relationships/slide" Target="slides/slide48.xml"/><Relationship Id="rId57" Type="http://schemas.openxmlformats.org/officeDocument/2006/relationships/slide" Target="slides/slide51.xml"/><Relationship Id="rId56" Type="http://schemas.openxmlformats.org/officeDocument/2006/relationships/slide" Target="slides/slide50.xml"/><Relationship Id="rId59" Type="http://schemas.openxmlformats.org/officeDocument/2006/relationships/slide" Target="slides/slide53.xml"/><Relationship Id="rId58" Type="http://schemas.openxmlformats.org/officeDocument/2006/relationships/slide" Target="slides/slide5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" name="Google Shape;105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7" name="Google Shape;397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 -&gt; D, B🡪 C, C-&gt;D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2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9" name="Google Shape;419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p2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7" name="Google Shape;457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8" name="Google Shape;468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9" name="Google Shape;479;p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9" name="Google Shape;489;p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8" name="Google Shape;498;p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3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3" name="Google Shape;513;p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3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3" name="Google Shape;523;p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3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6" name="Google Shape;536;p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3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1" name="Google Shape;551;p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p3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6" name="Google Shape;566;p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p4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9" name="Google Shape;579;p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2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p4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4" name="Google Shape;594;p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7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p4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9" name="Google Shape;609;p4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p4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3" name="Google Shape;623;p4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5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p4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7" name="Google Shape;637;p4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9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Google Shape;650;p4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1" name="Google Shape;651;p4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7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Google Shape;658;p4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9" name="Google Shape;659;p4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60" name="Google Shape;660;p4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2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p4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4" name="Google Shape;674;p4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75" name="Google Shape;675;p4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3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Google Shape;684;p4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5" name="Google Shape;685;p4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86" name="Google Shape;686;p4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7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Google Shape;698;p4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9" name="Google Shape;699;p4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00" name="Google Shape;700;p4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4" name="Shape 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" name="Google Shape;715;p5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6" name="Google Shape;716;p5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17" name="Google Shape;717;p5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2" name="Shape 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" name="Google Shape;733;p5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4" name="Google Shape;734;p5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35" name="Google Shape;735;p5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1" name="Shape 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2" name="Google Shape;752;p5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3" name="Google Shape;753;p5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3" name="Shape 7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" name="Google Shape;764;p5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5" name="Google Shape;765;p5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6" name="Google Shape;766;p5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6" name="Shape 7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7" name="Google Shape;777;p5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8" name="Google Shape;778;p5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9" name="Google Shape;779;p5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9" name="Shape 7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0" name="Google Shape;790;p5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1" name="Google Shape;791;p5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8" name="Shape 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9" name="Google Shape;799;p5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0" name="Google Shape;800;p5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1" name="Google Shape;801;p5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0" name="Shape 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" name="Google Shape;811;p5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2" name="Google Shape;812;p5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13" name="Google Shape;813;p5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5" name="Shape 8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6" name="Google Shape;826;p5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7" name="Google Shape;827;p5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28" name="Google Shape;828;p5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0" name="Shape 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1" name="Google Shape;841;p5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2" name="Google Shape;842;p5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43" name="Google Shape;843;p5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8" name="Shape 8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9" name="Google Shape;859;p6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0" name="Google Shape;860;p6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61" name="Google Shape;861;p6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8" name="Shape 8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9" name="Google Shape;879;p6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0" name="Google Shape;880;p6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81" name="Google Shape;881;p6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8" name="Shape 8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9" name="Google Shape;899;p6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0" name="Google Shape;900;p6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6" name="Shape 9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7" name="Google Shape;907;p6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8" name="Google Shape;908;p6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8" name="Shape 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9" name="Google Shape;919;p6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0" name="Google Shape;920;p6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7" name="Shape 9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8" name="Google Shape;928;p6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9" name="Google Shape;929;p6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8" name="Shape 9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9" name="Google Shape;939;p6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0" name="Google Shape;940;p6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9" name="Shape 9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0" name="Google Shape;950;p6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1" name="Google Shape;951;p6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7" name="Shape 9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8" name="Google Shape;958;p6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9" name="Google Shape;959;p6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5" name="Shape 9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6" name="Google Shape;966;p6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7" name="Google Shape;967;p6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3" name="Shape 9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4" name="Google Shape;974;p7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5" name="Google Shape;975;p7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3" name="Shape 9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4" name="Google Shape;984;p7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5" name="Google Shape;985;p7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4" name="Shape 9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5" name="Google Shape;995;p7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6" name="Google Shape;996;p7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9" name="Shape 10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0" name="Google Shape;1010;p7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1" name="Google Shape;1011;p7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3" name="Shape 10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" name="Google Shape;1024;p7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5" name="Google Shape;1025;p7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2" name="Shape 10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Google Shape;1033;p7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4" name="Google Shape;1034;p7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35" name="Google Shape;1035;p7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4" name="Shape 10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5" name="Google Shape;1045;p7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6" name="Google Shape;1046;p7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3" name="Shape 10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" name="Google Shape;1054;p7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5" name="Google Shape;1055;p7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4" name="Shape 10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5" name="Google Shape;1065;p7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6" name="Google Shape;1066;p7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67" name="Google Shape;1067;p7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8" name="Shape 10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9" name="Google Shape;1079;p7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0" name="Google Shape;1080;p7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81" name="Google Shape;1081;p7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3" name="Shape 10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4" name="Google Shape;1094;p8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5" name="Google Shape;1095;p8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96" name="Google Shape;1096;p8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9" name="Shape 1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0" name="Google Shape;1110;p8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1" name="Google Shape;1111;p8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12" name="Google Shape;1112;p8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0" name="Shape 1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1" name="Google Shape;1121;p8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2" name="Google Shape;1122;p8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23" name="Google Shape;1123;p8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2" name="Shape 1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3" name="Google Shape;1133;p8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4" name="Google Shape;1134;p8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35" name="Google Shape;1135;p8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4" name="Shape 1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5" name="Google Shape;1145;p8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6" name="Google Shape;1146;p8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47" name="Google Shape;1147;p8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6" name="Shape 1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" name="Google Shape;1157;p8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8" name="Google Shape;1158;p8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59" name="Google Shape;1159;p8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5" name="Shape 1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6" name="Google Shape;1176;p8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7" name="Google Shape;1177;p8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78" name="Google Shape;1178;p8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4" name="Shape 1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5" name="Google Shape;1195;p8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6" name="Google Shape;1196;p8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97" name="Google Shape;1197;p8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6" name="Shape 1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7" name="Google Shape;1207;p8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8" name="Google Shape;1208;p8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7" name="Shape 1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" name="Google Shape;1218;p8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9" name="Google Shape;1219;p8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20" name="Google Shape;1220;p8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8" name="Shape 1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" name="Google Shape;1239;p9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0" name="Google Shape;1240;p9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0" name="Google Shape;20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0" name="Google Shape;50;p7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1" name="Google Shape;51;p7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2" name="Google Shape;52;p7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3" name="Google Shape;53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3" name="Google Shape;63;p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4" name="Google Shape;64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1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1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1" name="Google Shape;71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3" name="Google Shape;83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" name="Google Shape;15;p1"/>
          <p:cNvSpPr/>
          <p:nvPr/>
        </p:nvSpPr>
        <p:spPr>
          <a:xfrm>
            <a:off x="0" y="-49167"/>
            <a:ext cx="12192000" cy="262759"/>
          </a:xfrm>
          <a:prstGeom prst="rect">
            <a:avLst/>
          </a:prstGeom>
          <a:solidFill>
            <a:srgbClr val="54813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4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  Fall 2021</a:t>
            </a:r>
            <a:endParaRPr/>
          </a:p>
        </p:txBody>
      </p:sp>
      <p:pic>
        <p:nvPicPr>
          <p:cNvPr id="16" name="Google Shape;16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6311900"/>
            <a:ext cx="866825" cy="54610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4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2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2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2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2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5.png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0.xml"/><Relationship Id="rId3" Type="http://schemas.openxmlformats.org/officeDocument/2006/relationships/image" Target="../media/image7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1.xml"/><Relationship Id="rId3" Type="http://schemas.openxmlformats.org/officeDocument/2006/relationships/image" Target="../media/image13.png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2.xml"/><Relationship Id="rId3" Type="http://schemas.openxmlformats.org/officeDocument/2006/relationships/image" Target="../media/image14.png"/><Relationship Id="rId4" Type="http://schemas.openxmlformats.org/officeDocument/2006/relationships/image" Target="../media/image12.png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3.xml"/><Relationship Id="rId3" Type="http://schemas.openxmlformats.org/officeDocument/2006/relationships/image" Target="../media/image6.png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8.xml"/><Relationship Id="rId3" Type="http://schemas.openxmlformats.org/officeDocument/2006/relationships/image" Target="../media/image8.png"/></Relationships>
</file>

<file path=ppt/slides/_rels/slide7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9.xml"/><Relationship Id="rId3" Type="http://schemas.openxmlformats.org/officeDocument/2006/relationships/image" Target="../media/image9.png"/></Relationships>
</file>

<file path=ppt/slides/_rels/slide8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1.xml"/></Relationships>
</file>

<file path=ppt/slides/_rels/slide8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2.xml"/></Relationships>
</file>

<file path=ppt/slides/_rels/slide8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3.xml"/></Relationships>
</file>

<file path=ppt/slides/_rels/slide8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4.xml"/></Relationships>
</file>

<file path=ppt/slides/_rels/slide8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5.xml"/></Relationships>
</file>

<file path=ppt/slides/_rels/slide8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6.xml"/></Relationships>
</file>

<file path=ppt/slides/_rels/slide8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7.xml"/></Relationships>
</file>

<file path=ppt/slides/_rels/slide8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8.xml"/></Relationships>
</file>

<file path=ppt/slides/_rels/slide8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9.xml"/></Relationships>
</file>

<file path=ppt/slides/_rels/slide9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3"/>
          <p:cNvSpPr txBox="1"/>
          <p:nvPr>
            <p:ph type="ctrTitle"/>
          </p:nvPr>
        </p:nvSpPr>
        <p:spPr>
          <a:xfrm>
            <a:off x="1524000" y="19732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n-US"/>
              <a:t>Design Theory</a:t>
            </a:r>
            <a:endParaRPr/>
          </a:p>
        </p:txBody>
      </p:sp>
      <p:grpSp>
        <p:nvGrpSpPr>
          <p:cNvPr id="91" name="Google Shape;91;p13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92" name="Google Shape;92;p13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1" sz="14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" name="Google Shape;93;p13"/>
            <p:cNvSpPr txBox="1"/>
            <p:nvPr/>
          </p:nvSpPr>
          <p:spPr>
            <a:xfrm>
              <a:off x="188780" y="-22510"/>
              <a:ext cx="1205073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1400" u="none" cap="none" strike="noStrike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Design Theory</a:t>
              </a: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n-US"/>
              <a:t>1. Normal forms &amp; functional dependencies</a:t>
            </a:r>
            <a:endParaRPr/>
          </a:p>
        </p:txBody>
      </p:sp>
      <p:sp>
        <p:nvSpPr>
          <p:cNvPr id="99" name="Google Shape;99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100" name="Google Shape;100;p14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101" name="Google Shape;101;p14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1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" name="Google Shape;102;p14"/>
            <p:cNvSpPr txBox="1"/>
            <p:nvPr/>
          </p:nvSpPr>
          <p:spPr>
            <a:xfrm>
              <a:off x="188780" y="-22510"/>
              <a:ext cx="2109167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140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Design Theory  &gt;  Section 1</a:t>
              </a:r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5"/>
          <p:cNvSpPr/>
          <p:nvPr/>
        </p:nvSpPr>
        <p:spPr>
          <a:xfrm>
            <a:off x="0" y="4661338"/>
            <a:ext cx="8610600" cy="882869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What you will learn about in this section</a:t>
            </a:r>
            <a:endParaRPr/>
          </a:p>
        </p:txBody>
      </p:sp>
      <p:sp>
        <p:nvSpPr>
          <p:cNvPr id="110" name="Google Shape;110;p15"/>
          <p:cNvSpPr txBox="1"/>
          <p:nvPr>
            <p:ph idx="1" type="body"/>
          </p:nvPr>
        </p:nvSpPr>
        <p:spPr>
          <a:xfrm>
            <a:off x="838200" y="1825624"/>
            <a:ext cx="10515600" cy="41757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14350" lvl="0" marL="5143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AutoNum type="arabicPeriod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Overview of design theory &amp; normal forms</a:t>
            </a:r>
            <a:endParaRPr/>
          </a:p>
          <a:p>
            <a:pPr indent="-336550" lvl="0" marL="5143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514350" lvl="0" marL="5143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AutoNum type="arabicPeriod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Data anomalies &amp; constraints</a:t>
            </a:r>
            <a:endParaRPr/>
          </a:p>
          <a:p>
            <a:pPr indent="-336550" lvl="0" marL="5143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514350" lvl="0" marL="5143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AutoNum type="arabicPeriod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Functional dependencies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112" name="Google Shape;112;p15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113" name="Google Shape;113;p15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1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" name="Google Shape;114;p15"/>
            <p:cNvSpPr txBox="1"/>
            <p:nvPr/>
          </p:nvSpPr>
          <p:spPr>
            <a:xfrm>
              <a:off x="188780" y="-22510"/>
              <a:ext cx="2109167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140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Design Theory  &gt;  Section 1</a:t>
              </a:r>
              <a:endParaRPr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Design Theory</a:t>
            </a:r>
            <a:endParaRPr/>
          </a:p>
        </p:txBody>
      </p:sp>
      <p:sp>
        <p:nvSpPr>
          <p:cNvPr id="120" name="Google Shape;120;p1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Design theory is about how to represent your data to avoid </a:t>
            </a:r>
            <a:r>
              <a:rPr b="1" i="1" lang="en-US"/>
              <a:t>anomalies</a:t>
            </a:r>
            <a:r>
              <a:rPr lang="en-US"/>
              <a:t>. 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It is a mostly mechanical process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Tools can carry out routine portions</a:t>
            </a:r>
            <a:endParaRPr/>
          </a:p>
          <a:p>
            <a:pPr indent="-762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i="1" lang="en-US"/>
              <a:t>We have a notebook implementing all algorithms!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i="1" lang="en-US"/>
              <a:t>We’ll play with it in the activities!</a:t>
            </a:r>
            <a:endParaRPr/>
          </a:p>
        </p:txBody>
      </p:sp>
      <p:grpSp>
        <p:nvGrpSpPr>
          <p:cNvPr id="121" name="Google Shape;121;p16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122" name="Google Shape;122;p16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1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" name="Google Shape;123;p16"/>
            <p:cNvSpPr txBox="1"/>
            <p:nvPr/>
          </p:nvSpPr>
          <p:spPr>
            <a:xfrm>
              <a:off x="188780" y="-22510"/>
              <a:ext cx="3030125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140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Design Theory  &gt;  Section 1  &gt;  Overview</a:t>
              </a:r>
              <a:endParaRPr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Normal Forms</a:t>
            </a:r>
            <a:endParaRPr/>
          </a:p>
        </p:txBody>
      </p:sp>
      <p:sp>
        <p:nvSpPr>
          <p:cNvPr id="129" name="Google Shape;129;p17"/>
          <p:cNvSpPr txBox="1"/>
          <p:nvPr>
            <p:ph idx="1" type="body"/>
          </p:nvPr>
        </p:nvSpPr>
        <p:spPr>
          <a:xfrm>
            <a:off x="838200" y="1554480"/>
            <a:ext cx="10515600" cy="46224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u="sng"/>
              <a:t>1</a:t>
            </a:r>
            <a:r>
              <a:rPr baseline="30000" lang="en-US" u="sng"/>
              <a:t>st</a:t>
            </a:r>
            <a:r>
              <a:rPr lang="en-US" u="sng"/>
              <a:t> Normal Form (1NF)</a:t>
            </a:r>
            <a:r>
              <a:rPr lang="en-US"/>
              <a:t> = All tables are flat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i="1" u="sng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2800"/>
              <a:buChar char="•"/>
            </a:pPr>
            <a:r>
              <a:rPr i="1" lang="en-US" u="sng">
                <a:solidFill>
                  <a:srgbClr val="7F7F7F"/>
                </a:solidFill>
              </a:rPr>
              <a:t>2</a:t>
            </a:r>
            <a:r>
              <a:rPr baseline="30000" i="1" lang="en-US" u="sng">
                <a:solidFill>
                  <a:srgbClr val="7F7F7F"/>
                </a:solidFill>
              </a:rPr>
              <a:t>nd</a:t>
            </a:r>
            <a:r>
              <a:rPr i="1" lang="en-US" u="sng">
                <a:solidFill>
                  <a:srgbClr val="7F7F7F"/>
                </a:solidFill>
              </a:rPr>
              <a:t> Normal Form</a:t>
            </a:r>
            <a:r>
              <a:rPr i="1" lang="en-US">
                <a:solidFill>
                  <a:srgbClr val="7F7F7F"/>
                </a:solidFill>
              </a:rPr>
              <a:t> = disused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b="1" u="sng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US" u="sng"/>
              <a:t>Boyce-Codd Normal Form (BCNF)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b="1" u="sng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US" u="sng"/>
              <a:t>3</a:t>
            </a:r>
            <a:r>
              <a:rPr b="1" baseline="30000" lang="en-US" u="sng"/>
              <a:t>rd</a:t>
            </a:r>
            <a:r>
              <a:rPr b="1" lang="en-US" u="sng"/>
              <a:t> Normal Form (3NF)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i="1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i="1" lang="en-US" u="sng"/>
              <a:t>4</a:t>
            </a:r>
            <a:r>
              <a:rPr baseline="30000" i="1" lang="en-US" u="sng"/>
              <a:t>th </a:t>
            </a:r>
            <a:r>
              <a:rPr i="1" lang="en-US" u="sng"/>
              <a:t>and 5</a:t>
            </a:r>
            <a:r>
              <a:rPr baseline="30000" i="1" lang="en-US" u="sng"/>
              <a:t>th</a:t>
            </a:r>
            <a:r>
              <a:rPr i="1" lang="en-US" u="sng"/>
              <a:t> Normal Forms</a:t>
            </a:r>
            <a:r>
              <a:rPr i="1" lang="en-US"/>
              <a:t> = see text books</a:t>
            </a:r>
            <a:endParaRPr/>
          </a:p>
        </p:txBody>
      </p:sp>
      <p:grpSp>
        <p:nvGrpSpPr>
          <p:cNvPr id="130" name="Google Shape;130;p17"/>
          <p:cNvGrpSpPr/>
          <p:nvPr/>
        </p:nvGrpSpPr>
        <p:grpSpPr>
          <a:xfrm>
            <a:off x="502920" y="3273552"/>
            <a:ext cx="9290304" cy="2139696"/>
            <a:chOff x="502920" y="3273552"/>
            <a:chExt cx="9290304" cy="2139696"/>
          </a:xfrm>
        </p:grpSpPr>
        <p:sp>
          <p:nvSpPr>
            <p:cNvPr id="131" name="Google Shape;131;p17"/>
            <p:cNvSpPr/>
            <p:nvPr/>
          </p:nvSpPr>
          <p:spPr>
            <a:xfrm>
              <a:off x="502920" y="3273552"/>
              <a:ext cx="9290304" cy="2139696"/>
            </a:xfrm>
            <a:prstGeom prst="roundRect">
              <a:avLst>
                <a:gd fmla="val 16667" name="adj"/>
              </a:avLst>
            </a:prstGeom>
            <a:solidFill>
              <a:schemeClr val="accent1">
                <a:alpha val="200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" name="Google Shape;132;p17"/>
            <p:cNvSpPr/>
            <p:nvPr/>
          </p:nvSpPr>
          <p:spPr>
            <a:xfrm>
              <a:off x="6254496" y="3538728"/>
              <a:ext cx="374904" cy="1609344"/>
            </a:xfrm>
            <a:prstGeom prst="rightBrace">
              <a:avLst>
                <a:gd fmla="val 8333" name="adj1"/>
                <a:gd fmla="val 50000" name="adj2"/>
              </a:avLst>
            </a:prstGeom>
            <a:noFill/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" name="Google Shape;133;p17"/>
            <p:cNvSpPr txBox="1"/>
            <p:nvPr/>
          </p:nvSpPr>
          <p:spPr>
            <a:xfrm>
              <a:off x="6839713" y="3373904"/>
              <a:ext cx="2862071" cy="19389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DB designs based on </a:t>
              </a:r>
              <a:r>
                <a:rPr i="1"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functional dependencies</a:t>
              </a: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, intended to prevent data </a:t>
              </a:r>
              <a:r>
                <a:rPr b="1" i="1"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anomalies</a:t>
              </a:r>
              <a:endParaRPr/>
            </a:p>
          </p:txBody>
        </p:sp>
      </p:grpSp>
      <p:sp>
        <p:nvSpPr>
          <p:cNvPr id="134" name="Google Shape;134;p17"/>
          <p:cNvSpPr txBox="1"/>
          <p:nvPr/>
        </p:nvSpPr>
        <p:spPr>
          <a:xfrm>
            <a:off x="10128504" y="3743235"/>
            <a:ext cx="1700783" cy="1200329"/>
          </a:xfrm>
          <a:prstGeom prst="rect">
            <a:avLst/>
          </a:prstGeom>
          <a:solidFill>
            <a:srgbClr val="FFF2CC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Our focus in this lecture + next one</a:t>
            </a:r>
            <a:endParaRPr/>
          </a:p>
        </p:txBody>
      </p:sp>
      <p:grpSp>
        <p:nvGrpSpPr>
          <p:cNvPr id="135" name="Google Shape;135;p17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136" name="Google Shape;136;p17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1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7" name="Google Shape;137;p17"/>
            <p:cNvSpPr txBox="1"/>
            <p:nvPr/>
          </p:nvSpPr>
          <p:spPr>
            <a:xfrm>
              <a:off x="188780" y="-22510"/>
              <a:ext cx="3030125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140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Design Theory  &gt;  Section 1  &gt;  Overview</a:t>
              </a:r>
              <a:endParaRPr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1</a:t>
            </a:r>
            <a:r>
              <a:rPr baseline="30000" lang="en-US"/>
              <a:t>st</a:t>
            </a:r>
            <a:r>
              <a:rPr lang="en-US"/>
              <a:t> Normal Form (1NF)</a:t>
            </a:r>
            <a:endParaRPr/>
          </a:p>
        </p:txBody>
      </p:sp>
      <p:graphicFrame>
        <p:nvGraphicFramePr>
          <p:cNvPr id="143" name="Google Shape;143;p18"/>
          <p:cNvGraphicFramePr/>
          <p:nvPr/>
        </p:nvGraphicFramePr>
        <p:xfrm>
          <a:off x="1192992" y="194976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{CF7F3F90-F409-4991-A1C1-19F25B11114E}</a:tableStyleId>
              </a:tblPr>
              <a:tblGrid>
                <a:gridCol w="1654250"/>
                <a:gridCol w="257257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800" u="none" cap="none" strike="noStrike"/>
                        <a:t>Student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800" u="none" cap="none" strike="noStrike"/>
                        <a:t>Courses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cap="none" strike="noStrike"/>
                        <a:t>Mary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{CS145,CS229}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Joe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{CS145,CS106}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…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…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44" name="Google Shape;144;p18"/>
          <p:cNvSpPr txBox="1"/>
          <p:nvPr/>
        </p:nvSpPr>
        <p:spPr>
          <a:xfrm>
            <a:off x="1730300" y="4474090"/>
            <a:ext cx="3152205" cy="6155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3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Violates 1NF. </a:t>
            </a:r>
            <a:endParaRPr/>
          </a:p>
        </p:txBody>
      </p:sp>
      <p:sp>
        <p:nvSpPr>
          <p:cNvPr id="145" name="Google Shape;145;p18"/>
          <p:cNvSpPr txBox="1"/>
          <p:nvPr/>
        </p:nvSpPr>
        <p:spPr>
          <a:xfrm>
            <a:off x="2127250" y="5875424"/>
            <a:ext cx="8212667" cy="615553"/>
          </a:xfrm>
          <a:prstGeom prst="rect">
            <a:avLst/>
          </a:prstGeom>
          <a:solidFill>
            <a:srgbClr val="E1EFD8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1NF Constraint: </a:t>
            </a:r>
            <a:r>
              <a:rPr lang="en-US" sz="3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Types must be atomic!</a:t>
            </a:r>
            <a:endParaRPr/>
          </a:p>
        </p:txBody>
      </p:sp>
      <p:graphicFrame>
        <p:nvGraphicFramePr>
          <p:cNvPr id="146" name="Google Shape;146;p18"/>
          <p:cNvGraphicFramePr/>
          <p:nvPr/>
        </p:nvGraphicFramePr>
        <p:xfrm>
          <a:off x="6927689" y="169068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{CF7F3F90-F409-4991-A1C1-19F25B11114E}</a:tableStyleId>
              </a:tblPr>
              <a:tblGrid>
                <a:gridCol w="1654250"/>
                <a:gridCol w="21792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800"/>
                        <a:t>Student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800"/>
                        <a:t>Courses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Mary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CS145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Mary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CS229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Joe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CS145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Joe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CS106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47" name="Google Shape;147;p18"/>
          <p:cNvSpPr txBox="1"/>
          <p:nvPr/>
        </p:nvSpPr>
        <p:spPr>
          <a:xfrm>
            <a:off x="7938570" y="4474090"/>
            <a:ext cx="1811683" cy="6155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1</a:t>
            </a:r>
            <a:r>
              <a:rPr baseline="30000" lang="en-US" sz="3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</a:t>
            </a:r>
            <a:r>
              <a:rPr lang="en-US" sz="3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NF</a:t>
            </a:r>
            <a:endParaRPr/>
          </a:p>
        </p:txBody>
      </p:sp>
      <p:grpSp>
        <p:nvGrpSpPr>
          <p:cNvPr id="148" name="Google Shape;148;p18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149" name="Google Shape;149;p18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1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0" name="Google Shape;150;p18"/>
            <p:cNvSpPr txBox="1"/>
            <p:nvPr/>
          </p:nvSpPr>
          <p:spPr>
            <a:xfrm>
              <a:off x="188780" y="-22510"/>
              <a:ext cx="3030125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140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Design Theory  &gt;  Section 1  &gt;  Overview</a:t>
              </a:r>
              <a:endParaRPr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9"/>
          <p:cNvSpPr txBox="1"/>
          <p:nvPr>
            <p:ph type="title"/>
          </p:nvPr>
        </p:nvSpPr>
        <p:spPr>
          <a:xfrm>
            <a:off x="1981200" y="3218433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Data Anomalies &amp; Constraints</a:t>
            </a:r>
            <a:endParaRPr/>
          </a:p>
        </p:txBody>
      </p:sp>
      <p:grpSp>
        <p:nvGrpSpPr>
          <p:cNvPr id="156" name="Google Shape;156;p19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157" name="Google Shape;157;p19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1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8" name="Google Shape;158;p19"/>
            <p:cNvSpPr txBox="1"/>
            <p:nvPr/>
          </p:nvSpPr>
          <p:spPr>
            <a:xfrm>
              <a:off x="188780" y="-22510"/>
              <a:ext cx="4481740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140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Design Theory  &gt;  Section 1  &gt;  Data anomalies &amp; constraints</a:t>
              </a:r>
              <a:endParaRPr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Constraints Prevent (some) </a:t>
            </a:r>
            <a:br>
              <a:rPr lang="en-US"/>
            </a:br>
            <a:r>
              <a:rPr lang="en-US"/>
              <a:t>Anomalies in the Data</a:t>
            </a:r>
            <a:endParaRPr/>
          </a:p>
        </p:txBody>
      </p:sp>
      <p:graphicFrame>
        <p:nvGraphicFramePr>
          <p:cNvPr id="164" name="Google Shape;164;p20"/>
          <p:cNvGraphicFramePr/>
          <p:nvPr/>
        </p:nvGraphicFramePr>
        <p:xfrm>
          <a:off x="3943513" y="290783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{CF7F3F90-F409-4991-A1C1-19F25B11114E}</a:tableStyleId>
              </a:tblPr>
              <a:tblGrid>
                <a:gridCol w="1654250"/>
                <a:gridCol w="1322100"/>
                <a:gridCol w="132862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800"/>
                        <a:t>Student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800"/>
                        <a:t>Course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800"/>
                        <a:t>Room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Mary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CS145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B01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Joe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CS145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B01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Sam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CS145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B01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..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..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..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65" name="Google Shape;165;p20"/>
          <p:cNvSpPr txBox="1"/>
          <p:nvPr/>
        </p:nvSpPr>
        <p:spPr>
          <a:xfrm>
            <a:off x="8982389" y="3720327"/>
            <a:ext cx="2575627" cy="1569660"/>
          </a:xfrm>
          <a:prstGeom prst="rect">
            <a:avLst/>
          </a:prstGeom>
          <a:solidFill>
            <a:srgbClr val="FFF2CC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every course is in only one room, contains </a:t>
            </a:r>
            <a:r>
              <a:rPr b="1" i="1" lang="en-US" sz="24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redundant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information!</a:t>
            </a:r>
            <a:endParaRPr/>
          </a:p>
        </p:txBody>
      </p:sp>
      <p:sp>
        <p:nvSpPr>
          <p:cNvPr id="166" name="Google Shape;166;p20"/>
          <p:cNvSpPr txBox="1"/>
          <p:nvPr/>
        </p:nvSpPr>
        <p:spPr>
          <a:xfrm>
            <a:off x="2862736" y="2053038"/>
            <a:ext cx="6466527" cy="492443"/>
          </a:xfrm>
          <a:prstGeom prst="rect">
            <a:avLst/>
          </a:prstGeom>
          <a:solidFill>
            <a:srgbClr val="E1EFD8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poorly designed database causes </a:t>
            </a:r>
            <a:r>
              <a:rPr b="1" i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anomalies</a:t>
            </a: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/>
          </a:p>
        </p:txBody>
      </p:sp>
      <p:sp>
        <p:nvSpPr>
          <p:cNvPr id="167" name="Google Shape;167;p20"/>
          <p:cNvSpPr/>
          <p:nvPr/>
        </p:nvSpPr>
        <p:spPr>
          <a:xfrm>
            <a:off x="6894576" y="2734056"/>
            <a:ext cx="1444752" cy="2478024"/>
          </a:xfrm>
          <a:prstGeom prst="roundRect">
            <a:avLst>
              <a:gd fmla="val 16667" name="adj"/>
            </a:avLst>
          </a:prstGeom>
          <a:solidFill>
            <a:srgbClr val="FBE4D4">
              <a:alpha val="49803"/>
            </a:srgbClr>
          </a:solidFill>
          <a:ln cap="flat" cmpd="sng" w="12700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68" name="Google Shape;168;p20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169" name="Google Shape;169;p20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1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" name="Google Shape;170;p20"/>
            <p:cNvSpPr txBox="1"/>
            <p:nvPr/>
          </p:nvSpPr>
          <p:spPr>
            <a:xfrm>
              <a:off x="188780" y="-22510"/>
              <a:ext cx="4481740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140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Design Theory  &gt;  Section 1  &gt;  Data anomalies &amp; constraints</a:t>
              </a:r>
              <a:endParaRPr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Constraints Prevent (some) </a:t>
            </a:r>
            <a:br>
              <a:rPr lang="en-US"/>
            </a:br>
            <a:r>
              <a:rPr lang="en-US"/>
              <a:t>Anomalies in the Data</a:t>
            </a:r>
            <a:endParaRPr/>
          </a:p>
        </p:txBody>
      </p:sp>
      <p:graphicFrame>
        <p:nvGraphicFramePr>
          <p:cNvPr id="176" name="Google Shape;176;p21"/>
          <p:cNvGraphicFramePr/>
          <p:nvPr/>
        </p:nvGraphicFramePr>
        <p:xfrm>
          <a:off x="3943513" y="290783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{CF7F3F90-F409-4991-A1C1-19F25B11114E}</a:tableStyleId>
              </a:tblPr>
              <a:tblGrid>
                <a:gridCol w="1654250"/>
                <a:gridCol w="1322100"/>
                <a:gridCol w="132862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800"/>
                        <a:t>Student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800"/>
                        <a:t>Course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800"/>
                        <a:t>Room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Mary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CS145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B01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Joe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CS145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C12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Sam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CS145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B01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..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..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..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77" name="Google Shape;177;p21"/>
          <p:cNvSpPr txBox="1"/>
          <p:nvPr/>
        </p:nvSpPr>
        <p:spPr>
          <a:xfrm>
            <a:off x="9180577" y="3233735"/>
            <a:ext cx="2575560" cy="1938992"/>
          </a:xfrm>
          <a:prstGeom prst="rect">
            <a:avLst/>
          </a:prstGeom>
          <a:solidFill>
            <a:srgbClr val="FFF2CC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we update the room number for one tuple, we get inconsistent data = an </a:t>
            </a:r>
            <a:r>
              <a:rPr b="1" i="1" lang="en-US" sz="24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update</a:t>
            </a:r>
            <a:r>
              <a:rPr b="1" lang="en-US" sz="24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anomaly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21"/>
          <p:cNvSpPr txBox="1"/>
          <p:nvPr/>
        </p:nvSpPr>
        <p:spPr>
          <a:xfrm>
            <a:off x="2862736" y="2053038"/>
            <a:ext cx="6466527" cy="492443"/>
          </a:xfrm>
          <a:prstGeom prst="rect">
            <a:avLst/>
          </a:prstGeom>
          <a:solidFill>
            <a:srgbClr val="E1EFD8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poorly designed database causes </a:t>
            </a:r>
            <a:r>
              <a:rPr b="1" i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anomalies</a:t>
            </a: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/>
          </a:p>
        </p:txBody>
      </p:sp>
      <p:sp>
        <p:nvSpPr>
          <p:cNvPr id="179" name="Google Shape;179;p21"/>
          <p:cNvSpPr/>
          <p:nvPr/>
        </p:nvSpPr>
        <p:spPr>
          <a:xfrm>
            <a:off x="6867144" y="3924339"/>
            <a:ext cx="822960" cy="557784"/>
          </a:xfrm>
          <a:prstGeom prst="roundRect">
            <a:avLst>
              <a:gd fmla="val 16667" name="adj"/>
            </a:avLst>
          </a:prstGeom>
          <a:solidFill>
            <a:srgbClr val="FBE4D4">
              <a:alpha val="49803"/>
            </a:srgbClr>
          </a:solidFill>
          <a:ln cap="flat" cmpd="sng" w="12700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80" name="Google Shape;180;p21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181" name="Google Shape;181;p21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1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2" name="Google Shape;182;p21"/>
            <p:cNvSpPr txBox="1"/>
            <p:nvPr/>
          </p:nvSpPr>
          <p:spPr>
            <a:xfrm>
              <a:off x="188780" y="-22510"/>
              <a:ext cx="4481740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140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Design Theory  &gt;  Section 1  &gt;  Data anomalies &amp; constraints</a:t>
              </a:r>
              <a:endParaRPr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Constraints Prevent (some) </a:t>
            </a:r>
            <a:br>
              <a:rPr lang="en-US"/>
            </a:br>
            <a:r>
              <a:rPr lang="en-US"/>
              <a:t>Anomalies in the Data</a:t>
            </a:r>
            <a:endParaRPr/>
          </a:p>
        </p:txBody>
      </p:sp>
      <p:graphicFrame>
        <p:nvGraphicFramePr>
          <p:cNvPr id="188" name="Google Shape;188;p22"/>
          <p:cNvGraphicFramePr/>
          <p:nvPr/>
        </p:nvGraphicFramePr>
        <p:xfrm>
          <a:off x="3943513" y="290783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{CF7F3F90-F409-4991-A1C1-19F25B11114E}</a:tableStyleId>
              </a:tblPr>
              <a:tblGrid>
                <a:gridCol w="1654250"/>
                <a:gridCol w="1322100"/>
                <a:gridCol w="132862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800"/>
                        <a:t>Student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800"/>
                        <a:t>Course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800"/>
                        <a:t>Room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..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..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..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89" name="Google Shape;189;p22"/>
          <p:cNvSpPr txBox="1"/>
          <p:nvPr/>
        </p:nvSpPr>
        <p:spPr>
          <a:xfrm>
            <a:off x="3323842" y="4541327"/>
            <a:ext cx="5544313" cy="830997"/>
          </a:xfrm>
          <a:prstGeom prst="rect">
            <a:avLst/>
          </a:prstGeom>
          <a:solidFill>
            <a:srgbClr val="FFF2CC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everyone drops the class, we lose what room the class is in! = a </a:t>
            </a:r>
            <a:r>
              <a:rPr b="1" i="1" lang="en-US" sz="24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delete</a:t>
            </a:r>
            <a:r>
              <a:rPr b="1" lang="en-US" sz="24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anomaly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22"/>
          <p:cNvSpPr txBox="1"/>
          <p:nvPr/>
        </p:nvSpPr>
        <p:spPr>
          <a:xfrm>
            <a:off x="2862736" y="2053038"/>
            <a:ext cx="6466527" cy="492443"/>
          </a:xfrm>
          <a:prstGeom prst="rect">
            <a:avLst/>
          </a:prstGeom>
          <a:solidFill>
            <a:srgbClr val="E1EFD8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poorly designed database causes </a:t>
            </a:r>
            <a:r>
              <a:rPr b="1" i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anomalies</a:t>
            </a: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/>
          </a:p>
        </p:txBody>
      </p:sp>
      <p:sp>
        <p:nvSpPr>
          <p:cNvPr id="191" name="Google Shape;191;p22"/>
          <p:cNvSpPr/>
          <p:nvPr/>
        </p:nvSpPr>
        <p:spPr>
          <a:xfrm>
            <a:off x="7088983" y="3386367"/>
            <a:ext cx="822960" cy="557784"/>
          </a:xfrm>
          <a:prstGeom prst="roundRect">
            <a:avLst>
              <a:gd fmla="val 16667" name="adj"/>
            </a:avLst>
          </a:prstGeom>
          <a:solidFill>
            <a:srgbClr val="FBE4D4">
              <a:alpha val="49803"/>
            </a:srgbClr>
          </a:solidFill>
          <a:ln cap="flat" cmpd="sng" w="12700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92" name="Google Shape;192;p22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193" name="Google Shape;193;p22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1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4" name="Google Shape;194;p22"/>
            <p:cNvSpPr txBox="1"/>
            <p:nvPr/>
          </p:nvSpPr>
          <p:spPr>
            <a:xfrm>
              <a:off x="188780" y="-22510"/>
              <a:ext cx="4481740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140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Design Theory  &gt;  Section 1  &gt;  Data anomalies &amp; constraints</a:t>
              </a:r>
              <a:endParaRPr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Constraints Prevent (some) </a:t>
            </a:r>
            <a:br>
              <a:rPr lang="en-US"/>
            </a:br>
            <a:r>
              <a:rPr lang="en-US"/>
              <a:t>Anomalies in the Data</a:t>
            </a:r>
            <a:endParaRPr/>
          </a:p>
        </p:txBody>
      </p:sp>
      <p:graphicFrame>
        <p:nvGraphicFramePr>
          <p:cNvPr id="200" name="Google Shape;200;p23"/>
          <p:cNvGraphicFramePr/>
          <p:nvPr/>
        </p:nvGraphicFramePr>
        <p:xfrm>
          <a:off x="3943513" y="290783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{CF7F3F90-F409-4991-A1C1-19F25B11114E}</a:tableStyleId>
              </a:tblPr>
              <a:tblGrid>
                <a:gridCol w="1654250"/>
                <a:gridCol w="1322100"/>
                <a:gridCol w="132862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800"/>
                        <a:t>Student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800"/>
                        <a:t>Course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800"/>
                        <a:t>Room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Mary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CS145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B01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Joe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CS145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B01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Sam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CS145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B01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..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..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..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01" name="Google Shape;201;p23"/>
          <p:cNvSpPr txBox="1"/>
          <p:nvPr/>
        </p:nvSpPr>
        <p:spPr>
          <a:xfrm>
            <a:off x="8982389" y="3411507"/>
            <a:ext cx="2371411" cy="1938992"/>
          </a:xfrm>
          <a:prstGeom prst="rect">
            <a:avLst/>
          </a:prstGeom>
          <a:solidFill>
            <a:srgbClr val="FFF2CC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Similarly, we can’t reserve a room without students = an </a:t>
            </a:r>
            <a:r>
              <a:rPr b="1" i="1" lang="en-US" sz="24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insert </a:t>
            </a:r>
            <a:r>
              <a:rPr b="1" lang="en-US" sz="24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anomaly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23"/>
          <p:cNvSpPr txBox="1"/>
          <p:nvPr/>
        </p:nvSpPr>
        <p:spPr>
          <a:xfrm>
            <a:off x="2862736" y="2053038"/>
            <a:ext cx="6466527" cy="492443"/>
          </a:xfrm>
          <a:prstGeom prst="rect">
            <a:avLst/>
          </a:prstGeom>
          <a:solidFill>
            <a:srgbClr val="E1EFD8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poorly designed database causes </a:t>
            </a:r>
            <a:r>
              <a:rPr b="1" i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anomalies</a:t>
            </a: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/>
          </a:p>
        </p:txBody>
      </p:sp>
      <p:graphicFrame>
        <p:nvGraphicFramePr>
          <p:cNvPr id="203" name="Google Shape;203;p23"/>
          <p:cNvGraphicFramePr/>
          <p:nvPr/>
        </p:nvGraphicFramePr>
        <p:xfrm>
          <a:off x="374305" y="498047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{CF7F3F90-F409-4991-A1C1-19F25B11114E}</a:tableStyleId>
              </a:tblPr>
              <a:tblGrid>
                <a:gridCol w="732125"/>
                <a:gridCol w="1228150"/>
                <a:gridCol w="87505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…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CS229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C12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04" name="Google Shape;204;p23"/>
          <p:cNvSpPr/>
          <p:nvPr/>
        </p:nvSpPr>
        <p:spPr>
          <a:xfrm>
            <a:off x="3346704" y="5102352"/>
            <a:ext cx="475488" cy="274320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D1D1D1"/>
              </a:gs>
              <a:gs pos="50000">
                <a:srgbClr val="C7C7C7"/>
              </a:gs>
              <a:gs pos="100000">
                <a:srgbClr val="C0C0C0"/>
              </a:gs>
            </a:gsLst>
            <a:lin ang="5400000" scaled="0"/>
          </a:gradFill>
          <a:ln cap="flat" cmpd="sng" w="9525">
            <a:solidFill>
              <a:schemeClr val="accent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23"/>
          <p:cNvSpPr/>
          <p:nvPr/>
        </p:nvSpPr>
        <p:spPr>
          <a:xfrm>
            <a:off x="283464" y="4950518"/>
            <a:ext cx="824151" cy="523123"/>
          </a:xfrm>
          <a:prstGeom prst="roundRect">
            <a:avLst>
              <a:gd fmla="val 16667" name="adj"/>
            </a:avLst>
          </a:prstGeom>
          <a:solidFill>
            <a:srgbClr val="FBE4D4">
              <a:alpha val="49803"/>
            </a:srgbClr>
          </a:solidFill>
          <a:ln cap="flat" cmpd="sng" w="12700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06" name="Google Shape;206;p23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207" name="Google Shape;207;p23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1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8" name="Google Shape;208;p23"/>
            <p:cNvSpPr txBox="1"/>
            <p:nvPr/>
          </p:nvSpPr>
          <p:spPr>
            <a:xfrm>
              <a:off x="188780" y="-22510"/>
              <a:ext cx="4481740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140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Design Theory  &gt;  Section 1  &gt;  Data anomalies &amp; constraints</a:t>
              </a:r>
              <a:endParaRPr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Constraints Prevent (some) </a:t>
            </a:r>
            <a:br>
              <a:rPr lang="en-US"/>
            </a:br>
            <a:r>
              <a:rPr lang="en-US"/>
              <a:t>Anomalies in the Data</a:t>
            </a:r>
            <a:endParaRPr/>
          </a:p>
        </p:txBody>
      </p:sp>
      <p:graphicFrame>
        <p:nvGraphicFramePr>
          <p:cNvPr id="214" name="Google Shape;214;p24"/>
          <p:cNvGraphicFramePr/>
          <p:nvPr/>
        </p:nvGraphicFramePr>
        <p:xfrm>
          <a:off x="1562765" y="234012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{CF7F3F90-F409-4991-A1C1-19F25B11114E}</a:tableStyleId>
              </a:tblPr>
              <a:tblGrid>
                <a:gridCol w="1654250"/>
                <a:gridCol w="13221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800"/>
                        <a:t>Student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800"/>
                        <a:t>Course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Mary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CS145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Joe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CS145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Sam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CS145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..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..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15" name="Google Shape;215;p24"/>
          <p:cNvGraphicFramePr/>
          <p:nvPr/>
        </p:nvGraphicFramePr>
        <p:xfrm>
          <a:off x="5023705" y="276241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{CF7F3F90-F409-4991-A1C1-19F25B11114E}</a:tableStyleId>
              </a:tblPr>
              <a:tblGrid>
                <a:gridCol w="1322100"/>
                <a:gridCol w="132862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800"/>
                        <a:t>Course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800"/>
                        <a:t>Room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CS145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B01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CS229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C12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16" name="Google Shape;216;p24"/>
          <p:cNvSpPr txBox="1"/>
          <p:nvPr/>
        </p:nvSpPr>
        <p:spPr>
          <a:xfrm>
            <a:off x="1973385" y="5388622"/>
            <a:ext cx="8245230" cy="954107"/>
          </a:xfrm>
          <a:prstGeom prst="rect">
            <a:avLst/>
          </a:prstGeom>
          <a:solidFill>
            <a:srgbClr val="E1EFD8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Today: develop theory to understand why this design may be  better </a:t>
            </a: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and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how to find this </a:t>
            </a:r>
            <a:r>
              <a:rPr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decomposition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…</a:t>
            </a:r>
            <a:endParaRPr/>
          </a:p>
        </p:txBody>
      </p:sp>
      <p:sp>
        <p:nvSpPr>
          <p:cNvPr id="217" name="Google Shape;217;p24"/>
          <p:cNvSpPr txBox="1"/>
          <p:nvPr/>
        </p:nvSpPr>
        <p:spPr>
          <a:xfrm>
            <a:off x="8307917" y="2198688"/>
            <a:ext cx="3258437" cy="2492990"/>
          </a:xfrm>
          <a:prstGeom prst="rect">
            <a:avLst/>
          </a:prstGeom>
          <a:solidFill>
            <a:srgbClr val="FFF2CC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 this form better?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Redundancy? 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Update anomaly? 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Delete anomaly?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Insert anomaly?</a:t>
            </a:r>
            <a:endParaRPr/>
          </a:p>
        </p:txBody>
      </p:sp>
      <p:grpSp>
        <p:nvGrpSpPr>
          <p:cNvPr id="218" name="Google Shape;218;p24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219" name="Google Shape;219;p24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1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0" name="Google Shape;220;p24"/>
            <p:cNvSpPr txBox="1"/>
            <p:nvPr/>
          </p:nvSpPr>
          <p:spPr>
            <a:xfrm>
              <a:off x="188780" y="-22510"/>
              <a:ext cx="4481740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140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Design Theory  &gt;  Section 1  &gt;  Data anomalies &amp; constraints</a:t>
              </a:r>
              <a:endParaRPr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5"/>
          <p:cNvSpPr txBox="1"/>
          <p:nvPr>
            <p:ph type="title"/>
          </p:nvPr>
        </p:nvSpPr>
        <p:spPr>
          <a:xfrm>
            <a:off x="1981200" y="3218433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Functional Dependencies</a:t>
            </a:r>
            <a:endParaRPr/>
          </a:p>
        </p:txBody>
      </p:sp>
      <p:grpSp>
        <p:nvGrpSpPr>
          <p:cNvPr id="226" name="Google Shape;226;p25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227" name="Google Shape;227;p25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1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8" name="Google Shape;228;p25"/>
            <p:cNvSpPr txBox="1"/>
            <p:nvPr/>
          </p:nvSpPr>
          <p:spPr>
            <a:xfrm>
              <a:off x="188780" y="-22510"/>
              <a:ext cx="4132734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140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Design Theory  &gt;  Section 1  &gt;  Functional dependencies</a:t>
              </a:r>
              <a:endParaRPr/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Functional Dependency</a:t>
            </a:r>
            <a:endParaRPr/>
          </a:p>
        </p:txBody>
      </p:sp>
      <p:sp>
        <p:nvSpPr>
          <p:cNvPr id="234" name="Google Shape;234;p26"/>
          <p:cNvSpPr txBox="1"/>
          <p:nvPr/>
        </p:nvSpPr>
        <p:spPr>
          <a:xfrm>
            <a:off x="1981199" y="5331301"/>
            <a:ext cx="8229599" cy="892552"/>
          </a:xfrm>
          <a:prstGeom prst="rect">
            <a:avLst/>
          </a:prstGeom>
          <a:solidFill>
            <a:srgbClr val="E1EFD8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A-&gt;B means that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“whenever two tuples agree on A then they agree on B.”</a:t>
            </a:r>
            <a:endParaRPr i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26"/>
          <p:cNvSpPr/>
          <p:nvPr/>
        </p:nvSpPr>
        <p:spPr>
          <a:xfrm>
            <a:off x="2435351" y="1793054"/>
            <a:ext cx="7321296" cy="2554545"/>
          </a:xfrm>
          <a:prstGeom prst="rect">
            <a:avLst/>
          </a:prstGeom>
          <a:solidFill>
            <a:srgbClr val="DDEAF6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Def: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Let A,B be </a:t>
            </a:r>
            <a:r>
              <a:rPr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sets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of attributes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 write A 🡪 B or say A </a:t>
            </a:r>
            <a:r>
              <a:rPr b="1"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functionally determines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 if, for any tuples t</a:t>
            </a:r>
            <a:r>
              <a:rPr baseline="-25000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and t</a:t>
            </a:r>
            <a:r>
              <a:rPr baseline="-25000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endParaRPr/>
          </a:p>
          <a:p>
            <a:pPr indent="0" lvl="0" marL="0" marR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baseline="-25000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[A] = t</a:t>
            </a:r>
            <a:r>
              <a:rPr baseline="-25000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[A] implies t</a:t>
            </a:r>
            <a:r>
              <a:rPr baseline="-25000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[B] = t</a:t>
            </a:r>
            <a:r>
              <a:rPr baseline="-25000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[B]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and we call A 🡪 B a </a:t>
            </a:r>
            <a:r>
              <a:rPr b="1" lang="en-US" sz="2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functional dependency</a:t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36" name="Google Shape;236;p26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237" name="Google Shape;237;p26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1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8" name="Google Shape;238;p26"/>
            <p:cNvSpPr txBox="1"/>
            <p:nvPr/>
          </p:nvSpPr>
          <p:spPr>
            <a:xfrm>
              <a:off x="188780" y="-22510"/>
              <a:ext cx="4132734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140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Design Theory  &gt;  Section 1  &gt;  Functional dependencies</a:t>
              </a:r>
              <a:endParaRPr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27"/>
          <p:cNvSpPr txBox="1"/>
          <p:nvPr>
            <p:ph type="title"/>
          </p:nvPr>
        </p:nvSpPr>
        <p:spPr>
          <a:xfrm>
            <a:off x="838199" y="157551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A Picture Of FDs</a:t>
            </a:r>
            <a:endParaRPr/>
          </a:p>
        </p:txBody>
      </p:sp>
      <p:graphicFrame>
        <p:nvGraphicFramePr>
          <p:cNvPr id="244" name="Google Shape;244;p27"/>
          <p:cNvGraphicFramePr/>
          <p:nvPr/>
        </p:nvGraphicFramePr>
        <p:xfrm>
          <a:off x="838199" y="221168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{CF7F3F90-F409-4991-A1C1-19F25B11114E}</a:tableStyleId>
              </a:tblPr>
              <a:tblGrid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   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A</a:t>
                      </a:r>
                      <a:r>
                        <a:rPr b="1" baseline="-25000" lang="en-US" sz="1800"/>
                        <a:t>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…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A</a:t>
                      </a:r>
                      <a:r>
                        <a:rPr b="1" baseline="-25000" lang="en-US" sz="1800"/>
                        <a:t>m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B</a:t>
                      </a:r>
                      <a:r>
                        <a:rPr b="1" baseline="-25000" lang="en-US" sz="1800"/>
                        <a:t>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…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B</a:t>
                      </a:r>
                      <a:r>
                        <a:rPr b="1" baseline="-25000" lang="en-US" sz="1800"/>
                        <a:t>n</a:t>
                      </a:r>
                      <a:endParaRPr b="1" baseline="-25000"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</a:tr>
            </a:tbl>
          </a:graphicData>
        </a:graphic>
      </p:graphicFrame>
      <p:sp>
        <p:nvSpPr>
          <p:cNvPr id="245" name="Google Shape;245;p27"/>
          <p:cNvSpPr txBox="1"/>
          <p:nvPr/>
        </p:nvSpPr>
        <p:spPr>
          <a:xfrm>
            <a:off x="6676702" y="994334"/>
            <a:ext cx="5169409" cy="1292662"/>
          </a:xfrm>
          <a:prstGeom prst="rect">
            <a:avLst/>
          </a:prstGeom>
          <a:solidFill>
            <a:srgbClr val="DDEAF6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Defn (again):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Given attribute sets </a:t>
            </a:r>
            <a:r>
              <a:rPr b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A={A</a:t>
            </a:r>
            <a:r>
              <a:rPr b="1" baseline="-25000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,…,A</a:t>
            </a:r>
            <a:r>
              <a:rPr b="1" baseline="-25000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r>
              <a:rPr b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and </a:t>
            </a:r>
            <a:r>
              <a:rPr b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 = {B</a:t>
            </a:r>
            <a:r>
              <a:rPr b="1" baseline="-25000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,…B</a:t>
            </a:r>
            <a:r>
              <a:rPr b="1" baseline="-25000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b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 </a:t>
            </a: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</a:t>
            </a:r>
            <a:r>
              <a:rPr b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R,</a:t>
            </a:r>
            <a:endParaRPr b="1" sz="26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27"/>
          <p:cNvSpPr/>
          <p:nvPr/>
        </p:nvSpPr>
        <p:spPr>
          <a:xfrm>
            <a:off x="1399032" y="2140954"/>
            <a:ext cx="1848916" cy="504084"/>
          </a:xfrm>
          <a:prstGeom prst="roundRect">
            <a:avLst>
              <a:gd fmla="val 16667" name="adj"/>
            </a:avLst>
          </a:prstGeom>
          <a:solidFill>
            <a:srgbClr val="FFF2CC">
              <a:alpha val="49803"/>
            </a:srgbClr>
          </a:solidFill>
          <a:ln cap="flat" cmpd="sng" w="12700">
            <a:solidFill>
              <a:schemeClr val="accent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27"/>
          <p:cNvSpPr/>
          <p:nvPr/>
        </p:nvSpPr>
        <p:spPr>
          <a:xfrm>
            <a:off x="3861815" y="2140954"/>
            <a:ext cx="1848916" cy="504084"/>
          </a:xfrm>
          <a:prstGeom prst="roundRect">
            <a:avLst>
              <a:gd fmla="val 16667" name="adj"/>
            </a:avLst>
          </a:prstGeom>
          <a:solidFill>
            <a:srgbClr val="FFF2CC">
              <a:alpha val="49803"/>
            </a:srgbClr>
          </a:solidFill>
          <a:ln cap="flat" cmpd="sng" w="12700">
            <a:solidFill>
              <a:schemeClr val="accent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48" name="Google Shape;248;p27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249" name="Google Shape;249;p27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1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0" name="Google Shape;250;p27"/>
            <p:cNvSpPr txBox="1"/>
            <p:nvPr/>
          </p:nvSpPr>
          <p:spPr>
            <a:xfrm>
              <a:off x="188780" y="-22510"/>
              <a:ext cx="4132734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140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Design Theory  &gt;  Section 1  &gt;  Functional dependencies</a:t>
              </a:r>
              <a:endParaRPr/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5" name="Google Shape;255;p28"/>
          <p:cNvGraphicFramePr/>
          <p:nvPr/>
        </p:nvGraphicFramePr>
        <p:xfrm>
          <a:off x="838199" y="221168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{CF7F3F90-F409-4991-A1C1-19F25B11114E}</a:tableStyleId>
              </a:tblPr>
              <a:tblGrid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   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A</a:t>
                      </a:r>
                      <a:r>
                        <a:rPr b="1" baseline="-25000" lang="en-US" sz="1800"/>
                        <a:t>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…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A</a:t>
                      </a:r>
                      <a:r>
                        <a:rPr b="1" baseline="-25000" lang="en-US" sz="1800"/>
                        <a:t>m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B</a:t>
                      </a:r>
                      <a:r>
                        <a:rPr b="1" baseline="-25000" lang="en-US" sz="1800"/>
                        <a:t>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…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B</a:t>
                      </a:r>
                      <a:r>
                        <a:rPr b="1" baseline="-25000" lang="en-US" sz="1800"/>
                        <a:t>n</a:t>
                      </a:r>
                      <a:endParaRPr b="1" baseline="-25000"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</a:tr>
            </a:tbl>
          </a:graphicData>
        </a:graphic>
      </p:graphicFrame>
      <p:sp>
        <p:nvSpPr>
          <p:cNvPr id="256" name="Google Shape;256;p28"/>
          <p:cNvSpPr txBox="1"/>
          <p:nvPr>
            <p:ph type="title"/>
          </p:nvPr>
        </p:nvSpPr>
        <p:spPr>
          <a:xfrm>
            <a:off x="838199" y="157551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A Picture Of FDs</a:t>
            </a:r>
            <a:endParaRPr/>
          </a:p>
        </p:txBody>
      </p:sp>
      <p:sp>
        <p:nvSpPr>
          <p:cNvPr id="257" name="Google Shape;257;p28"/>
          <p:cNvSpPr txBox="1"/>
          <p:nvPr/>
        </p:nvSpPr>
        <p:spPr>
          <a:xfrm>
            <a:off x="239019" y="2938163"/>
            <a:ext cx="59918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baseline="-25000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endParaRPr baseline="-25000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28"/>
          <p:cNvSpPr txBox="1"/>
          <p:nvPr/>
        </p:nvSpPr>
        <p:spPr>
          <a:xfrm>
            <a:off x="239019" y="3702768"/>
            <a:ext cx="59918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baseline="-25000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</a:t>
            </a:r>
            <a:endParaRPr baseline="-25000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28"/>
          <p:cNvSpPr txBox="1"/>
          <p:nvPr/>
        </p:nvSpPr>
        <p:spPr>
          <a:xfrm>
            <a:off x="6676702" y="994334"/>
            <a:ext cx="5169409" cy="2893100"/>
          </a:xfrm>
          <a:prstGeom prst="rect">
            <a:avLst/>
          </a:prstGeom>
          <a:solidFill>
            <a:srgbClr val="DDEAF6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Defn (again):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Given attribute sets </a:t>
            </a:r>
            <a:r>
              <a:rPr b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A={A</a:t>
            </a:r>
            <a:r>
              <a:rPr b="1" baseline="-25000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,…,A</a:t>
            </a:r>
            <a:r>
              <a:rPr b="1" baseline="-25000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r>
              <a:rPr b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and </a:t>
            </a:r>
            <a:r>
              <a:rPr b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 = {B</a:t>
            </a:r>
            <a:r>
              <a:rPr b="1" baseline="-25000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,…B</a:t>
            </a:r>
            <a:r>
              <a:rPr b="1" baseline="-25000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b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 </a:t>
            </a: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</a:t>
            </a:r>
            <a:r>
              <a:rPr b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6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</a:t>
            </a:r>
            <a:r>
              <a:rPr b="1" i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functional dependency</a:t>
            </a: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A🡪 B on R </a:t>
            </a: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holds if for </a:t>
            </a:r>
            <a:r>
              <a:rPr b="1" i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any </a:t>
            </a: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baseline="-25000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,t</a:t>
            </a:r>
            <a:r>
              <a:rPr baseline="-25000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</a:t>
            </a: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in R: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6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28"/>
          <p:cNvSpPr/>
          <p:nvPr/>
        </p:nvSpPr>
        <p:spPr>
          <a:xfrm>
            <a:off x="1399032" y="2140954"/>
            <a:ext cx="1848916" cy="504084"/>
          </a:xfrm>
          <a:prstGeom prst="roundRect">
            <a:avLst>
              <a:gd fmla="val 16667" name="adj"/>
            </a:avLst>
          </a:prstGeom>
          <a:solidFill>
            <a:srgbClr val="FFF2CC">
              <a:alpha val="49803"/>
            </a:srgbClr>
          </a:solidFill>
          <a:ln cap="flat" cmpd="sng" w="12700">
            <a:solidFill>
              <a:schemeClr val="accent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28"/>
          <p:cNvSpPr/>
          <p:nvPr/>
        </p:nvSpPr>
        <p:spPr>
          <a:xfrm>
            <a:off x="3861815" y="2140954"/>
            <a:ext cx="1848916" cy="504084"/>
          </a:xfrm>
          <a:prstGeom prst="roundRect">
            <a:avLst>
              <a:gd fmla="val 16667" name="adj"/>
            </a:avLst>
          </a:prstGeom>
          <a:solidFill>
            <a:srgbClr val="FFF2CC">
              <a:alpha val="49803"/>
            </a:srgbClr>
          </a:solidFill>
          <a:ln cap="flat" cmpd="sng" w="12700">
            <a:solidFill>
              <a:schemeClr val="accent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28"/>
          <p:cNvSpPr/>
          <p:nvPr/>
        </p:nvSpPr>
        <p:spPr>
          <a:xfrm>
            <a:off x="3208660" y="2269552"/>
            <a:ext cx="748407" cy="246888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63" name="Google Shape;263;p28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264" name="Google Shape;264;p28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1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5" name="Google Shape;265;p28"/>
            <p:cNvSpPr txBox="1"/>
            <p:nvPr/>
          </p:nvSpPr>
          <p:spPr>
            <a:xfrm>
              <a:off x="188780" y="-22510"/>
              <a:ext cx="4132734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140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Design Theory  &gt;  Section 1  &gt;  Functional dependencies</a:t>
              </a:r>
              <a:endParaRPr/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29"/>
          <p:cNvSpPr txBox="1"/>
          <p:nvPr>
            <p:ph type="title"/>
          </p:nvPr>
        </p:nvSpPr>
        <p:spPr>
          <a:xfrm>
            <a:off x="838199" y="157551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A Picture Of FDs</a:t>
            </a:r>
            <a:endParaRPr/>
          </a:p>
        </p:txBody>
      </p:sp>
      <p:sp>
        <p:nvSpPr>
          <p:cNvPr id="271" name="Google Shape;271;p29"/>
          <p:cNvSpPr txBox="1"/>
          <p:nvPr/>
        </p:nvSpPr>
        <p:spPr>
          <a:xfrm>
            <a:off x="6676702" y="994334"/>
            <a:ext cx="5169409" cy="3693319"/>
          </a:xfrm>
          <a:prstGeom prst="rect">
            <a:avLst/>
          </a:prstGeom>
          <a:solidFill>
            <a:srgbClr val="DDEAF6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Defn (again):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Given attribute sets </a:t>
            </a:r>
            <a:r>
              <a:rPr b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A={A</a:t>
            </a:r>
            <a:r>
              <a:rPr b="1" baseline="-25000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,…,A</a:t>
            </a:r>
            <a:r>
              <a:rPr b="1" baseline="-25000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r>
              <a:rPr b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and </a:t>
            </a:r>
            <a:r>
              <a:rPr b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 = {B</a:t>
            </a:r>
            <a:r>
              <a:rPr b="1" baseline="-25000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,…B</a:t>
            </a:r>
            <a:r>
              <a:rPr b="1" baseline="-25000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b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 </a:t>
            </a: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</a:t>
            </a:r>
            <a:r>
              <a:rPr b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6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</a:t>
            </a:r>
            <a:r>
              <a:rPr b="1" i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functional dependency</a:t>
            </a: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A🡪 B on R </a:t>
            </a: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holds if for </a:t>
            </a:r>
            <a:r>
              <a:rPr b="1" i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any </a:t>
            </a: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baseline="-25000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,t</a:t>
            </a:r>
            <a:r>
              <a:rPr baseline="-25000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</a:t>
            </a: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in R: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baseline="-25000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[A</a:t>
            </a:r>
            <a:r>
              <a:rPr baseline="-25000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] = t</a:t>
            </a:r>
            <a:r>
              <a:rPr baseline="-25000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</a:t>
            </a: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[A</a:t>
            </a:r>
            <a:r>
              <a:rPr baseline="-25000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] AND t</a:t>
            </a:r>
            <a:r>
              <a:rPr baseline="-25000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[A</a:t>
            </a:r>
            <a:r>
              <a:rPr baseline="-25000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]=t</a:t>
            </a:r>
            <a:r>
              <a:rPr baseline="-25000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</a:t>
            </a: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[A</a:t>
            </a:r>
            <a:r>
              <a:rPr baseline="-25000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] AND … AND t</a:t>
            </a:r>
            <a:r>
              <a:rPr baseline="-25000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[A</a:t>
            </a:r>
            <a:r>
              <a:rPr baseline="-25000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] = t</a:t>
            </a:r>
            <a:r>
              <a:rPr baseline="-25000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</a:t>
            </a: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[A</a:t>
            </a:r>
            <a:r>
              <a:rPr baseline="-25000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]</a:t>
            </a:r>
            <a:endParaRPr/>
          </a:p>
        </p:txBody>
      </p:sp>
      <p:graphicFrame>
        <p:nvGraphicFramePr>
          <p:cNvPr id="272" name="Google Shape;272;p29"/>
          <p:cNvGraphicFramePr/>
          <p:nvPr/>
        </p:nvGraphicFramePr>
        <p:xfrm>
          <a:off x="838199" y="221168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{CF7F3F90-F409-4991-A1C1-19F25B11114E}</a:tableStyleId>
              </a:tblPr>
              <a:tblGrid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   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A</a:t>
                      </a:r>
                      <a:r>
                        <a:rPr b="1" baseline="-25000" lang="en-US" sz="1800"/>
                        <a:t>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…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A</a:t>
                      </a:r>
                      <a:r>
                        <a:rPr b="1" baseline="-25000" lang="en-US" sz="1800"/>
                        <a:t>m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B</a:t>
                      </a:r>
                      <a:r>
                        <a:rPr b="1" baseline="-25000" lang="en-US" sz="1800"/>
                        <a:t>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…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B</a:t>
                      </a:r>
                      <a:r>
                        <a:rPr b="1" baseline="-25000" lang="en-US" sz="1800"/>
                        <a:t>n</a:t>
                      </a:r>
                      <a:endParaRPr b="1" baseline="-25000"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</a:tr>
            </a:tbl>
          </a:graphicData>
        </a:graphic>
      </p:graphicFrame>
      <p:sp>
        <p:nvSpPr>
          <p:cNvPr id="273" name="Google Shape;273;p29"/>
          <p:cNvSpPr txBox="1"/>
          <p:nvPr/>
        </p:nvSpPr>
        <p:spPr>
          <a:xfrm>
            <a:off x="239019" y="2938163"/>
            <a:ext cx="59918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baseline="-25000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endParaRPr baseline="-25000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29"/>
          <p:cNvSpPr txBox="1"/>
          <p:nvPr/>
        </p:nvSpPr>
        <p:spPr>
          <a:xfrm>
            <a:off x="239019" y="3702768"/>
            <a:ext cx="59918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baseline="-25000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</a:t>
            </a:r>
            <a:endParaRPr baseline="-25000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29"/>
          <p:cNvSpPr/>
          <p:nvPr/>
        </p:nvSpPr>
        <p:spPr>
          <a:xfrm rot="-5400000">
            <a:off x="2164188" y="3808342"/>
            <a:ext cx="390770" cy="1758461"/>
          </a:xfrm>
          <a:prstGeom prst="leftBracket">
            <a:avLst>
              <a:gd fmla="val 8333" name="adj"/>
            </a:avLst>
          </a:prstGeom>
          <a:noFill/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29"/>
          <p:cNvSpPr txBox="1"/>
          <p:nvPr/>
        </p:nvSpPr>
        <p:spPr>
          <a:xfrm>
            <a:off x="1291465" y="5032750"/>
            <a:ext cx="203851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t1,t2 agree here..</a:t>
            </a:r>
            <a:endParaRPr/>
          </a:p>
        </p:txBody>
      </p:sp>
      <p:sp>
        <p:nvSpPr>
          <p:cNvPr id="277" name="Google Shape;277;p29"/>
          <p:cNvSpPr/>
          <p:nvPr/>
        </p:nvSpPr>
        <p:spPr>
          <a:xfrm>
            <a:off x="1389887" y="2860423"/>
            <a:ext cx="1940095" cy="1275685"/>
          </a:xfrm>
          <a:prstGeom prst="roundRect">
            <a:avLst>
              <a:gd fmla="val 16667" name="adj"/>
            </a:avLst>
          </a:prstGeom>
          <a:solidFill>
            <a:srgbClr val="FFF2CC">
              <a:alpha val="49803"/>
            </a:srgbClr>
          </a:solidFill>
          <a:ln cap="flat" cmpd="sng" w="12700">
            <a:solidFill>
              <a:schemeClr val="accent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78" name="Google Shape;278;p29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279" name="Google Shape;279;p29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1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0" name="Google Shape;280;p29"/>
            <p:cNvSpPr txBox="1"/>
            <p:nvPr/>
          </p:nvSpPr>
          <p:spPr>
            <a:xfrm>
              <a:off x="188780" y="-22510"/>
              <a:ext cx="4132734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140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Design Theory  &gt;  Section 1  &gt;  Functional dependencies</a:t>
              </a:r>
              <a:endParaRPr/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30"/>
          <p:cNvSpPr txBox="1"/>
          <p:nvPr>
            <p:ph type="title"/>
          </p:nvPr>
        </p:nvSpPr>
        <p:spPr>
          <a:xfrm>
            <a:off x="838199" y="157551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A Picture Of FDs</a:t>
            </a:r>
            <a:endParaRPr/>
          </a:p>
        </p:txBody>
      </p:sp>
      <p:sp>
        <p:nvSpPr>
          <p:cNvPr id="286" name="Google Shape;286;p30"/>
          <p:cNvSpPr txBox="1"/>
          <p:nvPr/>
        </p:nvSpPr>
        <p:spPr>
          <a:xfrm>
            <a:off x="6676702" y="994334"/>
            <a:ext cx="5169409" cy="4893647"/>
          </a:xfrm>
          <a:prstGeom prst="rect">
            <a:avLst/>
          </a:prstGeom>
          <a:solidFill>
            <a:srgbClr val="DDEAF6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Defn (again):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Given attribute sets </a:t>
            </a:r>
            <a:r>
              <a:rPr b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A={A</a:t>
            </a:r>
            <a:r>
              <a:rPr b="1" baseline="-25000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,…,A</a:t>
            </a:r>
            <a:r>
              <a:rPr b="1" baseline="-25000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r>
              <a:rPr b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and </a:t>
            </a:r>
            <a:r>
              <a:rPr b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 = {B</a:t>
            </a:r>
            <a:r>
              <a:rPr b="1" baseline="-25000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,…B</a:t>
            </a:r>
            <a:r>
              <a:rPr b="1" baseline="-25000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b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 </a:t>
            </a: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</a:t>
            </a:r>
            <a:r>
              <a:rPr b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6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</a:t>
            </a:r>
            <a:r>
              <a:rPr b="1" i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functional dependency</a:t>
            </a: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A🡪 B on R </a:t>
            </a: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holds if for </a:t>
            </a:r>
            <a:r>
              <a:rPr b="1" i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any </a:t>
            </a: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baseline="-25000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,t</a:t>
            </a:r>
            <a:r>
              <a:rPr baseline="-25000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</a:t>
            </a: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in R: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</a:t>
            </a: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</a:t>
            </a:r>
            <a:r>
              <a:rPr baseline="-25000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[A</a:t>
            </a:r>
            <a:r>
              <a:rPr baseline="-25000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] = t</a:t>
            </a:r>
            <a:r>
              <a:rPr baseline="-25000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</a:t>
            </a: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[A</a:t>
            </a:r>
            <a:r>
              <a:rPr baseline="-25000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] AND t</a:t>
            </a:r>
            <a:r>
              <a:rPr baseline="-25000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[A</a:t>
            </a:r>
            <a:r>
              <a:rPr baseline="-25000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]=t</a:t>
            </a:r>
            <a:r>
              <a:rPr baseline="-25000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</a:t>
            </a: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[A</a:t>
            </a:r>
            <a:r>
              <a:rPr baseline="-25000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] AND … AND t</a:t>
            </a:r>
            <a:r>
              <a:rPr baseline="-25000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[A</a:t>
            </a:r>
            <a:r>
              <a:rPr baseline="-25000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] = t</a:t>
            </a:r>
            <a:r>
              <a:rPr baseline="-25000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</a:t>
            </a: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[A</a:t>
            </a:r>
            <a:r>
              <a:rPr baseline="-25000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then</a:t>
            </a:r>
            <a:r>
              <a:rPr b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baseline="-25000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[B</a:t>
            </a:r>
            <a:r>
              <a:rPr baseline="-25000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] = t</a:t>
            </a:r>
            <a:r>
              <a:rPr baseline="-25000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</a:t>
            </a: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[B</a:t>
            </a:r>
            <a:r>
              <a:rPr baseline="-25000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] AND t</a:t>
            </a:r>
            <a:r>
              <a:rPr baseline="-25000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[B</a:t>
            </a:r>
            <a:r>
              <a:rPr baseline="-25000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]=t</a:t>
            </a:r>
            <a:r>
              <a:rPr baseline="-25000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</a:t>
            </a: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[B</a:t>
            </a:r>
            <a:r>
              <a:rPr baseline="-25000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] AND … AND t</a:t>
            </a:r>
            <a:r>
              <a:rPr baseline="-25000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[B</a:t>
            </a:r>
            <a:r>
              <a:rPr baseline="-25000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] = t</a:t>
            </a:r>
            <a:r>
              <a:rPr baseline="-25000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</a:t>
            </a: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[B</a:t>
            </a:r>
            <a:r>
              <a:rPr baseline="-25000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]</a:t>
            </a:r>
            <a:endParaRPr/>
          </a:p>
        </p:txBody>
      </p:sp>
      <p:graphicFrame>
        <p:nvGraphicFramePr>
          <p:cNvPr id="287" name="Google Shape;287;p30"/>
          <p:cNvGraphicFramePr/>
          <p:nvPr/>
        </p:nvGraphicFramePr>
        <p:xfrm>
          <a:off x="838199" y="221168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{CF7F3F90-F409-4991-A1C1-19F25B11114E}</a:tableStyleId>
              </a:tblPr>
              <a:tblGrid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   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A</a:t>
                      </a:r>
                      <a:r>
                        <a:rPr b="1" baseline="-25000" lang="en-US" sz="1800"/>
                        <a:t>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…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A</a:t>
                      </a:r>
                      <a:r>
                        <a:rPr b="1" baseline="-25000" lang="en-US" sz="1800"/>
                        <a:t>m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B</a:t>
                      </a:r>
                      <a:r>
                        <a:rPr b="1" baseline="-25000" lang="en-US" sz="1800"/>
                        <a:t>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…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B</a:t>
                      </a:r>
                      <a:r>
                        <a:rPr b="1" baseline="-25000" lang="en-US" sz="1800"/>
                        <a:t>n</a:t>
                      </a:r>
                      <a:endParaRPr b="1" baseline="-25000"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</a:tr>
            </a:tbl>
          </a:graphicData>
        </a:graphic>
      </p:graphicFrame>
      <p:sp>
        <p:nvSpPr>
          <p:cNvPr id="288" name="Google Shape;288;p30"/>
          <p:cNvSpPr txBox="1"/>
          <p:nvPr/>
        </p:nvSpPr>
        <p:spPr>
          <a:xfrm>
            <a:off x="239019" y="2938163"/>
            <a:ext cx="59918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baseline="-25000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endParaRPr baseline="-25000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30"/>
          <p:cNvSpPr txBox="1"/>
          <p:nvPr/>
        </p:nvSpPr>
        <p:spPr>
          <a:xfrm>
            <a:off x="239019" y="3702768"/>
            <a:ext cx="59918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baseline="-25000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</a:t>
            </a:r>
            <a:endParaRPr baseline="-25000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30"/>
          <p:cNvSpPr/>
          <p:nvPr/>
        </p:nvSpPr>
        <p:spPr>
          <a:xfrm rot="-5400000">
            <a:off x="2164188" y="3808342"/>
            <a:ext cx="390770" cy="1758461"/>
          </a:xfrm>
          <a:prstGeom prst="leftBracket">
            <a:avLst>
              <a:gd fmla="val 8333" name="adj"/>
            </a:avLst>
          </a:prstGeom>
          <a:noFill/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30"/>
          <p:cNvSpPr txBox="1"/>
          <p:nvPr/>
        </p:nvSpPr>
        <p:spPr>
          <a:xfrm>
            <a:off x="1291465" y="5032750"/>
            <a:ext cx="203851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t1,t2 agree here..</a:t>
            </a:r>
            <a:endParaRPr/>
          </a:p>
        </p:txBody>
      </p:sp>
      <p:sp>
        <p:nvSpPr>
          <p:cNvPr id="292" name="Google Shape;292;p30"/>
          <p:cNvSpPr/>
          <p:nvPr/>
        </p:nvSpPr>
        <p:spPr>
          <a:xfrm>
            <a:off x="1389887" y="2860423"/>
            <a:ext cx="1940095" cy="1275685"/>
          </a:xfrm>
          <a:prstGeom prst="roundRect">
            <a:avLst>
              <a:gd fmla="val 16667" name="adj"/>
            </a:avLst>
          </a:prstGeom>
          <a:solidFill>
            <a:srgbClr val="FFF2CC">
              <a:alpha val="49803"/>
            </a:srgbClr>
          </a:solidFill>
          <a:ln cap="flat" cmpd="sng" w="12700">
            <a:solidFill>
              <a:schemeClr val="accent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30"/>
          <p:cNvSpPr txBox="1"/>
          <p:nvPr/>
        </p:nvSpPr>
        <p:spPr>
          <a:xfrm>
            <a:off x="3540022" y="5045749"/>
            <a:ext cx="253486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…they also agree here!</a:t>
            </a:r>
            <a:endParaRPr/>
          </a:p>
        </p:txBody>
      </p:sp>
      <p:sp>
        <p:nvSpPr>
          <p:cNvPr id="294" name="Google Shape;294;p30"/>
          <p:cNvSpPr/>
          <p:nvPr/>
        </p:nvSpPr>
        <p:spPr>
          <a:xfrm rot="-5400000">
            <a:off x="4612285" y="3872161"/>
            <a:ext cx="390770" cy="1758461"/>
          </a:xfrm>
          <a:prstGeom prst="leftBracket">
            <a:avLst>
              <a:gd fmla="val 8333" name="adj"/>
            </a:avLst>
          </a:prstGeom>
          <a:noFill/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30"/>
          <p:cNvSpPr/>
          <p:nvPr/>
        </p:nvSpPr>
        <p:spPr>
          <a:xfrm>
            <a:off x="3837984" y="2860423"/>
            <a:ext cx="1938943" cy="1287401"/>
          </a:xfrm>
          <a:prstGeom prst="roundRect">
            <a:avLst>
              <a:gd fmla="val 16667" name="adj"/>
            </a:avLst>
          </a:prstGeom>
          <a:solidFill>
            <a:srgbClr val="FFF2CC">
              <a:alpha val="49803"/>
            </a:srgbClr>
          </a:solidFill>
          <a:ln cap="flat" cmpd="sng" w="12700">
            <a:solidFill>
              <a:schemeClr val="accent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30"/>
          <p:cNvSpPr/>
          <p:nvPr/>
        </p:nvSpPr>
        <p:spPr>
          <a:xfrm>
            <a:off x="3224018" y="3271425"/>
            <a:ext cx="821684" cy="465395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97" name="Google Shape;297;p30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298" name="Google Shape;298;p30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1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9" name="Google Shape;299;p30"/>
            <p:cNvSpPr txBox="1"/>
            <p:nvPr/>
          </p:nvSpPr>
          <p:spPr>
            <a:xfrm>
              <a:off x="188780" y="-22510"/>
              <a:ext cx="4132734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140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Design Theory  &gt;  Section 1  &gt;  Functional dependencies</a:t>
              </a:r>
              <a:endParaRPr/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3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FDs for Relational Schema Design</a:t>
            </a:r>
            <a:endParaRPr/>
          </a:p>
        </p:txBody>
      </p:sp>
      <p:sp>
        <p:nvSpPr>
          <p:cNvPr id="305" name="Google Shape;305;p3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High-level idea: </a:t>
            </a:r>
            <a:r>
              <a:rPr b="1" lang="en-US"/>
              <a:t>why do we care about FDs?</a:t>
            </a:r>
            <a:endParaRPr/>
          </a:p>
          <a:p>
            <a:pPr indent="-762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-514350" lvl="1" marL="97155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lang="en-US"/>
              <a:t>Start with some relational </a:t>
            </a:r>
            <a:r>
              <a:rPr i="1" lang="en-US"/>
              <a:t>schema</a:t>
            </a:r>
            <a:endParaRPr/>
          </a:p>
          <a:p>
            <a:pPr indent="-361950" lvl="1" marL="97155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/>
          </a:p>
          <a:p>
            <a:pPr indent="-514350" lvl="1" marL="97155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lang="en-US"/>
              <a:t>Find out its </a:t>
            </a:r>
            <a:r>
              <a:rPr i="1" lang="en-US"/>
              <a:t>functional dependencies (FDs)</a:t>
            </a:r>
            <a:endParaRPr/>
          </a:p>
          <a:p>
            <a:pPr indent="-361950" lvl="1" marL="97155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/>
          </a:p>
          <a:p>
            <a:pPr indent="-514350" lvl="1" marL="97155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lang="en-US"/>
              <a:t>Use these to </a:t>
            </a:r>
            <a:r>
              <a:rPr i="1" lang="en-US"/>
              <a:t>design a better schema</a:t>
            </a:r>
            <a:endParaRPr/>
          </a:p>
          <a:p>
            <a:pPr indent="-514350" lvl="2" marL="142875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arabicPeriod"/>
            </a:pPr>
            <a:r>
              <a:rPr lang="en-US"/>
              <a:t>One which minimizes the possibility of anomalies</a:t>
            </a:r>
            <a:endParaRPr/>
          </a:p>
          <a:p>
            <a:pPr indent="-762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-762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  <p:grpSp>
        <p:nvGrpSpPr>
          <p:cNvPr id="306" name="Google Shape;306;p31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307" name="Google Shape;307;p31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1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8" name="Google Shape;308;p31"/>
            <p:cNvSpPr txBox="1"/>
            <p:nvPr/>
          </p:nvSpPr>
          <p:spPr>
            <a:xfrm>
              <a:off x="188780" y="-22510"/>
              <a:ext cx="4132734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140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Design Theory  &gt;  Section 1  &gt;  Functional dependencies</a:t>
              </a:r>
              <a:endParaRPr/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3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Functional Dependencies as Constraints</a:t>
            </a:r>
            <a:endParaRPr/>
          </a:p>
        </p:txBody>
      </p:sp>
      <p:graphicFrame>
        <p:nvGraphicFramePr>
          <p:cNvPr id="314" name="Google Shape;314;p32"/>
          <p:cNvGraphicFramePr/>
          <p:nvPr/>
        </p:nvGraphicFramePr>
        <p:xfrm>
          <a:off x="7048826" y="201898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{CF7F3F90-F409-4991-A1C1-19F25B11114E}</a:tableStyleId>
              </a:tblPr>
              <a:tblGrid>
                <a:gridCol w="1654250"/>
                <a:gridCol w="1322100"/>
                <a:gridCol w="132862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800"/>
                        <a:t>Student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800"/>
                        <a:t>Course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800"/>
                        <a:t>Room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Mary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CS145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B01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Joe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CS145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B01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Sam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CS145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B01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..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..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..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15" name="Google Shape;315;p32"/>
          <p:cNvSpPr txBox="1"/>
          <p:nvPr/>
        </p:nvSpPr>
        <p:spPr>
          <a:xfrm>
            <a:off x="7763191" y="4938076"/>
            <a:ext cx="3282761" cy="1292662"/>
          </a:xfrm>
          <a:prstGeom prst="rect">
            <a:avLst/>
          </a:prstGeom>
          <a:solidFill>
            <a:srgbClr val="FFF2CC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Note: The FD {Course} -&gt; {Room} </a:t>
            </a:r>
            <a:r>
              <a:rPr b="1" i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holds on this instance</a:t>
            </a:r>
            <a:endParaRPr/>
          </a:p>
        </p:txBody>
      </p:sp>
      <p:sp>
        <p:nvSpPr>
          <p:cNvPr id="316" name="Google Shape;316;p32"/>
          <p:cNvSpPr txBox="1"/>
          <p:nvPr/>
        </p:nvSpPr>
        <p:spPr>
          <a:xfrm>
            <a:off x="838200" y="1690688"/>
            <a:ext cx="5215128" cy="40069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functional dependency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 a form of </a:t>
            </a: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constraint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  <a:p>
            <a:pPr indent="-762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1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1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Holds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on some instances (but not others) – can check whether there are violations</a:t>
            </a:r>
            <a:endParaRPr/>
          </a:p>
          <a:p>
            <a:pPr indent="-762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Part of the schema, helps define a </a:t>
            </a:r>
            <a:r>
              <a:rPr b="0" i="1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valid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instance</a:t>
            </a:r>
            <a:endParaRPr/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17" name="Google Shape;317;p32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318" name="Google Shape;318;p32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1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9" name="Google Shape;319;p32"/>
            <p:cNvSpPr txBox="1"/>
            <p:nvPr/>
          </p:nvSpPr>
          <p:spPr>
            <a:xfrm>
              <a:off x="188780" y="-22510"/>
              <a:ext cx="2109167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140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Design Theory  &gt;  Section 1</a:t>
              </a:r>
              <a:endParaRPr/>
            </a:p>
          </p:txBody>
        </p:sp>
      </p:grpSp>
      <p:sp>
        <p:nvSpPr>
          <p:cNvPr id="320" name="Google Shape;320;p32"/>
          <p:cNvSpPr txBox="1"/>
          <p:nvPr/>
        </p:nvSpPr>
        <p:spPr>
          <a:xfrm>
            <a:off x="412906" y="5697602"/>
            <a:ext cx="6065716" cy="830997"/>
          </a:xfrm>
          <a:prstGeom prst="rect">
            <a:avLst/>
          </a:prstGeom>
          <a:solidFill>
            <a:srgbClr val="D8E2F3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Recall: an </a:t>
            </a:r>
            <a:r>
              <a:rPr b="1" i="1" lang="en-US" sz="24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instance</a:t>
            </a: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of a schema is a multiset of tuples conforming to that schema, </a:t>
            </a:r>
            <a:r>
              <a:rPr b="1"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i.e. a table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3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Functional Dependencies as Constraints</a:t>
            </a:r>
            <a:endParaRPr/>
          </a:p>
        </p:txBody>
      </p:sp>
      <p:graphicFrame>
        <p:nvGraphicFramePr>
          <p:cNvPr id="326" name="Google Shape;326;p33"/>
          <p:cNvGraphicFramePr/>
          <p:nvPr/>
        </p:nvGraphicFramePr>
        <p:xfrm>
          <a:off x="7048826" y="201898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{CF7F3F90-F409-4991-A1C1-19F25B11114E}</a:tableStyleId>
              </a:tblPr>
              <a:tblGrid>
                <a:gridCol w="1654250"/>
                <a:gridCol w="1322100"/>
                <a:gridCol w="132862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800"/>
                        <a:t>Student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800"/>
                        <a:t>Course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800"/>
                        <a:t>Room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Mary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CS145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B01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Joe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CS145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B01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Sam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CS145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B01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..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..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..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27" name="Google Shape;327;p33"/>
          <p:cNvSpPr txBox="1"/>
          <p:nvPr/>
        </p:nvSpPr>
        <p:spPr>
          <a:xfrm>
            <a:off x="7763191" y="4938076"/>
            <a:ext cx="3590609" cy="1692771"/>
          </a:xfrm>
          <a:prstGeom prst="rect">
            <a:avLst/>
          </a:prstGeom>
          <a:solidFill>
            <a:srgbClr val="FFF2CC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However, cannot </a:t>
            </a:r>
            <a:r>
              <a:rPr i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prove </a:t>
            </a: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that the FD {Course} -&gt; {Room} is </a:t>
            </a:r>
            <a:r>
              <a:rPr b="1" i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part of the schema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33"/>
          <p:cNvSpPr txBox="1"/>
          <p:nvPr/>
        </p:nvSpPr>
        <p:spPr>
          <a:xfrm>
            <a:off x="838200" y="1690688"/>
            <a:ext cx="5215128" cy="4710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Note that:</a:t>
            </a:r>
            <a:endParaRPr/>
          </a:p>
          <a:p>
            <a:pPr indent="-4572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You can check if an FD is </a:t>
            </a: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violated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by examining a single instance;</a:t>
            </a:r>
            <a:endParaRPr/>
          </a:p>
          <a:p>
            <a:pPr indent="-279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572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However, you </a:t>
            </a: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cannot prove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that an FD is part of the schema by examining a single instance. </a:t>
            </a:r>
            <a:endParaRPr/>
          </a:p>
          <a:p>
            <a:pPr indent="-4572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1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This would require checking every valid instance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29" name="Google Shape;329;p33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330" name="Google Shape;330;p33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1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1" name="Google Shape;331;p33"/>
            <p:cNvSpPr txBox="1"/>
            <p:nvPr/>
          </p:nvSpPr>
          <p:spPr>
            <a:xfrm>
              <a:off x="188780" y="-22510"/>
              <a:ext cx="2109167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140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Design Theory  &gt;  Section 1</a:t>
              </a:r>
              <a:endParaRPr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3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More Examples</a:t>
            </a:r>
            <a:endParaRPr/>
          </a:p>
        </p:txBody>
      </p:sp>
      <p:sp>
        <p:nvSpPr>
          <p:cNvPr id="337" name="Google Shape;337;p3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38" name="Google Shape;338;p34"/>
          <p:cNvSpPr/>
          <p:nvPr/>
        </p:nvSpPr>
        <p:spPr>
          <a:xfrm>
            <a:off x="1939925" y="1533525"/>
            <a:ext cx="8093374" cy="9622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 FD is a constraint which </a:t>
            </a:r>
            <a:r>
              <a:rPr lang="en-US" sz="2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holds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or </a:t>
            </a:r>
            <a:r>
              <a:rPr lang="en-US" sz="2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does not hold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on an instance:</a:t>
            </a:r>
            <a:endParaRPr/>
          </a:p>
        </p:txBody>
      </p:sp>
      <p:graphicFrame>
        <p:nvGraphicFramePr>
          <p:cNvPr id="339" name="Google Shape;339;p34"/>
          <p:cNvGraphicFramePr/>
          <p:nvPr/>
        </p:nvGraphicFramePr>
        <p:xfrm>
          <a:off x="2671912" y="257983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{7243359E-227B-4974-B2ED-5EDE406F0A3F}</a:tableStyleId>
              </a:tblPr>
              <a:tblGrid>
                <a:gridCol w="1657350"/>
                <a:gridCol w="1657350"/>
                <a:gridCol w="1657350"/>
                <a:gridCol w="1657350"/>
              </a:tblGrid>
              <a:tr h="365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EmpID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Name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Phone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Position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6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E0045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Smith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1234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Clerk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E3542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Mike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9876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Salesrep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6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E1111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Smith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9876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Salesrep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E9999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Mary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1234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Lawyer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340" name="Google Shape;340;p34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341" name="Google Shape;341;p34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1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2" name="Google Shape;342;p34"/>
            <p:cNvSpPr txBox="1"/>
            <p:nvPr/>
          </p:nvSpPr>
          <p:spPr>
            <a:xfrm>
              <a:off x="188780" y="-22510"/>
              <a:ext cx="4132734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140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Design Theory  &gt;  Section 1  &gt;  Functional dependencies</a:t>
              </a:r>
              <a:endParaRPr/>
            </a:p>
          </p:txBody>
        </p: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3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More Examples</a:t>
            </a:r>
            <a:endParaRPr/>
          </a:p>
        </p:txBody>
      </p:sp>
      <p:sp>
        <p:nvSpPr>
          <p:cNvPr id="348" name="Google Shape;348;p3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49" name="Google Shape;349;p35"/>
          <p:cNvSpPr/>
          <p:nvPr/>
        </p:nvSpPr>
        <p:spPr>
          <a:xfrm>
            <a:off x="3194050" y="2319339"/>
            <a:ext cx="1525588" cy="1587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35"/>
          <p:cNvSpPr/>
          <p:nvPr/>
        </p:nvSpPr>
        <p:spPr>
          <a:xfrm>
            <a:off x="4729164" y="2319339"/>
            <a:ext cx="9525" cy="1587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35"/>
          <p:cNvSpPr/>
          <p:nvPr/>
        </p:nvSpPr>
        <p:spPr>
          <a:xfrm>
            <a:off x="4719639" y="2319339"/>
            <a:ext cx="9525" cy="1587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35"/>
          <p:cNvSpPr/>
          <p:nvPr/>
        </p:nvSpPr>
        <p:spPr>
          <a:xfrm>
            <a:off x="4738688" y="2319339"/>
            <a:ext cx="1295400" cy="1587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35"/>
          <p:cNvSpPr/>
          <p:nvPr/>
        </p:nvSpPr>
        <p:spPr>
          <a:xfrm>
            <a:off x="6034089" y="2319339"/>
            <a:ext cx="7937" cy="1587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35"/>
          <p:cNvSpPr/>
          <p:nvPr/>
        </p:nvSpPr>
        <p:spPr>
          <a:xfrm>
            <a:off x="7391400" y="2319339"/>
            <a:ext cx="7938" cy="1587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35"/>
          <p:cNvSpPr/>
          <p:nvPr/>
        </p:nvSpPr>
        <p:spPr>
          <a:xfrm>
            <a:off x="6034089" y="2319339"/>
            <a:ext cx="7937" cy="466725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35"/>
          <p:cNvSpPr/>
          <p:nvPr/>
        </p:nvSpPr>
        <p:spPr>
          <a:xfrm>
            <a:off x="3194050" y="2805114"/>
            <a:ext cx="1525588" cy="1587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35"/>
          <p:cNvSpPr/>
          <p:nvPr/>
        </p:nvSpPr>
        <p:spPr>
          <a:xfrm>
            <a:off x="4729164" y="2805114"/>
            <a:ext cx="9525" cy="1587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35"/>
          <p:cNvSpPr/>
          <p:nvPr/>
        </p:nvSpPr>
        <p:spPr>
          <a:xfrm>
            <a:off x="4719639" y="2805114"/>
            <a:ext cx="9525" cy="1587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35"/>
          <p:cNvSpPr/>
          <p:nvPr/>
        </p:nvSpPr>
        <p:spPr>
          <a:xfrm>
            <a:off x="4738688" y="2805114"/>
            <a:ext cx="1295400" cy="1587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35"/>
          <p:cNvSpPr/>
          <p:nvPr/>
        </p:nvSpPr>
        <p:spPr>
          <a:xfrm>
            <a:off x="6034089" y="2805114"/>
            <a:ext cx="7937" cy="1587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35"/>
          <p:cNvSpPr/>
          <p:nvPr/>
        </p:nvSpPr>
        <p:spPr>
          <a:xfrm>
            <a:off x="7391400" y="2805114"/>
            <a:ext cx="7938" cy="1587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35"/>
          <p:cNvSpPr/>
          <p:nvPr/>
        </p:nvSpPr>
        <p:spPr>
          <a:xfrm>
            <a:off x="6034089" y="2806701"/>
            <a:ext cx="7937" cy="466725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35"/>
          <p:cNvSpPr/>
          <p:nvPr/>
        </p:nvSpPr>
        <p:spPr>
          <a:xfrm>
            <a:off x="6034089" y="3273426"/>
            <a:ext cx="7937" cy="9525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35"/>
          <p:cNvSpPr/>
          <p:nvPr/>
        </p:nvSpPr>
        <p:spPr>
          <a:xfrm>
            <a:off x="6034089" y="3282951"/>
            <a:ext cx="7937" cy="466725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35"/>
          <p:cNvSpPr/>
          <p:nvPr/>
        </p:nvSpPr>
        <p:spPr>
          <a:xfrm>
            <a:off x="6034089" y="3749676"/>
            <a:ext cx="7937" cy="9525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35"/>
          <p:cNvSpPr/>
          <p:nvPr/>
        </p:nvSpPr>
        <p:spPr>
          <a:xfrm>
            <a:off x="6034089" y="3759201"/>
            <a:ext cx="7937" cy="468313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35"/>
          <p:cNvSpPr/>
          <p:nvPr/>
        </p:nvSpPr>
        <p:spPr>
          <a:xfrm>
            <a:off x="3176588" y="4227514"/>
            <a:ext cx="17462" cy="9525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35"/>
          <p:cNvSpPr/>
          <p:nvPr/>
        </p:nvSpPr>
        <p:spPr>
          <a:xfrm>
            <a:off x="3194050" y="4227514"/>
            <a:ext cx="1525588" cy="9525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35"/>
          <p:cNvSpPr/>
          <p:nvPr/>
        </p:nvSpPr>
        <p:spPr>
          <a:xfrm>
            <a:off x="4719639" y="4227514"/>
            <a:ext cx="9525" cy="9525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35"/>
          <p:cNvSpPr/>
          <p:nvPr/>
        </p:nvSpPr>
        <p:spPr>
          <a:xfrm>
            <a:off x="4729164" y="4227514"/>
            <a:ext cx="1304925" cy="9525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35"/>
          <p:cNvSpPr/>
          <p:nvPr/>
        </p:nvSpPr>
        <p:spPr>
          <a:xfrm>
            <a:off x="6034089" y="4227514"/>
            <a:ext cx="7937" cy="9525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35"/>
          <p:cNvSpPr/>
          <p:nvPr/>
        </p:nvSpPr>
        <p:spPr>
          <a:xfrm>
            <a:off x="6042026" y="4227514"/>
            <a:ext cx="1349375" cy="9525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35"/>
          <p:cNvSpPr/>
          <p:nvPr/>
        </p:nvSpPr>
        <p:spPr>
          <a:xfrm>
            <a:off x="7391400" y="4227514"/>
            <a:ext cx="7938" cy="9525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35"/>
          <p:cNvSpPr/>
          <p:nvPr/>
        </p:nvSpPr>
        <p:spPr>
          <a:xfrm>
            <a:off x="7399338" y="4227514"/>
            <a:ext cx="1706562" cy="9525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35"/>
          <p:cNvSpPr/>
          <p:nvPr/>
        </p:nvSpPr>
        <p:spPr>
          <a:xfrm>
            <a:off x="9105901" y="4227514"/>
            <a:ext cx="17463" cy="9525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35"/>
          <p:cNvSpPr/>
          <p:nvPr/>
        </p:nvSpPr>
        <p:spPr>
          <a:xfrm>
            <a:off x="4429903" y="5610882"/>
            <a:ext cx="3332194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{Position}  🡪 {Phone}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77" name="Google Shape;377;p35"/>
          <p:cNvGraphicFramePr/>
          <p:nvPr/>
        </p:nvGraphicFramePr>
        <p:xfrm>
          <a:off x="2710244" y="201460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{7243359E-227B-4974-B2ED-5EDE406F0A3F}</a:tableStyleId>
              </a:tblPr>
              <a:tblGrid>
                <a:gridCol w="1657350"/>
                <a:gridCol w="1657350"/>
                <a:gridCol w="1657350"/>
                <a:gridCol w="1657350"/>
              </a:tblGrid>
              <a:tr h="365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EmpID</a:t>
                      </a:r>
                      <a:endParaRPr b="0" i="0" sz="28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Name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Phone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Position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</a:tr>
              <a:tr h="366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E0045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Smith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1234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Clerk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E3542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Mike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9876    ←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Salesrep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66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E1111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Smith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9876    ←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Salesrep</a:t>
                      </a:r>
                      <a:endParaRPr b="0" i="0" sz="28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E9999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Mary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1234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Lawyer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</a:tr>
            </a:tbl>
          </a:graphicData>
        </a:graphic>
      </p:graphicFrame>
      <p:sp>
        <p:nvSpPr>
          <p:cNvPr id="378" name="Google Shape;378;p35"/>
          <p:cNvSpPr/>
          <p:nvPr/>
        </p:nvSpPr>
        <p:spPr>
          <a:xfrm>
            <a:off x="5897879" y="2931192"/>
            <a:ext cx="3538729" cy="1275685"/>
          </a:xfrm>
          <a:prstGeom prst="roundRect">
            <a:avLst>
              <a:gd fmla="val 16667" name="adj"/>
            </a:avLst>
          </a:prstGeom>
          <a:solidFill>
            <a:srgbClr val="FFF2CC">
              <a:alpha val="49803"/>
            </a:srgbClr>
          </a:solidFill>
          <a:ln cap="flat" cmpd="sng" w="12700">
            <a:solidFill>
              <a:schemeClr val="accent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79" name="Google Shape;379;p35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380" name="Google Shape;380;p35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1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1" name="Google Shape;381;p35"/>
            <p:cNvSpPr txBox="1"/>
            <p:nvPr/>
          </p:nvSpPr>
          <p:spPr>
            <a:xfrm>
              <a:off x="188780" y="-22510"/>
              <a:ext cx="4132734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140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Design Theory  &gt;  Section 1  &gt;  Functional dependencies</a:t>
              </a:r>
              <a:endParaRPr/>
            </a:p>
          </p:txBody>
        </p: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3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More Examples</a:t>
            </a:r>
            <a:endParaRPr/>
          </a:p>
        </p:txBody>
      </p:sp>
      <p:sp>
        <p:nvSpPr>
          <p:cNvPr id="387" name="Google Shape;387;p3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aphicFrame>
        <p:nvGraphicFramePr>
          <p:cNvPr id="388" name="Google Shape;388;p36"/>
          <p:cNvGraphicFramePr/>
          <p:nvPr/>
        </p:nvGraphicFramePr>
        <p:xfrm>
          <a:off x="2781300" y="204231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{7243359E-227B-4974-B2ED-5EDE406F0A3F}</a:tableStyleId>
              </a:tblPr>
              <a:tblGrid>
                <a:gridCol w="1657350"/>
                <a:gridCol w="1657350"/>
                <a:gridCol w="1657350"/>
                <a:gridCol w="1657350"/>
              </a:tblGrid>
              <a:tr h="365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EmpID</a:t>
                      </a:r>
                      <a:endParaRPr b="0" i="0" sz="28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>
                        <a:alpha val="4980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Name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>
                        <a:alpha val="4980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Phone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>
                        <a:alpha val="4980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Position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>
                        <a:alpha val="49803"/>
                      </a:srgbClr>
                    </a:solidFill>
                  </a:tcPr>
                </a:tc>
              </a:tr>
              <a:tr h="366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E0045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>
                        <a:alpha val="4980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Smith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>
                        <a:alpha val="4980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1234    →</a:t>
                      </a:r>
                      <a:endParaRPr b="0" i="0" sz="28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Clerk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E3542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>
                        <a:alpha val="4980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Mike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>
                        <a:alpha val="4980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9876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>
                        <a:alpha val="4980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Salesrep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>
                        <a:alpha val="49803"/>
                      </a:srgbClr>
                    </a:solidFill>
                  </a:tcPr>
                </a:tc>
              </a:tr>
              <a:tr h="366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E1111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>
                        <a:alpha val="4980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Smith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>
                        <a:alpha val="4980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9876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>
                        <a:alpha val="4980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Salesrep</a:t>
                      </a:r>
                      <a:endParaRPr b="0" i="0" sz="28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>
                        <a:alpha val="49803"/>
                      </a:srgbClr>
                    </a:solidFill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E9999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>
                        <a:alpha val="4980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Mary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>
                        <a:alpha val="4980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1234    →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Lawyer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89" name="Google Shape;389;p36"/>
          <p:cNvSpPr/>
          <p:nvPr/>
        </p:nvSpPr>
        <p:spPr>
          <a:xfrm>
            <a:off x="3743976" y="5257800"/>
            <a:ext cx="4617803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7C8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but </a:t>
            </a:r>
            <a:r>
              <a:rPr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not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{Phone}  🡪  {Position}</a:t>
            </a:r>
            <a:endParaRPr/>
          </a:p>
        </p:txBody>
      </p:sp>
      <p:sp>
        <p:nvSpPr>
          <p:cNvPr id="390" name="Google Shape;390;p36"/>
          <p:cNvSpPr/>
          <p:nvPr/>
        </p:nvSpPr>
        <p:spPr>
          <a:xfrm>
            <a:off x="5943599" y="2467231"/>
            <a:ext cx="3593593" cy="660017"/>
          </a:xfrm>
          <a:prstGeom prst="roundRect">
            <a:avLst>
              <a:gd fmla="val 16667" name="adj"/>
            </a:avLst>
          </a:prstGeom>
          <a:solidFill>
            <a:srgbClr val="FBE4D4">
              <a:alpha val="49803"/>
            </a:srgbClr>
          </a:solidFill>
          <a:ln cap="flat" cmpd="sng" w="12700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36"/>
          <p:cNvSpPr/>
          <p:nvPr/>
        </p:nvSpPr>
        <p:spPr>
          <a:xfrm>
            <a:off x="5925311" y="4066176"/>
            <a:ext cx="3593593" cy="660017"/>
          </a:xfrm>
          <a:prstGeom prst="roundRect">
            <a:avLst>
              <a:gd fmla="val 16667" name="adj"/>
            </a:avLst>
          </a:prstGeom>
          <a:solidFill>
            <a:srgbClr val="FBE4D4">
              <a:alpha val="49803"/>
            </a:srgbClr>
          </a:solidFill>
          <a:ln cap="flat" cmpd="sng" w="12700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92" name="Google Shape;392;p36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393" name="Google Shape;393;p36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1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4" name="Google Shape;394;p36"/>
            <p:cNvSpPr txBox="1"/>
            <p:nvPr/>
          </p:nvSpPr>
          <p:spPr>
            <a:xfrm>
              <a:off x="188780" y="-22510"/>
              <a:ext cx="4132734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140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Design Theory  &gt;  Section 1  &gt;  Functional dependencies</a:t>
              </a:r>
              <a:endParaRPr/>
            </a:p>
          </p:txBody>
        </p: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37"/>
          <p:cNvSpPr txBox="1"/>
          <p:nvPr>
            <p:ph type="title"/>
          </p:nvPr>
        </p:nvSpPr>
        <p:spPr>
          <a:xfrm>
            <a:off x="448392" y="707922"/>
            <a:ext cx="10515600" cy="103269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n-US"/>
              <a:t>ACTIVITY</a:t>
            </a:r>
            <a:endParaRPr/>
          </a:p>
        </p:txBody>
      </p:sp>
      <p:sp>
        <p:nvSpPr>
          <p:cNvPr id="401" name="Google Shape;401;p3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402" name="Google Shape;402;p37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403" name="Google Shape;403;p37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rgbClr val="D8E2F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1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4" name="Google Shape;404;p37"/>
            <p:cNvSpPr txBox="1"/>
            <p:nvPr/>
          </p:nvSpPr>
          <p:spPr>
            <a:xfrm>
              <a:off x="188780" y="-22510"/>
              <a:ext cx="2995372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140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Design Theory  &gt;  Section 1  &gt;  ACTIVITY</a:t>
              </a:r>
              <a:endParaRPr/>
            </a:p>
          </p:txBody>
        </p:sp>
      </p:grpSp>
      <p:graphicFrame>
        <p:nvGraphicFramePr>
          <p:cNvPr id="405" name="Google Shape;405;p37"/>
          <p:cNvGraphicFramePr/>
          <p:nvPr/>
        </p:nvGraphicFramePr>
        <p:xfrm>
          <a:off x="449909" y="2009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{7243359E-227B-4974-B2ED-5EDE406F0A3F}</a:tableStyleId>
              </a:tblPr>
              <a:tblGrid>
                <a:gridCol w="1084725"/>
                <a:gridCol w="988825"/>
                <a:gridCol w="1275900"/>
                <a:gridCol w="1190850"/>
                <a:gridCol w="1105775"/>
              </a:tblGrid>
              <a:tr h="586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Times New Roman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Times New Roman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Times New Roman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Times New Roman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Times New Roman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2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Times New Roman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Times New Roman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Times New Roman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Times New Roman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Times New Roman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51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Times New Roman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Times New Roman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Times New Roman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Times New Roman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Times New Roman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51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Times New Roman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Times New Roman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Times New Roman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Times New Roman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Times New Roman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51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Times New Roman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Times New Roman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Times New Roman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Times New Roman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Times New Roman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51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Times New Roman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Times New Roman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Times New Roman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Times New Roman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Times New Roman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06" name="Google Shape;406;p37"/>
          <p:cNvSpPr txBox="1"/>
          <p:nvPr/>
        </p:nvSpPr>
        <p:spPr>
          <a:xfrm>
            <a:off x="6917673" y="1740617"/>
            <a:ext cx="4629286" cy="95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Find at least </a:t>
            </a:r>
            <a:r>
              <a:rPr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three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FDs which are violated on this instance:</a:t>
            </a:r>
            <a:endParaRPr/>
          </a:p>
        </p:txBody>
      </p:sp>
      <p:sp>
        <p:nvSpPr>
          <p:cNvPr id="407" name="Google Shape;407;p37"/>
          <p:cNvSpPr txBox="1"/>
          <p:nvPr/>
        </p:nvSpPr>
        <p:spPr>
          <a:xfrm>
            <a:off x="6917673" y="2939434"/>
            <a:ext cx="3087565" cy="1200329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C0504D"/>
                </a:solidFill>
                <a:latin typeface="Arial"/>
                <a:ea typeface="Arial"/>
                <a:cs typeface="Arial"/>
                <a:sym typeface="Arial"/>
              </a:rPr>
              <a:t>{    }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🡪 </a:t>
            </a:r>
            <a:r>
              <a:rPr lang="en-US" sz="2400">
                <a:solidFill>
                  <a:srgbClr val="C0504D"/>
                </a:solidFill>
                <a:latin typeface="Arial"/>
                <a:ea typeface="Arial"/>
                <a:cs typeface="Arial"/>
                <a:sym typeface="Arial"/>
              </a:rPr>
              <a:t>{    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C0504D"/>
                </a:solidFill>
                <a:latin typeface="Arial"/>
                <a:ea typeface="Arial"/>
                <a:cs typeface="Arial"/>
                <a:sym typeface="Arial"/>
              </a:rPr>
              <a:t>{    }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🡪 </a:t>
            </a:r>
            <a:r>
              <a:rPr lang="en-US" sz="2400">
                <a:solidFill>
                  <a:srgbClr val="C0504D"/>
                </a:solidFill>
                <a:latin typeface="Arial"/>
                <a:ea typeface="Arial"/>
                <a:cs typeface="Arial"/>
                <a:sym typeface="Arial"/>
              </a:rPr>
              <a:t>{    }</a:t>
            </a:r>
            <a:endParaRPr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C0504D"/>
                </a:solidFill>
                <a:latin typeface="Arial"/>
                <a:ea typeface="Arial"/>
                <a:cs typeface="Arial"/>
                <a:sym typeface="Arial"/>
              </a:rPr>
              <a:t>{    }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🡪 </a:t>
            </a:r>
            <a:r>
              <a:rPr lang="en-US" sz="2400">
                <a:solidFill>
                  <a:srgbClr val="C0504D"/>
                </a:solidFill>
                <a:latin typeface="Arial"/>
                <a:ea typeface="Arial"/>
                <a:cs typeface="Arial"/>
                <a:sym typeface="Arial"/>
              </a:rPr>
              <a:t>{    }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38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n-US"/>
              <a:t>2. Finding functional dependencies</a:t>
            </a:r>
            <a:endParaRPr/>
          </a:p>
        </p:txBody>
      </p:sp>
      <p:sp>
        <p:nvSpPr>
          <p:cNvPr id="413" name="Google Shape;413;p3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414" name="Google Shape;414;p38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415" name="Google Shape;415;p38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1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6" name="Google Shape;416;p38"/>
            <p:cNvSpPr txBox="1"/>
            <p:nvPr/>
          </p:nvSpPr>
          <p:spPr>
            <a:xfrm>
              <a:off x="188780" y="-22510"/>
              <a:ext cx="2109167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140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Design Theory  &gt;  Section 2</a:t>
              </a:r>
              <a:endParaRPr/>
            </a:p>
          </p:txBody>
        </p:sp>
      </p:grp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39"/>
          <p:cNvSpPr/>
          <p:nvPr/>
        </p:nvSpPr>
        <p:spPr>
          <a:xfrm>
            <a:off x="0" y="4661338"/>
            <a:ext cx="8610600" cy="882869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3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What you will learn about in this section</a:t>
            </a:r>
            <a:endParaRPr/>
          </a:p>
        </p:txBody>
      </p:sp>
      <p:sp>
        <p:nvSpPr>
          <p:cNvPr id="424" name="Google Shape;424;p39"/>
          <p:cNvSpPr txBox="1"/>
          <p:nvPr>
            <p:ph idx="1" type="body"/>
          </p:nvPr>
        </p:nvSpPr>
        <p:spPr>
          <a:xfrm>
            <a:off x="838200" y="1825624"/>
            <a:ext cx="10515600" cy="41757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14350" lvl="0" marL="5143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AutoNum type="arabicPeriod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“Good” vs. “Bad” FDs: Intuition</a:t>
            </a:r>
            <a:endParaRPr/>
          </a:p>
          <a:p>
            <a:pPr indent="-336550" lvl="0" marL="5143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514350" lvl="0" marL="5143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AutoNum type="arabicPeriod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Finding FDs</a:t>
            </a:r>
            <a:endParaRPr/>
          </a:p>
          <a:p>
            <a:pPr indent="-336550" lvl="0" marL="5143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514350" lvl="0" marL="5143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AutoNum type="arabicPeriod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Closures</a:t>
            </a:r>
            <a:endParaRPr/>
          </a:p>
          <a:p>
            <a:pPr indent="-336550" lvl="0" marL="5143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514350" lvl="0" marL="5143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AutoNum type="arabicPeriod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ACTIVITY: Compute the closures</a:t>
            </a:r>
            <a:endParaRPr/>
          </a:p>
        </p:txBody>
      </p:sp>
      <p:sp>
        <p:nvSpPr>
          <p:cNvPr id="425" name="Google Shape;425;p3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426" name="Google Shape;426;p39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427" name="Google Shape;427;p39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1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8" name="Google Shape;428;p39"/>
            <p:cNvSpPr txBox="1"/>
            <p:nvPr/>
          </p:nvSpPr>
          <p:spPr>
            <a:xfrm>
              <a:off x="188780" y="-22510"/>
              <a:ext cx="2109167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140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Design Theory  &gt;  Section 2</a:t>
              </a:r>
              <a:endParaRPr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40"/>
          <p:cNvSpPr txBox="1"/>
          <p:nvPr>
            <p:ph type="title"/>
          </p:nvPr>
        </p:nvSpPr>
        <p:spPr>
          <a:xfrm>
            <a:off x="699169" y="365125"/>
            <a:ext cx="10654631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“Good” vs. “Bad” FDs</a:t>
            </a:r>
            <a:endParaRPr/>
          </a:p>
        </p:txBody>
      </p:sp>
      <p:sp>
        <p:nvSpPr>
          <p:cNvPr id="434" name="Google Shape;434;p4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35" name="Google Shape;435;p40"/>
          <p:cNvSpPr/>
          <p:nvPr/>
        </p:nvSpPr>
        <p:spPr>
          <a:xfrm>
            <a:off x="699169" y="1743578"/>
            <a:ext cx="7967566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 can start to develop a notion of </a:t>
            </a: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good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vs. </a:t>
            </a: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bad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FDs:</a:t>
            </a:r>
            <a:endParaRPr/>
          </a:p>
        </p:txBody>
      </p:sp>
      <p:graphicFrame>
        <p:nvGraphicFramePr>
          <p:cNvPr id="436" name="Google Shape;436;p40"/>
          <p:cNvGraphicFramePr/>
          <p:nvPr/>
        </p:nvGraphicFramePr>
        <p:xfrm>
          <a:off x="699169" y="253973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{7243359E-227B-4974-B2ED-5EDE406F0A3F}</a:tableStyleId>
              </a:tblPr>
              <a:tblGrid>
                <a:gridCol w="1450550"/>
                <a:gridCol w="1450550"/>
                <a:gridCol w="1450550"/>
                <a:gridCol w="1450550"/>
              </a:tblGrid>
              <a:tr h="365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EmpID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Name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Phone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Position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6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E0045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Smith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1234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Clerk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E3542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Mike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9876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Salesrep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6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E1111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Smith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9876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Salesrep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E9999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Mary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1234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Lawyer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37" name="Google Shape;437;p40"/>
          <p:cNvSpPr txBox="1"/>
          <p:nvPr/>
        </p:nvSpPr>
        <p:spPr>
          <a:xfrm>
            <a:off x="7621871" y="2539730"/>
            <a:ext cx="3731929" cy="2893100"/>
          </a:xfrm>
          <a:prstGeom prst="rect">
            <a:avLst/>
          </a:prstGeom>
          <a:solidFill>
            <a:srgbClr val="FFF2CC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Intuitively: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EmpID -&gt; Name, Phone, Position i</a:t>
            </a:r>
            <a:r>
              <a:rPr i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 “good FD”</a:t>
            </a:r>
            <a:endParaRPr/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b="1" i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Minimal redundancy, less possibility of anomalies</a:t>
            </a:r>
            <a:endParaRPr/>
          </a:p>
        </p:txBody>
      </p:sp>
      <p:grpSp>
        <p:nvGrpSpPr>
          <p:cNvPr id="438" name="Google Shape;438;p40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439" name="Google Shape;439;p40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1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0" name="Google Shape;440;p40"/>
            <p:cNvSpPr txBox="1"/>
            <p:nvPr/>
          </p:nvSpPr>
          <p:spPr>
            <a:xfrm>
              <a:off x="188780" y="-22510"/>
              <a:ext cx="3595856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140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Design Theory  &gt;  Section 2  &gt;  Good vs. Bad FDs</a:t>
              </a:r>
              <a:endParaRPr/>
            </a:p>
          </p:txBody>
        </p:sp>
      </p:grpSp>
      <p:sp>
        <p:nvSpPr>
          <p:cNvPr id="441" name="Google Shape;441;p40"/>
          <p:cNvSpPr/>
          <p:nvPr/>
        </p:nvSpPr>
        <p:spPr>
          <a:xfrm>
            <a:off x="630935" y="2986056"/>
            <a:ext cx="5943601" cy="2144474"/>
          </a:xfrm>
          <a:prstGeom prst="roundRect">
            <a:avLst>
              <a:gd fmla="val 16667" name="adj"/>
            </a:avLst>
          </a:prstGeom>
          <a:solidFill>
            <a:srgbClr val="FFF2CC">
              <a:alpha val="49803"/>
            </a:srgbClr>
          </a:solidFill>
          <a:ln cap="flat" cmpd="sng" w="12700">
            <a:solidFill>
              <a:schemeClr val="accent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41"/>
          <p:cNvSpPr txBox="1"/>
          <p:nvPr>
            <p:ph type="title"/>
          </p:nvPr>
        </p:nvSpPr>
        <p:spPr>
          <a:xfrm>
            <a:off x="699169" y="365125"/>
            <a:ext cx="10654631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“Good” vs. “Bad” FDs</a:t>
            </a:r>
            <a:endParaRPr/>
          </a:p>
        </p:txBody>
      </p:sp>
      <p:sp>
        <p:nvSpPr>
          <p:cNvPr id="447" name="Google Shape;447;p4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48" name="Google Shape;448;p41"/>
          <p:cNvSpPr/>
          <p:nvPr/>
        </p:nvSpPr>
        <p:spPr>
          <a:xfrm>
            <a:off x="699169" y="1743578"/>
            <a:ext cx="7967566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 can start to develop a notion of </a:t>
            </a: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good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vs. </a:t>
            </a: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bad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FDs:</a:t>
            </a:r>
            <a:endParaRPr/>
          </a:p>
        </p:txBody>
      </p:sp>
      <p:graphicFrame>
        <p:nvGraphicFramePr>
          <p:cNvPr id="449" name="Google Shape;449;p41"/>
          <p:cNvGraphicFramePr/>
          <p:nvPr/>
        </p:nvGraphicFramePr>
        <p:xfrm>
          <a:off x="699169" y="253973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{7243359E-227B-4974-B2ED-5EDE406F0A3F}</a:tableStyleId>
              </a:tblPr>
              <a:tblGrid>
                <a:gridCol w="1450550"/>
                <a:gridCol w="1450550"/>
                <a:gridCol w="1450550"/>
                <a:gridCol w="1450550"/>
              </a:tblGrid>
              <a:tr h="365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EmpID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Name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Phone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Position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6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E0045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Smith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1234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Clerk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E3542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Mike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9876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Salesrep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6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E1111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Smith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9876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Salesrep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E9999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Mary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1234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Lawyer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50" name="Google Shape;450;p41"/>
          <p:cNvSpPr txBox="1"/>
          <p:nvPr/>
        </p:nvSpPr>
        <p:spPr>
          <a:xfrm>
            <a:off x="7621871" y="2539730"/>
            <a:ext cx="3731929" cy="4093428"/>
          </a:xfrm>
          <a:prstGeom prst="rect">
            <a:avLst/>
          </a:prstGeom>
          <a:solidFill>
            <a:srgbClr val="FFF2CC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Intuitively: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EmpID -&gt; Name, Phone, Position i</a:t>
            </a:r>
            <a:r>
              <a:rPr i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 “good FD”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But Position -&gt; Phone </a:t>
            </a:r>
            <a:r>
              <a:rPr i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 a “bad FD”</a:t>
            </a:r>
            <a:endParaRPr/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b="1" i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Redundancy!  Possibility of data anomalies</a:t>
            </a:r>
            <a:endParaRPr/>
          </a:p>
        </p:txBody>
      </p:sp>
      <p:sp>
        <p:nvSpPr>
          <p:cNvPr id="451" name="Google Shape;451;p41"/>
          <p:cNvSpPr/>
          <p:nvPr/>
        </p:nvSpPr>
        <p:spPr>
          <a:xfrm>
            <a:off x="3468036" y="3435240"/>
            <a:ext cx="3033350" cy="1255632"/>
          </a:xfrm>
          <a:prstGeom prst="roundRect">
            <a:avLst>
              <a:gd fmla="val 16667" name="adj"/>
            </a:avLst>
          </a:prstGeom>
          <a:solidFill>
            <a:srgbClr val="FBE4D4">
              <a:alpha val="49803"/>
            </a:srgbClr>
          </a:solidFill>
          <a:ln cap="flat" cmpd="sng" w="12700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52" name="Google Shape;452;p41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453" name="Google Shape;453;p41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1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4" name="Google Shape;454;p41"/>
            <p:cNvSpPr txBox="1"/>
            <p:nvPr/>
          </p:nvSpPr>
          <p:spPr>
            <a:xfrm>
              <a:off x="188780" y="-22510"/>
              <a:ext cx="3595856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140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Design Theory  &gt;  Section 2  &gt;  Good vs. Bad FDs</a:t>
              </a:r>
              <a:endParaRPr/>
            </a:p>
          </p:txBody>
        </p:sp>
      </p:grp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59" name="Google Shape;459;p42"/>
          <p:cNvGraphicFramePr/>
          <p:nvPr/>
        </p:nvGraphicFramePr>
        <p:xfrm>
          <a:off x="1090302" y="169068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{CF7F3F90-F409-4991-A1C1-19F25B11114E}</a:tableStyleId>
              </a:tblPr>
              <a:tblGrid>
                <a:gridCol w="1654250"/>
                <a:gridCol w="1322100"/>
                <a:gridCol w="132862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800"/>
                        <a:t>Student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800"/>
                        <a:t>Course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800"/>
                        <a:t>Room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Mary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CS145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B01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Joe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CS145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B01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Sam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CS145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B01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..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..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..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60" name="Google Shape;460;p42"/>
          <p:cNvSpPr txBox="1"/>
          <p:nvPr/>
        </p:nvSpPr>
        <p:spPr>
          <a:xfrm>
            <a:off x="2032000" y="5099539"/>
            <a:ext cx="7842249" cy="1477328"/>
          </a:xfrm>
          <a:prstGeom prst="rect">
            <a:avLst/>
          </a:prstGeom>
          <a:solidFill>
            <a:srgbClr val="E1EFD8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Given a set of FDs (from user) our goal is to:</a:t>
            </a:r>
            <a:endParaRPr/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AutoNum type="arabicPeriod"/>
            </a:pPr>
            <a:r>
              <a:rPr b="1" 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Find all FDs, and </a:t>
            </a:r>
            <a:endParaRPr/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AutoNum type="arabicPeriod"/>
            </a:pPr>
            <a:r>
              <a:rPr b="1" 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Eliminate the “Bad Ones".</a:t>
            </a:r>
            <a:endParaRPr/>
          </a:p>
        </p:txBody>
      </p:sp>
      <p:sp>
        <p:nvSpPr>
          <p:cNvPr id="461" name="Google Shape;461;p42"/>
          <p:cNvSpPr txBox="1"/>
          <p:nvPr/>
        </p:nvSpPr>
        <p:spPr>
          <a:xfrm>
            <a:off x="6096000" y="1562672"/>
            <a:ext cx="4956048" cy="32932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Returning to our original example… can you see how the “bad FD” {Course} -&gt; {Room} could lead to an: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b="0" i="0" lang="en-US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Update Anomaly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b="0" i="0" lang="en-US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Insert Anomaly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b="0" i="0" lang="en-US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Delete Anomaly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b="0" i="0" lang="en-US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…</a:t>
            </a:r>
            <a:endParaRPr/>
          </a:p>
        </p:txBody>
      </p:sp>
      <p:sp>
        <p:nvSpPr>
          <p:cNvPr id="462" name="Google Shape;462;p42"/>
          <p:cNvSpPr txBox="1"/>
          <p:nvPr>
            <p:ph type="title"/>
          </p:nvPr>
        </p:nvSpPr>
        <p:spPr>
          <a:xfrm>
            <a:off x="699169" y="365125"/>
            <a:ext cx="10654631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“Good” vs. “Bad” FDs</a:t>
            </a:r>
            <a:endParaRPr/>
          </a:p>
        </p:txBody>
      </p:sp>
      <p:grpSp>
        <p:nvGrpSpPr>
          <p:cNvPr id="463" name="Google Shape;463;p42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464" name="Google Shape;464;p42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1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5" name="Google Shape;465;p42"/>
            <p:cNvSpPr txBox="1"/>
            <p:nvPr/>
          </p:nvSpPr>
          <p:spPr>
            <a:xfrm>
              <a:off x="188780" y="-22510"/>
              <a:ext cx="3595856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140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Design Theory  &gt;  Section 2  &gt;  Good vs. Bad FDs</a:t>
              </a:r>
              <a:endParaRPr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4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FDs for Relational Schema Design</a:t>
            </a:r>
            <a:endParaRPr/>
          </a:p>
        </p:txBody>
      </p:sp>
      <p:sp>
        <p:nvSpPr>
          <p:cNvPr id="471" name="Google Shape;471;p4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High-level idea: </a:t>
            </a:r>
            <a:r>
              <a:rPr b="1" lang="en-US"/>
              <a:t>why do we care about FDs?</a:t>
            </a:r>
            <a:endParaRPr/>
          </a:p>
          <a:p>
            <a:pPr indent="-762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-514350" lvl="1" marL="97155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lang="en-US"/>
              <a:t>Start with some relational </a:t>
            </a:r>
            <a:r>
              <a:rPr i="1" lang="en-US"/>
              <a:t>schema</a:t>
            </a:r>
            <a:endParaRPr/>
          </a:p>
          <a:p>
            <a:pPr indent="-361950" lvl="1" marL="97155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/>
          </a:p>
          <a:p>
            <a:pPr indent="-514350" lvl="1" marL="97155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lang="en-US"/>
              <a:t>Find out its </a:t>
            </a:r>
            <a:r>
              <a:rPr i="1" lang="en-US"/>
              <a:t>functional dependencies (FDs)</a:t>
            </a:r>
            <a:endParaRPr/>
          </a:p>
          <a:p>
            <a:pPr indent="-361950" lvl="1" marL="97155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/>
          </a:p>
          <a:p>
            <a:pPr indent="-514350" lvl="1" marL="97155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lang="en-US"/>
              <a:t>Use these to </a:t>
            </a:r>
            <a:r>
              <a:rPr i="1" lang="en-US"/>
              <a:t>design a better schema</a:t>
            </a:r>
            <a:endParaRPr/>
          </a:p>
          <a:p>
            <a:pPr indent="-514350" lvl="2" marL="142875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arabicPeriod"/>
            </a:pPr>
            <a:r>
              <a:rPr lang="en-US"/>
              <a:t>One which minimizes possibility of anomalies</a:t>
            </a:r>
            <a:endParaRPr/>
          </a:p>
          <a:p>
            <a:pPr indent="-762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-762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  <p:grpSp>
        <p:nvGrpSpPr>
          <p:cNvPr id="472" name="Google Shape;472;p43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473" name="Google Shape;473;p43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1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4" name="Google Shape;474;p43"/>
            <p:cNvSpPr txBox="1"/>
            <p:nvPr/>
          </p:nvSpPr>
          <p:spPr>
            <a:xfrm>
              <a:off x="188780" y="-22510"/>
              <a:ext cx="3189591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140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Design Theory  &gt;  Section 2  &gt;  Finding FDs</a:t>
              </a:r>
              <a:endParaRPr/>
            </a:p>
          </p:txBody>
        </p:sp>
      </p:grpSp>
      <p:sp>
        <p:nvSpPr>
          <p:cNvPr id="475" name="Google Shape;475;p43"/>
          <p:cNvSpPr/>
          <p:nvPr/>
        </p:nvSpPr>
        <p:spPr>
          <a:xfrm>
            <a:off x="1133856" y="3273552"/>
            <a:ext cx="6254496" cy="722376"/>
          </a:xfrm>
          <a:prstGeom prst="roundRect">
            <a:avLst>
              <a:gd fmla="val 16667" name="adj"/>
            </a:avLst>
          </a:prstGeom>
          <a:solidFill>
            <a:schemeClr val="accent1">
              <a:alpha val="2000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43"/>
          <p:cNvSpPr txBox="1"/>
          <p:nvPr/>
        </p:nvSpPr>
        <p:spPr>
          <a:xfrm>
            <a:off x="8180832" y="3401568"/>
            <a:ext cx="3172968" cy="461665"/>
          </a:xfrm>
          <a:prstGeom prst="rect">
            <a:avLst/>
          </a:prstGeom>
          <a:solidFill>
            <a:srgbClr val="FFF2CC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This part can be tricky!</a:t>
            </a:r>
            <a:endParaRPr i="1"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4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Finding Functional Dependencies</a:t>
            </a:r>
            <a:endParaRPr i="1" sz="2200"/>
          </a:p>
        </p:txBody>
      </p:sp>
      <p:sp>
        <p:nvSpPr>
          <p:cNvPr id="482" name="Google Shape;482;p44"/>
          <p:cNvSpPr txBox="1"/>
          <p:nvPr>
            <p:ph idx="1" type="body"/>
          </p:nvPr>
        </p:nvSpPr>
        <p:spPr>
          <a:xfrm>
            <a:off x="838200" y="2072513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There can be a very </a:t>
            </a:r>
            <a:r>
              <a:rPr b="1" lang="en-US"/>
              <a:t>large number</a:t>
            </a:r>
            <a:r>
              <a:rPr lang="en-US"/>
              <a:t> of FDs…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i="1" lang="en-US"/>
              <a:t>How to find them all efficiently?</a:t>
            </a:r>
            <a:endParaRPr/>
          </a:p>
          <a:p>
            <a:pPr indent="-762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i="1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We can’t necessarily show that any FD will hold </a:t>
            </a:r>
            <a:r>
              <a:rPr b="1" lang="en-US"/>
              <a:t>on all instances…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i="1" lang="en-US"/>
              <a:t>How to do this?</a:t>
            </a:r>
            <a:endParaRPr/>
          </a:p>
        </p:txBody>
      </p:sp>
      <p:sp>
        <p:nvSpPr>
          <p:cNvPr id="483" name="Google Shape;483;p44"/>
          <p:cNvSpPr txBox="1"/>
          <p:nvPr/>
        </p:nvSpPr>
        <p:spPr>
          <a:xfrm>
            <a:off x="2337816" y="4875384"/>
            <a:ext cx="7516368" cy="954107"/>
          </a:xfrm>
          <a:prstGeom prst="rect">
            <a:avLst/>
          </a:prstGeom>
          <a:solidFill>
            <a:srgbClr val="E1EFD8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 will start with this problem: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Given a set of FDs, F, what other FDs </a:t>
            </a:r>
            <a:r>
              <a:rPr b="1"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must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hold?</a:t>
            </a:r>
            <a:endParaRPr/>
          </a:p>
        </p:txBody>
      </p:sp>
      <p:grpSp>
        <p:nvGrpSpPr>
          <p:cNvPr id="484" name="Google Shape;484;p44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485" name="Google Shape;485;p44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1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6" name="Google Shape;486;p44"/>
            <p:cNvSpPr txBox="1"/>
            <p:nvPr/>
          </p:nvSpPr>
          <p:spPr>
            <a:xfrm>
              <a:off x="188780" y="-22510"/>
              <a:ext cx="3189591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140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Design Theory  &gt;  Section 2  &gt;  Finding FDs</a:t>
              </a:r>
              <a:endParaRPr/>
            </a:p>
          </p:txBody>
        </p:sp>
      </p:grp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4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Finding Functional Dependencies</a:t>
            </a:r>
            <a:endParaRPr i="1" sz="2200"/>
          </a:p>
        </p:txBody>
      </p:sp>
      <p:sp>
        <p:nvSpPr>
          <p:cNvPr id="492" name="Google Shape;492;p4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Equivalent to asking: Given a set of FDs, F = {f</a:t>
            </a:r>
            <a:r>
              <a:rPr baseline="-25000" lang="en-US"/>
              <a:t>1</a:t>
            </a:r>
            <a:r>
              <a:rPr lang="en-US"/>
              <a:t>,…f</a:t>
            </a:r>
            <a:r>
              <a:rPr baseline="-25000" lang="en-US"/>
              <a:t>n</a:t>
            </a:r>
            <a:r>
              <a:rPr lang="en-US"/>
              <a:t>}, does an FD g hold?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/>
              <a:t>Inference problem</a:t>
            </a:r>
            <a:r>
              <a:rPr lang="en-US"/>
              <a:t>: How do we decide?</a:t>
            </a:r>
            <a:endParaRPr/>
          </a:p>
        </p:txBody>
      </p:sp>
      <p:grpSp>
        <p:nvGrpSpPr>
          <p:cNvPr id="493" name="Google Shape;493;p45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494" name="Google Shape;494;p45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1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5" name="Google Shape;495;p45"/>
            <p:cNvSpPr txBox="1"/>
            <p:nvPr/>
          </p:nvSpPr>
          <p:spPr>
            <a:xfrm>
              <a:off x="188780" y="-22510"/>
              <a:ext cx="3189591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140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Design Theory  &gt;  Section 2  &gt;  Finding FDs</a:t>
              </a:r>
              <a:endParaRPr/>
            </a:p>
          </p:txBody>
        </p:sp>
      </p:grp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4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Finding Functional Dependencies</a:t>
            </a:r>
            <a:endParaRPr i="1" sz="2200"/>
          </a:p>
        </p:txBody>
      </p:sp>
      <p:sp>
        <p:nvSpPr>
          <p:cNvPr id="501" name="Google Shape;501;p46"/>
          <p:cNvSpPr txBox="1"/>
          <p:nvPr/>
        </p:nvSpPr>
        <p:spPr>
          <a:xfrm>
            <a:off x="7251192" y="2702413"/>
            <a:ext cx="4617720" cy="1384995"/>
          </a:xfrm>
          <a:prstGeom prst="rect">
            <a:avLst/>
          </a:prstGeom>
          <a:solidFill>
            <a:srgbClr val="FFF2CC"/>
          </a:solidFill>
          <a:ln>
            <a:noFill/>
          </a:ln>
          <a:effectLst>
            <a:outerShdw blurRad="50800" rotWithShape="0" algn="tl" dir="2700000" dist="38100">
              <a:srgbClr val="000000">
                <a:alpha val="42745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 {Name} 🡪 {Color}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 {Category} 🡪 {Department}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3. {Color, Category} 🡪 {Price}</a:t>
            </a:r>
            <a:endParaRPr/>
          </a:p>
        </p:txBody>
      </p:sp>
      <p:graphicFrame>
        <p:nvGraphicFramePr>
          <p:cNvPr id="502" name="Google Shape;502;p46"/>
          <p:cNvGraphicFramePr/>
          <p:nvPr/>
        </p:nvGraphicFramePr>
        <p:xfrm>
          <a:off x="838200" y="267985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{CF7F3F90-F409-4991-A1C1-19F25B11114E}</a:tableStyleId>
              </a:tblPr>
              <a:tblGrid>
                <a:gridCol w="1219200"/>
                <a:gridCol w="1219200"/>
                <a:gridCol w="1475800"/>
                <a:gridCol w="1204875"/>
                <a:gridCol w="97692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/>
                        <a:t>Name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/>
                        <a:t>Color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/>
                        <a:t>Category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/>
                        <a:t>Dep</a:t>
                      </a:r>
                      <a:endParaRPr b="1" sz="24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/>
                        <a:t>Price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Gizmo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Green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Gadget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Toys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49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45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Widget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Black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Gadget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Toys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59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Gizmo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Green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Whatsit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Garden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99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503" name="Google Shape;503;p46"/>
          <p:cNvSpPr txBox="1"/>
          <p:nvPr/>
        </p:nvSpPr>
        <p:spPr>
          <a:xfrm>
            <a:off x="3461922" y="6034619"/>
            <a:ext cx="5268155" cy="492443"/>
          </a:xfrm>
          <a:prstGeom prst="rect">
            <a:avLst/>
          </a:prstGeom>
          <a:solidFill>
            <a:srgbClr val="FBE4D4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Which / how many other FDs do?!? 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46"/>
          <p:cNvSpPr txBox="1"/>
          <p:nvPr/>
        </p:nvSpPr>
        <p:spPr>
          <a:xfrm>
            <a:off x="7141570" y="2209971"/>
            <a:ext cx="2474871" cy="4924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Provided FDs: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46"/>
          <p:cNvSpPr txBox="1"/>
          <p:nvPr/>
        </p:nvSpPr>
        <p:spPr>
          <a:xfrm>
            <a:off x="188780" y="2209970"/>
            <a:ext cx="2474871" cy="4924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Products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46"/>
          <p:cNvSpPr/>
          <p:nvPr/>
        </p:nvSpPr>
        <p:spPr>
          <a:xfrm>
            <a:off x="838200" y="4791197"/>
            <a:ext cx="9137904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Given the provided FDs, we can see that {Name, Category} 🡪 {Price} must also hold on </a:t>
            </a: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any instance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… 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p46"/>
          <p:cNvSpPr txBox="1"/>
          <p:nvPr/>
        </p:nvSpPr>
        <p:spPr>
          <a:xfrm>
            <a:off x="838200" y="1479578"/>
            <a:ext cx="130574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Example:</a:t>
            </a:r>
            <a:endParaRPr/>
          </a:p>
        </p:txBody>
      </p:sp>
      <p:grpSp>
        <p:nvGrpSpPr>
          <p:cNvPr id="508" name="Google Shape;508;p46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509" name="Google Shape;509;p46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1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0" name="Google Shape;510;p46"/>
            <p:cNvSpPr txBox="1"/>
            <p:nvPr/>
          </p:nvSpPr>
          <p:spPr>
            <a:xfrm>
              <a:off x="188780" y="-22510"/>
              <a:ext cx="3189591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140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Design Theory  &gt;  Section 2  &gt;  Finding FDs</a:t>
              </a:r>
              <a:endParaRPr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4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Finding Functional Dependencies</a:t>
            </a:r>
            <a:endParaRPr i="1" sz="2200"/>
          </a:p>
        </p:txBody>
      </p:sp>
      <p:sp>
        <p:nvSpPr>
          <p:cNvPr id="516" name="Google Shape;516;p4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Equivalent to asking: Given a set of FDs, F = {f</a:t>
            </a:r>
            <a:r>
              <a:rPr baseline="-25000" lang="en-US"/>
              <a:t>1</a:t>
            </a:r>
            <a:r>
              <a:rPr lang="en-US"/>
              <a:t>,…f</a:t>
            </a:r>
            <a:r>
              <a:rPr baseline="-25000" lang="en-US"/>
              <a:t>n</a:t>
            </a:r>
            <a:r>
              <a:rPr lang="en-US"/>
              <a:t>}, does an FD g hold?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/>
              <a:t>Inference problem</a:t>
            </a:r>
            <a:r>
              <a:rPr lang="en-US"/>
              <a:t>: How do we decide?</a:t>
            </a:r>
            <a:endParaRPr/>
          </a:p>
        </p:txBody>
      </p:sp>
      <p:sp>
        <p:nvSpPr>
          <p:cNvPr id="517" name="Google Shape;517;p47"/>
          <p:cNvSpPr txBox="1"/>
          <p:nvPr/>
        </p:nvSpPr>
        <p:spPr>
          <a:xfrm>
            <a:off x="2469012" y="3862104"/>
            <a:ext cx="7253979" cy="2400657"/>
          </a:xfrm>
          <a:prstGeom prst="rect">
            <a:avLst/>
          </a:prstGeom>
          <a:solidFill>
            <a:srgbClr val="DDEAF6"/>
          </a:solidFill>
          <a:ln>
            <a:noFill/>
          </a:ln>
          <a:effectLst>
            <a:outerShdw blurRad="50800" rotWithShape="0" algn="tl" dir="2700000" dist="12700">
              <a:srgbClr val="000000">
                <a:alpha val="42745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Answer: Three simple rules called </a:t>
            </a:r>
            <a:r>
              <a:rPr b="1" 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Armstrong’s Rules.</a:t>
            </a:r>
            <a:endParaRPr/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AutoNum type="arabicPeriod"/>
            </a:pPr>
            <a:r>
              <a:rPr b="1" 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Split/Combine,</a:t>
            </a:r>
            <a:endParaRPr/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AutoNum type="arabicPeriod"/>
            </a:pPr>
            <a:r>
              <a:rPr b="1" 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Reduction, and</a:t>
            </a:r>
            <a:endParaRPr/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AutoNum type="arabicPeriod"/>
            </a:pPr>
            <a:r>
              <a:rPr b="1" 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Transitivity… </a:t>
            </a:r>
            <a:r>
              <a:rPr i="1" 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ideas by picture</a:t>
            </a:r>
            <a:endParaRPr/>
          </a:p>
        </p:txBody>
      </p:sp>
      <p:grpSp>
        <p:nvGrpSpPr>
          <p:cNvPr id="518" name="Google Shape;518;p47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519" name="Google Shape;519;p47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1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0" name="Google Shape;520;p47"/>
            <p:cNvSpPr txBox="1"/>
            <p:nvPr/>
          </p:nvSpPr>
          <p:spPr>
            <a:xfrm>
              <a:off x="188780" y="-22510"/>
              <a:ext cx="3189591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140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Design Theory  &gt;  Section 2  &gt;  Finding FDs</a:t>
              </a:r>
              <a:endParaRPr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48"/>
          <p:cNvSpPr txBox="1"/>
          <p:nvPr>
            <p:ph type="title"/>
          </p:nvPr>
        </p:nvSpPr>
        <p:spPr>
          <a:xfrm>
            <a:off x="1981200" y="2540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1. Split/Combine</a:t>
            </a:r>
            <a:endParaRPr/>
          </a:p>
        </p:txBody>
      </p:sp>
      <p:graphicFrame>
        <p:nvGraphicFramePr>
          <p:cNvPr id="526" name="Google Shape;526;p48"/>
          <p:cNvGraphicFramePr/>
          <p:nvPr/>
        </p:nvGraphicFramePr>
        <p:xfrm>
          <a:off x="3048000" y="175520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{CF7F3F90-F409-4991-A1C1-19F25B11114E}</a:tableStyleId>
              </a:tblPr>
              <a:tblGrid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   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A</a:t>
                      </a:r>
                      <a:r>
                        <a:rPr b="1" baseline="-25000" lang="en-US" sz="1800"/>
                        <a:t>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…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A</a:t>
                      </a:r>
                      <a:r>
                        <a:rPr b="1" baseline="-25000" lang="en-US" sz="1800"/>
                        <a:t>m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B</a:t>
                      </a:r>
                      <a:r>
                        <a:rPr b="1" baseline="-25000" lang="en-US" sz="1800"/>
                        <a:t>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…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B</a:t>
                      </a:r>
                      <a:r>
                        <a:rPr b="1" baseline="-25000" lang="en-US" sz="1800"/>
                        <a:t>n</a:t>
                      </a:r>
                      <a:endParaRPr b="1" baseline="-25000"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</a:tr>
            </a:tbl>
          </a:graphicData>
        </a:graphic>
      </p:graphicFrame>
      <p:sp>
        <p:nvSpPr>
          <p:cNvPr id="527" name="Google Shape;527;p48"/>
          <p:cNvSpPr txBox="1"/>
          <p:nvPr/>
        </p:nvSpPr>
        <p:spPr>
          <a:xfrm>
            <a:off x="4191000" y="4304974"/>
            <a:ext cx="381000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baseline="-25000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…, A</a:t>
            </a:r>
            <a:r>
              <a:rPr baseline="-25000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🡪 B</a:t>
            </a:r>
            <a:r>
              <a:rPr baseline="-25000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,…,B</a:t>
            </a:r>
            <a:r>
              <a:rPr baseline="-25000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endParaRPr baseline="-25000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p48"/>
          <p:cNvSpPr/>
          <p:nvPr/>
        </p:nvSpPr>
        <p:spPr>
          <a:xfrm>
            <a:off x="3567954" y="2383987"/>
            <a:ext cx="1968650" cy="128016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AF82">
                  <a:alpha val="49803"/>
                </a:srgbClr>
              </a:gs>
              <a:gs pos="35000">
                <a:srgbClr val="FFC5A7">
                  <a:alpha val="49803"/>
                </a:srgbClr>
              </a:gs>
              <a:gs pos="100000">
                <a:srgbClr val="FFE8DA">
                  <a:alpha val="49803"/>
                </a:srgbClr>
              </a:gs>
            </a:gsLst>
            <a:lin ang="5400000" scaled="0"/>
          </a:gradFill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" name="Google Shape;529;p48"/>
          <p:cNvSpPr/>
          <p:nvPr/>
        </p:nvSpPr>
        <p:spPr>
          <a:xfrm>
            <a:off x="6032350" y="2383987"/>
            <a:ext cx="1968650" cy="128016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AF82">
                  <a:alpha val="49803"/>
                </a:srgbClr>
              </a:gs>
              <a:gs pos="35000">
                <a:srgbClr val="FFC5A7">
                  <a:alpha val="49803"/>
                </a:srgbClr>
              </a:gs>
              <a:gs pos="100000">
                <a:srgbClr val="FFE8DA">
                  <a:alpha val="49803"/>
                </a:srgbClr>
              </a:gs>
            </a:gsLst>
            <a:lin ang="5400000" scaled="0"/>
          </a:gradFill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0" name="Google Shape;530;p48"/>
          <p:cNvSpPr/>
          <p:nvPr/>
        </p:nvSpPr>
        <p:spPr>
          <a:xfrm>
            <a:off x="5206426" y="2687890"/>
            <a:ext cx="1156102" cy="672354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08B54"/>
              </a:gs>
              <a:gs pos="50000">
                <a:srgbClr val="F67A26"/>
              </a:gs>
              <a:gs pos="100000">
                <a:srgbClr val="E36A18"/>
              </a:gs>
            </a:gsLst>
            <a:lin ang="5400000" scaled="0"/>
          </a:gradFill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31" name="Google Shape;531;p48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532" name="Google Shape;532;p48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1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3" name="Google Shape;533;p48"/>
            <p:cNvSpPr txBox="1"/>
            <p:nvPr/>
          </p:nvSpPr>
          <p:spPr>
            <a:xfrm>
              <a:off x="188780" y="-22510"/>
              <a:ext cx="3189591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140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Design Theory  &gt;  Section 2  &gt;  Finding FDs</a:t>
              </a:r>
              <a:endParaRPr/>
            </a:p>
          </p:txBody>
        </p:sp>
      </p:grp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49"/>
          <p:cNvSpPr txBox="1"/>
          <p:nvPr>
            <p:ph type="title"/>
          </p:nvPr>
        </p:nvSpPr>
        <p:spPr>
          <a:xfrm>
            <a:off x="1981200" y="2540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1. Split/Combine</a:t>
            </a:r>
            <a:endParaRPr/>
          </a:p>
        </p:txBody>
      </p:sp>
      <p:graphicFrame>
        <p:nvGraphicFramePr>
          <p:cNvPr id="539" name="Google Shape;539;p49"/>
          <p:cNvGraphicFramePr/>
          <p:nvPr/>
        </p:nvGraphicFramePr>
        <p:xfrm>
          <a:off x="3048000" y="175520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{CF7F3F90-F409-4991-A1C1-19F25B11114E}</a:tableStyleId>
              </a:tblPr>
              <a:tblGrid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   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A</a:t>
                      </a:r>
                      <a:r>
                        <a:rPr b="1" baseline="-25000" lang="en-US" sz="1800"/>
                        <a:t>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…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A</a:t>
                      </a:r>
                      <a:r>
                        <a:rPr b="1" baseline="-25000" lang="en-US" sz="1800"/>
                        <a:t>m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B</a:t>
                      </a:r>
                      <a:r>
                        <a:rPr b="1" baseline="-25000" lang="en-US" sz="1800"/>
                        <a:t>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…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B</a:t>
                      </a:r>
                      <a:r>
                        <a:rPr b="1" baseline="-25000" lang="en-US" sz="1800"/>
                        <a:t>n</a:t>
                      </a:r>
                      <a:endParaRPr b="1" baseline="-25000"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</a:tr>
            </a:tbl>
          </a:graphicData>
        </a:graphic>
      </p:graphicFrame>
      <p:sp>
        <p:nvSpPr>
          <p:cNvPr id="540" name="Google Shape;540;p49"/>
          <p:cNvSpPr txBox="1"/>
          <p:nvPr/>
        </p:nvSpPr>
        <p:spPr>
          <a:xfrm>
            <a:off x="4191000" y="4304974"/>
            <a:ext cx="381000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baseline="-25000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…, A</a:t>
            </a:r>
            <a:r>
              <a:rPr baseline="-25000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🡪 B</a:t>
            </a:r>
            <a:r>
              <a:rPr baseline="-25000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,…,B</a:t>
            </a:r>
            <a:r>
              <a:rPr baseline="-25000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endParaRPr baseline="-25000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" name="Google Shape;541;p49"/>
          <p:cNvSpPr txBox="1"/>
          <p:nvPr/>
        </p:nvSpPr>
        <p:spPr>
          <a:xfrm>
            <a:off x="3048002" y="5082604"/>
            <a:ext cx="6095999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… is equivalent to the following </a:t>
            </a:r>
            <a:r>
              <a:rPr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FDs…</a:t>
            </a:r>
            <a:endParaRPr/>
          </a:p>
        </p:txBody>
      </p:sp>
      <p:sp>
        <p:nvSpPr>
          <p:cNvPr id="542" name="Google Shape;542;p49"/>
          <p:cNvSpPr txBox="1"/>
          <p:nvPr/>
        </p:nvSpPr>
        <p:spPr>
          <a:xfrm>
            <a:off x="3141786" y="5866747"/>
            <a:ext cx="6095999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baseline="-25000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,…,A</a:t>
            </a:r>
            <a:r>
              <a:rPr baseline="-25000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🡪 B</a:t>
            </a:r>
            <a:r>
              <a:rPr baseline="-25000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for i=1,…,n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3" name="Google Shape;543;p49"/>
          <p:cNvSpPr/>
          <p:nvPr/>
        </p:nvSpPr>
        <p:spPr>
          <a:xfrm>
            <a:off x="3567954" y="2383987"/>
            <a:ext cx="1968650" cy="128016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AF82">
                  <a:alpha val="49803"/>
                </a:srgbClr>
              </a:gs>
              <a:gs pos="35000">
                <a:srgbClr val="FFC5A7">
                  <a:alpha val="49803"/>
                </a:srgbClr>
              </a:gs>
              <a:gs pos="100000">
                <a:srgbClr val="FFE8DA">
                  <a:alpha val="49803"/>
                </a:srgbClr>
              </a:gs>
            </a:gsLst>
            <a:lin ang="5400000" scaled="0"/>
          </a:gradFill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4" name="Google Shape;544;p49"/>
          <p:cNvSpPr/>
          <p:nvPr/>
        </p:nvSpPr>
        <p:spPr>
          <a:xfrm>
            <a:off x="6666155" y="2383987"/>
            <a:ext cx="720764" cy="128016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AF82">
                  <a:alpha val="49803"/>
                </a:srgbClr>
              </a:gs>
              <a:gs pos="35000">
                <a:srgbClr val="FFC5A7">
                  <a:alpha val="49803"/>
                </a:srgbClr>
              </a:gs>
              <a:gs pos="100000">
                <a:srgbClr val="FFE8DA">
                  <a:alpha val="49803"/>
                </a:srgbClr>
              </a:gs>
            </a:gsLst>
            <a:lin ang="5400000" scaled="0"/>
          </a:gradFill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5" name="Google Shape;545;p49"/>
          <p:cNvSpPr/>
          <p:nvPr/>
        </p:nvSpPr>
        <p:spPr>
          <a:xfrm>
            <a:off x="5206426" y="2687890"/>
            <a:ext cx="1642609" cy="672354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08B54"/>
              </a:gs>
              <a:gs pos="50000">
                <a:srgbClr val="F67A26"/>
              </a:gs>
              <a:gs pos="100000">
                <a:srgbClr val="E36A18"/>
              </a:gs>
            </a:gsLst>
            <a:lin ang="5400000" scaled="0"/>
          </a:gradFill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46" name="Google Shape;546;p49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547" name="Google Shape;547;p49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1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8" name="Google Shape;548;p49"/>
            <p:cNvSpPr txBox="1"/>
            <p:nvPr/>
          </p:nvSpPr>
          <p:spPr>
            <a:xfrm>
              <a:off x="188780" y="-22510"/>
              <a:ext cx="3189591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140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Design Theory  &gt;  Section 2  &gt;  Finding FDs</a:t>
              </a:r>
              <a:endParaRPr/>
            </a:p>
          </p:txBody>
        </p:sp>
      </p:grp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p50"/>
          <p:cNvSpPr txBox="1"/>
          <p:nvPr>
            <p:ph type="title"/>
          </p:nvPr>
        </p:nvSpPr>
        <p:spPr>
          <a:xfrm>
            <a:off x="1981200" y="2540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1. Split/Combine</a:t>
            </a:r>
            <a:endParaRPr/>
          </a:p>
        </p:txBody>
      </p:sp>
      <p:graphicFrame>
        <p:nvGraphicFramePr>
          <p:cNvPr id="554" name="Google Shape;554;p50"/>
          <p:cNvGraphicFramePr/>
          <p:nvPr/>
        </p:nvGraphicFramePr>
        <p:xfrm>
          <a:off x="3048000" y="175520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{CF7F3F90-F409-4991-A1C1-19F25B11114E}</a:tableStyleId>
              </a:tblPr>
              <a:tblGrid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   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A</a:t>
                      </a:r>
                      <a:r>
                        <a:rPr b="1" baseline="-25000" lang="en-US" sz="1800"/>
                        <a:t>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…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A</a:t>
                      </a:r>
                      <a:r>
                        <a:rPr b="1" baseline="-25000" lang="en-US" sz="1800"/>
                        <a:t>m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B</a:t>
                      </a:r>
                      <a:r>
                        <a:rPr b="1" baseline="-25000" lang="en-US" sz="1800"/>
                        <a:t>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…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B</a:t>
                      </a:r>
                      <a:r>
                        <a:rPr b="1" baseline="-25000" lang="en-US" sz="1800"/>
                        <a:t>n</a:t>
                      </a:r>
                      <a:endParaRPr b="1" baseline="-25000"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</a:tr>
            </a:tbl>
          </a:graphicData>
        </a:graphic>
      </p:graphicFrame>
      <p:sp>
        <p:nvSpPr>
          <p:cNvPr id="555" name="Google Shape;555;p50"/>
          <p:cNvSpPr txBox="1"/>
          <p:nvPr/>
        </p:nvSpPr>
        <p:spPr>
          <a:xfrm>
            <a:off x="4449183" y="5960801"/>
            <a:ext cx="381000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baseline="-25000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…, A</a:t>
            </a:r>
            <a:r>
              <a:rPr baseline="-25000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🡪 B</a:t>
            </a:r>
            <a:r>
              <a:rPr baseline="-25000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,…,B</a:t>
            </a:r>
            <a:r>
              <a:rPr baseline="-25000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endParaRPr baseline="-25000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6" name="Google Shape;556;p50"/>
          <p:cNvSpPr txBox="1"/>
          <p:nvPr/>
        </p:nvSpPr>
        <p:spPr>
          <a:xfrm>
            <a:off x="3048002" y="5082604"/>
            <a:ext cx="6095999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… is equivalent to …</a:t>
            </a:r>
            <a:endParaRPr/>
          </a:p>
        </p:txBody>
      </p:sp>
      <p:sp>
        <p:nvSpPr>
          <p:cNvPr id="557" name="Google Shape;557;p50"/>
          <p:cNvSpPr txBox="1"/>
          <p:nvPr/>
        </p:nvSpPr>
        <p:spPr>
          <a:xfrm>
            <a:off x="3048001" y="4335222"/>
            <a:ext cx="6095999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And vice-versa,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baseline="-25000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,…,A</a:t>
            </a:r>
            <a:r>
              <a:rPr baseline="-25000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🡪 B</a:t>
            </a:r>
            <a:r>
              <a:rPr baseline="-25000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for i=1,…,n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8" name="Google Shape;558;p50"/>
          <p:cNvSpPr/>
          <p:nvPr/>
        </p:nvSpPr>
        <p:spPr>
          <a:xfrm>
            <a:off x="3567954" y="2383987"/>
            <a:ext cx="1968650" cy="128016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AF82">
                  <a:alpha val="49803"/>
                </a:srgbClr>
              </a:gs>
              <a:gs pos="35000">
                <a:srgbClr val="FFC5A7">
                  <a:alpha val="49803"/>
                </a:srgbClr>
              </a:gs>
              <a:gs pos="100000">
                <a:srgbClr val="FFE8DA">
                  <a:alpha val="49803"/>
                </a:srgbClr>
              </a:gs>
            </a:gsLst>
            <a:lin ang="5400000" scaled="0"/>
          </a:gradFill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50"/>
          <p:cNvSpPr/>
          <p:nvPr/>
        </p:nvSpPr>
        <p:spPr>
          <a:xfrm>
            <a:off x="6666155" y="2383987"/>
            <a:ext cx="720764" cy="128016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AF82">
                  <a:alpha val="49803"/>
                </a:srgbClr>
              </a:gs>
              <a:gs pos="35000">
                <a:srgbClr val="FFC5A7">
                  <a:alpha val="49803"/>
                </a:srgbClr>
              </a:gs>
              <a:gs pos="100000">
                <a:srgbClr val="FFE8DA">
                  <a:alpha val="49803"/>
                </a:srgbClr>
              </a:gs>
            </a:gsLst>
            <a:lin ang="5400000" scaled="0"/>
          </a:gradFill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0" name="Google Shape;560;p50"/>
          <p:cNvSpPr/>
          <p:nvPr/>
        </p:nvSpPr>
        <p:spPr>
          <a:xfrm>
            <a:off x="5206426" y="2687890"/>
            <a:ext cx="1642609" cy="672354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08B54"/>
              </a:gs>
              <a:gs pos="50000">
                <a:srgbClr val="F67A26"/>
              </a:gs>
              <a:gs pos="100000">
                <a:srgbClr val="E36A18"/>
              </a:gs>
            </a:gsLst>
            <a:lin ang="5400000" scaled="0"/>
          </a:gradFill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61" name="Google Shape;561;p50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562" name="Google Shape;562;p50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1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3" name="Google Shape;563;p50"/>
            <p:cNvSpPr txBox="1"/>
            <p:nvPr/>
          </p:nvSpPr>
          <p:spPr>
            <a:xfrm>
              <a:off x="188780" y="-22510"/>
              <a:ext cx="3189591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140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Design Theory  &gt;  Section 2  &gt;  Finding FDs</a:t>
              </a:r>
              <a:endParaRPr/>
            </a:p>
          </p:txBody>
        </p:sp>
      </p:grp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p5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Reduction/Trivial</a:t>
            </a:r>
            <a:endParaRPr/>
          </a:p>
        </p:txBody>
      </p:sp>
      <p:graphicFrame>
        <p:nvGraphicFramePr>
          <p:cNvPr id="569" name="Google Shape;569;p51"/>
          <p:cNvGraphicFramePr/>
          <p:nvPr/>
        </p:nvGraphicFramePr>
        <p:xfrm>
          <a:off x="3048000" y="175520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{CF7F3F90-F409-4991-A1C1-19F25B11114E}</a:tableStyleId>
              </a:tblPr>
              <a:tblGrid>
                <a:gridCol w="609600"/>
                <a:gridCol w="609600"/>
                <a:gridCol w="609600"/>
                <a:gridCol w="609600"/>
                <a:gridCol w="6096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   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A</a:t>
                      </a:r>
                      <a:r>
                        <a:rPr b="1" baseline="-25000" lang="en-US" sz="1800"/>
                        <a:t>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…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A</a:t>
                      </a:r>
                      <a:r>
                        <a:rPr b="1" baseline="-25000" lang="en-US" sz="1800"/>
                        <a:t>m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</a:tr>
            </a:tbl>
          </a:graphicData>
        </a:graphic>
      </p:graphicFrame>
      <p:sp>
        <p:nvSpPr>
          <p:cNvPr id="570" name="Google Shape;570;p51"/>
          <p:cNvSpPr txBox="1"/>
          <p:nvPr/>
        </p:nvSpPr>
        <p:spPr>
          <a:xfrm>
            <a:off x="3204309" y="4611078"/>
            <a:ext cx="5249333" cy="4924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baseline="-25000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,…,A</a:t>
            </a:r>
            <a:r>
              <a:rPr baseline="-25000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🡪 A</a:t>
            </a:r>
            <a:r>
              <a:rPr baseline="-25000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</a:t>
            </a: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for any j=1,…,m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1" name="Google Shape;571;p51"/>
          <p:cNvSpPr/>
          <p:nvPr/>
        </p:nvSpPr>
        <p:spPr>
          <a:xfrm>
            <a:off x="3567954" y="2383987"/>
            <a:ext cx="1968650" cy="128016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AF82">
                  <a:alpha val="49803"/>
                </a:srgbClr>
              </a:gs>
              <a:gs pos="35000">
                <a:srgbClr val="FFC5A7">
                  <a:alpha val="49803"/>
                </a:srgbClr>
              </a:gs>
              <a:gs pos="100000">
                <a:srgbClr val="FFE8DA">
                  <a:alpha val="49803"/>
                </a:srgbClr>
              </a:gs>
            </a:gsLst>
            <a:lin ang="5400000" scaled="0"/>
          </a:gradFill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2" name="Google Shape;572;p51"/>
          <p:cNvSpPr/>
          <p:nvPr/>
        </p:nvSpPr>
        <p:spPr>
          <a:xfrm>
            <a:off x="4159625" y="2374277"/>
            <a:ext cx="785309" cy="128016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AF82">
                  <a:alpha val="49803"/>
                </a:srgbClr>
              </a:gs>
              <a:gs pos="35000">
                <a:srgbClr val="FFC5A7">
                  <a:alpha val="49803"/>
                </a:srgbClr>
              </a:gs>
              <a:gs pos="100000">
                <a:srgbClr val="FFE8DA">
                  <a:alpha val="49803"/>
                </a:srgbClr>
              </a:gs>
            </a:gsLst>
            <a:lin ang="5400000" scaled="0"/>
          </a:gradFill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3" name="Google Shape;573;p51"/>
          <p:cNvSpPr/>
          <p:nvPr/>
        </p:nvSpPr>
        <p:spPr>
          <a:xfrm>
            <a:off x="3605328" y="2687890"/>
            <a:ext cx="545330" cy="672354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08B54"/>
              </a:gs>
              <a:gs pos="50000">
                <a:srgbClr val="F67A26"/>
              </a:gs>
              <a:gs pos="100000">
                <a:srgbClr val="E36A18"/>
              </a:gs>
            </a:gsLst>
            <a:lin ang="5400000" scaled="0"/>
          </a:gradFill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74" name="Google Shape;574;p51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575" name="Google Shape;575;p51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1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6" name="Google Shape;576;p51"/>
            <p:cNvSpPr txBox="1"/>
            <p:nvPr/>
          </p:nvSpPr>
          <p:spPr>
            <a:xfrm>
              <a:off x="188780" y="-22510"/>
              <a:ext cx="3189591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140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Design Theory  &gt;  Section 2  &gt;  Finding FDs</a:t>
              </a:r>
              <a:endParaRPr/>
            </a:p>
          </p:txBody>
        </p:sp>
      </p:grp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0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p52"/>
          <p:cNvSpPr txBox="1"/>
          <p:nvPr>
            <p:ph type="title"/>
          </p:nvPr>
        </p:nvSpPr>
        <p:spPr>
          <a:xfrm>
            <a:off x="1981200" y="2540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3. Transitive Closure</a:t>
            </a:r>
            <a:endParaRPr/>
          </a:p>
        </p:txBody>
      </p:sp>
      <p:graphicFrame>
        <p:nvGraphicFramePr>
          <p:cNvPr id="582" name="Google Shape;582;p52"/>
          <p:cNvGraphicFramePr/>
          <p:nvPr/>
        </p:nvGraphicFramePr>
        <p:xfrm>
          <a:off x="3048000" y="175520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{CF7F3F90-F409-4991-A1C1-19F25B11114E}</a:tableStyleId>
              </a:tblPr>
              <a:tblGrid>
                <a:gridCol w="508000"/>
                <a:gridCol w="508000"/>
                <a:gridCol w="508000"/>
                <a:gridCol w="508000"/>
                <a:gridCol w="508000"/>
                <a:gridCol w="508000"/>
                <a:gridCol w="508000"/>
                <a:gridCol w="508000"/>
                <a:gridCol w="508000"/>
                <a:gridCol w="508000"/>
                <a:gridCol w="508000"/>
                <a:gridCol w="5080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   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A</a:t>
                      </a:r>
                      <a:r>
                        <a:rPr b="1" baseline="-25000" lang="en-US" sz="1800"/>
                        <a:t>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…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A</a:t>
                      </a:r>
                      <a:r>
                        <a:rPr b="1" baseline="-25000" lang="en-US" sz="1800"/>
                        <a:t>m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B</a:t>
                      </a:r>
                      <a:r>
                        <a:rPr b="1" baseline="-25000" lang="en-US" sz="1800"/>
                        <a:t>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…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B</a:t>
                      </a:r>
                      <a:r>
                        <a:rPr b="1" baseline="-25000" lang="en-US" sz="1800"/>
                        <a:t>n</a:t>
                      </a:r>
                      <a:endParaRPr b="1" baseline="-25000"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C</a:t>
                      </a:r>
                      <a:r>
                        <a:rPr b="1" baseline="-25000" lang="en-US" sz="1800"/>
                        <a:t>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…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C</a:t>
                      </a:r>
                      <a:r>
                        <a:rPr b="1" baseline="-25000" lang="en-US" sz="1800"/>
                        <a:t>k</a:t>
                      </a:r>
                      <a:endParaRPr b="1" baseline="-25000"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</a:tr>
            </a:tbl>
          </a:graphicData>
        </a:graphic>
      </p:graphicFrame>
      <p:sp>
        <p:nvSpPr>
          <p:cNvPr id="583" name="Google Shape;583;p52"/>
          <p:cNvSpPr txBox="1"/>
          <p:nvPr/>
        </p:nvSpPr>
        <p:spPr>
          <a:xfrm>
            <a:off x="3048000" y="4304975"/>
            <a:ext cx="6096000" cy="95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baseline="-25000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…, A</a:t>
            </a:r>
            <a:r>
              <a:rPr baseline="-25000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🡪 B</a:t>
            </a:r>
            <a:r>
              <a:rPr baseline="-25000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,…,B</a:t>
            </a:r>
            <a:r>
              <a:rPr baseline="-25000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and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r>
              <a:rPr baseline="-25000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,…,B</a:t>
            </a:r>
            <a:r>
              <a:rPr baseline="-25000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🡪 C</a:t>
            </a:r>
            <a:r>
              <a:rPr baseline="-25000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,…,C</a:t>
            </a:r>
            <a:r>
              <a:rPr baseline="-25000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</a:t>
            </a:r>
            <a:endParaRPr baseline="-25000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4" name="Google Shape;584;p52"/>
          <p:cNvSpPr/>
          <p:nvPr/>
        </p:nvSpPr>
        <p:spPr>
          <a:xfrm>
            <a:off x="3524922" y="2383987"/>
            <a:ext cx="1553582" cy="128016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AF82">
                  <a:alpha val="49803"/>
                </a:srgbClr>
              </a:gs>
              <a:gs pos="35000">
                <a:srgbClr val="FFC5A7">
                  <a:alpha val="49803"/>
                </a:srgbClr>
              </a:gs>
              <a:gs pos="100000">
                <a:srgbClr val="FFE8DA">
                  <a:alpha val="49803"/>
                </a:srgbClr>
              </a:gs>
            </a:gsLst>
            <a:lin ang="5400000" scaled="0"/>
          </a:gradFill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5" name="Google Shape;585;p52"/>
          <p:cNvSpPr/>
          <p:nvPr/>
        </p:nvSpPr>
        <p:spPr>
          <a:xfrm>
            <a:off x="5515983" y="2383987"/>
            <a:ext cx="1645024" cy="128016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AF82">
                  <a:alpha val="49803"/>
                </a:srgbClr>
              </a:gs>
              <a:gs pos="35000">
                <a:srgbClr val="FFC5A7">
                  <a:alpha val="49803"/>
                </a:srgbClr>
              </a:gs>
              <a:gs pos="100000">
                <a:srgbClr val="FFE8DA">
                  <a:alpha val="49803"/>
                </a:srgbClr>
              </a:gs>
            </a:gsLst>
            <a:lin ang="5400000" scaled="0"/>
          </a:gradFill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6" name="Google Shape;586;p52"/>
          <p:cNvSpPr/>
          <p:nvPr/>
        </p:nvSpPr>
        <p:spPr>
          <a:xfrm>
            <a:off x="4723504" y="2687890"/>
            <a:ext cx="1156102" cy="672354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08B54"/>
              </a:gs>
              <a:gs pos="50000">
                <a:srgbClr val="F67A26"/>
              </a:gs>
              <a:gs pos="100000">
                <a:srgbClr val="E36A18"/>
              </a:gs>
            </a:gsLst>
            <a:lin ang="5400000" scaled="0"/>
          </a:gradFill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7" name="Google Shape;587;p52"/>
          <p:cNvSpPr/>
          <p:nvPr/>
        </p:nvSpPr>
        <p:spPr>
          <a:xfrm>
            <a:off x="7562937" y="2383987"/>
            <a:ext cx="1645024" cy="128016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AF82">
                  <a:alpha val="49803"/>
                </a:srgbClr>
              </a:gs>
              <a:gs pos="35000">
                <a:srgbClr val="FFC5A7">
                  <a:alpha val="49803"/>
                </a:srgbClr>
              </a:gs>
              <a:gs pos="100000">
                <a:srgbClr val="FFE8DA">
                  <a:alpha val="49803"/>
                </a:srgbClr>
              </a:gs>
            </a:gsLst>
            <a:lin ang="5400000" scaled="0"/>
          </a:gradFill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8" name="Google Shape;588;p52"/>
          <p:cNvSpPr/>
          <p:nvPr/>
        </p:nvSpPr>
        <p:spPr>
          <a:xfrm>
            <a:off x="6780920" y="2687890"/>
            <a:ext cx="1156102" cy="672354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08B54"/>
              </a:gs>
              <a:gs pos="50000">
                <a:srgbClr val="F67A26"/>
              </a:gs>
              <a:gs pos="100000">
                <a:srgbClr val="E36A18"/>
              </a:gs>
            </a:gsLst>
            <a:lin ang="5400000" scaled="0"/>
          </a:gradFill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89" name="Google Shape;589;p52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590" name="Google Shape;590;p52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1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1" name="Google Shape;591;p52"/>
            <p:cNvSpPr txBox="1"/>
            <p:nvPr/>
          </p:nvSpPr>
          <p:spPr>
            <a:xfrm>
              <a:off x="188780" y="-22510"/>
              <a:ext cx="3189591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140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Design Theory  &gt;  Section 2  &gt;  Finding FDs</a:t>
              </a:r>
              <a:endParaRPr/>
            </a:p>
          </p:txBody>
        </p:sp>
      </p:grp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5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p53"/>
          <p:cNvSpPr txBox="1"/>
          <p:nvPr>
            <p:ph type="title"/>
          </p:nvPr>
        </p:nvSpPr>
        <p:spPr>
          <a:xfrm>
            <a:off x="1981200" y="2540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3. Transitive Closure</a:t>
            </a:r>
            <a:endParaRPr/>
          </a:p>
        </p:txBody>
      </p:sp>
      <p:graphicFrame>
        <p:nvGraphicFramePr>
          <p:cNvPr id="597" name="Google Shape;597;p53"/>
          <p:cNvGraphicFramePr/>
          <p:nvPr/>
        </p:nvGraphicFramePr>
        <p:xfrm>
          <a:off x="3048000" y="175520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{CF7F3F90-F409-4991-A1C1-19F25B11114E}</a:tableStyleId>
              </a:tblPr>
              <a:tblGrid>
                <a:gridCol w="508000"/>
                <a:gridCol w="508000"/>
                <a:gridCol w="508000"/>
                <a:gridCol w="508000"/>
                <a:gridCol w="508000"/>
                <a:gridCol w="508000"/>
                <a:gridCol w="508000"/>
                <a:gridCol w="508000"/>
                <a:gridCol w="508000"/>
                <a:gridCol w="508000"/>
                <a:gridCol w="508000"/>
                <a:gridCol w="5080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   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A</a:t>
                      </a:r>
                      <a:r>
                        <a:rPr b="1" baseline="-25000" lang="en-US" sz="1800"/>
                        <a:t>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…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A</a:t>
                      </a:r>
                      <a:r>
                        <a:rPr b="1" baseline="-25000" lang="en-US" sz="1800"/>
                        <a:t>m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B</a:t>
                      </a:r>
                      <a:r>
                        <a:rPr b="1" baseline="-25000" lang="en-US" sz="1800"/>
                        <a:t>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…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B</a:t>
                      </a:r>
                      <a:r>
                        <a:rPr b="1" baseline="-25000" lang="en-US" sz="1800"/>
                        <a:t>n</a:t>
                      </a:r>
                      <a:endParaRPr b="1" baseline="-25000"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C</a:t>
                      </a:r>
                      <a:r>
                        <a:rPr b="1" baseline="-25000" lang="en-US" sz="1800"/>
                        <a:t>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…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C</a:t>
                      </a:r>
                      <a:r>
                        <a:rPr b="1" baseline="-25000" lang="en-US" sz="1800"/>
                        <a:t>k</a:t>
                      </a:r>
                      <a:endParaRPr b="1" baseline="-25000"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</a:tr>
            </a:tbl>
          </a:graphicData>
        </a:graphic>
      </p:graphicFrame>
      <p:sp>
        <p:nvSpPr>
          <p:cNvPr id="598" name="Google Shape;598;p53"/>
          <p:cNvSpPr txBox="1"/>
          <p:nvPr/>
        </p:nvSpPr>
        <p:spPr>
          <a:xfrm>
            <a:off x="3048000" y="4304975"/>
            <a:ext cx="6096000" cy="95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baseline="-25000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…, A</a:t>
            </a:r>
            <a:r>
              <a:rPr baseline="-25000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🡪 B</a:t>
            </a:r>
            <a:r>
              <a:rPr baseline="-25000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,…,B</a:t>
            </a:r>
            <a:r>
              <a:rPr baseline="-25000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and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r>
              <a:rPr baseline="-25000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,…,B</a:t>
            </a:r>
            <a:r>
              <a:rPr baseline="-25000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🡪 C</a:t>
            </a:r>
            <a:r>
              <a:rPr baseline="-25000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,…,C</a:t>
            </a:r>
            <a:r>
              <a:rPr baseline="-25000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</a:t>
            </a:r>
            <a:endParaRPr baseline="-25000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9" name="Google Shape;599;p53"/>
          <p:cNvSpPr txBox="1"/>
          <p:nvPr/>
        </p:nvSpPr>
        <p:spPr>
          <a:xfrm>
            <a:off x="3048001" y="5344214"/>
            <a:ext cx="6095999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implies</a:t>
            </a:r>
            <a:endParaRPr/>
          </a:p>
        </p:txBody>
      </p:sp>
      <p:sp>
        <p:nvSpPr>
          <p:cNvPr id="600" name="Google Shape;600;p53"/>
          <p:cNvSpPr txBox="1"/>
          <p:nvPr/>
        </p:nvSpPr>
        <p:spPr>
          <a:xfrm>
            <a:off x="3141786" y="5866747"/>
            <a:ext cx="6095999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baseline="-25000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,…,A</a:t>
            </a:r>
            <a:r>
              <a:rPr baseline="-25000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🡪 C</a:t>
            </a:r>
            <a:r>
              <a:rPr baseline="-25000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,…,C</a:t>
            </a:r>
            <a:r>
              <a:rPr baseline="-25000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</a:t>
            </a:r>
            <a:endParaRPr baseline="-25000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1" name="Google Shape;601;p53"/>
          <p:cNvSpPr/>
          <p:nvPr/>
        </p:nvSpPr>
        <p:spPr>
          <a:xfrm>
            <a:off x="3524922" y="2383987"/>
            <a:ext cx="1553582" cy="128016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AF82">
                  <a:alpha val="49803"/>
                </a:srgbClr>
              </a:gs>
              <a:gs pos="35000">
                <a:srgbClr val="FFC5A7">
                  <a:alpha val="49803"/>
                </a:srgbClr>
              </a:gs>
              <a:gs pos="100000">
                <a:srgbClr val="FFE8DA">
                  <a:alpha val="49803"/>
                </a:srgbClr>
              </a:gs>
            </a:gsLst>
            <a:lin ang="5400000" scaled="0"/>
          </a:gradFill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2" name="Google Shape;602;p53"/>
          <p:cNvSpPr/>
          <p:nvPr/>
        </p:nvSpPr>
        <p:spPr>
          <a:xfrm>
            <a:off x="7562937" y="2383987"/>
            <a:ext cx="1645024" cy="128016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AF82">
                  <a:alpha val="49803"/>
                </a:srgbClr>
              </a:gs>
              <a:gs pos="35000">
                <a:srgbClr val="FFC5A7">
                  <a:alpha val="49803"/>
                </a:srgbClr>
              </a:gs>
              <a:gs pos="100000">
                <a:srgbClr val="FFE8DA">
                  <a:alpha val="49803"/>
                </a:srgbClr>
              </a:gs>
            </a:gsLst>
            <a:lin ang="5400000" scaled="0"/>
          </a:gradFill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3" name="Google Shape;603;p53"/>
          <p:cNvSpPr/>
          <p:nvPr/>
        </p:nvSpPr>
        <p:spPr>
          <a:xfrm>
            <a:off x="4723504" y="2687890"/>
            <a:ext cx="3147509" cy="672354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08B54"/>
              </a:gs>
              <a:gs pos="50000">
                <a:srgbClr val="F67A26"/>
              </a:gs>
              <a:gs pos="100000">
                <a:srgbClr val="E36A18"/>
              </a:gs>
            </a:gsLst>
            <a:lin ang="5400000" scaled="0"/>
          </a:gradFill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04" name="Google Shape;604;p53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605" name="Google Shape;605;p53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1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6" name="Google Shape;606;p53"/>
            <p:cNvSpPr txBox="1"/>
            <p:nvPr/>
          </p:nvSpPr>
          <p:spPr>
            <a:xfrm>
              <a:off x="188780" y="-22510"/>
              <a:ext cx="3189591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140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Design Theory  &gt;  Section 2  &gt;  Finding FDs</a:t>
              </a:r>
              <a:endParaRPr/>
            </a:p>
          </p:txBody>
        </p:sp>
      </p:grp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0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p5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Finding Functional Dependencies</a:t>
            </a:r>
            <a:endParaRPr i="1" sz="2200"/>
          </a:p>
        </p:txBody>
      </p:sp>
      <p:sp>
        <p:nvSpPr>
          <p:cNvPr id="612" name="Google Shape;612;p54"/>
          <p:cNvSpPr txBox="1"/>
          <p:nvPr/>
        </p:nvSpPr>
        <p:spPr>
          <a:xfrm>
            <a:off x="7251192" y="2702413"/>
            <a:ext cx="4617720" cy="1384995"/>
          </a:xfrm>
          <a:prstGeom prst="rect">
            <a:avLst/>
          </a:prstGeom>
          <a:solidFill>
            <a:srgbClr val="FFF2CC"/>
          </a:solidFill>
          <a:ln>
            <a:noFill/>
          </a:ln>
          <a:effectLst>
            <a:outerShdw blurRad="50800" rotWithShape="0" algn="tl" dir="2700000" dist="38100">
              <a:srgbClr val="000000">
                <a:alpha val="42745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 {Name} 🡪 {Color}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 {Category} 🡪 {Department}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3. {Color, Category} 🡪 {Price}</a:t>
            </a:r>
            <a:endParaRPr/>
          </a:p>
        </p:txBody>
      </p:sp>
      <p:graphicFrame>
        <p:nvGraphicFramePr>
          <p:cNvPr id="613" name="Google Shape;613;p54"/>
          <p:cNvGraphicFramePr/>
          <p:nvPr/>
        </p:nvGraphicFramePr>
        <p:xfrm>
          <a:off x="838200" y="267985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{CF7F3F90-F409-4991-A1C1-19F25B11114E}</a:tableStyleId>
              </a:tblPr>
              <a:tblGrid>
                <a:gridCol w="1219200"/>
                <a:gridCol w="1219200"/>
                <a:gridCol w="1475800"/>
                <a:gridCol w="1204875"/>
                <a:gridCol w="97692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/>
                        <a:t>Name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/>
                        <a:t>Color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/>
                        <a:t>Category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/>
                        <a:t>Dep</a:t>
                      </a:r>
                      <a:endParaRPr b="1" sz="24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/>
                        <a:t>Price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Gizmo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Green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Gadget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Toys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49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45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Widget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Black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Gadget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Toys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59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Gizmo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Green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Whatsit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Garden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99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614" name="Google Shape;614;p54"/>
          <p:cNvSpPr txBox="1"/>
          <p:nvPr/>
        </p:nvSpPr>
        <p:spPr>
          <a:xfrm>
            <a:off x="3461922" y="5374862"/>
            <a:ext cx="5268155" cy="492443"/>
          </a:xfrm>
          <a:prstGeom prst="rect">
            <a:avLst/>
          </a:prstGeom>
          <a:solidFill>
            <a:srgbClr val="FBE4D4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Which / how many other FDs hold?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5" name="Google Shape;615;p54"/>
          <p:cNvSpPr txBox="1"/>
          <p:nvPr/>
        </p:nvSpPr>
        <p:spPr>
          <a:xfrm>
            <a:off x="7141570" y="2209971"/>
            <a:ext cx="2474871" cy="4924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Provided FDs: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6" name="Google Shape;616;p54"/>
          <p:cNvSpPr txBox="1"/>
          <p:nvPr/>
        </p:nvSpPr>
        <p:spPr>
          <a:xfrm>
            <a:off x="188780" y="2209970"/>
            <a:ext cx="2474871" cy="4924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Products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7" name="Google Shape;617;p54"/>
          <p:cNvSpPr txBox="1"/>
          <p:nvPr/>
        </p:nvSpPr>
        <p:spPr>
          <a:xfrm>
            <a:off x="838200" y="1479578"/>
            <a:ext cx="130574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Example:</a:t>
            </a:r>
            <a:endParaRPr/>
          </a:p>
        </p:txBody>
      </p:sp>
      <p:grpSp>
        <p:nvGrpSpPr>
          <p:cNvPr id="618" name="Google Shape;618;p54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619" name="Google Shape;619;p54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1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0" name="Google Shape;620;p54"/>
            <p:cNvSpPr txBox="1"/>
            <p:nvPr/>
          </p:nvSpPr>
          <p:spPr>
            <a:xfrm>
              <a:off x="188780" y="-22510"/>
              <a:ext cx="3189591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140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Design Theory  &gt;  Section 2  &gt;  Finding FDs</a:t>
              </a:r>
              <a:endParaRPr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p5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Finding Functional Dependencies</a:t>
            </a:r>
            <a:endParaRPr i="1" sz="2200"/>
          </a:p>
        </p:txBody>
      </p:sp>
      <p:sp>
        <p:nvSpPr>
          <p:cNvPr id="626" name="Google Shape;626;p55"/>
          <p:cNvSpPr txBox="1"/>
          <p:nvPr/>
        </p:nvSpPr>
        <p:spPr>
          <a:xfrm>
            <a:off x="8730076" y="2702413"/>
            <a:ext cx="3138835" cy="1569660"/>
          </a:xfrm>
          <a:prstGeom prst="rect">
            <a:avLst/>
          </a:prstGeom>
          <a:solidFill>
            <a:srgbClr val="FFF2CC"/>
          </a:solidFill>
          <a:ln>
            <a:noFill/>
          </a:ln>
          <a:effectLst>
            <a:outerShdw blurRad="50800" rotWithShape="0" algn="tl" dir="2700000" dist="38100">
              <a:srgbClr val="000000">
                <a:alpha val="42745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 {Name} 🡪 {Color}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 {Category} 🡪 {Dept.}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3. {Color, Category} 🡪 {Price}</a:t>
            </a:r>
            <a:endParaRPr/>
          </a:p>
        </p:txBody>
      </p:sp>
      <p:sp>
        <p:nvSpPr>
          <p:cNvPr id="627" name="Google Shape;627;p55"/>
          <p:cNvSpPr txBox="1"/>
          <p:nvPr/>
        </p:nvSpPr>
        <p:spPr>
          <a:xfrm>
            <a:off x="3461921" y="5851696"/>
            <a:ext cx="5268155" cy="492443"/>
          </a:xfrm>
          <a:prstGeom prst="rect">
            <a:avLst/>
          </a:prstGeom>
          <a:solidFill>
            <a:srgbClr val="FBE4D4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Which / how many other FDs hold?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8" name="Google Shape;628;p55"/>
          <p:cNvSpPr txBox="1"/>
          <p:nvPr/>
        </p:nvSpPr>
        <p:spPr>
          <a:xfrm>
            <a:off x="8391636" y="2209969"/>
            <a:ext cx="2474871" cy="4924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Provided FDs: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9" name="Google Shape;629;p55"/>
          <p:cNvSpPr txBox="1"/>
          <p:nvPr/>
        </p:nvSpPr>
        <p:spPr>
          <a:xfrm>
            <a:off x="351928" y="2209970"/>
            <a:ext cx="2474871" cy="4924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Inferred FDs:</a:t>
            </a:r>
            <a:endParaRPr/>
          </a:p>
        </p:txBody>
      </p:sp>
      <p:sp>
        <p:nvSpPr>
          <p:cNvPr id="630" name="Google Shape;630;p55"/>
          <p:cNvSpPr txBox="1"/>
          <p:nvPr/>
        </p:nvSpPr>
        <p:spPr>
          <a:xfrm>
            <a:off x="838200" y="1479578"/>
            <a:ext cx="130574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Example:</a:t>
            </a:r>
            <a:endParaRPr/>
          </a:p>
        </p:txBody>
      </p:sp>
      <p:graphicFrame>
        <p:nvGraphicFramePr>
          <p:cNvPr id="631" name="Google Shape;631;p55"/>
          <p:cNvGraphicFramePr/>
          <p:nvPr/>
        </p:nvGraphicFramePr>
        <p:xfrm>
          <a:off x="351928" y="270241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{F3500A4C-2BD7-46E5-876E-577A631CE535}</a:tableStyleId>
              </a:tblPr>
              <a:tblGrid>
                <a:gridCol w="5274675"/>
                <a:gridCol w="276502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Inferred</a:t>
                      </a:r>
                      <a:r>
                        <a:rPr lang="en-US" sz="1800"/>
                        <a:t> FD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Rule used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4.</a:t>
                      </a:r>
                      <a:r>
                        <a:rPr lang="en-US" sz="2400"/>
                        <a:t> {Name, Category} -&gt; {Name}</a:t>
                      </a:r>
                      <a:endParaRPr sz="24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?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5. {Name, Category} -&gt; {Color}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?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6. {Name, Category}</a:t>
                      </a:r>
                      <a:r>
                        <a:rPr lang="en-US" sz="2400"/>
                        <a:t> -&gt; {Category}</a:t>
                      </a:r>
                      <a:endParaRPr sz="24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?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7. {Name, Category</a:t>
                      </a:r>
                      <a:r>
                        <a:rPr lang="en-US" sz="2400"/>
                        <a:t> -&gt; {Color, Category}</a:t>
                      </a:r>
                      <a:endParaRPr sz="24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?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8. {Name, Category} -&gt; {Price}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?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pSp>
        <p:nvGrpSpPr>
          <p:cNvPr id="632" name="Google Shape;632;p55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633" name="Google Shape;633;p55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1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4" name="Google Shape;634;p55"/>
            <p:cNvSpPr txBox="1"/>
            <p:nvPr/>
          </p:nvSpPr>
          <p:spPr>
            <a:xfrm>
              <a:off x="188780" y="-22510"/>
              <a:ext cx="3189591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140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Design Theory  &gt;  Section 2  &gt;  Finding FDs</a:t>
              </a:r>
              <a:endParaRPr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639;p5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Finding Functional Dependencies</a:t>
            </a:r>
            <a:endParaRPr i="1" sz="2200"/>
          </a:p>
        </p:txBody>
      </p:sp>
      <p:sp>
        <p:nvSpPr>
          <p:cNvPr id="640" name="Google Shape;640;p56"/>
          <p:cNvSpPr txBox="1"/>
          <p:nvPr/>
        </p:nvSpPr>
        <p:spPr>
          <a:xfrm>
            <a:off x="8730076" y="2702413"/>
            <a:ext cx="3138835" cy="1569660"/>
          </a:xfrm>
          <a:prstGeom prst="rect">
            <a:avLst/>
          </a:prstGeom>
          <a:solidFill>
            <a:srgbClr val="FFF2CC"/>
          </a:solidFill>
          <a:ln>
            <a:noFill/>
          </a:ln>
          <a:effectLst>
            <a:outerShdw blurRad="50800" rotWithShape="0" algn="tl" dir="2700000" dist="38100">
              <a:srgbClr val="000000">
                <a:alpha val="42745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 {Name} 🡪 {Color}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 {Category} 🡪 {Dept.}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3. {Color, Category} 🡪 {Price}</a:t>
            </a:r>
            <a:endParaRPr/>
          </a:p>
        </p:txBody>
      </p:sp>
      <p:sp>
        <p:nvSpPr>
          <p:cNvPr id="641" name="Google Shape;641;p56"/>
          <p:cNvSpPr txBox="1"/>
          <p:nvPr/>
        </p:nvSpPr>
        <p:spPr>
          <a:xfrm>
            <a:off x="3173937" y="5851696"/>
            <a:ext cx="5844125" cy="492443"/>
          </a:xfrm>
          <a:prstGeom prst="rect">
            <a:avLst/>
          </a:prstGeom>
          <a:solidFill>
            <a:srgbClr val="FBE4D4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Can we find an algorithmic way to do this?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2" name="Google Shape;642;p56"/>
          <p:cNvSpPr txBox="1"/>
          <p:nvPr/>
        </p:nvSpPr>
        <p:spPr>
          <a:xfrm>
            <a:off x="8391636" y="2209969"/>
            <a:ext cx="2474871" cy="4924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Provided FDs: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3" name="Google Shape;643;p56"/>
          <p:cNvSpPr txBox="1"/>
          <p:nvPr/>
        </p:nvSpPr>
        <p:spPr>
          <a:xfrm>
            <a:off x="351928" y="2209970"/>
            <a:ext cx="2474871" cy="4924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Inferred FDs:</a:t>
            </a:r>
            <a:endParaRPr/>
          </a:p>
        </p:txBody>
      </p:sp>
      <p:sp>
        <p:nvSpPr>
          <p:cNvPr id="644" name="Google Shape;644;p56"/>
          <p:cNvSpPr txBox="1"/>
          <p:nvPr/>
        </p:nvSpPr>
        <p:spPr>
          <a:xfrm>
            <a:off x="838200" y="1479578"/>
            <a:ext cx="130574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Example:</a:t>
            </a:r>
            <a:endParaRPr/>
          </a:p>
        </p:txBody>
      </p:sp>
      <p:graphicFrame>
        <p:nvGraphicFramePr>
          <p:cNvPr id="645" name="Google Shape;645;p56"/>
          <p:cNvGraphicFramePr/>
          <p:nvPr/>
        </p:nvGraphicFramePr>
        <p:xfrm>
          <a:off x="351928" y="270241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{F3500A4C-2BD7-46E5-876E-577A631CE535}</a:tableStyleId>
              </a:tblPr>
              <a:tblGrid>
                <a:gridCol w="5274675"/>
                <a:gridCol w="276502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Inferred</a:t>
                      </a:r>
                      <a:r>
                        <a:rPr lang="en-US" sz="1800"/>
                        <a:t> FD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Rule used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4.</a:t>
                      </a:r>
                      <a:r>
                        <a:rPr lang="en-US" sz="2400"/>
                        <a:t> {Name, Category} -&gt; {Name}</a:t>
                      </a:r>
                      <a:endParaRPr sz="24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Trivial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5. {Name, Category} -&gt; {Color}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Transitive</a:t>
                      </a:r>
                      <a:r>
                        <a:rPr lang="en-US" sz="2400"/>
                        <a:t> (4 -&gt; 1)</a:t>
                      </a:r>
                      <a:endParaRPr sz="24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6. {Name, Category}</a:t>
                      </a:r>
                      <a:r>
                        <a:rPr lang="en-US" sz="2400"/>
                        <a:t> -&gt; {Category}</a:t>
                      </a:r>
                      <a:endParaRPr sz="24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Trivial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7. {Name, Category</a:t>
                      </a:r>
                      <a:r>
                        <a:rPr lang="en-US" sz="2400"/>
                        <a:t> -&gt; {Color, Category}</a:t>
                      </a:r>
                      <a:endParaRPr sz="24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Split/combine</a:t>
                      </a:r>
                      <a:r>
                        <a:rPr lang="en-US" sz="2400"/>
                        <a:t> (5 + 6)</a:t>
                      </a:r>
                      <a:endParaRPr sz="24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8. {Name, Category} -&gt; {Price}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Transitive (7 -&gt;</a:t>
                      </a:r>
                      <a:r>
                        <a:rPr lang="en-US" sz="2400"/>
                        <a:t> 3)</a:t>
                      </a:r>
                      <a:endParaRPr sz="2400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pSp>
        <p:nvGrpSpPr>
          <p:cNvPr id="646" name="Google Shape;646;p56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647" name="Google Shape;647;p56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1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8" name="Google Shape;648;p56"/>
            <p:cNvSpPr txBox="1"/>
            <p:nvPr/>
          </p:nvSpPr>
          <p:spPr>
            <a:xfrm>
              <a:off x="188780" y="-22510"/>
              <a:ext cx="3189591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140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Design Theory  &gt;  Section 2  &gt;  Finding FDs</a:t>
              </a:r>
              <a:endParaRPr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Google Shape;653;p57"/>
          <p:cNvSpPr txBox="1"/>
          <p:nvPr>
            <p:ph type="title"/>
          </p:nvPr>
        </p:nvSpPr>
        <p:spPr>
          <a:xfrm>
            <a:off x="1981200" y="3218433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Closures</a:t>
            </a:r>
            <a:endParaRPr/>
          </a:p>
        </p:txBody>
      </p:sp>
      <p:grpSp>
        <p:nvGrpSpPr>
          <p:cNvPr id="654" name="Google Shape;654;p57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655" name="Google Shape;655;p57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1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6" name="Google Shape;656;p57"/>
            <p:cNvSpPr txBox="1"/>
            <p:nvPr/>
          </p:nvSpPr>
          <p:spPr>
            <a:xfrm>
              <a:off x="188780" y="-22510"/>
              <a:ext cx="29603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140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Design Theory  &gt;  Section 2  &gt;  Closures</a:t>
              </a:r>
              <a:endParaRPr/>
            </a:p>
          </p:txBody>
        </p:sp>
      </p:grp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p5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Closure of a set of Attributes</a:t>
            </a:r>
            <a:endParaRPr/>
          </a:p>
        </p:txBody>
      </p:sp>
      <p:sp>
        <p:nvSpPr>
          <p:cNvPr id="663" name="Google Shape;663;p5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4" name="Google Shape;664;p58"/>
          <p:cNvSpPr txBox="1"/>
          <p:nvPr/>
        </p:nvSpPr>
        <p:spPr>
          <a:xfrm>
            <a:off x="838200" y="1761732"/>
            <a:ext cx="10678610" cy="954107"/>
          </a:xfrm>
          <a:prstGeom prst="rect">
            <a:avLst/>
          </a:prstGeom>
          <a:solidFill>
            <a:srgbClr val="DDEAF6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Given</a:t>
            </a: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a set of attributes  </a:t>
            </a:r>
            <a:r>
              <a:rPr b="1"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b="1" baseline="-25000"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1"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, …, A</a:t>
            </a:r>
            <a:r>
              <a:rPr b="1" baseline="-25000"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and a set of FDs </a:t>
            </a:r>
            <a:r>
              <a:rPr b="1"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Then </a:t>
            </a: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the </a:t>
            </a:r>
            <a:r>
              <a:rPr b="1" lang="en-US" sz="2800" u="sng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closure</a:t>
            </a: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b="1"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{A</a:t>
            </a:r>
            <a:r>
              <a:rPr b="1" baseline="-25000"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1"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, …, A</a:t>
            </a:r>
            <a:r>
              <a:rPr b="1" baseline="-25000"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b="1"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r>
              <a:rPr b="1" baseline="30000"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r>
              <a:rPr b="1"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is the set of attributes </a:t>
            </a:r>
            <a:r>
              <a:rPr b="1"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s.t. {</a:t>
            </a:r>
            <a:r>
              <a:rPr b="1"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b="1" baseline="-25000"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1"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, …, A</a:t>
            </a:r>
            <a:r>
              <a:rPr b="1" baseline="-25000"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b="1"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} 🡪 B</a:t>
            </a:r>
            <a:endParaRPr b="1" sz="2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5" name="Google Shape;665;p58"/>
          <p:cNvSpPr txBox="1"/>
          <p:nvPr/>
        </p:nvSpPr>
        <p:spPr>
          <a:xfrm>
            <a:off x="3366397" y="3307747"/>
            <a:ext cx="5320687" cy="1200329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C0504D"/>
                </a:solidFill>
                <a:latin typeface="Arial"/>
                <a:ea typeface="Arial"/>
                <a:cs typeface="Arial"/>
                <a:sym typeface="Arial"/>
              </a:rPr>
              <a:t>{name}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🡪 </a:t>
            </a:r>
            <a:r>
              <a:rPr lang="en-US" sz="2400">
                <a:solidFill>
                  <a:srgbClr val="C0504D"/>
                </a:solidFill>
                <a:latin typeface="Arial"/>
                <a:ea typeface="Arial"/>
                <a:cs typeface="Arial"/>
                <a:sym typeface="Arial"/>
              </a:rPr>
              <a:t>{color}</a:t>
            </a:r>
            <a:endParaRPr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C0504D"/>
                </a:solidFill>
                <a:latin typeface="Arial"/>
                <a:ea typeface="Arial"/>
                <a:cs typeface="Arial"/>
                <a:sym typeface="Arial"/>
              </a:rPr>
              <a:t>{category}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🡪 </a:t>
            </a:r>
            <a:r>
              <a:rPr lang="en-US" sz="2400">
                <a:solidFill>
                  <a:srgbClr val="C0504D"/>
                </a:solidFill>
                <a:latin typeface="Arial"/>
                <a:ea typeface="Arial"/>
                <a:cs typeface="Arial"/>
                <a:sym typeface="Arial"/>
              </a:rPr>
              <a:t>{department}</a:t>
            </a:r>
            <a:endParaRPr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C0504D"/>
                </a:solidFill>
                <a:latin typeface="Arial"/>
                <a:ea typeface="Arial"/>
                <a:cs typeface="Arial"/>
                <a:sym typeface="Arial"/>
              </a:rPr>
              <a:t>{color, category}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🡪 </a:t>
            </a:r>
            <a:r>
              <a:rPr lang="en-US" sz="2400">
                <a:solidFill>
                  <a:srgbClr val="C0504D"/>
                </a:solidFill>
                <a:latin typeface="Arial"/>
                <a:ea typeface="Arial"/>
                <a:cs typeface="Arial"/>
                <a:sym typeface="Arial"/>
              </a:rPr>
              <a:t>{price}</a:t>
            </a:r>
            <a:endParaRPr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6" name="Google Shape;666;p58"/>
          <p:cNvSpPr txBox="1"/>
          <p:nvPr/>
        </p:nvSpPr>
        <p:spPr>
          <a:xfrm>
            <a:off x="838200" y="3215414"/>
            <a:ext cx="2428806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u="sng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Example:</a:t>
            </a: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   F =</a:t>
            </a:r>
            <a:endParaRPr/>
          </a:p>
        </p:txBody>
      </p:sp>
      <p:sp>
        <p:nvSpPr>
          <p:cNvPr id="667" name="Google Shape;667;p58"/>
          <p:cNvSpPr txBox="1"/>
          <p:nvPr/>
        </p:nvSpPr>
        <p:spPr>
          <a:xfrm>
            <a:off x="838200" y="4812453"/>
            <a:ext cx="1737088" cy="95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Example Closures:</a:t>
            </a:r>
            <a:endParaRPr b="1" i="1"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8" name="Google Shape;668;p58"/>
          <p:cNvSpPr txBox="1"/>
          <p:nvPr/>
        </p:nvSpPr>
        <p:spPr>
          <a:xfrm>
            <a:off x="3366397" y="4812453"/>
            <a:ext cx="6935071" cy="156966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C0504D"/>
                </a:solidFill>
                <a:latin typeface="Arial"/>
                <a:ea typeface="Arial"/>
                <a:cs typeface="Arial"/>
                <a:sym typeface="Arial"/>
              </a:rPr>
              <a:t>{name}</a:t>
            </a:r>
            <a:r>
              <a:rPr baseline="30000" lang="en-US" sz="2400">
                <a:solidFill>
                  <a:srgbClr val="C0504D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lang="en-US" sz="2400">
                <a:solidFill>
                  <a:srgbClr val="C0504D"/>
                </a:solidFill>
                <a:latin typeface="Arial"/>
                <a:ea typeface="Arial"/>
                <a:cs typeface="Arial"/>
                <a:sym typeface="Arial"/>
              </a:rPr>
              <a:t>{name, color}</a:t>
            </a:r>
            <a:endParaRPr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C0504D"/>
                </a:solidFill>
                <a:latin typeface="Arial"/>
                <a:ea typeface="Arial"/>
                <a:cs typeface="Arial"/>
                <a:sym typeface="Arial"/>
              </a:rPr>
              <a:t>{name, category}</a:t>
            </a:r>
            <a:r>
              <a:rPr baseline="30000" lang="en-US" sz="2400">
                <a:solidFill>
                  <a:srgbClr val="C0504D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=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C0504D"/>
                </a:solidFill>
                <a:latin typeface="Arial"/>
                <a:ea typeface="Arial"/>
                <a:cs typeface="Arial"/>
                <a:sym typeface="Arial"/>
              </a:rPr>
              <a:t>{name, category, color, dept, price}</a:t>
            </a:r>
            <a:endParaRPr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C0504D"/>
                </a:solidFill>
                <a:latin typeface="Arial"/>
                <a:ea typeface="Arial"/>
                <a:cs typeface="Arial"/>
                <a:sym typeface="Arial"/>
              </a:rPr>
              <a:t>{color}</a:t>
            </a:r>
            <a:r>
              <a:rPr baseline="30000" lang="en-US" sz="2400">
                <a:solidFill>
                  <a:srgbClr val="C0504D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lang="en-US" sz="2400">
                <a:solidFill>
                  <a:srgbClr val="C0504D"/>
                </a:solidFill>
                <a:latin typeface="Arial"/>
                <a:ea typeface="Arial"/>
                <a:cs typeface="Arial"/>
                <a:sym typeface="Arial"/>
              </a:rPr>
              <a:t>{color}</a:t>
            </a:r>
            <a:endParaRPr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69" name="Google Shape;669;p58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670" name="Google Shape;670;p58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1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1" name="Google Shape;671;p58"/>
            <p:cNvSpPr txBox="1"/>
            <p:nvPr/>
          </p:nvSpPr>
          <p:spPr>
            <a:xfrm>
              <a:off x="188780" y="-22510"/>
              <a:ext cx="29603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140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Design Theory  &gt;  Section 2  &gt;  Closures</a:t>
              </a:r>
              <a:endParaRPr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6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p5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Closure Algorithm</a:t>
            </a:r>
            <a:endParaRPr/>
          </a:p>
        </p:txBody>
      </p:sp>
      <p:sp>
        <p:nvSpPr>
          <p:cNvPr id="678" name="Google Shape;678;p5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9" name="Google Shape;679;p59"/>
          <p:cNvSpPr txBox="1"/>
          <p:nvPr/>
        </p:nvSpPr>
        <p:spPr>
          <a:xfrm>
            <a:off x="1950474" y="2291845"/>
            <a:ext cx="8291052" cy="4524315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 cap="flat" cmpd="sng" w="9525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grpSp>
        <p:nvGrpSpPr>
          <p:cNvPr id="680" name="Google Shape;680;p59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681" name="Google Shape;681;p59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1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2" name="Google Shape;682;p59"/>
            <p:cNvSpPr txBox="1"/>
            <p:nvPr/>
          </p:nvSpPr>
          <p:spPr>
            <a:xfrm>
              <a:off x="188780" y="-22510"/>
              <a:ext cx="29603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140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Design Theory  &gt;  Section 2  &gt;  Closures</a:t>
              </a:r>
              <a:endParaRPr/>
            </a:p>
          </p:txBody>
        </p:sp>
      </p:grp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7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p6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Closure Algorithm</a:t>
            </a:r>
            <a:endParaRPr/>
          </a:p>
        </p:txBody>
      </p:sp>
      <p:sp>
        <p:nvSpPr>
          <p:cNvPr id="689" name="Google Shape;689;p6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0" name="Google Shape;690;p60"/>
          <p:cNvSpPr txBox="1"/>
          <p:nvPr/>
        </p:nvSpPr>
        <p:spPr>
          <a:xfrm>
            <a:off x="838200" y="1463936"/>
            <a:ext cx="4441723" cy="2308324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 cap="flat" cmpd="sng" w="9525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691" name="Google Shape;691;p60"/>
          <p:cNvSpPr txBox="1"/>
          <p:nvPr/>
        </p:nvSpPr>
        <p:spPr>
          <a:xfrm>
            <a:off x="838200" y="4228485"/>
            <a:ext cx="4441723" cy="2308324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C0504D"/>
                </a:solidFill>
                <a:latin typeface="Arial"/>
                <a:ea typeface="Arial"/>
                <a:cs typeface="Arial"/>
                <a:sym typeface="Arial"/>
              </a:rPr>
              <a:t>{name}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🡪 </a:t>
            </a:r>
            <a:r>
              <a:rPr lang="en-US" sz="2400">
                <a:solidFill>
                  <a:srgbClr val="C0504D"/>
                </a:solidFill>
                <a:latin typeface="Arial"/>
                <a:ea typeface="Arial"/>
                <a:cs typeface="Arial"/>
                <a:sym typeface="Arial"/>
              </a:rPr>
              <a:t>{color}</a:t>
            </a:r>
            <a:endParaRPr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C0504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C0504D"/>
                </a:solidFill>
                <a:latin typeface="Arial"/>
                <a:ea typeface="Arial"/>
                <a:cs typeface="Arial"/>
                <a:sym typeface="Arial"/>
              </a:rPr>
              <a:t>{category}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🡪 </a:t>
            </a:r>
            <a:r>
              <a:rPr lang="en-US" sz="2400">
                <a:solidFill>
                  <a:srgbClr val="C0504D"/>
                </a:solidFill>
                <a:latin typeface="Arial"/>
                <a:ea typeface="Arial"/>
                <a:cs typeface="Arial"/>
                <a:sym typeface="Arial"/>
              </a:rPr>
              <a:t>{dept}</a:t>
            </a:r>
            <a:endParaRPr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C0504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C0504D"/>
                </a:solidFill>
                <a:latin typeface="Arial"/>
                <a:ea typeface="Arial"/>
                <a:cs typeface="Arial"/>
                <a:sym typeface="Arial"/>
              </a:rPr>
              <a:t>{color, category}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🡪 </a:t>
            </a:r>
            <a:r>
              <a:rPr lang="en-US" sz="2400">
                <a:solidFill>
                  <a:srgbClr val="C0504D"/>
                </a:solidFill>
                <a:latin typeface="Arial"/>
                <a:ea typeface="Arial"/>
                <a:cs typeface="Arial"/>
                <a:sym typeface="Arial"/>
              </a:rPr>
              <a:t>{price}</a:t>
            </a:r>
            <a:endParaRPr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2" name="Google Shape;692;p60"/>
          <p:cNvSpPr txBox="1"/>
          <p:nvPr/>
        </p:nvSpPr>
        <p:spPr>
          <a:xfrm>
            <a:off x="188780" y="4043819"/>
            <a:ext cx="54854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 =</a:t>
            </a:r>
            <a:endParaRPr/>
          </a:p>
        </p:txBody>
      </p:sp>
      <p:sp>
        <p:nvSpPr>
          <p:cNvPr id="693" name="Google Shape;693;p60"/>
          <p:cNvSpPr txBox="1"/>
          <p:nvPr/>
        </p:nvSpPr>
        <p:spPr>
          <a:xfrm>
            <a:off x="5667147" y="1462894"/>
            <a:ext cx="6052906" cy="830997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C0504D"/>
                </a:solidFill>
                <a:latin typeface="Arial"/>
                <a:ea typeface="Arial"/>
                <a:cs typeface="Arial"/>
                <a:sym typeface="Arial"/>
              </a:rPr>
              <a:t>{name, category}</a:t>
            </a:r>
            <a:r>
              <a:rPr baseline="30000" lang="en-US" sz="2400">
                <a:solidFill>
                  <a:srgbClr val="C0504D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=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C0504D"/>
                </a:solidFill>
                <a:latin typeface="Arial"/>
                <a:ea typeface="Arial"/>
                <a:cs typeface="Arial"/>
                <a:sym typeface="Arial"/>
              </a:rPr>
              <a:t>{name, category}</a:t>
            </a:r>
            <a:endParaRPr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94" name="Google Shape;694;p60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695" name="Google Shape;695;p60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1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6" name="Google Shape;696;p60"/>
            <p:cNvSpPr txBox="1"/>
            <p:nvPr/>
          </p:nvSpPr>
          <p:spPr>
            <a:xfrm>
              <a:off x="188780" y="-22510"/>
              <a:ext cx="29603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140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Design Theory  &gt;  Section 2  &gt;  Closures</a:t>
              </a:r>
              <a:endParaRPr/>
            </a:p>
          </p:txBody>
        </p:sp>
      </p:grp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1" name="Shape 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6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Closure Algorithm</a:t>
            </a:r>
            <a:endParaRPr/>
          </a:p>
        </p:txBody>
      </p:sp>
      <p:sp>
        <p:nvSpPr>
          <p:cNvPr id="703" name="Google Shape;703;p6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4" name="Google Shape;704;p61"/>
          <p:cNvSpPr txBox="1"/>
          <p:nvPr/>
        </p:nvSpPr>
        <p:spPr>
          <a:xfrm>
            <a:off x="838200" y="1463936"/>
            <a:ext cx="4441723" cy="2308324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 cap="flat" cmpd="sng" w="9525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705" name="Google Shape;705;p61"/>
          <p:cNvSpPr txBox="1"/>
          <p:nvPr/>
        </p:nvSpPr>
        <p:spPr>
          <a:xfrm>
            <a:off x="838199" y="4228485"/>
            <a:ext cx="4441723" cy="2308324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C0504D"/>
                </a:solidFill>
                <a:latin typeface="Arial"/>
                <a:ea typeface="Arial"/>
                <a:cs typeface="Arial"/>
                <a:sym typeface="Arial"/>
              </a:rPr>
              <a:t>{name}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🡪 </a:t>
            </a:r>
            <a:r>
              <a:rPr lang="en-US" sz="2400">
                <a:solidFill>
                  <a:srgbClr val="C0504D"/>
                </a:solidFill>
                <a:latin typeface="Arial"/>
                <a:ea typeface="Arial"/>
                <a:cs typeface="Arial"/>
                <a:sym typeface="Arial"/>
              </a:rPr>
              <a:t>{color}</a:t>
            </a:r>
            <a:endParaRPr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C0504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C0504D"/>
                </a:solidFill>
                <a:latin typeface="Arial"/>
                <a:ea typeface="Arial"/>
                <a:cs typeface="Arial"/>
                <a:sym typeface="Arial"/>
              </a:rPr>
              <a:t>{category}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🡪 </a:t>
            </a:r>
            <a:r>
              <a:rPr lang="en-US" sz="2400">
                <a:solidFill>
                  <a:srgbClr val="C0504D"/>
                </a:solidFill>
                <a:latin typeface="Arial"/>
                <a:ea typeface="Arial"/>
                <a:cs typeface="Arial"/>
                <a:sym typeface="Arial"/>
              </a:rPr>
              <a:t>{dept}</a:t>
            </a:r>
            <a:endParaRPr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C0504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C0504D"/>
                </a:solidFill>
                <a:latin typeface="Arial"/>
                <a:ea typeface="Arial"/>
                <a:cs typeface="Arial"/>
                <a:sym typeface="Arial"/>
              </a:rPr>
              <a:t>{color, category}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🡪 </a:t>
            </a:r>
            <a:r>
              <a:rPr lang="en-US" sz="2400">
                <a:solidFill>
                  <a:srgbClr val="C0504D"/>
                </a:solidFill>
                <a:latin typeface="Arial"/>
                <a:ea typeface="Arial"/>
                <a:cs typeface="Arial"/>
                <a:sym typeface="Arial"/>
              </a:rPr>
              <a:t>{price}</a:t>
            </a:r>
            <a:endParaRPr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6" name="Google Shape;706;p61"/>
          <p:cNvSpPr txBox="1"/>
          <p:nvPr/>
        </p:nvSpPr>
        <p:spPr>
          <a:xfrm>
            <a:off x="188780" y="4043819"/>
            <a:ext cx="54854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 =</a:t>
            </a:r>
            <a:endParaRPr/>
          </a:p>
        </p:txBody>
      </p:sp>
      <p:sp>
        <p:nvSpPr>
          <p:cNvPr id="707" name="Google Shape;707;p61"/>
          <p:cNvSpPr txBox="1"/>
          <p:nvPr/>
        </p:nvSpPr>
        <p:spPr>
          <a:xfrm>
            <a:off x="5667147" y="1462894"/>
            <a:ext cx="6052906" cy="830997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C0504D"/>
                </a:solidFill>
                <a:latin typeface="Arial"/>
                <a:ea typeface="Arial"/>
                <a:cs typeface="Arial"/>
                <a:sym typeface="Arial"/>
              </a:rPr>
              <a:t>{name, category}</a:t>
            </a:r>
            <a:r>
              <a:rPr baseline="30000" lang="en-US" sz="2400">
                <a:solidFill>
                  <a:srgbClr val="C0504D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=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C0504D"/>
                </a:solidFill>
                <a:latin typeface="Arial"/>
                <a:ea typeface="Arial"/>
                <a:cs typeface="Arial"/>
                <a:sym typeface="Arial"/>
              </a:rPr>
              <a:t>{name, category}</a:t>
            </a:r>
            <a:endParaRPr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8" name="Google Shape;708;p61"/>
          <p:cNvSpPr txBox="1"/>
          <p:nvPr/>
        </p:nvSpPr>
        <p:spPr>
          <a:xfrm>
            <a:off x="5667147" y="2693936"/>
            <a:ext cx="6052906" cy="830997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C0504D"/>
                </a:solidFill>
                <a:latin typeface="Arial"/>
                <a:ea typeface="Arial"/>
                <a:cs typeface="Arial"/>
                <a:sym typeface="Arial"/>
              </a:rPr>
              <a:t>{name, category}</a:t>
            </a:r>
            <a:r>
              <a:rPr baseline="30000" lang="en-US" sz="2400">
                <a:solidFill>
                  <a:srgbClr val="C0504D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=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C0504D"/>
                </a:solidFill>
                <a:latin typeface="Arial"/>
                <a:ea typeface="Arial"/>
                <a:cs typeface="Arial"/>
                <a:sym typeface="Arial"/>
              </a:rPr>
              <a:t>{name, category, color}</a:t>
            </a:r>
            <a:endParaRPr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9" name="Google Shape;709;p61"/>
          <p:cNvSpPr/>
          <p:nvPr/>
        </p:nvSpPr>
        <p:spPr>
          <a:xfrm>
            <a:off x="838199" y="4159126"/>
            <a:ext cx="3301182" cy="629265"/>
          </a:xfrm>
          <a:prstGeom prst="roundRect">
            <a:avLst>
              <a:gd fmla="val 16667" name="adj"/>
            </a:avLst>
          </a:prstGeom>
          <a:solidFill>
            <a:schemeClr val="accent1">
              <a:alpha val="4980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10" name="Google Shape;710;p61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711" name="Google Shape;711;p61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1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2" name="Google Shape;712;p61"/>
            <p:cNvSpPr txBox="1"/>
            <p:nvPr/>
          </p:nvSpPr>
          <p:spPr>
            <a:xfrm>
              <a:off x="188780" y="-22510"/>
              <a:ext cx="29603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140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Design Theory  &gt;  Section 2  &gt;  Closures</a:t>
              </a:r>
              <a:endParaRPr/>
            </a:p>
          </p:txBody>
        </p:sp>
      </p:grpSp>
      <p:sp>
        <p:nvSpPr>
          <p:cNvPr id="713" name="Google Shape;713;p61"/>
          <p:cNvSpPr/>
          <p:nvPr/>
        </p:nvSpPr>
        <p:spPr>
          <a:xfrm>
            <a:off x="5535561" y="1248697"/>
            <a:ext cx="6390968" cy="1248697"/>
          </a:xfrm>
          <a:prstGeom prst="rect">
            <a:avLst/>
          </a:prstGeom>
          <a:solidFill>
            <a:schemeClr val="lt1">
              <a:alpha val="4980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8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p6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Closure Algorithm</a:t>
            </a:r>
            <a:endParaRPr/>
          </a:p>
        </p:txBody>
      </p:sp>
      <p:sp>
        <p:nvSpPr>
          <p:cNvPr id="720" name="Google Shape;720;p6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1" name="Google Shape;721;p62"/>
          <p:cNvSpPr txBox="1"/>
          <p:nvPr/>
        </p:nvSpPr>
        <p:spPr>
          <a:xfrm>
            <a:off x="838200" y="1463936"/>
            <a:ext cx="4441723" cy="2308324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 cap="flat" cmpd="sng" w="9525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722" name="Google Shape;722;p62"/>
          <p:cNvSpPr txBox="1"/>
          <p:nvPr/>
        </p:nvSpPr>
        <p:spPr>
          <a:xfrm>
            <a:off x="838199" y="4228485"/>
            <a:ext cx="4441723" cy="2308324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C0504D"/>
                </a:solidFill>
                <a:latin typeface="Arial"/>
                <a:ea typeface="Arial"/>
                <a:cs typeface="Arial"/>
                <a:sym typeface="Arial"/>
              </a:rPr>
              <a:t>{name}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🡪 </a:t>
            </a:r>
            <a:r>
              <a:rPr lang="en-US" sz="2400">
                <a:solidFill>
                  <a:srgbClr val="C0504D"/>
                </a:solidFill>
                <a:latin typeface="Arial"/>
                <a:ea typeface="Arial"/>
                <a:cs typeface="Arial"/>
                <a:sym typeface="Arial"/>
              </a:rPr>
              <a:t>{color}</a:t>
            </a:r>
            <a:endParaRPr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C0504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C0504D"/>
                </a:solidFill>
                <a:latin typeface="Arial"/>
                <a:ea typeface="Arial"/>
                <a:cs typeface="Arial"/>
                <a:sym typeface="Arial"/>
              </a:rPr>
              <a:t>{category}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🡪 </a:t>
            </a:r>
            <a:r>
              <a:rPr lang="en-US" sz="2400">
                <a:solidFill>
                  <a:srgbClr val="C0504D"/>
                </a:solidFill>
                <a:latin typeface="Arial"/>
                <a:ea typeface="Arial"/>
                <a:cs typeface="Arial"/>
                <a:sym typeface="Arial"/>
              </a:rPr>
              <a:t>{dept}</a:t>
            </a:r>
            <a:endParaRPr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C0504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C0504D"/>
                </a:solidFill>
                <a:latin typeface="Arial"/>
                <a:ea typeface="Arial"/>
                <a:cs typeface="Arial"/>
                <a:sym typeface="Arial"/>
              </a:rPr>
              <a:t>{color, category}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🡪 </a:t>
            </a:r>
            <a:r>
              <a:rPr lang="en-US" sz="2400">
                <a:solidFill>
                  <a:srgbClr val="C0504D"/>
                </a:solidFill>
                <a:latin typeface="Arial"/>
                <a:ea typeface="Arial"/>
                <a:cs typeface="Arial"/>
                <a:sym typeface="Arial"/>
              </a:rPr>
              <a:t>{price}</a:t>
            </a:r>
            <a:endParaRPr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3" name="Google Shape;723;p62"/>
          <p:cNvSpPr txBox="1"/>
          <p:nvPr/>
        </p:nvSpPr>
        <p:spPr>
          <a:xfrm>
            <a:off x="188780" y="4043819"/>
            <a:ext cx="54854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 =</a:t>
            </a:r>
            <a:endParaRPr/>
          </a:p>
        </p:txBody>
      </p:sp>
      <p:sp>
        <p:nvSpPr>
          <p:cNvPr id="724" name="Google Shape;724;p62"/>
          <p:cNvSpPr txBox="1"/>
          <p:nvPr/>
        </p:nvSpPr>
        <p:spPr>
          <a:xfrm>
            <a:off x="5667147" y="1462894"/>
            <a:ext cx="6052906" cy="830997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C0504D"/>
                </a:solidFill>
                <a:latin typeface="Arial"/>
                <a:ea typeface="Arial"/>
                <a:cs typeface="Arial"/>
                <a:sym typeface="Arial"/>
              </a:rPr>
              <a:t>{name, category}</a:t>
            </a:r>
            <a:r>
              <a:rPr baseline="30000" lang="en-US" sz="2400">
                <a:solidFill>
                  <a:srgbClr val="C0504D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=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C0504D"/>
                </a:solidFill>
                <a:latin typeface="Arial"/>
                <a:ea typeface="Arial"/>
                <a:cs typeface="Arial"/>
                <a:sym typeface="Arial"/>
              </a:rPr>
              <a:t>{name, category}</a:t>
            </a:r>
            <a:endParaRPr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5" name="Google Shape;725;p62"/>
          <p:cNvSpPr txBox="1"/>
          <p:nvPr/>
        </p:nvSpPr>
        <p:spPr>
          <a:xfrm>
            <a:off x="5667147" y="2693936"/>
            <a:ext cx="6052906" cy="830997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C0504D"/>
                </a:solidFill>
                <a:latin typeface="Arial"/>
                <a:ea typeface="Arial"/>
                <a:cs typeface="Arial"/>
                <a:sym typeface="Arial"/>
              </a:rPr>
              <a:t>{name, category}</a:t>
            </a:r>
            <a:r>
              <a:rPr baseline="30000" lang="en-US" sz="2400">
                <a:solidFill>
                  <a:srgbClr val="C0504D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=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C0504D"/>
                </a:solidFill>
                <a:latin typeface="Arial"/>
                <a:ea typeface="Arial"/>
                <a:cs typeface="Arial"/>
                <a:sym typeface="Arial"/>
              </a:rPr>
              <a:t>{name, category, color}</a:t>
            </a:r>
            <a:endParaRPr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6" name="Google Shape;726;p62"/>
          <p:cNvSpPr txBox="1"/>
          <p:nvPr/>
        </p:nvSpPr>
        <p:spPr>
          <a:xfrm>
            <a:off x="5667147" y="3924978"/>
            <a:ext cx="6052906" cy="830997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C0504D"/>
                </a:solidFill>
                <a:latin typeface="Arial"/>
                <a:ea typeface="Arial"/>
                <a:cs typeface="Arial"/>
                <a:sym typeface="Arial"/>
              </a:rPr>
              <a:t>{name, category}</a:t>
            </a:r>
            <a:r>
              <a:rPr baseline="30000" lang="en-US" sz="2400">
                <a:solidFill>
                  <a:srgbClr val="C0504D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=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C0504D"/>
                </a:solidFill>
                <a:latin typeface="Arial"/>
                <a:ea typeface="Arial"/>
                <a:cs typeface="Arial"/>
                <a:sym typeface="Arial"/>
              </a:rPr>
              <a:t>{name, category, color, dept}</a:t>
            </a:r>
            <a:endParaRPr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7" name="Google Shape;727;p62"/>
          <p:cNvSpPr/>
          <p:nvPr/>
        </p:nvSpPr>
        <p:spPr>
          <a:xfrm>
            <a:off x="838199" y="4878065"/>
            <a:ext cx="3782962" cy="629265"/>
          </a:xfrm>
          <a:prstGeom prst="roundRect">
            <a:avLst>
              <a:gd fmla="val 16667" name="adj"/>
            </a:avLst>
          </a:prstGeom>
          <a:solidFill>
            <a:schemeClr val="accent1">
              <a:alpha val="4980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28" name="Google Shape;728;p62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729" name="Google Shape;729;p62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1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0" name="Google Shape;730;p62"/>
            <p:cNvSpPr txBox="1"/>
            <p:nvPr/>
          </p:nvSpPr>
          <p:spPr>
            <a:xfrm>
              <a:off x="188780" y="-22510"/>
              <a:ext cx="29603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140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Design Theory  &gt;  Section 2  &gt;  Closures</a:t>
              </a:r>
              <a:endParaRPr/>
            </a:p>
          </p:txBody>
        </p:sp>
      </p:grpSp>
      <p:sp>
        <p:nvSpPr>
          <p:cNvPr id="731" name="Google Shape;731;p62"/>
          <p:cNvSpPr/>
          <p:nvPr/>
        </p:nvSpPr>
        <p:spPr>
          <a:xfrm>
            <a:off x="5535561" y="1248697"/>
            <a:ext cx="6390968" cy="2523563"/>
          </a:xfrm>
          <a:prstGeom prst="rect">
            <a:avLst/>
          </a:prstGeom>
          <a:solidFill>
            <a:schemeClr val="lt1">
              <a:alpha val="4980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6" name="Shape 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Google Shape;737;p6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Closure Algorithm</a:t>
            </a:r>
            <a:endParaRPr/>
          </a:p>
        </p:txBody>
      </p:sp>
      <p:sp>
        <p:nvSpPr>
          <p:cNvPr id="738" name="Google Shape;738;p6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9" name="Google Shape;739;p63"/>
          <p:cNvSpPr txBox="1"/>
          <p:nvPr/>
        </p:nvSpPr>
        <p:spPr>
          <a:xfrm>
            <a:off x="838200" y="1463936"/>
            <a:ext cx="4441723" cy="2308324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 cap="flat" cmpd="sng" w="9525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740" name="Google Shape;740;p63"/>
          <p:cNvSpPr txBox="1"/>
          <p:nvPr/>
        </p:nvSpPr>
        <p:spPr>
          <a:xfrm>
            <a:off x="188780" y="4043819"/>
            <a:ext cx="54854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 =</a:t>
            </a:r>
            <a:endParaRPr/>
          </a:p>
        </p:txBody>
      </p:sp>
      <p:sp>
        <p:nvSpPr>
          <p:cNvPr id="741" name="Google Shape;741;p63"/>
          <p:cNvSpPr txBox="1"/>
          <p:nvPr/>
        </p:nvSpPr>
        <p:spPr>
          <a:xfrm>
            <a:off x="5667147" y="1462894"/>
            <a:ext cx="6052906" cy="830997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C0504D"/>
                </a:solidFill>
                <a:latin typeface="Arial"/>
                <a:ea typeface="Arial"/>
                <a:cs typeface="Arial"/>
                <a:sym typeface="Arial"/>
              </a:rPr>
              <a:t>{name, category}</a:t>
            </a:r>
            <a:r>
              <a:rPr baseline="30000" lang="en-US" sz="2400">
                <a:solidFill>
                  <a:srgbClr val="C0504D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=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C0504D"/>
                </a:solidFill>
                <a:latin typeface="Arial"/>
                <a:ea typeface="Arial"/>
                <a:cs typeface="Arial"/>
                <a:sym typeface="Arial"/>
              </a:rPr>
              <a:t>{name, category}</a:t>
            </a:r>
            <a:endParaRPr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2" name="Google Shape;742;p63"/>
          <p:cNvSpPr txBox="1"/>
          <p:nvPr/>
        </p:nvSpPr>
        <p:spPr>
          <a:xfrm>
            <a:off x="5667147" y="5156021"/>
            <a:ext cx="6052906" cy="1200329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C0504D"/>
                </a:solidFill>
                <a:latin typeface="Arial"/>
                <a:ea typeface="Arial"/>
                <a:cs typeface="Arial"/>
                <a:sym typeface="Arial"/>
              </a:rPr>
              <a:t>{name, category}</a:t>
            </a:r>
            <a:r>
              <a:rPr baseline="30000" lang="en-US" sz="2400">
                <a:solidFill>
                  <a:srgbClr val="C0504D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=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C0504D"/>
                </a:solidFill>
                <a:latin typeface="Arial"/>
                <a:ea typeface="Arial"/>
                <a:cs typeface="Arial"/>
                <a:sym typeface="Arial"/>
              </a:rPr>
              <a:t>{name, category, color, dept, price}</a:t>
            </a:r>
            <a:endParaRPr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3" name="Google Shape;743;p63"/>
          <p:cNvSpPr txBox="1"/>
          <p:nvPr/>
        </p:nvSpPr>
        <p:spPr>
          <a:xfrm>
            <a:off x="5667147" y="2693936"/>
            <a:ext cx="6052906" cy="830997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C0504D"/>
                </a:solidFill>
                <a:latin typeface="Arial"/>
                <a:ea typeface="Arial"/>
                <a:cs typeface="Arial"/>
                <a:sym typeface="Arial"/>
              </a:rPr>
              <a:t>{name, category}</a:t>
            </a:r>
            <a:r>
              <a:rPr baseline="30000" lang="en-US" sz="2400">
                <a:solidFill>
                  <a:srgbClr val="C0504D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=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C0504D"/>
                </a:solidFill>
                <a:latin typeface="Arial"/>
                <a:ea typeface="Arial"/>
                <a:cs typeface="Arial"/>
                <a:sym typeface="Arial"/>
              </a:rPr>
              <a:t>{name, category, color}</a:t>
            </a:r>
            <a:endParaRPr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4" name="Google Shape;744;p63"/>
          <p:cNvSpPr txBox="1"/>
          <p:nvPr/>
        </p:nvSpPr>
        <p:spPr>
          <a:xfrm>
            <a:off x="5667147" y="3924978"/>
            <a:ext cx="6052906" cy="830997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C0504D"/>
                </a:solidFill>
                <a:latin typeface="Arial"/>
                <a:ea typeface="Arial"/>
                <a:cs typeface="Arial"/>
                <a:sym typeface="Arial"/>
              </a:rPr>
              <a:t>{name, category}</a:t>
            </a:r>
            <a:r>
              <a:rPr baseline="30000" lang="en-US" sz="2400">
                <a:solidFill>
                  <a:srgbClr val="C0504D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=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C0504D"/>
                </a:solidFill>
                <a:latin typeface="Arial"/>
                <a:ea typeface="Arial"/>
                <a:cs typeface="Arial"/>
                <a:sym typeface="Arial"/>
              </a:rPr>
              <a:t>{name, category, color, dept}</a:t>
            </a:r>
            <a:endParaRPr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5" name="Google Shape;745;p63"/>
          <p:cNvSpPr txBox="1"/>
          <p:nvPr/>
        </p:nvSpPr>
        <p:spPr>
          <a:xfrm>
            <a:off x="838199" y="4228485"/>
            <a:ext cx="4441723" cy="2308324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C0504D"/>
                </a:solidFill>
                <a:latin typeface="Arial"/>
                <a:ea typeface="Arial"/>
                <a:cs typeface="Arial"/>
                <a:sym typeface="Arial"/>
              </a:rPr>
              <a:t>{name}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🡪 </a:t>
            </a:r>
            <a:r>
              <a:rPr lang="en-US" sz="2400">
                <a:solidFill>
                  <a:srgbClr val="C0504D"/>
                </a:solidFill>
                <a:latin typeface="Arial"/>
                <a:ea typeface="Arial"/>
                <a:cs typeface="Arial"/>
                <a:sym typeface="Arial"/>
              </a:rPr>
              <a:t>{color}</a:t>
            </a:r>
            <a:endParaRPr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C0504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C0504D"/>
                </a:solidFill>
                <a:latin typeface="Arial"/>
                <a:ea typeface="Arial"/>
                <a:cs typeface="Arial"/>
                <a:sym typeface="Arial"/>
              </a:rPr>
              <a:t>{category}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🡪 </a:t>
            </a:r>
            <a:r>
              <a:rPr lang="en-US" sz="2400">
                <a:solidFill>
                  <a:srgbClr val="C0504D"/>
                </a:solidFill>
                <a:latin typeface="Arial"/>
                <a:ea typeface="Arial"/>
                <a:cs typeface="Arial"/>
                <a:sym typeface="Arial"/>
              </a:rPr>
              <a:t>{dept}</a:t>
            </a:r>
            <a:endParaRPr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C0504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C0504D"/>
                </a:solidFill>
                <a:latin typeface="Arial"/>
                <a:ea typeface="Arial"/>
                <a:cs typeface="Arial"/>
                <a:sym typeface="Arial"/>
              </a:rPr>
              <a:t>{color, category}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🡪 </a:t>
            </a:r>
            <a:r>
              <a:rPr lang="en-US" sz="2400">
                <a:solidFill>
                  <a:srgbClr val="C0504D"/>
                </a:solidFill>
                <a:latin typeface="Arial"/>
                <a:ea typeface="Arial"/>
                <a:cs typeface="Arial"/>
                <a:sym typeface="Arial"/>
              </a:rPr>
              <a:t>{price}</a:t>
            </a:r>
            <a:endParaRPr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6" name="Google Shape;746;p63"/>
          <p:cNvSpPr/>
          <p:nvPr/>
        </p:nvSpPr>
        <p:spPr>
          <a:xfrm>
            <a:off x="838199" y="5633906"/>
            <a:ext cx="3782962" cy="902903"/>
          </a:xfrm>
          <a:prstGeom prst="roundRect">
            <a:avLst>
              <a:gd fmla="val 16667" name="adj"/>
            </a:avLst>
          </a:prstGeom>
          <a:solidFill>
            <a:schemeClr val="accent1">
              <a:alpha val="4980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47" name="Google Shape;747;p63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748" name="Google Shape;748;p63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1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9" name="Google Shape;749;p63"/>
            <p:cNvSpPr txBox="1"/>
            <p:nvPr/>
          </p:nvSpPr>
          <p:spPr>
            <a:xfrm>
              <a:off x="188780" y="-22510"/>
              <a:ext cx="29603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140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Design Theory  &gt;  Section 2  &gt;  Closures</a:t>
              </a:r>
              <a:endParaRPr/>
            </a:p>
          </p:txBody>
        </p:sp>
      </p:grpSp>
      <p:sp>
        <p:nvSpPr>
          <p:cNvPr id="750" name="Google Shape;750;p63"/>
          <p:cNvSpPr/>
          <p:nvPr/>
        </p:nvSpPr>
        <p:spPr>
          <a:xfrm>
            <a:off x="5535561" y="1248697"/>
            <a:ext cx="6390968" cy="3726426"/>
          </a:xfrm>
          <a:prstGeom prst="rect">
            <a:avLst/>
          </a:prstGeom>
          <a:solidFill>
            <a:schemeClr val="lt1">
              <a:alpha val="4980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4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Google Shape;755;p64"/>
          <p:cNvSpPr txBox="1"/>
          <p:nvPr>
            <p:ph type="title"/>
          </p:nvPr>
        </p:nvSpPr>
        <p:spPr>
          <a:xfrm>
            <a:off x="448392" y="707922"/>
            <a:ext cx="10515600" cy="103269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n-US"/>
              <a:t>Example</a:t>
            </a:r>
            <a:endParaRPr/>
          </a:p>
        </p:txBody>
      </p:sp>
      <p:sp>
        <p:nvSpPr>
          <p:cNvPr id="756" name="Google Shape;756;p6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57" name="Google Shape;757;p64"/>
          <p:cNvSpPr txBox="1"/>
          <p:nvPr/>
        </p:nvSpPr>
        <p:spPr>
          <a:xfrm>
            <a:off x="1526973" y="4687162"/>
            <a:ext cx="6810134" cy="1569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Compute {A,B}</a:t>
            </a:r>
            <a:r>
              <a:rPr baseline="30000" lang="en-US" sz="3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r>
              <a:rPr lang="en-US" sz="3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= {A, B,                             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Compute {A, F}</a:t>
            </a:r>
            <a:r>
              <a:rPr baseline="30000" lang="en-US" sz="3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r>
              <a:rPr lang="en-US" sz="3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= {A, F,                             }</a:t>
            </a:r>
            <a:endParaRPr/>
          </a:p>
        </p:txBody>
      </p:sp>
      <p:sp>
        <p:nvSpPr>
          <p:cNvPr id="758" name="Google Shape;758;p64"/>
          <p:cNvSpPr txBox="1"/>
          <p:nvPr/>
        </p:nvSpPr>
        <p:spPr>
          <a:xfrm>
            <a:off x="1526973" y="2185780"/>
            <a:ext cx="3214341" cy="52322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R(A,B,C,D,E,F)</a:t>
            </a:r>
            <a:endParaRPr/>
          </a:p>
        </p:txBody>
      </p:sp>
      <p:sp>
        <p:nvSpPr>
          <p:cNvPr id="759" name="Google Shape;759;p64"/>
          <p:cNvSpPr/>
          <p:nvPr/>
        </p:nvSpPr>
        <p:spPr>
          <a:xfrm>
            <a:off x="5391050" y="2185780"/>
            <a:ext cx="2699778" cy="1815882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C0504D"/>
                </a:solidFill>
                <a:latin typeface="Arial"/>
                <a:ea typeface="Arial"/>
                <a:cs typeface="Arial"/>
                <a:sym typeface="Arial"/>
              </a:rPr>
              <a:t>{A,B} </a:t>
            </a:r>
            <a:r>
              <a:rPr lang="en-US" sz="2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🡪</a:t>
            </a:r>
            <a:r>
              <a:rPr lang="en-US" sz="2800">
                <a:solidFill>
                  <a:srgbClr val="C0504D"/>
                </a:solidFill>
                <a:latin typeface="Arial"/>
                <a:ea typeface="Arial"/>
                <a:cs typeface="Arial"/>
                <a:sym typeface="Arial"/>
              </a:rPr>
              <a:t> {C}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C0504D"/>
                </a:solidFill>
                <a:latin typeface="Arial"/>
                <a:ea typeface="Arial"/>
                <a:cs typeface="Arial"/>
                <a:sym typeface="Arial"/>
              </a:rPr>
              <a:t>{A,D} </a:t>
            </a:r>
            <a:r>
              <a:rPr lang="en-US" sz="2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🡪</a:t>
            </a:r>
            <a:r>
              <a:rPr lang="en-US" sz="2800">
                <a:solidFill>
                  <a:srgbClr val="C0504D"/>
                </a:solidFill>
                <a:latin typeface="Arial"/>
                <a:ea typeface="Arial"/>
                <a:cs typeface="Arial"/>
                <a:sym typeface="Arial"/>
              </a:rPr>
              <a:t> {E}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C0504D"/>
                </a:solidFill>
                <a:latin typeface="Arial"/>
                <a:ea typeface="Arial"/>
                <a:cs typeface="Arial"/>
                <a:sym typeface="Arial"/>
              </a:rPr>
              <a:t>{B} </a:t>
            </a:r>
            <a:r>
              <a:rPr lang="en-US" sz="2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🡪</a:t>
            </a:r>
            <a:r>
              <a:rPr lang="en-US" sz="2800">
                <a:solidFill>
                  <a:srgbClr val="C0504D"/>
                </a:solidFill>
                <a:latin typeface="Arial"/>
                <a:ea typeface="Arial"/>
                <a:cs typeface="Arial"/>
                <a:sym typeface="Arial"/>
              </a:rPr>
              <a:t> {D}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C0504D"/>
                </a:solidFill>
                <a:latin typeface="Arial"/>
                <a:ea typeface="Arial"/>
                <a:cs typeface="Arial"/>
                <a:sym typeface="Arial"/>
              </a:rPr>
              <a:t>{A,F} </a:t>
            </a:r>
            <a:r>
              <a:rPr lang="en-US" sz="2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🡪</a:t>
            </a:r>
            <a:r>
              <a:rPr lang="en-US" sz="2800">
                <a:solidFill>
                  <a:srgbClr val="C0504D"/>
                </a:solidFill>
                <a:latin typeface="Arial"/>
                <a:ea typeface="Arial"/>
                <a:cs typeface="Arial"/>
                <a:sym typeface="Arial"/>
              </a:rPr>
              <a:t> {B}</a:t>
            </a:r>
            <a:endParaRPr/>
          </a:p>
        </p:txBody>
      </p:sp>
      <p:grpSp>
        <p:nvGrpSpPr>
          <p:cNvPr id="760" name="Google Shape;760;p64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761" name="Google Shape;761;p64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1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2" name="Google Shape;762;p64"/>
            <p:cNvSpPr txBox="1"/>
            <p:nvPr/>
          </p:nvSpPr>
          <p:spPr>
            <a:xfrm>
              <a:off x="188780" y="-22510"/>
              <a:ext cx="29603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140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Design Theory  &gt;  Section 2  &gt;  Closures</a:t>
              </a:r>
              <a:endParaRPr/>
            </a:p>
          </p:txBody>
        </p:sp>
      </p:grp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7" name="Shape 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Google Shape;768;p65"/>
          <p:cNvSpPr txBox="1"/>
          <p:nvPr>
            <p:ph type="title"/>
          </p:nvPr>
        </p:nvSpPr>
        <p:spPr>
          <a:xfrm>
            <a:off x="448392" y="707922"/>
            <a:ext cx="10515600" cy="103269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n-US"/>
              <a:t>Example</a:t>
            </a:r>
            <a:endParaRPr/>
          </a:p>
        </p:txBody>
      </p:sp>
      <p:sp>
        <p:nvSpPr>
          <p:cNvPr id="769" name="Google Shape;769;p6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70" name="Google Shape;770;p65"/>
          <p:cNvSpPr txBox="1"/>
          <p:nvPr/>
        </p:nvSpPr>
        <p:spPr>
          <a:xfrm>
            <a:off x="1526973" y="4687162"/>
            <a:ext cx="7286225" cy="1569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Compute {A,B}</a:t>
            </a:r>
            <a:r>
              <a:rPr baseline="30000" lang="en-US" sz="3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r>
              <a:rPr lang="en-US" sz="3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= {A, B, C, D                          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Compute {A, F}</a:t>
            </a:r>
            <a:r>
              <a:rPr baseline="30000" lang="en-US" sz="3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r>
              <a:rPr lang="en-US" sz="3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= {A, F, B                            }</a:t>
            </a:r>
            <a:endParaRPr/>
          </a:p>
        </p:txBody>
      </p:sp>
      <p:sp>
        <p:nvSpPr>
          <p:cNvPr id="771" name="Google Shape;771;p65"/>
          <p:cNvSpPr txBox="1"/>
          <p:nvPr/>
        </p:nvSpPr>
        <p:spPr>
          <a:xfrm>
            <a:off x="1526973" y="2185780"/>
            <a:ext cx="3214341" cy="52322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R(A,B,C,D,E,F)</a:t>
            </a:r>
            <a:endParaRPr/>
          </a:p>
        </p:txBody>
      </p:sp>
      <p:sp>
        <p:nvSpPr>
          <p:cNvPr id="772" name="Google Shape;772;p65"/>
          <p:cNvSpPr/>
          <p:nvPr/>
        </p:nvSpPr>
        <p:spPr>
          <a:xfrm>
            <a:off x="5391050" y="2185780"/>
            <a:ext cx="2699778" cy="1815882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C0504D"/>
                </a:solidFill>
                <a:latin typeface="Arial"/>
                <a:ea typeface="Arial"/>
                <a:cs typeface="Arial"/>
                <a:sym typeface="Arial"/>
              </a:rPr>
              <a:t>{A,B} </a:t>
            </a:r>
            <a:r>
              <a:rPr lang="en-US" sz="2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🡪</a:t>
            </a:r>
            <a:r>
              <a:rPr lang="en-US" sz="2800">
                <a:solidFill>
                  <a:srgbClr val="C0504D"/>
                </a:solidFill>
                <a:latin typeface="Arial"/>
                <a:ea typeface="Arial"/>
                <a:cs typeface="Arial"/>
                <a:sym typeface="Arial"/>
              </a:rPr>
              <a:t> {C}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C0504D"/>
                </a:solidFill>
                <a:latin typeface="Arial"/>
                <a:ea typeface="Arial"/>
                <a:cs typeface="Arial"/>
                <a:sym typeface="Arial"/>
              </a:rPr>
              <a:t>{A,D} </a:t>
            </a:r>
            <a:r>
              <a:rPr lang="en-US" sz="2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🡪</a:t>
            </a:r>
            <a:r>
              <a:rPr lang="en-US" sz="2800">
                <a:solidFill>
                  <a:srgbClr val="C0504D"/>
                </a:solidFill>
                <a:latin typeface="Arial"/>
                <a:ea typeface="Arial"/>
                <a:cs typeface="Arial"/>
                <a:sym typeface="Arial"/>
              </a:rPr>
              <a:t> {E}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C0504D"/>
                </a:solidFill>
                <a:latin typeface="Arial"/>
                <a:ea typeface="Arial"/>
                <a:cs typeface="Arial"/>
                <a:sym typeface="Arial"/>
              </a:rPr>
              <a:t>{B} </a:t>
            </a:r>
            <a:r>
              <a:rPr lang="en-US" sz="2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🡪</a:t>
            </a:r>
            <a:r>
              <a:rPr lang="en-US" sz="2800">
                <a:solidFill>
                  <a:srgbClr val="C0504D"/>
                </a:solidFill>
                <a:latin typeface="Arial"/>
                <a:ea typeface="Arial"/>
                <a:cs typeface="Arial"/>
                <a:sym typeface="Arial"/>
              </a:rPr>
              <a:t> {D}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C0504D"/>
                </a:solidFill>
                <a:latin typeface="Arial"/>
                <a:ea typeface="Arial"/>
                <a:cs typeface="Arial"/>
                <a:sym typeface="Arial"/>
              </a:rPr>
              <a:t>{A,F} </a:t>
            </a:r>
            <a:r>
              <a:rPr lang="en-US" sz="2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🡪</a:t>
            </a:r>
            <a:r>
              <a:rPr lang="en-US" sz="2800">
                <a:solidFill>
                  <a:srgbClr val="C0504D"/>
                </a:solidFill>
                <a:latin typeface="Arial"/>
                <a:ea typeface="Arial"/>
                <a:cs typeface="Arial"/>
                <a:sym typeface="Arial"/>
              </a:rPr>
              <a:t> {B}</a:t>
            </a:r>
            <a:endParaRPr/>
          </a:p>
        </p:txBody>
      </p:sp>
      <p:grpSp>
        <p:nvGrpSpPr>
          <p:cNvPr id="773" name="Google Shape;773;p65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774" name="Google Shape;774;p65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1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5" name="Google Shape;775;p65"/>
            <p:cNvSpPr txBox="1"/>
            <p:nvPr/>
          </p:nvSpPr>
          <p:spPr>
            <a:xfrm>
              <a:off x="188780" y="-22510"/>
              <a:ext cx="29603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140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Design Theory  &gt;  Section 2  &gt;  Closures</a:t>
              </a:r>
              <a:endParaRPr/>
            </a:p>
          </p:txBody>
        </p:sp>
      </p:grp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0" name="Shape 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" name="Google Shape;781;p66"/>
          <p:cNvSpPr txBox="1"/>
          <p:nvPr>
            <p:ph type="title"/>
          </p:nvPr>
        </p:nvSpPr>
        <p:spPr>
          <a:xfrm>
            <a:off x="448392" y="707922"/>
            <a:ext cx="10515600" cy="103269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n-US"/>
              <a:t>Example</a:t>
            </a:r>
            <a:endParaRPr/>
          </a:p>
        </p:txBody>
      </p:sp>
      <p:sp>
        <p:nvSpPr>
          <p:cNvPr id="782" name="Google Shape;782;p6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83" name="Google Shape;783;p66"/>
          <p:cNvSpPr txBox="1"/>
          <p:nvPr/>
        </p:nvSpPr>
        <p:spPr>
          <a:xfrm>
            <a:off x="1526973" y="4687162"/>
            <a:ext cx="5696944" cy="1569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Compute {A,B}</a:t>
            </a:r>
            <a:r>
              <a:rPr baseline="30000" lang="en-US" sz="3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r>
              <a:rPr lang="en-US" sz="3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= {A, B, C, D, E}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Compute {A, F}</a:t>
            </a:r>
            <a:r>
              <a:rPr baseline="30000" lang="en-US" sz="3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r>
              <a:rPr lang="en-US" sz="3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= {A, B, C, D, E, F}</a:t>
            </a:r>
            <a:endParaRPr/>
          </a:p>
        </p:txBody>
      </p:sp>
      <p:sp>
        <p:nvSpPr>
          <p:cNvPr id="784" name="Google Shape;784;p66"/>
          <p:cNvSpPr txBox="1"/>
          <p:nvPr/>
        </p:nvSpPr>
        <p:spPr>
          <a:xfrm>
            <a:off x="1526973" y="2185780"/>
            <a:ext cx="3214341" cy="52322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R(A,B,C,D,E,F)</a:t>
            </a:r>
            <a:endParaRPr/>
          </a:p>
        </p:txBody>
      </p:sp>
      <p:sp>
        <p:nvSpPr>
          <p:cNvPr id="785" name="Google Shape;785;p66"/>
          <p:cNvSpPr/>
          <p:nvPr/>
        </p:nvSpPr>
        <p:spPr>
          <a:xfrm>
            <a:off x="5391050" y="2185780"/>
            <a:ext cx="2699778" cy="1815882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C0504D"/>
                </a:solidFill>
                <a:latin typeface="Arial"/>
                <a:ea typeface="Arial"/>
                <a:cs typeface="Arial"/>
                <a:sym typeface="Arial"/>
              </a:rPr>
              <a:t>{A,B} </a:t>
            </a:r>
            <a:r>
              <a:rPr lang="en-US" sz="2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🡪</a:t>
            </a:r>
            <a:r>
              <a:rPr lang="en-US" sz="2800">
                <a:solidFill>
                  <a:srgbClr val="C0504D"/>
                </a:solidFill>
                <a:latin typeface="Arial"/>
                <a:ea typeface="Arial"/>
                <a:cs typeface="Arial"/>
                <a:sym typeface="Arial"/>
              </a:rPr>
              <a:t> {C}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C0504D"/>
                </a:solidFill>
                <a:latin typeface="Arial"/>
                <a:ea typeface="Arial"/>
                <a:cs typeface="Arial"/>
                <a:sym typeface="Arial"/>
              </a:rPr>
              <a:t>{A,D} </a:t>
            </a:r>
            <a:r>
              <a:rPr lang="en-US" sz="2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🡪</a:t>
            </a:r>
            <a:r>
              <a:rPr lang="en-US" sz="2800">
                <a:solidFill>
                  <a:srgbClr val="C0504D"/>
                </a:solidFill>
                <a:latin typeface="Arial"/>
                <a:ea typeface="Arial"/>
                <a:cs typeface="Arial"/>
                <a:sym typeface="Arial"/>
              </a:rPr>
              <a:t> {E}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C0504D"/>
                </a:solidFill>
                <a:latin typeface="Arial"/>
                <a:ea typeface="Arial"/>
                <a:cs typeface="Arial"/>
                <a:sym typeface="Arial"/>
              </a:rPr>
              <a:t>{B} </a:t>
            </a:r>
            <a:r>
              <a:rPr lang="en-US" sz="2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🡪</a:t>
            </a:r>
            <a:r>
              <a:rPr lang="en-US" sz="2800">
                <a:solidFill>
                  <a:srgbClr val="C0504D"/>
                </a:solidFill>
                <a:latin typeface="Arial"/>
                <a:ea typeface="Arial"/>
                <a:cs typeface="Arial"/>
                <a:sym typeface="Arial"/>
              </a:rPr>
              <a:t> {D}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C0504D"/>
                </a:solidFill>
                <a:latin typeface="Arial"/>
                <a:ea typeface="Arial"/>
                <a:cs typeface="Arial"/>
                <a:sym typeface="Arial"/>
              </a:rPr>
              <a:t>{A,F} </a:t>
            </a:r>
            <a:r>
              <a:rPr lang="en-US" sz="2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🡪</a:t>
            </a:r>
            <a:r>
              <a:rPr lang="en-US" sz="2800">
                <a:solidFill>
                  <a:srgbClr val="C0504D"/>
                </a:solidFill>
                <a:latin typeface="Arial"/>
                <a:ea typeface="Arial"/>
                <a:cs typeface="Arial"/>
                <a:sym typeface="Arial"/>
              </a:rPr>
              <a:t> {B}</a:t>
            </a:r>
            <a:endParaRPr/>
          </a:p>
        </p:txBody>
      </p:sp>
      <p:grpSp>
        <p:nvGrpSpPr>
          <p:cNvPr id="786" name="Google Shape;786;p66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787" name="Google Shape;787;p66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1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8" name="Google Shape;788;p66"/>
            <p:cNvSpPr txBox="1"/>
            <p:nvPr/>
          </p:nvSpPr>
          <p:spPr>
            <a:xfrm>
              <a:off x="188780" y="-22510"/>
              <a:ext cx="29603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140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Design Theory  &gt;  Section 2  &gt;  Closures</a:t>
              </a:r>
              <a:endParaRPr/>
            </a:p>
          </p:txBody>
        </p:sp>
      </p:grp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2" name="Shape 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Google Shape;793;p67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n-US"/>
              <a:t>3. Closures, Superkeys &amp; Keys</a:t>
            </a:r>
            <a:endParaRPr/>
          </a:p>
        </p:txBody>
      </p:sp>
      <p:sp>
        <p:nvSpPr>
          <p:cNvPr id="794" name="Google Shape;794;p6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795" name="Google Shape;795;p67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796" name="Google Shape;796;p67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1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7" name="Google Shape;797;p67"/>
            <p:cNvSpPr txBox="1"/>
            <p:nvPr/>
          </p:nvSpPr>
          <p:spPr>
            <a:xfrm>
              <a:off x="188780" y="-22510"/>
              <a:ext cx="2109167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140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Design Theory  &gt;  Section 3</a:t>
              </a:r>
              <a:endParaRPr/>
            </a:p>
          </p:txBody>
        </p:sp>
      </p:grp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2" name="Shape 8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3" name="Google Shape;803;p68"/>
          <p:cNvSpPr/>
          <p:nvPr/>
        </p:nvSpPr>
        <p:spPr>
          <a:xfrm>
            <a:off x="0" y="3658448"/>
            <a:ext cx="8610600" cy="882869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4" name="Google Shape;804;p6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What you will learn about in this section</a:t>
            </a:r>
            <a:endParaRPr/>
          </a:p>
        </p:txBody>
      </p:sp>
      <p:sp>
        <p:nvSpPr>
          <p:cNvPr id="805" name="Google Shape;805;p68"/>
          <p:cNvSpPr txBox="1"/>
          <p:nvPr>
            <p:ph idx="1" type="body"/>
          </p:nvPr>
        </p:nvSpPr>
        <p:spPr>
          <a:xfrm>
            <a:off x="838200" y="1825624"/>
            <a:ext cx="10515600" cy="41757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14350" lvl="0" marL="5143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AutoNum type="arabicPeriod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Closures Pt. II</a:t>
            </a:r>
            <a:endParaRPr/>
          </a:p>
          <a:p>
            <a:pPr indent="-336550" lvl="0" marL="5143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514350" lvl="0" marL="5143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AutoNum type="arabicPeriod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Superkeys &amp; Keys</a:t>
            </a:r>
            <a:endParaRPr/>
          </a:p>
          <a:p>
            <a:pPr indent="-336550" lvl="0" marL="5143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514350" lvl="0" marL="5143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AutoNum type="arabicPeriod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ACTIVITY:  The key or a key?</a:t>
            </a:r>
            <a:endParaRPr/>
          </a:p>
        </p:txBody>
      </p:sp>
      <p:sp>
        <p:nvSpPr>
          <p:cNvPr id="806" name="Google Shape;806;p6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807" name="Google Shape;807;p68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808" name="Google Shape;808;p68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1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9" name="Google Shape;809;p68"/>
            <p:cNvSpPr txBox="1"/>
            <p:nvPr/>
          </p:nvSpPr>
          <p:spPr>
            <a:xfrm>
              <a:off x="188780" y="-22510"/>
              <a:ext cx="2109167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140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Design Theory  &gt;  Section 3</a:t>
              </a:r>
              <a:endParaRPr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4" name="Shape 8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5" name="Google Shape;815;p6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Why Do We Need the Closure?</a:t>
            </a:r>
            <a:endParaRPr/>
          </a:p>
        </p:txBody>
      </p:sp>
      <p:sp>
        <p:nvSpPr>
          <p:cNvPr id="816" name="Google Shape;816;p6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With closure we can find all FD’s easily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To check if X </a:t>
            </a:r>
            <a:r>
              <a:rPr lang="en-US">
                <a:latin typeface="Noto Sans Symbols"/>
                <a:ea typeface="Noto Sans Symbols"/>
                <a:cs typeface="Noto Sans Symbols"/>
                <a:sym typeface="Noto Sans Symbols"/>
              </a:rPr>
              <a:t>→</a:t>
            </a:r>
            <a:r>
              <a:rPr lang="en-US"/>
              <a:t> A</a:t>
            </a:r>
            <a:endParaRPr/>
          </a:p>
          <a:p>
            <a:pPr indent="-762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-4572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lang="en-US"/>
              <a:t>Compute X</a:t>
            </a:r>
            <a:r>
              <a:rPr baseline="30000" lang="en-US"/>
              <a:t>+</a:t>
            </a:r>
            <a:endParaRPr/>
          </a:p>
          <a:p>
            <a:pPr indent="-3048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/>
          </a:p>
          <a:p>
            <a:pPr indent="-4572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lang="en-US"/>
              <a:t>Check if A </a:t>
            </a:r>
            <a:r>
              <a:rPr lang="en-US">
                <a:latin typeface="Noto Sans Symbols"/>
                <a:ea typeface="Noto Sans Symbols"/>
                <a:cs typeface="Noto Sans Symbols"/>
                <a:sym typeface="Noto Sans Symbols"/>
              </a:rPr>
              <a:t>∈</a:t>
            </a:r>
            <a:r>
              <a:rPr lang="en-US"/>
              <a:t> X</a:t>
            </a:r>
            <a:r>
              <a:rPr baseline="30000" lang="en-US"/>
              <a:t>+</a:t>
            </a:r>
            <a:endParaRPr/>
          </a:p>
          <a:p>
            <a:pPr indent="-762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baseline="30000"/>
          </a:p>
          <a:p>
            <a:pPr indent="-762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baseline="30000"/>
          </a:p>
          <a:p>
            <a:pPr indent="-762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baseline="30000"/>
          </a:p>
        </p:txBody>
      </p:sp>
      <p:sp>
        <p:nvSpPr>
          <p:cNvPr id="817" name="Google Shape;817;p6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8" name="Google Shape;818;p69"/>
          <p:cNvSpPr txBox="1"/>
          <p:nvPr/>
        </p:nvSpPr>
        <p:spPr>
          <a:xfrm>
            <a:off x="6843253" y="2654709"/>
            <a:ext cx="4365522" cy="1569660"/>
          </a:xfrm>
          <a:prstGeom prst="rect">
            <a:avLst/>
          </a:prstGeom>
          <a:solidFill>
            <a:srgbClr val="FFF2CC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Note here that </a:t>
            </a: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is a </a:t>
            </a: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set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of attributes, but </a:t>
            </a: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is a </a:t>
            </a: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single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attribute.  Why does considering FDs of this form suffice?</a:t>
            </a:r>
            <a:endParaRPr/>
          </a:p>
        </p:txBody>
      </p:sp>
      <p:sp>
        <p:nvSpPr>
          <p:cNvPr id="819" name="Google Shape;819;p69"/>
          <p:cNvSpPr/>
          <p:nvPr/>
        </p:nvSpPr>
        <p:spPr>
          <a:xfrm>
            <a:off x="3057832" y="4493342"/>
            <a:ext cx="363794" cy="363794"/>
          </a:xfrm>
          <a:prstGeom prst="ellipse">
            <a:avLst/>
          </a:prstGeom>
          <a:noFill/>
          <a:ln cap="flat" cmpd="sng" w="25400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20" name="Google Shape;820;p69"/>
          <p:cNvCxnSpPr/>
          <p:nvPr/>
        </p:nvCxnSpPr>
        <p:spPr>
          <a:xfrm flipH="1">
            <a:off x="3421627" y="3439539"/>
            <a:ext cx="3323302" cy="1053803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821" name="Google Shape;821;p69"/>
          <p:cNvSpPr txBox="1"/>
          <p:nvPr/>
        </p:nvSpPr>
        <p:spPr>
          <a:xfrm>
            <a:off x="6843253" y="4493342"/>
            <a:ext cx="4365522" cy="1569660"/>
          </a:xfrm>
          <a:prstGeom prst="rect">
            <a:avLst/>
          </a:prstGeom>
          <a:solidFill>
            <a:srgbClr val="FFF2CC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Recall the </a:t>
            </a:r>
            <a:r>
              <a:rPr b="1" lang="en-US" sz="24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Split/combine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rule: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 🡪 A</a:t>
            </a:r>
            <a:r>
              <a:rPr baseline="-25000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…, X 🡪 A</a:t>
            </a:r>
            <a:r>
              <a:rPr baseline="-25000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implies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 🡪 {A</a:t>
            </a:r>
            <a:r>
              <a:rPr baseline="-25000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…, A</a:t>
            </a:r>
            <a:r>
              <a:rPr baseline="-25000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22" name="Google Shape;822;p69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823" name="Google Shape;823;p69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1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4" name="Google Shape;824;p69"/>
            <p:cNvSpPr txBox="1"/>
            <p:nvPr/>
          </p:nvSpPr>
          <p:spPr>
            <a:xfrm>
              <a:off x="188780" y="-22510"/>
              <a:ext cx="3321935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140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Design Theory  &gt;  Section 3  &gt;  Closures Pt. II</a:t>
              </a:r>
              <a:endParaRPr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6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6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6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9" name="Shape 8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0" name="Google Shape;830;p70"/>
          <p:cNvSpPr txBox="1"/>
          <p:nvPr>
            <p:ph type="title"/>
          </p:nvPr>
        </p:nvSpPr>
        <p:spPr>
          <a:xfrm>
            <a:off x="838200" y="246968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Using Closure to Infer ALL FDs</a:t>
            </a:r>
            <a:endParaRPr/>
          </a:p>
        </p:txBody>
      </p:sp>
      <p:sp>
        <p:nvSpPr>
          <p:cNvPr id="831" name="Google Shape;831;p7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2" name="Google Shape;832;p70"/>
          <p:cNvSpPr/>
          <p:nvPr/>
        </p:nvSpPr>
        <p:spPr>
          <a:xfrm>
            <a:off x="9719763" y="1135453"/>
            <a:ext cx="1973617" cy="1200329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C0504D"/>
                </a:solidFill>
                <a:latin typeface="Arial"/>
                <a:ea typeface="Arial"/>
                <a:cs typeface="Arial"/>
                <a:sym typeface="Arial"/>
              </a:rPr>
              <a:t>{A,B} 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🡪</a:t>
            </a:r>
            <a:r>
              <a:rPr lang="en-US" sz="2400">
                <a:solidFill>
                  <a:srgbClr val="C0504D"/>
                </a:solidFill>
                <a:latin typeface="Arial"/>
                <a:ea typeface="Arial"/>
                <a:cs typeface="Arial"/>
                <a:sym typeface="Arial"/>
              </a:rPr>
              <a:t> C</a:t>
            </a:r>
            <a:br>
              <a:rPr lang="en-US" sz="2400">
                <a:solidFill>
                  <a:srgbClr val="C0504D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400">
                <a:solidFill>
                  <a:srgbClr val="C0504D"/>
                </a:solidFill>
                <a:latin typeface="Arial"/>
                <a:ea typeface="Arial"/>
                <a:cs typeface="Arial"/>
                <a:sym typeface="Arial"/>
              </a:rPr>
              <a:t>{A,D} 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🡪</a:t>
            </a:r>
            <a:r>
              <a:rPr lang="en-US" sz="2400">
                <a:solidFill>
                  <a:srgbClr val="C0504D"/>
                </a:solidFill>
                <a:latin typeface="Arial"/>
                <a:ea typeface="Arial"/>
                <a:cs typeface="Arial"/>
                <a:sym typeface="Arial"/>
              </a:rPr>
              <a:t> B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C0504D"/>
                </a:solidFill>
                <a:latin typeface="Arial"/>
                <a:ea typeface="Arial"/>
                <a:cs typeface="Arial"/>
                <a:sym typeface="Arial"/>
              </a:rPr>
              <a:t>{B}   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🡪</a:t>
            </a:r>
            <a:r>
              <a:rPr lang="en-US" sz="2400">
                <a:solidFill>
                  <a:srgbClr val="C0504D"/>
                </a:solidFill>
                <a:latin typeface="Arial"/>
                <a:ea typeface="Arial"/>
                <a:cs typeface="Arial"/>
                <a:sym typeface="Arial"/>
              </a:rPr>
              <a:t> D</a:t>
            </a:r>
            <a:endParaRPr/>
          </a:p>
        </p:txBody>
      </p:sp>
      <p:sp>
        <p:nvSpPr>
          <p:cNvPr id="833" name="Google Shape;833;p70"/>
          <p:cNvSpPr txBox="1"/>
          <p:nvPr/>
        </p:nvSpPr>
        <p:spPr>
          <a:xfrm>
            <a:off x="8165168" y="1053657"/>
            <a:ext cx="1334468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u="sng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Example: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Given F =</a:t>
            </a:r>
            <a:endParaRPr/>
          </a:p>
        </p:txBody>
      </p:sp>
      <p:sp>
        <p:nvSpPr>
          <p:cNvPr id="834" name="Google Shape;834;p70"/>
          <p:cNvSpPr txBox="1"/>
          <p:nvPr/>
        </p:nvSpPr>
        <p:spPr>
          <a:xfrm>
            <a:off x="849257" y="1549446"/>
            <a:ext cx="7241983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Step 1: Compute X</a:t>
            </a:r>
            <a:r>
              <a:rPr baseline="30000"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, for every set of attributes X:</a:t>
            </a:r>
            <a:endParaRPr/>
          </a:p>
        </p:txBody>
      </p:sp>
      <p:sp>
        <p:nvSpPr>
          <p:cNvPr id="835" name="Google Shape;835;p70"/>
          <p:cNvSpPr txBox="1"/>
          <p:nvPr/>
        </p:nvSpPr>
        <p:spPr>
          <a:xfrm>
            <a:off x="838200" y="2363429"/>
            <a:ext cx="8304698" cy="3785652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{A}</a:t>
            </a:r>
            <a:r>
              <a:rPr baseline="30000" lang="en-US" sz="24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r>
              <a:rPr lang="en-US" sz="24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 = {A}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{B}</a:t>
            </a:r>
            <a:r>
              <a:rPr baseline="30000" lang="en-US" sz="24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r>
              <a:rPr lang="en-US" sz="24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 = {B,D}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{C}</a:t>
            </a:r>
            <a:r>
              <a:rPr baseline="30000" lang="en-US" sz="24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r>
              <a:rPr lang="en-US" sz="24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 = {C}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{D}</a:t>
            </a:r>
            <a:r>
              <a:rPr baseline="30000" lang="en-US" sz="24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r>
              <a:rPr lang="en-US" sz="24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 = {D}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{A,B}</a:t>
            </a:r>
            <a:r>
              <a:rPr baseline="30000" lang="en-US" sz="24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r>
              <a:rPr lang="en-US" sz="24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 = {A,B,C,D}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{A,C}</a:t>
            </a:r>
            <a:r>
              <a:rPr baseline="30000" lang="en-US" sz="24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r>
              <a:rPr lang="en-US" sz="24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 = {A,C}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{A,D}</a:t>
            </a:r>
            <a:r>
              <a:rPr baseline="30000" lang="en-US" sz="24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r>
              <a:rPr lang="en-US" sz="24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 = {A,B,C,D}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{A,B,C}</a:t>
            </a:r>
            <a:r>
              <a:rPr baseline="30000" lang="en-US" sz="24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r>
              <a:rPr lang="en-US" sz="24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 = {A,B,D}</a:t>
            </a:r>
            <a:r>
              <a:rPr baseline="30000" lang="en-US" sz="24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r>
              <a:rPr lang="en-US" sz="24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 = {A,C,D}</a:t>
            </a:r>
            <a:r>
              <a:rPr baseline="30000" lang="en-US" sz="24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+ </a:t>
            </a:r>
            <a:r>
              <a:rPr lang="en-US" sz="24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= {A,B,C,D} {B,C,D}</a:t>
            </a:r>
            <a:r>
              <a:rPr baseline="30000" lang="en-US" sz="24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+ </a:t>
            </a:r>
            <a:r>
              <a:rPr lang="en-US" sz="24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= {B,C,D}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{A,B,C,D}</a:t>
            </a:r>
            <a:r>
              <a:rPr baseline="30000" lang="en-US" sz="24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r>
              <a:rPr lang="en-US" sz="24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 = {A,B,C,D}</a:t>
            </a:r>
            <a:endParaRPr/>
          </a:p>
        </p:txBody>
      </p:sp>
      <p:sp>
        <p:nvSpPr>
          <p:cNvPr id="836" name="Google Shape;836;p70"/>
          <p:cNvSpPr txBox="1"/>
          <p:nvPr/>
        </p:nvSpPr>
        <p:spPr>
          <a:xfrm>
            <a:off x="9499636" y="4543254"/>
            <a:ext cx="2133600" cy="1200329"/>
          </a:xfrm>
          <a:prstGeom prst="rect">
            <a:avLst/>
          </a:prstGeom>
          <a:solidFill>
            <a:srgbClr val="FFF2CC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need to compute all of these- why?</a:t>
            </a:r>
            <a:endParaRPr/>
          </a:p>
        </p:txBody>
      </p:sp>
      <p:grpSp>
        <p:nvGrpSpPr>
          <p:cNvPr id="837" name="Google Shape;837;p70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838" name="Google Shape;838;p70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1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9" name="Google Shape;839;p70"/>
            <p:cNvSpPr txBox="1"/>
            <p:nvPr/>
          </p:nvSpPr>
          <p:spPr>
            <a:xfrm>
              <a:off x="188780" y="-22510"/>
              <a:ext cx="3321935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140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Design Theory  &gt;  Section 3  &gt;  Closures Pt. II</a:t>
              </a:r>
              <a:endParaRPr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5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5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4" name="Shape 8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5" name="Google Shape;845;p71"/>
          <p:cNvSpPr txBox="1"/>
          <p:nvPr>
            <p:ph type="title"/>
          </p:nvPr>
        </p:nvSpPr>
        <p:spPr>
          <a:xfrm>
            <a:off x="838200" y="246968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Using Closure to Infer ALL FDs</a:t>
            </a:r>
            <a:endParaRPr/>
          </a:p>
        </p:txBody>
      </p:sp>
      <p:sp>
        <p:nvSpPr>
          <p:cNvPr id="846" name="Google Shape;846;p7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7" name="Google Shape;847;p71"/>
          <p:cNvSpPr/>
          <p:nvPr/>
        </p:nvSpPr>
        <p:spPr>
          <a:xfrm>
            <a:off x="9719763" y="1135453"/>
            <a:ext cx="1973617" cy="1200329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C0504D"/>
                </a:solidFill>
                <a:latin typeface="Arial"/>
                <a:ea typeface="Arial"/>
                <a:cs typeface="Arial"/>
                <a:sym typeface="Arial"/>
              </a:rPr>
              <a:t>{A,B} 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🡪</a:t>
            </a:r>
            <a:r>
              <a:rPr lang="en-US" sz="2400">
                <a:solidFill>
                  <a:srgbClr val="C0504D"/>
                </a:solidFill>
                <a:latin typeface="Arial"/>
                <a:ea typeface="Arial"/>
                <a:cs typeface="Arial"/>
                <a:sym typeface="Arial"/>
              </a:rPr>
              <a:t> C</a:t>
            </a:r>
            <a:br>
              <a:rPr lang="en-US" sz="2400">
                <a:solidFill>
                  <a:srgbClr val="C0504D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400">
                <a:solidFill>
                  <a:srgbClr val="C0504D"/>
                </a:solidFill>
                <a:latin typeface="Arial"/>
                <a:ea typeface="Arial"/>
                <a:cs typeface="Arial"/>
                <a:sym typeface="Arial"/>
              </a:rPr>
              <a:t>{A,D} 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🡪</a:t>
            </a:r>
            <a:r>
              <a:rPr lang="en-US" sz="2400">
                <a:solidFill>
                  <a:srgbClr val="C0504D"/>
                </a:solidFill>
                <a:latin typeface="Arial"/>
                <a:ea typeface="Arial"/>
                <a:cs typeface="Arial"/>
                <a:sym typeface="Arial"/>
              </a:rPr>
              <a:t> B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C0504D"/>
                </a:solidFill>
                <a:latin typeface="Arial"/>
                <a:ea typeface="Arial"/>
                <a:cs typeface="Arial"/>
                <a:sym typeface="Arial"/>
              </a:rPr>
              <a:t>{B}   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🡪</a:t>
            </a:r>
            <a:r>
              <a:rPr lang="en-US" sz="2400">
                <a:solidFill>
                  <a:srgbClr val="C0504D"/>
                </a:solidFill>
                <a:latin typeface="Arial"/>
                <a:ea typeface="Arial"/>
                <a:cs typeface="Arial"/>
                <a:sym typeface="Arial"/>
              </a:rPr>
              <a:t> D</a:t>
            </a:r>
            <a:endParaRPr/>
          </a:p>
        </p:txBody>
      </p:sp>
      <p:sp>
        <p:nvSpPr>
          <p:cNvPr id="848" name="Google Shape;848;p71"/>
          <p:cNvSpPr txBox="1"/>
          <p:nvPr/>
        </p:nvSpPr>
        <p:spPr>
          <a:xfrm>
            <a:off x="8165168" y="1053657"/>
            <a:ext cx="1334468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u="sng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Example: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Given F =</a:t>
            </a:r>
            <a:endParaRPr/>
          </a:p>
        </p:txBody>
      </p:sp>
      <p:sp>
        <p:nvSpPr>
          <p:cNvPr id="849" name="Google Shape;849;p71"/>
          <p:cNvSpPr txBox="1"/>
          <p:nvPr/>
        </p:nvSpPr>
        <p:spPr>
          <a:xfrm>
            <a:off x="849257" y="1549446"/>
            <a:ext cx="7241983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Step 1: Compute X</a:t>
            </a:r>
            <a:r>
              <a:rPr baseline="30000"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, for every set of attributes X:</a:t>
            </a:r>
            <a:endParaRPr/>
          </a:p>
        </p:txBody>
      </p:sp>
      <p:sp>
        <p:nvSpPr>
          <p:cNvPr id="850" name="Google Shape;850;p71"/>
          <p:cNvSpPr txBox="1"/>
          <p:nvPr/>
        </p:nvSpPr>
        <p:spPr>
          <a:xfrm>
            <a:off x="849257" y="2248720"/>
            <a:ext cx="8304698" cy="1938992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{A}</a:t>
            </a:r>
            <a:r>
              <a:rPr baseline="30000" lang="en-US" sz="24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+ </a:t>
            </a:r>
            <a:r>
              <a:rPr lang="en-US" sz="24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= {A}, {B}</a:t>
            </a:r>
            <a:r>
              <a:rPr baseline="30000" lang="en-US" sz="24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+ </a:t>
            </a:r>
            <a:r>
              <a:rPr lang="en-US" sz="24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= {B,D}, {C}</a:t>
            </a:r>
            <a:r>
              <a:rPr baseline="30000" lang="en-US" sz="24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+ </a:t>
            </a:r>
            <a:r>
              <a:rPr lang="en-US" sz="24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= {C}, {D}</a:t>
            </a:r>
            <a:r>
              <a:rPr baseline="30000" lang="en-US" sz="24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+ </a:t>
            </a:r>
            <a:r>
              <a:rPr lang="en-US" sz="24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= {D}, {A,B}</a:t>
            </a:r>
            <a:r>
              <a:rPr baseline="30000" lang="en-US" sz="24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+ </a:t>
            </a:r>
            <a:r>
              <a:rPr lang="en-US" sz="24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= {A,B,C,D}, {A,C}</a:t>
            </a:r>
            <a:r>
              <a:rPr baseline="30000" lang="en-US" sz="24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+ </a:t>
            </a:r>
            <a:r>
              <a:rPr lang="en-US" sz="24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= {A,C}, {A,D}</a:t>
            </a:r>
            <a:r>
              <a:rPr baseline="30000" lang="en-US" sz="24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+ </a:t>
            </a:r>
            <a:r>
              <a:rPr lang="en-US" sz="24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= {A,B,C,D}, {A,B,C}</a:t>
            </a:r>
            <a:r>
              <a:rPr baseline="30000" lang="en-US" sz="24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+ </a:t>
            </a:r>
            <a:r>
              <a:rPr lang="en-US" sz="24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= {A,B,D}</a:t>
            </a:r>
            <a:r>
              <a:rPr baseline="30000" lang="en-US" sz="24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+ </a:t>
            </a:r>
            <a:r>
              <a:rPr lang="en-US" sz="24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= {A,C,D}</a:t>
            </a:r>
            <a:r>
              <a:rPr baseline="30000" lang="en-US" sz="24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+ </a:t>
            </a:r>
            <a:r>
              <a:rPr lang="en-US" sz="24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= {A,B,C,D}, {B,C,D}</a:t>
            </a:r>
            <a:r>
              <a:rPr baseline="30000" lang="en-US" sz="24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+ </a:t>
            </a:r>
            <a:r>
              <a:rPr lang="en-US" sz="24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= {B,C,D},    {A,B,C,D}</a:t>
            </a:r>
            <a:r>
              <a:rPr baseline="30000" lang="en-US" sz="24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r>
              <a:rPr lang="en-US" sz="24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 = {A,B,C,D}</a:t>
            </a:r>
            <a:endParaRPr/>
          </a:p>
        </p:txBody>
      </p:sp>
      <p:sp>
        <p:nvSpPr>
          <p:cNvPr id="851" name="Google Shape;851;p71"/>
          <p:cNvSpPr txBox="1"/>
          <p:nvPr/>
        </p:nvSpPr>
        <p:spPr>
          <a:xfrm>
            <a:off x="838200" y="4585478"/>
            <a:ext cx="863621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Step 2: Enumerate all FDs X 🡪 Y, s.t. Y ⊆ X</a:t>
            </a:r>
            <a:r>
              <a:rPr baseline="30000"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and X ∩ Y = ∅:</a:t>
            </a:r>
            <a:endParaRPr/>
          </a:p>
        </p:txBody>
      </p:sp>
      <p:sp>
        <p:nvSpPr>
          <p:cNvPr id="852" name="Google Shape;852;p71"/>
          <p:cNvSpPr txBox="1"/>
          <p:nvPr/>
        </p:nvSpPr>
        <p:spPr>
          <a:xfrm>
            <a:off x="838200" y="5305057"/>
            <a:ext cx="8304697" cy="1200329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{A,B} 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🡪 </a:t>
            </a:r>
            <a:r>
              <a:rPr lang="en-US" sz="24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{C,D}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24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{A,D} 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🡪 </a:t>
            </a:r>
            <a:r>
              <a:rPr lang="en-US" sz="24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{B,C}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{A,B,C} 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🡪 </a:t>
            </a:r>
            <a:r>
              <a:rPr lang="en-US" sz="24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{D}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24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{A,B,D} 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🡪 </a:t>
            </a:r>
            <a:r>
              <a:rPr lang="en-US" sz="24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{C}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{A,C,D} 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🡪 </a:t>
            </a:r>
            <a:r>
              <a:rPr lang="en-US" sz="24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{B}</a:t>
            </a:r>
            <a:endParaRPr sz="2400"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3" name="Google Shape;853;p71"/>
          <p:cNvSpPr/>
          <p:nvPr/>
        </p:nvSpPr>
        <p:spPr>
          <a:xfrm>
            <a:off x="678425" y="2182464"/>
            <a:ext cx="8475529" cy="2123371"/>
          </a:xfrm>
          <a:prstGeom prst="rect">
            <a:avLst/>
          </a:prstGeom>
          <a:solidFill>
            <a:schemeClr val="lt1">
              <a:alpha val="4980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4" name="Google Shape;854;p71"/>
          <p:cNvSpPr/>
          <p:nvPr/>
        </p:nvSpPr>
        <p:spPr>
          <a:xfrm>
            <a:off x="775329" y="1495336"/>
            <a:ext cx="7169712" cy="631440"/>
          </a:xfrm>
          <a:prstGeom prst="rect">
            <a:avLst/>
          </a:prstGeom>
          <a:solidFill>
            <a:schemeClr val="lt1">
              <a:alpha val="4980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55" name="Google Shape;855;p71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856" name="Google Shape;856;p71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1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7" name="Google Shape;857;p71"/>
            <p:cNvSpPr txBox="1"/>
            <p:nvPr/>
          </p:nvSpPr>
          <p:spPr>
            <a:xfrm>
              <a:off x="188780" y="-22510"/>
              <a:ext cx="3321935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140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Design Theory  &gt;  Section 3  &gt;  Closures Pt. II</a:t>
              </a:r>
              <a:endParaRPr/>
            </a:p>
          </p:txBody>
        </p:sp>
      </p:grp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2" name="Shape 8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3" name="Google Shape;863;p72"/>
          <p:cNvSpPr txBox="1"/>
          <p:nvPr>
            <p:ph type="title"/>
          </p:nvPr>
        </p:nvSpPr>
        <p:spPr>
          <a:xfrm>
            <a:off x="838200" y="246968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Using Closure to Infer ALL FDs</a:t>
            </a:r>
            <a:endParaRPr/>
          </a:p>
        </p:txBody>
      </p:sp>
      <p:sp>
        <p:nvSpPr>
          <p:cNvPr id="864" name="Google Shape;864;p7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5" name="Google Shape;865;p72"/>
          <p:cNvSpPr/>
          <p:nvPr/>
        </p:nvSpPr>
        <p:spPr>
          <a:xfrm>
            <a:off x="9719763" y="1135453"/>
            <a:ext cx="1973617" cy="1200329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C0504D"/>
                </a:solidFill>
                <a:latin typeface="Arial"/>
                <a:ea typeface="Arial"/>
                <a:cs typeface="Arial"/>
                <a:sym typeface="Arial"/>
              </a:rPr>
              <a:t>{A,B} 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🡪</a:t>
            </a:r>
            <a:r>
              <a:rPr lang="en-US" sz="2400">
                <a:solidFill>
                  <a:srgbClr val="C0504D"/>
                </a:solidFill>
                <a:latin typeface="Arial"/>
                <a:ea typeface="Arial"/>
                <a:cs typeface="Arial"/>
                <a:sym typeface="Arial"/>
              </a:rPr>
              <a:t> C</a:t>
            </a:r>
            <a:br>
              <a:rPr lang="en-US" sz="2400">
                <a:solidFill>
                  <a:srgbClr val="C0504D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400">
                <a:solidFill>
                  <a:srgbClr val="C0504D"/>
                </a:solidFill>
                <a:latin typeface="Arial"/>
                <a:ea typeface="Arial"/>
                <a:cs typeface="Arial"/>
                <a:sym typeface="Arial"/>
              </a:rPr>
              <a:t>{A,D} 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🡪</a:t>
            </a:r>
            <a:r>
              <a:rPr lang="en-US" sz="2400">
                <a:solidFill>
                  <a:srgbClr val="C0504D"/>
                </a:solidFill>
                <a:latin typeface="Arial"/>
                <a:ea typeface="Arial"/>
                <a:cs typeface="Arial"/>
                <a:sym typeface="Arial"/>
              </a:rPr>
              <a:t> B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C0504D"/>
                </a:solidFill>
                <a:latin typeface="Arial"/>
                <a:ea typeface="Arial"/>
                <a:cs typeface="Arial"/>
                <a:sym typeface="Arial"/>
              </a:rPr>
              <a:t>{B}   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🡪</a:t>
            </a:r>
            <a:r>
              <a:rPr lang="en-US" sz="2400">
                <a:solidFill>
                  <a:srgbClr val="C0504D"/>
                </a:solidFill>
                <a:latin typeface="Arial"/>
                <a:ea typeface="Arial"/>
                <a:cs typeface="Arial"/>
                <a:sym typeface="Arial"/>
              </a:rPr>
              <a:t> D</a:t>
            </a:r>
            <a:endParaRPr/>
          </a:p>
        </p:txBody>
      </p:sp>
      <p:sp>
        <p:nvSpPr>
          <p:cNvPr id="866" name="Google Shape;866;p72"/>
          <p:cNvSpPr txBox="1"/>
          <p:nvPr/>
        </p:nvSpPr>
        <p:spPr>
          <a:xfrm>
            <a:off x="8165168" y="1053657"/>
            <a:ext cx="1334468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u="sng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Example: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Given F =</a:t>
            </a:r>
            <a:endParaRPr/>
          </a:p>
        </p:txBody>
      </p:sp>
      <p:sp>
        <p:nvSpPr>
          <p:cNvPr id="867" name="Google Shape;867;p72"/>
          <p:cNvSpPr txBox="1"/>
          <p:nvPr/>
        </p:nvSpPr>
        <p:spPr>
          <a:xfrm>
            <a:off x="849257" y="2248720"/>
            <a:ext cx="8304698" cy="1938992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{A}</a:t>
            </a:r>
            <a:r>
              <a:rPr baseline="30000" lang="en-US" sz="24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+ </a:t>
            </a:r>
            <a:r>
              <a:rPr lang="en-US" sz="24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= {A}, {B}</a:t>
            </a:r>
            <a:r>
              <a:rPr baseline="30000" lang="en-US" sz="24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+ </a:t>
            </a:r>
            <a:r>
              <a:rPr lang="en-US" sz="24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= {B,D}, {C}</a:t>
            </a:r>
            <a:r>
              <a:rPr baseline="30000" lang="en-US" sz="24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+ </a:t>
            </a:r>
            <a:r>
              <a:rPr lang="en-US" sz="24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= {C}, {D}</a:t>
            </a:r>
            <a:r>
              <a:rPr baseline="30000" lang="en-US" sz="24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+ </a:t>
            </a:r>
            <a:r>
              <a:rPr lang="en-US" sz="24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= {D}, {A,B}</a:t>
            </a:r>
            <a:r>
              <a:rPr baseline="30000" lang="en-US" sz="24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+ </a:t>
            </a:r>
            <a:r>
              <a:rPr lang="en-US" sz="24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= {A,B,C,D}, {A,C}</a:t>
            </a:r>
            <a:r>
              <a:rPr baseline="30000" lang="en-US" sz="24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+ </a:t>
            </a:r>
            <a:r>
              <a:rPr lang="en-US" sz="24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= {A,C}, {A,D}</a:t>
            </a:r>
            <a:r>
              <a:rPr baseline="30000" lang="en-US" sz="24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+ </a:t>
            </a:r>
            <a:r>
              <a:rPr lang="en-US" sz="24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= {A,B,C,D}, {A,B,C}</a:t>
            </a:r>
            <a:r>
              <a:rPr baseline="30000" lang="en-US" sz="24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+ </a:t>
            </a:r>
            <a:r>
              <a:rPr lang="en-US" sz="24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= {A,B,D}</a:t>
            </a:r>
            <a:r>
              <a:rPr baseline="30000" lang="en-US" sz="24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+ </a:t>
            </a:r>
            <a:r>
              <a:rPr lang="en-US" sz="24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= {A,C,D}</a:t>
            </a:r>
            <a:r>
              <a:rPr baseline="30000" lang="en-US" sz="24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+ </a:t>
            </a:r>
            <a:r>
              <a:rPr lang="en-US" sz="24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= {A,B,C,D}, {B,C,D}</a:t>
            </a:r>
            <a:r>
              <a:rPr baseline="30000" lang="en-US" sz="24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+ </a:t>
            </a:r>
            <a:r>
              <a:rPr lang="en-US" sz="24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= {B,C,D},    {A,B,C,D}</a:t>
            </a:r>
            <a:r>
              <a:rPr baseline="30000" lang="en-US" sz="24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r>
              <a:rPr lang="en-US" sz="24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 = {A,B,C,D}</a:t>
            </a:r>
            <a:endParaRPr/>
          </a:p>
        </p:txBody>
      </p:sp>
      <p:sp>
        <p:nvSpPr>
          <p:cNvPr id="868" name="Google Shape;868;p72"/>
          <p:cNvSpPr txBox="1"/>
          <p:nvPr/>
        </p:nvSpPr>
        <p:spPr>
          <a:xfrm>
            <a:off x="838200" y="4585478"/>
            <a:ext cx="863621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Step 2: Enumerate all FDs X 🡪 Y, s.t. Y ⊆ X</a:t>
            </a:r>
            <a:r>
              <a:rPr baseline="30000"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and X ∩ Y = ∅:</a:t>
            </a:r>
            <a:endParaRPr/>
          </a:p>
        </p:txBody>
      </p:sp>
      <p:sp>
        <p:nvSpPr>
          <p:cNvPr id="869" name="Google Shape;869;p72"/>
          <p:cNvSpPr txBox="1"/>
          <p:nvPr/>
        </p:nvSpPr>
        <p:spPr>
          <a:xfrm>
            <a:off x="838200" y="5305057"/>
            <a:ext cx="8304697" cy="1200329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{A,B} 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🡪 </a:t>
            </a:r>
            <a:r>
              <a:rPr lang="en-US" sz="24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{C,D}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24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{A,D} 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🡪 </a:t>
            </a:r>
            <a:r>
              <a:rPr lang="en-US" sz="24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{B,C}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{A,B,C} 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🡪 </a:t>
            </a:r>
            <a:r>
              <a:rPr lang="en-US" sz="24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{D}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24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{A,B,D} 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🡪 </a:t>
            </a:r>
            <a:r>
              <a:rPr lang="en-US" sz="24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{C}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{A,C,D} 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🡪 </a:t>
            </a:r>
            <a:r>
              <a:rPr lang="en-US" sz="24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{B}</a:t>
            </a:r>
            <a:endParaRPr sz="2400"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0" name="Google Shape;870;p72"/>
          <p:cNvSpPr/>
          <p:nvPr/>
        </p:nvSpPr>
        <p:spPr>
          <a:xfrm>
            <a:off x="678425" y="2182464"/>
            <a:ext cx="8475529" cy="2123371"/>
          </a:xfrm>
          <a:prstGeom prst="rect">
            <a:avLst/>
          </a:prstGeom>
          <a:solidFill>
            <a:schemeClr val="lt1">
              <a:alpha val="4980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1" name="Google Shape;871;p72"/>
          <p:cNvSpPr/>
          <p:nvPr/>
        </p:nvSpPr>
        <p:spPr>
          <a:xfrm>
            <a:off x="6105832" y="4585478"/>
            <a:ext cx="1042220" cy="523220"/>
          </a:xfrm>
          <a:prstGeom prst="roundRect">
            <a:avLst>
              <a:gd fmla="val 16667" name="adj"/>
            </a:avLst>
          </a:prstGeom>
          <a:solidFill>
            <a:srgbClr val="FFF2CC">
              <a:alpha val="49803"/>
            </a:srgbClr>
          </a:solidFill>
          <a:ln cap="flat" cmpd="sng" w="12700">
            <a:solidFill>
              <a:schemeClr val="accent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2" name="Google Shape;872;p72"/>
          <p:cNvSpPr txBox="1"/>
          <p:nvPr/>
        </p:nvSpPr>
        <p:spPr>
          <a:xfrm>
            <a:off x="9719763" y="4585478"/>
            <a:ext cx="1986116" cy="954107"/>
          </a:xfrm>
          <a:prstGeom prst="rect">
            <a:avLst/>
          </a:prstGeom>
          <a:solidFill>
            <a:srgbClr val="FFF2CC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“Y is in the closure of X”</a:t>
            </a:r>
            <a:endParaRPr/>
          </a:p>
        </p:txBody>
      </p:sp>
      <p:grpSp>
        <p:nvGrpSpPr>
          <p:cNvPr id="873" name="Google Shape;873;p72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874" name="Google Shape;874;p72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1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5" name="Google Shape;875;p72"/>
            <p:cNvSpPr txBox="1"/>
            <p:nvPr/>
          </p:nvSpPr>
          <p:spPr>
            <a:xfrm>
              <a:off x="188780" y="-22510"/>
              <a:ext cx="3321935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140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Design Theory  &gt;  Section 3  &gt;  Closures Pt. II</a:t>
              </a:r>
              <a:endParaRPr/>
            </a:p>
          </p:txBody>
        </p:sp>
      </p:grpSp>
      <p:sp>
        <p:nvSpPr>
          <p:cNvPr id="876" name="Google Shape;876;p72"/>
          <p:cNvSpPr txBox="1"/>
          <p:nvPr/>
        </p:nvSpPr>
        <p:spPr>
          <a:xfrm>
            <a:off x="849257" y="1549446"/>
            <a:ext cx="7241983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Step 1: Compute X</a:t>
            </a:r>
            <a:r>
              <a:rPr baseline="30000"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, for every set of attributes X:</a:t>
            </a:r>
            <a:endParaRPr/>
          </a:p>
        </p:txBody>
      </p:sp>
      <p:sp>
        <p:nvSpPr>
          <p:cNvPr id="877" name="Google Shape;877;p72"/>
          <p:cNvSpPr/>
          <p:nvPr/>
        </p:nvSpPr>
        <p:spPr>
          <a:xfrm>
            <a:off x="775329" y="1495336"/>
            <a:ext cx="7169712" cy="631440"/>
          </a:xfrm>
          <a:prstGeom prst="rect">
            <a:avLst/>
          </a:prstGeom>
          <a:solidFill>
            <a:schemeClr val="lt1">
              <a:alpha val="4980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2" name="Shape 8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3" name="Google Shape;883;p73"/>
          <p:cNvSpPr txBox="1"/>
          <p:nvPr>
            <p:ph type="title"/>
          </p:nvPr>
        </p:nvSpPr>
        <p:spPr>
          <a:xfrm>
            <a:off x="838200" y="246968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Using Closure to Infer ALL FDs</a:t>
            </a:r>
            <a:endParaRPr/>
          </a:p>
        </p:txBody>
      </p:sp>
      <p:sp>
        <p:nvSpPr>
          <p:cNvPr id="884" name="Google Shape;884;p7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5" name="Google Shape;885;p73"/>
          <p:cNvSpPr/>
          <p:nvPr/>
        </p:nvSpPr>
        <p:spPr>
          <a:xfrm>
            <a:off x="9719763" y="1135453"/>
            <a:ext cx="1973617" cy="1200329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C0504D"/>
                </a:solidFill>
                <a:latin typeface="Arial"/>
                <a:ea typeface="Arial"/>
                <a:cs typeface="Arial"/>
                <a:sym typeface="Arial"/>
              </a:rPr>
              <a:t>{A,B} 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🡪</a:t>
            </a:r>
            <a:r>
              <a:rPr lang="en-US" sz="2400">
                <a:solidFill>
                  <a:srgbClr val="C0504D"/>
                </a:solidFill>
                <a:latin typeface="Arial"/>
                <a:ea typeface="Arial"/>
                <a:cs typeface="Arial"/>
                <a:sym typeface="Arial"/>
              </a:rPr>
              <a:t> C</a:t>
            </a:r>
            <a:br>
              <a:rPr lang="en-US" sz="2400">
                <a:solidFill>
                  <a:srgbClr val="C0504D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400">
                <a:solidFill>
                  <a:srgbClr val="C0504D"/>
                </a:solidFill>
                <a:latin typeface="Arial"/>
                <a:ea typeface="Arial"/>
                <a:cs typeface="Arial"/>
                <a:sym typeface="Arial"/>
              </a:rPr>
              <a:t>{A,D} 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🡪</a:t>
            </a:r>
            <a:r>
              <a:rPr lang="en-US" sz="2400">
                <a:solidFill>
                  <a:srgbClr val="C0504D"/>
                </a:solidFill>
                <a:latin typeface="Arial"/>
                <a:ea typeface="Arial"/>
                <a:cs typeface="Arial"/>
                <a:sym typeface="Arial"/>
              </a:rPr>
              <a:t> B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C0504D"/>
                </a:solidFill>
                <a:latin typeface="Arial"/>
                <a:ea typeface="Arial"/>
                <a:cs typeface="Arial"/>
                <a:sym typeface="Arial"/>
              </a:rPr>
              <a:t>{B}   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🡪</a:t>
            </a:r>
            <a:r>
              <a:rPr lang="en-US" sz="2400">
                <a:solidFill>
                  <a:srgbClr val="C0504D"/>
                </a:solidFill>
                <a:latin typeface="Arial"/>
                <a:ea typeface="Arial"/>
                <a:cs typeface="Arial"/>
                <a:sym typeface="Arial"/>
              </a:rPr>
              <a:t> D</a:t>
            </a:r>
            <a:endParaRPr/>
          </a:p>
        </p:txBody>
      </p:sp>
      <p:sp>
        <p:nvSpPr>
          <p:cNvPr id="886" name="Google Shape;886;p73"/>
          <p:cNvSpPr txBox="1"/>
          <p:nvPr/>
        </p:nvSpPr>
        <p:spPr>
          <a:xfrm>
            <a:off x="8165168" y="1053657"/>
            <a:ext cx="1334468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u="sng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Example: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Given F =</a:t>
            </a:r>
            <a:endParaRPr/>
          </a:p>
        </p:txBody>
      </p:sp>
      <p:sp>
        <p:nvSpPr>
          <p:cNvPr id="887" name="Google Shape;887;p73"/>
          <p:cNvSpPr txBox="1"/>
          <p:nvPr/>
        </p:nvSpPr>
        <p:spPr>
          <a:xfrm>
            <a:off x="849257" y="2248720"/>
            <a:ext cx="8304698" cy="1938992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{A}</a:t>
            </a:r>
            <a:r>
              <a:rPr baseline="30000" lang="en-US" sz="24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+ </a:t>
            </a:r>
            <a:r>
              <a:rPr lang="en-US" sz="24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= {A}, {B}</a:t>
            </a:r>
            <a:r>
              <a:rPr baseline="30000" lang="en-US" sz="24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+ </a:t>
            </a:r>
            <a:r>
              <a:rPr lang="en-US" sz="24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= {B,D}, {C}</a:t>
            </a:r>
            <a:r>
              <a:rPr baseline="30000" lang="en-US" sz="24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+ </a:t>
            </a:r>
            <a:r>
              <a:rPr lang="en-US" sz="24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= {C}, {D}</a:t>
            </a:r>
            <a:r>
              <a:rPr baseline="30000" lang="en-US" sz="24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+ </a:t>
            </a:r>
            <a:r>
              <a:rPr lang="en-US" sz="24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= {D}, {A,B}</a:t>
            </a:r>
            <a:r>
              <a:rPr baseline="30000" lang="en-US" sz="24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+ </a:t>
            </a:r>
            <a:r>
              <a:rPr lang="en-US" sz="24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= {A,B,C,D}, {A,C}</a:t>
            </a:r>
            <a:r>
              <a:rPr baseline="30000" lang="en-US" sz="24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+ </a:t>
            </a:r>
            <a:r>
              <a:rPr lang="en-US" sz="24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= {A,C}, {A,D}</a:t>
            </a:r>
            <a:r>
              <a:rPr baseline="30000" lang="en-US" sz="24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+ </a:t>
            </a:r>
            <a:r>
              <a:rPr lang="en-US" sz="24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= {A,B,C,D}, {A,B,C}</a:t>
            </a:r>
            <a:r>
              <a:rPr baseline="30000" lang="en-US" sz="24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+ </a:t>
            </a:r>
            <a:r>
              <a:rPr lang="en-US" sz="24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= {A,B,D}</a:t>
            </a:r>
            <a:r>
              <a:rPr baseline="30000" lang="en-US" sz="24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+ </a:t>
            </a:r>
            <a:r>
              <a:rPr lang="en-US" sz="24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= {A,C,D}</a:t>
            </a:r>
            <a:r>
              <a:rPr baseline="30000" lang="en-US" sz="24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+ </a:t>
            </a:r>
            <a:r>
              <a:rPr lang="en-US" sz="24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= {A,B,C,D}, {B,C,D}</a:t>
            </a:r>
            <a:r>
              <a:rPr baseline="30000" lang="en-US" sz="24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+ </a:t>
            </a:r>
            <a:r>
              <a:rPr lang="en-US" sz="24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= {B,C,D},    {A,B,C,D}</a:t>
            </a:r>
            <a:r>
              <a:rPr baseline="30000" lang="en-US" sz="24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r>
              <a:rPr lang="en-US" sz="24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 = {A,B,C,D}</a:t>
            </a:r>
            <a:endParaRPr/>
          </a:p>
        </p:txBody>
      </p:sp>
      <p:sp>
        <p:nvSpPr>
          <p:cNvPr id="888" name="Google Shape;888;p73"/>
          <p:cNvSpPr txBox="1"/>
          <p:nvPr/>
        </p:nvSpPr>
        <p:spPr>
          <a:xfrm>
            <a:off x="838200" y="4585478"/>
            <a:ext cx="863621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Step 2: Enumerate all FDs X 🡪 Y, s.t. Y ⊆ X</a:t>
            </a:r>
            <a:r>
              <a:rPr baseline="30000"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and X ∩ Y = ∅:</a:t>
            </a:r>
            <a:endParaRPr/>
          </a:p>
        </p:txBody>
      </p:sp>
      <p:sp>
        <p:nvSpPr>
          <p:cNvPr id="889" name="Google Shape;889;p73"/>
          <p:cNvSpPr txBox="1"/>
          <p:nvPr/>
        </p:nvSpPr>
        <p:spPr>
          <a:xfrm>
            <a:off x="838200" y="5305057"/>
            <a:ext cx="8304697" cy="1200329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{A,B} 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🡪 </a:t>
            </a:r>
            <a:r>
              <a:rPr lang="en-US" sz="24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{C,D}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24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{A,D} 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🡪 </a:t>
            </a:r>
            <a:r>
              <a:rPr lang="en-US" sz="24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{B,C}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{A,B,C} 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🡪 </a:t>
            </a:r>
            <a:r>
              <a:rPr lang="en-US" sz="24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{D}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24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{A,B,D} 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🡪 </a:t>
            </a:r>
            <a:r>
              <a:rPr lang="en-US" sz="24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{C}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{A,C,D} 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🡪 </a:t>
            </a:r>
            <a:r>
              <a:rPr lang="en-US" sz="24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{B}</a:t>
            </a:r>
            <a:endParaRPr sz="2400"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0" name="Google Shape;890;p73"/>
          <p:cNvSpPr/>
          <p:nvPr/>
        </p:nvSpPr>
        <p:spPr>
          <a:xfrm>
            <a:off x="678425" y="2182464"/>
            <a:ext cx="8475529" cy="2123371"/>
          </a:xfrm>
          <a:prstGeom prst="rect">
            <a:avLst/>
          </a:prstGeom>
          <a:solidFill>
            <a:schemeClr val="lt1">
              <a:alpha val="4980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1" name="Google Shape;891;p73"/>
          <p:cNvSpPr/>
          <p:nvPr/>
        </p:nvSpPr>
        <p:spPr>
          <a:xfrm>
            <a:off x="7718322" y="4603645"/>
            <a:ext cx="1514168" cy="523220"/>
          </a:xfrm>
          <a:prstGeom prst="roundRect">
            <a:avLst>
              <a:gd fmla="val 16667" name="adj"/>
            </a:avLst>
          </a:prstGeom>
          <a:solidFill>
            <a:srgbClr val="FFF2CC">
              <a:alpha val="49803"/>
            </a:srgbClr>
          </a:solidFill>
          <a:ln cap="flat" cmpd="sng" w="12700">
            <a:solidFill>
              <a:schemeClr val="accent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2" name="Google Shape;892;p73"/>
          <p:cNvSpPr txBox="1"/>
          <p:nvPr/>
        </p:nvSpPr>
        <p:spPr>
          <a:xfrm>
            <a:off x="9719763" y="4585478"/>
            <a:ext cx="2216598" cy="954107"/>
          </a:xfrm>
          <a:prstGeom prst="rect">
            <a:avLst/>
          </a:prstGeom>
          <a:solidFill>
            <a:srgbClr val="FFF2CC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FD X 🡪 Y is non-trivial</a:t>
            </a:r>
            <a:endParaRPr i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93" name="Google Shape;893;p73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894" name="Google Shape;894;p73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1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5" name="Google Shape;895;p73"/>
            <p:cNvSpPr txBox="1"/>
            <p:nvPr/>
          </p:nvSpPr>
          <p:spPr>
            <a:xfrm>
              <a:off x="188780" y="-22510"/>
              <a:ext cx="3321935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140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Design Theory  &gt;  Section 3  &gt;  Closures Pt. II</a:t>
              </a:r>
              <a:endParaRPr/>
            </a:p>
          </p:txBody>
        </p:sp>
      </p:grpSp>
      <p:sp>
        <p:nvSpPr>
          <p:cNvPr id="896" name="Google Shape;896;p73"/>
          <p:cNvSpPr txBox="1"/>
          <p:nvPr/>
        </p:nvSpPr>
        <p:spPr>
          <a:xfrm>
            <a:off x="849257" y="1549446"/>
            <a:ext cx="7241983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Step 1: Compute X</a:t>
            </a:r>
            <a:r>
              <a:rPr baseline="30000"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, for every set of attributes X:</a:t>
            </a:r>
            <a:endParaRPr/>
          </a:p>
        </p:txBody>
      </p:sp>
      <p:sp>
        <p:nvSpPr>
          <p:cNvPr id="897" name="Google Shape;897;p73"/>
          <p:cNvSpPr/>
          <p:nvPr/>
        </p:nvSpPr>
        <p:spPr>
          <a:xfrm>
            <a:off x="775329" y="1495336"/>
            <a:ext cx="7169712" cy="631440"/>
          </a:xfrm>
          <a:prstGeom prst="rect">
            <a:avLst/>
          </a:prstGeom>
          <a:solidFill>
            <a:schemeClr val="lt1">
              <a:alpha val="4980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1" name="Shape 9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2" name="Google Shape;902;p74"/>
          <p:cNvSpPr txBox="1"/>
          <p:nvPr>
            <p:ph type="title"/>
          </p:nvPr>
        </p:nvSpPr>
        <p:spPr>
          <a:xfrm>
            <a:off x="1981200" y="3094689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Superkeys and Keys</a:t>
            </a:r>
            <a:endParaRPr/>
          </a:p>
        </p:txBody>
      </p:sp>
      <p:grpSp>
        <p:nvGrpSpPr>
          <p:cNvPr id="903" name="Google Shape;903;p74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904" name="Google Shape;904;p74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1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5" name="Google Shape;905;p74"/>
            <p:cNvSpPr txBox="1"/>
            <p:nvPr/>
          </p:nvSpPr>
          <p:spPr>
            <a:xfrm>
              <a:off x="188780" y="-22510"/>
              <a:ext cx="3590791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140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Design Theory  &gt;  Section 3  &gt;  Superkeys &amp; Keys</a:t>
              </a:r>
              <a:endParaRPr/>
            </a:p>
          </p:txBody>
        </p:sp>
      </p:grp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9" name="Shape 9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0" name="Google Shape;910;p7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Keys and Superkeys</a:t>
            </a:r>
            <a:endParaRPr/>
          </a:p>
        </p:txBody>
      </p:sp>
      <p:sp>
        <p:nvSpPr>
          <p:cNvPr id="911" name="Google Shape;911;p75"/>
          <p:cNvSpPr/>
          <p:nvPr/>
        </p:nvSpPr>
        <p:spPr>
          <a:xfrm>
            <a:off x="838199" y="2055681"/>
            <a:ext cx="7578214" cy="1569660"/>
          </a:xfrm>
          <a:prstGeom prst="rect">
            <a:avLst/>
          </a:prstGeom>
          <a:solidFill>
            <a:srgbClr val="DDEAF6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b="1" lang="en-US" sz="32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superkey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is a set of attributes </a:t>
            </a:r>
            <a:r>
              <a:rPr b="1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b="1" baseline="-25000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1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…, A</a:t>
            </a:r>
            <a:r>
              <a:rPr b="1" baseline="-25000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b="1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s.t.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</a:t>
            </a:r>
            <a:r>
              <a:rPr i="1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any other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attribute </a:t>
            </a:r>
            <a:r>
              <a:rPr b="1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in R,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 have  </a:t>
            </a:r>
            <a:r>
              <a:rPr b="1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{A</a:t>
            </a:r>
            <a:r>
              <a:rPr b="1" baseline="-25000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1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…, A</a:t>
            </a:r>
            <a:r>
              <a:rPr b="1" baseline="-25000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b="1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 🡪 B</a:t>
            </a:r>
            <a:endParaRPr/>
          </a:p>
        </p:txBody>
      </p:sp>
      <p:sp>
        <p:nvSpPr>
          <p:cNvPr id="912" name="Google Shape;912;p75"/>
          <p:cNvSpPr/>
          <p:nvPr/>
        </p:nvSpPr>
        <p:spPr>
          <a:xfrm>
            <a:off x="838199" y="4678001"/>
            <a:ext cx="4874343" cy="584775"/>
          </a:xfrm>
          <a:prstGeom prst="rect">
            <a:avLst/>
          </a:prstGeom>
          <a:solidFill>
            <a:srgbClr val="DDEAF6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b="1" lang="en-US" sz="32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key</a:t>
            </a:r>
            <a:r>
              <a:rPr b="1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 a </a:t>
            </a:r>
            <a:r>
              <a:rPr i="1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minimal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superkey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3" name="Google Shape;913;p75"/>
          <p:cNvSpPr txBox="1"/>
          <p:nvPr/>
        </p:nvSpPr>
        <p:spPr>
          <a:xfrm>
            <a:off x="8799870" y="2240346"/>
            <a:ext cx="3106994" cy="1200329"/>
          </a:xfrm>
          <a:prstGeom prst="rect">
            <a:avLst/>
          </a:prstGeom>
          <a:solidFill>
            <a:srgbClr val="FFF2CC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I.e. all attributes are </a:t>
            </a: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functionally determined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by a superkey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4" name="Google Shape;914;p75"/>
          <p:cNvSpPr txBox="1"/>
          <p:nvPr/>
        </p:nvSpPr>
        <p:spPr>
          <a:xfrm>
            <a:off x="6312307" y="4554889"/>
            <a:ext cx="4302684" cy="1938992"/>
          </a:xfrm>
          <a:prstGeom prst="rect">
            <a:avLst/>
          </a:prstGeom>
          <a:solidFill>
            <a:srgbClr val="FFF2CC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This means that no subset of a key is also a superkey (i.e., dropping any attribute from the key makes it no longer a superkey)</a:t>
            </a:r>
            <a:endParaRPr/>
          </a:p>
        </p:txBody>
      </p:sp>
      <p:grpSp>
        <p:nvGrpSpPr>
          <p:cNvPr id="915" name="Google Shape;915;p75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916" name="Google Shape;916;p75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1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7" name="Google Shape;917;p75"/>
            <p:cNvSpPr txBox="1"/>
            <p:nvPr/>
          </p:nvSpPr>
          <p:spPr>
            <a:xfrm>
              <a:off x="188780" y="-22510"/>
              <a:ext cx="3590791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140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Design Theory  &gt;  Section 3  &gt;  Superkeys &amp; Keys</a:t>
              </a:r>
              <a:endParaRPr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1" name="Shape 9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" name="Google Shape;922;p7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Finding Keys and Superkeys	</a:t>
            </a:r>
            <a:endParaRPr/>
          </a:p>
        </p:txBody>
      </p:sp>
      <p:sp>
        <p:nvSpPr>
          <p:cNvPr id="923" name="Google Shape;923;p7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/>
              <a:t>For each set of attributes X</a:t>
            </a:r>
            <a:endParaRPr/>
          </a:p>
          <a:p>
            <a:pPr indent="-2540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t/>
            </a:r>
            <a:endParaRPr sz="3200"/>
          </a:p>
          <a:p>
            <a:pPr indent="-4572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AutoNum type="arabicPeriod"/>
            </a:pPr>
            <a:r>
              <a:rPr lang="en-US" sz="3200"/>
              <a:t>Compute X</a:t>
            </a:r>
            <a:r>
              <a:rPr baseline="30000" lang="en-US" sz="3200"/>
              <a:t>+</a:t>
            </a:r>
            <a:endParaRPr sz="3200"/>
          </a:p>
          <a:p>
            <a:pPr indent="-2540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t/>
            </a:r>
            <a:endParaRPr sz="3200"/>
          </a:p>
          <a:p>
            <a:pPr indent="-4572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AutoNum type="arabicPeriod"/>
            </a:pPr>
            <a:r>
              <a:rPr lang="en-US" sz="3200"/>
              <a:t>If X</a:t>
            </a:r>
            <a:r>
              <a:rPr baseline="30000" lang="en-US" sz="3200"/>
              <a:t>+ </a:t>
            </a:r>
            <a:r>
              <a:rPr lang="en-US" sz="3200"/>
              <a:t>= set of all attributes then X is a </a:t>
            </a:r>
            <a:r>
              <a:rPr b="1" lang="en-US" sz="3200"/>
              <a:t>superkey</a:t>
            </a:r>
            <a:endParaRPr b="1" sz="3200"/>
          </a:p>
          <a:p>
            <a:pPr indent="-2540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t/>
            </a:r>
            <a:endParaRPr sz="3200"/>
          </a:p>
          <a:p>
            <a:pPr indent="-4572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AutoNum type="arabicPeriod"/>
            </a:pPr>
            <a:r>
              <a:rPr lang="en-US" sz="3200"/>
              <a:t>If X is minimal, then it is a </a:t>
            </a:r>
            <a:r>
              <a:rPr b="1" lang="en-US" sz="3200"/>
              <a:t>key</a:t>
            </a:r>
            <a:endParaRPr/>
          </a:p>
          <a:p>
            <a:pPr indent="-254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sz="3200"/>
          </a:p>
        </p:txBody>
      </p:sp>
      <p:grpSp>
        <p:nvGrpSpPr>
          <p:cNvPr id="924" name="Google Shape;924;p76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925" name="Google Shape;925;p76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1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6" name="Google Shape;926;p76"/>
            <p:cNvSpPr txBox="1"/>
            <p:nvPr/>
          </p:nvSpPr>
          <p:spPr>
            <a:xfrm>
              <a:off x="188780" y="-22510"/>
              <a:ext cx="3590791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140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Design Theory  &gt;  Section 3  &gt;  Superkeys &amp; Keys</a:t>
              </a:r>
              <a:endParaRPr/>
            </a:p>
          </p:txBody>
        </p:sp>
      </p:grp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0" name="Shape 9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" name="Google Shape;931;p7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Example of Finding Keys</a:t>
            </a:r>
            <a:endParaRPr/>
          </a:p>
        </p:txBody>
      </p:sp>
      <p:sp>
        <p:nvSpPr>
          <p:cNvPr id="932" name="Google Shape;932;p77"/>
          <p:cNvSpPr txBox="1"/>
          <p:nvPr/>
        </p:nvSpPr>
        <p:spPr>
          <a:xfrm>
            <a:off x="838200" y="1635740"/>
            <a:ext cx="8118987" cy="52322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Product(name, price, category, color)</a:t>
            </a:r>
            <a:endParaRPr/>
          </a:p>
        </p:txBody>
      </p:sp>
      <p:sp>
        <p:nvSpPr>
          <p:cNvPr id="933" name="Google Shape;933;p77"/>
          <p:cNvSpPr txBox="1"/>
          <p:nvPr/>
        </p:nvSpPr>
        <p:spPr>
          <a:xfrm>
            <a:off x="838200" y="2658682"/>
            <a:ext cx="6093542" cy="1015663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{name, category} </a:t>
            </a:r>
            <a:r>
              <a:rPr lang="en-US" sz="3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🡪 </a:t>
            </a:r>
            <a:r>
              <a:rPr lang="en-US" sz="30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price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{category} </a:t>
            </a:r>
            <a:r>
              <a:rPr lang="en-US" sz="3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🡪 </a:t>
            </a:r>
            <a:r>
              <a:rPr lang="en-US" sz="30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color</a:t>
            </a:r>
            <a:endParaRPr sz="3000"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4" name="Google Shape;934;p77"/>
          <p:cNvSpPr txBox="1"/>
          <p:nvPr/>
        </p:nvSpPr>
        <p:spPr>
          <a:xfrm>
            <a:off x="2403231" y="4577189"/>
            <a:ext cx="7385538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is a key?</a:t>
            </a:r>
            <a:endParaRPr/>
          </a:p>
        </p:txBody>
      </p:sp>
      <p:grpSp>
        <p:nvGrpSpPr>
          <p:cNvPr id="935" name="Google Shape;935;p77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936" name="Google Shape;936;p77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1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7" name="Google Shape;937;p77"/>
            <p:cNvSpPr txBox="1"/>
            <p:nvPr/>
          </p:nvSpPr>
          <p:spPr>
            <a:xfrm>
              <a:off x="188780" y="-22510"/>
              <a:ext cx="3590791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140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Design Theory  &gt;  Section 3  &gt;  Superkeys &amp; Keys</a:t>
              </a:r>
              <a:endParaRPr/>
            </a:p>
          </p:txBody>
        </p:sp>
      </p:grp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1" name="Shape 9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" name="Google Shape;942;p7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Example of Keys</a:t>
            </a:r>
            <a:endParaRPr/>
          </a:p>
        </p:txBody>
      </p:sp>
      <p:sp>
        <p:nvSpPr>
          <p:cNvPr id="943" name="Google Shape;943;p78"/>
          <p:cNvSpPr txBox="1"/>
          <p:nvPr/>
        </p:nvSpPr>
        <p:spPr>
          <a:xfrm>
            <a:off x="838200" y="1635740"/>
            <a:ext cx="8118987" cy="52322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Product(name, price, category, color)</a:t>
            </a:r>
            <a:endParaRPr/>
          </a:p>
        </p:txBody>
      </p:sp>
      <p:sp>
        <p:nvSpPr>
          <p:cNvPr id="944" name="Google Shape;944;p78"/>
          <p:cNvSpPr txBox="1"/>
          <p:nvPr/>
        </p:nvSpPr>
        <p:spPr>
          <a:xfrm>
            <a:off x="838200" y="2658682"/>
            <a:ext cx="6093542" cy="1015663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{name, category} </a:t>
            </a:r>
            <a:r>
              <a:rPr lang="en-US" sz="3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🡪 </a:t>
            </a:r>
            <a:r>
              <a:rPr lang="en-US" sz="30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price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{category} </a:t>
            </a:r>
            <a:r>
              <a:rPr lang="en-US" sz="3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🡪 </a:t>
            </a:r>
            <a:r>
              <a:rPr lang="en-US" sz="30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color</a:t>
            </a:r>
            <a:endParaRPr sz="3000"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5" name="Google Shape;945;p78"/>
          <p:cNvSpPr txBox="1"/>
          <p:nvPr/>
        </p:nvSpPr>
        <p:spPr>
          <a:xfrm>
            <a:off x="838200" y="4174067"/>
            <a:ext cx="10515600" cy="2185214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7260" l="-927" r="-289" t="-2233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grpSp>
        <p:nvGrpSpPr>
          <p:cNvPr id="946" name="Google Shape;946;p78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947" name="Google Shape;947;p78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1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8" name="Google Shape;948;p78"/>
            <p:cNvSpPr txBox="1"/>
            <p:nvPr/>
          </p:nvSpPr>
          <p:spPr>
            <a:xfrm>
              <a:off x="188780" y="-22510"/>
              <a:ext cx="3590791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140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Design Theory  &gt;  Section 3  &gt;  Superkeys &amp; Keys</a:t>
              </a:r>
              <a:endParaRPr/>
            </a:p>
          </p:txBody>
        </p:sp>
      </p:grp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2" name="Shape 9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3" name="Google Shape;953;p79"/>
          <p:cNvSpPr txBox="1"/>
          <p:nvPr>
            <p:ph type="ctrTitle"/>
          </p:nvPr>
        </p:nvSpPr>
        <p:spPr>
          <a:xfrm>
            <a:off x="1524000" y="19732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n-US"/>
              <a:t>Design Theory II</a:t>
            </a:r>
            <a:endParaRPr/>
          </a:p>
        </p:txBody>
      </p:sp>
      <p:grpSp>
        <p:nvGrpSpPr>
          <p:cNvPr id="954" name="Google Shape;954;p79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955" name="Google Shape;955;p79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1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6" name="Google Shape;956;p79"/>
            <p:cNvSpPr txBox="1"/>
            <p:nvPr/>
          </p:nvSpPr>
          <p:spPr>
            <a:xfrm>
              <a:off x="188780" y="-22510"/>
              <a:ext cx="13589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Design Theory II</a:t>
              </a:r>
              <a:endParaRPr b="1" i="1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0" name="Shape 9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1" name="Google Shape;961;p80"/>
          <p:cNvSpPr txBox="1"/>
          <p:nvPr>
            <p:ph type="title"/>
          </p:nvPr>
        </p:nvSpPr>
        <p:spPr>
          <a:xfrm>
            <a:off x="1981200" y="2825332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Normal Forms</a:t>
            </a:r>
            <a:endParaRPr/>
          </a:p>
        </p:txBody>
      </p:sp>
      <p:grpSp>
        <p:nvGrpSpPr>
          <p:cNvPr id="962" name="Google Shape;962;p80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963" name="Google Shape;963;p80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1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4" name="Google Shape;964;p80"/>
            <p:cNvSpPr txBox="1"/>
            <p:nvPr/>
          </p:nvSpPr>
          <p:spPr>
            <a:xfrm>
              <a:off x="188780" y="-22510"/>
              <a:ext cx="3509166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140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Design Theory II  &gt;  Section 1  &gt;  Normal Forms</a:t>
              </a:r>
              <a:endParaRPr/>
            </a:p>
          </p:txBody>
        </p:sp>
      </p:grp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8" name="Shape 9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9" name="Google Shape;969;p81"/>
          <p:cNvSpPr txBox="1"/>
          <p:nvPr>
            <p:ph type="title"/>
          </p:nvPr>
        </p:nvSpPr>
        <p:spPr>
          <a:xfrm>
            <a:off x="1981200" y="2825332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Conceptual Design</a:t>
            </a:r>
            <a:endParaRPr/>
          </a:p>
        </p:txBody>
      </p:sp>
      <p:grpSp>
        <p:nvGrpSpPr>
          <p:cNvPr id="970" name="Google Shape;970;p81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971" name="Google Shape;971;p81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1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2" name="Google Shape;972;p81"/>
            <p:cNvSpPr txBox="1"/>
            <p:nvPr/>
          </p:nvSpPr>
          <p:spPr>
            <a:xfrm>
              <a:off x="188780" y="-22510"/>
              <a:ext cx="3820982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140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Design Theory II  &gt;  Section 1  &gt;  Conceptual Design</a:t>
              </a:r>
              <a:endParaRPr/>
            </a:p>
          </p:txBody>
        </p:sp>
      </p:grp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6" name="Shape 9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7" name="Google Shape;977;p82"/>
          <p:cNvSpPr/>
          <p:nvPr/>
        </p:nvSpPr>
        <p:spPr>
          <a:xfrm>
            <a:off x="0" y="0"/>
            <a:ext cx="12192000" cy="262759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1400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8" name="Google Shape;978;p8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Definitions for Normal Forms</a:t>
            </a:r>
            <a:endParaRPr/>
          </a:p>
        </p:txBody>
      </p:sp>
      <p:pic>
        <p:nvPicPr>
          <p:cNvPr id="979" name="Google Shape;979;p82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0904" y="1836119"/>
            <a:ext cx="8153400" cy="647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80" name="Google Shape;980;p8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10904" y="2559610"/>
            <a:ext cx="7481888" cy="990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81" name="Google Shape;981;p8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10904" y="3626001"/>
            <a:ext cx="6484938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982" name="Google Shape;982;p82"/>
          <p:cNvSpPr txBox="1"/>
          <p:nvPr/>
        </p:nvSpPr>
        <p:spPr>
          <a:xfrm>
            <a:off x="188780" y="-22510"/>
            <a:ext cx="3509166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Design Theory II  &gt;  Section 1  &gt;  Normal Forms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6" name="Shape 9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7" name="Google Shape;987;p8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Example</a:t>
            </a:r>
            <a:endParaRPr/>
          </a:p>
        </p:txBody>
      </p:sp>
      <p:sp>
        <p:nvSpPr>
          <p:cNvPr id="988" name="Google Shape;988;p83"/>
          <p:cNvSpPr txBox="1"/>
          <p:nvPr>
            <p:ph idx="1" type="body"/>
          </p:nvPr>
        </p:nvSpPr>
        <p:spPr>
          <a:xfrm>
            <a:off x="6096000" y="1253331"/>
            <a:ext cx="6855691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55000" lnSpcReduction="2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LOTS(p_id, county_name, lot#, Area, price, tax_rate)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FD1: p_id -&gt; {county_name, lot#, Area, price, tax_rate}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FD2: county_name, lot#}-&gt;{p_id, area, price, tax_rate}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FD3:  county_name -&gt; Tax_rate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FD4: area -&gt; price	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(p_id)+={ p_id, county_name, lot#, area, price, tax_rate}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{county_name, lot#}+={ p_id, county_name, lot#, area, price, tax_rate}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{county_name}+ ={county_name, tax_rate}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{area}+={price, area}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Prime attributes: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p_id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county_name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lot#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non-prime attributes: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Area, Price, Tax rate</a:t>
            </a:r>
            <a:endParaRPr/>
          </a:p>
          <a:p>
            <a:pPr indent="-13081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  <p:pic>
        <p:nvPicPr>
          <p:cNvPr id="989" name="Google Shape;989;p8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8142" y="1564879"/>
            <a:ext cx="5797858" cy="3940175"/>
          </a:xfrm>
          <a:prstGeom prst="rect">
            <a:avLst/>
          </a:prstGeom>
          <a:noFill/>
          <a:ln>
            <a:noFill/>
          </a:ln>
        </p:spPr>
      </p:pic>
      <p:sp>
        <p:nvSpPr>
          <p:cNvPr id="990" name="Google Shape;990;p83"/>
          <p:cNvSpPr/>
          <p:nvPr/>
        </p:nvSpPr>
        <p:spPr>
          <a:xfrm>
            <a:off x="1092323" y="5578475"/>
            <a:ext cx="3754884" cy="91440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It is not in 2NF as we have county_name -&gt; tax_rate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1" name="Google Shape;991;p83"/>
          <p:cNvSpPr/>
          <p:nvPr/>
        </p:nvSpPr>
        <p:spPr>
          <a:xfrm>
            <a:off x="6096000" y="5604669"/>
            <a:ext cx="4452152" cy="91440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Lots1( p_id, county_name, lot#, Area, price)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Lots2(county_name, tax_rate)</a:t>
            </a:r>
            <a:endParaRPr/>
          </a:p>
        </p:txBody>
      </p:sp>
      <p:sp>
        <p:nvSpPr>
          <p:cNvPr id="992" name="Google Shape;992;p83"/>
          <p:cNvSpPr/>
          <p:nvPr/>
        </p:nvSpPr>
        <p:spPr>
          <a:xfrm>
            <a:off x="0" y="0"/>
            <a:ext cx="12192000" cy="262759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1400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3" name="Google Shape;993;p83"/>
          <p:cNvSpPr txBox="1"/>
          <p:nvPr/>
        </p:nvSpPr>
        <p:spPr>
          <a:xfrm>
            <a:off x="188780" y="-22510"/>
            <a:ext cx="3509166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Design Theory II  &gt;  Section 1  &gt;  Normal Forms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8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8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8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8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8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8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8">
                                            <p:txEl>
                                              <p:pRg end="13" st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8">
                                            <p:txEl>
                                              <p:pRg end="14" st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8">
                                            <p:txEl>
                                              <p:pRg end="15" st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7" name="Shape 9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8" name="Google Shape;998;p84"/>
          <p:cNvSpPr txBox="1"/>
          <p:nvPr>
            <p:ph type="title"/>
          </p:nvPr>
        </p:nvSpPr>
        <p:spPr>
          <a:xfrm>
            <a:off x="559005" y="-156043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2NF -&gt; 3NF</a:t>
            </a:r>
            <a:endParaRPr/>
          </a:p>
        </p:txBody>
      </p:sp>
      <p:pic>
        <p:nvPicPr>
          <p:cNvPr id="999" name="Google Shape;999;p84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5484" y="674661"/>
            <a:ext cx="10515600" cy="2754339"/>
          </a:xfrm>
          <a:prstGeom prst="rect">
            <a:avLst/>
          </a:prstGeom>
          <a:noFill/>
          <a:ln>
            <a:noFill/>
          </a:ln>
        </p:spPr>
      </p:pic>
      <p:sp>
        <p:nvSpPr>
          <p:cNvPr id="1000" name="Google Shape;1000;p84"/>
          <p:cNvSpPr/>
          <p:nvPr/>
        </p:nvSpPr>
        <p:spPr>
          <a:xfrm>
            <a:off x="636494" y="3764845"/>
            <a:ext cx="6096000" cy="28623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3NF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FD: X-&gt;A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(a) X is a superkey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or (b) A is a prime attribute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Lots1(p_id, county_name, lot#, Area, price)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FD1:p_id -&gt; {county_name, lot#, Area, price}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FD2:{county_name, lot#}-&gt;{p_id, area, price}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FD4:area -&gt; price	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1" name="Google Shape;1001;p84"/>
          <p:cNvSpPr/>
          <p:nvPr/>
        </p:nvSpPr>
        <p:spPr>
          <a:xfrm>
            <a:off x="6911008" y="5576233"/>
            <a:ext cx="6096000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Lots1A(p_id, county_name, lot#, Area)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Lots1B(area, price)</a:t>
            </a:r>
            <a:endParaRPr/>
          </a:p>
        </p:txBody>
      </p:sp>
      <p:pic>
        <p:nvPicPr>
          <p:cNvPr id="1002" name="Google Shape;1002;p8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92333" y="3660340"/>
            <a:ext cx="5503333" cy="1915893"/>
          </a:xfrm>
          <a:prstGeom prst="rect">
            <a:avLst/>
          </a:prstGeom>
          <a:noFill/>
          <a:ln>
            <a:noFill/>
          </a:ln>
        </p:spPr>
      </p:pic>
      <p:sp>
        <p:nvSpPr>
          <p:cNvPr id="1003" name="Google Shape;1003;p84"/>
          <p:cNvSpPr/>
          <p:nvPr/>
        </p:nvSpPr>
        <p:spPr>
          <a:xfrm>
            <a:off x="559005" y="768742"/>
            <a:ext cx="10075333" cy="2566317"/>
          </a:xfrm>
          <a:prstGeom prst="rect">
            <a:avLst/>
          </a:prstGeom>
          <a:solidFill>
            <a:srgbClr val="0432FF">
              <a:alpha val="10588"/>
            </a:srgbClr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4" name="Google Shape;1004;p84"/>
          <p:cNvSpPr/>
          <p:nvPr/>
        </p:nvSpPr>
        <p:spPr>
          <a:xfrm>
            <a:off x="4919133" y="820241"/>
            <a:ext cx="914400" cy="30480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2NF</a:t>
            </a:r>
            <a:endParaRPr/>
          </a:p>
        </p:txBody>
      </p:sp>
      <p:sp>
        <p:nvSpPr>
          <p:cNvPr id="1005" name="Google Shape;1005;p84"/>
          <p:cNvSpPr/>
          <p:nvPr/>
        </p:nvSpPr>
        <p:spPr>
          <a:xfrm>
            <a:off x="6392333" y="4176336"/>
            <a:ext cx="5240866" cy="1063913"/>
          </a:xfrm>
          <a:prstGeom prst="rect">
            <a:avLst/>
          </a:prstGeom>
          <a:solidFill>
            <a:srgbClr val="0432FF">
              <a:alpha val="10588"/>
            </a:srgbClr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6" name="Google Shape;1006;p84"/>
          <p:cNvSpPr/>
          <p:nvPr/>
        </p:nvSpPr>
        <p:spPr>
          <a:xfrm>
            <a:off x="8399680" y="3891216"/>
            <a:ext cx="914400" cy="30480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3NF</a:t>
            </a:r>
            <a:endParaRPr/>
          </a:p>
        </p:txBody>
      </p:sp>
      <p:sp>
        <p:nvSpPr>
          <p:cNvPr id="1007" name="Google Shape;1007;p84"/>
          <p:cNvSpPr/>
          <p:nvPr/>
        </p:nvSpPr>
        <p:spPr>
          <a:xfrm>
            <a:off x="0" y="0"/>
            <a:ext cx="12192000" cy="262759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1400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8" name="Google Shape;1008;p84"/>
          <p:cNvSpPr txBox="1"/>
          <p:nvPr/>
        </p:nvSpPr>
        <p:spPr>
          <a:xfrm>
            <a:off x="188780" y="-22510"/>
            <a:ext cx="3509166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Design Theory II  &gt;  Section 1  &gt;  Normal Forms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2" name="Shape 10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" name="Google Shape;1013;p8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3NF to BCNF</a:t>
            </a:r>
            <a:endParaRPr/>
          </a:p>
        </p:txBody>
      </p:sp>
      <p:pic>
        <p:nvPicPr>
          <p:cNvPr id="1014" name="Google Shape;1014;p85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03090" y="1690688"/>
            <a:ext cx="4694668" cy="4351338"/>
          </a:xfrm>
          <a:prstGeom prst="rect">
            <a:avLst/>
          </a:prstGeom>
          <a:noFill/>
          <a:ln>
            <a:noFill/>
          </a:ln>
        </p:spPr>
      </p:pic>
      <p:sp>
        <p:nvSpPr>
          <p:cNvPr id="1015" name="Google Shape;1015;p85"/>
          <p:cNvSpPr/>
          <p:nvPr/>
        </p:nvSpPr>
        <p:spPr>
          <a:xfrm>
            <a:off x="4509247" y="1978025"/>
            <a:ext cx="3944471" cy="1450975"/>
          </a:xfrm>
          <a:prstGeom prst="rect">
            <a:avLst/>
          </a:prstGeom>
          <a:solidFill>
            <a:srgbClr val="0432FF">
              <a:alpha val="10588"/>
            </a:srgbClr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6" name="Google Shape;1016;p85"/>
          <p:cNvSpPr/>
          <p:nvPr/>
        </p:nvSpPr>
        <p:spPr>
          <a:xfrm>
            <a:off x="6217025" y="1978025"/>
            <a:ext cx="721658" cy="209363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3NF</a:t>
            </a:r>
            <a:endParaRPr/>
          </a:p>
        </p:txBody>
      </p:sp>
      <p:sp>
        <p:nvSpPr>
          <p:cNvPr id="1017" name="Google Shape;1017;p85"/>
          <p:cNvSpPr/>
          <p:nvPr/>
        </p:nvSpPr>
        <p:spPr>
          <a:xfrm>
            <a:off x="8559875" y="1817500"/>
            <a:ext cx="914400" cy="1611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8" name="Google Shape;1018;p85"/>
          <p:cNvSpPr/>
          <p:nvPr/>
        </p:nvSpPr>
        <p:spPr>
          <a:xfrm>
            <a:off x="4793204" y="3826217"/>
            <a:ext cx="4520129" cy="855849"/>
          </a:xfrm>
          <a:prstGeom prst="rect">
            <a:avLst/>
          </a:prstGeom>
          <a:solidFill>
            <a:srgbClr val="0432FF">
              <a:alpha val="10588"/>
            </a:srgbClr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9" name="Google Shape;1019;p85"/>
          <p:cNvSpPr/>
          <p:nvPr/>
        </p:nvSpPr>
        <p:spPr>
          <a:xfrm>
            <a:off x="6500981" y="3826218"/>
            <a:ext cx="826977" cy="12349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BCNF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0" name="Google Shape;1020;p85"/>
          <p:cNvSpPr/>
          <p:nvPr/>
        </p:nvSpPr>
        <p:spPr>
          <a:xfrm>
            <a:off x="79514" y="1299486"/>
            <a:ext cx="4108002" cy="341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BCNF: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X-&gt;A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 has to be a superkey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FD5: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Area- &gt; county_name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Lots1A(p_id, county_name, lot#, Area)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 in 3NF but not in BCNF (county is prime attribute)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Lots1AX(p_id,  lot#, Area)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Lots1AY(Area,county_name )</a:t>
            </a:r>
            <a:endParaRPr/>
          </a:p>
        </p:txBody>
      </p:sp>
      <p:sp>
        <p:nvSpPr>
          <p:cNvPr id="1021" name="Google Shape;1021;p85"/>
          <p:cNvSpPr/>
          <p:nvPr/>
        </p:nvSpPr>
        <p:spPr>
          <a:xfrm>
            <a:off x="0" y="0"/>
            <a:ext cx="12192000" cy="262759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1400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2" name="Google Shape;1022;p85"/>
          <p:cNvSpPr txBox="1"/>
          <p:nvPr/>
        </p:nvSpPr>
        <p:spPr>
          <a:xfrm>
            <a:off x="188780" y="-22510"/>
            <a:ext cx="3509166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Design Theory II  &gt;  Section 1  &gt;  Normal Forms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0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0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0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0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6" name="Shape 10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Google Shape;1027;p86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n-US"/>
              <a:t>1. Boyce-Codd Normal Form</a:t>
            </a:r>
            <a:endParaRPr/>
          </a:p>
        </p:txBody>
      </p:sp>
      <p:sp>
        <p:nvSpPr>
          <p:cNvPr id="1028" name="Google Shape;1028;p8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1029" name="Google Shape;1029;p86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1030" name="Google Shape;1030;p86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1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1" name="Google Shape;1031;p86"/>
            <p:cNvSpPr txBox="1"/>
            <p:nvPr/>
          </p:nvSpPr>
          <p:spPr>
            <a:xfrm>
              <a:off x="188780" y="-22510"/>
              <a:ext cx="2235805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140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Design Theory II  &gt;  Section 2</a:t>
              </a:r>
              <a:endParaRPr/>
            </a:p>
          </p:txBody>
        </p:sp>
      </p:grp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6" name="Shape 10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7" name="Google Shape;1037;p8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Back to Conceptual Design</a:t>
            </a:r>
            <a:endParaRPr/>
          </a:p>
        </p:txBody>
      </p:sp>
      <p:sp>
        <p:nvSpPr>
          <p:cNvPr id="1038" name="Google Shape;1038;p8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US"/>
              <a:t>Now that we know how to find FDs, it’s a straight-forward process: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t/>
            </a:r>
            <a:endParaRPr/>
          </a:p>
          <a:p>
            <a:pPr indent="-514350" lvl="1" marL="97155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</a:pPr>
            <a:r>
              <a:rPr lang="en-US" sz="2800"/>
              <a:t>Search for “bad” FDs</a:t>
            </a:r>
            <a:endParaRPr/>
          </a:p>
          <a:p>
            <a:pPr indent="-336550" lvl="1" marL="97155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t/>
            </a:r>
            <a:endParaRPr sz="2800"/>
          </a:p>
          <a:p>
            <a:pPr indent="-514350" lvl="1" marL="97155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</a:pPr>
            <a:r>
              <a:rPr lang="en-US" sz="2800"/>
              <a:t>If there are any, then </a:t>
            </a:r>
            <a:r>
              <a:rPr i="1" lang="en-US" sz="2800"/>
              <a:t>keep decomposing the table into sub-tables</a:t>
            </a:r>
            <a:r>
              <a:rPr lang="en-US" sz="2800"/>
              <a:t> until no more bad FDs</a:t>
            </a:r>
            <a:endParaRPr/>
          </a:p>
          <a:p>
            <a:pPr indent="-336550" lvl="1" marL="97155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t/>
            </a:r>
            <a:endParaRPr sz="2800"/>
          </a:p>
          <a:p>
            <a:pPr indent="-514350" lvl="1" marL="97155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</a:pPr>
            <a:r>
              <a:rPr lang="en-US" sz="2800"/>
              <a:t>When done, the database schema is </a:t>
            </a:r>
            <a:r>
              <a:rPr i="1" lang="en-US" sz="2800"/>
              <a:t>normalized</a:t>
            </a:r>
            <a:endParaRPr sz="2800"/>
          </a:p>
        </p:txBody>
      </p:sp>
      <p:sp>
        <p:nvSpPr>
          <p:cNvPr id="1039" name="Google Shape;1039;p8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0" name="Google Shape;1040;p87"/>
          <p:cNvSpPr txBox="1"/>
          <p:nvPr/>
        </p:nvSpPr>
        <p:spPr>
          <a:xfrm>
            <a:off x="6432786" y="5715298"/>
            <a:ext cx="5136471" cy="461665"/>
          </a:xfrm>
          <a:prstGeom prst="rect">
            <a:avLst/>
          </a:prstGeom>
          <a:solidFill>
            <a:srgbClr val="FFF2CC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Recall: there are several normal forms…</a:t>
            </a:r>
            <a:endParaRPr/>
          </a:p>
        </p:txBody>
      </p:sp>
      <p:grpSp>
        <p:nvGrpSpPr>
          <p:cNvPr id="1041" name="Google Shape;1041;p87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1042" name="Google Shape;1042;p87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1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3" name="Google Shape;1043;p87"/>
            <p:cNvSpPr txBox="1"/>
            <p:nvPr/>
          </p:nvSpPr>
          <p:spPr>
            <a:xfrm>
              <a:off x="188780" y="-22510"/>
              <a:ext cx="3820982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140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Design Theory II  &gt;  Section 2  &gt;  Conceptual Design</a:t>
              </a:r>
              <a:endParaRPr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7" name="Shape 10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" name="Google Shape;1048;p8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Boyce-Codd Normal Form (BCNF)</a:t>
            </a:r>
            <a:endParaRPr/>
          </a:p>
        </p:txBody>
      </p:sp>
      <p:sp>
        <p:nvSpPr>
          <p:cNvPr id="1049" name="Google Shape;1049;p8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Main idea is that we define “good” and “bad” FDs as follows:</a:t>
            </a:r>
            <a:endParaRPr/>
          </a:p>
          <a:p>
            <a:pPr indent="-508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2800"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/>
              <a:t>X 🡪 A is a “</a:t>
            </a:r>
            <a:r>
              <a:rPr i="1" lang="en-US" sz="2800"/>
              <a:t>good FD”</a:t>
            </a:r>
            <a:r>
              <a:rPr lang="en-US" sz="2800"/>
              <a:t> </a:t>
            </a:r>
            <a:r>
              <a:rPr i="1" lang="en-US" sz="2800"/>
              <a:t>if X is a (super)key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/>
              <a:t>In other words, if A is the set of all attributes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2800"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/>
              <a:t>X 🡪 A is a </a:t>
            </a:r>
            <a:r>
              <a:rPr i="1" lang="en-US" sz="2800"/>
              <a:t>“bad FD”</a:t>
            </a:r>
            <a:r>
              <a:rPr lang="en-US" sz="2800"/>
              <a:t> otherwise</a:t>
            </a:r>
            <a:endParaRPr/>
          </a:p>
          <a:p>
            <a:pPr indent="-508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2800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/>
              <a:t>We will try to eliminate the “bad” FDs!</a:t>
            </a:r>
            <a:endParaRPr sz="3200"/>
          </a:p>
        </p:txBody>
      </p:sp>
      <p:grpSp>
        <p:nvGrpSpPr>
          <p:cNvPr id="1050" name="Google Shape;1050;p88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1051" name="Google Shape;1051;p88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1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2" name="Google Shape;1052;p88"/>
            <p:cNvSpPr txBox="1"/>
            <p:nvPr/>
          </p:nvSpPr>
          <p:spPr>
            <a:xfrm>
              <a:off x="188780" y="-22510"/>
              <a:ext cx="2875403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140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Design Theory II  &gt;  Section 2  &gt;  BCNF</a:t>
              </a:r>
              <a:endParaRPr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6" name="Shape 10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7" name="Google Shape;1057;p8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Boyce-Codd Normal Form (BCNF)</a:t>
            </a:r>
            <a:endParaRPr/>
          </a:p>
        </p:txBody>
      </p:sp>
      <p:sp>
        <p:nvSpPr>
          <p:cNvPr id="1058" name="Google Shape;1058;p8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Why does this definition of “good” and “bad” FDs make sense?</a:t>
            </a:r>
            <a:endParaRPr/>
          </a:p>
          <a:p>
            <a:pPr indent="-254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sz="3200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If X is </a:t>
            </a:r>
            <a:r>
              <a:rPr i="1" lang="en-US"/>
              <a:t>not </a:t>
            </a:r>
            <a:r>
              <a:rPr lang="en-US"/>
              <a:t>a (super)key, it functionally determines </a:t>
            </a:r>
            <a:r>
              <a:rPr i="1" lang="en-US"/>
              <a:t>some</a:t>
            </a:r>
            <a:r>
              <a:rPr lang="en-US"/>
              <a:t> of the attributes; therefore, those other attributes can be duplicated</a:t>
            </a:r>
            <a:endParaRPr/>
          </a:p>
          <a:p>
            <a:pPr indent="-762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Recall: this means there is </a:t>
            </a:r>
            <a:r>
              <a:rPr lang="en-US" u="sng"/>
              <a:t>redundancy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And redundancy like this can lead to data anomalies!</a:t>
            </a:r>
            <a:endParaRPr/>
          </a:p>
        </p:txBody>
      </p:sp>
      <p:graphicFrame>
        <p:nvGraphicFramePr>
          <p:cNvPr id="1059" name="Google Shape;1059;p89"/>
          <p:cNvGraphicFramePr/>
          <p:nvPr/>
        </p:nvGraphicFramePr>
        <p:xfrm>
          <a:off x="6791585" y="499929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{7243359E-227B-4974-B2ED-5EDE406F0A3F}</a:tableStyleId>
              </a:tblPr>
              <a:tblGrid>
                <a:gridCol w="937100"/>
                <a:gridCol w="937100"/>
                <a:gridCol w="937100"/>
                <a:gridCol w="937100"/>
              </a:tblGrid>
              <a:tr h="280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EmpID</a:t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Name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Phone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Position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0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E0045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Smith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1234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Clerk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0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E3542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Mike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9876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Salesrep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0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E1111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Smith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9876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Salesrep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0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E9999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Mary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1234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Lawyer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060" name="Google Shape;1060;p89"/>
          <p:cNvSpPr/>
          <p:nvPr/>
        </p:nvSpPr>
        <p:spPr>
          <a:xfrm>
            <a:off x="8646097" y="5620306"/>
            <a:ext cx="1874176" cy="770661"/>
          </a:xfrm>
          <a:prstGeom prst="roundRect">
            <a:avLst>
              <a:gd fmla="val 16667" name="adj"/>
            </a:avLst>
          </a:prstGeom>
          <a:solidFill>
            <a:srgbClr val="FBE4D4">
              <a:alpha val="49803"/>
            </a:srgbClr>
          </a:solidFill>
          <a:ln cap="flat" cmpd="sng" w="12700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061" name="Google Shape;1061;p89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1062" name="Google Shape;1062;p89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1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3" name="Google Shape;1063;p89"/>
            <p:cNvSpPr txBox="1"/>
            <p:nvPr/>
          </p:nvSpPr>
          <p:spPr>
            <a:xfrm>
              <a:off x="188780" y="-22510"/>
              <a:ext cx="2875403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140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Design Theory II  &gt;  Section 2  &gt;  BCNF</a:t>
              </a:r>
              <a:endParaRPr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8" name="Shape 10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9" name="Google Shape;1069;p9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Boyce-Codd Normal Form</a:t>
            </a:r>
            <a:endParaRPr/>
          </a:p>
        </p:txBody>
      </p:sp>
      <p:sp>
        <p:nvSpPr>
          <p:cNvPr id="1070" name="Google Shape;1070;p9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1" name="Google Shape;1071;p90"/>
          <p:cNvSpPr txBox="1"/>
          <p:nvPr/>
        </p:nvSpPr>
        <p:spPr>
          <a:xfrm>
            <a:off x="838200" y="1715949"/>
            <a:ext cx="9787295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BCNF is a simple condition for removing anomalies from relations:</a:t>
            </a:r>
            <a:endParaRPr/>
          </a:p>
        </p:txBody>
      </p:sp>
      <p:sp>
        <p:nvSpPr>
          <p:cNvPr id="1072" name="Google Shape;1072;p90"/>
          <p:cNvSpPr txBox="1"/>
          <p:nvPr/>
        </p:nvSpPr>
        <p:spPr>
          <a:xfrm>
            <a:off x="3178863" y="5990445"/>
            <a:ext cx="5834274" cy="523220"/>
          </a:xfrm>
          <a:prstGeom prst="rect">
            <a:avLst/>
          </a:prstGeom>
          <a:solidFill>
            <a:srgbClr val="E1EFD8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 other words: there are no “bad” FDs</a:t>
            </a:r>
            <a:endParaRPr sz="2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3" name="Google Shape;1073;p90"/>
          <p:cNvSpPr/>
          <p:nvPr/>
        </p:nvSpPr>
        <p:spPr>
          <a:xfrm>
            <a:off x="3187992" y="2537585"/>
            <a:ext cx="5816016" cy="1815882"/>
          </a:xfrm>
          <a:prstGeom prst="rect">
            <a:avLst/>
          </a:prstGeom>
          <a:solidFill>
            <a:srgbClr val="DDEAF6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relation R is </a:t>
            </a:r>
            <a:r>
              <a:rPr b="1" lang="en-US" sz="2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BCNF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if: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</a:t>
            </a: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{A</a:t>
            </a:r>
            <a:r>
              <a:rPr b="1" baseline="-25000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..., A</a:t>
            </a:r>
            <a:r>
              <a:rPr b="1" baseline="-25000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 🡪 B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is a </a:t>
            </a:r>
            <a:r>
              <a:rPr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non-trivial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FD in R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then </a:t>
            </a: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{A</a:t>
            </a:r>
            <a:r>
              <a:rPr b="1" baseline="-25000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..., A</a:t>
            </a:r>
            <a:r>
              <a:rPr b="1" baseline="-25000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  is a superkey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for R</a:t>
            </a:r>
            <a:endParaRPr/>
          </a:p>
        </p:txBody>
      </p:sp>
      <p:sp>
        <p:nvSpPr>
          <p:cNvPr id="1074" name="Google Shape;1074;p90"/>
          <p:cNvSpPr/>
          <p:nvPr/>
        </p:nvSpPr>
        <p:spPr>
          <a:xfrm>
            <a:off x="838200" y="4910346"/>
            <a:ext cx="10387908" cy="52322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grpSp>
        <p:nvGrpSpPr>
          <p:cNvPr id="1075" name="Google Shape;1075;p90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1076" name="Google Shape;1076;p90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1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7" name="Google Shape;1077;p90"/>
            <p:cNvSpPr txBox="1"/>
            <p:nvPr/>
          </p:nvSpPr>
          <p:spPr>
            <a:xfrm>
              <a:off x="188780" y="-22510"/>
              <a:ext cx="2875403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140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Design Theory II  &gt;  Section 2  &gt;  BCNF</a:t>
              </a:r>
              <a:endParaRPr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2" name="Shape 10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3" name="Google Shape;1083;p9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Example</a:t>
            </a:r>
            <a:endParaRPr/>
          </a:p>
        </p:txBody>
      </p:sp>
      <p:sp>
        <p:nvSpPr>
          <p:cNvPr id="1084" name="Google Shape;1084;p9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5" name="Google Shape;1085;p91"/>
          <p:cNvSpPr txBox="1"/>
          <p:nvPr/>
        </p:nvSpPr>
        <p:spPr>
          <a:xfrm>
            <a:off x="8415942" y="4778738"/>
            <a:ext cx="3275256" cy="954107"/>
          </a:xfrm>
          <a:prstGeom prst="rect">
            <a:avLst/>
          </a:prstGeom>
          <a:solidFill>
            <a:srgbClr val="FFF2CC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What is the key?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{SSN, PhoneNumber}</a:t>
            </a:r>
            <a:endParaRPr/>
          </a:p>
        </p:txBody>
      </p:sp>
      <p:graphicFrame>
        <p:nvGraphicFramePr>
          <p:cNvPr id="1086" name="Google Shape;1086;p91"/>
          <p:cNvGraphicFramePr/>
          <p:nvPr/>
        </p:nvGraphicFramePr>
        <p:xfrm>
          <a:off x="838200" y="18063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{7243359E-227B-4974-B2ED-5EDE406F0A3F}</a:tableStyleId>
              </a:tblPr>
              <a:tblGrid>
                <a:gridCol w="1219200"/>
                <a:gridCol w="1981200"/>
                <a:gridCol w="2057400"/>
                <a:gridCol w="1752600"/>
              </a:tblGrid>
              <a:tr h="323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400"/>
                        <a:buFont typeface="Times New Roman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accent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Name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400"/>
                        <a:buFont typeface="Times New Roman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accent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SSN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400"/>
                        <a:buFont typeface="Times New Roman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accent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PhoneNumber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400"/>
                        <a:buFont typeface="Times New Roman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accent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City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3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Times New Roman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Fred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Times New Roman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123-45-6789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Times New Roman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206-555-1234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Times New Roman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Seattle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3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Times New Roman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Fred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Times New Roman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123-45-6789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Times New Roman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206-555-6543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Times New Roman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Seattle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49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Times New Roman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Joe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Times New Roman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987-65-4321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Times New Roman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908-555-2121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Times New Roman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Westfield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3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Times New Roman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Joe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Times New Roman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987-65-4321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Times New Roman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908-555-1234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Times New Roman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Westfield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087" name="Google Shape;1087;p91"/>
          <p:cNvSpPr/>
          <p:nvPr/>
        </p:nvSpPr>
        <p:spPr>
          <a:xfrm>
            <a:off x="8175995" y="1806360"/>
            <a:ext cx="3833101" cy="461665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C0504D"/>
                </a:solidFill>
                <a:latin typeface="Arial"/>
                <a:ea typeface="Arial"/>
                <a:cs typeface="Arial"/>
                <a:sym typeface="Arial"/>
              </a:rPr>
              <a:t>{SSN} 🡪 {Name,City}</a:t>
            </a:r>
            <a:endParaRPr/>
          </a:p>
        </p:txBody>
      </p:sp>
      <p:sp>
        <p:nvSpPr>
          <p:cNvPr id="1088" name="Google Shape;1088;p91"/>
          <p:cNvSpPr txBox="1"/>
          <p:nvPr/>
        </p:nvSpPr>
        <p:spPr>
          <a:xfrm>
            <a:off x="2968664" y="4963403"/>
            <a:ext cx="2749471" cy="584775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089" name="Google Shape;1089;p91"/>
          <p:cNvSpPr txBox="1"/>
          <p:nvPr/>
        </p:nvSpPr>
        <p:spPr>
          <a:xfrm>
            <a:off x="8610600" y="2738960"/>
            <a:ext cx="2885941" cy="13849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This FD is </a:t>
            </a:r>
            <a:r>
              <a:rPr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bad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because it is </a:t>
            </a:r>
            <a:r>
              <a:rPr b="1" lang="en-US" sz="2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not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 superkey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090" name="Google Shape;1090;p91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1091" name="Google Shape;1091;p91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1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2" name="Google Shape;1092;p91"/>
            <p:cNvSpPr txBox="1"/>
            <p:nvPr/>
          </p:nvSpPr>
          <p:spPr>
            <a:xfrm>
              <a:off x="188780" y="-22510"/>
              <a:ext cx="2875403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140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Design Theory II  &gt;  Section 2 &gt;  BCNF</a:t>
              </a:r>
              <a:endParaRPr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7" name="Shape 10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8" name="Google Shape;1098;p9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Example</a:t>
            </a:r>
            <a:endParaRPr/>
          </a:p>
        </p:txBody>
      </p:sp>
      <p:sp>
        <p:nvSpPr>
          <p:cNvPr id="1099" name="Google Shape;1099;p9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100" name="Google Shape;1100;p92"/>
          <p:cNvGraphicFramePr/>
          <p:nvPr/>
        </p:nvGraphicFramePr>
        <p:xfrm>
          <a:off x="838200" y="18063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{7243359E-227B-4974-B2ED-5EDE406F0A3F}</a:tableStyleId>
              </a:tblPr>
              <a:tblGrid>
                <a:gridCol w="1060175"/>
                <a:gridCol w="2454425"/>
                <a:gridCol w="1493250"/>
              </a:tblGrid>
              <a:tr h="323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accent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Name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sng" cap="none" strike="noStrike">
                          <a:solidFill>
                            <a:schemeClr val="accent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SSN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accent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City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3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Fred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123-45-6789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Seattle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3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Joe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987-65-4321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Madison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101" name="Google Shape;1101;p92"/>
          <p:cNvGraphicFramePr/>
          <p:nvPr/>
        </p:nvGraphicFramePr>
        <p:xfrm>
          <a:off x="838200" y="374609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{7243359E-227B-4974-B2ED-5EDE406F0A3F}</a:tableStyleId>
              </a:tblPr>
              <a:tblGrid>
                <a:gridCol w="1981200"/>
                <a:gridCol w="1981200"/>
              </a:tblGrid>
              <a:tr h="323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sng" cap="none" strike="noStrike">
                          <a:solidFill>
                            <a:schemeClr val="accent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SSN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sng" cap="none" strike="noStrike">
                          <a:solidFill>
                            <a:schemeClr val="accent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PhoneNumber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3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123-45-6789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206-555-1234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3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123-45-6789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206-555-6543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49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987-65-4321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908-555-2121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3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987-65-4321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908-555-1234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102" name="Google Shape;1102;p92"/>
          <p:cNvSpPr txBox="1"/>
          <p:nvPr/>
        </p:nvSpPr>
        <p:spPr>
          <a:xfrm>
            <a:off x="7967423" y="4594890"/>
            <a:ext cx="2939651" cy="1569660"/>
          </a:xfrm>
          <a:prstGeom prst="rect">
            <a:avLst/>
          </a:prstGeom>
          <a:solidFill>
            <a:srgbClr val="FFF2CC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Let’s check anomalies:</a:t>
            </a:r>
            <a:endParaRPr/>
          </a:p>
          <a:p>
            <a:pPr indent="-152400" lvl="1" marL="4572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Redundancy ?</a:t>
            </a:r>
            <a:endParaRPr/>
          </a:p>
          <a:p>
            <a:pPr indent="-152400" lvl="1" marL="4572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Update ?</a:t>
            </a:r>
            <a:endParaRPr/>
          </a:p>
          <a:p>
            <a:pPr indent="-152400" lvl="1" marL="4572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Delete ?</a:t>
            </a:r>
            <a:endParaRPr/>
          </a:p>
        </p:txBody>
      </p:sp>
      <p:sp>
        <p:nvSpPr>
          <p:cNvPr id="1103" name="Google Shape;1103;p92"/>
          <p:cNvSpPr/>
          <p:nvPr/>
        </p:nvSpPr>
        <p:spPr>
          <a:xfrm>
            <a:off x="7520699" y="1806360"/>
            <a:ext cx="3833101" cy="461665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C0504D"/>
                </a:solidFill>
                <a:latin typeface="Arial"/>
                <a:ea typeface="Arial"/>
                <a:cs typeface="Arial"/>
                <a:sym typeface="Arial"/>
              </a:rPr>
              <a:t>{SSN} 🡪 {Name,City}</a:t>
            </a:r>
            <a:endParaRPr/>
          </a:p>
        </p:txBody>
      </p:sp>
      <p:sp>
        <p:nvSpPr>
          <p:cNvPr id="1104" name="Google Shape;1104;p92"/>
          <p:cNvSpPr txBox="1"/>
          <p:nvPr/>
        </p:nvSpPr>
        <p:spPr>
          <a:xfrm>
            <a:off x="4866368" y="5967531"/>
            <a:ext cx="2459263" cy="584775"/>
          </a:xfrm>
          <a:prstGeom prst="rect">
            <a:avLst/>
          </a:prstGeom>
          <a:solidFill>
            <a:srgbClr val="E1EFD8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Now in BCNF!</a:t>
            </a:r>
            <a:endParaRPr b="1" sz="32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5" name="Google Shape;1105;p92"/>
          <p:cNvSpPr txBox="1"/>
          <p:nvPr/>
        </p:nvSpPr>
        <p:spPr>
          <a:xfrm>
            <a:off x="7955304" y="2738960"/>
            <a:ext cx="2885941" cy="13849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This FD is now </a:t>
            </a:r>
            <a:r>
              <a:rPr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good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because it is the key</a:t>
            </a:r>
            <a:endParaRPr/>
          </a:p>
        </p:txBody>
      </p:sp>
      <p:grpSp>
        <p:nvGrpSpPr>
          <p:cNvPr id="1106" name="Google Shape;1106;p92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1107" name="Google Shape;1107;p92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1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8" name="Google Shape;1108;p92"/>
            <p:cNvSpPr txBox="1"/>
            <p:nvPr/>
          </p:nvSpPr>
          <p:spPr>
            <a:xfrm>
              <a:off x="188780" y="-22510"/>
              <a:ext cx="2875403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140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Design Theory II  &gt;  Section 2  &gt;  BCNF</a:t>
              </a:r>
              <a:endParaRPr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3" name="Shape 1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4" name="Google Shape;1114;p9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BCNF Decomposition Algorithm</a:t>
            </a:r>
            <a:endParaRPr/>
          </a:p>
        </p:txBody>
      </p:sp>
      <p:sp>
        <p:nvSpPr>
          <p:cNvPr id="1115" name="Google Shape;1115;p9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6" name="Google Shape;1116;p93"/>
          <p:cNvSpPr/>
          <p:nvPr/>
        </p:nvSpPr>
        <p:spPr>
          <a:xfrm>
            <a:off x="838199" y="1837531"/>
            <a:ext cx="6850627" cy="3970318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BCNFDecomp(R):</a:t>
            </a:r>
            <a:b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</a:t>
            </a:r>
            <a:r>
              <a:rPr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Find X s.t.: X</a:t>
            </a:r>
            <a:r>
              <a:rPr baseline="30000"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r>
              <a:rPr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≠ X and X</a:t>
            </a:r>
            <a:r>
              <a:rPr baseline="30000"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≠ [all attributes]</a:t>
            </a:r>
            <a:br>
              <a:rPr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  </a:t>
            </a:r>
            <a:r>
              <a:rPr b="1" lang="en-US" sz="2800" u="sng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if</a:t>
            </a:r>
            <a:r>
              <a:rPr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(not found) </a:t>
            </a:r>
            <a:r>
              <a:rPr b="1" lang="en-US" sz="2800" u="sng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then</a:t>
            </a:r>
            <a:r>
              <a:rPr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Return</a:t>
            </a:r>
            <a:r>
              <a:rPr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  </a:t>
            </a:r>
            <a:r>
              <a:rPr b="1" lang="en-US" sz="2800" u="sng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let</a:t>
            </a:r>
            <a:r>
              <a:rPr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Y = X</a:t>
            </a:r>
            <a:r>
              <a:rPr baseline="30000"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r>
              <a:rPr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- X,  Z = (X</a:t>
            </a:r>
            <a:r>
              <a:rPr baseline="30000"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r>
              <a:rPr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r>
              <a:rPr baseline="30000"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br>
              <a:rPr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  </a:t>
            </a:r>
            <a:r>
              <a:rPr b="1"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decompose</a:t>
            </a:r>
            <a:r>
              <a:rPr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r>
              <a:rPr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into </a:t>
            </a:r>
            <a:r>
              <a:rPr b="1"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R1(X ∪ Y) </a:t>
            </a:r>
            <a:r>
              <a:rPr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and </a:t>
            </a:r>
            <a:r>
              <a:rPr b="1"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R2(X ∪ Z)</a:t>
            </a:r>
            <a:br>
              <a:rPr b="1"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  </a:t>
            </a:r>
            <a:r>
              <a:rPr b="1"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Return</a:t>
            </a:r>
            <a:r>
              <a:rPr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BCNFDecomp(R1), BCNFDecomp(R2)</a:t>
            </a:r>
            <a:endParaRPr/>
          </a:p>
        </p:txBody>
      </p:sp>
      <p:grpSp>
        <p:nvGrpSpPr>
          <p:cNvPr id="1117" name="Google Shape;1117;p93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1118" name="Google Shape;1118;p93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1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9" name="Google Shape;1119;p93"/>
            <p:cNvSpPr txBox="1"/>
            <p:nvPr/>
          </p:nvSpPr>
          <p:spPr>
            <a:xfrm>
              <a:off x="188780" y="-22510"/>
              <a:ext cx="2875403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140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Design Theory II  &gt;  Section 2  &gt;  BCNF</a:t>
              </a:r>
              <a:endParaRPr/>
            </a:p>
          </p:txBody>
        </p:sp>
      </p:grp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4" name="Shape 1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5" name="Google Shape;1125;p9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BCNF Decomposition Algorithm</a:t>
            </a:r>
            <a:endParaRPr/>
          </a:p>
        </p:txBody>
      </p:sp>
      <p:sp>
        <p:nvSpPr>
          <p:cNvPr id="1126" name="Google Shape;1126;p9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7" name="Google Shape;1127;p94"/>
          <p:cNvSpPr/>
          <p:nvPr/>
        </p:nvSpPr>
        <p:spPr>
          <a:xfrm>
            <a:off x="838199" y="1837531"/>
            <a:ext cx="6850627" cy="4401205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BCNFDecomp(R):</a:t>
            </a:r>
            <a:b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Find </a:t>
            </a:r>
            <a:r>
              <a:rPr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set of attributes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X s.t.: X</a:t>
            </a:r>
            <a:r>
              <a:rPr baseline="30000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≠ X and X</a:t>
            </a:r>
            <a:r>
              <a:rPr baseline="30000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≠ [all attributes]</a:t>
            </a:r>
            <a:b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  </a:t>
            </a:r>
            <a:r>
              <a:rPr b="1" lang="en-US" sz="2800" u="sng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if</a:t>
            </a:r>
            <a:r>
              <a:rPr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(not found) </a:t>
            </a:r>
            <a:r>
              <a:rPr b="1" lang="en-US" sz="2800" u="sng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then</a:t>
            </a:r>
            <a:r>
              <a:rPr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Return</a:t>
            </a:r>
            <a:r>
              <a:rPr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  </a:t>
            </a:r>
            <a:r>
              <a:rPr b="1" lang="en-US" sz="2800" u="sng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let</a:t>
            </a:r>
            <a:r>
              <a:rPr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Y = X</a:t>
            </a:r>
            <a:r>
              <a:rPr baseline="30000"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r>
              <a:rPr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- X,  Z = (X</a:t>
            </a:r>
            <a:r>
              <a:rPr baseline="30000"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r>
              <a:rPr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r>
              <a:rPr baseline="30000"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br>
              <a:rPr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  </a:t>
            </a:r>
            <a:r>
              <a:rPr b="1"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decompose</a:t>
            </a:r>
            <a:r>
              <a:rPr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r>
              <a:rPr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into </a:t>
            </a:r>
            <a:r>
              <a:rPr b="1"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R1(X ∪ Y) </a:t>
            </a:r>
            <a:r>
              <a:rPr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and </a:t>
            </a:r>
            <a:r>
              <a:rPr b="1"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R2(X ∪ Z)</a:t>
            </a:r>
            <a:br>
              <a:rPr b="1"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  </a:t>
            </a:r>
            <a:r>
              <a:rPr b="1"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Return</a:t>
            </a:r>
            <a:r>
              <a:rPr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BCNFDecomp(R1), BCNFDecomp(R2)</a:t>
            </a:r>
            <a:endParaRPr/>
          </a:p>
        </p:txBody>
      </p:sp>
      <p:sp>
        <p:nvSpPr>
          <p:cNvPr id="1128" name="Google Shape;1128;p94"/>
          <p:cNvSpPr txBox="1"/>
          <p:nvPr/>
        </p:nvSpPr>
        <p:spPr>
          <a:xfrm>
            <a:off x="8032955" y="2369574"/>
            <a:ext cx="3834581" cy="1815882"/>
          </a:xfrm>
          <a:prstGeom prst="rect">
            <a:avLst/>
          </a:prstGeom>
          <a:solidFill>
            <a:srgbClr val="FFF2CC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Find a set of attributes X which has non-trivial “bad” FDs, i.e. is not a superkey, using closures</a:t>
            </a:r>
            <a:endParaRPr/>
          </a:p>
        </p:txBody>
      </p:sp>
      <p:grpSp>
        <p:nvGrpSpPr>
          <p:cNvPr id="1129" name="Google Shape;1129;p94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1130" name="Google Shape;1130;p94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1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1" name="Google Shape;1131;p94"/>
            <p:cNvSpPr txBox="1"/>
            <p:nvPr/>
          </p:nvSpPr>
          <p:spPr>
            <a:xfrm>
              <a:off x="188780" y="-22510"/>
              <a:ext cx="2875403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140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Design Theory II  &gt;  Section 2  &gt;  BCNF</a:t>
              </a:r>
              <a:endParaRPr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6" name="Shape 1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7" name="Google Shape;1137;p9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BCNF Decomposition Algorithm</a:t>
            </a:r>
            <a:endParaRPr/>
          </a:p>
        </p:txBody>
      </p:sp>
      <p:sp>
        <p:nvSpPr>
          <p:cNvPr id="1138" name="Google Shape;1138;p9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9" name="Google Shape;1139;p95"/>
          <p:cNvSpPr/>
          <p:nvPr/>
        </p:nvSpPr>
        <p:spPr>
          <a:xfrm>
            <a:off x="838199" y="1837531"/>
            <a:ext cx="6850627" cy="4401205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BCNFDecomp(R):</a:t>
            </a:r>
            <a:br>
              <a:rPr lang="en-US" sz="28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8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   Find a</a:t>
            </a:r>
            <a:r>
              <a:rPr i="1" lang="en-US" sz="28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 set of attributes </a:t>
            </a:r>
            <a:r>
              <a:rPr lang="en-US" sz="28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X s.t.: X</a:t>
            </a:r>
            <a:r>
              <a:rPr baseline="30000" lang="en-US" sz="28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r>
              <a:rPr lang="en-US" sz="28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 ≠ X and X</a:t>
            </a:r>
            <a:r>
              <a:rPr baseline="30000" lang="en-US" sz="28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lang="en-US" sz="28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≠ [all attributes]</a:t>
            </a:r>
            <a:b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</a:t>
            </a:r>
            <a:r>
              <a:rPr b="1" lang="en-US" sz="2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(not found) </a:t>
            </a:r>
            <a:r>
              <a:rPr b="1" lang="en-US" sz="2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then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Return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  </a:t>
            </a:r>
            <a:r>
              <a:rPr b="1" lang="en-US" sz="2800" u="sng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let</a:t>
            </a:r>
            <a:r>
              <a:rPr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Y = X</a:t>
            </a:r>
            <a:r>
              <a:rPr baseline="30000"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r>
              <a:rPr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- X,  Z = (X</a:t>
            </a:r>
            <a:r>
              <a:rPr baseline="30000"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r>
              <a:rPr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r>
              <a:rPr baseline="30000"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br>
              <a:rPr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  </a:t>
            </a:r>
            <a:r>
              <a:rPr b="1"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decompose</a:t>
            </a:r>
            <a:r>
              <a:rPr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r>
              <a:rPr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into </a:t>
            </a:r>
            <a:r>
              <a:rPr b="1"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R1(X ∪ Y) </a:t>
            </a:r>
            <a:r>
              <a:rPr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and </a:t>
            </a:r>
            <a:r>
              <a:rPr b="1"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R2(X ∪ Z)</a:t>
            </a:r>
            <a:br>
              <a:rPr b="1"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  </a:t>
            </a:r>
            <a:r>
              <a:rPr b="1"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Return</a:t>
            </a:r>
            <a:r>
              <a:rPr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BCNFDecomp(R1), BCNFDecomp(R2)</a:t>
            </a:r>
            <a:endParaRPr/>
          </a:p>
        </p:txBody>
      </p:sp>
      <p:sp>
        <p:nvSpPr>
          <p:cNvPr id="1140" name="Google Shape;1140;p95"/>
          <p:cNvSpPr txBox="1"/>
          <p:nvPr/>
        </p:nvSpPr>
        <p:spPr>
          <a:xfrm>
            <a:off x="8064909" y="2949677"/>
            <a:ext cx="3834581" cy="954107"/>
          </a:xfrm>
          <a:prstGeom prst="rect">
            <a:avLst/>
          </a:prstGeom>
          <a:solidFill>
            <a:srgbClr val="FFF2CC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no “bad” FDs found, in BCNF!</a:t>
            </a:r>
            <a:endParaRPr/>
          </a:p>
        </p:txBody>
      </p:sp>
      <p:grpSp>
        <p:nvGrpSpPr>
          <p:cNvPr id="1141" name="Google Shape;1141;p95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1142" name="Google Shape;1142;p95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1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3" name="Google Shape;1143;p95"/>
            <p:cNvSpPr txBox="1"/>
            <p:nvPr/>
          </p:nvSpPr>
          <p:spPr>
            <a:xfrm>
              <a:off x="188780" y="-22510"/>
              <a:ext cx="2875403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140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Design Theory II  &gt;  Section 2  &gt;  BCNF</a:t>
              </a:r>
              <a:endParaRPr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8" name="Shape 1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9" name="Google Shape;1149;p9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BCNF Decomposition Algorithm</a:t>
            </a:r>
            <a:endParaRPr/>
          </a:p>
        </p:txBody>
      </p:sp>
      <p:sp>
        <p:nvSpPr>
          <p:cNvPr id="1150" name="Google Shape;1150;p9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1" name="Google Shape;1151;p96"/>
          <p:cNvSpPr/>
          <p:nvPr/>
        </p:nvSpPr>
        <p:spPr>
          <a:xfrm>
            <a:off x="838199" y="1837531"/>
            <a:ext cx="6850627" cy="4401205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BCNFDecomp(R):</a:t>
            </a:r>
            <a:br>
              <a:rPr lang="en-US" sz="28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8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   Find a </a:t>
            </a:r>
            <a:r>
              <a:rPr i="1" lang="en-US" sz="28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set of attributes </a:t>
            </a:r>
            <a:r>
              <a:rPr lang="en-US" sz="28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X s.t.: X</a:t>
            </a:r>
            <a:r>
              <a:rPr baseline="30000" lang="en-US" sz="28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r>
              <a:rPr lang="en-US" sz="28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 ≠ X and X</a:t>
            </a:r>
            <a:r>
              <a:rPr baseline="30000" lang="en-US" sz="28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lang="en-US" sz="28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≠ [all attributes]</a:t>
            </a:r>
            <a:br>
              <a:rPr lang="en-US" sz="28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800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   </a:t>
            </a:r>
            <a:r>
              <a:rPr b="1" lang="en-US" sz="2800" u="sng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if</a:t>
            </a:r>
            <a:r>
              <a:rPr lang="en-US" sz="28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 (not found) </a:t>
            </a:r>
            <a:r>
              <a:rPr b="1" lang="en-US" sz="2800" u="sng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then</a:t>
            </a:r>
            <a:r>
              <a:rPr lang="en-US" sz="28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n-US" sz="28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Return</a:t>
            </a:r>
            <a:r>
              <a:rPr lang="en-US" sz="28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 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</a:t>
            </a:r>
            <a:r>
              <a:rPr b="1" lang="en-US" sz="2800" u="sng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let</a:t>
            </a: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Y = X</a:t>
            </a:r>
            <a:r>
              <a:rPr baseline="30000"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- X,  Z = (X</a:t>
            </a:r>
            <a:r>
              <a:rPr baseline="30000"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r>
              <a:rPr baseline="30000"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b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  </a:t>
            </a:r>
            <a:r>
              <a:rPr b="1"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decompose</a:t>
            </a:r>
            <a:r>
              <a:rPr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r>
              <a:rPr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into </a:t>
            </a:r>
            <a:r>
              <a:rPr b="1"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R1(X ∪ Y) </a:t>
            </a:r>
            <a:r>
              <a:rPr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and </a:t>
            </a:r>
            <a:r>
              <a:rPr b="1"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R2(X ∪ Z)</a:t>
            </a:r>
            <a:br>
              <a:rPr b="1"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  </a:t>
            </a:r>
            <a:r>
              <a:rPr b="1"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Return</a:t>
            </a:r>
            <a:r>
              <a:rPr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BCNFDecomp(R1), BCNFDecomp(R2)</a:t>
            </a:r>
            <a:endParaRPr/>
          </a:p>
        </p:txBody>
      </p:sp>
      <p:sp>
        <p:nvSpPr>
          <p:cNvPr id="1152" name="Google Shape;1152;p96"/>
          <p:cNvSpPr txBox="1"/>
          <p:nvPr/>
        </p:nvSpPr>
        <p:spPr>
          <a:xfrm>
            <a:off x="8111612" y="3361025"/>
            <a:ext cx="3470787" cy="2677656"/>
          </a:xfrm>
          <a:prstGeom prst="rect">
            <a:avLst/>
          </a:prstGeom>
          <a:solidFill>
            <a:srgbClr val="FFF2CC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Let Y be the attributes that </a:t>
            </a:r>
            <a:r>
              <a:rPr b="1"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 functionally determines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(+ that are not in X)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And let Z be </a:t>
            </a: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</a:t>
            </a:r>
            <a:r>
              <a:rPr b="1"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complement</a:t>
            </a: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the other attributes that it </a:t>
            </a:r>
            <a:r>
              <a:rPr b="1"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doesn’t</a:t>
            </a:r>
            <a:endParaRPr b="1"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153" name="Google Shape;1153;p96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1154" name="Google Shape;1154;p96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1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5" name="Google Shape;1155;p96"/>
            <p:cNvSpPr txBox="1"/>
            <p:nvPr/>
          </p:nvSpPr>
          <p:spPr>
            <a:xfrm>
              <a:off x="188780" y="-22510"/>
              <a:ext cx="2875403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140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Design Theory II  &gt;  Section 2  &gt;  BCNF</a:t>
              </a:r>
              <a:endParaRPr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0" name="Shape 1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1" name="Google Shape;1161;p9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BCNF Decomposition Algorithm</a:t>
            </a:r>
            <a:endParaRPr/>
          </a:p>
        </p:txBody>
      </p:sp>
      <p:sp>
        <p:nvSpPr>
          <p:cNvPr id="1162" name="Google Shape;1162;p9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3" name="Google Shape;1163;p97"/>
          <p:cNvSpPr/>
          <p:nvPr/>
        </p:nvSpPr>
        <p:spPr>
          <a:xfrm>
            <a:off x="838199" y="1837531"/>
            <a:ext cx="6850627" cy="4401205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BCNFDecomp(R):</a:t>
            </a:r>
            <a:br>
              <a:rPr lang="en-US" sz="28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8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   Find a </a:t>
            </a:r>
            <a:r>
              <a:rPr i="1" lang="en-US" sz="28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set of attributes </a:t>
            </a:r>
            <a:r>
              <a:rPr lang="en-US" sz="28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X s.t.: X</a:t>
            </a:r>
            <a:r>
              <a:rPr baseline="30000" lang="en-US" sz="28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r>
              <a:rPr lang="en-US" sz="28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 ≠ X and X</a:t>
            </a:r>
            <a:r>
              <a:rPr baseline="30000" lang="en-US" sz="28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lang="en-US" sz="28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≠ [all attributes]</a:t>
            </a:r>
            <a:br>
              <a:rPr lang="en-US" sz="28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800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   </a:t>
            </a:r>
            <a:r>
              <a:rPr b="1" lang="en-US" sz="2800" u="sng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if</a:t>
            </a:r>
            <a:r>
              <a:rPr lang="en-US" sz="28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 (not found) </a:t>
            </a:r>
            <a:r>
              <a:rPr b="1" lang="en-US" sz="2800" u="sng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then</a:t>
            </a:r>
            <a:r>
              <a:rPr lang="en-US" sz="28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n-US" sz="28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Return</a:t>
            </a:r>
            <a:r>
              <a:rPr lang="en-US" sz="28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 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</a:t>
            </a:r>
            <a:r>
              <a:rPr b="1" lang="en-US" sz="2800" u="sng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let</a:t>
            </a:r>
            <a:r>
              <a:rPr lang="en-US" sz="28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 Y = X</a:t>
            </a:r>
            <a:r>
              <a:rPr baseline="30000" lang="en-US" sz="28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r>
              <a:rPr lang="en-US" sz="28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 - X,  Z = (X</a:t>
            </a:r>
            <a:r>
              <a:rPr baseline="30000" lang="en-US" sz="28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r>
              <a:rPr lang="en-US" sz="28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r>
              <a:rPr baseline="30000" lang="en-US" sz="28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lang="en-US" sz="28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b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  </a:t>
            </a: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decompose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into </a:t>
            </a: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r>
              <a:rPr b="1" baseline="-25000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(X ∪ Y)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and </a:t>
            </a: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r>
              <a:rPr b="1" baseline="-25000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(X ∪ Z)</a:t>
            </a:r>
            <a:b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  </a:t>
            </a:r>
            <a:r>
              <a:rPr b="1"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Return</a:t>
            </a:r>
            <a:r>
              <a:rPr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BCNFDecomp(R1), BCNFDecomp(R2)</a:t>
            </a:r>
            <a:endParaRPr/>
          </a:p>
        </p:txBody>
      </p:sp>
      <p:sp>
        <p:nvSpPr>
          <p:cNvPr id="1164" name="Google Shape;1164;p97"/>
          <p:cNvSpPr/>
          <p:nvPr/>
        </p:nvSpPr>
        <p:spPr>
          <a:xfrm>
            <a:off x="8001000" y="3095108"/>
            <a:ext cx="2286000" cy="2209800"/>
          </a:xfrm>
          <a:prstGeom prst="ellipse">
            <a:avLst/>
          </a:prstGeom>
          <a:solidFill>
            <a:srgbClr val="DDEAF6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5" name="Google Shape;1165;p97"/>
          <p:cNvSpPr/>
          <p:nvPr/>
        </p:nvSpPr>
        <p:spPr>
          <a:xfrm>
            <a:off x="9448800" y="3171308"/>
            <a:ext cx="2286000" cy="22098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6" name="Google Shape;1166;p97"/>
          <p:cNvSpPr txBox="1"/>
          <p:nvPr/>
        </p:nvSpPr>
        <p:spPr>
          <a:xfrm>
            <a:off x="9585325" y="4050784"/>
            <a:ext cx="344966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/>
          </a:p>
        </p:txBody>
      </p:sp>
      <p:sp>
        <p:nvSpPr>
          <p:cNvPr id="1167" name="Google Shape;1167;p97"/>
          <p:cNvSpPr txBox="1"/>
          <p:nvPr/>
        </p:nvSpPr>
        <p:spPr>
          <a:xfrm>
            <a:off x="10804525" y="4050784"/>
            <a:ext cx="328936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Z</a:t>
            </a:r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8" name="Google Shape;1168;p97"/>
          <p:cNvSpPr txBox="1"/>
          <p:nvPr/>
        </p:nvSpPr>
        <p:spPr>
          <a:xfrm>
            <a:off x="8518525" y="4050784"/>
            <a:ext cx="344966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Y</a:t>
            </a:r>
            <a:endParaRPr/>
          </a:p>
        </p:txBody>
      </p:sp>
      <p:sp>
        <p:nvSpPr>
          <p:cNvPr id="1169" name="Google Shape;1169;p97"/>
          <p:cNvSpPr txBox="1"/>
          <p:nvPr/>
        </p:nvSpPr>
        <p:spPr>
          <a:xfrm>
            <a:off x="8899525" y="5346184"/>
            <a:ext cx="45577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r>
              <a:rPr baseline="-25000"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0" name="Google Shape;1170;p97"/>
          <p:cNvSpPr txBox="1"/>
          <p:nvPr/>
        </p:nvSpPr>
        <p:spPr>
          <a:xfrm>
            <a:off x="10499725" y="5346184"/>
            <a:ext cx="45577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r>
              <a:rPr baseline="-25000"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1" name="Google Shape;1171;p97"/>
          <p:cNvSpPr txBox="1"/>
          <p:nvPr/>
        </p:nvSpPr>
        <p:spPr>
          <a:xfrm>
            <a:off x="8101780" y="1793054"/>
            <a:ext cx="3795252" cy="1200329"/>
          </a:xfrm>
          <a:prstGeom prst="rect">
            <a:avLst/>
          </a:prstGeom>
          <a:solidFill>
            <a:srgbClr val="FFF2CC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Split into one relation (table) with X plus the attributes that X determines (Y)…</a:t>
            </a:r>
            <a:endParaRPr b="1"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172" name="Google Shape;1172;p97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1173" name="Google Shape;1173;p97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1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4" name="Google Shape;1174;p97"/>
            <p:cNvSpPr txBox="1"/>
            <p:nvPr/>
          </p:nvSpPr>
          <p:spPr>
            <a:xfrm>
              <a:off x="188780" y="-22510"/>
              <a:ext cx="2875403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140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Design Theory II  &gt;  Section 2  &gt;  BCNF</a:t>
              </a:r>
              <a:endParaRPr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9" name="Shape 1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0" name="Google Shape;1180;p9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BCNF Decomposition Algorithm</a:t>
            </a:r>
            <a:endParaRPr/>
          </a:p>
        </p:txBody>
      </p:sp>
      <p:sp>
        <p:nvSpPr>
          <p:cNvPr id="1181" name="Google Shape;1181;p9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2" name="Google Shape;1182;p98"/>
          <p:cNvSpPr/>
          <p:nvPr/>
        </p:nvSpPr>
        <p:spPr>
          <a:xfrm>
            <a:off x="838199" y="1837531"/>
            <a:ext cx="6850627" cy="4401205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BCNFDecomp(R):</a:t>
            </a:r>
            <a:br>
              <a:rPr lang="en-US" sz="28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8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   Find a </a:t>
            </a:r>
            <a:r>
              <a:rPr i="1" lang="en-US" sz="28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set of attributes </a:t>
            </a:r>
            <a:r>
              <a:rPr lang="en-US" sz="28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X s.t.: X</a:t>
            </a:r>
            <a:r>
              <a:rPr baseline="30000" lang="en-US" sz="28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r>
              <a:rPr lang="en-US" sz="28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 ≠ X and X</a:t>
            </a:r>
            <a:r>
              <a:rPr baseline="30000" lang="en-US" sz="28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lang="en-US" sz="28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≠ [all attributes]</a:t>
            </a:r>
            <a:br>
              <a:rPr lang="en-US" sz="28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800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   </a:t>
            </a:r>
            <a:r>
              <a:rPr b="1" lang="en-US" sz="2800" u="sng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if</a:t>
            </a:r>
            <a:r>
              <a:rPr lang="en-US" sz="28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 (not found) </a:t>
            </a:r>
            <a:r>
              <a:rPr b="1" lang="en-US" sz="2800" u="sng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then</a:t>
            </a:r>
            <a:r>
              <a:rPr lang="en-US" sz="28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n-US" sz="28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Return</a:t>
            </a:r>
            <a:r>
              <a:rPr lang="en-US" sz="28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 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</a:t>
            </a:r>
            <a:r>
              <a:rPr b="1" lang="en-US" sz="2800" u="sng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let</a:t>
            </a:r>
            <a:r>
              <a:rPr lang="en-US" sz="28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 Y = X</a:t>
            </a:r>
            <a:r>
              <a:rPr baseline="30000" lang="en-US" sz="28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r>
              <a:rPr lang="en-US" sz="28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 - X,  Z = (X</a:t>
            </a:r>
            <a:r>
              <a:rPr baseline="30000" lang="en-US" sz="28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r>
              <a:rPr lang="en-US" sz="28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r>
              <a:rPr baseline="30000" lang="en-US" sz="28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lang="en-US" sz="28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b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  </a:t>
            </a: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decompose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into </a:t>
            </a: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r>
              <a:rPr b="1" baseline="-25000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(X ∪ Y)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and </a:t>
            </a: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r>
              <a:rPr b="1" baseline="-25000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(X ∪ Z)</a:t>
            </a:r>
            <a:b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  </a:t>
            </a:r>
            <a:r>
              <a:rPr b="1"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Return</a:t>
            </a:r>
            <a:r>
              <a:rPr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BCNFDecomp(R1), BCNFDecomp(R2)</a:t>
            </a:r>
            <a:endParaRPr/>
          </a:p>
        </p:txBody>
      </p:sp>
      <p:sp>
        <p:nvSpPr>
          <p:cNvPr id="1183" name="Google Shape;1183;p98"/>
          <p:cNvSpPr/>
          <p:nvPr/>
        </p:nvSpPr>
        <p:spPr>
          <a:xfrm>
            <a:off x="9448800" y="3171308"/>
            <a:ext cx="2286000" cy="2209800"/>
          </a:xfrm>
          <a:prstGeom prst="ellipse">
            <a:avLst/>
          </a:prstGeom>
          <a:solidFill>
            <a:srgbClr val="DDEAF6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4" name="Google Shape;1184;p98"/>
          <p:cNvSpPr txBox="1"/>
          <p:nvPr/>
        </p:nvSpPr>
        <p:spPr>
          <a:xfrm>
            <a:off x="9585325" y="4050784"/>
            <a:ext cx="344966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/>
          </a:p>
        </p:txBody>
      </p:sp>
      <p:sp>
        <p:nvSpPr>
          <p:cNvPr id="1185" name="Google Shape;1185;p98"/>
          <p:cNvSpPr txBox="1"/>
          <p:nvPr/>
        </p:nvSpPr>
        <p:spPr>
          <a:xfrm>
            <a:off x="10804525" y="4050784"/>
            <a:ext cx="328936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Z</a:t>
            </a:r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6" name="Google Shape;1186;p98"/>
          <p:cNvSpPr txBox="1"/>
          <p:nvPr/>
        </p:nvSpPr>
        <p:spPr>
          <a:xfrm>
            <a:off x="8518525" y="4050784"/>
            <a:ext cx="344966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Y</a:t>
            </a:r>
            <a:endParaRPr/>
          </a:p>
        </p:txBody>
      </p:sp>
      <p:sp>
        <p:nvSpPr>
          <p:cNvPr id="1187" name="Google Shape;1187;p98"/>
          <p:cNvSpPr txBox="1"/>
          <p:nvPr/>
        </p:nvSpPr>
        <p:spPr>
          <a:xfrm>
            <a:off x="8899525" y="5346184"/>
            <a:ext cx="45577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r>
              <a:rPr baseline="-25000"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8" name="Google Shape;1188;p98"/>
          <p:cNvSpPr txBox="1"/>
          <p:nvPr/>
        </p:nvSpPr>
        <p:spPr>
          <a:xfrm>
            <a:off x="10499725" y="5346184"/>
            <a:ext cx="45577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r>
              <a:rPr baseline="-25000"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9" name="Google Shape;1189;p98"/>
          <p:cNvSpPr txBox="1"/>
          <p:nvPr/>
        </p:nvSpPr>
        <p:spPr>
          <a:xfrm>
            <a:off x="8101780" y="1793054"/>
            <a:ext cx="3795252" cy="1200329"/>
          </a:xfrm>
          <a:prstGeom prst="rect">
            <a:avLst/>
          </a:prstGeom>
          <a:solidFill>
            <a:srgbClr val="FFF2CC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And one relation with X plus the attributes it </a:t>
            </a: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does not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determine (Z)</a:t>
            </a:r>
            <a:endParaRPr b="1"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0" name="Google Shape;1190;p98"/>
          <p:cNvSpPr/>
          <p:nvPr/>
        </p:nvSpPr>
        <p:spPr>
          <a:xfrm>
            <a:off x="8001000" y="3095108"/>
            <a:ext cx="2286000" cy="22098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191" name="Google Shape;1191;p98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1192" name="Google Shape;1192;p98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1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3" name="Google Shape;1193;p98"/>
            <p:cNvSpPr txBox="1"/>
            <p:nvPr/>
          </p:nvSpPr>
          <p:spPr>
            <a:xfrm>
              <a:off x="188780" y="-22510"/>
              <a:ext cx="2875403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140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Design Theory II  &gt;  Section 2  &gt;  BCNF</a:t>
              </a:r>
              <a:endParaRPr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8" name="Shape 1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9" name="Google Shape;1199;p9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BCNF Decomposition Algorithm</a:t>
            </a:r>
            <a:endParaRPr/>
          </a:p>
        </p:txBody>
      </p:sp>
      <p:sp>
        <p:nvSpPr>
          <p:cNvPr id="1200" name="Google Shape;1200;p9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1" name="Google Shape;1201;p99"/>
          <p:cNvSpPr/>
          <p:nvPr/>
        </p:nvSpPr>
        <p:spPr>
          <a:xfrm>
            <a:off x="838199" y="1837531"/>
            <a:ext cx="6850627" cy="4401205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BCNFDecomp(R):</a:t>
            </a:r>
            <a:br>
              <a:rPr lang="en-US" sz="28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8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   Find a </a:t>
            </a:r>
            <a:r>
              <a:rPr i="1" lang="en-US" sz="28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set of attributes </a:t>
            </a:r>
            <a:r>
              <a:rPr lang="en-US" sz="28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X s.t.: X</a:t>
            </a:r>
            <a:r>
              <a:rPr baseline="30000" lang="en-US" sz="28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r>
              <a:rPr lang="en-US" sz="28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 ≠ X and X</a:t>
            </a:r>
            <a:r>
              <a:rPr baseline="30000" lang="en-US" sz="28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lang="en-US" sz="28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≠ [all attributes]</a:t>
            </a:r>
            <a:br>
              <a:rPr lang="en-US" sz="28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800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   </a:t>
            </a:r>
            <a:r>
              <a:rPr b="1" lang="en-US" sz="2800" u="sng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if</a:t>
            </a:r>
            <a:r>
              <a:rPr lang="en-US" sz="28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 (not found) </a:t>
            </a:r>
            <a:r>
              <a:rPr b="1" lang="en-US" sz="2800" u="sng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then</a:t>
            </a:r>
            <a:r>
              <a:rPr lang="en-US" sz="28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n-US" sz="28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Return</a:t>
            </a:r>
            <a:r>
              <a:rPr lang="en-US" sz="28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 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</a:t>
            </a:r>
            <a:r>
              <a:rPr b="1" lang="en-US" sz="2800" u="sng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let</a:t>
            </a:r>
            <a:r>
              <a:rPr lang="en-US" sz="28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 Y = X</a:t>
            </a:r>
            <a:r>
              <a:rPr baseline="30000" lang="en-US" sz="28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r>
              <a:rPr lang="en-US" sz="28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 - X,  Z = (X</a:t>
            </a:r>
            <a:r>
              <a:rPr baseline="30000" lang="en-US" sz="28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r>
              <a:rPr lang="en-US" sz="28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r>
              <a:rPr baseline="30000" lang="en-US" sz="28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lang="en-US" sz="28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b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  </a:t>
            </a:r>
            <a:r>
              <a:rPr b="1" lang="en-US" sz="28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decompose</a:t>
            </a:r>
            <a:r>
              <a:rPr lang="en-US" sz="28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n-US" sz="28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r>
              <a:rPr lang="en-US" sz="28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 into </a:t>
            </a:r>
            <a:r>
              <a:rPr b="1" lang="en-US" sz="28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r>
              <a:rPr b="1" baseline="-25000" lang="en-US" sz="28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1" lang="en-US" sz="28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(X ∪ Y) </a:t>
            </a:r>
            <a:r>
              <a:rPr lang="en-US" sz="28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and </a:t>
            </a:r>
            <a:r>
              <a:rPr b="1" lang="en-US" sz="28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r>
              <a:rPr b="1" baseline="-25000" lang="en-US" sz="28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1" lang="en-US" sz="28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(X ∪ Z)</a:t>
            </a:r>
            <a:b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  </a:t>
            </a:r>
            <a:endParaRPr sz="2800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   </a:t>
            </a: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Return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BCNFDecomp(R</a:t>
            </a:r>
            <a:r>
              <a:rPr baseline="-25000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), BCNFDecomp(R</a:t>
            </a:r>
            <a:r>
              <a:rPr baseline="-25000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/>
          </a:p>
        </p:txBody>
      </p:sp>
      <p:sp>
        <p:nvSpPr>
          <p:cNvPr id="1202" name="Google Shape;1202;p99"/>
          <p:cNvSpPr txBox="1"/>
          <p:nvPr/>
        </p:nvSpPr>
        <p:spPr>
          <a:xfrm>
            <a:off x="8084574" y="5116357"/>
            <a:ext cx="3795252" cy="830997"/>
          </a:xfrm>
          <a:prstGeom prst="rect">
            <a:avLst/>
          </a:prstGeom>
          <a:solidFill>
            <a:srgbClr val="FFF2CC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Proceed recursively until no more “bad” FDs!</a:t>
            </a:r>
            <a:endParaRPr b="1"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203" name="Google Shape;1203;p99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1204" name="Google Shape;1204;p99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1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5" name="Google Shape;1205;p99"/>
            <p:cNvSpPr txBox="1"/>
            <p:nvPr/>
          </p:nvSpPr>
          <p:spPr>
            <a:xfrm>
              <a:off x="188780" y="-22510"/>
              <a:ext cx="2875403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140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Design Theory II  &gt;  Section 2  &gt;  BCNF</a:t>
              </a:r>
              <a:endParaRPr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9" name="Shape 1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0" name="Google Shape;1210;p100"/>
          <p:cNvSpPr txBox="1"/>
          <p:nvPr/>
        </p:nvSpPr>
        <p:spPr>
          <a:xfrm>
            <a:off x="7422444" y="2003453"/>
            <a:ext cx="2862098" cy="52322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R(A,B,C,D,E)</a:t>
            </a:r>
            <a:endParaRPr sz="2800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1" name="Google Shape;1211;p100"/>
          <p:cNvSpPr/>
          <p:nvPr/>
        </p:nvSpPr>
        <p:spPr>
          <a:xfrm>
            <a:off x="838200" y="2003453"/>
            <a:ext cx="5837904" cy="3785652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BCNFDecomp(R):</a:t>
            </a:r>
            <a:b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Find a </a:t>
            </a: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set of attributes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 s.t.: X</a:t>
            </a:r>
            <a:r>
              <a:rPr baseline="30000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≠ X and X</a:t>
            </a:r>
            <a:r>
              <a:rPr baseline="30000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≠ [all attributes]</a:t>
            </a:r>
            <a:b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</a:t>
            </a:r>
            <a:r>
              <a:rPr b="1" lang="en-US" sz="24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(not found) </a:t>
            </a:r>
            <a:r>
              <a:rPr b="1" lang="en-US" sz="24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then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Return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</a:t>
            </a:r>
            <a:r>
              <a:rPr b="1" lang="en-US" sz="24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let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Y = X</a:t>
            </a:r>
            <a:r>
              <a:rPr baseline="30000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- X,  Z = (X</a:t>
            </a:r>
            <a:r>
              <a:rPr baseline="30000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r>
              <a:rPr baseline="30000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b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</a:t>
            </a: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decompose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into </a:t>
            </a: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r>
              <a:rPr b="1" baseline="-25000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(X ∪ Y)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and </a:t>
            </a: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r>
              <a:rPr b="1" baseline="-25000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(X ∪ Z)</a:t>
            </a:r>
            <a:b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</a:t>
            </a: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Return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BCNFDecomp(R</a:t>
            </a:r>
            <a:r>
              <a:rPr baseline="-25000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), BCNFDecomp(R</a:t>
            </a:r>
            <a:r>
              <a:rPr baseline="-25000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/>
          </a:p>
        </p:txBody>
      </p:sp>
      <p:sp>
        <p:nvSpPr>
          <p:cNvPr id="1212" name="Google Shape;1212;p100"/>
          <p:cNvSpPr txBox="1"/>
          <p:nvPr/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</a:t>
            </a:r>
            <a:endParaRPr/>
          </a:p>
        </p:txBody>
      </p:sp>
      <p:sp>
        <p:nvSpPr>
          <p:cNvPr id="1213" name="Google Shape;1213;p100"/>
          <p:cNvSpPr/>
          <p:nvPr/>
        </p:nvSpPr>
        <p:spPr>
          <a:xfrm>
            <a:off x="7422444" y="3115667"/>
            <a:ext cx="2862098" cy="954107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{A} 🡪 {B,C}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{C} 🡪 {D}</a:t>
            </a:r>
            <a:endParaRPr/>
          </a:p>
        </p:txBody>
      </p:sp>
      <p:grpSp>
        <p:nvGrpSpPr>
          <p:cNvPr id="1214" name="Google Shape;1214;p100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1215" name="Google Shape;1215;p100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1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6" name="Google Shape;1216;p100"/>
            <p:cNvSpPr txBox="1"/>
            <p:nvPr/>
          </p:nvSpPr>
          <p:spPr>
            <a:xfrm>
              <a:off x="188780" y="-22510"/>
              <a:ext cx="2875403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140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Design Theory II  &gt;  Section 2  &gt;  BCNF</a:t>
              </a:r>
              <a:endParaRPr/>
            </a:p>
          </p:txBody>
        </p:sp>
      </p:grp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1" name="Shape 1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2" name="Google Shape;1222;p10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Example</a:t>
            </a:r>
            <a:endParaRPr/>
          </a:p>
        </p:txBody>
      </p:sp>
      <p:sp>
        <p:nvSpPr>
          <p:cNvPr id="1223" name="Google Shape;1223;p10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4" name="Google Shape;1224;p101"/>
          <p:cNvSpPr/>
          <p:nvPr/>
        </p:nvSpPr>
        <p:spPr>
          <a:xfrm>
            <a:off x="2161526" y="1811870"/>
            <a:ext cx="6146732" cy="1220474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R(A,B,C,D,E)</a:t>
            </a:r>
            <a:b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{A}</a:t>
            </a:r>
            <a:r>
              <a:rPr baseline="30000"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r>
              <a:rPr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 = {A,B,C,D} ≠ {A,B,C,D,E}</a:t>
            </a:r>
            <a:endParaRPr/>
          </a:p>
        </p:txBody>
      </p:sp>
      <p:sp>
        <p:nvSpPr>
          <p:cNvPr id="1225" name="Google Shape;1225;p101"/>
          <p:cNvSpPr/>
          <p:nvPr/>
        </p:nvSpPr>
        <p:spPr>
          <a:xfrm>
            <a:off x="523769" y="3659138"/>
            <a:ext cx="4945734" cy="1341656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r>
              <a:rPr baseline="-25000" lang="en-US" sz="28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n-US" sz="28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(A,B,C,D)</a:t>
            </a:r>
            <a:b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{C}</a:t>
            </a:r>
            <a:r>
              <a:rPr baseline="30000"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r>
              <a:rPr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 = {C,D} ≠ {A,B,C,D}</a:t>
            </a:r>
            <a:endParaRPr/>
          </a:p>
        </p:txBody>
      </p:sp>
      <p:sp>
        <p:nvSpPr>
          <p:cNvPr id="1226" name="Google Shape;1226;p101"/>
          <p:cNvSpPr/>
          <p:nvPr/>
        </p:nvSpPr>
        <p:spPr>
          <a:xfrm>
            <a:off x="8456735" y="5607049"/>
            <a:ext cx="1681037" cy="735747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r>
              <a:rPr baseline="-25000" lang="en-US" sz="28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US" sz="28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(A,E)</a:t>
            </a:r>
            <a:endParaRPr/>
          </a:p>
        </p:txBody>
      </p:sp>
      <p:cxnSp>
        <p:nvCxnSpPr>
          <p:cNvPr id="1227" name="Google Shape;1227;p101"/>
          <p:cNvCxnSpPr>
            <a:stCxn id="1224" idx="4"/>
            <a:endCxn id="1225" idx="0"/>
          </p:cNvCxnSpPr>
          <p:nvPr/>
        </p:nvCxnSpPr>
        <p:spPr>
          <a:xfrm flipH="1">
            <a:off x="2996592" y="3032344"/>
            <a:ext cx="2238300" cy="626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28" name="Google Shape;1228;p101"/>
          <p:cNvCxnSpPr>
            <a:stCxn id="1224" idx="4"/>
            <a:endCxn id="1226" idx="0"/>
          </p:cNvCxnSpPr>
          <p:nvPr/>
        </p:nvCxnSpPr>
        <p:spPr>
          <a:xfrm>
            <a:off x="5234892" y="3032344"/>
            <a:ext cx="4062300" cy="2574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29" name="Google Shape;1229;p101"/>
          <p:cNvSpPr/>
          <p:nvPr/>
        </p:nvSpPr>
        <p:spPr>
          <a:xfrm>
            <a:off x="539808" y="5607049"/>
            <a:ext cx="1765703" cy="735747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r>
              <a:rPr baseline="-25000" lang="en-US" sz="18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r>
              <a:rPr lang="en-US" sz="28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(C,D)</a:t>
            </a:r>
            <a:endParaRPr/>
          </a:p>
        </p:txBody>
      </p:sp>
      <p:sp>
        <p:nvSpPr>
          <p:cNvPr id="1230" name="Google Shape;1230;p101"/>
          <p:cNvSpPr/>
          <p:nvPr/>
        </p:nvSpPr>
        <p:spPr>
          <a:xfrm>
            <a:off x="3793625" y="5606683"/>
            <a:ext cx="2147822" cy="735747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r>
              <a:rPr baseline="-25000" lang="en-US" sz="18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r>
              <a:rPr lang="en-US" sz="28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(A,B,C)</a:t>
            </a:r>
            <a:endParaRPr/>
          </a:p>
        </p:txBody>
      </p:sp>
      <p:cxnSp>
        <p:nvCxnSpPr>
          <p:cNvPr id="1231" name="Google Shape;1231;p101"/>
          <p:cNvCxnSpPr>
            <a:stCxn id="1225" idx="4"/>
            <a:endCxn id="1229" idx="0"/>
          </p:cNvCxnSpPr>
          <p:nvPr/>
        </p:nvCxnSpPr>
        <p:spPr>
          <a:xfrm flipH="1">
            <a:off x="1422536" y="5000794"/>
            <a:ext cx="1574100" cy="606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32" name="Google Shape;1232;p101"/>
          <p:cNvCxnSpPr>
            <a:stCxn id="1225" idx="4"/>
            <a:endCxn id="1230" idx="0"/>
          </p:cNvCxnSpPr>
          <p:nvPr/>
        </p:nvCxnSpPr>
        <p:spPr>
          <a:xfrm>
            <a:off x="2996636" y="5000794"/>
            <a:ext cx="1870800" cy="606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33" name="Google Shape;1233;p101"/>
          <p:cNvSpPr txBox="1"/>
          <p:nvPr/>
        </p:nvSpPr>
        <p:spPr>
          <a:xfrm>
            <a:off x="8798960" y="716586"/>
            <a:ext cx="2862098" cy="52322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R(A,B,C,D,E)</a:t>
            </a:r>
            <a:endParaRPr sz="2800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4" name="Google Shape;1234;p101"/>
          <p:cNvSpPr/>
          <p:nvPr/>
        </p:nvSpPr>
        <p:spPr>
          <a:xfrm>
            <a:off x="8798960" y="1523981"/>
            <a:ext cx="2862098" cy="954107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{A} 🡪 {B,C}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{C} 🡪 {D}</a:t>
            </a:r>
            <a:endParaRPr/>
          </a:p>
        </p:txBody>
      </p:sp>
      <p:grpSp>
        <p:nvGrpSpPr>
          <p:cNvPr id="1235" name="Google Shape;1235;p101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1236" name="Google Shape;1236;p101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1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7" name="Google Shape;1237;p101"/>
            <p:cNvSpPr txBox="1"/>
            <p:nvPr/>
          </p:nvSpPr>
          <p:spPr>
            <a:xfrm>
              <a:off x="188780" y="-22510"/>
              <a:ext cx="2875403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140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Design Theory II  &gt;  Section 2  &gt;  BCNF</a:t>
              </a:r>
              <a:endParaRPr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1" name="Shape 1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2" name="Google Shape;1242;p10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Summary</a:t>
            </a:r>
            <a:endParaRPr/>
          </a:p>
        </p:txBody>
      </p:sp>
      <p:sp>
        <p:nvSpPr>
          <p:cNvPr id="1243" name="Google Shape;1243;p10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Constraints allow one to reason about </a:t>
            </a:r>
            <a:r>
              <a:rPr b="1" lang="en-US"/>
              <a:t>redundancy</a:t>
            </a:r>
            <a:r>
              <a:rPr lang="en-US"/>
              <a:t> in the data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Normal forms describe how to </a:t>
            </a:r>
            <a:r>
              <a:rPr b="1" lang="en-US"/>
              <a:t>remove</a:t>
            </a:r>
            <a:r>
              <a:rPr lang="en-US"/>
              <a:t> this redundancy by </a:t>
            </a:r>
            <a:r>
              <a:rPr b="1" lang="en-US"/>
              <a:t>decomposing </a:t>
            </a:r>
            <a:r>
              <a:rPr lang="en-US"/>
              <a:t>relations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Elegant—by representing data appropriately certain errors are essentially impossible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For FDs, BCNF is the normal form.</a:t>
            </a:r>
            <a:endParaRPr/>
          </a:p>
          <a:p>
            <a:pPr indent="-762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A tradeoff for insert performance: 3NF</a:t>
            </a:r>
            <a:endParaRPr/>
          </a:p>
        </p:txBody>
      </p:sp>
      <p:grpSp>
        <p:nvGrpSpPr>
          <p:cNvPr id="1244" name="Google Shape;1244;p102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1245" name="Google Shape;1245;p102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1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6" name="Google Shape;1246;p102"/>
            <p:cNvSpPr txBox="1"/>
            <p:nvPr/>
          </p:nvSpPr>
          <p:spPr>
            <a:xfrm>
              <a:off x="188780" y="-22510"/>
              <a:ext cx="1041952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140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  SUMMARY</a:t>
              </a: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