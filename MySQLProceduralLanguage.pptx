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Lst>
  <p:sldSz cy="6858000" cx="12192000"/>
  <p:notesSz cx="6858000" cy="9144000"/>
  <p:embeddedFontLst>
    <p:embeddedFont>
      <p:font typeface="Century Gothic"/>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font" Target="fonts/CenturyGothic-bold.fntdata"/><Relationship Id="rId63" Type="http://schemas.openxmlformats.org/officeDocument/2006/relationships/font" Target="fonts/CenturyGothic-regular.fntdata"/><Relationship Id="rId22" Type="http://schemas.openxmlformats.org/officeDocument/2006/relationships/slide" Target="slides/slide18.xml"/><Relationship Id="rId66" Type="http://schemas.openxmlformats.org/officeDocument/2006/relationships/font" Target="fonts/CenturyGothic-boldItalic.fntdata"/><Relationship Id="rId21" Type="http://schemas.openxmlformats.org/officeDocument/2006/relationships/slide" Target="slides/slide17.xml"/><Relationship Id="rId65" Type="http://schemas.openxmlformats.org/officeDocument/2006/relationships/font" Target="fonts/CenturyGothic-italic.fnt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4:notes"/>
          <p:cNvSpPr/>
          <p:nvPr>
            <p:ph idx="2" type="sldImg"/>
          </p:nvPr>
        </p:nvSpPr>
        <p:spPr>
          <a:xfrm>
            <a:off x="-1524000" y="960438"/>
            <a:ext cx="8534400" cy="48006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85" name="Google Shape;385;p34:notes"/>
          <p:cNvSpPr txBox="1"/>
          <p:nvPr>
            <p:ph idx="1" type="body"/>
          </p:nvPr>
        </p:nvSpPr>
        <p:spPr>
          <a:xfrm>
            <a:off x="731838" y="6080125"/>
            <a:ext cx="4022725" cy="265113"/>
          </a:xfrm>
          <a:prstGeom prst="rect">
            <a:avLst/>
          </a:prstGeom>
          <a:noFill/>
          <a:ln>
            <a:noFill/>
          </a:ln>
        </p:spPr>
        <p:txBody>
          <a:bodyPr anchorCtr="0" anchor="t" bIns="46800" lIns="90000" spcFirstLastPara="1" rIns="90000" wrap="square" tIns="46800">
            <a:noAutofit/>
          </a:bodyPr>
          <a:lstStyle/>
          <a:p>
            <a:pPr indent="0" lvl="0" marL="0" rtl="0" algn="l">
              <a:lnSpc>
                <a:spcPct val="95000"/>
              </a:lnSpc>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5:notes"/>
          <p:cNvSpPr/>
          <p:nvPr>
            <p:ph idx="2" type="sldImg"/>
          </p:nvPr>
        </p:nvSpPr>
        <p:spPr>
          <a:xfrm>
            <a:off x="-1524000" y="960438"/>
            <a:ext cx="8534400" cy="48006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91" name="Google Shape;391;p35:notes"/>
          <p:cNvSpPr txBox="1"/>
          <p:nvPr>
            <p:ph idx="1" type="body"/>
          </p:nvPr>
        </p:nvSpPr>
        <p:spPr>
          <a:xfrm>
            <a:off x="731838" y="6080125"/>
            <a:ext cx="4022725" cy="265113"/>
          </a:xfrm>
          <a:prstGeom prst="rect">
            <a:avLst/>
          </a:prstGeom>
          <a:noFill/>
          <a:ln>
            <a:noFill/>
          </a:ln>
        </p:spPr>
        <p:txBody>
          <a:bodyPr anchorCtr="0" anchor="t" bIns="46800" lIns="90000" spcFirstLastPara="1" rIns="90000" wrap="square" tIns="46800">
            <a:noAutofit/>
          </a:bodyPr>
          <a:lstStyle/>
          <a:p>
            <a:pPr indent="0" lvl="0" marL="0" rtl="0" algn="l">
              <a:lnSpc>
                <a:spcPct val="95000"/>
              </a:lnSpc>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36: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9: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40: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41: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42: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43: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44:notes"/>
          <p:cNvSpPr txBox="1"/>
          <p:nvPr>
            <p:ph idx="1" type="body"/>
          </p:nvPr>
        </p:nvSpPr>
        <p:spPr>
          <a:xfrm>
            <a:off x="974725" y="4560888"/>
            <a:ext cx="5365750"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2"/>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5" name="Google Shape;45;p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81000" lvl="0" marL="457200" algn="l">
              <a:spcBef>
                <a:spcPts val="1000"/>
              </a:spcBef>
              <a:spcAft>
                <a:spcPts val="0"/>
              </a:spcAft>
              <a:buSzPts val="2400"/>
              <a:buChar char="🠶"/>
              <a:defRPr sz="2400"/>
            </a:lvl1pPr>
            <a:lvl2pPr indent="-368300" lvl="1" marL="914400" algn="l">
              <a:spcBef>
                <a:spcPts val="1000"/>
              </a:spcBef>
              <a:spcAft>
                <a:spcPts val="0"/>
              </a:spcAft>
              <a:buSzPts val="2200"/>
              <a:buChar char="🠶"/>
              <a:defRPr sz="2200"/>
            </a:lvl2pPr>
            <a:lvl3pPr indent="-355600" lvl="2" marL="1371600" algn="l">
              <a:spcBef>
                <a:spcPts val="1000"/>
              </a:spcBef>
              <a:spcAft>
                <a:spcPts val="0"/>
              </a:spcAft>
              <a:buSzPts val="2000"/>
              <a:buChar char="🠶"/>
              <a:defRPr sz="2000"/>
            </a:lvl3pPr>
            <a:lvl4pPr indent="-342900" lvl="3" marL="1828800" algn="l">
              <a:spcBef>
                <a:spcPts val="1000"/>
              </a:spcBef>
              <a:spcAft>
                <a:spcPts val="0"/>
              </a:spcAft>
              <a:buSzPts val="1800"/>
              <a:buChar char="🠶"/>
              <a:defRPr sz="1800"/>
            </a:lvl4pPr>
            <a:lvl5pPr indent="-330200" lvl="4" marL="2286000" algn="l">
              <a:spcBef>
                <a:spcPts val="1000"/>
              </a:spcBef>
              <a:spcAft>
                <a:spcPts val="0"/>
              </a:spcAft>
              <a:buSzPts val="1600"/>
              <a:buChar char="🠶"/>
              <a:defRPr sz="1600"/>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52" name="Google Shape;52;p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59" name="Google Shape;59;p4"/>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0" name="Google Shape;60;p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6"/>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72" name="Google Shape;72;p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6" name="Shape 76"/>
        <p:cNvGrpSpPr/>
        <p:nvPr/>
      </p:nvGrpSpPr>
      <p:grpSpPr>
        <a:xfrm>
          <a:off x="0" y="0"/>
          <a:ext cx="0" cy="0"/>
          <a:chOff x="0" y="0"/>
          <a:chExt cx="0" cy="0"/>
        </a:xfrm>
      </p:grpSpPr>
      <p:sp>
        <p:nvSpPr>
          <p:cNvPr id="77" name="Google Shape;77;p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7"/>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9" name="Google Shape;79;p7"/>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0" name="Google Shape;80;p7"/>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81" name="Google Shape;81;p7"/>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2" name="Google Shape;82;p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8"/>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2" name="Shape 92"/>
        <p:cNvGrpSpPr/>
        <p:nvPr/>
      </p:nvGrpSpPr>
      <p:grpSpPr>
        <a:xfrm>
          <a:off x="0" y="0"/>
          <a:ext cx="0" cy="0"/>
          <a:chOff x="0" y="0"/>
          <a:chExt cx="0" cy="0"/>
        </a:xfrm>
      </p:grpSpPr>
      <p:sp>
        <p:nvSpPr>
          <p:cNvPr id="93" name="Google Shape;93;p9"/>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9"/>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5" name="Google Shape;95;p9"/>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6" name="Google Shape;96;p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0" name="Shape 100"/>
        <p:cNvGrpSpPr/>
        <p:nvPr/>
      </p:nvGrpSpPr>
      <p:grpSpPr>
        <a:xfrm>
          <a:off x="0" y="0"/>
          <a:ext cx="0" cy="0"/>
          <a:chOff x="0" y="0"/>
          <a:chExt cx="0" cy="0"/>
        </a:xfrm>
      </p:grpSpPr>
      <p:sp>
        <p:nvSpPr>
          <p:cNvPr id="101" name="Google Shape;101;p10"/>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
          <p:cNvSpPr/>
          <p:nvPr>
            <p:ph idx="2" type="pic"/>
          </p:nvPr>
        </p:nvSpPr>
        <p:spPr>
          <a:xfrm>
            <a:off x="2589212" y="634965"/>
            <a:ext cx="8915400" cy="3854970"/>
          </a:xfrm>
          <a:prstGeom prst="rect">
            <a:avLst/>
          </a:prstGeom>
          <a:noFill/>
          <a:ln>
            <a:noFill/>
          </a:ln>
        </p:spPr>
      </p:sp>
      <p:sp>
        <p:nvSpPr>
          <p:cNvPr id="103" name="Google Shape;103;p10"/>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4" name="Google Shape;104;p1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0"/>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8" name="Shape 108"/>
        <p:cNvGrpSpPr/>
        <p:nvPr/>
      </p:nvGrpSpPr>
      <p:grpSpPr>
        <a:xfrm>
          <a:off x="0" y="0"/>
          <a:ext cx="0" cy="0"/>
          <a:chOff x="0" y="0"/>
          <a:chExt cx="0" cy="0"/>
        </a:xfrm>
      </p:grpSpPr>
      <p:sp>
        <p:nvSpPr>
          <p:cNvPr id="109" name="Google Shape;109;p11"/>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1"/>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1" name="Google Shape;111;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5" name="Shape 115"/>
        <p:cNvGrpSpPr/>
        <p:nvPr/>
      </p:nvGrpSpPr>
      <p:grpSpPr>
        <a:xfrm>
          <a:off x="0" y="0"/>
          <a:ext cx="0" cy="0"/>
          <a:chOff x="0" y="0"/>
          <a:chExt cx="0" cy="0"/>
        </a:xfrm>
      </p:grpSpPr>
      <p:sp>
        <p:nvSpPr>
          <p:cNvPr id="116" name="Google Shape;116;p1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2"/>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8" name="Google Shape;118;p12"/>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9" name="Google Shape;119;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3" name="Google Shape;123;p1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24" name="Google Shape;124;p1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5" name="Shape 125"/>
        <p:cNvGrpSpPr/>
        <p:nvPr/>
      </p:nvGrpSpPr>
      <p:grpSpPr>
        <a:xfrm>
          <a:off x="0" y="0"/>
          <a:ext cx="0" cy="0"/>
          <a:chOff x="0" y="0"/>
          <a:chExt cx="0" cy="0"/>
        </a:xfrm>
      </p:grpSpPr>
      <p:sp>
        <p:nvSpPr>
          <p:cNvPr id="126" name="Google Shape;126;p13"/>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8" name="Google Shape;128;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32" name="Shape 132"/>
        <p:cNvGrpSpPr/>
        <p:nvPr/>
      </p:nvGrpSpPr>
      <p:grpSpPr>
        <a:xfrm>
          <a:off x="0" y="0"/>
          <a:ext cx="0" cy="0"/>
          <a:chOff x="0" y="0"/>
          <a:chExt cx="0" cy="0"/>
        </a:xfrm>
      </p:grpSpPr>
      <p:sp>
        <p:nvSpPr>
          <p:cNvPr id="133" name="Google Shape;133;p14"/>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5" name="Google Shape;135;p14"/>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6" name="Google Shape;136;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0" name="Google Shape;140;p14"/>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41" name="Google Shape;141;p14"/>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42" name="Shape 142"/>
        <p:cNvGrpSpPr/>
        <p:nvPr/>
      </p:nvGrpSpPr>
      <p:grpSpPr>
        <a:xfrm>
          <a:off x="0" y="0"/>
          <a:ext cx="0" cy="0"/>
          <a:chOff x="0" y="0"/>
          <a:chExt cx="0" cy="0"/>
        </a:xfrm>
      </p:grpSpPr>
      <p:sp>
        <p:nvSpPr>
          <p:cNvPr id="143" name="Google Shape;143;p15"/>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5" name="Google Shape;145;p15"/>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6" name="Google Shape;146;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5"/>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0" name="Shape 150"/>
        <p:cNvGrpSpPr/>
        <p:nvPr/>
      </p:nvGrpSpPr>
      <p:grpSpPr>
        <a:xfrm>
          <a:off x="0" y="0"/>
          <a:ext cx="0" cy="0"/>
          <a:chOff x="0" y="0"/>
          <a:chExt cx="0" cy="0"/>
        </a:xfrm>
      </p:grpSpPr>
      <p:sp>
        <p:nvSpPr>
          <p:cNvPr id="151" name="Google Shape;151;p1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16"/>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3" name="Google Shape;153;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1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7" name="Shape 157"/>
        <p:cNvGrpSpPr/>
        <p:nvPr/>
      </p:nvGrpSpPr>
      <p:grpSpPr>
        <a:xfrm>
          <a:off x="0" y="0"/>
          <a:ext cx="0" cy="0"/>
          <a:chOff x="0" y="0"/>
          <a:chExt cx="0" cy="0"/>
        </a:xfrm>
      </p:grpSpPr>
      <p:sp>
        <p:nvSpPr>
          <p:cNvPr id="158" name="Google Shape;158;p17"/>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60" name="Google Shape;160;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4DCE3"/>
            </a:gs>
          </a:gsLst>
          <a:lin ang="5400000" scaled="0"/>
        </a:gradFill>
      </p:bgPr>
    </p:bg>
    <p:spTree>
      <p:nvGrpSpPr>
        <p:cNvPr id="9" name="Shape 9"/>
        <p:cNvGrpSpPr/>
        <p:nvPr/>
      </p:nvGrpSpPr>
      <p:grpSpPr>
        <a:xfrm>
          <a:off x="0" y="0"/>
          <a:ext cx="0" cy="0"/>
          <a:chOff x="0" y="0"/>
          <a:chExt cx="0" cy="0"/>
        </a:xfrm>
      </p:grpSpPr>
      <p:grpSp>
        <p:nvGrpSpPr>
          <p:cNvPr id="10" name="Google Shape;10;p1"/>
          <p:cNvGrpSpPr/>
          <p:nvPr/>
        </p:nvGrpSpPr>
        <p:grpSpPr>
          <a:xfrm>
            <a:off x="1" y="228600"/>
            <a:ext cx="2851516" cy="6638628"/>
            <a:chOff x="2487613" y="285750"/>
            <a:chExt cx="2428875" cy="5654676"/>
          </a:xfrm>
        </p:grpSpPr>
        <p:sp>
          <p:nvSpPr>
            <p:cNvPr id="11" name="Google Shape;11;p1"/>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1"/>
          <p:cNvGrpSpPr/>
          <p:nvPr/>
        </p:nvGrpSpPr>
        <p:grpSpPr>
          <a:xfrm>
            <a:off x="27221" y="157"/>
            <a:ext cx="2356674" cy="6853096"/>
            <a:chOff x="6627813" y="195610"/>
            <a:chExt cx="1952625" cy="5678141"/>
          </a:xfrm>
        </p:grpSpPr>
        <p:sp>
          <p:nvSpPr>
            <p:cNvPr id="24" name="Google Shape;24;p1"/>
            <p:cNvSpPr/>
            <p:nvPr/>
          </p:nvSpPr>
          <p:spPr>
            <a:xfrm>
              <a:off x="6627813" y="195610"/>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1"/>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168DBA"/>
              </a:buClr>
              <a:buSzPts val="3600"/>
              <a:buFont typeface="Century Gothic"/>
              <a:buNone/>
              <a:defRPr b="0" i="0" sz="3600" u="none" cap="none" strike="noStrike">
                <a:solidFill>
                  <a:srgbClr val="168DBA"/>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8" name="Google Shape;38;p1"/>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9" name="Google Shape;39;p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0" name="Google Shape;40;p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1" name="Google Shape;41;p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dev.mysql.com/doc/" TargetMode="External"/><Relationship Id="rId4" Type="http://schemas.openxmlformats.org/officeDocument/2006/relationships/hyperlink" Target="https://dev.mysql.com/doc/refman/8.0/en/sql-compound-statement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mysqltutorial.org/mysql-stored-procedure-tutorial.aspx"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dev.mysql.com/doc/refman/8.0/en/create-trigger.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6.png"/><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hyperlink" Target="https://dev.mysql.com/doc/workbench/en/wb-reverse-engineer-live.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hyperlink" Target="http://www.cse.msu.edu/~pramanik/teaching/courses/cse480/14s/lectures/12/lecture13.pp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168DBA"/>
              </a:buClr>
              <a:buSzPts val="5400"/>
              <a:buFont typeface="Century Gothic"/>
              <a:buNone/>
            </a:pPr>
            <a:r>
              <a:rPr lang="en-US"/>
              <a:t>MySQL Programming</a:t>
            </a:r>
            <a:endParaRPr/>
          </a:p>
        </p:txBody>
      </p:sp>
      <p:sp>
        <p:nvSpPr>
          <p:cNvPr id="169" name="Google Shape;169;p18"/>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US"/>
              <a:t>Mimi Opkins &amp; David Brown</a:t>
            </a:r>
            <a:endParaRPr/>
          </a:p>
          <a:p>
            <a:pPr indent="0" lvl="0" marL="0" rtl="0" algn="l">
              <a:spcBef>
                <a:spcPts val="1000"/>
              </a:spcBef>
              <a:spcAft>
                <a:spcPts val="0"/>
              </a:spcAft>
              <a:buSzPts val="1800"/>
              <a:buNone/>
            </a:pPr>
            <a:r>
              <a:rPr lang="en-US"/>
              <a:t>CECS 323</a:t>
            </a:r>
            <a:endParaRPr/>
          </a:p>
          <a:p>
            <a:pPr indent="0" lvl="0" marL="0" rtl="0" algn="l">
              <a:spcBef>
                <a:spcPts val="1000"/>
              </a:spcBef>
              <a:spcAft>
                <a:spcPts val="0"/>
              </a:spcAft>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idx="1" type="body"/>
          </p:nvPr>
        </p:nvSpPr>
        <p:spPr>
          <a:xfrm>
            <a:off x="1596980" y="1904999"/>
            <a:ext cx="9907632" cy="468898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100000"/>
              <a:buChar char="🠶"/>
            </a:pPr>
            <a:r>
              <a:rPr lang="en-US"/>
              <a:t>There are several different ways to protect a database from corruption:</a:t>
            </a:r>
            <a:endParaRPr/>
          </a:p>
          <a:p>
            <a:pPr indent="-285750" lvl="1" marL="742950" rtl="0" algn="l">
              <a:spcBef>
                <a:spcPts val="1000"/>
              </a:spcBef>
              <a:spcAft>
                <a:spcPts val="0"/>
              </a:spcAft>
              <a:buSzPct val="100000"/>
              <a:buChar char="🠶"/>
            </a:pPr>
            <a:r>
              <a:rPr lang="en-US"/>
              <a:t>Datatypes for the individual columns</a:t>
            </a:r>
            <a:endParaRPr/>
          </a:p>
          <a:p>
            <a:pPr indent="-285750" lvl="1" marL="742950" rtl="0" algn="l">
              <a:spcBef>
                <a:spcPts val="1000"/>
              </a:spcBef>
              <a:spcAft>
                <a:spcPts val="0"/>
              </a:spcAft>
              <a:buSzPct val="100000"/>
              <a:buChar char="🠶"/>
            </a:pPr>
            <a:r>
              <a:rPr lang="en-US"/>
              <a:t>Primary key and other uniqueness constraints</a:t>
            </a:r>
            <a:endParaRPr/>
          </a:p>
          <a:p>
            <a:pPr indent="-285750" lvl="1" marL="742950" rtl="0" algn="l">
              <a:spcBef>
                <a:spcPts val="1000"/>
              </a:spcBef>
              <a:spcAft>
                <a:spcPts val="0"/>
              </a:spcAft>
              <a:buSzPct val="100000"/>
              <a:buChar char="🠶"/>
            </a:pPr>
            <a:r>
              <a:rPr lang="en-US"/>
              <a:t>Referential integrity constraints:</a:t>
            </a:r>
            <a:endParaRPr/>
          </a:p>
          <a:p>
            <a:pPr indent="-228600" lvl="2" marL="1143000" rtl="0" algn="l">
              <a:spcBef>
                <a:spcPts val="1000"/>
              </a:spcBef>
              <a:spcAft>
                <a:spcPts val="0"/>
              </a:spcAft>
              <a:buSzPct val="100000"/>
              <a:buChar char="🠶"/>
            </a:pPr>
            <a:r>
              <a:rPr lang="en-US"/>
              <a:t>Implement relationships between tables</a:t>
            </a:r>
            <a:endParaRPr/>
          </a:p>
          <a:p>
            <a:pPr indent="-228600" lvl="2" marL="1143000" rtl="0" algn="l">
              <a:spcBef>
                <a:spcPts val="1000"/>
              </a:spcBef>
              <a:spcAft>
                <a:spcPts val="0"/>
              </a:spcAft>
              <a:buSzPct val="100000"/>
              <a:buChar char="🠶"/>
            </a:pPr>
            <a:r>
              <a:rPr lang="en-US"/>
              <a:t>Ensure that enumerated values are valid</a:t>
            </a:r>
            <a:endParaRPr/>
          </a:p>
          <a:p>
            <a:pPr indent="-228600" lvl="2" marL="1143000" rtl="0" algn="l">
              <a:spcBef>
                <a:spcPts val="1000"/>
              </a:spcBef>
              <a:spcAft>
                <a:spcPts val="0"/>
              </a:spcAft>
              <a:buSzPct val="100000"/>
              <a:buChar char="🠶"/>
            </a:pPr>
            <a:r>
              <a:rPr lang="en-US"/>
              <a:t>Implementing reference data</a:t>
            </a:r>
            <a:endParaRPr/>
          </a:p>
          <a:p>
            <a:pPr indent="-285750" lvl="1" marL="742950" rtl="0" algn="l">
              <a:spcBef>
                <a:spcPts val="1000"/>
              </a:spcBef>
              <a:spcAft>
                <a:spcPts val="0"/>
              </a:spcAft>
              <a:buSzPct val="100000"/>
              <a:buChar char="🠶"/>
            </a:pPr>
            <a:r>
              <a:rPr lang="en-US"/>
              <a:t>Database code that implements complex (non declarative) constraints</a:t>
            </a:r>
            <a:endParaRPr/>
          </a:p>
          <a:p>
            <a:pPr indent="-342900" lvl="0" marL="342900" rtl="0" algn="l">
              <a:spcBef>
                <a:spcPts val="1000"/>
              </a:spcBef>
              <a:spcAft>
                <a:spcPts val="0"/>
              </a:spcAft>
              <a:buSzPct val="100000"/>
              <a:buChar char="🠶"/>
            </a:pPr>
            <a:r>
              <a:rPr lang="en-US"/>
              <a:t>One major benefit to doing all of this in the database is that there is no way to “back door” the database.</a:t>
            </a:r>
            <a:endParaRPr/>
          </a:p>
          <a:p>
            <a:pPr indent="-342900" lvl="0" marL="342900" rtl="0" algn="l">
              <a:spcBef>
                <a:spcPts val="1000"/>
              </a:spcBef>
              <a:spcAft>
                <a:spcPts val="0"/>
              </a:spcAft>
              <a:buSzPct val="100000"/>
              <a:buChar char="🠶"/>
            </a:pPr>
            <a:r>
              <a:rPr lang="en-US"/>
              <a:t>The other benefit is that the stored procedure/function/trigger runs on the server, which saves on network traffic.</a:t>
            </a:r>
            <a:endParaRPr/>
          </a:p>
        </p:txBody>
      </p:sp>
      <p:sp>
        <p:nvSpPr>
          <p:cNvPr id="175" name="Google Shape;175;p1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General 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idx="1" type="body"/>
          </p:nvPr>
        </p:nvSpPr>
        <p:spPr>
          <a:xfrm>
            <a:off x="1107583" y="1545465"/>
            <a:ext cx="10397029" cy="436575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Alternatively, you could require that all access to a given database (using that term loosely) has to be brokered by an application.</a:t>
            </a:r>
            <a:endParaRPr/>
          </a:p>
          <a:p>
            <a:pPr indent="-342900" lvl="0" marL="342900" rtl="0" algn="l">
              <a:spcBef>
                <a:spcPts val="1000"/>
              </a:spcBef>
              <a:spcAft>
                <a:spcPts val="0"/>
              </a:spcAft>
              <a:buSzPts val="2400"/>
              <a:buChar char="🠶"/>
            </a:pPr>
            <a:r>
              <a:rPr lang="en-US"/>
              <a:t>It’s not uncommon to have an application start off “owning” the data, then that data becomes of interest to other applications.</a:t>
            </a:r>
            <a:endParaRPr/>
          </a:p>
          <a:p>
            <a:pPr indent="-342900" lvl="0" marL="342900" rtl="0" algn="l">
              <a:spcBef>
                <a:spcPts val="1000"/>
              </a:spcBef>
              <a:spcAft>
                <a:spcPts val="0"/>
              </a:spcAft>
              <a:buSzPts val="2400"/>
              <a:buChar char="🠶"/>
            </a:pPr>
            <a:r>
              <a:rPr lang="en-US"/>
              <a:t>That means that outside applications coming in through an interface somehow need to use that application so that the business rules are only implemented once.</a:t>
            </a:r>
            <a:endParaRPr/>
          </a:p>
          <a:p>
            <a:pPr indent="-342900" lvl="0" marL="342900" rtl="0" algn="l">
              <a:spcBef>
                <a:spcPts val="1000"/>
              </a:spcBef>
              <a:spcAft>
                <a:spcPts val="0"/>
              </a:spcAft>
              <a:buSzPts val="2400"/>
              <a:buChar char="🠶"/>
            </a:pPr>
            <a:r>
              <a:rPr lang="en-US"/>
              <a:t>Or, the business rules need to be published and agreed to by all users of the data to prevent corruption.</a:t>
            </a:r>
            <a:endParaRPr/>
          </a:p>
        </p:txBody>
      </p:sp>
      <p:sp>
        <p:nvSpPr>
          <p:cNvPr id="181" name="Google Shape;181;p2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Other Approaches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idx="1" type="body"/>
          </p:nvPr>
        </p:nvSpPr>
        <p:spPr>
          <a:xfrm>
            <a:off x="1880315" y="1751527"/>
            <a:ext cx="9624297" cy="4623515"/>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100000"/>
              <a:buChar char="🠶"/>
            </a:pPr>
            <a:r>
              <a:rPr lang="en-US"/>
              <a:t>Stored Procedures</a:t>
            </a:r>
            <a:endParaRPr/>
          </a:p>
          <a:p>
            <a:pPr indent="-285750" lvl="1" marL="742950" rtl="0" algn="l">
              <a:spcBef>
                <a:spcPts val="1000"/>
              </a:spcBef>
              <a:spcAft>
                <a:spcPts val="0"/>
              </a:spcAft>
              <a:buSzPct val="100000"/>
              <a:buChar char="🠶"/>
            </a:pPr>
            <a:r>
              <a:rPr lang="en-US"/>
              <a:t>Blocks of code stored in the database that are pre-compiled.</a:t>
            </a:r>
            <a:endParaRPr/>
          </a:p>
          <a:p>
            <a:pPr indent="-285750" lvl="1" marL="742950" rtl="0" algn="l">
              <a:spcBef>
                <a:spcPts val="1000"/>
              </a:spcBef>
              <a:spcAft>
                <a:spcPts val="0"/>
              </a:spcAft>
              <a:buSzPct val="100000"/>
              <a:buChar char="🠶"/>
            </a:pPr>
            <a:r>
              <a:rPr lang="en-US"/>
              <a:t>They can operate on the tables within the database and return scalars or results sets.</a:t>
            </a:r>
            <a:endParaRPr/>
          </a:p>
          <a:p>
            <a:pPr indent="-342900" lvl="0" marL="342900" rtl="0" algn="l">
              <a:spcBef>
                <a:spcPts val="1000"/>
              </a:spcBef>
              <a:spcAft>
                <a:spcPts val="0"/>
              </a:spcAft>
              <a:buSzPct val="100000"/>
              <a:buChar char="🠶"/>
            </a:pPr>
            <a:r>
              <a:rPr lang="en-US"/>
              <a:t>Functions</a:t>
            </a:r>
            <a:endParaRPr/>
          </a:p>
          <a:p>
            <a:pPr indent="-285750" lvl="1" marL="742950" rtl="0" algn="l">
              <a:spcBef>
                <a:spcPts val="1000"/>
              </a:spcBef>
              <a:spcAft>
                <a:spcPts val="0"/>
              </a:spcAft>
              <a:buSzPct val="100000"/>
              <a:buChar char="🠶"/>
            </a:pPr>
            <a:r>
              <a:rPr lang="en-US"/>
              <a:t>Can be used like a built-in function to provide expanded capability to your SQL statements.</a:t>
            </a:r>
            <a:endParaRPr/>
          </a:p>
          <a:p>
            <a:pPr indent="-285750" lvl="1" marL="742950" rtl="0" algn="l">
              <a:spcBef>
                <a:spcPts val="1000"/>
              </a:spcBef>
              <a:spcAft>
                <a:spcPts val="0"/>
              </a:spcAft>
              <a:buSzPct val="100000"/>
              <a:buChar char="🠶"/>
            </a:pPr>
            <a:r>
              <a:rPr lang="en-US"/>
              <a:t>They can take any number of arguments and return a single value.</a:t>
            </a:r>
            <a:endParaRPr/>
          </a:p>
          <a:p>
            <a:pPr indent="-342900" lvl="0" marL="342900" rtl="0" algn="l">
              <a:spcBef>
                <a:spcPts val="1000"/>
              </a:spcBef>
              <a:spcAft>
                <a:spcPts val="0"/>
              </a:spcAft>
              <a:buSzPct val="100000"/>
              <a:buChar char="🠶"/>
            </a:pPr>
            <a:r>
              <a:rPr lang="en-US"/>
              <a:t>Triggers</a:t>
            </a:r>
            <a:endParaRPr/>
          </a:p>
          <a:p>
            <a:pPr indent="-285750" lvl="1" marL="742950" rtl="0" algn="l">
              <a:spcBef>
                <a:spcPts val="1000"/>
              </a:spcBef>
              <a:spcAft>
                <a:spcPts val="0"/>
              </a:spcAft>
              <a:buSzPct val="100000"/>
              <a:buChar char="🠶"/>
            </a:pPr>
            <a:r>
              <a:rPr lang="en-US"/>
              <a:t>Kick off in response to standard database operations on a specified table.</a:t>
            </a:r>
            <a:endParaRPr/>
          </a:p>
          <a:p>
            <a:pPr indent="-285750" lvl="1" marL="742950" rtl="0" algn="l">
              <a:spcBef>
                <a:spcPts val="1000"/>
              </a:spcBef>
              <a:spcAft>
                <a:spcPts val="0"/>
              </a:spcAft>
              <a:buSzPct val="100000"/>
              <a:buChar char="🠶"/>
            </a:pPr>
            <a:r>
              <a:rPr lang="en-US"/>
              <a:t>Can be used to automatically perform additional database operations when the triggering event occurs.</a:t>
            </a:r>
            <a:endParaRPr/>
          </a:p>
        </p:txBody>
      </p:sp>
      <p:sp>
        <p:nvSpPr>
          <p:cNvPr id="187" name="Google Shape;187;p2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Basic Programming Structures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idx="1" type="body"/>
          </p:nvPr>
        </p:nvSpPr>
        <p:spPr>
          <a:xfrm>
            <a:off x="1687133" y="2082084"/>
            <a:ext cx="10242482" cy="431871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None of this is original, look at it as a digest from: </a:t>
            </a:r>
            <a:r>
              <a:rPr lang="en-US" u="sng">
                <a:solidFill>
                  <a:schemeClr val="hlink"/>
                </a:solidFill>
                <a:hlinkClick r:id="rId3"/>
              </a:rPr>
              <a:t>http://dev.mysql.com/doc/</a:t>
            </a:r>
            <a:r>
              <a:rPr lang="en-US"/>
              <a:t>.</a:t>
            </a:r>
            <a:endParaRPr/>
          </a:p>
          <a:p>
            <a:pPr indent="-342900" lvl="0" marL="342900" rtl="0" algn="l">
              <a:spcBef>
                <a:spcPts val="1000"/>
              </a:spcBef>
              <a:spcAft>
                <a:spcPts val="0"/>
              </a:spcAft>
              <a:buSzPts val="2400"/>
              <a:buChar char="🠶"/>
            </a:pPr>
            <a:r>
              <a:rPr lang="en-US"/>
              <a:t>More specifically, we’ll be talking about material found in: </a:t>
            </a:r>
            <a:r>
              <a:rPr lang="en-US" u="sng">
                <a:solidFill>
                  <a:schemeClr val="hlink"/>
                </a:solidFill>
                <a:hlinkClick r:id="rId4"/>
              </a:rPr>
              <a:t>https://dev.mysql.com/doc/refman/8.0/en/sql-compound-statements.html</a:t>
            </a:r>
            <a:r>
              <a:rPr lang="en-US"/>
              <a:t>.</a:t>
            </a:r>
            <a:endParaRPr/>
          </a:p>
        </p:txBody>
      </p:sp>
      <p:sp>
        <p:nvSpPr>
          <p:cNvPr id="193" name="Google Shape;193;p22"/>
          <p:cNvSpPr txBox="1"/>
          <p:nvPr>
            <p:ph type="title"/>
          </p:nvPr>
        </p:nvSpPr>
        <p:spPr>
          <a:xfrm>
            <a:off x="1944711" y="624110"/>
            <a:ext cx="9559902"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Basic Programming Structures Reference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Stored Procedures in MySQL</a:t>
            </a:r>
            <a:endParaRPr/>
          </a:p>
        </p:txBody>
      </p:sp>
      <p:sp>
        <p:nvSpPr>
          <p:cNvPr id="199" name="Google Shape;199;p23"/>
          <p:cNvSpPr txBox="1"/>
          <p:nvPr>
            <p:ph idx="1" type="body"/>
          </p:nvPr>
        </p:nvSpPr>
        <p:spPr>
          <a:xfrm>
            <a:off x="1764406" y="1429555"/>
            <a:ext cx="9740206" cy="511291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sz="2000"/>
              <a:t>A stored procedure contains a sequence of SQL commands stored in the database catalog so that it can be invoked later by a program</a:t>
            </a:r>
            <a:endParaRPr sz="1600"/>
          </a:p>
          <a:p>
            <a:pPr indent="-342900" lvl="0" marL="342900" rtl="0" algn="l">
              <a:spcBef>
                <a:spcPts val="1000"/>
              </a:spcBef>
              <a:spcAft>
                <a:spcPts val="0"/>
              </a:spcAft>
              <a:buSzPct val="100000"/>
              <a:buChar char="🠶"/>
            </a:pPr>
            <a:r>
              <a:rPr lang="en-US" sz="2000"/>
              <a:t>Stored procedures are declared using the following syntax:</a:t>
            </a:r>
            <a:endParaRPr sz="1600"/>
          </a:p>
          <a:p>
            <a:pPr indent="-285750" lvl="1" marL="742950" rtl="0" algn="l">
              <a:spcBef>
                <a:spcPts val="1000"/>
              </a:spcBef>
              <a:spcAft>
                <a:spcPts val="0"/>
              </a:spcAft>
              <a:buSzPct val="100000"/>
              <a:buNone/>
            </a:pPr>
            <a:r>
              <a:rPr lang="en-US">
                <a:solidFill>
                  <a:srgbClr val="FF0000"/>
                </a:solidFill>
              </a:rPr>
              <a:t>Create Procedure</a:t>
            </a:r>
            <a:r>
              <a:rPr lang="en-US"/>
              <a:t> &lt;proc-name&gt; </a:t>
            </a:r>
            <a:endParaRPr/>
          </a:p>
          <a:p>
            <a:pPr indent="-285750" lvl="1" marL="742950" rtl="0" algn="l">
              <a:spcBef>
                <a:spcPts val="1000"/>
              </a:spcBef>
              <a:spcAft>
                <a:spcPts val="0"/>
              </a:spcAft>
              <a:buSzPct val="100000"/>
              <a:buNone/>
            </a:pPr>
            <a:r>
              <a:rPr lang="en-US"/>
              <a:t>		(param_spec</a:t>
            </a:r>
            <a:r>
              <a:rPr baseline="-25000" lang="en-US"/>
              <a:t>1</a:t>
            </a:r>
            <a:r>
              <a:rPr lang="en-US"/>
              <a:t>, param_spec</a:t>
            </a:r>
            <a:r>
              <a:rPr baseline="-25000" lang="en-US"/>
              <a:t>2</a:t>
            </a:r>
            <a:r>
              <a:rPr lang="en-US"/>
              <a:t>, …, param_spec</a:t>
            </a:r>
            <a:r>
              <a:rPr baseline="-25000" lang="en-US"/>
              <a:t>n</a:t>
            </a:r>
            <a:r>
              <a:rPr lang="en-US"/>
              <a:t> ) </a:t>
            </a:r>
            <a:endParaRPr>
              <a:solidFill>
                <a:srgbClr val="FF0000"/>
              </a:solidFill>
            </a:endParaRPr>
          </a:p>
          <a:p>
            <a:pPr indent="-285750" lvl="1" marL="742950" rtl="0" algn="l">
              <a:spcBef>
                <a:spcPts val="1000"/>
              </a:spcBef>
              <a:spcAft>
                <a:spcPts val="0"/>
              </a:spcAft>
              <a:buSzPct val="100000"/>
              <a:buNone/>
            </a:pPr>
            <a:r>
              <a:rPr lang="en-US">
                <a:solidFill>
                  <a:srgbClr val="FF0000"/>
                </a:solidFill>
              </a:rPr>
              <a:t>begin</a:t>
            </a:r>
            <a:endParaRPr/>
          </a:p>
          <a:p>
            <a:pPr indent="-285750" lvl="1" marL="742950" rtl="0" algn="l">
              <a:spcBef>
                <a:spcPts val="1000"/>
              </a:spcBef>
              <a:spcAft>
                <a:spcPts val="0"/>
              </a:spcAft>
              <a:buSzPct val="100000"/>
              <a:buNone/>
            </a:pPr>
            <a:r>
              <a:rPr lang="en-US"/>
              <a:t>	-- execution code	</a:t>
            </a:r>
            <a:endParaRPr/>
          </a:p>
          <a:p>
            <a:pPr indent="-285750" lvl="1" marL="742950" rtl="0" algn="l">
              <a:spcBef>
                <a:spcPts val="1000"/>
              </a:spcBef>
              <a:spcAft>
                <a:spcPts val="0"/>
              </a:spcAft>
              <a:buSzPct val="100000"/>
              <a:buNone/>
            </a:pPr>
            <a:r>
              <a:rPr lang="en-US">
                <a:solidFill>
                  <a:srgbClr val="FF0000"/>
                </a:solidFill>
              </a:rPr>
              <a:t>end;</a:t>
            </a:r>
            <a:endParaRPr/>
          </a:p>
          <a:p>
            <a:pPr indent="-285750" lvl="1" marL="742950" rtl="0" algn="l">
              <a:spcBef>
                <a:spcPts val="1000"/>
              </a:spcBef>
              <a:spcAft>
                <a:spcPts val="0"/>
              </a:spcAft>
              <a:buSzPct val="100000"/>
              <a:buNone/>
            </a:pPr>
            <a:r>
              <a:rPr lang="en-US"/>
              <a:t>where each param_spec is of the form:</a:t>
            </a:r>
            <a:endParaRPr/>
          </a:p>
          <a:p>
            <a:pPr indent="-285750" lvl="1" marL="742950" rtl="0" algn="l">
              <a:spcBef>
                <a:spcPts val="1000"/>
              </a:spcBef>
              <a:spcAft>
                <a:spcPts val="0"/>
              </a:spcAft>
              <a:buSzPct val="100000"/>
              <a:buNone/>
            </a:pPr>
            <a:r>
              <a:rPr lang="en-US"/>
              <a:t>		 [in | out | inout]  &lt;param_name&gt;  &lt;param_type&gt;</a:t>
            </a:r>
            <a:endParaRPr/>
          </a:p>
          <a:p>
            <a:pPr indent="-285750" lvl="1" marL="742950" rtl="0" algn="l">
              <a:spcBef>
                <a:spcPts val="1000"/>
              </a:spcBef>
              <a:spcAft>
                <a:spcPts val="0"/>
              </a:spcAft>
              <a:buSzPct val="100000"/>
              <a:buChar char="🠶"/>
            </a:pPr>
            <a:r>
              <a:rPr lang="en-US"/>
              <a:t>in mode: allows you to pass values into the procedure,</a:t>
            </a:r>
            <a:endParaRPr/>
          </a:p>
          <a:p>
            <a:pPr indent="-285750" lvl="1" marL="742950" rtl="0" algn="l">
              <a:spcBef>
                <a:spcPts val="1000"/>
              </a:spcBef>
              <a:spcAft>
                <a:spcPts val="0"/>
              </a:spcAft>
              <a:buSzPct val="100000"/>
              <a:buChar char="🠶"/>
            </a:pPr>
            <a:r>
              <a:rPr lang="en-US"/>
              <a:t>out mode: allows you to pass value back from procedure to the calling program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idx="1" type="body"/>
          </p:nvPr>
        </p:nvSpPr>
        <p:spPr>
          <a:xfrm>
            <a:off x="1379113" y="1658200"/>
            <a:ext cx="10515600" cy="4811658"/>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100000"/>
              <a:buChar char="🠶"/>
            </a:pPr>
            <a:r>
              <a:rPr lang="en-US"/>
              <a:t>You can declare variables in stored procedures</a:t>
            </a:r>
            <a:endParaRPr/>
          </a:p>
          <a:p>
            <a:pPr indent="-342900" lvl="0" marL="342900" rtl="0" algn="l">
              <a:spcBef>
                <a:spcPts val="1000"/>
              </a:spcBef>
              <a:spcAft>
                <a:spcPts val="0"/>
              </a:spcAft>
              <a:buSzPct val="100000"/>
              <a:buChar char="🠶"/>
            </a:pPr>
            <a:r>
              <a:rPr lang="en-US"/>
              <a:t>Can have any number of parameters.</a:t>
            </a:r>
            <a:endParaRPr/>
          </a:p>
          <a:p>
            <a:pPr indent="-342900" lvl="0" marL="342900" rtl="0" algn="l">
              <a:spcBef>
                <a:spcPts val="1000"/>
              </a:spcBef>
              <a:spcAft>
                <a:spcPts val="0"/>
              </a:spcAft>
              <a:buSzPct val="100000"/>
              <a:buChar char="🠶"/>
            </a:pPr>
            <a:r>
              <a:rPr lang="en-US"/>
              <a:t>Each parameter has to specify whether it’s in, out, or inout.</a:t>
            </a:r>
            <a:endParaRPr/>
          </a:p>
          <a:p>
            <a:pPr indent="-285750" lvl="1" marL="742950" rtl="0" algn="l">
              <a:spcBef>
                <a:spcPts val="1000"/>
              </a:spcBef>
              <a:spcAft>
                <a:spcPts val="0"/>
              </a:spcAft>
              <a:buSzPct val="100000"/>
              <a:buChar char="🠶"/>
            </a:pPr>
            <a:r>
              <a:rPr lang="en-US"/>
              <a:t>The typical argument list will look like </a:t>
            </a:r>
            <a:endParaRPr/>
          </a:p>
          <a:p>
            <a:pPr indent="0" lvl="1" marL="457200" rtl="0" algn="l">
              <a:spcBef>
                <a:spcPts val="1000"/>
              </a:spcBef>
              <a:spcAft>
                <a:spcPts val="0"/>
              </a:spcAft>
              <a:buSzPct val="100000"/>
              <a:buNone/>
            </a:pPr>
            <a:r>
              <a:rPr lang="en-US"/>
              <a:t>(</a:t>
            </a:r>
            <a:r>
              <a:rPr b="1" lang="en-US"/>
              <a:t>out</a:t>
            </a:r>
            <a:r>
              <a:rPr lang="en-US"/>
              <a:t> ver_param varchar(25), </a:t>
            </a:r>
            <a:r>
              <a:rPr b="1" lang="en-US"/>
              <a:t>inout</a:t>
            </a:r>
            <a:r>
              <a:rPr lang="en-US"/>
              <a:t> incr_param int …)</a:t>
            </a:r>
            <a:endParaRPr/>
          </a:p>
          <a:p>
            <a:pPr indent="-285750" lvl="1" marL="742950" rtl="0" algn="l">
              <a:spcBef>
                <a:spcPts val="1000"/>
              </a:spcBef>
              <a:spcAft>
                <a:spcPts val="0"/>
              </a:spcAft>
              <a:buSzPct val="100000"/>
              <a:buChar char="🠶"/>
            </a:pPr>
            <a:r>
              <a:rPr lang="en-US"/>
              <a:t>Be careful of output parameters for side effects.</a:t>
            </a:r>
            <a:endParaRPr/>
          </a:p>
          <a:p>
            <a:pPr indent="-342900" lvl="0" marL="342900" rtl="0" algn="l">
              <a:spcBef>
                <a:spcPts val="1000"/>
              </a:spcBef>
              <a:spcAft>
                <a:spcPts val="0"/>
              </a:spcAft>
              <a:buSzPct val="100000"/>
              <a:buChar char="🠶"/>
            </a:pPr>
            <a:r>
              <a:rPr lang="en-US"/>
              <a:t>Your varchar declarations for the parameters have to specify the maximum length.</a:t>
            </a:r>
            <a:endParaRPr/>
          </a:p>
          <a:p>
            <a:pPr indent="-342900" lvl="0" marL="342900" rtl="0" algn="l">
              <a:spcBef>
                <a:spcPts val="1000"/>
              </a:spcBef>
              <a:spcAft>
                <a:spcPts val="0"/>
              </a:spcAft>
              <a:buSzPct val="100000"/>
              <a:buChar char="🠶"/>
            </a:pPr>
            <a:r>
              <a:rPr lang="en-US"/>
              <a:t>The individual parameters can have any supported MySQL datatype.</a:t>
            </a:r>
            <a:endParaRPr/>
          </a:p>
          <a:p>
            <a:pPr indent="-342900" lvl="0" marL="342900" rtl="0" algn="l">
              <a:spcBef>
                <a:spcPts val="1000"/>
              </a:spcBef>
              <a:spcAft>
                <a:spcPts val="0"/>
              </a:spcAft>
              <a:buSzPct val="100000"/>
              <a:buChar char="🠶"/>
            </a:pPr>
            <a:r>
              <a:rPr lang="en-US"/>
              <a:t>They can be called using the call command, followed by the procedure name, and the arguments.</a:t>
            </a:r>
            <a:endParaRPr/>
          </a:p>
          <a:p>
            <a:pPr indent="-342900" lvl="0" marL="342900" rtl="0" algn="l">
              <a:spcBef>
                <a:spcPts val="1000"/>
              </a:spcBef>
              <a:spcAft>
                <a:spcPts val="0"/>
              </a:spcAft>
              <a:buSzPct val="100000"/>
              <a:buChar char="🠶"/>
            </a:pPr>
            <a:r>
              <a:rPr lang="en-US"/>
              <a:t>You can use flow control statements (conditional IF-THEN-ELSE or loops such as WHILE and REPEAT)</a:t>
            </a:r>
            <a:endParaRPr/>
          </a:p>
          <a:p>
            <a:pPr indent="-201930" lvl="0" marL="342900" rtl="0" algn="l">
              <a:spcBef>
                <a:spcPts val="1000"/>
              </a:spcBef>
              <a:spcAft>
                <a:spcPts val="0"/>
              </a:spcAft>
              <a:buSzPct val="100000"/>
              <a:buNone/>
            </a:pPr>
            <a:r>
              <a:t/>
            </a:r>
            <a:endParaRPr/>
          </a:p>
        </p:txBody>
      </p:sp>
      <p:sp>
        <p:nvSpPr>
          <p:cNvPr id="205" name="Google Shape;205;p2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More about Stored Procedures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idx="1" type="body"/>
          </p:nvPr>
        </p:nvSpPr>
        <p:spPr>
          <a:xfrm>
            <a:off x="1893753" y="19050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A condition is somewhat like an exception.</a:t>
            </a:r>
            <a:endParaRPr/>
          </a:p>
          <a:p>
            <a:pPr indent="-285750" lvl="1" marL="742950" rtl="0" algn="l">
              <a:spcBef>
                <a:spcPts val="1000"/>
              </a:spcBef>
              <a:spcAft>
                <a:spcPts val="0"/>
              </a:spcAft>
              <a:buSzPts val="2200"/>
              <a:buChar char="🠶"/>
            </a:pPr>
            <a:r>
              <a:rPr lang="en-US"/>
              <a:t>You can declare your own conditions, but we’re not going to get into that for the purposes of this course.</a:t>
            </a:r>
            <a:endParaRPr/>
          </a:p>
          <a:p>
            <a:pPr indent="-342900" lvl="0" marL="342900" rtl="0" algn="l">
              <a:spcBef>
                <a:spcPts val="1000"/>
              </a:spcBef>
              <a:spcAft>
                <a:spcPts val="0"/>
              </a:spcAft>
              <a:buSzPts val="2400"/>
              <a:buChar char="🠶"/>
            </a:pPr>
            <a:r>
              <a:rPr lang="en-US"/>
              <a:t>A handler is somewhat like the catch block in a try/catch construct.</a:t>
            </a:r>
            <a:endParaRPr/>
          </a:p>
          <a:p>
            <a:pPr indent="-285750" lvl="1" marL="742950" rtl="0" algn="l">
              <a:spcBef>
                <a:spcPts val="1000"/>
              </a:spcBef>
              <a:spcAft>
                <a:spcPts val="0"/>
              </a:spcAft>
              <a:buSzPts val="2200"/>
              <a:buChar char="🠶"/>
            </a:pPr>
            <a:r>
              <a:rPr lang="en-US"/>
              <a:t>The “canned” conditions that MySQL has will prove to be enough for our purposes.</a:t>
            </a:r>
            <a:endParaRPr/>
          </a:p>
          <a:p>
            <a:pPr indent="-285750" lvl="1" marL="742950" rtl="0" algn="l">
              <a:spcBef>
                <a:spcPts val="1000"/>
              </a:spcBef>
              <a:spcAft>
                <a:spcPts val="0"/>
              </a:spcAft>
              <a:buSzPts val="2200"/>
              <a:buChar char="🠶"/>
            </a:pPr>
            <a:r>
              <a:rPr lang="en-US"/>
              <a:t>We should be able to get by with just a few conditions, we’ll see as we go along.</a:t>
            </a:r>
            <a:endParaRPr/>
          </a:p>
          <a:p>
            <a:pPr indent="-190500" lvl="0" marL="342900" rtl="0" algn="l">
              <a:spcBef>
                <a:spcPts val="1000"/>
              </a:spcBef>
              <a:spcAft>
                <a:spcPts val="0"/>
              </a:spcAft>
              <a:buSzPts val="2400"/>
              <a:buNone/>
            </a:pPr>
            <a:r>
              <a:t/>
            </a:r>
            <a:endParaRPr/>
          </a:p>
        </p:txBody>
      </p:sp>
      <p:sp>
        <p:nvSpPr>
          <p:cNvPr id="211" name="Google Shape;211;p2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Conditions and Handlers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idx="1" type="body"/>
          </p:nvPr>
        </p:nvSpPr>
        <p:spPr>
          <a:xfrm>
            <a:off x="1507901" y="1264555"/>
            <a:ext cx="10515600" cy="520262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400"/>
              <a:buChar char="🠶"/>
            </a:pPr>
            <a:r>
              <a:rPr lang="en-US"/>
              <a:t>Note that &lt;condition&gt; is a generic Boolean expression, not a condition in the MySQL sense of the word.</a:t>
            </a:r>
            <a:endParaRPr/>
          </a:p>
          <a:p>
            <a:pPr indent="0" lvl="0" marL="0" rtl="0" algn="l">
              <a:spcBef>
                <a:spcPts val="1000"/>
              </a:spcBef>
              <a:spcAft>
                <a:spcPts val="0"/>
              </a:spcAft>
              <a:buSzPts val="2400"/>
              <a:buNone/>
            </a:pPr>
            <a:r>
              <a:rPr lang="en-US"/>
              <a:t>IF &lt;condition&gt; then</a:t>
            </a:r>
            <a:endParaRPr/>
          </a:p>
          <a:p>
            <a:pPr indent="0" lvl="1" marL="457200" rtl="0" algn="l">
              <a:spcBef>
                <a:spcPts val="1000"/>
              </a:spcBef>
              <a:spcAft>
                <a:spcPts val="0"/>
              </a:spcAft>
              <a:buSzPts val="2200"/>
              <a:buNone/>
            </a:pPr>
            <a:r>
              <a:rPr lang="en-US"/>
              <a:t>&lt;statements&gt;</a:t>
            </a:r>
            <a:endParaRPr/>
          </a:p>
          <a:p>
            <a:pPr indent="0" lvl="0" marL="0" rtl="0" algn="l">
              <a:spcBef>
                <a:spcPts val="1000"/>
              </a:spcBef>
              <a:spcAft>
                <a:spcPts val="0"/>
              </a:spcAft>
              <a:buSzPts val="2400"/>
              <a:buNone/>
            </a:pPr>
            <a:r>
              <a:rPr lang="en-US"/>
              <a:t>ELSEIF &lt;condition&gt; then</a:t>
            </a:r>
            <a:endParaRPr/>
          </a:p>
          <a:p>
            <a:pPr indent="0" lvl="1" marL="457200" rtl="0" algn="l">
              <a:spcBef>
                <a:spcPts val="1000"/>
              </a:spcBef>
              <a:spcAft>
                <a:spcPts val="0"/>
              </a:spcAft>
              <a:buSzPts val="2200"/>
              <a:buNone/>
            </a:pPr>
            <a:r>
              <a:rPr lang="en-US"/>
              <a:t>&lt;statements&gt;</a:t>
            </a:r>
            <a:endParaRPr/>
          </a:p>
          <a:p>
            <a:pPr indent="0" lvl="0" marL="0" rtl="0" algn="l">
              <a:spcBef>
                <a:spcPts val="1000"/>
              </a:spcBef>
              <a:spcAft>
                <a:spcPts val="0"/>
              </a:spcAft>
              <a:buSzPts val="2400"/>
              <a:buNone/>
            </a:pPr>
            <a:r>
              <a:rPr lang="en-US"/>
              <a:t>ELSE</a:t>
            </a:r>
            <a:endParaRPr/>
          </a:p>
          <a:p>
            <a:pPr indent="0" lvl="1" marL="457200" rtl="0" algn="l">
              <a:spcBef>
                <a:spcPts val="1000"/>
              </a:spcBef>
              <a:spcAft>
                <a:spcPts val="0"/>
              </a:spcAft>
              <a:buSzPts val="2200"/>
              <a:buNone/>
            </a:pPr>
            <a:r>
              <a:rPr lang="en-US"/>
              <a:t>&lt;statements&gt;</a:t>
            </a:r>
            <a:endParaRPr/>
          </a:p>
          <a:p>
            <a:pPr indent="0" lvl="0" marL="0" rtl="0" algn="l">
              <a:spcBef>
                <a:spcPts val="1000"/>
              </a:spcBef>
              <a:spcAft>
                <a:spcPts val="0"/>
              </a:spcAft>
              <a:buSzPts val="2400"/>
              <a:buNone/>
            </a:pPr>
            <a:r>
              <a:rPr lang="en-US"/>
              <a:t>END IF</a:t>
            </a:r>
            <a:endParaRPr/>
          </a:p>
          <a:p>
            <a:pPr indent="-342900" lvl="0" marL="342900" rtl="0" algn="l">
              <a:spcBef>
                <a:spcPts val="1000"/>
              </a:spcBef>
              <a:spcAft>
                <a:spcPts val="0"/>
              </a:spcAft>
              <a:buSzPts val="2400"/>
              <a:buChar char="🠶"/>
            </a:pPr>
            <a:r>
              <a:rPr lang="en-US"/>
              <a:t>Note the annoying syntax: END IF has an embedded blank, ELSEIF does not.</a:t>
            </a:r>
            <a:endParaRPr/>
          </a:p>
          <a:p>
            <a:pPr indent="-342900" lvl="0" marL="342900" rtl="0" algn="l">
              <a:spcBef>
                <a:spcPts val="1000"/>
              </a:spcBef>
              <a:spcAft>
                <a:spcPts val="0"/>
              </a:spcAft>
              <a:buSzPts val="2400"/>
              <a:buChar char="🠶"/>
            </a:pPr>
            <a:r>
              <a:rPr lang="en-US"/>
              <a:t>There can be any number of ELSIF clauses in your IF statement.</a:t>
            </a:r>
            <a:endParaRPr/>
          </a:p>
        </p:txBody>
      </p:sp>
      <p:sp>
        <p:nvSpPr>
          <p:cNvPr id="217" name="Google Shape;217;p26"/>
          <p:cNvSpPr txBox="1"/>
          <p:nvPr>
            <p:ph type="title"/>
          </p:nvPr>
        </p:nvSpPr>
        <p:spPr>
          <a:xfrm>
            <a:off x="1897466"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IF</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100000"/>
              <a:buChar char="🠶"/>
            </a:pPr>
            <a:r>
              <a:rPr lang="en-US"/>
              <a:t>Two different syntaxes:</a:t>
            </a:r>
            <a:endParaRPr/>
          </a:p>
          <a:p>
            <a:pPr indent="0" lvl="0" marL="0" rtl="0" algn="l">
              <a:spcBef>
                <a:spcPts val="1000"/>
              </a:spcBef>
              <a:spcAft>
                <a:spcPts val="0"/>
              </a:spcAft>
              <a:buSzPct val="100000"/>
              <a:buNone/>
            </a:pPr>
            <a:r>
              <a:rPr lang="en-US"/>
              <a:t>CASE &lt;expression&gt;</a:t>
            </a:r>
            <a:endParaRPr/>
          </a:p>
          <a:p>
            <a:pPr indent="0" lvl="1" marL="457200" rtl="0" algn="l">
              <a:spcBef>
                <a:spcPts val="1000"/>
              </a:spcBef>
              <a:spcAft>
                <a:spcPts val="0"/>
              </a:spcAft>
              <a:buSzPct val="100000"/>
              <a:buNone/>
            </a:pPr>
            <a:r>
              <a:rPr lang="en-US"/>
              <a:t>WHEN &lt;value&gt; then</a:t>
            </a:r>
            <a:endParaRPr/>
          </a:p>
          <a:p>
            <a:pPr indent="0" lvl="2" marL="914400" rtl="0" algn="l">
              <a:spcBef>
                <a:spcPts val="1000"/>
              </a:spcBef>
              <a:spcAft>
                <a:spcPts val="0"/>
              </a:spcAft>
              <a:buSzPct val="100000"/>
              <a:buNone/>
            </a:pPr>
            <a:r>
              <a:rPr lang="en-US"/>
              <a:t>&lt;statements&gt;</a:t>
            </a:r>
            <a:endParaRPr/>
          </a:p>
          <a:p>
            <a:pPr indent="0" lvl="1" marL="457200" rtl="0" algn="l">
              <a:spcBef>
                <a:spcPts val="1000"/>
              </a:spcBef>
              <a:spcAft>
                <a:spcPts val="0"/>
              </a:spcAft>
              <a:buSzPct val="100000"/>
              <a:buNone/>
            </a:pPr>
            <a:r>
              <a:rPr lang="en-US"/>
              <a:t>WHEN &lt;value&gt; then</a:t>
            </a:r>
            <a:endParaRPr/>
          </a:p>
          <a:p>
            <a:pPr indent="0" lvl="2" marL="914400" rtl="0" algn="l">
              <a:spcBef>
                <a:spcPts val="1000"/>
              </a:spcBef>
              <a:spcAft>
                <a:spcPts val="0"/>
              </a:spcAft>
              <a:buSzPct val="100000"/>
              <a:buNone/>
            </a:pPr>
            <a:r>
              <a:rPr lang="en-US"/>
              <a:t>&lt;statements&gt;</a:t>
            </a:r>
            <a:endParaRPr/>
          </a:p>
          <a:p>
            <a:pPr indent="0" lvl="1" marL="457200" rtl="0" algn="l">
              <a:spcBef>
                <a:spcPts val="1000"/>
              </a:spcBef>
              <a:spcAft>
                <a:spcPts val="0"/>
              </a:spcAft>
              <a:buSzPct val="100000"/>
              <a:buNone/>
            </a:pPr>
            <a:r>
              <a:rPr lang="en-US"/>
              <a:t>…</a:t>
            </a:r>
            <a:endParaRPr/>
          </a:p>
          <a:p>
            <a:pPr indent="0" lvl="1" marL="457200" rtl="0" algn="l">
              <a:spcBef>
                <a:spcPts val="1000"/>
              </a:spcBef>
              <a:spcAft>
                <a:spcPts val="0"/>
              </a:spcAft>
              <a:buSzPct val="100000"/>
              <a:buNone/>
            </a:pPr>
            <a:r>
              <a:rPr lang="en-US"/>
              <a:t>ELSE</a:t>
            </a:r>
            <a:endParaRPr/>
          </a:p>
          <a:p>
            <a:pPr indent="0" lvl="2" marL="914400" rtl="0" algn="l">
              <a:spcBef>
                <a:spcPts val="1000"/>
              </a:spcBef>
              <a:spcAft>
                <a:spcPts val="0"/>
              </a:spcAft>
              <a:buSzPct val="100000"/>
              <a:buNone/>
            </a:pPr>
            <a:r>
              <a:rPr lang="en-US"/>
              <a:t>&lt;statements&gt;</a:t>
            </a:r>
            <a:endParaRPr/>
          </a:p>
          <a:p>
            <a:pPr indent="0" lvl="0" marL="0" rtl="0" algn="l">
              <a:spcBef>
                <a:spcPts val="1000"/>
              </a:spcBef>
              <a:spcAft>
                <a:spcPts val="0"/>
              </a:spcAft>
              <a:buSzPct val="100000"/>
              <a:buNone/>
            </a:pPr>
            <a:r>
              <a:rPr lang="en-US"/>
              <a:t>END CASE;</a:t>
            </a:r>
            <a:endParaRPr/>
          </a:p>
        </p:txBody>
      </p:sp>
      <p:sp>
        <p:nvSpPr>
          <p:cNvPr id="223" name="Google Shape;223;p2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Case Statement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8"/>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100000"/>
              <a:buNone/>
            </a:pPr>
            <a:r>
              <a:rPr lang="en-US"/>
              <a:t>CASE</a:t>
            </a:r>
            <a:endParaRPr/>
          </a:p>
          <a:p>
            <a:pPr indent="0" lvl="1" marL="457200" rtl="0" algn="l">
              <a:spcBef>
                <a:spcPts val="1000"/>
              </a:spcBef>
              <a:spcAft>
                <a:spcPts val="0"/>
              </a:spcAft>
              <a:buSzPct val="100000"/>
              <a:buNone/>
            </a:pPr>
            <a:r>
              <a:rPr lang="en-US"/>
              <a:t>WHEN &lt;condition&gt; then</a:t>
            </a:r>
            <a:endParaRPr/>
          </a:p>
          <a:p>
            <a:pPr indent="0" lvl="2" marL="914400" rtl="0" algn="l">
              <a:spcBef>
                <a:spcPts val="1000"/>
              </a:spcBef>
              <a:spcAft>
                <a:spcPts val="0"/>
              </a:spcAft>
              <a:buSzPct val="100000"/>
              <a:buNone/>
            </a:pPr>
            <a:r>
              <a:rPr lang="en-US"/>
              <a:t>&lt;statements&gt;</a:t>
            </a:r>
            <a:endParaRPr/>
          </a:p>
          <a:p>
            <a:pPr indent="0" lvl="1" marL="457200" rtl="0" algn="l">
              <a:spcBef>
                <a:spcPts val="1000"/>
              </a:spcBef>
              <a:spcAft>
                <a:spcPts val="0"/>
              </a:spcAft>
              <a:buSzPct val="100000"/>
              <a:buNone/>
            </a:pPr>
            <a:r>
              <a:rPr lang="en-US"/>
              <a:t>WHEN &lt;condition&gt; then</a:t>
            </a:r>
            <a:endParaRPr/>
          </a:p>
          <a:p>
            <a:pPr indent="0" lvl="2" marL="914400" rtl="0" algn="l">
              <a:spcBef>
                <a:spcPts val="1000"/>
              </a:spcBef>
              <a:spcAft>
                <a:spcPts val="0"/>
              </a:spcAft>
              <a:buSzPct val="100000"/>
              <a:buNone/>
            </a:pPr>
            <a:r>
              <a:rPr lang="en-US"/>
              <a:t>&lt;statements&gt;</a:t>
            </a:r>
            <a:endParaRPr/>
          </a:p>
          <a:p>
            <a:pPr indent="0" lvl="1" marL="457200" rtl="0" algn="l">
              <a:spcBef>
                <a:spcPts val="1000"/>
              </a:spcBef>
              <a:spcAft>
                <a:spcPts val="0"/>
              </a:spcAft>
              <a:buSzPct val="100000"/>
              <a:buNone/>
            </a:pPr>
            <a:r>
              <a:rPr lang="en-US"/>
              <a:t>…</a:t>
            </a:r>
            <a:endParaRPr/>
          </a:p>
          <a:p>
            <a:pPr indent="0" lvl="1" marL="457200" rtl="0" algn="l">
              <a:spcBef>
                <a:spcPts val="1000"/>
              </a:spcBef>
              <a:spcAft>
                <a:spcPts val="0"/>
              </a:spcAft>
              <a:buSzPct val="100000"/>
              <a:buNone/>
            </a:pPr>
            <a:r>
              <a:rPr lang="en-US"/>
              <a:t>ELSE</a:t>
            </a:r>
            <a:endParaRPr/>
          </a:p>
          <a:p>
            <a:pPr indent="0" lvl="2" marL="914400" rtl="0" algn="l">
              <a:spcBef>
                <a:spcPts val="1000"/>
              </a:spcBef>
              <a:spcAft>
                <a:spcPts val="0"/>
              </a:spcAft>
              <a:buSzPct val="100000"/>
              <a:buNone/>
            </a:pPr>
            <a:r>
              <a:rPr lang="en-US"/>
              <a:t>&lt;statements&gt;</a:t>
            </a:r>
            <a:endParaRPr/>
          </a:p>
          <a:p>
            <a:pPr indent="0" lvl="0" marL="0" rtl="0" algn="l">
              <a:spcBef>
                <a:spcPts val="1000"/>
              </a:spcBef>
              <a:spcAft>
                <a:spcPts val="0"/>
              </a:spcAft>
              <a:buSzPct val="100000"/>
              <a:buNone/>
            </a:pPr>
            <a:r>
              <a:rPr lang="en-US"/>
              <a:t>END CASE;</a:t>
            </a:r>
            <a:endParaRPr/>
          </a:p>
        </p:txBody>
      </p:sp>
      <p:sp>
        <p:nvSpPr>
          <p:cNvPr id="229" name="Google Shape;229;p2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CASE Statement (Continued)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9"/>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[begin_label:] LOOP</a:t>
            </a:r>
            <a:endParaRPr/>
          </a:p>
          <a:p>
            <a:pPr indent="-285750" lvl="1" marL="742950" rtl="0" algn="l">
              <a:spcBef>
                <a:spcPts val="1000"/>
              </a:spcBef>
              <a:spcAft>
                <a:spcPts val="0"/>
              </a:spcAft>
              <a:buSzPct val="100000"/>
              <a:buChar char="🠶"/>
            </a:pPr>
            <a:r>
              <a:rPr lang="en-US"/>
              <a:t>&lt;statement list&gt;</a:t>
            </a:r>
            <a:endParaRPr/>
          </a:p>
          <a:p>
            <a:pPr indent="-342900" lvl="0" marL="342900" rtl="0" algn="l">
              <a:spcBef>
                <a:spcPts val="1000"/>
              </a:spcBef>
              <a:spcAft>
                <a:spcPts val="0"/>
              </a:spcAft>
              <a:buSzPct val="100000"/>
              <a:buChar char="🠶"/>
            </a:pPr>
            <a:r>
              <a:rPr lang="en-US"/>
              <a:t>END LOOP [end_label]</a:t>
            </a:r>
            <a:endParaRPr/>
          </a:p>
          <a:p>
            <a:pPr indent="-342900" lvl="0" marL="342900" rtl="0" algn="l">
              <a:spcBef>
                <a:spcPts val="1000"/>
              </a:spcBef>
              <a:spcAft>
                <a:spcPts val="0"/>
              </a:spcAft>
              <a:buSzPct val="100000"/>
              <a:buChar char="🠶"/>
            </a:pPr>
            <a:r>
              <a:rPr lang="en-US"/>
              <a:t>Note that the end_label has to = the begin_label</a:t>
            </a:r>
            <a:endParaRPr/>
          </a:p>
          <a:p>
            <a:pPr indent="-342900" lvl="0" marL="342900" rtl="0" algn="l">
              <a:spcBef>
                <a:spcPts val="1000"/>
              </a:spcBef>
              <a:spcAft>
                <a:spcPts val="0"/>
              </a:spcAft>
              <a:buSzPct val="100000"/>
              <a:buChar char="🠶"/>
            </a:pPr>
            <a:r>
              <a:rPr lang="en-US"/>
              <a:t>Both are optional</a:t>
            </a:r>
            <a:endParaRPr/>
          </a:p>
          <a:p>
            <a:pPr indent="-342900" lvl="0" marL="342900" rtl="0" algn="l">
              <a:spcBef>
                <a:spcPts val="1000"/>
              </a:spcBef>
              <a:spcAft>
                <a:spcPts val="0"/>
              </a:spcAft>
              <a:buSzPct val="100000"/>
              <a:buChar char="🠶"/>
            </a:pPr>
            <a:r>
              <a:rPr lang="en-US"/>
              <a:t>[begin_label:] REPEAT</a:t>
            </a:r>
            <a:endParaRPr/>
          </a:p>
          <a:p>
            <a:pPr indent="-285750" lvl="1" marL="742950" rtl="0" algn="l">
              <a:spcBef>
                <a:spcPts val="1000"/>
              </a:spcBef>
              <a:spcAft>
                <a:spcPts val="0"/>
              </a:spcAft>
              <a:buSzPct val="100000"/>
              <a:buChar char="🠶"/>
            </a:pPr>
            <a:r>
              <a:rPr lang="en-US"/>
              <a:t>&lt;statement list&gt;</a:t>
            </a:r>
            <a:endParaRPr/>
          </a:p>
          <a:p>
            <a:pPr indent="-342900" lvl="0" marL="342900" rtl="0" algn="l">
              <a:spcBef>
                <a:spcPts val="1000"/>
              </a:spcBef>
              <a:spcAft>
                <a:spcPts val="0"/>
              </a:spcAft>
              <a:buSzPct val="100000"/>
              <a:buChar char="🠶"/>
            </a:pPr>
            <a:r>
              <a:rPr lang="en-US"/>
              <a:t>UNTIL &lt;search_condition&gt;</a:t>
            </a:r>
            <a:endParaRPr/>
          </a:p>
          <a:p>
            <a:pPr indent="-342900" lvl="0" marL="342900" rtl="0" algn="l">
              <a:spcBef>
                <a:spcPts val="1000"/>
              </a:spcBef>
              <a:spcAft>
                <a:spcPts val="0"/>
              </a:spcAft>
              <a:buSzPct val="100000"/>
              <a:buChar char="🠶"/>
            </a:pPr>
            <a:r>
              <a:rPr lang="en-US"/>
              <a:t>END REPEAT [end_label]</a:t>
            </a:r>
            <a:endParaRPr/>
          </a:p>
        </p:txBody>
      </p:sp>
      <p:sp>
        <p:nvSpPr>
          <p:cNvPr id="235" name="Google Shape;235;p2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Looping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Repeat Until Example</a:t>
            </a:r>
            <a:endParaRPr/>
          </a:p>
        </p:txBody>
      </p:sp>
      <p:sp>
        <p:nvSpPr>
          <p:cNvPr id="241" name="Google Shape;241;p30"/>
          <p:cNvSpPr/>
          <p:nvPr/>
        </p:nvSpPr>
        <p:spPr>
          <a:xfrm>
            <a:off x="1920026" y="1493329"/>
            <a:ext cx="9031014" cy="489364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chemeClr val="dk1"/>
                </a:solidFill>
                <a:latin typeface="Century Gothic"/>
                <a:ea typeface="Century Gothic"/>
                <a:cs typeface="Century Gothic"/>
                <a:sym typeface="Century Gothic"/>
              </a:rPr>
              <a:t>DELIMITER //</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CREATE FUNCTION CalcIncome ( starting_value INT )</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RETURNS INT</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BEGIN</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DECLARE income INT;</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SET income = 0;</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label1: REPEAT</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SET income = income + starting_value;</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UNTIL income &gt;= 4000 </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END REPEAT label1;</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	RETURN income;</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END; //</a:t>
            </a:r>
            <a:endParaRPr/>
          </a:p>
          <a:p>
            <a:pPr indent="0" lvl="0" marL="0" marR="0" rtl="0" algn="l">
              <a:spcBef>
                <a:spcPts val="0"/>
              </a:spcBef>
              <a:spcAft>
                <a:spcPts val="0"/>
              </a:spcAft>
              <a:buNone/>
            </a:pPr>
            <a:r>
              <a:rPr lang="en-US" sz="2400">
                <a:solidFill>
                  <a:schemeClr val="dk1"/>
                </a:solidFill>
                <a:latin typeface="Century Gothic"/>
                <a:ea typeface="Century Gothic"/>
                <a:cs typeface="Century Gothic"/>
                <a:sym typeface="Century Gothic"/>
              </a:rPr>
              <a:t>DELIMITER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Notes on the previous example</a:t>
            </a:r>
            <a:endParaRPr/>
          </a:p>
        </p:txBody>
      </p:sp>
      <p:sp>
        <p:nvSpPr>
          <p:cNvPr id="247" name="Google Shape;247;p3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The DELIMITER // statement sets a session variable so that the // becomes the statement terminator.</a:t>
            </a:r>
            <a:endParaRPr/>
          </a:p>
          <a:p>
            <a:pPr indent="-342900" lvl="0" marL="342900" rtl="0" algn="l">
              <a:spcBef>
                <a:spcPts val="1000"/>
              </a:spcBef>
              <a:spcAft>
                <a:spcPts val="0"/>
              </a:spcAft>
              <a:buSzPts val="2400"/>
              <a:buChar char="🠶"/>
            </a:pPr>
            <a:r>
              <a:rPr lang="en-US"/>
              <a:t>For the purposes of that session, the “;” within the stored procedure are just like any other character.</a:t>
            </a:r>
            <a:endParaRPr/>
          </a:p>
          <a:p>
            <a:pPr indent="-342900" lvl="0" marL="342900" rtl="0" algn="l">
              <a:spcBef>
                <a:spcPts val="1000"/>
              </a:spcBef>
              <a:spcAft>
                <a:spcPts val="0"/>
              </a:spcAft>
              <a:buSzPts val="2400"/>
              <a:buChar char="🠶"/>
            </a:pPr>
            <a:r>
              <a:rPr lang="en-US"/>
              <a:t>When the stored procedure is run, however, the “;” function the way that they normally do in MySQL.</a:t>
            </a:r>
            <a:endParaRPr/>
          </a:p>
          <a:p>
            <a:pPr indent="-342900" lvl="0" marL="342900" rtl="0" algn="l">
              <a:spcBef>
                <a:spcPts val="1000"/>
              </a:spcBef>
              <a:spcAft>
                <a:spcPts val="0"/>
              </a:spcAft>
              <a:buSzPts val="2400"/>
              <a:buChar char="🠶"/>
            </a:pPr>
            <a:r>
              <a:rPr lang="en-US"/>
              <a:t>You always want to make the delimiter a “;” again when you change it.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[begin_label:] WHILE &lt;condition&gt; DO</a:t>
            </a:r>
            <a:endParaRPr/>
          </a:p>
          <a:p>
            <a:pPr indent="-285750" lvl="1" marL="742950" rtl="0" algn="l">
              <a:spcBef>
                <a:spcPts val="1000"/>
              </a:spcBef>
              <a:spcAft>
                <a:spcPts val="0"/>
              </a:spcAft>
              <a:buSzPts val="2200"/>
              <a:buChar char="🠶"/>
            </a:pPr>
            <a:r>
              <a:rPr lang="en-US"/>
              <a:t>&lt;statements&gt;</a:t>
            </a:r>
            <a:endParaRPr/>
          </a:p>
          <a:p>
            <a:pPr indent="-342900" lvl="0" marL="342900" rtl="0" algn="l">
              <a:spcBef>
                <a:spcPts val="1000"/>
              </a:spcBef>
              <a:spcAft>
                <a:spcPts val="0"/>
              </a:spcAft>
              <a:buSzPts val="2400"/>
              <a:buChar char="🠶"/>
            </a:pPr>
            <a:r>
              <a:rPr lang="en-US"/>
              <a:t>END WHILE [end_label]</a:t>
            </a:r>
            <a:endParaRPr/>
          </a:p>
          <a:p>
            <a:pPr indent="-190500" lvl="0" marL="342900" rtl="0" algn="l">
              <a:spcBef>
                <a:spcPts val="1000"/>
              </a:spcBef>
              <a:spcAft>
                <a:spcPts val="0"/>
              </a:spcAft>
              <a:buSzPts val="2400"/>
              <a:buNone/>
            </a:pPr>
            <a:r>
              <a:t/>
            </a:r>
            <a:endParaRPr/>
          </a:p>
        </p:txBody>
      </p:sp>
      <p:sp>
        <p:nvSpPr>
          <p:cNvPr id="253" name="Google Shape;253;p3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While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idx="1" type="body"/>
          </p:nvPr>
        </p:nvSpPr>
        <p:spPr>
          <a:xfrm>
            <a:off x="1855117" y="2146479"/>
            <a:ext cx="8915400" cy="3777622"/>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Char char="🠶"/>
            </a:pPr>
            <a:r>
              <a:rPr lang="en-US"/>
              <a:t>Iterate &lt;label&gt; – start the loop again</a:t>
            </a:r>
            <a:endParaRPr/>
          </a:p>
          <a:p>
            <a:pPr indent="-285750" lvl="1" marL="742950" rtl="0" algn="l">
              <a:spcBef>
                <a:spcPts val="1000"/>
              </a:spcBef>
              <a:spcAft>
                <a:spcPts val="0"/>
              </a:spcAft>
              <a:buSzPct val="100000"/>
              <a:buChar char="🠶"/>
            </a:pPr>
            <a:r>
              <a:rPr lang="en-US"/>
              <a:t>Can only be issued within LOOP, REPEAT, or WHILE statements</a:t>
            </a:r>
            <a:endParaRPr/>
          </a:p>
          <a:p>
            <a:pPr indent="-285750" lvl="1" marL="742950" rtl="0" algn="l">
              <a:spcBef>
                <a:spcPts val="1000"/>
              </a:spcBef>
              <a:spcAft>
                <a:spcPts val="0"/>
              </a:spcAft>
              <a:buSzPct val="100000"/>
              <a:buChar char="🠶"/>
            </a:pPr>
            <a:r>
              <a:rPr lang="en-US"/>
              <a:t>Works much like the “continue” statement in Java or C++.</a:t>
            </a:r>
            <a:endParaRPr/>
          </a:p>
          <a:p>
            <a:pPr indent="-342900" lvl="0" marL="342900" rtl="0" algn="l">
              <a:spcBef>
                <a:spcPts val="1000"/>
              </a:spcBef>
              <a:spcAft>
                <a:spcPts val="0"/>
              </a:spcAft>
              <a:buSzPct val="100000"/>
              <a:buChar char="🠶"/>
            </a:pPr>
            <a:r>
              <a:rPr lang="en-US"/>
              <a:t>Leave &lt;label&gt; – jumps out of the control construct that has the given label.</a:t>
            </a:r>
            <a:endParaRPr/>
          </a:p>
          <a:p>
            <a:pPr indent="-285750" lvl="1" marL="742950" rtl="0" algn="l">
              <a:spcBef>
                <a:spcPts val="1000"/>
              </a:spcBef>
              <a:spcAft>
                <a:spcPts val="0"/>
              </a:spcAft>
              <a:buSzPct val="100000"/>
              <a:buChar char="🠶"/>
            </a:pPr>
            <a:r>
              <a:rPr lang="en-US"/>
              <a:t>Can only be issued within LOOP, REPEAT, or WHILE statements, just like the iterate statement.</a:t>
            </a:r>
            <a:endParaRPr/>
          </a:p>
          <a:p>
            <a:pPr indent="-285750" lvl="1" marL="742950" rtl="0" algn="l">
              <a:spcBef>
                <a:spcPts val="1000"/>
              </a:spcBef>
              <a:spcAft>
                <a:spcPts val="0"/>
              </a:spcAft>
              <a:buSzPct val="100000"/>
              <a:buChar char="🠶"/>
            </a:pPr>
            <a:r>
              <a:rPr lang="en-US"/>
              <a:t>You can use this at any level of nesting, 🡪 you can jump out to the out of the outermost loop if you desire.</a:t>
            </a:r>
            <a:endParaRPr/>
          </a:p>
        </p:txBody>
      </p:sp>
      <p:sp>
        <p:nvSpPr>
          <p:cNvPr id="259" name="Google Shape;259;p3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Loop Control Flow</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a:t>
            </a:r>
            <a:endParaRPr/>
          </a:p>
        </p:txBody>
      </p:sp>
      <p:pic>
        <p:nvPicPr>
          <p:cNvPr id="265" name="Google Shape;265;p34"/>
          <p:cNvPicPr preferRelativeResize="0"/>
          <p:nvPr/>
        </p:nvPicPr>
        <p:blipFill rotWithShape="1">
          <a:blip r:embed="rId3">
            <a:alphaModFix/>
          </a:blip>
          <a:srcRect b="0" l="0" r="0" t="0"/>
          <a:stretch/>
        </p:blipFill>
        <p:spPr>
          <a:xfrm>
            <a:off x="3091445" y="1206500"/>
            <a:ext cx="8148637" cy="1955800"/>
          </a:xfrm>
          <a:prstGeom prst="rect">
            <a:avLst/>
          </a:prstGeom>
          <a:noFill/>
          <a:ln>
            <a:noFill/>
          </a:ln>
        </p:spPr>
      </p:pic>
      <p:pic>
        <p:nvPicPr>
          <p:cNvPr id="266" name="Google Shape;266;p34"/>
          <p:cNvPicPr preferRelativeResize="0"/>
          <p:nvPr/>
        </p:nvPicPr>
        <p:blipFill rotWithShape="1">
          <a:blip r:embed="rId4">
            <a:alphaModFix/>
          </a:blip>
          <a:srcRect b="0" l="0" r="0" t="0"/>
          <a:stretch/>
        </p:blipFill>
        <p:spPr>
          <a:xfrm>
            <a:off x="2743201" y="3886200"/>
            <a:ext cx="5713413" cy="2806700"/>
          </a:xfrm>
          <a:prstGeom prst="rect">
            <a:avLst/>
          </a:prstGeom>
          <a:noFill/>
          <a:ln>
            <a:noFill/>
          </a:ln>
        </p:spPr>
      </p:pic>
      <p:sp>
        <p:nvSpPr>
          <p:cNvPr id="267" name="Google Shape;267;p34"/>
          <p:cNvSpPr txBox="1"/>
          <p:nvPr>
            <p:ph idx="4294967295" type="body"/>
          </p:nvPr>
        </p:nvSpPr>
        <p:spPr>
          <a:xfrm>
            <a:off x="1524000" y="3124200"/>
            <a:ext cx="8318500" cy="3124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Suppose we want to keep track of the total salaries of employees working for each department</a:t>
            </a:r>
            <a:endParaRPr/>
          </a:p>
        </p:txBody>
      </p:sp>
      <p:grpSp>
        <p:nvGrpSpPr>
          <p:cNvPr id="268" name="Google Shape;268;p34"/>
          <p:cNvGrpSpPr/>
          <p:nvPr/>
        </p:nvGrpSpPr>
        <p:grpSpPr>
          <a:xfrm>
            <a:off x="5257800" y="5334001"/>
            <a:ext cx="4800600" cy="1012825"/>
            <a:chOff x="2352" y="3504"/>
            <a:chExt cx="3024" cy="638"/>
          </a:xfrm>
        </p:grpSpPr>
        <p:cxnSp>
          <p:nvCxnSpPr>
            <p:cNvPr id="269" name="Google Shape;269;p34"/>
            <p:cNvCxnSpPr/>
            <p:nvPr/>
          </p:nvCxnSpPr>
          <p:spPr>
            <a:xfrm rot="10800000">
              <a:off x="2352" y="3744"/>
              <a:ext cx="768" cy="0"/>
            </a:xfrm>
            <a:prstGeom prst="straightConnector1">
              <a:avLst/>
            </a:prstGeom>
            <a:noFill/>
            <a:ln cap="flat" cmpd="sng" w="25400">
              <a:solidFill>
                <a:srgbClr val="FF0000"/>
              </a:solidFill>
              <a:prstDash val="solid"/>
              <a:round/>
              <a:headEnd len="med" w="med" type="none"/>
              <a:tailEnd len="lg" w="lg" type="triangle"/>
            </a:ln>
          </p:spPr>
        </p:cxnSp>
        <p:sp>
          <p:nvSpPr>
            <p:cNvPr id="270" name="Google Shape;270;p34"/>
            <p:cNvSpPr txBox="1"/>
            <p:nvPr/>
          </p:nvSpPr>
          <p:spPr>
            <a:xfrm>
              <a:off x="3024" y="3504"/>
              <a:ext cx="2352" cy="638"/>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We need to write a procedure to update the salaries in </a:t>
              </a:r>
              <a:br>
                <a:rPr lang="en-US" sz="2000">
                  <a:solidFill>
                    <a:schemeClr val="dk1"/>
                  </a:solidFill>
                  <a:latin typeface="Arial"/>
                  <a:ea typeface="Arial"/>
                  <a:cs typeface="Arial"/>
                  <a:sym typeface="Arial"/>
                </a:rPr>
              </a:br>
              <a:r>
                <a:rPr lang="en-US" sz="2000">
                  <a:solidFill>
                    <a:schemeClr val="dk1"/>
                  </a:solidFill>
                  <a:latin typeface="Arial"/>
                  <a:ea typeface="Arial"/>
                  <a:cs typeface="Arial"/>
                  <a:sym typeface="Arial"/>
                </a:rPr>
                <a:t> the deptsal table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 Step 1</a:t>
            </a:r>
            <a:endParaRPr/>
          </a:p>
        </p:txBody>
      </p:sp>
      <p:sp>
        <p:nvSpPr>
          <p:cNvPr id="276" name="Google Shape;276;p35"/>
          <p:cNvSpPr txBox="1"/>
          <p:nvPr/>
        </p:nvSpPr>
        <p:spPr>
          <a:xfrm>
            <a:off x="2434106" y="1905000"/>
            <a:ext cx="7695127" cy="1628651"/>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Step 1:</a:t>
            </a:r>
            <a:r>
              <a:rPr lang="en-US" sz="2000">
                <a:solidFill>
                  <a:schemeClr val="dk1"/>
                </a:solidFill>
                <a:latin typeface="Arial"/>
                <a:ea typeface="Arial"/>
                <a:cs typeface="Arial"/>
                <a:sym typeface="Arial"/>
              </a:rPr>
              <a:t> Change the delimiter (i.e., terminating character) of SQL statement from semicolon (;) to something else (e.g., //) So that you can distinguish between the semicolon of the SQL statements in the procedure and the terminating character of the procedure definition</a:t>
            </a:r>
            <a:endParaRPr/>
          </a:p>
        </p:txBody>
      </p:sp>
      <p:pic>
        <p:nvPicPr>
          <p:cNvPr id="277" name="Google Shape;277;p35"/>
          <p:cNvPicPr preferRelativeResize="0"/>
          <p:nvPr/>
        </p:nvPicPr>
        <p:blipFill rotWithShape="1">
          <a:blip r:embed="rId3">
            <a:alphaModFix/>
          </a:blip>
          <a:srcRect b="89655" l="0" r="52959" t="0"/>
          <a:stretch/>
        </p:blipFill>
        <p:spPr>
          <a:xfrm>
            <a:off x="2589194" y="3957849"/>
            <a:ext cx="8915418" cy="4953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 Step 2</a:t>
            </a:r>
            <a:endParaRPr/>
          </a:p>
        </p:txBody>
      </p:sp>
      <p:sp>
        <p:nvSpPr>
          <p:cNvPr id="283" name="Google Shape;283;p36"/>
          <p:cNvSpPr txBox="1"/>
          <p:nvPr/>
        </p:nvSpPr>
        <p:spPr>
          <a:xfrm>
            <a:off x="2038081" y="1705377"/>
            <a:ext cx="7162800" cy="2832100"/>
          </a:xfrm>
          <a:prstGeom prst="rect">
            <a:avLst/>
          </a:prstGeom>
          <a:noFill/>
          <a:ln>
            <a:noFill/>
          </a:ln>
        </p:spPr>
        <p:txBody>
          <a:bodyPr anchorCtr="0" anchor="t" bIns="44450" lIns="90475" spcFirstLastPara="1" rIns="90475" wrap="square" tIns="44450">
            <a:spAutoFit/>
          </a:bodyPr>
          <a:lstStyle/>
          <a:p>
            <a:pPr indent="-381000" lvl="0" marL="381000" marR="0" rtl="0" algn="l">
              <a:spcBef>
                <a:spcPts val="0"/>
              </a:spcBef>
              <a:spcAft>
                <a:spcPts val="0"/>
              </a:spcAft>
              <a:buNone/>
            </a:pPr>
            <a:r>
              <a:rPr lang="en-US" sz="2000">
                <a:solidFill>
                  <a:srgbClr val="FF0000"/>
                </a:solidFill>
                <a:latin typeface="Arial"/>
                <a:ea typeface="Arial"/>
                <a:cs typeface="Arial"/>
                <a:sym typeface="Arial"/>
              </a:rPr>
              <a:t>Step 2:</a:t>
            </a:r>
            <a:r>
              <a:rPr lang="en-US" sz="2000">
                <a:solidFill>
                  <a:schemeClr val="dk1"/>
                </a:solidFill>
                <a:latin typeface="Arial"/>
                <a:ea typeface="Arial"/>
                <a:cs typeface="Arial"/>
                <a:sym typeface="Arial"/>
              </a:rPr>
              <a:t> </a:t>
            </a:r>
            <a:endParaRPr/>
          </a:p>
          <a:p>
            <a:pPr indent="-381000" lvl="0" marL="381000" marR="0" rtl="0" algn="l">
              <a:spcBef>
                <a:spcPts val="1400"/>
              </a:spcBef>
              <a:spcAft>
                <a:spcPts val="0"/>
              </a:spcAft>
              <a:buClr>
                <a:schemeClr val="dk1"/>
              </a:buClr>
              <a:buSzPts val="2000"/>
              <a:buFont typeface="Noto Sans Symbols"/>
              <a:buAutoNum type="arabicPeriod"/>
            </a:pPr>
            <a:r>
              <a:rPr lang="en-US" sz="2000">
                <a:solidFill>
                  <a:schemeClr val="dk1"/>
                </a:solidFill>
                <a:latin typeface="Arial"/>
                <a:ea typeface="Arial"/>
                <a:cs typeface="Arial"/>
                <a:sym typeface="Arial"/>
              </a:rPr>
              <a:t>Define a procedure called updateSalary which takes as input a department number. </a:t>
            </a:r>
            <a:endParaRPr/>
          </a:p>
          <a:p>
            <a:pPr indent="-381000" lvl="0" marL="381000" marR="0" rtl="0" algn="l">
              <a:spcBef>
                <a:spcPts val="1400"/>
              </a:spcBef>
              <a:spcAft>
                <a:spcPts val="0"/>
              </a:spcAft>
              <a:buClr>
                <a:schemeClr val="dk1"/>
              </a:buClr>
              <a:buSzPts val="2000"/>
              <a:buFont typeface="Noto Sans Symbols"/>
              <a:buAutoNum type="arabicPeriod"/>
            </a:pPr>
            <a:r>
              <a:rPr lang="en-US" sz="2000">
                <a:solidFill>
                  <a:schemeClr val="dk1"/>
                </a:solidFill>
                <a:latin typeface="Arial"/>
                <a:ea typeface="Arial"/>
                <a:cs typeface="Arial"/>
                <a:sym typeface="Arial"/>
              </a:rPr>
              <a:t>The body of the procedure is an SQL command to update the totalsalary column of the deptsal table. </a:t>
            </a:r>
            <a:endParaRPr/>
          </a:p>
          <a:p>
            <a:pPr indent="-381000" lvl="0" marL="381000" marR="0" rtl="0" algn="l">
              <a:spcBef>
                <a:spcPts val="1400"/>
              </a:spcBef>
              <a:spcAft>
                <a:spcPts val="0"/>
              </a:spcAft>
              <a:buClr>
                <a:schemeClr val="dk1"/>
              </a:buClr>
              <a:buSzPts val="2000"/>
              <a:buFont typeface="Noto Sans Symbols"/>
              <a:buAutoNum type="arabicPeriod"/>
            </a:pPr>
            <a:r>
              <a:rPr lang="en-US" sz="2000">
                <a:solidFill>
                  <a:schemeClr val="dk1"/>
                </a:solidFill>
                <a:latin typeface="Arial"/>
                <a:ea typeface="Arial"/>
                <a:cs typeface="Arial"/>
                <a:sym typeface="Arial"/>
              </a:rPr>
              <a:t>Terminate the procedure definition using the delimiter you had defined in step 1 (//)</a:t>
            </a:r>
            <a:endParaRPr/>
          </a:p>
        </p:txBody>
      </p:sp>
      <p:pic>
        <p:nvPicPr>
          <p:cNvPr id="284" name="Google Shape;284;p36"/>
          <p:cNvPicPr preferRelativeResize="0"/>
          <p:nvPr/>
        </p:nvPicPr>
        <p:blipFill rotWithShape="1">
          <a:blip r:embed="rId3">
            <a:alphaModFix/>
          </a:blip>
          <a:srcRect b="13792" l="0" r="0" t="0"/>
          <a:stretch/>
        </p:blipFill>
        <p:spPr>
          <a:xfrm>
            <a:off x="2215167" y="4666244"/>
            <a:ext cx="8747125" cy="190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 Step 3</a:t>
            </a:r>
            <a:endParaRPr/>
          </a:p>
        </p:txBody>
      </p:sp>
      <p:sp>
        <p:nvSpPr>
          <p:cNvPr id="290" name="Google Shape;290;p37"/>
          <p:cNvSpPr txBox="1"/>
          <p:nvPr/>
        </p:nvSpPr>
        <p:spPr>
          <a:xfrm>
            <a:off x="2052034" y="1708150"/>
            <a:ext cx="7162800" cy="3937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Step 3:</a:t>
            </a:r>
            <a:r>
              <a:rPr lang="en-US" sz="2000">
                <a:solidFill>
                  <a:schemeClr val="dk1"/>
                </a:solidFill>
                <a:latin typeface="Arial"/>
                <a:ea typeface="Arial"/>
                <a:cs typeface="Arial"/>
                <a:sym typeface="Arial"/>
              </a:rPr>
              <a:t> Change the delimiter back to semicolon (;)</a:t>
            </a:r>
            <a:endParaRPr/>
          </a:p>
        </p:txBody>
      </p:sp>
      <p:pic>
        <p:nvPicPr>
          <p:cNvPr id="291" name="Google Shape;291;p37"/>
          <p:cNvPicPr preferRelativeResize="0"/>
          <p:nvPr/>
        </p:nvPicPr>
        <p:blipFill rotWithShape="1">
          <a:blip r:embed="rId3">
            <a:alphaModFix/>
          </a:blip>
          <a:srcRect b="0" l="0" r="0" t="0"/>
          <a:stretch/>
        </p:blipFill>
        <p:spPr>
          <a:xfrm>
            <a:off x="2052034" y="2588654"/>
            <a:ext cx="8747125" cy="2209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 Step 4</a:t>
            </a:r>
            <a:endParaRPr/>
          </a:p>
        </p:txBody>
      </p:sp>
      <p:sp>
        <p:nvSpPr>
          <p:cNvPr id="297" name="Google Shape;297;p38"/>
          <p:cNvSpPr txBox="1"/>
          <p:nvPr/>
        </p:nvSpPr>
        <p:spPr>
          <a:xfrm>
            <a:off x="2090861" y="1690352"/>
            <a:ext cx="7162800" cy="698500"/>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Step 4:</a:t>
            </a:r>
            <a:r>
              <a:rPr lang="en-US" sz="2000">
                <a:solidFill>
                  <a:schemeClr val="dk1"/>
                </a:solidFill>
                <a:latin typeface="Arial"/>
                <a:ea typeface="Arial"/>
                <a:cs typeface="Arial"/>
                <a:sym typeface="Arial"/>
              </a:rPr>
              <a:t> Call the procedure to update the totalsalary for each department</a:t>
            </a:r>
            <a:endParaRPr/>
          </a:p>
        </p:txBody>
      </p:sp>
      <p:pic>
        <p:nvPicPr>
          <p:cNvPr id="298" name="Google Shape;298;p38"/>
          <p:cNvPicPr preferRelativeResize="0"/>
          <p:nvPr/>
        </p:nvPicPr>
        <p:blipFill rotWithShape="1">
          <a:blip r:embed="rId3">
            <a:alphaModFix/>
          </a:blip>
          <a:srcRect b="35766" l="0" r="48421" t="35036"/>
          <a:stretch/>
        </p:blipFill>
        <p:spPr>
          <a:xfrm>
            <a:off x="2843012" y="3455094"/>
            <a:ext cx="5040313" cy="2057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 Step 5</a:t>
            </a:r>
            <a:endParaRPr/>
          </a:p>
        </p:txBody>
      </p:sp>
      <p:sp>
        <p:nvSpPr>
          <p:cNvPr id="304" name="Google Shape;304;p39"/>
          <p:cNvSpPr txBox="1"/>
          <p:nvPr/>
        </p:nvSpPr>
        <p:spPr>
          <a:xfrm>
            <a:off x="1955442" y="1706562"/>
            <a:ext cx="6934200" cy="396875"/>
          </a:xfrm>
          <a:prstGeom prst="rect">
            <a:avLst/>
          </a:prstGeom>
          <a:noFill/>
          <a:ln>
            <a:noFill/>
          </a:ln>
        </p:spPr>
        <p:txBody>
          <a:bodyPr anchorCtr="0" anchor="t" bIns="44450" lIns="90475" spcFirstLastPara="1" rIns="90475" wrap="square" tIns="44450">
            <a:spAutoFit/>
          </a:bodyPr>
          <a:lstStyle/>
          <a:p>
            <a:pPr indent="0" lvl="0" marL="0" marR="0" rtl="0" algn="l">
              <a:spcBef>
                <a:spcPts val="0"/>
              </a:spcBef>
              <a:spcAft>
                <a:spcPts val="0"/>
              </a:spcAft>
              <a:buNone/>
            </a:pPr>
            <a:r>
              <a:rPr lang="en-US" sz="2000">
                <a:solidFill>
                  <a:srgbClr val="FF0000"/>
                </a:solidFill>
                <a:latin typeface="Arial"/>
                <a:ea typeface="Arial"/>
                <a:cs typeface="Arial"/>
                <a:sym typeface="Arial"/>
              </a:rPr>
              <a:t>Step 5:</a:t>
            </a:r>
            <a:r>
              <a:rPr lang="en-US" sz="2000">
                <a:solidFill>
                  <a:schemeClr val="dk1"/>
                </a:solidFill>
                <a:latin typeface="Arial"/>
                <a:ea typeface="Arial"/>
                <a:cs typeface="Arial"/>
                <a:sym typeface="Arial"/>
              </a:rPr>
              <a:t> Show the updated total salary in the deptsal table</a:t>
            </a:r>
            <a:endParaRPr/>
          </a:p>
        </p:txBody>
      </p:sp>
      <p:pic>
        <p:nvPicPr>
          <p:cNvPr id="305" name="Google Shape;305;p39"/>
          <p:cNvPicPr preferRelativeResize="0"/>
          <p:nvPr/>
        </p:nvPicPr>
        <p:blipFill rotWithShape="1">
          <a:blip r:embed="rId3">
            <a:alphaModFix/>
          </a:blip>
          <a:srcRect b="0" l="0" r="56842" t="64932"/>
          <a:stretch/>
        </p:blipFill>
        <p:spPr>
          <a:xfrm>
            <a:off x="3043685" y="2731394"/>
            <a:ext cx="4267200" cy="24971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Stored Procedures in MySQL</a:t>
            </a:r>
            <a:endParaRPr/>
          </a:p>
        </p:txBody>
      </p:sp>
      <p:pic>
        <p:nvPicPr>
          <p:cNvPr id="311" name="Google Shape;311;p40"/>
          <p:cNvPicPr preferRelativeResize="0"/>
          <p:nvPr/>
        </p:nvPicPr>
        <p:blipFill rotWithShape="1">
          <a:blip r:embed="rId3">
            <a:alphaModFix/>
          </a:blip>
          <a:srcRect b="0" l="0" r="0" t="0"/>
          <a:stretch/>
        </p:blipFill>
        <p:spPr>
          <a:xfrm>
            <a:off x="2439989" y="4800600"/>
            <a:ext cx="3883025" cy="571500"/>
          </a:xfrm>
          <a:prstGeom prst="rect">
            <a:avLst/>
          </a:prstGeom>
          <a:noFill/>
          <a:ln>
            <a:noFill/>
          </a:ln>
        </p:spPr>
      </p:pic>
      <p:sp>
        <p:nvSpPr>
          <p:cNvPr id="312" name="Google Shape;312;p40"/>
          <p:cNvSpPr txBox="1"/>
          <p:nvPr>
            <p:ph idx="4294967295" type="body"/>
          </p:nvPr>
        </p:nvSpPr>
        <p:spPr>
          <a:xfrm>
            <a:off x="1498242" y="1464971"/>
            <a:ext cx="8318500" cy="5181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Use </a:t>
            </a:r>
            <a:r>
              <a:rPr lang="en-US" sz="2000">
                <a:solidFill>
                  <a:srgbClr val="FF0000"/>
                </a:solidFill>
              </a:rPr>
              <a:t>show procedure status</a:t>
            </a:r>
            <a:r>
              <a:rPr lang="en-US" sz="2000"/>
              <a:t> to display the list of stored procedures you have created</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2000"/>
              <a:buChar char="🠶"/>
            </a:pPr>
            <a:r>
              <a:rPr lang="en-US" sz="2000"/>
              <a:t>Use </a:t>
            </a:r>
            <a:r>
              <a:rPr lang="en-US" sz="2000">
                <a:solidFill>
                  <a:srgbClr val="FF0000"/>
                </a:solidFill>
              </a:rPr>
              <a:t>drop procedure </a:t>
            </a:r>
            <a:r>
              <a:rPr lang="en-US" sz="2000"/>
              <a:t>to remove a stored procedure</a:t>
            </a:r>
            <a:endParaRPr/>
          </a:p>
        </p:txBody>
      </p:sp>
      <p:pic>
        <p:nvPicPr>
          <p:cNvPr id="313" name="Google Shape;313;p40"/>
          <p:cNvPicPr preferRelativeResize="0"/>
          <p:nvPr/>
        </p:nvPicPr>
        <p:blipFill rotWithShape="1">
          <a:blip r:embed="rId4">
            <a:alphaModFix/>
          </a:blip>
          <a:srcRect b="0" l="0" r="0" t="0"/>
          <a:stretch/>
        </p:blipFill>
        <p:spPr>
          <a:xfrm>
            <a:off x="1119695" y="2228045"/>
            <a:ext cx="9167305" cy="173435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idx="1" type="body"/>
          </p:nvPr>
        </p:nvSpPr>
        <p:spPr>
          <a:xfrm>
            <a:off x="2047741" y="2073499"/>
            <a:ext cx="9456871" cy="4391695"/>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Char char="🠶"/>
            </a:pPr>
            <a:r>
              <a:rPr lang="en-US"/>
              <a:t>Using the select statement</a:t>
            </a:r>
            <a:endParaRPr/>
          </a:p>
          <a:p>
            <a:pPr indent="-285750" lvl="1" marL="742950" rtl="0" algn="l">
              <a:spcBef>
                <a:spcPts val="1000"/>
              </a:spcBef>
              <a:spcAft>
                <a:spcPts val="0"/>
              </a:spcAft>
              <a:buSzPct val="100000"/>
              <a:buChar char="🠶"/>
            </a:pPr>
            <a:r>
              <a:rPr lang="en-US"/>
              <a:t>SELECT ‘Comment’; -- Put the literal Comment out to console</a:t>
            </a:r>
            <a:endParaRPr/>
          </a:p>
          <a:p>
            <a:pPr indent="-285750" lvl="1" marL="742950" rtl="0" algn="l">
              <a:spcBef>
                <a:spcPts val="1000"/>
              </a:spcBef>
              <a:spcAft>
                <a:spcPts val="0"/>
              </a:spcAft>
              <a:buSzPct val="100000"/>
              <a:buChar char="🠶"/>
            </a:pPr>
            <a:r>
              <a:rPr lang="en-US"/>
              <a:t>SELECT concat(‘myvar is ‘, myvar); -- Put the literal prompt out, followed by the current value of a variable named myvar.</a:t>
            </a:r>
            <a:endParaRPr/>
          </a:p>
          <a:p>
            <a:pPr indent="-228600" lvl="2" marL="1143000" rtl="0" algn="l">
              <a:spcBef>
                <a:spcPts val="1000"/>
              </a:spcBef>
              <a:spcAft>
                <a:spcPts val="0"/>
              </a:spcAft>
              <a:buSzPct val="100000"/>
              <a:buChar char="🠶"/>
            </a:pPr>
            <a:r>
              <a:rPr lang="en-US"/>
              <a:t>Note, you cannot do this in a function as that is regarded as returning a result set.</a:t>
            </a:r>
            <a:endParaRPr/>
          </a:p>
          <a:p>
            <a:pPr indent="-342900" lvl="0" marL="342900" rtl="0" algn="l">
              <a:spcBef>
                <a:spcPts val="1000"/>
              </a:spcBef>
              <a:spcAft>
                <a:spcPts val="0"/>
              </a:spcAft>
              <a:buSzPct val="100000"/>
              <a:buChar char="🠶"/>
            </a:pPr>
            <a:r>
              <a:rPr lang="en-US"/>
              <a:t>Insert into a table.  Putting the current time and date stamp into a column with the message would be good too.</a:t>
            </a:r>
            <a:endParaRPr/>
          </a:p>
          <a:p>
            <a:pPr indent="-342900" lvl="0" marL="342900" rtl="0" algn="l">
              <a:spcBef>
                <a:spcPts val="1000"/>
              </a:spcBef>
              <a:spcAft>
                <a:spcPts val="0"/>
              </a:spcAft>
              <a:buSzPct val="100000"/>
              <a:buChar char="🠶"/>
            </a:pPr>
            <a:r>
              <a:rPr lang="en-US"/>
              <a:t>Log messages to an output file: select … into outfile ‘&lt;file_name&gt;’;</a:t>
            </a:r>
            <a:endParaRPr/>
          </a:p>
          <a:p>
            <a:pPr indent="-285750" lvl="1" marL="742950" rtl="0" algn="l">
              <a:spcBef>
                <a:spcPts val="1000"/>
              </a:spcBef>
              <a:spcAft>
                <a:spcPts val="0"/>
              </a:spcAft>
              <a:buSzPct val="100000"/>
              <a:buChar char="🠶"/>
            </a:pPr>
            <a:r>
              <a:rPr lang="en-US"/>
              <a:t>Which might be blocked by the secure-file-priv option in MySQL.</a:t>
            </a:r>
            <a:endParaRPr/>
          </a:p>
        </p:txBody>
      </p:sp>
      <p:sp>
        <p:nvSpPr>
          <p:cNvPr id="319" name="Google Shape;319;p4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Debugging your stored procedures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Stored Procedures in MySQL</a:t>
            </a:r>
            <a:endParaRPr/>
          </a:p>
        </p:txBody>
      </p:sp>
      <p:sp>
        <p:nvSpPr>
          <p:cNvPr id="325" name="Google Shape;325;p42"/>
          <p:cNvSpPr txBox="1"/>
          <p:nvPr>
            <p:ph idx="1" type="body"/>
          </p:nvPr>
        </p:nvSpPr>
        <p:spPr>
          <a:xfrm>
            <a:off x="1300766" y="1687132"/>
            <a:ext cx="10203846" cy="422409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MySQL also supports cursors in stored procedures.</a:t>
            </a:r>
            <a:endParaRPr/>
          </a:p>
          <a:p>
            <a:pPr indent="-285750" lvl="1" marL="742950" rtl="0" algn="l">
              <a:spcBef>
                <a:spcPts val="1000"/>
              </a:spcBef>
              <a:spcAft>
                <a:spcPts val="0"/>
              </a:spcAft>
              <a:buSzPts val="2200"/>
              <a:buChar char="🠶"/>
            </a:pPr>
            <a:r>
              <a:rPr lang="en-US"/>
              <a:t>A cursor is used to iterate through a set of rows returned by a query so that we can process each individual row.</a:t>
            </a:r>
            <a:endParaRPr/>
          </a:p>
          <a:p>
            <a:pPr indent="-342900" lvl="0" marL="342900" rtl="0" algn="l">
              <a:spcBef>
                <a:spcPts val="1000"/>
              </a:spcBef>
              <a:spcAft>
                <a:spcPts val="0"/>
              </a:spcAft>
              <a:buSzPts val="2400"/>
              <a:buChar char="🠶"/>
            </a:pPr>
            <a:r>
              <a:rPr lang="en-US"/>
              <a:t>To learn more about stored procedures, go to:</a:t>
            </a:r>
            <a:endParaRPr/>
          </a:p>
          <a:p>
            <a:pPr indent="-285750" lvl="1" marL="742950" rtl="0" algn="l">
              <a:spcBef>
                <a:spcPts val="1000"/>
              </a:spcBef>
              <a:spcAft>
                <a:spcPts val="0"/>
              </a:spcAft>
              <a:buSzPts val="2200"/>
              <a:buFont typeface="Arial"/>
              <a:buNone/>
            </a:pPr>
            <a:r>
              <a:rPr lang="en-US" u="sng">
                <a:solidFill>
                  <a:schemeClr val="hlink"/>
                </a:solidFill>
                <a:hlinkClick r:id="rId3"/>
              </a:rPr>
              <a:t>http://www.mysqltutorial.org/mysql-stored-procedure-tutorial.aspx</a:t>
            </a:r>
            <a:endParaRPr/>
          </a:p>
          <a:p>
            <a:pPr indent="-285750" lvl="1" marL="742950" rtl="0" algn="l">
              <a:spcBef>
                <a:spcPts val="1000"/>
              </a:spcBef>
              <a:spcAft>
                <a:spcPts val="0"/>
              </a:spcAft>
              <a:buSzPts val="2200"/>
              <a:buFont typeface="Arial"/>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using Cursors</a:t>
            </a:r>
            <a:endParaRPr/>
          </a:p>
        </p:txBody>
      </p:sp>
      <p:sp>
        <p:nvSpPr>
          <p:cNvPr id="331" name="Google Shape;331;p43"/>
          <p:cNvSpPr txBox="1"/>
          <p:nvPr>
            <p:ph idx="1" type="body"/>
          </p:nvPr>
        </p:nvSpPr>
        <p:spPr>
          <a:xfrm>
            <a:off x="425002" y="1387789"/>
            <a:ext cx="10457645"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The previous procedure updates one row in deptsal table based on input parameter</a:t>
            </a:r>
            <a:endParaRPr/>
          </a:p>
          <a:p>
            <a:pPr indent="-342900" lvl="0" marL="342900" rtl="0" algn="l">
              <a:spcBef>
                <a:spcPts val="1000"/>
              </a:spcBef>
              <a:spcAft>
                <a:spcPts val="0"/>
              </a:spcAft>
              <a:buSzPts val="2400"/>
              <a:buChar char="🠶"/>
            </a:pPr>
            <a:r>
              <a:rPr lang="en-US"/>
              <a:t>Suppose we want to update all the rows in deptsal simultaneously</a:t>
            </a:r>
            <a:endParaRPr/>
          </a:p>
          <a:p>
            <a:pPr indent="-285750" lvl="1" marL="742950" rtl="0" algn="l">
              <a:spcBef>
                <a:spcPts val="1000"/>
              </a:spcBef>
              <a:spcAft>
                <a:spcPts val="0"/>
              </a:spcAft>
              <a:buSzPts val="2200"/>
              <a:buChar char="🠶"/>
            </a:pPr>
            <a:r>
              <a:rPr lang="en-US"/>
              <a:t>First, let’s reset the totalsalary in deptsal to zero</a:t>
            </a:r>
            <a:endParaRPr/>
          </a:p>
        </p:txBody>
      </p:sp>
      <p:pic>
        <p:nvPicPr>
          <p:cNvPr id="332" name="Google Shape;332;p43"/>
          <p:cNvPicPr preferRelativeResize="0"/>
          <p:nvPr/>
        </p:nvPicPr>
        <p:blipFill rotWithShape="1">
          <a:blip r:embed="rId3">
            <a:alphaModFix/>
          </a:blip>
          <a:srcRect b="0" l="0" r="0" t="0"/>
          <a:stretch/>
        </p:blipFill>
        <p:spPr>
          <a:xfrm>
            <a:off x="2592925" y="3276600"/>
            <a:ext cx="5176838" cy="3429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44"/>
          <p:cNvPicPr preferRelativeResize="0"/>
          <p:nvPr/>
        </p:nvPicPr>
        <p:blipFill rotWithShape="1">
          <a:blip r:embed="rId3">
            <a:alphaModFix/>
          </a:blip>
          <a:srcRect b="0" l="0" r="0" t="0"/>
          <a:stretch/>
        </p:blipFill>
        <p:spPr>
          <a:xfrm>
            <a:off x="1918952" y="1122132"/>
            <a:ext cx="7061536" cy="5583468"/>
          </a:xfrm>
          <a:prstGeom prst="rect">
            <a:avLst/>
          </a:prstGeom>
          <a:noFill/>
          <a:ln>
            <a:noFill/>
          </a:ln>
        </p:spPr>
      </p:pic>
      <p:sp>
        <p:nvSpPr>
          <p:cNvPr id="338" name="Google Shape;338;p44"/>
          <p:cNvSpPr txBox="1"/>
          <p:nvPr>
            <p:ph type="title"/>
          </p:nvPr>
        </p:nvSpPr>
        <p:spPr>
          <a:xfrm>
            <a:off x="1794434" y="423176"/>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using Cursors – Part 2</a:t>
            </a:r>
            <a:endParaRPr/>
          </a:p>
        </p:txBody>
      </p:sp>
      <p:cxnSp>
        <p:nvCxnSpPr>
          <p:cNvPr id="339" name="Google Shape;339;p44"/>
          <p:cNvCxnSpPr/>
          <p:nvPr/>
        </p:nvCxnSpPr>
        <p:spPr>
          <a:xfrm rot="10800000">
            <a:off x="6400800" y="1371600"/>
            <a:ext cx="838200" cy="76200"/>
          </a:xfrm>
          <a:prstGeom prst="straightConnector1">
            <a:avLst/>
          </a:prstGeom>
          <a:noFill/>
          <a:ln cap="flat" cmpd="sng" w="12700">
            <a:solidFill>
              <a:srgbClr val="FF0000"/>
            </a:solidFill>
            <a:prstDash val="solid"/>
            <a:round/>
            <a:headEnd len="med" w="med" type="none"/>
            <a:tailEnd len="med" w="med" type="triangle"/>
          </a:ln>
        </p:spPr>
      </p:cxnSp>
      <p:sp>
        <p:nvSpPr>
          <p:cNvPr id="340" name="Google Shape;340;p44"/>
          <p:cNvSpPr txBox="1"/>
          <p:nvPr/>
        </p:nvSpPr>
        <p:spPr>
          <a:xfrm>
            <a:off x="7162800" y="1219200"/>
            <a:ext cx="2895600"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Drop the old procedure</a:t>
            </a:r>
            <a:endParaRPr/>
          </a:p>
        </p:txBody>
      </p:sp>
      <p:sp>
        <p:nvSpPr>
          <p:cNvPr id="341" name="Google Shape;341;p44"/>
          <p:cNvSpPr txBox="1"/>
          <p:nvPr/>
        </p:nvSpPr>
        <p:spPr>
          <a:xfrm>
            <a:off x="6858000" y="3352800"/>
            <a:ext cx="3581400"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Use cursor to iterate the rows</a:t>
            </a:r>
            <a:endParaRPr/>
          </a:p>
        </p:txBody>
      </p:sp>
      <p:cxnSp>
        <p:nvCxnSpPr>
          <p:cNvPr id="342" name="Google Shape;342;p44"/>
          <p:cNvCxnSpPr/>
          <p:nvPr/>
        </p:nvCxnSpPr>
        <p:spPr>
          <a:xfrm flipH="1">
            <a:off x="5334000" y="3581400"/>
            <a:ext cx="1524000" cy="304800"/>
          </a:xfrm>
          <a:prstGeom prst="straightConnector1">
            <a:avLst/>
          </a:prstGeom>
          <a:noFill/>
          <a:ln cap="flat" cmpd="sng" w="12700">
            <a:solidFill>
              <a:srgbClr val="FF0000"/>
            </a:solidFill>
            <a:prstDash val="solid"/>
            <a:round/>
            <a:headEnd len="med" w="med" type="none"/>
            <a:tailEnd len="med" w="med" type="triangle"/>
          </a:ln>
        </p:spPr>
      </p:cxnSp>
      <p:cxnSp>
        <p:nvCxnSpPr>
          <p:cNvPr id="343" name="Google Shape;343;p44"/>
          <p:cNvCxnSpPr/>
          <p:nvPr/>
        </p:nvCxnSpPr>
        <p:spPr>
          <a:xfrm flipH="1" rot="10800000">
            <a:off x="8305800" y="2895600"/>
            <a:ext cx="76200" cy="533400"/>
          </a:xfrm>
          <a:prstGeom prst="straightConnector1">
            <a:avLst/>
          </a:prstGeom>
          <a:noFill/>
          <a:ln cap="flat" cmpd="sng" w="12700">
            <a:solidFill>
              <a:srgbClr val="FF0000"/>
            </a:solidFill>
            <a:prstDash val="solid"/>
            <a:round/>
            <a:headEnd len="med" w="med" type="none"/>
            <a:tailEnd len="med" w="med" type="triangle"/>
          </a:ln>
        </p:spPr>
      </p:cxnSp>
      <p:cxnSp>
        <p:nvCxnSpPr>
          <p:cNvPr id="344" name="Google Shape;344;p44"/>
          <p:cNvCxnSpPr/>
          <p:nvPr/>
        </p:nvCxnSpPr>
        <p:spPr>
          <a:xfrm rot="10800000">
            <a:off x="4648200" y="3505200"/>
            <a:ext cx="2209800" cy="0"/>
          </a:xfrm>
          <a:prstGeom prst="straightConnector1">
            <a:avLst/>
          </a:prstGeom>
          <a:noFill/>
          <a:ln cap="flat" cmpd="sng" w="12700">
            <a:solidFill>
              <a:srgbClr val="FF0000"/>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Example using Cursors – Part 3</a:t>
            </a:r>
            <a:endParaRPr/>
          </a:p>
        </p:txBody>
      </p:sp>
      <p:pic>
        <p:nvPicPr>
          <p:cNvPr id="350" name="Google Shape;350;p45"/>
          <p:cNvPicPr preferRelativeResize="0"/>
          <p:nvPr/>
        </p:nvPicPr>
        <p:blipFill rotWithShape="1">
          <a:blip r:embed="rId3">
            <a:alphaModFix/>
          </a:blip>
          <a:srcRect b="0" l="0" r="0" t="0"/>
          <a:stretch/>
        </p:blipFill>
        <p:spPr>
          <a:xfrm>
            <a:off x="5423078" y="1416955"/>
            <a:ext cx="3976688" cy="4876800"/>
          </a:xfrm>
          <a:prstGeom prst="rect">
            <a:avLst/>
          </a:prstGeom>
          <a:noFill/>
          <a:ln>
            <a:noFill/>
          </a:ln>
        </p:spPr>
      </p:pic>
      <p:sp>
        <p:nvSpPr>
          <p:cNvPr id="351" name="Google Shape;351;p45"/>
          <p:cNvSpPr txBox="1"/>
          <p:nvPr>
            <p:ph idx="4294967295" type="body"/>
          </p:nvPr>
        </p:nvSpPr>
        <p:spPr>
          <a:xfrm>
            <a:off x="1498242" y="1264555"/>
            <a:ext cx="8318500" cy="5181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Call procedure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Another Example</a:t>
            </a:r>
            <a:endParaRPr/>
          </a:p>
        </p:txBody>
      </p:sp>
      <p:pic>
        <p:nvPicPr>
          <p:cNvPr id="357" name="Google Shape;357;p46"/>
          <p:cNvPicPr preferRelativeResize="0"/>
          <p:nvPr/>
        </p:nvPicPr>
        <p:blipFill rotWithShape="1">
          <a:blip r:embed="rId3">
            <a:alphaModFix/>
          </a:blip>
          <a:srcRect b="0" l="0" r="0" t="0"/>
          <a:stretch/>
        </p:blipFill>
        <p:spPr>
          <a:xfrm>
            <a:off x="2514600" y="2057400"/>
            <a:ext cx="6629400" cy="3473450"/>
          </a:xfrm>
          <a:prstGeom prst="rect">
            <a:avLst/>
          </a:prstGeom>
          <a:noFill/>
          <a:ln>
            <a:noFill/>
          </a:ln>
        </p:spPr>
      </p:pic>
      <p:sp>
        <p:nvSpPr>
          <p:cNvPr id="358" name="Google Shape;358;p46"/>
          <p:cNvSpPr txBox="1"/>
          <p:nvPr>
            <p:ph idx="4294967295" type="body"/>
          </p:nvPr>
        </p:nvSpPr>
        <p:spPr>
          <a:xfrm>
            <a:off x="1511121" y="1439215"/>
            <a:ext cx="8318500" cy="5181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Create a procedure to give a raise to all employees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Another Example – Part 2</a:t>
            </a:r>
            <a:endParaRPr/>
          </a:p>
        </p:txBody>
      </p:sp>
      <p:pic>
        <p:nvPicPr>
          <p:cNvPr id="364" name="Google Shape;364;p47"/>
          <p:cNvPicPr preferRelativeResize="0"/>
          <p:nvPr/>
        </p:nvPicPr>
        <p:blipFill rotWithShape="1">
          <a:blip r:embed="rId3">
            <a:alphaModFix/>
          </a:blip>
          <a:srcRect b="0" l="0" r="0" t="0"/>
          <a:stretch/>
        </p:blipFill>
        <p:spPr>
          <a:xfrm>
            <a:off x="1992825" y="1904999"/>
            <a:ext cx="7457182" cy="404503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Another Example – Part 3</a:t>
            </a:r>
            <a:endParaRPr/>
          </a:p>
        </p:txBody>
      </p:sp>
      <p:pic>
        <p:nvPicPr>
          <p:cNvPr id="370" name="Google Shape;370;p48"/>
          <p:cNvPicPr preferRelativeResize="0"/>
          <p:nvPr/>
        </p:nvPicPr>
        <p:blipFill rotWithShape="1">
          <a:blip r:embed="rId3">
            <a:alphaModFix/>
          </a:blip>
          <a:srcRect b="0" l="0" r="0" t="0"/>
          <a:stretch/>
        </p:blipFill>
        <p:spPr>
          <a:xfrm>
            <a:off x="2895600" y="1524001"/>
            <a:ext cx="6553200" cy="39290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9"/>
          <p:cNvSpPr txBox="1"/>
          <p:nvPr>
            <p:ph idx="1" type="body"/>
          </p:nvPr>
        </p:nvSpPr>
        <p:spPr>
          <a:xfrm>
            <a:off x="1481070" y="1661375"/>
            <a:ext cx="10023542" cy="466215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Your user-defined functions can act just like a function defined in the database.</a:t>
            </a:r>
            <a:endParaRPr/>
          </a:p>
          <a:p>
            <a:pPr indent="-342900" lvl="0" marL="342900" rtl="0" algn="l">
              <a:spcBef>
                <a:spcPts val="1000"/>
              </a:spcBef>
              <a:spcAft>
                <a:spcPts val="0"/>
              </a:spcAft>
              <a:buSzPct val="100000"/>
              <a:buChar char="🠶"/>
            </a:pPr>
            <a:r>
              <a:rPr lang="en-US"/>
              <a:t>They take arguments and return a single output.</a:t>
            </a:r>
            <a:endParaRPr/>
          </a:p>
          <a:p>
            <a:pPr indent="-342900" lvl="0" marL="342900" rtl="0" algn="l">
              <a:spcBef>
                <a:spcPts val="1000"/>
              </a:spcBef>
              <a:spcAft>
                <a:spcPts val="0"/>
              </a:spcAft>
              <a:buSzPct val="100000"/>
              <a:buChar char="🠶"/>
            </a:pPr>
            <a:r>
              <a:rPr lang="en-US"/>
              <a:t>The general syntax is: create function &lt;name&gt; (&lt;arg1&gt; &lt;type1&gt;, [&lt;arg2&gt; &lt;type2&gt; [,…]) returns &lt;return type&gt; [deterministic]</a:t>
            </a:r>
            <a:endParaRPr/>
          </a:p>
          <a:p>
            <a:pPr indent="-285750" lvl="1" marL="742950" rtl="0" algn="l">
              <a:spcBef>
                <a:spcPts val="1000"/>
              </a:spcBef>
              <a:spcAft>
                <a:spcPts val="0"/>
              </a:spcAft>
              <a:buSzPct val="100000"/>
              <a:buChar char="🠶"/>
            </a:pPr>
            <a:r>
              <a:rPr lang="en-US"/>
              <a:t>Deterministic means that the output from the function is strictly a consequence of the arguments.</a:t>
            </a:r>
            <a:endParaRPr/>
          </a:p>
          <a:p>
            <a:pPr indent="-285750" lvl="1" marL="742950" rtl="0" algn="l">
              <a:spcBef>
                <a:spcPts val="1000"/>
              </a:spcBef>
              <a:spcAft>
                <a:spcPts val="0"/>
              </a:spcAft>
              <a:buSzPct val="100000"/>
              <a:buChar char="🠶"/>
            </a:pPr>
            <a:r>
              <a:rPr lang="en-US"/>
              <a:t>Same values input 🡪 same values output.</a:t>
            </a:r>
            <a:endParaRPr/>
          </a:p>
          <a:p>
            <a:pPr indent="-285750" lvl="1" marL="742950" rtl="0" algn="l">
              <a:spcBef>
                <a:spcPts val="1000"/>
              </a:spcBef>
              <a:spcAft>
                <a:spcPts val="0"/>
              </a:spcAft>
              <a:buSzPct val="100000"/>
              <a:buChar char="🠶"/>
            </a:pPr>
            <a:r>
              <a:rPr lang="en-US"/>
              <a:t>Like a static method in Java.</a:t>
            </a:r>
            <a:endParaRPr/>
          </a:p>
          <a:p>
            <a:pPr indent="-285750" lvl="1" marL="742950" rtl="0" algn="l">
              <a:spcBef>
                <a:spcPts val="1000"/>
              </a:spcBef>
              <a:spcAft>
                <a:spcPts val="0"/>
              </a:spcAft>
              <a:buSzPct val="100000"/>
              <a:buChar char="🠶"/>
            </a:pPr>
            <a:r>
              <a:rPr lang="en-US"/>
              <a:t>Note that the arguments cannot be changed and the new values passed back to the caller.</a:t>
            </a:r>
            <a:endParaRPr/>
          </a:p>
          <a:p>
            <a:pPr indent="-342900" lvl="0" marL="342900" rtl="0" algn="l">
              <a:spcBef>
                <a:spcPts val="1000"/>
              </a:spcBef>
              <a:spcAft>
                <a:spcPts val="0"/>
              </a:spcAft>
              <a:buSzPct val="100000"/>
              <a:buChar char="🠶"/>
            </a:pPr>
            <a:r>
              <a:rPr lang="en-US"/>
              <a:t>Follow that with begin … end and you have a function.</a:t>
            </a:r>
            <a:endParaRPr/>
          </a:p>
        </p:txBody>
      </p:sp>
      <p:sp>
        <p:nvSpPr>
          <p:cNvPr id="376" name="Google Shape;376;p4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Functions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Functions</a:t>
            </a:r>
            <a:endParaRPr/>
          </a:p>
        </p:txBody>
      </p:sp>
      <p:sp>
        <p:nvSpPr>
          <p:cNvPr id="382" name="Google Shape;382;p50"/>
          <p:cNvSpPr txBox="1"/>
          <p:nvPr>
            <p:ph idx="1" type="body"/>
          </p:nvPr>
        </p:nvSpPr>
        <p:spPr>
          <a:xfrm>
            <a:off x="1287887" y="1609859"/>
            <a:ext cx="10216725" cy="4301363"/>
          </a:xfrm>
          <a:prstGeom prst="rect">
            <a:avLst/>
          </a:prstGeom>
          <a:noFill/>
          <a:ln>
            <a:noFill/>
          </a:ln>
        </p:spPr>
        <p:txBody>
          <a:bodyPr anchorCtr="0" anchor="t" bIns="45700" lIns="91425" spcFirstLastPara="1" rIns="91425" wrap="square" tIns="45700">
            <a:noAutofit/>
          </a:bodyPr>
          <a:lstStyle/>
          <a:p>
            <a:pPr indent="-342900" lvl="1" marL="342900" rtl="0" algn="l">
              <a:spcBef>
                <a:spcPts val="0"/>
              </a:spcBef>
              <a:spcAft>
                <a:spcPts val="0"/>
              </a:spcAft>
              <a:buSzPts val="2000"/>
              <a:buChar char="🠶"/>
            </a:pPr>
            <a:r>
              <a:rPr lang="en-US" sz="2000"/>
              <a:t>You need ADMIN privilege to create functions on mysql-user server</a:t>
            </a:r>
            <a:endParaRPr/>
          </a:p>
          <a:p>
            <a:pPr indent="-342900" lvl="0" marL="342900" rtl="0" algn="l">
              <a:spcBef>
                <a:spcPts val="1000"/>
              </a:spcBef>
              <a:spcAft>
                <a:spcPts val="0"/>
              </a:spcAft>
              <a:buSzPts val="2000"/>
              <a:buChar char="🠶"/>
            </a:pPr>
            <a:r>
              <a:rPr lang="en-US" sz="2000"/>
              <a:t>Functions are declared using the following syntax:</a:t>
            </a:r>
            <a:endParaRPr/>
          </a:p>
          <a:p>
            <a:pPr indent="-285750" lvl="1" marL="742950" rtl="0" algn="l">
              <a:spcBef>
                <a:spcPts val="1000"/>
              </a:spcBef>
              <a:spcAft>
                <a:spcPts val="0"/>
              </a:spcAft>
              <a:buSzPts val="2000"/>
              <a:buFont typeface="Arial"/>
              <a:buNone/>
            </a:pPr>
            <a:r>
              <a:rPr lang="en-US" sz="2000">
                <a:solidFill>
                  <a:srgbClr val="FF0000"/>
                </a:solidFill>
              </a:rPr>
              <a:t>function</a:t>
            </a:r>
            <a:r>
              <a:rPr lang="en-US" sz="2000"/>
              <a:t> &lt;function-name&gt; (param_spec</a:t>
            </a:r>
            <a:r>
              <a:rPr baseline="-25000" lang="en-US" sz="2000"/>
              <a:t>1</a:t>
            </a:r>
            <a:r>
              <a:rPr lang="en-US" sz="2000"/>
              <a:t>, …, param_spec</a:t>
            </a:r>
            <a:r>
              <a:rPr baseline="-25000" lang="en-US" sz="2000"/>
              <a:t>k</a:t>
            </a:r>
            <a:r>
              <a:rPr lang="en-US" sz="2000"/>
              <a:t>) </a:t>
            </a:r>
            <a:endParaRPr/>
          </a:p>
          <a:p>
            <a:pPr indent="-285750" lvl="1" marL="742950" rtl="0" algn="l">
              <a:spcBef>
                <a:spcPts val="1000"/>
              </a:spcBef>
              <a:spcAft>
                <a:spcPts val="0"/>
              </a:spcAft>
              <a:buSzPts val="2000"/>
              <a:buFont typeface="Arial"/>
              <a:buNone/>
            </a:pPr>
            <a:r>
              <a:rPr lang="en-US" sz="2000"/>
              <a:t>		returns &lt;return_type&gt;  </a:t>
            </a:r>
            <a:endParaRPr/>
          </a:p>
          <a:p>
            <a:pPr indent="-285750" lvl="1" marL="742950" rtl="0" algn="l">
              <a:spcBef>
                <a:spcPts val="1000"/>
              </a:spcBef>
              <a:spcAft>
                <a:spcPts val="0"/>
              </a:spcAft>
              <a:buSzPts val="2000"/>
              <a:buFont typeface="Arial"/>
              <a:buNone/>
            </a:pPr>
            <a:r>
              <a:rPr lang="en-US" sz="2000"/>
              <a:t>		[not] deterministic             allow optimization if same output </a:t>
            </a:r>
            <a:endParaRPr/>
          </a:p>
          <a:p>
            <a:pPr indent="-285750" lvl="1" marL="742950" rtl="0" algn="l">
              <a:spcBef>
                <a:spcPts val="1000"/>
              </a:spcBef>
              <a:spcAft>
                <a:spcPts val="0"/>
              </a:spcAft>
              <a:buSzPts val="2000"/>
              <a:buFont typeface="Arial"/>
              <a:buNone/>
            </a:pPr>
            <a:r>
              <a:rPr lang="en-US" sz="2000"/>
              <a:t>                          for the same input (use RAND not deterministic )</a:t>
            </a:r>
            <a:endParaRPr/>
          </a:p>
          <a:p>
            <a:pPr indent="-285750" lvl="1" marL="742950" rtl="0" algn="l">
              <a:spcBef>
                <a:spcPts val="1000"/>
              </a:spcBef>
              <a:spcAft>
                <a:spcPts val="0"/>
              </a:spcAft>
              <a:buSzPts val="2000"/>
              <a:buFont typeface="Arial"/>
              <a:buNone/>
            </a:pPr>
            <a:r>
              <a:rPr lang="en-US" sz="2000">
                <a:solidFill>
                  <a:srgbClr val="FF0000"/>
                </a:solidFill>
              </a:rPr>
              <a:t>Begin                                  </a:t>
            </a:r>
            <a:endParaRPr/>
          </a:p>
          <a:p>
            <a:pPr indent="-285750" lvl="1" marL="742950" rtl="0" algn="l">
              <a:spcBef>
                <a:spcPts val="1000"/>
              </a:spcBef>
              <a:spcAft>
                <a:spcPts val="0"/>
              </a:spcAft>
              <a:buSzPts val="2000"/>
              <a:buFont typeface="Arial"/>
              <a:buNone/>
            </a:pPr>
            <a:r>
              <a:rPr lang="en-US" sz="2000"/>
              <a:t>	-- execution code	</a:t>
            </a:r>
            <a:endParaRPr/>
          </a:p>
          <a:p>
            <a:pPr indent="-285750" lvl="1" marL="742950" rtl="0" algn="l">
              <a:spcBef>
                <a:spcPts val="1000"/>
              </a:spcBef>
              <a:spcAft>
                <a:spcPts val="0"/>
              </a:spcAft>
              <a:buSzPts val="2000"/>
              <a:buFont typeface="Arial"/>
              <a:buNone/>
            </a:pPr>
            <a:r>
              <a:rPr lang="en-US" sz="2000">
                <a:solidFill>
                  <a:srgbClr val="FF0000"/>
                </a:solidFill>
              </a:rPr>
              <a:t>end;</a:t>
            </a:r>
            <a:endParaRPr/>
          </a:p>
          <a:p>
            <a:pPr indent="-285750" lvl="1" marL="742950" rtl="0" algn="l">
              <a:spcBef>
                <a:spcPts val="1000"/>
              </a:spcBef>
              <a:spcAft>
                <a:spcPts val="0"/>
              </a:spcAft>
              <a:buSzPts val="2000"/>
              <a:buFont typeface="Arial"/>
              <a:buNone/>
            </a:pPr>
            <a:r>
              <a:rPr lang="en-US" sz="2000"/>
              <a:t>where param_spec is:</a:t>
            </a:r>
            <a:endParaRPr/>
          </a:p>
          <a:p>
            <a:pPr indent="-285750" lvl="1" marL="742950" rtl="0" algn="l">
              <a:spcBef>
                <a:spcPts val="1000"/>
              </a:spcBef>
              <a:spcAft>
                <a:spcPts val="0"/>
              </a:spcAft>
              <a:buSzPts val="2000"/>
              <a:buFont typeface="Arial"/>
              <a:buNone/>
            </a:pPr>
            <a:r>
              <a:rPr lang="en-US" sz="2000"/>
              <a:t>		 [in | out | in out] &lt;param_name&gt; &lt;param_type&gt;</a:t>
            </a:r>
            <a:endParaRPr/>
          </a:p>
          <a:p>
            <a:pPr indent="-285750" lvl="1" marL="742950" rtl="0" algn="l">
              <a:spcBef>
                <a:spcPts val="1000"/>
              </a:spcBef>
              <a:spcAft>
                <a:spcPts val="0"/>
              </a:spcAft>
              <a:buSzPts val="2000"/>
              <a:buFont typeface="Arial"/>
              <a:buNone/>
            </a:pPr>
            <a:r>
              <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1"/>
          <p:cNvSpPr txBox="1"/>
          <p:nvPr>
            <p:ph type="title"/>
          </p:nvPr>
        </p:nvSpPr>
        <p:spPr>
          <a:xfrm>
            <a:off x="2592925" y="624110"/>
            <a:ext cx="8911687" cy="1280890"/>
          </a:xfrm>
          <a:prstGeom prst="rect">
            <a:avLst/>
          </a:prstGeom>
          <a:noFill/>
          <a:ln>
            <a:noFill/>
          </a:ln>
        </p:spPr>
        <p:txBody>
          <a:bodyPr anchorCtr="0" anchor="t" bIns="46800" lIns="90000" spcFirstLastPara="1" rIns="90000" wrap="square" tIns="46800">
            <a:normAutofit/>
          </a:bodyPr>
          <a:lstStyle/>
          <a:p>
            <a:pPr indent="0" lvl="0" marL="0" rtl="0" algn="l">
              <a:lnSpc>
                <a:spcPct val="95000"/>
              </a:lnSpc>
              <a:spcBef>
                <a:spcPts val="0"/>
              </a:spcBef>
              <a:spcAft>
                <a:spcPts val="0"/>
              </a:spcAft>
              <a:buClr>
                <a:srgbClr val="168DBA"/>
              </a:buClr>
              <a:buSzPts val="3600"/>
              <a:buFont typeface="Century Gothic"/>
              <a:buNone/>
            </a:pPr>
            <a:r>
              <a:rPr lang="en-US"/>
              <a:t>Example of Functions</a:t>
            </a:r>
            <a:endParaRPr/>
          </a:p>
        </p:txBody>
      </p:sp>
      <p:pic>
        <p:nvPicPr>
          <p:cNvPr id="388" name="Google Shape;388;p51"/>
          <p:cNvPicPr preferRelativeResize="0"/>
          <p:nvPr/>
        </p:nvPicPr>
        <p:blipFill rotWithShape="1">
          <a:blip r:embed="rId3">
            <a:alphaModFix/>
          </a:blip>
          <a:srcRect b="33932" l="0" r="2498" t="0"/>
          <a:stretch/>
        </p:blipFill>
        <p:spPr>
          <a:xfrm>
            <a:off x="1981200" y="1295400"/>
            <a:ext cx="7881938" cy="4648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2"/>
          <p:cNvSpPr txBox="1"/>
          <p:nvPr>
            <p:ph type="title"/>
          </p:nvPr>
        </p:nvSpPr>
        <p:spPr>
          <a:xfrm>
            <a:off x="2592925" y="624110"/>
            <a:ext cx="8911687" cy="1280890"/>
          </a:xfrm>
          <a:prstGeom prst="rect">
            <a:avLst/>
          </a:prstGeom>
          <a:noFill/>
          <a:ln>
            <a:noFill/>
          </a:ln>
        </p:spPr>
        <p:txBody>
          <a:bodyPr anchorCtr="0" anchor="t" bIns="46800" lIns="90000" spcFirstLastPara="1" rIns="90000" wrap="square" tIns="46800">
            <a:normAutofit/>
          </a:bodyPr>
          <a:lstStyle/>
          <a:p>
            <a:pPr indent="0" lvl="0" marL="0" rtl="0" algn="l">
              <a:lnSpc>
                <a:spcPct val="95000"/>
              </a:lnSpc>
              <a:spcBef>
                <a:spcPts val="0"/>
              </a:spcBef>
              <a:spcAft>
                <a:spcPts val="0"/>
              </a:spcAft>
              <a:buClr>
                <a:srgbClr val="168DBA"/>
              </a:buClr>
              <a:buSzPts val="3600"/>
              <a:buFont typeface="Century Gothic"/>
              <a:buNone/>
            </a:pPr>
            <a:r>
              <a:rPr lang="en-US"/>
              <a:t>Another Example of Functions</a:t>
            </a:r>
            <a:endParaRPr/>
          </a:p>
        </p:txBody>
      </p:sp>
      <p:pic>
        <p:nvPicPr>
          <p:cNvPr id="394" name="Google Shape;394;p52"/>
          <p:cNvPicPr preferRelativeResize="0"/>
          <p:nvPr/>
        </p:nvPicPr>
        <p:blipFill rotWithShape="1">
          <a:blip r:embed="rId3">
            <a:alphaModFix/>
          </a:blip>
          <a:srcRect b="0" l="0" r="0" t="66068"/>
          <a:stretch/>
        </p:blipFill>
        <p:spPr>
          <a:xfrm>
            <a:off x="2057400" y="2057400"/>
            <a:ext cx="8256588" cy="2438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3"/>
          <p:cNvSpPr txBox="1"/>
          <p:nvPr>
            <p:ph idx="4294967295" type="title"/>
          </p:nvPr>
        </p:nvSpPr>
        <p:spPr>
          <a:xfrm>
            <a:off x="1897487" y="500130"/>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a:t>
            </a:r>
            <a:endParaRPr/>
          </a:p>
        </p:txBody>
      </p:sp>
      <p:sp>
        <p:nvSpPr>
          <p:cNvPr id="400" name="Google Shape;400;p53"/>
          <p:cNvSpPr txBox="1"/>
          <p:nvPr>
            <p:ph idx="4294967295" type="body"/>
          </p:nvPr>
        </p:nvSpPr>
        <p:spPr>
          <a:xfrm>
            <a:off x="1524000" y="1374819"/>
            <a:ext cx="8318500" cy="5181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To monitor a database and take a corrective action when a condition occurs</a:t>
            </a:r>
            <a:endParaRPr/>
          </a:p>
          <a:p>
            <a:pPr indent="-285750" lvl="1" marL="742950" rtl="0" algn="l">
              <a:spcBef>
                <a:spcPts val="1000"/>
              </a:spcBef>
              <a:spcAft>
                <a:spcPts val="0"/>
              </a:spcAft>
              <a:buSzPts val="1800"/>
              <a:buChar char="🠶"/>
            </a:pPr>
            <a:r>
              <a:rPr lang="en-US" sz="1800"/>
              <a:t>Examples: </a:t>
            </a:r>
            <a:endParaRPr/>
          </a:p>
          <a:p>
            <a:pPr indent="-228600" lvl="2" marL="1143000" rtl="0" algn="l">
              <a:spcBef>
                <a:spcPts val="1000"/>
              </a:spcBef>
              <a:spcAft>
                <a:spcPts val="0"/>
              </a:spcAft>
              <a:buSzPts val="1600"/>
              <a:buChar char="🠶"/>
            </a:pPr>
            <a:r>
              <a:rPr lang="en-US" sz="1600"/>
              <a:t>Charge $10 overdraft fee if the balance of an account after a withdrawal transaction is less than $500</a:t>
            </a:r>
            <a:endParaRPr/>
          </a:p>
          <a:p>
            <a:pPr indent="-228600" lvl="2" marL="1143000" rtl="0" algn="l">
              <a:spcBef>
                <a:spcPts val="1000"/>
              </a:spcBef>
              <a:spcAft>
                <a:spcPts val="0"/>
              </a:spcAft>
              <a:buSzPts val="1600"/>
              <a:buChar char="🠶"/>
            </a:pPr>
            <a:r>
              <a:rPr lang="en-US" sz="1600"/>
              <a:t>Limit the salary increase of an employee to no more than 5% raise</a:t>
            </a:r>
            <a:endParaRPr/>
          </a:p>
          <a:p>
            <a:pPr indent="-127000" lvl="2" marL="1143000" rtl="0" algn="l">
              <a:spcBef>
                <a:spcPts val="1000"/>
              </a:spcBef>
              <a:spcAft>
                <a:spcPts val="0"/>
              </a:spcAft>
              <a:buSzPts val="1600"/>
              <a:buNone/>
            </a:pPr>
            <a:r>
              <a:t/>
            </a:r>
            <a:endParaRPr sz="1600"/>
          </a:p>
          <a:p>
            <a:pPr indent="-342900" lvl="0" marL="342900" rtl="0" algn="l">
              <a:spcBef>
                <a:spcPts val="1000"/>
              </a:spcBef>
              <a:spcAft>
                <a:spcPts val="0"/>
              </a:spcAft>
              <a:buSzPts val="2000"/>
              <a:buNone/>
            </a:pPr>
            <a:r>
              <a:rPr b="1" lang="en-US" sz="2000">
                <a:latin typeface="Courier New"/>
                <a:ea typeface="Courier New"/>
                <a:cs typeface="Courier New"/>
                <a:sym typeface="Courier New"/>
              </a:rPr>
              <a:t>	CREATE TRIGGER </a:t>
            </a:r>
            <a:r>
              <a:rPr lang="en-US" sz="2000">
                <a:latin typeface="Courier New"/>
                <a:ea typeface="Courier New"/>
                <a:cs typeface="Courier New"/>
                <a:sym typeface="Courier New"/>
              </a:rPr>
              <a:t>trigger-name</a:t>
            </a:r>
            <a:br>
              <a:rPr lang="en-US" sz="2000">
                <a:latin typeface="Courier New"/>
                <a:ea typeface="Courier New"/>
                <a:cs typeface="Courier New"/>
                <a:sym typeface="Courier New"/>
              </a:rPr>
            </a:br>
            <a:r>
              <a:rPr lang="en-US" sz="2000">
                <a:latin typeface="Courier New"/>
                <a:ea typeface="Courier New"/>
                <a:cs typeface="Courier New"/>
                <a:sym typeface="Courier New"/>
              </a:rPr>
              <a:t>	</a:t>
            </a:r>
            <a:r>
              <a:rPr b="1" lang="en-US" sz="2000">
                <a:solidFill>
                  <a:srgbClr val="FF0000"/>
                </a:solidFill>
                <a:latin typeface="Courier New"/>
                <a:ea typeface="Courier New"/>
                <a:cs typeface="Courier New"/>
                <a:sym typeface="Courier New"/>
              </a:rPr>
              <a:t>trigger-time</a:t>
            </a:r>
            <a:r>
              <a:rPr lang="en-US" sz="2000">
                <a:latin typeface="Courier New"/>
                <a:ea typeface="Courier New"/>
                <a:cs typeface="Courier New"/>
                <a:sym typeface="Courier New"/>
              </a:rPr>
              <a:t> </a:t>
            </a:r>
            <a:r>
              <a:rPr b="1" lang="en-US" sz="2000">
                <a:solidFill>
                  <a:srgbClr val="FF0000"/>
                </a:solidFill>
                <a:latin typeface="Courier New"/>
                <a:ea typeface="Courier New"/>
                <a:cs typeface="Courier New"/>
                <a:sym typeface="Courier New"/>
              </a:rPr>
              <a:t>trigger-event</a:t>
            </a:r>
            <a:r>
              <a:rPr lang="en-US" sz="2000">
                <a:latin typeface="Courier New"/>
                <a:ea typeface="Courier New"/>
                <a:cs typeface="Courier New"/>
                <a:sym typeface="Courier New"/>
              </a:rPr>
              <a:t> </a:t>
            </a:r>
            <a:br>
              <a:rPr lang="en-US" sz="2000">
                <a:latin typeface="Courier New"/>
                <a:ea typeface="Courier New"/>
                <a:cs typeface="Courier New"/>
                <a:sym typeface="Courier New"/>
              </a:rPr>
            </a:br>
            <a:r>
              <a:rPr lang="en-US" sz="2000">
                <a:latin typeface="Courier New"/>
                <a:ea typeface="Courier New"/>
                <a:cs typeface="Courier New"/>
                <a:sym typeface="Courier New"/>
              </a:rPr>
              <a:t>	</a:t>
            </a:r>
            <a:r>
              <a:rPr b="1" lang="en-US" sz="2000">
                <a:latin typeface="Courier New"/>
                <a:ea typeface="Courier New"/>
                <a:cs typeface="Courier New"/>
                <a:sym typeface="Courier New"/>
              </a:rPr>
              <a:t>ON </a:t>
            </a:r>
            <a:r>
              <a:rPr lang="en-US" sz="2000">
                <a:latin typeface="Courier New"/>
                <a:ea typeface="Courier New"/>
                <a:cs typeface="Courier New"/>
                <a:sym typeface="Courier New"/>
              </a:rPr>
              <a:t>table-name</a:t>
            </a:r>
            <a:br>
              <a:rPr b="1" lang="en-US" sz="2000">
                <a:latin typeface="Courier New"/>
                <a:ea typeface="Courier New"/>
                <a:cs typeface="Courier New"/>
                <a:sym typeface="Courier New"/>
              </a:rPr>
            </a:br>
            <a:r>
              <a:rPr b="1" lang="en-US" sz="2000">
                <a:latin typeface="Courier New"/>
                <a:ea typeface="Courier New"/>
                <a:cs typeface="Courier New"/>
                <a:sym typeface="Courier New"/>
              </a:rPr>
              <a:t>	FOR EACH ROW</a:t>
            </a:r>
            <a:br>
              <a:rPr b="1" lang="en-US" sz="2000">
                <a:latin typeface="Courier New"/>
                <a:ea typeface="Courier New"/>
                <a:cs typeface="Courier New"/>
                <a:sym typeface="Courier New"/>
              </a:rPr>
            </a:br>
            <a:r>
              <a:rPr b="1" lang="en-US" sz="2000">
                <a:latin typeface="Courier New"/>
                <a:ea typeface="Courier New"/>
                <a:cs typeface="Courier New"/>
                <a:sym typeface="Courier New"/>
              </a:rPr>
              <a:t>		</a:t>
            </a:r>
            <a:r>
              <a:rPr b="1" lang="en-US" sz="2000">
                <a:solidFill>
                  <a:srgbClr val="FF0000"/>
                </a:solidFill>
                <a:latin typeface="Courier New"/>
                <a:ea typeface="Courier New"/>
                <a:cs typeface="Courier New"/>
                <a:sym typeface="Courier New"/>
              </a:rPr>
              <a:t>trigger-action</a:t>
            </a:r>
            <a:r>
              <a:rPr lang="en-US" sz="2000">
                <a:latin typeface="Courier New"/>
                <a:ea typeface="Courier New"/>
                <a:cs typeface="Courier New"/>
                <a:sym typeface="Courier New"/>
              </a:rPr>
              <a:t>; </a:t>
            </a:r>
            <a:endParaRPr/>
          </a:p>
          <a:p>
            <a:pPr indent="0" lvl="1" marL="457200" rtl="0" algn="l">
              <a:spcBef>
                <a:spcPts val="1000"/>
              </a:spcBef>
              <a:spcAft>
                <a:spcPts val="0"/>
              </a:spcAft>
              <a:buSzPts val="1600"/>
              <a:buNone/>
            </a:pPr>
            <a:r>
              <a:rPr lang="en-US"/>
              <a:t>trigger-time ∈ {BEFORE, AFTER}</a:t>
            </a:r>
            <a:endParaRPr/>
          </a:p>
          <a:p>
            <a:pPr indent="0" lvl="1" marL="457200" rtl="0" algn="l">
              <a:spcBef>
                <a:spcPts val="1000"/>
              </a:spcBef>
              <a:spcAft>
                <a:spcPts val="0"/>
              </a:spcAft>
              <a:buSzPts val="1600"/>
              <a:buNone/>
            </a:pPr>
            <a:r>
              <a:rPr lang="en-US"/>
              <a:t>trigger-event ∈ {INSERT,DELETE,UPDATE}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Triggers</a:t>
            </a:r>
            <a:endParaRPr/>
          </a:p>
        </p:txBody>
      </p:sp>
      <p:sp>
        <p:nvSpPr>
          <p:cNvPr id="406" name="Google Shape;406;p54"/>
          <p:cNvSpPr/>
          <p:nvPr/>
        </p:nvSpPr>
        <p:spPr>
          <a:xfrm>
            <a:off x="2254876" y="2750230"/>
            <a:ext cx="8179676" cy="369331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CREATE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[DEFINER = { user | CURRENT_USER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TRIGGER trigger_name</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trigger_time trigger_event</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ON tbl_name FOR EACH ROW</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[trigger_order]</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trigger_body</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trigger_time: { BEFORE | AFTER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trigger_event: { INSERT | UPDATE | DELETE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trigger_order: { FOLLOWS | PRECEDES } </a:t>
            </a:r>
            <a:r>
              <a:rPr b="1" lang="en-US" sz="1800">
                <a:solidFill>
                  <a:schemeClr val="dk1"/>
                </a:solidFill>
                <a:latin typeface="Century Gothic"/>
                <a:ea typeface="Century Gothic"/>
                <a:cs typeface="Century Gothic"/>
                <a:sym typeface="Century Gothic"/>
              </a:rPr>
              <a:t>other</a:t>
            </a:r>
            <a:r>
              <a:rPr lang="en-US" sz="1800">
                <a:solidFill>
                  <a:schemeClr val="dk1"/>
                </a:solidFill>
                <a:latin typeface="Century Gothic"/>
                <a:ea typeface="Century Gothic"/>
                <a:cs typeface="Century Gothic"/>
                <a:sym typeface="Century Gothic"/>
              </a:rPr>
              <a:t>_trigger_name</a:t>
            </a:r>
            <a:endParaRPr sz="1800">
              <a:solidFill>
                <a:schemeClr val="dk1"/>
              </a:solidFill>
              <a:latin typeface="Century Gothic"/>
              <a:ea typeface="Century Gothic"/>
              <a:cs typeface="Century Gothic"/>
              <a:sym typeface="Century Gothic"/>
            </a:endParaRPr>
          </a:p>
        </p:txBody>
      </p:sp>
      <p:sp>
        <p:nvSpPr>
          <p:cNvPr id="407" name="Google Shape;407;p54"/>
          <p:cNvSpPr txBox="1"/>
          <p:nvPr/>
        </p:nvSpPr>
        <p:spPr>
          <a:xfrm>
            <a:off x="727841" y="1469340"/>
            <a:ext cx="9459348" cy="1106435"/>
          </a:xfrm>
          <a:prstGeom prst="rect">
            <a:avLst/>
          </a:prstGeom>
          <a:noFill/>
          <a:ln>
            <a:noFill/>
          </a:ln>
        </p:spPr>
        <p:txBody>
          <a:bodyPr anchorCtr="0" anchor="t" bIns="45700" lIns="91425" spcFirstLastPara="1" rIns="91425" wrap="square" tIns="45700">
            <a:normAutofit fontScale="92500"/>
          </a:bodyPr>
          <a:lstStyle/>
          <a:p>
            <a:pPr indent="-228600" lvl="0" marL="228600" marR="0" rtl="0" algn="l">
              <a:lnSpc>
                <a:spcPct val="90000"/>
              </a:lnSpc>
              <a:spcBef>
                <a:spcPts val="0"/>
              </a:spcBef>
              <a:spcAft>
                <a:spcPts val="0"/>
              </a:spcAft>
              <a:buClr>
                <a:schemeClr val="dk1"/>
              </a:buClr>
              <a:buSzPct val="100000"/>
              <a:buFont typeface="Arial"/>
              <a:buChar char="•"/>
            </a:pPr>
            <a:r>
              <a:rPr lang="en-US" sz="2400">
                <a:solidFill>
                  <a:schemeClr val="dk1"/>
                </a:solidFill>
                <a:latin typeface="Century Gothic"/>
                <a:ea typeface="Century Gothic"/>
                <a:cs typeface="Century Gothic"/>
                <a:sym typeface="Century Gothic"/>
              </a:rPr>
              <a:t>Please see: </a:t>
            </a:r>
            <a:r>
              <a:rPr lang="en-US" sz="2400" u="sng">
                <a:solidFill>
                  <a:schemeClr val="hlink"/>
                </a:solidFill>
                <a:latin typeface="Century Gothic"/>
                <a:ea typeface="Century Gothic"/>
                <a:cs typeface="Century Gothic"/>
                <a:sym typeface="Century Gothic"/>
                <a:hlinkClick r:id="rId3"/>
              </a:rPr>
              <a:t>https://dev.mysql.com/doc/refman/8.0/en/create-trigger.html</a:t>
            </a:r>
            <a:endParaRPr sz="2400">
              <a:solidFill>
                <a:schemeClr val="dk1"/>
              </a:solidFill>
              <a:latin typeface="Century Gothic"/>
              <a:ea typeface="Century Gothic"/>
              <a:cs typeface="Century Gothic"/>
              <a:sym typeface="Century Gothic"/>
            </a:endParaRPr>
          </a:p>
          <a:p>
            <a:pPr indent="0" lvl="0" marL="0" marR="0" rtl="0" algn="l">
              <a:lnSpc>
                <a:spcPct val="90000"/>
              </a:lnSpc>
              <a:spcBef>
                <a:spcPts val="666"/>
              </a:spcBef>
              <a:spcAft>
                <a:spcPts val="0"/>
              </a:spcAft>
              <a:buClr>
                <a:schemeClr val="dk1"/>
              </a:buClr>
              <a:buSzPct val="100000"/>
              <a:buFont typeface="Arial"/>
              <a:buNone/>
            </a:pPr>
            <a:r>
              <a:rPr lang="en-US" sz="2400">
                <a:solidFill>
                  <a:schemeClr val="dk1"/>
                </a:solidFill>
                <a:latin typeface="Century Gothic"/>
                <a:ea typeface="Century Gothic"/>
                <a:cs typeface="Century Gothic"/>
                <a:sym typeface="Century Gothic"/>
              </a:rPr>
              <a:t> for the complete specification for triggers.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SQL Triggers: An Example</a:t>
            </a:r>
            <a:endParaRPr/>
          </a:p>
        </p:txBody>
      </p:sp>
      <p:sp>
        <p:nvSpPr>
          <p:cNvPr id="413" name="Google Shape;413;p55"/>
          <p:cNvSpPr txBox="1"/>
          <p:nvPr>
            <p:ph idx="1" type="body"/>
          </p:nvPr>
        </p:nvSpPr>
        <p:spPr>
          <a:xfrm>
            <a:off x="1441361" y="1362857"/>
            <a:ext cx="8318500" cy="990600"/>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Char char="🠶"/>
            </a:pPr>
            <a:r>
              <a:rPr lang="en-US"/>
              <a:t>We want to create a trigger to update the total salary of a department when a new employee is hired</a:t>
            </a:r>
            <a:endParaRPr/>
          </a:p>
        </p:txBody>
      </p:sp>
      <p:pic>
        <p:nvPicPr>
          <p:cNvPr id="414" name="Google Shape;414;p55"/>
          <p:cNvPicPr preferRelativeResize="0"/>
          <p:nvPr/>
        </p:nvPicPr>
        <p:blipFill rotWithShape="1">
          <a:blip r:embed="rId3">
            <a:alphaModFix/>
          </a:blip>
          <a:srcRect b="0" l="0" r="0" t="0"/>
          <a:stretch/>
        </p:blipFill>
        <p:spPr>
          <a:xfrm>
            <a:off x="2155043" y="2228045"/>
            <a:ext cx="6920384" cy="41652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animEffect filter="fade" transition="in">
                                      <p:cBhvr>
                                        <p:cTn dur="500"/>
                                        <p:tgtEl>
                                          <p:spTgt spid="41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6"/>
          <p:cNvSpPr txBox="1"/>
          <p:nvPr>
            <p:ph idx="4294967295" type="title"/>
          </p:nvPr>
        </p:nvSpPr>
        <p:spPr>
          <a:xfrm>
            <a:off x="1917700" y="700824"/>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 Another Example</a:t>
            </a:r>
            <a:endParaRPr/>
          </a:p>
        </p:txBody>
      </p:sp>
      <p:pic>
        <p:nvPicPr>
          <p:cNvPr id="420" name="Google Shape;420;p56"/>
          <p:cNvPicPr preferRelativeResize="0"/>
          <p:nvPr/>
        </p:nvPicPr>
        <p:blipFill rotWithShape="1">
          <a:blip r:embed="rId3">
            <a:alphaModFix/>
          </a:blip>
          <a:srcRect b="0" l="0" r="0" t="0"/>
          <a:stretch/>
        </p:blipFill>
        <p:spPr>
          <a:xfrm>
            <a:off x="2322490" y="2903112"/>
            <a:ext cx="7162800" cy="2560638"/>
          </a:xfrm>
          <a:prstGeom prst="rect">
            <a:avLst/>
          </a:prstGeom>
          <a:noFill/>
          <a:ln>
            <a:noFill/>
          </a:ln>
        </p:spPr>
      </p:pic>
      <p:sp>
        <p:nvSpPr>
          <p:cNvPr id="421" name="Google Shape;421;p56"/>
          <p:cNvSpPr/>
          <p:nvPr/>
        </p:nvSpPr>
        <p:spPr>
          <a:xfrm>
            <a:off x="1879600" y="1573368"/>
            <a:ext cx="8318500" cy="990600"/>
          </a:xfrm>
          <a:prstGeom prst="rect">
            <a:avLst/>
          </a:prstGeom>
          <a:noFill/>
          <a:ln>
            <a:noFill/>
          </a:ln>
        </p:spPr>
        <p:txBody>
          <a:bodyPr anchorCtr="0" anchor="t" bIns="44450" lIns="90475" spcFirstLastPara="1" rIns="90475" wrap="square" tIns="44450">
            <a:noAutofit/>
          </a:bodyPr>
          <a:lstStyle/>
          <a:p>
            <a:pPr indent="-342900" lvl="0" marL="342900" marR="0" rtl="0" algn="l">
              <a:spcBef>
                <a:spcPts val="0"/>
              </a:spcBef>
              <a:spcAft>
                <a:spcPts val="0"/>
              </a:spcAft>
              <a:buClr>
                <a:srgbClr val="0C7B9C"/>
              </a:buClr>
              <a:buSzPts val="1800"/>
              <a:buFont typeface="Arial"/>
              <a:buChar char="●"/>
            </a:pPr>
            <a:r>
              <a:rPr lang="en-US" sz="2400">
                <a:solidFill>
                  <a:schemeClr val="dk1"/>
                </a:solidFill>
                <a:latin typeface="Arial"/>
                <a:ea typeface="Arial"/>
                <a:cs typeface="Arial"/>
                <a:sym typeface="Arial"/>
              </a:rPr>
              <a:t>Create a trigger to update the total salary of a department when a new employee is hired:</a:t>
            </a:r>
            <a:endParaRPr/>
          </a:p>
        </p:txBody>
      </p:sp>
      <p:sp>
        <p:nvSpPr>
          <p:cNvPr id="422" name="Google Shape;422;p56"/>
          <p:cNvSpPr/>
          <p:nvPr/>
        </p:nvSpPr>
        <p:spPr>
          <a:xfrm>
            <a:off x="2006957" y="5802894"/>
            <a:ext cx="8318500" cy="990600"/>
          </a:xfrm>
          <a:prstGeom prst="rect">
            <a:avLst/>
          </a:prstGeom>
          <a:noFill/>
          <a:ln>
            <a:noFill/>
          </a:ln>
        </p:spPr>
        <p:txBody>
          <a:bodyPr anchorCtr="0" anchor="t" bIns="44450" lIns="90475" spcFirstLastPara="1" rIns="90475" wrap="square" tIns="44450">
            <a:noAutofit/>
          </a:bodyPr>
          <a:lstStyle/>
          <a:p>
            <a:pPr indent="-342900" lvl="0" marL="342900" marR="0" rtl="0" algn="l">
              <a:spcBef>
                <a:spcPts val="0"/>
              </a:spcBef>
              <a:spcAft>
                <a:spcPts val="0"/>
              </a:spcAft>
              <a:buClr>
                <a:srgbClr val="0C7B9C"/>
              </a:buClr>
              <a:buSzPts val="1800"/>
              <a:buFont typeface="Arial"/>
              <a:buChar char="●"/>
            </a:pPr>
            <a:r>
              <a:rPr lang="en-US" sz="2400">
                <a:solidFill>
                  <a:schemeClr val="dk1"/>
                </a:solidFill>
                <a:latin typeface="Arial"/>
                <a:ea typeface="Arial"/>
                <a:cs typeface="Arial"/>
                <a:sym typeface="Arial"/>
              </a:rPr>
              <a:t>The keyword “new” refers to the new row inserted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animEffect filter="fade" transition="in">
                                      <p:cBhvr>
                                        <p:cTn dur="500"/>
                                        <p:tgtEl>
                                          <p:spTgt spid="42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7"/>
          <p:cNvSpPr txBox="1"/>
          <p:nvPr>
            <p:ph idx="4294967295" type="title"/>
          </p:nvPr>
        </p:nvSpPr>
        <p:spPr>
          <a:xfrm>
            <a:off x="1665667" y="368302"/>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 Another Example – Part 2</a:t>
            </a:r>
            <a:endParaRPr/>
          </a:p>
        </p:txBody>
      </p:sp>
      <p:pic>
        <p:nvPicPr>
          <p:cNvPr id="428" name="Google Shape;428;p57"/>
          <p:cNvPicPr preferRelativeResize="0"/>
          <p:nvPr/>
        </p:nvPicPr>
        <p:blipFill rotWithShape="1">
          <a:blip r:embed="rId3">
            <a:alphaModFix/>
          </a:blip>
          <a:srcRect b="0" l="0" r="0" t="0"/>
          <a:stretch/>
        </p:blipFill>
        <p:spPr>
          <a:xfrm>
            <a:off x="2107842" y="991393"/>
            <a:ext cx="7620000" cy="5662613"/>
          </a:xfrm>
          <a:prstGeom prst="rect">
            <a:avLst/>
          </a:prstGeom>
          <a:noFill/>
          <a:ln>
            <a:noFill/>
          </a:ln>
        </p:spPr>
      </p:pic>
      <p:cxnSp>
        <p:nvCxnSpPr>
          <p:cNvPr id="429" name="Google Shape;429;p57"/>
          <p:cNvCxnSpPr/>
          <p:nvPr/>
        </p:nvCxnSpPr>
        <p:spPr>
          <a:xfrm rot="10800000">
            <a:off x="4648200" y="3657600"/>
            <a:ext cx="609600" cy="0"/>
          </a:xfrm>
          <a:prstGeom prst="straightConnector1">
            <a:avLst/>
          </a:prstGeom>
          <a:noFill/>
          <a:ln cap="flat" cmpd="sng" w="12700">
            <a:solidFill>
              <a:srgbClr val="FF0000"/>
            </a:solidFill>
            <a:prstDash val="solid"/>
            <a:round/>
            <a:headEnd len="med" w="med" type="none"/>
            <a:tailEnd len="med" w="med" type="triangle"/>
          </a:ln>
        </p:spPr>
      </p:cxnSp>
      <p:sp>
        <p:nvSpPr>
          <p:cNvPr id="430" name="Google Shape;430;p57"/>
          <p:cNvSpPr txBox="1"/>
          <p:nvPr/>
        </p:nvSpPr>
        <p:spPr>
          <a:xfrm>
            <a:off x="5105400" y="3429000"/>
            <a:ext cx="3733800"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totalsalary increases by 90K</a:t>
            </a:r>
            <a:endParaRPr/>
          </a:p>
        </p:txBody>
      </p:sp>
      <p:sp>
        <p:nvSpPr>
          <p:cNvPr id="431" name="Google Shape;431;p57"/>
          <p:cNvSpPr txBox="1"/>
          <p:nvPr/>
        </p:nvSpPr>
        <p:spPr>
          <a:xfrm>
            <a:off x="5257800" y="5473700"/>
            <a:ext cx="3581400" cy="393700"/>
          </a:xfrm>
          <a:prstGeom prst="rect">
            <a:avLst/>
          </a:prstGeom>
          <a:noFill/>
          <a:ln>
            <a:noFill/>
          </a:ln>
        </p:spPr>
        <p:txBody>
          <a:bodyPr anchorCtr="0" anchor="t" bIns="44450" lIns="90475" spcFirstLastPara="1" rIns="90475" wrap="square" tIns="4445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totalsalary did not change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8"/>
          <p:cNvSpPr txBox="1"/>
          <p:nvPr>
            <p:ph idx="4294967295" type="title"/>
          </p:nvPr>
        </p:nvSpPr>
        <p:spPr>
          <a:xfrm>
            <a:off x="1765300" y="609600"/>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 Another Example – Part 3</a:t>
            </a:r>
            <a:endParaRPr/>
          </a:p>
        </p:txBody>
      </p:sp>
      <p:sp>
        <p:nvSpPr>
          <p:cNvPr id="437" name="Google Shape;437;p58"/>
          <p:cNvSpPr txBox="1"/>
          <p:nvPr>
            <p:ph idx="4294967295" type="body"/>
          </p:nvPr>
        </p:nvSpPr>
        <p:spPr>
          <a:xfrm>
            <a:off x="1549758" y="1389422"/>
            <a:ext cx="8318500" cy="5181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A trigger to update the total salary of a department when an employee tuple is modified:</a:t>
            </a:r>
            <a:endParaRPr/>
          </a:p>
          <a:p>
            <a:pPr indent="-342900" lvl="0" marL="342900" rtl="0" algn="l">
              <a:spcBef>
                <a:spcPts val="1000"/>
              </a:spcBef>
              <a:spcAft>
                <a:spcPts val="0"/>
              </a:spcAft>
              <a:buSzPts val="1800"/>
              <a:buNone/>
            </a:pPr>
            <a:r>
              <a:t/>
            </a:r>
            <a:endParaRPr>
              <a:latin typeface="Courier New"/>
              <a:ea typeface="Courier New"/>
              <a:cs typeface="Courier New"/>
              <a:sym typeface="Courier New"/>
            </a:endParaRPr>
          </a:p>
          <a:p>
            <a:pPr indent="-342900" lvl="0" marL="342900" rtl="0" algn="l">
              <a:spcBef>
                <a:spcPts val="1000"/>
              </a:spcBef>
              <a:spcAft>
                <a:spcPts val="0"/>
              </a:spcAft>
              <a:buSzPts val="1600"/>
              <a:buNone/>
            </a:pPr>
            <a:r>
              <a:t/>
            </a:r>
            <a:endParaRPr sz="1600">
              <a:latin typeface="Courier New"/>
              <a:ea typeface="Courier New"/>
              <a:cs typeface="Courier New"/>
              <a:sym typeface="Courier New"/>
            </a:endParaRPr>
          </a:p>
        </p:txBody>
      </p:sp>
      <p:pic>
        <p:nvPicPr>
          <p:cNvPr id="438" name="Google Shape;438;p58"/>
          <p:cNvPicPr preferRelativeResize="0"/>
          <p:nvPr/>
        </p:nvPicPr>
        <p:blipFill rotWithShape="1">
          <a:blip r:embed="rId3">
            <a:alphaModFix/>
          </a:blip>
          <a:srcRect b="0" l="0" r="0" t="0"/>
          <a:stretch/>
        </p:blipFill>
        <p:spPr>
          <a:xfrm>
            <a:off x="2000518" y="2661635"/>
            <a:ext cx="6934200" cy="326866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9"/>
          <p:cNvSpPr txBox="1"/>
          <p:nvPr>
            <p:ph idx="4294967295" type="title"/>
          </p:nvPr>
        </p:nvSpPr>
        <p:spPr>
          <a:xfrm>
            <a:off x="1807335" y="654676"/>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 An Example – Part 4</a:t>
            </a:r>
            <a:endParaRPr/>
          </a:p>
        </p:txBody>
      </p:sp>
      <p:pic>
        <p:nvPicPr>
          <p:cNvPr id="444" name="Google Shape;444;p59"/>
          <p:cNvPicPr preferRelativeResize="0"/>
          <p:nvPr/>
        </p:nvPicPr>
        <p:blipFill rotWithShape="1">
          <a:blip r:embed="rId3">
            <a:alphaModFix/>
          </a:blip>
          <a:srcRect b="0" l="0" r="0" t="0"/>
          <a:stretch/>
        </p:blipFill>
        <p:spPr>
          <a:xfrm>
            <a:off x="3101304" y="1447800"/>
            <a:ext cx="5362575" cy="5410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0"/>
          <p:cNvSpPr txBox="1"/>
          <p:nvPr>
            <p:ph idx="4294967295" type="title"/>
          </p:nvPr>
        </p:nvSpPr>
        <p:spPr>
          <a:xfrm>
            <a:off x="1663879" y="693313"/>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 Another Example – Part 5</a:t>
            </a:r>
            <a:endParaRPr/>
          </a:p>
        </p:txBody>
      </p:sp>
      <p:sp>
        <p:nvSpPr>
          <p:cNvPr id="450" name="Google Shape;450;p60"/>
          <p:cNvSpPr txBox="1"/>
          <p:nvPr>
            <p:ph idx="4294967295" type="body"/>
          </p:nvPr>
        </p:nvSpPr>
        <p:spPr>
          <a:xfrm>
            <a:off x="1504950" y="1568003"/>
            <a:ext cx="8318500" cy="5181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000"/>
              <a:buChar char="🠶"/>
            </a:pPr>
            <a:r>
              <a:rPr lang="en-US" sz="2000"/>
              <a:t>A trigger to update the total salary of a department when an employee tuple is deleted:</a:t>
            </a:r>
            <a:endParaRPr/>
          </a:p>
          <a:p>
            <a:pPr indent="-342900" lvl="0" marL="342900" rtl="0" algn="l">
              <a:spcBef>
                <a:spcPts val="1000"/>
              </a:spcBef>
              <a:spcAft>
                <a:spcPts val="0"/>
              </a:spcAft>
              <a:buSzPts val="1800"/>
              <a:buNone/>
            </a:pPr>
            <a:r>
              <a:t/>
            </a:r>
            <a:endParaRPr>
              <a:latin typeface="Courier New"/>
              <a:ea typeface="Courier New"/>
              <a:cs typeface="Courier New"/>
              <a:sym typeface="Courier New"/>
            </a:endParaRPr>
          </a:p>
          <a:p>
            <a:pPr indent="-342900" lvl="0" marL="342900" rtl="0" algn="l">
              <a:spcBef>
                <a:spcPts val="1000"/>
              </a:spcBef>
              <a:spcAft>
                <a:spcPts val="0"/>
              </a:spcAft>
              <a:buSzPts val="1600"/>
              <a:buNone/>
            </a:pPr>
            <a:r>
              <a:t/>
            </a:r>
            <a:endParaRPr sz="1600">
              <a:latin typeface="Courier New"/>
              <a:ea typeface="Courier New"/>
              <a:cs typeface="Courier New"/>
              <a:sym typeface="Courier New"/>
            </a:endParaRPr>
          </a:p>
        </p:txBody>
      </p:sp>
      <p:pic>
        <p:nvPicPr>
          <p:cNvPr id="451" name="Google Shape;451;p60"/>
          <p:cNvPicPr preferRelativeResize="0"/>
          <p:nvPr/>
        </p:nvPicPr>
        <p:blipFill rotWithShape="1">
          <a:blip r:embed="rId3">
            <a:alphaModFix/>
          </a:blip>
          <a:srcRect b="0" l="0" r="0" t="0"/>
          <a:stretch/>
        </p:blipFill>
        <p:spPr>
          <a:xfrm>
            <a:off x="2222679" y="3244403"/>
            <a:ext cx="7162800" cy="251618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1"/>
          <p:cNvSpPr txBox="1"/>
          <p:nvPr>
            <p:ph idx="4294967295" type="title"/>
          </p:nvPr>
        </p:nvSpPr>
        <p:spPr>
          <a:xfrm>
            <a:off x="1828800" y="651772"/>
            <a:ext cx="8280400" cy="53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168DBA"/>
              </a:buClr>
              <a:buSzPct val="100000"/>
              <a:buFont typeface="Century Gothic"/>
              <a:buNone/>
            </a:pPr>
            <a:r>
              <a:rPr lang="en-US"/>
              <a:t>SQL Triggers: Another Example – Part 6</a:t>
            </a:r>
            <a:endParaRPr/>
          </a:p>
        </p:txBody>
      </p:sp>
      <p:pic>
        <p:nvPicPr>
          <p:cNvPr id="457" name="Google Shape;457;p61"/>
          <p:cNvPicPr preferRelativeResize="0"/>
          <p:nvPr/>
        </p:nvPicPr>
        <p:blipFill rotWithShape="1">
          <a:blip r:embed="rId3">
            <a:alphaModFix/>
          </a:blip>
          <a:srcRect b="0" l="0" r="0" t="0"/>
          <a:stretch/>
        </p:blipFill>
        <p:spPr>
          <a:xfrm>
            <a:off x="1701800" y="1584325"/>
            <a:ext cx="8534400" cy="1997075"/>
          </a:xfrm>
          <a:prstGeom prst="rect">
            <a:avLst/>
          </a:prstGeom>
          <a:noFill/>
          <a:ln>
            <a:noFill/>
          </a:ln>
        </p:spPr>
      </p:pic>
      <p:pic>
        <p:nvPicPr>
          <p:cNvPr id="458" name="Google Shape;458;p61"/>
          <p:cNvPicPr preferRelativeResize="0"/>
          <p:nvPr/>
        </p:nvPicPr>
        <p:blipFill rotWithShape="1">
          <a:blip r:embed="rId4">
            <a:alphaModFix/>
          </a:blip>
          <a:srcRect b="0" l="0" r="0" t="0"/>
          <a:stretch/>
        </p:blipFill>
        <p:spPr>
          <a:xfrm>
            <a:off x="3556716" y="3851856"/>
            <a:ext cx="4343400" cy="244633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2"/>
          <p:cNvSpPr txBox="1"/>
          <p:nvPr>
            <p:ph idx="1" type="body"/>
          </p:nvPr>
        </p:nvSpPr>
        <p:spPr>
          <a:xfrm>
            <a:off x="1803601" y="1905000"/>
            <a:ext cx="8915400" cy="3777622"/>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400"/>
              <a:buChar char="🠶"/>
            </a:pPr>
            <a:r>
              <a:rPr lang="en-US"/>
              <a:t>A given trigger can only have one event.</a:t>
            </a:r>
            <a:endParaRPr/>
          </a:p>
          <a:p>
            <a:pPr indent="-342900" lvl="0" marL="342900" rtl="0" algn="l">
              <a:spcBef>
                <a:spcPts val="1000"/>
              </a:spcBef>
              <a:spcAft>
                <a:spcPts val="0"/>
              </a:spcAft>
              <a:buSzPts val="2400"/>
              <a:buChar char="🠶"/>
            </a:pPr>
            <a:r>
              <a:rPr lang="en-US"/>
              <a:t>If you have the same or similar processing that has to go on during insert and delete, then it’s best to have that in a procedure or function and then call it from the trigger.</a:t>
            </a:r>
            <a:endParaRPr/>
          </a:p>
          <a:p>
            <a:pPr indent="-342900" lvl="0" marL="342900" rtl="0" algn="l">
              <a:spcBef>
                <a:spcPts val="1000"/>
              </a:spcBef>
              <a:spcAft>
                <a:spcPts val="0"/>
              </a:spcAft>
              <a:buSzPts val="2400"/>
              <a:buChar char="🠶"/>
            </a:pPr>
            <a:r>
              <a:rPr lang="en-US"/>
              <a:t>A good naming standard for a trigger is &lt;table_name&gt;_event if you have the room for that in the name.</a:t>
            </a:r>
            <a:endParaRPr/>
          </a:p>
          <a:p>
            <a:pPr indent="-342900" lvl="0" marL="342900" rtl="0" algn="l">
              <a:spcBef>
                <a:spcPts val="1000"/>
              </a:spcBef>
              <a:spcAft>
                <a:spcPts val="0"/>
              </a:spcAft>
              <a:buSzPts val="2400"/>
              <a:buChar char="🠶"/>
            </a:pPr>
            <a:r>
              <a:rPr lang="en-US"/>
              <a:t>Just like a function or a procedure, the trigger body will need a begin … end unless it is a single statement trigger.</a:t>
            </a:r>
            <a:endParaRPr/>
          </a:p>
        </p:txBody>
      </p:sp>
      <p:sp>
        <p:nvSpPr>
          <p:cNvPr id="464" name="Google Shape;464;p6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A Few Things to Note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3"/>
          <p:cNvSpPr txBox="1"/>
          <p:nvPr>
            <p:ph idx="1" type="body"/>
          </p:nvPr>
        </p:nvSpPr>
        <p:spPr>
          <a:xfrm>
            <a:off x="1417749" y="1568047"/>
            <a:ext cx="10515600" cy="479589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While in the body of a trigger, there are potentially two sets of column values available to you, with special syntax for denoting them.</a:t>
            </a:r>
            <a:endParaRPr/>
          </a:p>
          <a:p>
            <a:pPr indent="-285750" lvl="1" marL="742950" rtl="0" algn="l">
              <a:spcBef>
                <a:spcPts val="1000"/>
              </a:spcBef>
              <a:spcAft>
                <a:spcPts val="0"/>
              </a:spcAft>
              <a:buSzPts val="2200"/>
              <a:buChar char="🠶"/>
            </a:pPr>
            <a:r>
              <a:rPr lang="en-US"/>
              <a:t>old.&lt;column name&gt; will give you the value of the column before the DML statement executed.</a:t>
            </a:r>
            <a:endParaRPr/>
          </a:p>
          <a:p>
            <a:pPr indent="-285750" lvl="1" marL="742950" rtl="0" algn="l">
              <a:spcBef>
                <a:spcPts val="1000"/>
              </a:spcBef>
              <a:spcAft>
                <a:spcPts val="0"/>
              </a:spcAft>
              <a:buSzPts val="2200"/>
              <a:buChar char="🠶"/>
            </a:pPr>
            <a:r>
              <a:rPr lang="en-US"/>
              <a:t>new.&lt;column name&gt; will give you the value of that column </a:t>
            </a:r>
            <a:r>
              <a:rPr b="1" lang="en-US"/>
              <a:t>after</a:t>
            </a:r>
            <a:r>
              <a:rPr lang="en-US"/>
              <a:t> the DML statement executed.</a:t>
            </a:r>
            <a:endParaRPr/>
          </a:p>
          <a:p>
            <a:pPr indent="-342900" lvl="0" marL="342900" rtl="0" algn="l">
              <a:spcBef>
                <a:spcPts val="1000"/>
              </a:spcBef>
              <a:spcAft>
                <a:spcPts val="0"/>
              </a:spcAft>
              <a:buSzPts val="2400"/>
              <a:buChar char="🠶"/>
            </a:pPr>
            <a:r>
              <a:rPr lang="en-US"/>
              <a:t>Insert triggers have no old values available, and delete triggers have no new values available for obvious reasons.  Only update triggers have both the old and the new values available.</a:t>
            </a:r>
            <a:endParaRPr/>
          </a:p>
          <a:p>
            <a:pPr indent="-342900" lvl="0" marL="342900" rtl="0" algn="l">
              <a:spcBef>
                <a:spcPts val="1000"/>
              </a:spcBef>
              <a:spcAft>
                <a:spcPts val="0"/>
              </a:spcAft>
              <a:buSzPts val="2400"/>
              <a:buChar char="🠶"/>
            </a:pPr>
            <a:r>
              <a:rPr lang="en-US"/>
              <a:t>Only triggers can access these values this way.</a:t>
            </a:r>
            <a:endParaRPr/>
          </a:p>
        </p:txBody>
      </p:sp>
      <p:sp>
        <p:nvSpPr>
          <p:cNvPr id="470" name="Google Shape;470;p6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The Special Powers of a Trigger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Changing columns in a trigger</a:t>
            </a:r>
            <a:endParaRPr/>
          </a:p>
        </p:txBody>
      </p:sp>
      <p:sp>
        <p:nvSpPr>
          <p:cNvPr id="476" name="Google Shape;476;p6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In the body of a trigger, it is possible to change the values for the columns in the current row.</a:t>
            </a:r>
            <a:endParaRPr/>
          </a:p>
          <a:p>
            <a:pPr indent="-342900" lvl="0" marL="342900" rtl="0" algn="l">
              <a:spcBef>
                <a:spcPts val="1000"/>
              </a:spcBef>
              <a:spcAft>
                <a:spcPts val="0"/>
              </a:spcAft>
              <a:buSzPts val="2400"/>
              <a:buChar char="🠶"/>
            </a:pPr>
            <a:r>
              <a:rPr lang="en-US"/>
              <a:t>Just use the “set” verb to change them.</a:t>
            </a:r>
            <a:endParaRPr/>
          </a:p>
          <a:p>
            <a:pPr indent="-342900" lvl="0" marL="342900" rtl="0" algn="l">
              <a:spcBef>
                <a:spcPts val="1000"/>
              </a:spcBef>
              <a:spcAft>
                <a:spcPts val="0"/>
              </a:spcAft>
              <a:buSzPts val="2400"/>
              <a:buChar char="🠶"/>
            </a:pPr>
            <a:r>
              <a:rPr lang="en-US"/>
              <a:t>You can only do this for an update or insert trigger.</a:t>
            </a:r>
            <a:endParaRPr/>
          </a:p>
          <a:p>
            <a:pPr indent="-342900" lvl="0" marL="342900" rtl="0" algn="l">
              <a:spcBef>
                <a:spcPts val="1000"/>
              </a:spcBef>
              <a:spcAft>
                <a:spcPts val="0"/>
              </a:spcAft>
              <a:buSzPts val="2400"/>
              <a:buChar char="🠶"/>
            </a:pPr>
            <a:r>
              <a:rPr lang="en-US"/>
              <a:t>You can only change the values of new.&lt;column name&gt; since there is no point to changing the old values.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5"/>
          <p:cNvSpPr txBox="1"/>
          <p:nvPr>
            <p:ph idx="1" type="body"/>
          </p:nvPr>
        </p:nvSpPr>
        <p:spPr>
          <a:xfrm>
            <a:off x="1700570" y="19050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Simplified example of a parent table: hospital_room as the parent and hospital_bed as the child.</a:t>
            </a:r>
            <a:endParaRPr/>
          </a:p>
          <a:p>
            <a:pPr indent="-342900" lvl="0" marL="342900" rtl="0" algn="l">
              <a:spcBef>
                <a:spcPts val="1000"/>
              </a:spcBef>
              <a:spcAft>
                <a:spcPts val="0"/>
              </a:spcAft>
              <a:buSzPts val="2400"/>
              <a:buChar char="🠶"/>
            </a:pPr>
            <a:r>
              <a:rPr lang="en-US"/>
              <a:t>The room has a column: max_beds that dictates the maximum number of beds for that room.</a:t>
            </a:r>
            <a:endParaRPr/>
          </a:p>
          <a:p>
            <a:pPr indent="-342900" lvl="0" marL="342900" rtl="0" algn="l">
              <a:spcBef>
                <a:spcPts val="1000"/>
              </a:spcBef>
              <a:spcAft>
                <a:spcPts val="0"/>
              </a:spcAft>
              <a:buSzPts val="2400"/>
              <a:buChar char="🠶"/>
            </a:pPr>
            <a:r>
              <a:rPr lang="en-US"/>
              <a:t>The hospital_bed table has a before insert trigger that checks to make sure that the hospital room does not already have its allotted number of beds.</a:t>
            </a:r>
            <a:endParaRPr/>
          </a:p>
        </p:txBody>
      </p:sp>
      <p:sp>
        <p:nvSpPr>
          <p:cNvPr id="482" name="Google Shape;482;p6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More Examples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The Trigger</a:t>
            </a:r>
            <a:endParaRPr/>
          </a:p>
        </p:txBody>
      </p:sp>
      <p:sp>
        <p:nvSpPr>
          <p:cNvPr id="488" name="Google Shape;488;p66"/>
          <p:cNvSpPr/>
          <p:nvPr/>
        </p:nvSpPr>
        <p:spPr>
          <a:xfrm>
            <a:off x="1410828" y="1528903"/>
            <a:ext cx="11966028" cy="45243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CREATE DEFINER=`root`@`localhost`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TRIGGER `programming`.`hospital_bed_BEFORE_INSERT`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BEFORE INSERT ON `hospital_bed` FOR EACH ROW</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BEGIN</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declare max_beds_per_room int;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declare current_count int;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select	max_beds into max_beds_per_room</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from	hospital_room</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where	hospital_room_no = new.room_id;</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select	count(*) into current_count</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from	hospital_bed</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where	room_id = new.room_id;</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if current_count &gt;= max_beds_per_room then</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signal sqlstate '45000' set message_text='Too many beds in that room already!';</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end if;</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END;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Firing the trigger</a:t>
            </a:r>
            <a:endParaRPr/>
          </a:p>
        </p:txBody>
      </p:sp>
      <p:sp>
        <p:nvSpPr>
          <p:cNvPr id="494" name="Google Shape;494;p67"/>
          <p:cNvSpPr/>
          <p:nvPr/>
        </p:nvSpPr>
        <p:spPr>
          <a:xfrm>
            <a:off x="1623811" y="1356000"/>
            <a:ext cx="10244959" cy="53860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insert	into hospital_bed (room_id, hospital_bed_id)</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values	('323B', 1);</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insert	into hospital_bed (room_id, hospital_bed_id)</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values	('323B', 2);</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insert	into hospital_bed (room_id, hospital_bed_id)</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values	('323B', 3);</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insert	into hospital_bed (room_id, hospital_bed_id)</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values	('323B', 4);</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insert	into hospital_bed (room_id, hospital_bed_id)</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values	('323B', 5);</a:t>
            </a:r>
            <a:endParaRPr/>
          </a:p>
          <a:p>
            <a:pPr indent="0" lvl="0" marL="0" marR="0" rtl="0" algn="l">
              <a:spcBef>
                <a:spcPts val="0"/>
              </a:spcBef>
              <a:spcAft>
                <a:spcPts val="0"/>
              </a:spcAft>
              <a:buNone/>
            </a:pPr>
            <a:r>
              <a:rPr lang="en-US" sz="2800">
                <a:solidFill>
                  <a:schemeClr val="dk1"/>
                </a:solidFill>
                <a:latin typeface="Century Gothic"/>
                <a:ea typeface="Century Gothic"/>
                <a:cs typeface="Century Gothic"/>
                <a:sym typeface="Century Gothic"/>
              </a:rPr>
              <a:t>Error Code: 1644. Too many beds in that room already!</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8"/>
          <p:cNvSpPr txBox="1"/>
          <p:nvPr>
            <p:ph type="title"/>
          </p:nvPr>
        </p:nvSpPr>
        <p:spPr>
          <a:xfrm>
            <a:off x="1768677" y="482442"/>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Using a Stored Procedure Instead</a:t>
            </a:r>
            <a:endParaRPr/>
          </a:p>
        </p:txBody>
      </p:sp>
      <p:sp>
        <p:nvSpPr>
          <p:cNvPr id="500" name="Google Shape;500;p68"/>
          <p:cNvSpPr/>
          <p:nvPr/>
        </p:nvSpPr>
        <p:spPr>
          <a:xfrm>
            <a:off x="1637613" y="1264555"/>
            <a:ext cx="11719034" cy="547842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CREATE DEFINER=`root`@`localhost` PROCEDURE `too_many_beds`(in room_id varchar(45))</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BEGIN</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declare max_beds_per_room int;</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declare current_count int;</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declare room_count int;</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 see if the hospital room exists</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select	count(*) into room_count</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from	hospital_room</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where	hospital_room_no = room_id;</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if room_count = 1 then -- we can see if room for 1 more bed</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begin</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select	max_beds into max_beds_per_room</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from	hospital_room</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where	hospital_room_no = room_id;</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 count the beds in this room</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select	count(*) into current_count</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from	hospital_bed</a:t>
            </a:r>
            <a:endParaRPr sz="14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where	room_id = room_id;</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if current_count &gt;= max_beds_per_room then</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 flag an error to abort if necessary</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signal sqlstate '45000' set message_text='Too many beds in that room already!';</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end if;</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end;</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	end if;</a:t>
            </a:r>
            <a:endParaRPr/>
          </a:p>
          <a:p>
            <a:pPr indent="0" lvl="0" marL="0" marR="0" rtl="0" algn="l">
              <a:spcBef>
                <a:spcPts val="0"/>
              </a:spcBef>
              <a:spcAft>
                <a:spcPts val="0"/>
              </a:spcAft>
              <a:buNone/>
            </a:pPr>
            <a:r>
              <a:rPr lang="en-US" sz="1400">
                <a:solidFill>
                  <a:schemeClr val="dk1"/>
                </a:solidFill>
                <a:latin typeface="Century Gothic"/>
                <a:ea typeface="Century Gothic"/>
                <a:cs typeface="Century Gothic"/>
                <a:sym typeface="Century Gothic"/>
              </a:rPr>
              <a:t>END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9"/>
          <p:cNvSpPr txBox="1"/>
          <p:nvPr>
            <p:ph idx="1" type="body"/>
          </p:nvPr>
        </p:nvSpPr>
        <p:spPr>
          <a:xfrm>
            <a:off x="1803600" y="1760112"/>
            <a:ext cx="9813144" cy="452477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Because that is in isolation from the beds table, we have to check to make sure that the room number is viable.</a:t>
            </a:r>
            <a:endParaRPr/>
          </a:p>
          <a:p>
            <a:pPr indent="-342900" lvl="0" marL="342900" rtl="0" algn="l">
              <a:spcBef>
                <a:spcPts val="1000"/>
              </a:spcBef>
              <a:spcAft>
                <a:spcPts val="0"/>
              </a:spcAft>
              <a:buSzPts val="2400"/>
              <a:buChar char="🠶"/>
            </a:pPr>
            <a:r>
              <a:rPr lang="en-US"/>
              <a:t>As a stored procedure, this can be called directly from the command line as a means of unit testing.</a:t>
            </a:r>
            <a:endParaRPr/>
          </a:p>
          <a:p>
            <a:pPr indent="-342900" lvl="0" marL="342900" rtl="0" algn="l">
              <a:spcBef>
                <a:spcPts val="1000"/>
              </a:spcBef>
              <a:spcAft>
                <a:spcPts val="0"/>
              </a:spcAft>
              <a:buSzPts val="2400"/>
              <a:buChar char="🠶"/>
            </a:pPr>
            <a:r>
              <a:rPr lang="en-US"/>
              <a:t>I’m still not too sure how exacting the typing of the parameters has to be.  For instance, does that one argument have to be exactly a varchar(45) in order for it to work, or not?</a:t>
            </a:r>
            <a:endParaRPr/>
          </a:p>
        </p:txBody>
      </p:sp>
      <p:sp>
        <p:nvSpPr>
          <p:cNvPr id="506" name="Google Shape;506;p6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Comments on the Procedure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0"/>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MySQL has a schema that has tables for all of the information that is needed to define and run the data in the database.  This is meta data.</a:t>
            </a:r>
            <a:endParaRPr/>
          </a:p>
          <a:p>
            <a:pPr indent="-342900" lvl="0" marL="342900" rtl="0" algn="l">
              <a:spcBef>
                <a:spcPts val="1000"/>
              </a:spcBef>
              <a:spcAft>
                <a:spcPts val="0"/>
              </a:spcAft>
              <a:buSzPct val="100000"/>
              <a:buChar char="🠶"/>
            </a:pPr>
            <a:r>
              <a:rPr lang="en-US"/>
              <a:t>select * from information_schema.triggers where trigger_schema=‘&lt;your schema name&gt;'; -- retrieve the trigger information for the triggers in &lt;your schema name&gt;.</a:t>
            </a:r>
            <a:endParaRPr/>
          </a:p>
          <a:p>
            <a:pPr indent="-342900" lvl="0" marL="342900" rtl="0" algn="l">
              <a:spcBef>
                <a:spcPts val="1000"/>
              </a:spcBef>
              <a:spcAft>
                <a:spcPts val="0"/>
              </a:spcAft>
              <a:buSzPct val="100000"/>
              <a:buChar char="🠶"/>
            </a:pPr>
            <a:r>
              <a:rPr lang="en-US"/>
              <a:t>Alternatively, you can use the “show triggers” command (this is not SQL) that will display a report of your triggers from the default schema.</a:t>
            </a:r>
            <a:endParaRPr/>
          </a:p>
          <a:p>
            <a:pPr indent="0" lvl="0" marL="0" rtl="0" algn="l">
              <a:spcBef>
                <a:spcPts val="1000"/>
              </a:spcBef>
              <a:spcAft>
                <a:spcPts val="0"/>
              </a:spcAft>
              <a:buSzPct val="100000"/>
              <a:buNone/>
            </a:pPr>
            <a:r>
              <a:rPr lang="en-US"/>
              <a:t>	mysql&gt; show triggers;</a:t>
            </a:r>
            <a:endParaRPr/>
          </a:p>
          <a:p>
            <a:pPr indent="-201930" lvl="0" marL="342900" rtl="0" algn="l">
              <a:spcBef>
                <a:spcPts val="1000"/>
              </a:spcBef>
              <a:spcAft>
                <a:spcPts val="0"/>
              </a:spcAft>
              <a:buSzPct val="100000"/>
              <a:buNone/>
            </a:pPr>
            <a:r>
              <a:t/>
            </a:r>
            <a:endParaRPr/>
          </a:p>
        </p:txBody>
      </p:sp>
      <p:sp>
        <p:nvSpPr>
          <p:cNvPr id="512" name="Google Shape;512;p7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Viewing Your Triggers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1"/>
          <p:cNvSpPr txBox="1"/>
          <p:nvPr>
            <p:ph idx="1" type="body"/>
          </p:nvPr>
        </p:nvSpPr>
        <p:spPr>
          <a:xfrm>
            <a:off x="1880315" y="1687131"/>
            <a:ext cx="9624297" cy="467503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If you’re using MySQL Workbench, the IDE provides access to your triggers:</a:t>
            </a:r>
            <a:endParaRPr/>
          </a:p>
          <a:p>
            <a:pPr indent="-285750" lvl="1" marL="742950" rtl="0" algn="l">
              <a:spcBef>
                <a:spcPts val="1000"/>
              </a:spcBef>
              <a:spcAft>
                <a:spcPts val="0"/>
              </a:spcAft>
              <a:buSzPct val="100000"/>
              <a:buChar char="🠶"/>
            </a:pPr>
            <a:r>
              <a:rPr lang="en-US"/>
              <a:t>In the navigator pane, right click the table that has the trigger.</a:t>
            </a:r>
            <a:endParaRPr/>
          </a:p>
          <a:p>
            <a:pPr indent="-285750" lvl="1" marL="742950" rtl="0" algn="l">
              <a:spcBef>
                <a:spcPts val="1000"/>
              </a:spcBef>
              <a:spcAft>
                <a:spcPts val="0"/>
              </a:spcAft>
              <a:buSzPct val="100000"/>
              <a:buChar char="🠶"/>
            </a:pPr>
            <a:r>
              <a:rPr lang="en-US"/>
              <a:t>Select "Alter Table"</a:t>
            </a:r>
            <a:endParaRPr/>
          </a:p>
          <a:p>
            <a:pPr indent="-285750" lvl="1" marL="742950" rtl="0" algn="l">
              <a:spcBef>
                <a:spcPts val="1000"/>
              </a:spcBef>
              <a:spcAft>
                <a:spcPts val="0"/>
              </a:spcAft>
              <a:buSzPct val="100000"/>
              <a:buChar char="🠶"/>
            </a:pPr>
            <a:r>
              <a:rPr lang="en-US"/>
              <a:t>This will open up a rather lavish dialog which has tabs down near the bottom.  One of those tabs is "Triggers".  Select that.</a:t>
            </a:r>
            <a:endParaRPr/>
          </a:p>
          <a:p>
            <a:pPr indent="-285750" lvl="1" marL="742950" rtl="0" algn="l">
              <a:spcBef>
                <a:spcPts val="1000"/>
              </a:spcBef>
              <a:spcAft>
                <a:spcPts val="0"/>
              </a:spcAft>
              <a:buSzPct val="100000"/>
              <a:buChar char="🠶"/>
            </a:pPr>
            <a:r>
              <a:rPr lang="en-US"/>
              <a:t>That will open up </a:t>
            </a:r>
            <a:r>
              <a:rPr b="1" lang="en-US"/>
              <a:t>another</a:t>
            </a:r>
            <a:r>
              <a:rPr lang="en-US"/>
              <a:t> dialog, and over to the left will be the list of events that you can define triggers for.</a:t>
            </a:r>
            <a:endParaRPr/>
          </a:p>
          <a:p>
            <a:pPr indent="-228600" lvl="2" marL="1143000" rtl="0" algn="l">
              <a:spcBef>
                <a:spcPts val="1000"/>
              </a:spcBef>
              <a:spcAft>
                <a:spcPts val="0"/>
              </a:spcAft>
              <a:buSzPct val="100000"/>
              <a:buChar char="🠶"/>
            </a:pPr>
            <a:r>
              <a:rPr lang="en-US"/>
              <a:t>At this point, you can right click one of those events and it will pop up a menu that will give you the option to create a </a:t>
            </a:r>
            <a:r>
              <a:rPr b="1" lang="en-US"/>
              <a:t>new</a:t>
            </a:r>
            <a:r>
              <a:rPr lang="en-US"/>
              <a:t> trigger for that event.</a:t>
            </a:r>
            <a:endParaRPr/>
          </a:p>
          <a:p>
            <a:pPr indent="-228600" lvl="2" marL="1143000" rtl="0" algn="l">
              <a:spcBef>
                <a:spcPts val="1000"/>
              </a:spcBef>
              <a:spcAft>
                <a:spcPts val="0"/>
              </a:spcAft>
              <a:buSzPct val="100000"/>
              <a:buChar char="🠶"/>
            </a:pPr>
            <a:r>
              <a:rPr lang="en-US"/>
              <a:t>Or you can double click an existing trigger to get into an editor on that particular trigger.  This will allow you to update the trigger in place as it were, rather than drop and recreate it.</a:t>
            </a:r>
            <a:endParaRPr/>
          </a:p>
          <a:p>
            <a:pPr indent="-201930" lvl="0" marL="342900" rtl="0" algn="l">
              <a:spcBef>
                <a:spcPts val="1000"/>
              </a:spcBef>
              <a:spcAft>
                <a:spcPts val="0"/>
              </a:spcAft>
              <a:buSzPct val="100000"/>
              <a:buNone/>
            </a:pPr>
            <a:r>
              <a:t/>
            </a:r>
            <a:endParaRPr/>
          </a:p>
        </p:txBody>
      </p:sp>
      <p:sp>
        <p:nvSpPr>
          <p:cNvPr id="518" name="Google Shape;518;p7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Viewing Your Triggers (Continued)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2"/>
          <p:cNvSpPr txBox="1"/>
          <p:nvPr>
            <p:ph idx="1" type="body"/>
          </p:nvPr>
        </p:nvSpPr>
        <p:spPr>
          <a:xfrm>
            <a:off x="838200" y="1825625"/>
            <a:ext cx="10515600" cy="213152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Sometimes you need to operate against a table or columns that are not known at compile time. MySQL has a process using set, prepare, execute, and deallocate.</a:t>
            </a:r>
            <a:endParaRPr/>
          </a:p>
        </p:txBody>
      </p:sp>
      <p:sp>
        <p:nvSpPr>
          <p:cNvPr id="524" name="Google Shape;524;p7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Dynamic SQL</a:t>
            </a:r>
            <a:endParaRPr/>
          </a:p>
        </p:txBody>
      </p:sp>
      <p:sp>
        <p:nvSpPr>
          <p:cNvPr id="525" name="Google Shape;525;p72"/>
          <p:cNvSpPr/>
          <p:nvPr/>
        </p:nvSpPr>
        <p:spPr>
          <a:xfrm>
            <a:off x="1314718" y="3106515"/>
            <a:ext cx="10515600" cy="324394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CREATE DEFINER=`root`@`localhost` PROCEDURE `dynamic`(in tableName varchar(40))</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begin</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set @statement = concat('select * from ', tableName);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prepare stmt from @statement;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execute stmt;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set @statement = concat('select count(*) from ', tableName, ' into @count');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prepare stmt from @statement;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execute stmt;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select concat('Count was: ', @count, ' from table: ', tableName);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deallocate prepare stmt;</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end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3"/>
          <p:cNvSpPr txBox="1"/>
          <p:nvPr>
            <p:ph idx="1" type="body"/>
          </p:nvPr>
        </p:nvSpPr>
        <p:spPr>
          <a:xfrm>
            <a:off x="1906632" y="2082084"/>
            <a:ext cx="8915400" cy="3777622"/>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400"/>
              <a:buChar char="🠶"/>
            </a:pPr>
            <a:r>
              <a:rPr lang="en-US"/>
              <a:t>The @ in front of a name makes it a user variable, which is shared between the command session and the stored procedure.</a:t>
            </a:r>
            <a:endParaRPr/>
          </a:p>
          <a:p>
            <a:pPr indent="-342900" lvl="0" marL="342900" rtl="0" algn="l">
              <a:spcBef>
                <a:spcPts val="1000"/>
              </a:spcBef>
              <a:spcAft>
                <a:spcPts val="0"/>
              </a:spcAft>
              <a:buSzPts val="2400"/>
              <a:buChar char="🠶"/>
            </a:pPr>
            <a:r>
              <a:rPr lang="en-US"/>
              <a:t>concat will take any number of arguments.</a:t>
            </a:r>
            <a:endParaRPr/>
          </a:p>
          <a:p>
            <a:pPr indent="-342900" lvl="0" marL="342900" rtl="0" algn="l">
              <a:spcBef>
                <a:spcPts val="1000"/>
              </a:spcBef>
              <a:spcAft>
                <a:spcPts val="0"/>
              </a:spcAft>
              <a:buSzPts val="2400"/>
              <a:buChar char="🠶"/>
            </a:pPr>
            <a:r>
              <a:rPr lang="en-US"/>
              <a:t>Just like the Java API, you can have bind variables in the SQL that you submit, then use the using clause in the execute statement.</a:t>
            </a:r>
            <a:endParaRPr/>
          </a:p>
          <a:p>
            <a:pPr indent="-285750" lvl="1" marL="742950" rtl="0" algn="l">
              <a:spcBef>
                <a:spcPts val="1000"/>
              </a:spcBef>
              <a:spcAft>
                <a:spcPts val="0"/>
              </a:spcAft>
              <a:buSzPts val="2200"/>
              <a:buChar char="🠶"/>
            </a:pPr>
            <a:r>
              <a:rPr lang="en-US"/>
              <a:t>The bind variables have to map one for one to the variables in the using clause: execute stmt using @var1, @var2, …</a:t>
            </a:r>
            <a:endParaRPr/>
          </a:p>
        </p:txBody>
      </p:sp>
      <p:sp>
        <p:nvSpPr>
          <p:cNvPr id="531" name="Google Shape;531;p7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Dynamic SQL (Continued)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4"/>
          <p:cNvSpPr txBox="1"/>
          <p:nvPr>
            <p:ph idx="1" type="body"/>
          </p:nvPr>
        </p:nvSpPr>
        <p:spPr>
          <a:xfrm>
            <a:off x="1945268" y="1905000"/>
            <a:ext cx="9349503" cy="419958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400"/>
              <a:buChar char="🠶"/>
            </a:pPr>
            <a:r>
              <a:rPr lang="en-US"/>
              <a:t>Remember that all objects that you create, be they tables, indexes, constraints, triggers, stored procedures, functions, … exist in the database.</a:t>
            </a:r>
            <a:endParaRPr/>
          </a:p>
          <a:p>
            <a:pPr indent="-342900" lvl="0" marL="342900" rtl="0" algn="l">
              <a:spcBef>
                <a:spcPts val="1000"/>
              </a:spcBef>
              <a:spcAft>
                <a:spcPts val="0"/>
              </a:spcAft>
              <a:buSzPts val="2400"/>
              <a:buChar char="🠶"/>
            </a:pPr>
            <a:r>
              <a:rPr lang="en-US"/>
              <a:t>The data dictionary has the definition of these objects, and generally speaking, you can use utilities (either in the IDE or the RDBMS) to reverse engineer those objects.</a:t>
            </a:r>
            <a:endParaRPr/>
          </a:p>
          <a:p>
            <a:pPr indent="-342900" lvl="0" marL="342900" rtl="0" algn="l">
              <a:spcBef>
                <a:spcPts val="1000"/>
              </a:spcBef>
              <a:spcAft>
                <a:spcPts val="0"/>
              </a:spcAft>
              <a:buSzPts val="2400"/>
              <a:buChar char="🠶"/>
            </a:pPr>
            <a:r>
              <a:rPr lang="en-US"/>
              <a:t>MySQL Workbench has a way to reverse engineer an entire schema.  Read about it at: </a:t>
            </a:r>
            <a:r>
              <a:rPr lang="en-US" u="sng">
                <a:solidFill>
                  <a:schemeClr val="hlink"/>
                </a:solidFill>
                <a:hlinkClick r:id="rId3"/>
              </a:rPr>
              <a:t>https://dev.mysql.com/doc/workbench/en/wb-reverse-engineer-live.html</a:t>
            </a:r>
            <a:r>
              <a:rPr lang="en-US"/>
              <a:t>.</a:t>
            </a:r>
            <a:endParaRPr/>
          </a:p>
          <a:p>
            <a:pPr indent="0" lvl="0" marL="0" rtl="0" algn="l">
              <a:spcBef>
                <a:spcPts val="1000"/>
              </a:spcBef>
              <a:spcAft>
                <a:spcPts val="0"/>
              </a:spcAft>
              <a:buSzPts val="2400"/>
              <a:buNone/>
            </a:pPr>
            <a:r>
              <a:t/>
            </a:r>
            <a:endParaRPr/>
          </a:p>
        </p:txBody>
      </p:sp>
      <p:sp>
        <p:nvSpPr>
          <p:cNvPr id="537" name="Google Shape;537;p7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Configuration Management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Credits</a:t>
            </a:r>
            <a:endParaRPr/>
          </a:p>
        </p:txBody>
      </p:sp>
      <p:sp>
        <p:nvSpPr>
          <p:cNvPr id="543" name="Google Shape;543;p7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00"/>
              <a:buNone/>
            </a:pPr>
            <a:r>
              <a:rPr lang="en-US"/>
              <a:t>Presentation taken from: </a:t>
            </a:r>
            <a:endParaRPr/>
          </a:p>
          <a:p>
            <a:pPr indent="-342900" lvl="0" marL="342900" rtl="0" algn="l">
              <a:spcBef>
                <a:spcPts val="1000"/>
              </a:spcBef>
              <a:spcAft>
                <a:spcPts val="0"/>
              </a:spcAft>
              <a:buSzPts val="2400"/>
              <a:buChar char="🠶"/>
            </a:pPr>
            <a:r>
              <a:rPr i="1" lang="en-US" u="sng">
                <a:solidFill>
                  <a:schemeClr val="hlink"/>
                </a:solidFill>
                <a:hlinkClick r:id="rId3"/>
              </a:rPr>
              <a:t>www.cse.msu.edu/~pramanik/teaching/courses/cse480/14s/lectures/12/lecture13.ppt</a:t>
            </a:r>
            <a:r>
              <a:rPr i="1" lang="en-US"/>
              <a:t> by </a:t>
            </a:r>
            <a:r>
              <a:rPr lang="en-US"/>
              <a:t>Sakti Pramanik at Michigan State University</a:t>
            </a:r>
            <a:endParaRPr/>
          </a:p>
          <a:p>
            <a:pPr indent="-342900" lvl="0" marL="342900" rtl="0" algn="l">
              <a:spcBef>
                <a:spcPts val="1000"/>
              </a:spcBef>
              <a:spcAft>
                <a:spcPts val="0"/>
              </a:spcAft>
              <a:buSzPts val="2400"/>
              <a:buChar char="🠶"/>
            </a:pPr>
            <a:r>
              <a:rPr lang="en-US"/>
              <a:t>MySQL Procedural Language by David Brown at California State University Long Beach</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